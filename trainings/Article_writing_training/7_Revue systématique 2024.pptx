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96" r:id="rId2"/>
    <p:sldId id="305" r:id="rId3"/>
    <p:sldId id="304" r:id="rId4"/>
    <p:sldId id="306" r:id="rId5"/>
    <p:sldId id="303" r:id="rId6"/>
    <p:sldId id="297" r:id="rId7"/>
    <p:sldId id="298" r:id="rId8"/>
    <p:sldId id="299" r:id="rId9"/>
    <p:sldId id="262" r:id="rId10"/>
    <p:sldId id="302" r:id="rId11"/>
    <p:sldId id="281" r:id="rId12"/>
    <p:sldId id="266" r:id="rId13"/>
    <p:sldId id="267" r:id="rId14"/>
    <p:sldId id="268" r:id="rId15"/>
    <p:sldId id="282" r:id="rId16"/>
    <p:sldId id="283" r:id="rId17"/>
    <p:sldId id="284" r:id="rId18"/>
    <p:sldId id="290" r:id="rId19"/>
    <p:sldId id="291" r:id="rId20"/>
    <p:sldId id="294"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3" d="2"/>
        <a:sy n="3" d="2"/>
      </p:scale>
      <p:origin x="0" y="0"/>
    </p:cViewPr>
  </p:notesTextViewPr>
  <p:sorterViewPr>
    <p:cViewPr varScale="1">
      <p:scale>
        <a:sx n="100" d="100"/>
        <a:sy n="100" d="100"/>
      </p:scale>
      <p:origin x="0" y="-678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869082-43CD-4A03-8DD8-8C15E5DDC0BD}" type="datetimeFigureOut">
              <a:rPr lang="fr-FR" smtClean="0"/>
              <a:t>30/04/2024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D6E99A-0BEE-4618-818E-F6FCCE193137}" type="slidenum">
              <a:rPr lang="fr-FR" smtClean="0"/>
              <a:t>‹N°›</a:t>
            </a:fld>
            <a:endParaRPr lang="fr-FR"/>
          </a:p>
        </p:txBody>
      </p:sp>
    </p:spTree>
    <p:extLst>
      <p:ext uri="{BB962C8B-B14F-4D97-AF65-F5344CB8AC3E}">
        <p14:creationId xmlns:p14="http://schemas.microsoft.com/office/powerpoint/2010/main" val="3442296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9BD6E99A-0BEE-4618-818E-F6FCCE193137}" type="slidenum">
              <a:rPr lang="fr-FR" smtClean="0"/>
              <a:t>1</a:t>
            </a:fld>
            <a:endParaRPr lang="fr-FR"/>
          </a:p>
        </p:txBody>
      </p:sp>
    </p:spTree>
    <p:extLst>
      <p:ext uri="{BB962C8B-B14F-4D97-AF65-F5344CB8AC3E}">
        <p14:creationId xmlns:p14="http://schemas.microsoft.com/office/powerpoint/2010/main" val="2121930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9BD6E99A-0BEE-4618-818E-F6FCCE193137}" type="slidenum">
              <a:rPr lang="fr-FR" smtClean="0"/>
              <a:t>10</a:t>
            </a:fld>
            <a:endParaRPr lang="fr-FR"/>
          </a:p>
        </p:txBody>
      </p:sp>
    </p:spTree>
    <p:extLst>
      <p:ext uri="{BB962C8B-B14F-4D97-AF65-F5344CB8AC3E}">
        <p14:creationId xmlns:p14="http://schemas.microsoft.com/office/powerpoint/2010/main" val="603167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9BD6E99A-0BEE-4618-818E-F6FCCE193137}" type="slidenum">
              <a:rPr lang="fr-FR" smtClean="0"/>
              <a:t>17</a:t>
            </a:fld>
            <a:endParaRPr lang="fr-FR"/>
          </a:p>
        </p:txBody>
      </p:sp>
    </p:spTree>
    <p:extLst>
      <p:ext uri="{BB962C8B-B14F-4D97-AF65-F5344CB8AC3E}">
        <p14:creationId xmlns:p14="http://schemas.microsoft.com/office/powerpoint/2010/main" val="3122139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AD57181B-1BB5-4EC5-88F9-F7171DA3ABB6}" type="datetime1">
              <a:rPr lang="fr-FR" smtClean="0"/>
              <a:t>30/04/2024</a:t>
            </a:fld>
            <a:endParaRPr lang="fr-FR"/>
          </a:p>
        </p:txBody>
      </p:sp>
      <p:sp>
        <p:nvSpPr>
          <p:cNvPr id="5" name="Espace réservé du pied de page 4"/>
          <p:cNvSpPr>
            <a:spLocks noGrp="1"/>
          </p:cNvSpPr>
          <p:nvPr>
            <p:ph type="ftr" sz="quarter" idx="11"/>
          </p:nvPr>
        </p:nvSpPr>
        <p:spPr/>
        <p:txBody>
          <a:bodyPr/>
          <a:lstStyle/>
          <a:p>
            <a:r>
              <a:rPr lang="fr-FR"/>
              <a:t>Rev syst 2024</a:t>
            </a:r>
          </a:p>
        </p:txBody>
      </p:sp>
      <p:sp>
        <p:nvSpPr>
          <p:cNvPr id="6" name="Espace réservé du numéro de diapositive 5"/>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1459511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977A057-C7F2-4C3E-94D3-D3B5495CC4D9}" type="datetime1">
              <a:rPr lang="fr-FR" smtClean="0"/>
              <a:t>30/04/2024</a:t>
            </a:fld>
            <a:endParaRPr lang="fr-FR"/>
          </a:p>
        </p:txBody>
      </p:sp>
      <p:sp>
        <p:nvSpPr>
          <p:cNvPr id="5" name="Espace réservé du pied de page 4"/>
          <p:cNvSpPr>
            <a:spLocks noGrp="1"/>
          </p:cNvSpPr>
          <p:nvPr>
            <p:ph type="ftr" sz="quarter" idx="11"/>
          </p:nvPr>
        </p:nvSpPr>
        <p:spPr/>
        <p:txBody>
          <a:bodyPr/>
          <a:lstStyle/>
          <a:p>
            <a:r>
              <a:rPr lang="fr-FR"/>
              <a:t>Rev syst 2024</a:t>
            </a:r>
          </a:p>
        </p:txBody>
      </p:sp>
      <p:sp>
        <p:nvSpPr>
          <p:cNvPr id="6" name="Espace réservé du numéro de diapositive 5"/>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884521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150CABAE-B237-4383-9163-3FC25E261FEF}" type="datetime1">
              <a:rPr lang="fr-FR" smtClean="0"/>
              <a:t>30/04/2024</a:t>
            </a:fld>
            <a:endParaRPr lang="fr-FR"/>
          </a:p>
        </p:txBody>
      </p:sp>
      <p:sp>
        <p:nvSpPr>
          <p:cNvPr id="5" name="Espace réservé du pied de page 4"/>
          <p:cNvSpPr>
            <a:spLocks noGrp="1"/>
          </p:cNvSpPr>
          <p:nvPr>
            <p:ph type="ftr" sz="quarter" idx="11"/>
          </p:nvPr>
        </p:nvSpPr>
        <p:spPr/>
        <p:txBody>
          <a:bodyPr/>
          <a:lstStyle/>
          <a:p>
            <a:r>
              <a:rPr lang="fr-FR"/>
              <a:t>Rev syst 2024</a:t>
            </a:r>
          </a:p>
        </p:txBody>
      </p:sp>
      <p:sp>
        <p:nvSpPr>
          <p:cNvPr id="6" name="Espace réservé du numéro de diapositive 5"/>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4197046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8512C39B-81EF-4B98-B71E-62FCDA94B3A8}" type="datetime1">
              <a:rPr lang="fr-FR" smtClean="0"/>
              <a:t>30/04/2024</a:t>
            </a:fld>
            <a:endParaRPr lang="fr-FR"/>
          </a:p>
        </p:txBody>
      </p:sp>
      <p:sp>
        <p:nvSpPr>
          <p:cNvPr id="6" name="Espace réservé du pied de page 5"/>
          <p:cNvSpPr>
            <a:spLocks noGrp="1"/>
          </p:cNvSpPr>
          <p:nvPr>
            <p:ph type="ftr" sz="quarter" idx="11"/>
          </p:nvPr>
        </p:nvSpPr>
        <p:spPr/>
        <p:txBody>
          <a:bodyPr/>
          <a:lstStyle/>
          <a:p>
            <a:r>
              <a:rPr lang="fr-FR"/>
              <a:t>Rev syst 2024</a:t>
            </a:r>
          </a:p>
        </p:txBody>
      </p:sp>
      <p:sp>
        <p:nvSpPr>
          <p:cNvPr id="7" name="Espace réservé du numéro de diapositive 6"/>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2430899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11AD0F30-BF72-4312-ACBB-C1C88C767893}" type="datetime1">
              <a:rPr lang="fr-FR" smtClean="0"/>
              <a:t>30/04/2024</a:t>
            </a:fld>
            <a:endParaRPr lang="fr-FR"/>
          </a:p>
        </p:txBody>
      </p:sp>
      <p:sp>
        <p:nvSpPr>
          <p:cNvPr id="8" name="Espace réservé du pied de page 7"/>
          <p:cNvSpPr>
            <a:spLocks noGrp="1"/>
          </p:cNvSpPr>
          <p:nvPr>
            <p:ph type="ftr" sz="quarter" idx="11"/>
          </p:nvPr>
        </p:nvSpPr>
        <p:spPr/>
        <p:txBody>
          <a:bodyPr/>
          <a:lstStyle/>
          <a:p>
            <a:r>
              <a:rPr lang="fr-FR"/>
              <a:t>Rev syst 2024</a:t>
            </a:r>
          </a:p>
        </p:txBody>
      </p:sp>
      <p:sp>
        <p:nvSpPr>
          <p:cNvPr id="9" name="Espace réservé du numéro de diapositive 8"/>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2822021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A7254871-7AC4-4327-A88D-876138293F5A}" type="datetime1">
              <a:rPr lang="fr-FR" smtClean="0"/>
              <a:t>30/04/2024</a:t>
            </a:fld>
            <a:endParaRPr lang="fr-F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2969164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CF3076-4041-4BF1-9FF1-50BA4D9FFE40}" type="datetime1">
              <a:rPr lang="fr-FR" smtClean="0"/>
              <a:t>30/04/2024</a:t>
            </a:fld>
            <a:endParaRPr lang="fr-FR"/>
          </a:p>
        </p:txBody>
      </p:sp>
      <p:sp>
        <p:nvSpPr>
          <p:cNvPr id="3" name="Espace réservé du pied de page 2"/>
          <p:cNvSpPr>
            <a:spLocks noGrp="1"/>
          </p:cNvSpPr>
          <p:nvPr>
            <p:ph type="ftr" sz="quarter" idx="11"/>
          </p:nvPr>
        </p:nvSpPr>
        <p:spPr/>
        <p:txBody>
          <a:bodyPr/>
          <a:lstStyle/>
          <a:p>
            <a:r>
              <a:rPr lang="fr-FR"/>
              <a:t>Rev syst 2024</a:t>
            </a:r>
          </a:p>
        </p:txBody>
      </p:sp>
      <p:sp>
        <p:nvSpPr>
          <p:cNvPr id="4" name="Espace réservé du numéro de diapositive 3"/>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206409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92FCAAED-678F-4859-A9FC-6F5855BFC359}" type="datetime1">
              <a:rPr lang="fr-FR" smtClean="0"/>
              <a:t>30/04/2024</a:t>
            </a:fld>
            <a:endParaRPr lang="fr-FR"/>
          </a:p>
        </p:txBody>
      </p:sp>
      <p:sp>
        <p:nvSpPr>
          <p:cNvPr id="6" name="Espace réservé du pied de page 5"/>
          <p:cNvSpPr>
            <a:spLocks noGrp="1"/>
          </p:cNvSpPr>
          <p:nvPr>
            <p:ph type="ftr" sz="quarter" idx="11"/>
          </p:nvPr>
        </p:nvSpPr>
        <p:spPr/>
        <p:txBody>
          <a:bodyPr/>
          <a:lstStyle/>
          <a:p>
            <a:r>
              <a:rPr lang="fr-FR"/>
              <a:t>Rev syst 2024</a:t>
            </a:r>
          </a:p>
        </p:txBody>
      </p:sp>
      <p:sp>
        <p:nvSpPr>
          <p:cNvPr id="7" name="Espace réservé du numéro de diapositive 6"/>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4148583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024CA3F-A476-444E-BEA6-10B23BFFFB68}" type="datetime1">
              <a:rPr lang="fr-FR" smtClean="0"/>
              <a:t>30/04/2024</a:t>
            </a:fld>
            <a:endParaRPr lang="fr-FR"/>
          </a:p>
        </p:txBody>
      </p:sp>
      <p:sp>
        <p:nvSpPr>
          <p:cNvPr id="6" name="Espace réservé du pied de page 5"/>
          <p:cNvSpPr>
            <a:spLocks noGrp="1"/>
          </p:cNvSpPr>
          <p:nvPr>
            <p:ph type="ftr" sz="quarter" idx="11"/>
          </p:nvPr>
        </p:nvSpPr>
        <p:spPr/>
        <p:txBody>
          <a:bodyPr/>
          <a:lstStyle/>
          <a:p>
            <a:r>
              <a:rPr lang="fr-FR"/>
              <a:t>Rev syst 2024</a:t>
            </a:r>
          </a:p>
        </p:txBody>
      </p:sp>
      <p:sp>
        <p:nvSpPr>
          <p:cNvPr id="7" name="Espace réservé du numéro de diapositive 6"/>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2184621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69F893-950F-47F4-9841-6DD3892DEACF}" type="datetime1">
              <a:rPr lang="fr-FR" smtClean="0"/>
              <a:t>30/04/2024</a:t>
            </a:fld>
            <a:endParaRPr lang="fr-FR"/>
          </a:p>
        </p:txBody>
      </p:sp>
      <p:sp>
        <p:nvSpPr>
          <p:cNvPr id="5" name="Espace réservé du pied de page 4"/>
          <p:cNvSpPr>
            <a:spLocks noGrp="1"/>
          </p:cNvSpPr>
          <p:nvPr>
            <p:ph type="ftr" sz="quarter" idx="11"/>
          </p:nvPr>
        </p:nvSpPr>
        <p:spPr/>
        <p:txBody>
          <a:bodyPr/>
          <a:lstStyle/>
          <a:p>
            <a:r>
              <a:rPr lang="fr-FR"/>
              <a:t>Rev syst 2024</a:t>
            </a:r>
          </a:p>
        </p:txBody>
      </p:sp>
      <p:sp>
        <p:nvSpPr>
          <p:cNvPr id="6" name="Espace réservé du numéro de diapositive 5"/>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173190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FC33C13-F029-4630-8FB8-78699E9E6991}" type="datetime1">
              <a:rPr lang="fr-FR" smtClean="0"/>
              <a:t>30/04/2024</a:t>
            </a:fld>
            <a:endParaRPr lang="fr-FR"/>
          </a:p>
        </p:txBody>
      </p:sp>
      <p:sp>
        <p:nvSpPr>
          <p:cNvPr id="5" name="Espace réservé du pied de page 4"/>
          <p:cNvSpPr>
            <a:spLocks noGrp="1"/>
          </p:cNvSpPr>
          <p:nvPr>
            <p:ph type="ftr" sz="quarter" idx="11"/>
          </p:nvPr>
        </p:nvSpPr>
        <p:spPr/>
        <p:txBody>
          <a:bodyPr/>
          <a:lstStyle/>
          <a:p>
            <a:r>
              <a:rPr lang="fr-FR"/>
              <a:t>Rev syst 2024</a:t>
            </a:r>
          </a:p>
        </p:txBody>
      </p:sp>
      <p:sp>
        <p:nvSpPr>
          <p:cNvPr id="6" name="Espace réservé du numéro de diapositive 5"/>
          <p:cNvSpPr>
            <a:spLocks noGrp="1"/>
          </p:cNvSpPr>
          <p:nvPr>
            <p:ph type="sldNum" sz="quarter" idx="12"/>
          </p:nvPr>
        </p:nvSpPr>
        <p:spPr/>
        <p:txBody>
          <a:bodyPr/>
          <a:lstStyle/>
          <a:p>
            <a:fld id="{9DF0A9CC-7931-4C1A-A620-AB43675408D2}" type="slidenum">
              <a:rPr lang="fr-FR" smtClean="0"/>
              <a:t>‹N°›</a:t>
            </a:fld>
            <a:endParaRPr lang="fr-FR"/>
          </a:p>
        </p:txBody>
      </p:sp>
    </p:spTree>
    <p:extLst>
      <p:ext uri="{BB962C8B-B14F-4D97-AF65-F5344CB8AC3E}">
        <p14:creationId xmlns:p14="http://schemas.microsoft.com/office/powerpoint/2010/main" val="3394176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F9444E-8354-49F4-B8CD-D188D1B8B71C}" type="datetime1">
              <a:rPr lang="fr-FR" smtClean="0"/>
              <a:t>30/04/2024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Rev syst 2024</a:t>
            </a: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F0A9CC-7931-4C1A-A620-AB43675408D2}" type="slidenum">
              <a:rPr lang="fr-FR" smtClean="0"/>
              <a:t>‹N°›</a:t>
            </a:fld>
            <a:endParaRPr lang="fr-FR"/>
          </a:p>
        </p:txBody>
      </p:sp>
    </p:spTree>
    <p:extLst>
      <p:ext uri="{BB962C8B-B14F-4D97-AF65-F5344CB8AC3E}">
        <p14:creationId xmlns:p14="http://schemas.microsoft.com/office/powerpoint/2010/main" val="1783774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bib.umontreal.ca/evaluer-analyser-rediger/syntheses-connaissances/rediger-revue-systematique"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bib.umontreal.ca/public/bib/gerer-diffuser/arbre-decision-syntheses-connaissances.pdf"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fondationbiodiversite.fr/wp-content/uploads/2019/03/Revue-syste%CC%81matique-web.pdf"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tech.cochrane.org/revma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Citez et définir les différents types de revues de la littérature</a:t>
            </a:r>
          </a:p>
        </p:txBody>
      </p:sp>
      <p:sp>
        <p:nvSpPr>
          <p:cNvPr id="3" name="Espace réservé du contenu 2"/>
          <p:cNvSpPr>
            <a:spLocks noGrp="1"/>
          </p:cNvSpPr>
          <p:nvPr>
            <p:ph idx="1"/>
          </p:nvPr>
        </p:nvSpPr>
        <p:spPr/>
        <p:txBody>
          <a:bodyPr>
            <a:normAutofit/>
          </a:bodyPr>
          <a:lstStyle/>
          <a:p>
            <a:r>
              <a:rPr lang="fr-FR" dirty="0"/>
              <a:t>Noms des rubriques varient selon les revues : </a:t>
            </a:r>
            <a:r>
              <a:rPr lang="fr-FR" dirty="0" err="1"/>
              <a:t>review</a:t>
            </a:r>
            <a:r>
              <a:rPr lang="fr-FR" dirty="0"/>
              <a:t> </a:t>
            </a:r>
            <a:r>
              <a:rPr lang="fr-FR" dirty="0" err="1"/>
              <a:t>papers</a:t>
            </a:r>
            <a:r>
              <a:rPr lang="fr-FR" dirty="0"/>
              <a:t>, state of the art, mise au point,…</a:t>
            </a:r>
          </a:p>
          <a:p>
            <a:endParaRPr lang="fr-FR" dirty="0"/>
          </a:p>
          <a:p>
            <a:r>
              <a:rPr lang="fr-FR" sz="3200" b="1" dirty="0"/>
              <a:t>Revue narrative ou autoritaire</a:t>
            </a:r>
          </a:p>
          <a:p>
            <a:r>
              <a:rPr lang="fr-FR" sz="3200" b="1" dirty="0"/>
              <a:t>Revue systématique</a:t>
            </a:r>
          </a:p>
          <a:p>
            <a:r>
              <a:rPr lang="fr-FR" sz="3200" b="1" dirty="0"/>
              <a:t>Consensus, recommandations, expertise collective</a:t>
            </a:r>
          </a:p>
          <a:p>
            <a:r>
              <a:rPr lang="fr-FR" sz="3200" b="1" dirty="0"/>
              <a:t>Notes de politiques ou </a:t>
            </a:r>
            <a:r>
              <a:rPr lang="fr-FR" sz="3200" b="1" dirty="0" err="1"/>
              <a:t>policy</a:t>
            </a:r>
            <a:r>
              <a:rPr lang="fr-FR" sz="3200" b="1" dirty="0"/>
              <a:t> </a:t>
            </a:r>
            <a:r>
              <a:rPr lang="fr-FR" sz="3200" b="1"/>
              <a:t>brief</a:t>
            </a:r>
            <a:endParaRPr lang="fr-FR" sz="3200" b="1" dirty="0"/>
          </a:p>
          <a:p>
            <a:r>
              <a:rPr lang="fr-FR" sz="3200" b="1" dirty="0" err="1"/>
              <a:t>Scoping</a:t>
            </a:r>
            <a:r>
              <a:rPr lang="fr-FR" sz="3200" b="1" dirty="0"/>
              <a:t> </a:t>
            </a:r>
            <a:r>
              <a:rPr lang="fr-FR" sz="3200" b="1" dirty="0" err="1"/>
              <a:t>reviews</a:t>
            </a:r>
            <a:endParaRPr lang="fr-FR" sz="3200" b="1" dirty="0"/>
          </a:p>
          <a:p>
            <a:endParaRPr lang="fr-FR" dirty="0"/>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546FBEAA-79D1-4294-A385-7208DD4246DA}" type="slidenum">
              <a:rPr lang="fr-FR" smtClean="0"/>
              <a:t>1</a:t>
            </a:fld>
            <a:endParaRPr lang="fr-FR"/>
          </a:p>
        </p:txBody>
      </p:sp>
    </p:spTree>
    <p:extLst>
      <p:ext uri="{BB962C8B-B14F-4D97-AF65-F5344CB8AC3E}">
        <p14:creationId xmlns:p14="http://schemas.microsoft.com/office/powerpoint/2010/main" val="254518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F7A28CD7-F052-8155-746C-94D14EA4D18F}"/>
              </a:ext>
            </a:extLst>
          </p:cNvPr>
          <p:cNvSpPr>
            <a:spLocks noGrp="1"/>
          </p:cNvSpPr>
          <p:nvPr>
            <p:ph type="ftr" sz="quarter" idx="11"/>
          </p:nvPr>
        </p:nvSpPr>
        <p:spPr/>
        <p:txBody>
          <a:bodyPr/>
          <a:lstStyle/>
          <a:p>
            <a:r>
              <a:rPr lang="fr-FR"/>
              <a:t>Rev syst 2024</a:t>
            </a:r>
          </a:p>
        </p:txBody>
      </p:sp>
      <p:sp>
        <p:nvSpPr>
          <p:cNvPr id="5" name="Espace réservé du numéro de diapositive 4">
            <a:extLst>
              <a:ext uri="{FF2B5EF4-FFF2-40B4-BE49-F238E27FC236}">
                <a16:creationId xmlns:a16="http://schemas.microsoft.com/office/drawing/2014/main" id="{42AF6034-2FF4-1C51-A6CA-87DCCBBD0552}"/>
              </a:ext>
            </a:extLst>
          </p:cNvPr>
          <p:cNvSpPr>
            <a:spLocks noGrp="1"/>
          </p:cNvSpPr>
          <p:nvPr>
            <p:ph type="sldNum" sz="quarter" idx="12"/>
          </p:nvPr>
        </p:nvSpPr>
        <p:spPr/>
        <p:txBody>
          <a:bodyPr/>
          <a:lstStyle/>
          <a:p>
            <a:fld id="{9DF0A9CC-7931-4C1A-A620-AB43675408D2}" type="slidenum">
              <a:rPr lang="fr-FR" smtClean="0"/>
              <a:t>2</a:t>
            </a:fld>
            <a:endParaRPr lang="fr-FR"/>
          </a:p>
        </p:txBody>
      </p:sp>
      <p:pic>
        <p:nvPicPr>
          <p:cNvPr id="7" name="Image 6">
            <a:extLst>
              <a:ext uri="{FF2B5EF4-FFF2-40B4-BE49-F238E27FC236}">
                <a16:creationId xmlns:a16="http://schemas.microsoft.com/office/drawing/2014/main" id="{45D98A81-D227-75B5-60C0-EA54A13567C1}"/>
              </a:ext>
            </a:extLst>
          </p:cNvPr>
          <p:cNvPicPr>
            <a:picLocks noChangeAspect="1"/>
          </p:cNvPicPr>
          <p:nvPr/>
        </p:nvPicPr>
        <p:blipFill>
          <a:blip r:embed="rId2"/>
          <a:stretch>
            <a:fillRect/>
          </a:stretch>
        </p:blipFill>
        <p:spPr>
          <a:xfrm>
            <a:off x="301327" y="930146"/>
            <a:ext cx="11589346" cy="4997707"/>
          </a:xfrm>
          <a:prstGeom prst="rect">
            <a:avLst/>
          </a:prstGeom>
        </p:spPr>
      </p:pic>
      <p:sp>
        <p:nvSpPr>
          <p:cNvPr id="8" name="ZoneTexte 7">
            <a:extLst>
              <a:ext uri="{FF2B5EF4-FFF2-40B4-BE49-F238E27FC236}">
                <a16:creationId xmlns:a16="http://schemas.microsoft.com/office/drawing/2014/main" id="{B6553810-5F70-9072-7884-2F858FB4EFD0}"/>
              </a:ext>
            </a:extLst>
          </p:cNvPr>
          <p:cNvSpPr txBox="1"/>
          <p:nvPr/>
        </p:nvSpPr>
        <p:spPr>
          <a:xfrm>
            <a:off x="1069368" y="6022048"/>
            <a:ext cx="10284432" cy="369332"/>
          </a:xfrm>
          <a:prstGeom prst="rect">
            <a:avLst/>
          </a:prstGeom>
          <a:noFill/>
        </p:spPr>
        <p:txBody>
          <a:bodyPr wrap="square" rtlCol="0">
            <a:spAutoFit/>
          </a:bodyPr>
          <a:lstStyle/>
          <a:p>
            <a:r>
              <a:rPr lang="fr-FR" dirty="0">
                <a:hlinkClick r:id="rId3"/>
              </a:rPr>
              <a:t>https://bib.umontreal.ca/evaluer-analyser-rediger/syntheses-connaissances/rediger-revue-systematique</a:t>
            </a:r>
            <a:r>
              <a:rPr lang="fr-FR" dirty="0"/>
              <a:t> </a:t>
            </a:r>
          </a:p>
        </p:txBody>
      </p:sp>
    </p:spTree>
    <p:extLst>
      <p:ext uri="{BB962C8B-B14F-4D97-AF65-F5344CB8AC3E}">
        <p14:creationId xmlns:p14="http://schemas.microsoft.com/office/powerpoint/2010/main" val="772388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0350B074-0CDB-ECB0-A558-24AB0DBEB19C}"/>
              </a:ext>
            </a:extLst>
          </p:cNvPr>
          <p:cNvSpPr>
            <a:spLocks noGrp="1"/>
          </p:cNvSpPr>
          <p:nvPr>
            <p:ph type="ftr" sz="quarter" idx="11"/>
          </p:nvPr>
        </p:nvSpPr>
        <p:spPr/>
        <p:txBody>
          <a:bodyPr/>
          <a:lstStyle/>
          <a:p>
            <a:r>
              <a:rPr lang="fr-FR"/>
              <a:t>Rev syst 2024</a:t>
            </a:r>
          </a:p>
        </p:txBody>
      </p:sp>
      <p:sp>
        <p:nvSpPr>
          <p:cNvPr id="3" name="Espace réservé du numéro de diapositive 2">
            <a:extLst>
              <a:ext uri="{FF2B5EF4-FFF2-40B4-BE49-F238E27FC236}">
                <a16:creationId xmlns:a16="http://schemas.microsoft.com/office/drawing/2014/main" id="{E9171D61-335C-958B-7B5F-EB8DF4424BB7}"/>
              </a:ext>
            </a:extLst>
          </p:cNvPr>
          <p:cNvSpPr>
            <a:spLocks noGrp="1"/>
          </p:cNvSpPr>
          <p:nvPr>
            <p:ph type="sldNum" sz="quarter" idx="12"/>
          </p:nvPr>
        </p:nvSpPr>
        <p:spPr/>
        <p:txBody>
          <a:bodyPr/>
          <a:lstStyle/>
          <a:p>
            <a:fld id="{9DF0A9CC-7931-4C1A-A620-AB43675408D2}" type="slidenum">
              <a:rPr lang="fr-FR" smtClean="0"/>
              <a:t>3</a:t>
            </a:fld>
            <a:endParaRPr lang="fr-FR"/>
          </a:p>
        </p:txBody>
      </p:sp>
      <p:pic>
        <p:nvPicPr>
          <p:cNvPr id="5" name="Image 4">
            <a:extLst>
              <a:ext uri="{FF2B5EF4-FFF2-40B4-BE49-F238E27FC236}">
                <a16:creationId xmlns:a16="http://schemas.microsoft.com/office/drawing/2014/main" id="{E382A4E6-27AE-0207-AF48-86C5ACBF9124}"/>
              </a:ext>
            </a:extLst>
          </p:cNvPr>
          <p:cNvPicPr>
            <a:picLocks noChangeAspect="1"/>
          </p:cNvPicPr>
          <p:nvPr/>
        </p:nvPicPr>
        <p:blipFill>
          <a:blip r:embed="rId2"/>
          <a:stretch>
            <a:fillRect/>
          </a:stretch>
        </p:blipFill>
        <p:spPr>
          <a:xfrm>
            <a:off x="1939711" y="236924"/>
            <a:ext cx="8312577" cy="5048509"/>
          </a:xfrm>
          <a:prstGeom prst="rect">
            <a:avLst/>
          </a:prstGeom>
        </p:spPr>
      </p:pic>
      <p:sp>
        <p:nvSpPr>
          <p:cNvPr id="7" name="ZoneTexte 6">
            <a:extLst>
              <a:ext uri="{FF2B5EF4-FFF2-40B4-BE49-F238E27FC236}">
                <a16:creationId xmlns:a16="http://schemas.microsoft.com/office/drawing/2014/main" id="{9F3D2E47-28A1-C910-F2D4-02A2E4A942C8}"/>
              </a:ext>
            </a:extLst>
          </p:cNvPr>
          <p:cNvSpPr txBox="1"/>
          <p:nvPr/>
        </p:nvSpPr>
        <p:spPr>
          <a:xfrm>
            <a:off x="1489753" y="6082301"/>
            <a:ext cx="9215919" cy="369332"/>
          </a:xfrm>
          <a:prstGeom prst="rect">
            <a:avLst/>
          </a:prstGeom>
          <a:noFill/>
        </p:spPr>
        <p:txBody>
          <a:bodyPr wrap="square" rtlCol="0">
            <a:spAutoFit/>
          </a:bodyPr>
          <a:lstStyle/>
          <a:p>
            <a:r>
              <a:rPr lang="fr-FR" dirty="0">
                <a:hlinkClick r:id="rId3"/>
              </a:rPr>
              <a:t>https://bib.umontreal.ca/public/bib/gerer-diffuser/arbre-decision-syntheses-connaissances.pdf</a:t>
            </a:r>
            <a:r>
              <a:rPr lang="fr-FR" dirty="0"/>
              <a:t> </a:t>
            </a:r>
          </a:p>
        </p:txBody>
      </p:sp>
    </p:spTree>
    <p:extLst>
      <p:ext uri="{BB962C8B-B14F-4D97-AF65-F5344CB8AC3E}">
        <p14:creationId xmlns:p14="http://schemas.microsoft.com/office/powerpoint/2010/main" val="56663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896A49CD-0326-F145-3F3B-7E4245D699D1}"/>
              </a:ext>
            </a:extLst>
          </p:cNvPr>
          <p:cNvSpPr>
            <a:spLocks noGrp="1"/>
          </p:cNvSpPr>
          <p:nvPr>
            <p:ph type="ftr" sz="quarter" idx="11"/>
          </p:nvPr>
        </p:nvSpPr>
        <p:spPr/>
        <p:txBody>
          <a:bodyPr/>
          <a:lstStyle/>
          <a:p>
            <a:r>
              <a:rPr lang="fr-FR"/>
              <a:t>Rev syst 2024</a:t>
            </a:r>
          </a:p>
        </p:txBody>
      </p:sp>
      <p:sp>
        <p:nvSpPr>
          <p:cNvPr id="3" name="Espace réservé du numéro de diapositive 2">
            <a:extLst>
              <a:ext uri="{FF2B5EF4-FFF2-40B4-BE49-F238E27FC236}">
                <a16:creationId xmlns:a16="http://schemas.microsoft.com/office/drawing/2014/main" id="{DEE1A54F-788C-D0AB-6FB4-FACABAA411B1}"/>
              </a:ext>
            </a:extLst>
          </p:cNvPr>
          <p:cNvSpPr>
            <a:spLocks noGrp="1"/>
          </p:cNvSpPr>
          <p:nvPr>
            <p:ph type="sldNum" sz="quarter" idx="12"/>
          </p:nvPr>
        </p:nvSpPr>
        <p:spPr/>
        <p:txBody>
          <a:bodyPr/>
          <a:lstStyle/>
          <a:p>
            <a:fld id="{9DF0A9CC-7931-4C1A-A620-AB43675408D2}" type="slidenum">
              <a:rPr lang="fr-FR" smtClean="0"/>
              <a:t>4</a:t>
            </a:fld>
            <a:endParaRPr lang="fr-FR"/>
          </a:p>
        </p:txBody>
      </p:sp>
      <p:sp>
        <p:nvSpPr>
          <p:cNvPr id="4" name="ZoneTexte 3">
            <a:extLst>
              <a:ext uri="{FF2B5EF4-FFF2-40B4-BE49-F238E27FC236}">
                <a16:creationId xmlns:a16="http://schemas.microsoft.com/office/drawing/2014/main" id="{2BA6590B-0748-A7BF-ABC2-F088F9FB4E10}"/>
              </a:ext>
            </a:extLst>
          </p:cNvPr>
          <p:cNvSpPr txBox="1"/>
          <p:nvPr/>
        </p:nvSpPr>
        <p:spPr>
          <a:xfrm>
            <a:off x="655834" y="5804899"/>
            <a:ext cx="10777591" cy="646331"/>
          </a:xfrm>
          <a:prstGeom prst="rect">
            <a:avLst/>
          </a:prstGeom>
          <a:noFill/>
        </p:spPr>
        <p:txBody>
          <a:bodyPr wrap="square" rtlCol="0">
            <a:spAutoFit/>
          </a:bodyPr>
          <a:lstStyle/>
          <a:p>
            <a:r>
              <a:rPr lang="fr-FR" dirty="0">
                <a:hlinkClick r:id="rId2"/>
              </a:rPr>
              <a:t>https://www.fondationbiodiversite.fr/la-revue-systematique/ </a:t>
            </a:r>
          </a:p>
          <a:p>
            <a:r>
              <a:rPr lang="fr-FR" dirty="0">
                <a:hlinkClick r:id="rId2"/>
              </a:rPr>
              <a:t>https://www.fondationbiodiversite.fr/wp-content/uploads/2019/03/Revue-syste%CC%81matique-web.pdf</a:t>
            </a:r>
            <a:r>
              <a:rPr lang="fr-FR" dirty="0"/>
              <a:t> </a:t>
            </a:r>
          </a:p>
        </p:txBody>
      </p:sp>
      <p:pic>
        <p:nvPicPr>
          <p:cNvPr id="6" name="Image 5">
            <a:extLst>
              <a:ext uri="{FF2B5EF4-FFF2-40B4-BE49-F238E27FC236}">
                <a16:creationId xmlns:a16="http://schemas.microsoft.com/office/drawing/2014/main" id="{5640B67B-F06A-C56C-9E17-24A1276C8AA6}"/>
              </a:ext>
            </a:extLst>
          </p:cNvPr>
          <p:cNvPicPr>
            <a:picLocks noChangeAspect="1"/>
          </p:cNvPicPr>
          <p:nvPr/>
        </p:nvPicPr>
        <p:blipFill>
          <a:blip r:embed="rId3"/>
          <a:stretch>
            <a:fillRect/>
          </a:stretch>
        </p:blipFill>
        <p:spPr>
          <a:xfrm>
            <a:off x="3606320" y="136526"/>
            <a:ext cx="4045510" cy="5349980"/>
          </a:xfrm>
          <a:prstGeom prst="rect">
            <a:avLst/>
          </a:prstGeom>
        </p:spPr>
      </p:pic>
      <p:sp>
        <p:nvSpPr>
          <p:cNvPr id="7" name="ZoneTexte 6">
            <a:extLst>
              <a:ext uri="{FF2B5EF4-FFF2-40B4-BE49-F238E27FC236}">
                <a16:creationId xmlns:a16="http://schemas.microsoft.com/office/drawing/2014/main" id="{2C991198-FCDD-7FC5-BA98-BDBCD807C13E}"/>
              </a:ext>
            </a:extLst>
          </p:cNvPr>
          <p:cNvSpPr txBox="1"/>
          <p:nvPr/>
        </p:nvSpPr>
        <p:spPr>
          <a:xfrm>
            <a:off x="215757" y="1101250"/>
            <a:ext cx="2753474" cy="1384995"/>
          </a:xfrm>
          <a:prstGeom prst="rect">
            <a:avLst/>
          </a:prstGeom>
          <a:noFill/>
        </p:spPr>
        <p:txBody>
          <a:bodyPr wrap="square" rtlCol="0">
            <a:spAutoFit/>
          </a:bodyPr>
          <a:lstStyle/>
          <a:p>
            <a:r>
              <a:rPr lang="fr-FR" sz="2800" b="1" dirty="0"/>
              <a:t>Fondation pour la recherche sur la biodiversité</a:t>
            </a:r>
          </a:p>
        </p:txBody>
      </p:sp>
    </p:spTree>
    <p:extLst>
      <p:ext uri="{BB962C8B-B14F-4D97-AF65-F5344CB8AC3E}">
        <p14:creationId xmlns:p14="http://schemas.microsoft.com/office/powerpoint/2010/main" val="1518788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E8DC7DEE-138F-2E81-B7C3-55228930B538}"/>
              </a:ext>
            </a:extLst>
          </p:cNvPr>
          <p:cNvSpPr>
            <a:spLocks noGrp="1"/>
          </p:cNvSpPr>
          <p:nvPr>
            <p:ph type="ftr" sz="quarter" idx="11"/>
          </p:nvPr>
        </p:nvSpPr>
        <p:spPr/>
        <p:txBody>
          <a:bodyPr/>
          <a:lstStyle/>
          <a:p>
            <a:r>
              <a:rPr lang="fr-FR"/>
              <a:t>Rev syst 2024</a:t>
            </a:r>
          </a:p>
        </p:txBody>
      </p:sp>
      <p:sp>
        <p:nvSpPr>
          <p:cNvPr id="3" name="Espace réservé du numéro de diapositive 2">
            <a:extLst>
              <a:ext uri="{FF2B5EF4-FFF2-40B4-BE49-F238E27FC236}">
                <a16:creationId xmlns:a16="http://schemas.microsoft.com/office/drawing/2014/main" id="{BCF539BF-2E35-A31F-6849-AAD7FCF3432A}"/>
              </a:ext>
            </a:extLst>
          </p:cNvPr>
          <p:cNvSpPr>
            <a:spLocks noGrp="1"/>
          </p:cNvSpPr>
          <p:nvPr>
            <p:ph type="sldNum" sz="quarter" idx="12"/>
          </p:nvPr>
        </p:nvSpPr>
        <p:spPr/>
        <p:txBody>
          <a:bodyPr/>
          <a:lstStyle/>
          <a:p>
            <a:fld id="{9DF0A9CC-7931-4C1A-A620-AB43675408D2}" type="slidenum">
              <a:rPr lang="fr-FR" smtClean="0"/>
              <a:t>5</a:t>
            </a:fld>
            <a:endParaRPr lang="fr-FR"/>
          </a:p>
        </p:txBody>
      </p:sp>
      <p:pic>
        <p:nvPicPr>
          <p:cNvPr id="5" name="Image 4">
            <a:extLst>
              <a:ext uri="{FF2B5EF4-FFF2-40B4-BE49-F238E27FC236}">
                <a16:creationId xmlns:a16="http://schemas.microsoft.com/office/drawing/2014/main" id="{EE50F8C3-9B22-29DC-4E0F-94BC3AFB5086}"/>
              </a:ext>
            </a:extLst>
          </p:cNvPr>
          <p:cNvPicPr>
            <a:picLocks noChangeAspect="1"/>
          </p:cNvPicPr>
          <p:nvPr/>
        </p:nvPicPr>
        <p:blipFill>
          <a:blip r:embed="rId2"/>
          <a:stretch>
            <a:fillRect/>
          </a:stretch>
        </p:blipFill>
        <p:spPr>
          <a:xfrm>
            <a:off x="1042601" y="441789"/>
            <a:ext cx="10053489" cy="5942909"/>
          </a:xfrm>
          <a:prstGeom prst="rect">
            <a:avLst/>
          </a:prstGeom>
        </p:spPr>
      </p:pic>
    </p:spTree>
    <p:extLst>
      <p:ext uri="{BB962C8B-B14F-4D97-AF65-F5344CB8AC3E}">
        <p14:creationId xmlns:p14="http://schemas.microsoft.com/office/powerpoint/2010/main" val="1436448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b="1" dirty="0">
                <a:solidFill>
                  <a:schemeClr val="accent5"/>
                </a:solidFill>
                <a:latin typeface="+mn-lt"/>
              </a:rPr>
              <a:t>Revue de littérature</a:t>
            </a:r>
          </a:p>
        </p:txBody>
      </p:sp>
      <p:sp>
        <p:nvSpPr>
          <p:cNvPr id="3" name="Espace réservé du contenu 2"/>
          <p:cNvSpPr>
            <a:spLocks noGrp="1"/>
          </p:cNvSpPr>
          <p:nvPr>
            <p:ph idx="1"/>
          </p:nvPr>
        </p:nvSpPr>
        <p:spPr>
          <a:xfrm>
            <a:off x="838200" y="1446663"/>
            <a:ext cx="10515600" cy="4730300"/>
          </a:xfrm>
        </p:spPr>
        <p:txBody>
          <a:bodyPr>
            <a:normAutofit fontScale="92500" lnSpcReduction="10000"/>
          </a:bodyPr>
          <a:lstStyle/>
          <a:p>
            <a:r>
              <a:rPr lang="fr-FR" sz="3600" dirty="0">
                <a:solidFill>
                  <a:schemeClr val="accent5"/>
                </a:solidFill>
              </a:rPr>
              <a:t>Narrative ou autoritaire </a:t>
            </a:r>
            <a:r>
              <a:rPr lang="fr-FR" sz="3600" dirty="0"/>
              <a:t>: la présentation d’une stratégie, d’un thème en utilisant les références à des articles qui me donnent raison</a:t>
            </a:r>
          </a:p>
          <a:p>
            <a:r>
              <a:rPr lang="fr-FR" sz="3600" dirty="0">
                <a:solidFill>
                  <a:schemeClr val="accent5"/>
                </a:solidFill>
              </a:rPr>
              <a:t>Systématique ou méthodique </a:t>
            </a:r>
            <a:r>
              <a:rPr lang="fr-FR" sz="3600" dirty="0"/>
              <a:t>: j’explique mes méthodes de recherche et d’analyse des informations, et je donne ensuite mes opinions.. Donc c’est un article original ? Une revue de la littérature centrée sur une question de recherche qui tente d'identifier, d’évaluer, de sélectionner et de synthétiser toutes les données originales de qualité et pertinentes pour la question.</a:t>
            </a:r>
          </a:p>
          <a:p>
            <a:endParaRPr lang="fr-FR" sz="3600" dirty="0"/>
          </a:p>
        </p:txBody>
      </p:sp>
      <p:sp>
        <p:nvSpPr>
          <p:cNvPr id="4" name="Espace réservé du pied de page 3"/>
          <p:cNvSpPr>
            <a:spLocks noGrp="1"/>
          </p:cNvSpPr>
          <p:nvPr>
            <p:ph type="ftr" sz="quarter" idx="11"/>
          </p:nvPr>
        </p:nvSpPr>
        <p:spPr/>
        <p:txBody>
          <a:bodyPr/>
          <a:lstStyle/>
          <a:p>
            <a:pPr>
              <a:defRPr/>
            </a:pPr>
            <a:r>
              <a:rPr lang="fr-FR">
                <a:solidFill>
                  <a:prstClr val="black">
                    <a:tint val="75000"/>
                  </a:prstClr>
                </a:solidFill>
              </a:rPr>
              <a:t>Rev syst 2024</a:t>
            </a:r>
          </a:p>
        </p:txBody>
      </p:sp>
      <p:sp>
        <p:nvSpPr>
          <p:cNvPr id="5" name="Espace réservé du numéro de diapositive 4"/>
          <p:cNvSpPr>
            <a:spLocks noGrp="1"/>
          </p:cNvSpPr>
          <p:nvPr>
            <p:ph type="sldNum" sz="quarter" idx="12"/>
          </p:nvPr>
        </p:nvSpPr>
        <p:spPr/>
        <p:txBody>
          <a:bodyPr/>
          <a:lstStyle/>
          <a:p>
            <a:pPr>
              <a:defRPr/>
            </a:pPr>
            <a:fld id="{D8A343F6-89F0-4641-9867-3F5C761DE7A0}" type="slidenum">
              <a:rPr lang="fr-FR" smtClean="0">
                <a:solidFill>
                  <a:prstClr val="black">
                    <a:tint val="75000"/>
                  </a:prstClr>
                </a:solidFill>
              </a:rPr>
              <a:pPr>
                <a:defRPr/>
              </a:pPr>
              <a:t>6</a:t>
            </a:fld>
            <a:endParaRPr lang="fr-FR">
              <a:solidFill>
                <a:prstClr val="black">
                  <a:tint val="75000"/>
                </a:prstClr>
              </a:solidFill>
            </a:endParaRPr>
          </a:p>
        </p:txBody>
      </p:sp>
    </p:spTree>
    <p:extLst>
      <p:ext uri="{BB962C8B-B14F-4D97-AF65-F5344CB8AC3E}">
        <p14:creationId xmlns:p14="http://schemas.microsoft.com/office/powerpoint/2010/main" val="2742462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Définition</a:t>
            </a:r>
          </a:p>
        </p:txBody>
      </p:sp>
      <p:sp>
        <p:nvSpPr>
          <p:cNvPr id="3" name="Espace réservé du contenu 2"/>
          <p:cNvSpPr>
            <a:spLocks noGrp="1"/>
          </p:cNvSpPr>
          <p:nvPr>
            <p:ph idx="1"/>
          </p:nvPr>
        </p:nvSpPr>
        <p:spPr/>
        <p:txBody>
          <a:bodyPr>
            <a:normAutofit/>
          </a:bodyPr>
          <a:lstStyle/>
          <a:p>
            <a:r>
              <a:rPr lang="fr-FR" dirty="0"/>
              <a:t>Une </a:t>
            </a:r>
            <a:r>
              <a:rPr lang="fr-FR" b="1" dirty="0"/>
              <a:t>revue systématique </a:t>
            </a:r>
            <a:r>
              <a:rPr lang="fr-FR" dirty="0"/>
              <a:t>consiste en une synthèse de la littérature scientifique en réponse à une question précise. Elle utilise des méthodes explicites de recherche, de sélection et d’analyse des données. </a:t>
            </a:r>
          </a:p>
          <a:p>
            <a:r>
              <a:rPr lang="fr-FR" dirty="0"/>
              <a:t>Des méthodes statistiques peuvent ou non être utilisées pour synthétiser les résultats des études. Lorsque de telles méthodes sont employées, on parle de </a:t>
            </a:r>
            <a:r>
              <a:rPr lang="fr-FR" b="1" dirty="0"/>
              <a:t>méta-analyse. </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7</a:t>
            </a:fld>
            <a:endParaRPr lang="fr-FR"/>
          </a:p>
        </p:txBody>
      </p:sp>
    </p:spTree>
    <p:extLst>
      <p:ext uri="{BB962C8B-B14F-4D97-AF65-F5344CB8AC3E}">
        <p14:creationId xmlns:p14="http://schemas.microsoft.com/office/powerpoint/2010/main" val="783308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Revues systématiques et narratives</a:t>
            </a:r>
          </a:p>
        </p:txBody>
      </p:sp>
      <p:sp>
        <p:nvSpPr>
          <p:cNvPr id="3" name="Espace réservé du contenu 2"/>
          <p:cNvSpPr>
            <a:spLocks noGrp="1"/>
          </p:cNvSpPr>
          <p:nvPr>
            <p:ph idx="1"/>
          </p:nvPr>
        </p:nvSpPr>
        <p:spPr/>
        <p:txBody>
          <a:bodyPr>
            <a:normAutofit/>
          </a:bodyPr>
          <a:lstStyle/>
          <a:p>
            <a:r>
              <a:rPr lang="fr-FR" dirty="0"/>
              <a:t>Une revue systématique est une vraie méthode de recherche, et ne doit pas être confondue avec une </a:t>
            </a:r>
            <a:r>
              <a:rPr lang="fr-FR" b="1" dirty="0"/>
              <a:t>revue générale </a:t>
            </a:r>
            <a:r>
              <a:rPr lang="fr-FR" dirty="0"/>
              <a:t>dans laquelle la recherche documentaire n’est en général pas exhaustive et qui représente plus l’opinion d’un expert ou d’un groupe d’experts.</a:t>
            </a:r>
          </a:p>
          <a:p>
            <a:endParaRPr lang="fr-FR" dirty="0"/>
          </a:p>
          <a:p>
            <a:r>
              <a:rPr lang="fr-FR" dirty="0"/>
              <a:t>Les revues scientifiques publient </a:t>
            </a:r>
          </a:p>
          <a:p>
            <a:pPr lvl="1"/>
            <a:r>
              <a:rPr lang="fr-FR" dirty="0"/>
              <a:t>des revues systématiques (ou méthodiques) </a:t>
            </a:r>
          </a:p>
          <a:p>
            <a:pPr lvl="1"/>
            <a:r>
              <a:rPr lang="fr-FR" dirty="0"/>
              <a:t>et/ou des revues narratives (ou autoritaires), </a:t>
            </a:r>
          </a:p>
          <a:p>
            <a:pPr marL="457200" lvl="1" indent="0">
              <a:buNone/>
            </a:pPr>
            <a:r>
              <a:rPr lang="fr-FR" dirty="0"/>
              <a:t>elles le précisent dans les instructions aux auteurs (longueur, nombre de références, diagramme de flux des études,…)</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8</a:t>
            </a:fld>
            <a:endParaRPr lang="fr-FR"/>
          </a:p>
        </p:txBody>
      </p:sp>
    </p:spTree>
    <p:extLst>
      <p:ext uri="{BB962C8B-B14F-4D97-AF65-F5344CB8AC3E}">
        <p14:creationId xmlns:p14="http://schemas.microsoft.com/office/powerpoint/2010/main" val="2920729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Étapes d’une revues systématique</a:t>
            </a:r>
          </a:p>
        </p:txBody>
      </p:sp>
      <p:sp>
        <p:nvSpPr>
          <p:cNvPr id="3" name="Espace réservé du contenu 2"/>
          <p:cNvSpPr>
            <a:spLocks noGrp="1"/>
          </p:cNvSpPr>
          <p:nvPr>
            <p:ph idx="1"/>
          </p:nvPr>
        </p:nvSpPr>
        <p:spPr/>
        <p:txBody>
          <a:bodyPr>
            <a:normAutofit lnSpcReduction="10000"/>
          </a:bodyPr>
          <a:lstStyle/>
          <a:p>
            <a:pPr marL="514350" indent="-514350">
              <a:buFont typeface="+mj-lt"/>
              <a:buAutoNum type="arabicPeriod"/>
            </a:pPr>
            <a:r>
              <a:rPr lang="fr-FR" dirty="0"/>
              <a:t>Rédaction et enregistrement du protocole</a:t>
            </a:r>
          </a:p>
          <a:p>
            <a:pPr marL="514350" indent="-514350">
              <a:buFont typeface="+mj-lt"/>
              <a:buAutoNum type="arabicPeriod"/>
            </a:pPr>
            <a:r>
              <a:rPr lang="fr-FR" dirty="0"/>
              <a:t>Définition de la question de recherche et des critères d’éligibilité</a:t>
            </a:r>
          </a:p>
          <a:p>
            <a:pPr marL="514350" indent="-514350">
              <a:buFont typeface="+mj-lt"/>
              <a:buAutoNum type="arabicPeriod"/>
            </a:pPr>
            <a:r>
              <a:rPr lang="fr-FR" dirty="0"/>
              <a:t>Recherche et sélection des études</a:t>
            </a:r>
          </a:p>
          <a:p>
            <a:pPr marL="514350" indent="-514350">
              <a:buFont typeface="+mj-lt"/>
              <a:buAutoNum type="arabicPeriod"/>
            </a:pPr>
            <a:r>
              <a:rPr lang="fr-FR" dirty="0"/>
              <a:t>Extraction des données</a:t>
            </a:r>
          </a:p>
          <a:p>
            <a:pPr marL="514350" indent="-514350">
              <a:buFont typeface="+mj-lt"/>
              <a:buAutoNum type="arabicPeriod"/>
            </a:pPr>
            <a:r>
              <a:rPr lang="fr-FR" dirty="0"/>
              <a:t>Évaluation de la qualité méthodologique des études</a:t>
            </a:r>
          </a:p>
          <a:p>
            <a:pPr marL="514350" indent="-514350">
              <a:buFont typeface="+mj-lt"/>
              <a:buAutoNum type="arabicPeriod"/>
            </a:pPr>
            <a:r>
              <a:rPr lang="fr-FR" dirty="0"/>
              <a:t>Synthèse des données</a:t>
            </a:r>
          </a:p>
          <a:p>
            <a:pPr marL="514350" indent="-514350">
              <a:buFont typeface="+mj-lt"/>
              <a:buAutoNum type="arabicPeriod"/>
            </a:pPr>
            <a:r>
              <a:rPr lang="fr-FR" dirty="0"/>
              <a:t>Synthèse du niveau de preuves</a:t>
            </a:r>
          </a:p>
          <a:p>
            <a:pPr marL="514350" indent="-514350">
              <a:buFont typeface="+mj-lt"/>
              <a:buAutoNum type="arabicPeriod"/>
            </a:pPr>
            <a:r>
              <a:rPr lang="fr-FR" dirty="0"/>
              <a:t>Rédaction et publication de l’article</a:t>
            </a:r>
          </a:p>
          <a:p>
            <a:pPr marL="514350" indent="-514350">
              <a:buFont typeface="+mj-lt"/>
              <a:buAutoNum type="arabicPeriod"/>
            </a:pPr>
            <a:r>
              <a:rPr lang="fr-FR" dirty="0"/>
              <a:t>Évaluation des revues systématiques publiées</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9</a:t>
            </a:fld>
            <a:endParaRPr lang="fr-FR"/>
          </a:p>
        </p:txBody>
      </p:sp>
    </p:spTree>
    <p:extLst>
      <p:ext uri="{BB962C8B-B14F-4D97-AF65-F5344CB8AC3E}">
        <p14:creationId xmlns:p14="http://schemas.microsoft.com/office/powerpoint/2010/main" val="975939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riangle isocèle 1"/>
          <p:cNvSpPr/>
          <p:nvPr/>
        </p:nvSpPr>
        <p:spPr>
          <a:xfrm rot="10800000">
            <a:off x="3940345" y="2735112"/>
            <a:ext cx="3363994" cy="3020739"/>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p:cNvSpPr txBox="1"/>
          <p:nvPr/>
        </p:nvSpPr>
        <p:spPr>
          <a:xfrm>
            <a:off x="3940344" y="312655"/>
            <a:ext cx="3419654" cy="369332"/>
          </a:xfrm>
          <a:prstGeom prst="rect">
            <a:avLst/>
          </a:prstGeom>
          <a:noFill/>
        </p:spPr>
        <p:txBody>
          <a:bodyPr wrap="none" rtlCol="0">
            <a:spAutoFit/>
          </a:bodyPr>
          <a:lstStyle/>
          <a:p>
            <a:r>
              <a:rPr lang="fr-FR" dirty="0"/>
              <a:t>Identifier la question de recherche</a:t>
            </a:r>
          </a:p>
        </p:txBody>
      </p:sp>
      <p:sp>
        <p:nvSpPr>
          <p:cNvPr id="4" name="ZoneTexte 3"/>
          <p:cNvSpPr txBox="1"/>
          <p:nvPr/>
        </p:nvSpPr>
        <p:spPr>
          <a:xfrm>
            <a:off x="4009655" y="841462"/>
            <a:ext cx="3294684" cy="369332"/>
          </a:xfrm>
          <a:prstGeom prst="rect">
            <a:avLst/>
          </a:prstGeom>
          <a:noFill/>
        </p:spPr>
        <p:txBody>
          <a:bodyPr wrap="none" rtlCol="0">
            <a:spAutoFit/>
          </a:bodyPr>
          <a:lstStyle/>
          <a:p>
            <a:r>
              <a:rPr lang="fr-FR" dirty="0"/>
              <a:t>Ecrire et enregistrer un protocole</a:t>
            </a:r>
          </a:p>
        </p:txBody>
      </p:sp>
      <p:sp>
        <p:nvSpPr>
          <p:cNvPr id="5" name="Organigramme : Jonction de sommaire 4"/>
          <p:cNvSpPr/>
          <p:nvPr/>
        </p:nvSpPr>
        <p:spPr>
          <a:xfrm>
            <a:off x="3786717" y="1957190"/>
            <a:ext cx="3671248" cy="518615"/>
          </a:xfrm>
          <a:prstGeom prst="flowChartSummingJunction">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Organigramme : Multidocument 6"/>
          <p:cNvSpPr/>
          <p:nvPr/>
        </p:nvSpPr>
        <p:spPr>
          <a:xfrm>
            <a:off x="5022377" y="5991366"/>
            <a:ext cx="1060704" cy="758952"/>
          </a:xfrm>
          <a:prstGeom prst="flowChartMultidocumen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p:cNvSpPr txBox="1"/>
          <p:nvPr/>
        </p:nvSpPr>
        <p:spPr>
          <a:xfrm>
            <a:off x="1282889" y="6186176"/>
            <a:ext cx="3622274" cy="369332"/>
          </a:xfrm>
          <a:prstGeom prst="rect">
            <a:avLst/>
          </a:prstGeom>
          <a:noFill/>
        </p:spPr>
        <p:txBody>
          <a:bodyPr wrap="none" rtlCol="0">
            <a:spAutoFit/>
          </a:bodyPr>
          <a:lstStyle/>
          <a:p>
            <a:r>
              <a:rPr lang="fr-FR" dirty="0"/>
              <a:t>Publication de la revue systématique</a:t>
            </a:r>
          </a:p>
        </p:txBody>
      </p:sp>
      <p:sp>
        <p:nvSpPr>
          <p:cNvPr id="9" name="ZoneTexte 8"/>
          <p:cNvSpPr txBox="1"/>
          <p:nvPr/>
        </p:nvSpPr>
        <p:spPr>
          <a:xfrm>
            <a:off x="8660417" y="702962"/>
            <a:ext cx="2762936" cy="646331"/>
          </a:xfrm>
          <a:prstGeom prst="rect">
            <a:avLst/>
          </a:prstGeom>
          <a:noFill/>
        </p:spPr>
        <p:txBody>
          <a:bodyPr wrap="none" rtlCol="0">
            <a:spAutoFit/>
          </a:bodyPr>
          <a:lstStyle/>
          <a:p>
            <a:r>
              <a:rPr lang="fr-FR" dirty="0" err="1"/>
              <a:t>Prospero</a:t>
            </a:r>
            <a:r>
              <a:rPr lang="fr-FR" dirty="0"/>
              <a:t> est un registre de </a:t>
            </a:r>
          </a:p>
          <a:p>
            <a:r>
              <a:rPr lang="fr-FR" dirty="0"/>
              <a:t>Revues systématiques</a:t>
            </a:r>
          </a:p>
        </p:txBody>
      </p:sp>
      <p:sp>
        <p:nvSpPr>
          <p:cNvPr id="10" name="ZoneTexte 9"/>
          <p:cNvSpPr txBox="1"/>
          <p:nvPr/>
        </p:nvSpPr>
        <p:spPr>
          <a:xfrm>
            <a:off x="3823642" y="1300869"/>
            <a:ext cx="3666709" cy="369332"/>
          </a:xfrm>
          <a:prstGeom prst="rect">
            <a:avLst/>
          </a:prstGeom>
          <a:noFill/>
        </p:spPr>
        <p:txBody>
          <a:bodyPr wrap="none" rtlCol="0">
            <a:spAutoFit/>
          </a:bodyPr>
          <a:lstStyle/>
          <a:p>
            <a:r>
              <a:rPr lang="fr-FR" dirty="0"/>
              <a:t>Stratégie de recherche documentaire</a:t>
            </a:r>
          </a:p>
        </p:txBody>
      </p:sp>
      <p:sp>
        <p:nvSpPr>
          <p:cNvPr id="11" name="ZoneTexte 10"/>
          <p:cNvSpPr txBox="1"/>
          <p:nvPr/>
        </p:nvSpPr>
        <p:spPr>
          <a:xfrm>
            <a:off x="504967" y="1957190"/>
            <a:ext cx="3088987" cy="369332"/>
          </a:xfrm>
          <a:prstGeom prst="rect">
            <a:avLst/>
          </a:prstGeom>
          <a:noFill/>
        </p:spPr>
        <p:txBody>
          <a:bodyPr wrap="none" rtlCol="0">
            <a:spAutoFit/>
          </a:bodyPr>
          <a:lstStyle/>
          <a:p>
            <a:r>
              <a:rPr lang="fr-FR" dirty="0"/>
              <a:t>Sélection / criblage des articles</a:t>
            </a:r>
          </a:p>
        </p:txBody>
      </p:sp>
      <p:sp>
        <p:nvSpPr>
          <p:cNvPr id="12" name="ZoneTexte 11"/>
          <p:cNvSpPr txBox="1"/>
          <p:nvPr/>
        </p:nvSpPr>
        <p:spPr>
          <a:xfrm>
            <a:off x="354842" y="2735112"/>
            <a:ext cx="3585502" cy="646331"/>
          </a:xfrm>
          <a:prstGeom prst="rect">
            <a:avLst/>
          </a:prstGeom>
          <a:noFill/>
        </p:spPr>
        <p:txBody>
          <a:bodyPr wrap="square" rtlCol="0">
            <a:spAutoFit/>
          </a:bodyPr>
          <a:lstStyle/>
          <a:p>
            <a:r>
              <a:rPr lang="fr-FR" dirty="0"/>
              <a:t>Eligibilité / Qualité méthodologique des études</a:t>
            </a:r>
          </a:p>
        </p:txBody>
      </p:sp>
      <p:sp>
        <p:nvSpPr>
          <p:cNvPr id="13" name="ZoneTexte 12"/>
          <p:cNvSpPr txBox="1"/>
          <p:nvPr/>
        </p:nvSpPr>
        <p:spPr>
          <a:xfrm>
            <a:off x="1765065" y="3389868"/>
            <a:ext cx="2367350" cy="369332"/>
          </a:xfrm>
          <a:prstGeom prst="rect">
            <a:avLst/>
          </a:prstGeom>
          <a:noFill/>
        </p:spPr>
        <p:txBody>
          <a:bodyPr wrap="square" rtlCol="0">
            <a:spAutoFit/>
          </a:bodyPr>
          <a:lstStyle/>
          <a:p>
            <a:r>
              <a:rPr lang="fr-FR" dirty="0"/>
              <a:t>Extraction des données</a:t>
            </a:r>
          </a:p>
        </p:txBody>
      </p:sp>
      <p:sp>
        <p:nvSpPr>
          <p:cNvPr id="14" name="ZoneTexte 13"/>
          <p:cNvSpPr txBox="1"/>
          <p:nvPr/>
        </p:nvSpPr>
        <p:spPr>
          <a:xfrm>
            <a:off x="504967" y="3790033"/>
            <a:ext cx="3777573" cy="1477328"/>
          </a:xfrm>
          <a:prstGeom prst="rect">
            <a:avLst/>
          </a:prstGeom>
          <a:noFill/>
        </p:spPr>
        <p:txBody>
          <a:bodyPr wrap="none" rtlCol="0">
            <a:spAutoFit/>
          </a:bodyPr>
          <a:lstStyle/>
          <a:p>
            <a:r>
              <a:rPr lang="fr-FR" dirty="0"/>
              <a:t>Synthèse des données :</a:t>
            </a:r>
          </a:p>
          <a:p>
            <a:pPr marL="742950" lvl="1" indent="-285750">
              <a:buFont typeface="Arial" panose="020B0604020202020204" pitchFamily="34" charset="0"/>
              <a:buChar char="•"/>
            </a:pPr>
            <a:r>
              <a:rPr lang="fr-FR" dirty="0"/>
              <a:t>Quantitative par méta-analyse</a:t>
            </a:r>
          </a:p>
          <a:p>
            <a:pPr marL="742950" lvl="1" indent="-285750">
              <a:buFont typeface="Arial" panose="020B0604020202020204" pitchFamily="34" charset="0"/>
              <a:buChar char="•"/>
            </a:pPr>
            <a:r>
              <a:rPr lang="fr-FR" dirty="0"/>
              <a:t>Semi-quantitative</a:t>
            </a:r>
          </a:p>
          <a:p>
            <a:pPr marL="742950" lvl="1" indent="-285750">
              <a:buFont typeface="Arial" panose="020B0604020202020204" pitchFamily="34" charset="0"/>
              <a:buChar char="•"/>
            </a:pPr>
            <a:r>
              <a:rPr lang="fr-FR" dirty="0"/>
              <a:t>Descriptive</a:t>
            </a:r>
          </a:p>
          <a:p>
            <a:pPr marL="742950" lvl="1" indent="-285750">
              <a:buFont typeface="Arial" panose="020B0604020202020204" pitchFamily="34" charset="0"/>
              <a:buChar char="•"/>
            </a:pPr>
            <a:r>
              <a:rPr lang="fr-FR" dirty="0"/>
              <a:t>Aspect qualitatif</a:t>
            </a:r>
          </a:p>
        </p:txBody>
      </p:sp>
      <p:sp>
        <p:nvSpPr>
          <p:cNvPr id="15" name="ZoneTexte 14"/>
          <p:cNvSpPr txBox="1"/>
          <p:nvPr/>
        </p:nvSpPr>
        <p:spPr>
          <a:xfrm>
            <a:off x="2228822" y="5347293"/>
            <a:ext cx="3115789" cy="369332"/>
          </a:xfrm>
          <a:prstGeom prst="rect">
            <a:avLst/>
          </a:prstGeom>
          <a:noFill/>
        </p:spPr>
        <p:txBody>
          <a:bodyPr wrap="none" rtlCol="0">
            <a:spAutoFit/>
          </a:bodyPr>
          <a:lstStyle/>
          <a:p>
            <a:r>
              <a:rPr lang="fr-FR" dirty="0"/>
              <a:t>Synthèse du niveau de preuve</a:t>
            </a:r>
          </a:p>
        </p:txBody>
      </p:sp>
      <p:sp>
        <p:nvSpPr>
          <p:cNvPr id="16" name="ZoneTexte 15"/>
          <p:cNvSpPr txBox="1"/>
          <p:nvPr/>
        </p:nvSpPr>
        <p:spPr>
          <a:xfrm>
            <a:off x="7056133" y="5504277"/>
            <a:ext cx="4479752" cy="923330"/>
          </a:xfrm>
          <a:prstGeom prst="rect">
            <a:avLst/>
          </a:prstGeom>
          <a:noFill/>
        </p:spPr>
        <p:txBody>
          <a:bodyPr wrap="none" rtlCol="0">
            <a:spAutoFit/>
          </a:bodyPr>
          <a:lstStyle/>
          <a:p>
            <a:r>
              <a:rPr lang="fr-FR" dirty="0"/>
              <a:t>PRISMA pour </a:t>
            </a:r>
            <a:r>
              <a:rPr lang="fr-FR" dirty="0" err="1"/>
              <a:t>Preferred</a:t>
            </a:r>
            <a:r>
              <a:rPr lang="fr-FR" dirty="0"/>
              <a:t> </a:t>
            </a:r>
            <a:r>
              <a:rPr lang="fr-FR" dirty="0" err="1"/>
              <a:t>Reporting</a:t>
            </a:r>
            <a:r>
              <a:rPr lang="fr-FR" dirty="0"/>
              <a:t> Items for </a:t>
            </a:r>
          </a:p>
          <a:p>
            <a:r>
              <a:rPr lang="fr-FR" dirty="0" err="1"/>
              <a:t>Systematic</a:t>
            </a:r>
            <a:r>
              <a:rPr lang="fr-FR" dirty="0"/>
              <a:t> </a:t>
            </a:r>
            <a:r>
              <a:rPr lang="fr-FR" dirty="0" err="1"/>
              <a:t>reviews</a:t>
            </a:r>
            <a:r>
              <a:rPr lang="fr-FR" dirty="0"/>
              <a:t> and Meta-</a:t>
            </a:r>
            <a:r>
              <a:rPr lang="fr-FR" dirty="0" err="1"/>
              <a:t>Analysis</a:t>
            </a:r>
            <a:r>
              <a:rPr lang="fr-FR" dirty="0"/>
              <a:t> est une</a:t>
            </a:r>
          </a:p>
          <a:p>
            <a:r>
              <a:rPr lang="fr-FR" dirty="0"/>
              <a:t>ligne directrice pour écrire l’article</a:t>
            </a:r>
          </a:p>
        </p:txBody>
      </p:sp>
      <p:sp>
        <p:nvSpPr>
          <p:cNvPr id="17" name="ZoneTexte 16"/>
          <p:cNvSpPr txBox="1"/>
          <p:nvPr/>
        </p:nvSpPr>
        <p:spPr>
          <a:xfrm>
            <a:off x="-17531" y="1293860"/>
            <a:ext cx="3804247" cy="369332"/>
          </a:xfrm>
          <a:prstGeom prst="rect">
            <a:avLst/>
          </a:prstGeom>
          <a:noFill/>
        </p:spPr>
        <p:txBody>
          <a:bodyPr wrap="none" rtlCol="0">
            <a:spAutoFit/>
          </a:bodyPr>
          <a:lstStyle/>
          <a:p>
            <a:r>
              <a:rPr lang="fr-FR" dirty="0"/>
              <a:t>Plusieurs bases et études non publiées</a:t>
            </a:r>
          </a:p>
        </p:txBody>
      </p:sp>
      <p:sp>
        <p:nvSpPr>
          <p:cNvPr id="6" name="Espace réservé du pied de page 5"/>
          <p:cNvSpPr>
            <a:spLocks noGrp="1"/>
          </p:cNvSpPr>
          <p:nvPr>
            <p:ph type="ftr" sz="quarter" idx="11"/>
          </p:nvPr>
        </p:nvSpPr>
        <p:spPr/>
        <p:txBody>
          <a:bodyPr/>
          <a:lstStyle/>
          <a:p>
            <a:r>
              <a:rPr lang="fr-FR"/>
              <a:t>Rev syst 2024</a:t>
            </a:r>
          </a:p>
        </p:txBody>
      </p:sp>
      <p:sp>
        <p:nvSpPr>
          <p:cNvPr id="18" name="Espace réservé du numéro de diapositive 17"/>
          <p:cNvSpPr>
            <a:spLocks noGrp="1"/>
          </p:cNvSpPr>
          <p:nvPr>
            <p:ph type="sldNum" sz="quarter" idx="12"/>
          </p:nvPr>
        </p:nvSpPr>
        <p:spPr/>
        <p:txBody>
          <a:bodyPr/>
          <a:lstStyle/>
          <a:p>
            <a:fld id="{546FBEAA-79D1-4294-A385-7208DD4246DA}" type="slidenum">
              <a:rPr lang="fr-FR" smtClean="0"/>
              <a:t>10</a:t>
            </a:fld>
            <a:endParaRPr lang="fr-FR"/>
          </a:p>
        </p:txBody>
      </p:sp>
    </p:spTree>
    <p:extLst>
      <p:ext uri="{BB962C8B-B14F-4D97-AF65-F5344CB8AC3E}">
        <p14:creationId xmlns:p14="http://schemas.microsoft.com/office/powerpoint/2010/main" val="1653975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Recherche et sélection des études</a:t>
            </a:r>
          </a:p>
        </p:txBody>
      </p:sp>
      <p:pic>
        <p:nvPicPr>
          <p:cNvPr id="5" name="Espace réservé du contenu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341470"/>
            <a:ext cx="8850260" cy="5516530"/>
          </a:xfrm>
        </p:spPr>
      </p:pic>
      <p:sp>
        <p:nvSpPr>
          <p:cNvPr id="6" name="Espace réservé du pied de page 5"/>
          <p:cNvSpPr>
            <a:spLocks noGrp="1"/>
          </p:cNvSpPr>
          <p:nvPr>
            <p:ph type="ftr" sz="quarter" idx="11"/>
          </p:nvPr>
        </p:nvSpPr>
        <p:spPr/>
        <p:txBody>
          <a:bodyPr/>
          <a:lstStyle/>
          <a:p>
            <a:r>
              <a:rPr lang="fr-FR"/>
              <a:t>Rev syst 2024</a:t>
            </a:r>
          </a:p>
        </p:txBody>
      </p:sp>
      <p:sp>
        <p:nvSpPr>
          <p:cNvPr id="7" name="Espace réservé du numéro de diapositive 6"/>
          <p:cNvSpPr>
            <a:spLocks noGrp="1"/>
          </p:cNvSpPr>
          <p:nvPr>
            <p:ph type="sldNum" sz="quarter" idx="12"/>
          </p:nvPr>
        </p:nvSpPr>
        <p:spPr/>
        <p:txBody>
          <a:bodyPr/>
          <a:lstStyle/>
          <a:p>
            <a:fld id="{9DF0A9CC-7931-4C1A-A620-AB43675408D2}" type="slidenum">
              <a:rPr lang="fr-FR" smtClean="0"/>
              <a:t>11</a:t>
            </a:fld>
            <a:endParaRPr lang="fr-FR"/>
          </a:p>
        </p:txBody>
      </p:sp>
    </p:spTree>
    <p:extLst>
      <p:ext uri="{BB962C8B-B14F-4D97-AF65-F5344CB8AC3E}">
        <p14:creationId xmlns:p14="http://schemas.microsoft.com/office/powerpoint/2010/main" val="833191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Extraction des données</a:t>
            </a:r>
          </a:p>
        </p:txBody>
      </p:sp>
      <p:sp>
        <p:nvSpPr>
          <p:cNvPr id="3" name="Espace réservé du contenu 2"/>
          <p:cNvSpPr>
            <a:spLocks noGrp="1"/>
          </p:cNvSpPr>
          <p:nvPr>
            <p:ph idx="1"/>
          </p:nvPr>
        </p:nvSpPr>
        <p:spPr/>
        <p:txBody>
          <a:bodyPr/>
          <a:lstStyle/>
          <a:p>
            <a:r>
              <a:rPr lang="fr-FR" dirty="0"/>
              <a:t>Au moins deux personnes indépendantes</a:t>
            </a:r>
          </a:p>
          <a:p>
            <a:r>
              <a:rPr lang="fr-FR" dirty="0"/>
              <a:t>Formulaire de collecte des données</a:t>
            </a:r>
          </a:p>
          <a:p>
            <a:r>
              <a:rPr lang="fr-FR" dirty="0"/>
              <a:t>Extraire les risques de biais</a:t>
            </a:r>
          </a:p>
          <a:p>
            <a:endParaRPr lang="fr-FR" dirty="0"/>
          </a:p>
          <a:p>
            <a:r>
              <a:rPr lang="fr-FR" dirty="0"/>
              <a:t>Cochrane </a:t>
            </a:r>
            <a:r>
              <a:rPr lang="fr-FR" dirty="0" err="1"/>
              <a:t>database</a:t>
            </a:r>
            <a:r>
              <a:rPr lang="fr-FR" dirty="0"/>
              <a:t> collection </a:t>
            </a:r>
            <a:r>
              <a:rPr lang="fr-FR" dirty="0" err="1"/>
              <a:t>form</a:t>
            </a:r>
            <a:r>
              <a:rPr lang="fr-FR" dirty="0"/>
              <a:t> for intervention </a:t>
            </a:r>
            <a:r>
              <a:rPr lang="fr-FR" dirty="0" err="1"/>
              <a:t>review</a:t>
            </a:r>
            <a:endParaRPr lang="fr-FR" dirty="0"/>
          </a:p>
          <a:p>
            <a:r>
              <a:rPr lang="fr-FR" dirty="0"/>
              <a:t>Excel ou le logiciel de la collaboration Cochrane pour préparer des revues systématiques </a:t>
            </a:r>
            <a:r>
              <a:rPr lang="fr-FR" dirty="0" err="1"/>
              <a:t>RevMan</a:t>
            </a:r>
            <a:r>
              <a:rPr lang="fr-FR" dirty="0"/>
              <a:t> </a:t>
            </a:r>
            <a:r>
              <a:rPr lang="fr-FR" dirty="0">
                <a:hlinkClick r:id="rId2"/>
              </a:rPr>
              <a:t>http://tech.cochrane.org/revman</a:t>
            </a:r>
            <a:r>
              <a:rPr lang="fr-FR" dirty="0"/>
              <a:t> </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12</a:t>
            </a:fld>
            <a:endParaRPr lang="fr-FR"/>
          </a:p>
        </p:txBody>
      </p:sp>
    </p:spTree>
    <p:extLst>
      <p:ext uri="{BB962C8B-B14F-4D97-AF65-F5344CB8AC3E}">
        <p14:creationId xmlns:p14="http://schemas.microsoft.com/office/powerpoint/2010/main" val="1601545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b="1" dirty="0">
                <a:solidFill>
                  <a:schemeClr val="accent5"/>
                </a:solidFill>
                <a:latin typeface="+mn-lt"/>
              </a:rPr>
              <a:t>Évaluation de la qualité méthodologique des études, exemple</a:t>
            </a:r>
          </a:p>
        </p:txBody>
      </p:sp>
      <p:sp>
        <p:nvSpPr>
          <p:cNvPr id="3" name="Espace réservé du contenu 2"/>
          <p:cNvSpPr>
            <a:spLocks noGrp="1"/>
          </p:cNvSpPr>
          <p:nvPr>
            <p:ph idx="1"/>
          </p:nvPr>
        </p:nvSpPr>
        <p:spPr/>
        <p:txBody>
          <a:bodyPr/>
          <a:lstStyle/>
          <a:p>
            <a:r>
              <a:rPr lang="fr-FR" dirty="0"/>
              <a:t>Lister les risques de biais, les rechercher, avec une grille :</a:t>
            </a:r>
          </a:p>
          <a:p>
            <a:pPr lvl="1"/>
            <a:r>
              <a:rPr lang="fr-FR" dirty="0"/>
              <a:t>Le processus d’allocation était-il correct ?</a:t>
            </a:r>
          </a:p>
          <a:p>
            <a:pPr lvl="1"/>
            <a:r>
              <a:rPr lang="fr-FR" dirty="0"/>
              <a:t>L’allocation était-elle correctement masquée ?</a:t>
            </a:r>
          </a:p>
          <a:p>
            <a:pPr lvl="1"/>
            <a:r>
              <a:rPr lang="fr-FR" dirty="0"/>
              <a:t>Les niveaux de base des critères de jugement étaient-ils similaires ?</a:t>
            </a:r>
          </a:p>
          <a:p>
            <a:pPr lvl="1"/>
            <a:r>
              <a:rPr lang="fr-FR" dirty="0"/>
              <a:t>Les données incomplètes </a:t>
            </a:r>
            <a:r>
              <a:rPr lang="fr-FR" dirty="0" err="1"/>
              <a:t>ont-elles</a:t>
            </a:r>
            <a:r>
              <a:rPr lang="fr-FR" dirty="0"/>
              <a:t> été correctement traitées ?</a:t>
            </a:r>
          </a:p>
          <a:p>
            <a:pPr lvl="1"/>
            <a:r>
              <a:rPr lang="fr-FR" dirty="0"/>
              <a:t>La connaissance de la répartition des sujets dans les groupes a-t-elle été correctement prévenue ?</a:t>
            </a:r>
          </a:p>
          <a:p>
            <a:pPr lvl="1"/>
            <a:r>
              <a:rPr lang="fr-FR" dirty="0"/>
              <a:t>Le risque de contamination </a:t>
            </a:r>
            <a:r>
              <a:rPr lang="fr-FR" dirty="0" err="1"/>
              <a:t>a-t-il</a:t>
            </a:r>
            <a:r>
              <a:rPr lang="fr-FR" dirty="0"/>
              <a:t> été correctement prévenu ?</a:t>
            </a:r>
          </a:p>
          <a:p>
            <a:pPr lvl="1"/>
            <a:r>
              <a:rPr lang="fr-FR" dirty="0"/>
              <a:t>L’étude est-elle exempte d’un report sélectif des critères de jugement ?</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13</a:t>
            </a:fld>
            <a:endParaRPr lang="fr-FR"/>
          </a:p>
        </p:txBody>
      </p:sp>
    </p:spTree>
    <p:extLst>
      <p:ext uri="{BB962C8B-B14F-4D97-AF65-F5344CB8AC3E}">
        <p14:creationId xmlns:p14="http://schemas.microsoft.com/office/powerpoint/2010/main" val="2131483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Synthèse des données</a:t>
            </a:r>
          </a:p>
        </p:txBody>
      </p:sp>
      <p:sp>
        <p:nvSpPr>
          <p:cNvPr id="3" name="Espace réservé du contenu 2"/>
          <p:cNvSpPr>
            <a:spLocks noGrp="1"/>
          </p:cNvSpPr>
          <p:nvPr>
            <p:ph idx="1"/>
          </p:nvPr>
        </p:nvSpPr>
        <p:spPr/>
        <p:txBody>
          <a:bodyPr/>
          <a:lstStyle/>
          <a:p>
            <a:r>
              <a:rPr lang="fr-FR" dirty="0"/>
              <a:t>Synthèse quantitative par méta-analyse</a:t>
            </a:r>
          </a:p>
          <a:p>
            <a:r>
              <a:rPr lang="fr-FR" dirty="0"/>
              <a:t>Synthèse semi-quantitative</a:t>
            </a:r>
          </a:p>
          <a:p>
            <a:r>
              <a:rPr lang="fr-FR" dirty="0"/>
              <a:t>Synthèse descriptive</a:t>
            </a:r>
          </a:p>
          <a:p>
            <a:endParaRPr lang="fr-FR" dirty="0"/>
          </a:p>
          <a:p>
            <a:r>
              <a:rPr lang="fr-FR" dirty="0"/>
              <a:t>Synthèse des données qualitatives, en général complémentaire à l’analyse de l’effet d’intervention</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14</a:t>
            </a:fld>
            <a:endParaRPr lang="fr-FR"/>
          </a:p>
        </p:txBody>
      </p:sp>
    </p:spTree>
    <p:extLst>
      <p:ext uri="{BB962C8B-B14F-4D97-AF65-F5344CB8AC3E}">
        <p14:creationId xmlns:p14="http://schemas.microsoft.com/office/powerpoint/2010/main" val="1410119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Synthèse quantitative par méta-analyse</a:t>
            </a:r>
          </a:p>
        </p:txBody>
      </p:sp>
      <p:sp>
        <p:nvSpPr>
          <p:cNvPr id="3" name="Espace réservé du contenu 2"/>
          <p:cNvSpPr>
            <a:spLocks noGrp="1"/>
          </p:cNvSpPr>
          <p:nvPr>
            <p:ph idx="1"/>
          </p:nvPr>
        </p:nvSpPr>
        <p:spPr/>
        <p:txBody>
          <a:bodyPr/>
          <a:lstStyle/>
          <a:p>
            <a:r>
              <a:rPr lang="fr-FR" dirty="0"/>
              <a:t>Études relativement homogènes</a:t>
            </a:r>
          </a:p>
          <a:p>
            <a:r>
              <a:rPr lang="fr-FR" dirty="0"/>
              <a:t>Calcul des indices d’effet</a:t>
            </a:r>
          </a:p>
          <a:p>
            <a:r>
              <a:rPr lang="fr-FR" dirty="0"/>
              <a:t>Agrégation des données</a:t>
            </a:r>
          </a:p>
          <a:p>
            <a:r>
              <a:rPr lang="fr-FR" dirty="0"/>
              <a:t>Constitution d’une base de données pour analyse</a:t>
            </a:r>
          </a:p>
          <a:p>
            <a:r>
              <a:rPr lang="fr-FR" dirty="0"/>
              <a:t>Analyse de sensibilité</a:t>
            </a:r>
          </a:p>
          <a:p>
            <a:r>
              <a:rPr lang="fr-FR" dirty="0"/>
              <a:t>Expression des résultats : </a:t>
            </a:r>
            <a:r>
              <a:rPr lang="fr-FR" dirty="0" err="1"/>
              <a:t>forrest</a:t>
            </a:r>
            <a:r>
              <a:rPr lang="fr-FR" dirty="0"/>
              <a:t> plot et </a:t>
            </a:r>
            <a:r>
              <a:rPr lang="fr-FR" dirty="0" err="1"/>
              <a:t>funnel</a:t>
            </a:r>
            <a:r>
              <a:rPr lang="fr-FR" dirty="0"/>
              <a:t> plot</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15</a:t>
            </a:fld>
            <a:endParaRPr lang="fr-FR"/>
          </a:p>
        </p:txBody>
      </p:sp>
    </p:spTree>
    <p:extLst>
      <p:ext uri="{BB962C8B-B14F-4D97-AF65-F5344CB8AC3E}">
        <p14:creationId xmlns:p14="http://schemas.microsoft.com/office/powerpoint/2010/main" val="3373498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Synthèse semi-quantitative</a:t>
            </a:r>
          </a:p>
        </p:txBody>
      </p:sp>
      <p:sp>
        <p:nvSpPr>
          <p:cNvPr id="3" name="Espace réservé du contenu 2"/>
          <p:cNvSpPr>
            <a:spLocks noGrp="1"/>
          </p:cNvSpPr>
          <p:nvPr>
            <p:ph idx="1"/>
          </p:nvPr>
        </p:nvSpPr>
        <p:spPr/>
        <p:txBody>
          <a:bodyPr/>
          <a:lstStyle/>
          <a:p>
            <a:r>
              <a:rPr lang="fr-FR" dirty="0"/>
              <a:t>Populations, interventions, critères de jugement hétérogènes</a:t>
            </a:r>
          </a:p>
          <a:p>
            <a:r>
              <a:rPr lang="fr-FR" dirty="0"/>
              <a:t>Analyse des variables dichotomiques : pratique appropriée ou non permettant de calcules un pourcentage d’adéquation</a:t>
            </a:r>
          </a:p>
          <a:p>
            <a:r>
              <a:rPr lang="fr-FR" dirty="0"/>
              <a:t>Effet médian</a:t>
            </a:r>
          </a:p>
          <a:p>
            <a:r>
              <a:rPr lang="fr-FR" dirty="0"/>
              <a:t>Présentation par types d’études</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16</a:t>
            </a:fld>
            <a:endParaRPr lang="fr-FR"/>
          </a:p>
        </p:txBody>
      </p:sp>
    </p:spTree>
    <p:extLst>
      <p:ext uri="{BB962C8B-B14F-4D97-AF65-F5344CB8AC3E}">
        <p14:creationId xmlns:p14="http://schemas.microsoft.com/office/powerpoint/2010/main" val="511118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Synthèse descriptive</a:t>
            </a:r>
          </a:p>
        </p:txBody>
      </p:sp>
      <p:sp>
        <p:nvSpPr>
          <p:cNvPr id="3" name="Espace réservé du contenu 2"/>
          <p:cNvSpPr>
            <a:spLocks noGrp="1"/>
          </p:cNvSpPr>
          <p:nvPr>
            <p:ph idx="1"/>
          </p:nvPr>
        </p:nvSpPr>
        <p:spPr/>
        <p:txBody>
          <a:bodyPr/>
          <a:lstStyle/>
          <a:p>
            <a:r>
              <a:rPr lang="fr-FR" dirty="0"/>
              <a:t>Analyse descriptive de chaque étude incluse dans la revue systématique</a:t>
            </a:r>
          </a:p>
          <a:p>
            <a:r>
              <a:rPr lang="fr-FR" dirty="0"/>
              <a:t>Regrouper les études en catégories logiques</a:t>
            </a:r>
          </a:p>
          <a:p>
            <a:r>
              <a:rPr lang="fr-FR" dirty="0"/>
              <a:t>Tableaux détaillés avec les points principaux des études</a:t>
            </a:r>
          </a:p>
          <a:p>
            <a:endParaRPr lang="fr-FR" dirty="0"/>
          </a:p>
          <a:p>
            <a:r>
              <a:rPr lang="fr-FR" dirty="0"/>
              <a:t>Synthèse des résultats : par exemple pourcentage d’études positives, en faveur du critère étudié, …</a:t>
            </a:r>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17</a:t>
            </a:fld>
            <a:endParaRPr lang="fr-FR"/>
          </a:p>
        </p:txBody>
      </p:sp>
    </p:spTree>
    <p:extLst>
      <p:ext uri="{BB962C8B-B14F-4D97-AF65-F5344CB8AC3E}">
        <p14:creationId xmlns:p14="http://schemas.microsoft.com/office/powerpoint/2010/main" val="2504691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6" name="Espace réservé du contenu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80663"/>
            <a:ext cx="10304060" cy="6777337"/>
          </a:xfrm>
        </p:spPr>
      </p:pic>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18</a:t>
            </a:fld>
            <a:endParaRPr lang="fr-FR"/>
          </a:p>
        </p:txBody>
      </p:sp>
    </p:spTree>
    <p:extLst>
      <p:ext uri="{BB962C8B-B14F-4D97-AF65-F5344CB8AC3E}">
        <p14:creationId xmlns:p14="http://schemas.microsoft.com/office/powerpoint/2010/main" val="262652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6" name="Espace réservé du contenu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025" y="270637"/>
            <a:ext cx="11506404" cy="6468845"/>
          </a:xfrm>
        </p:spPr>
      </p:pic>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19</a:t>
            </a:fld>
            <a:endParaRPr lang="fr-FR"/>
          </a:p>
        </p:txBody>
      </p:sp>
    </p:spTree>
    <p:extLst>
      <p:ext uri="{BB962C8B-B14F-4D97-AF65-F5344CB8AC3E}">
        <p14:creationId xmlns:p14="http://schemas.microsoft.com/office/powerpoint/2010/main" val="2275809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5"/>
                </a:solidFill>
                <a:latin typeface="+mn-lt"/>
              </a:rPr>
              <a:t>Conclusion</a:t>
            </a:r>
          </a:p>
        </p:txBody>
      </p:sp>
      <p:sp>
        <p:nvSpPr>
          <p:cNvPr id="3" name="Espace réservé du contenu 2"/>
          <p:cNvSpPr>
            <a:spLocks noGrp="1"/>
          </p:cNvSpPr>
          <p:nvPr>
            <p:ph idx="1"/>
          </p:nvPr>
        </p:nvSpPr>
        <p:spPr/>
        <p:txBody>
          <a:bodyPr>
            <a:normAutofit/>
          </a:bodyPr>
          <a:lstStyle/>
          <a:p>
            <a:r>
              <a:rPr lang="fr-FR" dirty="0"/>
              <a:t>Pas de revue systématique sans un protocole et sans ressources</a:t>
            </a:r>
          </a:p>
          <a:p>
            <a:r>
              <a:rPr lang="fr-FR" dirty="0"/>
              <a:t>Un travail de groupe</a:t>
            </a:r>
          </a:p>
          <a:p>
            <a:r>
              <a:rPr lang="fr-FR" dirty="0"/>
              <a:t>Des guides pour faire une revue systématique</a:t>
            </a:r>
          </a:p>
          <a:p>
            <a:endParaRPr lang="fr-FR" dirty="0"/>
          </a:p>
          <a:p>
            <a:r>
              <a:rPr lang="fr-FR" dirty="0"/>
              <a:t>Qualité, exhaustivité, rigueur, précision, clarté…..</a:t>
            </a:r>
          </a:p>
          <a:p>
            <a:endParaRPr lang="fr-FR" dirty="0"/>
          </a:p>
          <a:p>
            <a:pPr marL="0" indent="0">
              <a:buNone/>
            </a:pPr>
            <a:endParaRPr lang="fr-FR" dirty="0"/>
          </a:p>
        </p:txBody>
      </p:sp>
      <p:sp>
        <p:nvSpPr>
          <p:cNvPr id="4" name="Espace réservé du pied de page 3"/>
          <p:cNvSpPr>
            <a:spLocks noGrp="1"/>
          </p:cNvSpPr>
          <p:nvPr>
            <p:ph type="ftr" sz="quarter" idx="11"/>
          </p:nvPr>
        </p:nvSpPr>
        <p:spPr/>
        <p:txBody>
          <a:bodyPr/>
          <a:lstStyle/>
          <a:p>
            <a:r>
              <a:rPr lang="fr-FR"/>
              <a:t>Rev syst 2024</a:t>
            </a:r>
          </a:p>
        </p:txBody>
      </p:sp>
      <p:sp>
        <p:nvSpPr>
          <p:cNvPr id="5" name="Espace réservé du numéro de diapositive 4"/>
          <p:cNvSpPr>
            <a:spLocks noGrp="1"/>
          </p:cNvSpPr>
          <p:nvPr>
            <p:ph type="sldNum" sz="quarter" idx="12"/>
          </p:nvPr>
        </p:nvSpPr>
        <p:spPr/>
        <p:txBody>
          <a:bodyPr/>
          <a:lstStyle/>
          <a:p>
            <a:fld id="{9DF0A9CC-7931-4C1A-A620-AB43675408D2}" type="slidenum">
              <a:rPr lang="fr-FR" smtClean="0"/>
              <a:t>20</a:t>
            </a:fld>
            <a:endParaRPr lang="fr-FR"/>
          </a:p>
        </p:txBody>
      </p:sp>
    </p:spTree>
    <p:extLst>
      <p:ext uri="{BB962C8B-B14F-4D97-AF65-F5344CB8AC3E}">
        <p14:creationId xmlns:p14="http://schemas.microsoft.com/office/powerpoint/2010/main" val="368508571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TotalTime>
  <Words>871</Words>
  <Application>Microsoft Office PowerPoint</Application>
  <PresentationFormat>Grand écran</PresentationFormat>
  <Paragraphs>145</Paragraphs>
  <Slides>20</Slides>
  <Notes>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20</vt:i4>
      </vt:variant>
    </vt:vector>
  </HeadingPairs>
  <TitlesOfParts>
    <vt:vector size="24" baseType="lpstr">
      <vt:lpstr>Arial</vt:lpstr>
      <vt:lpstr>Calibri</vt:lpstr>
      <vt:lpstr>Calibri Light</vt:lpstr>
      <vt:lpstr>Thème Office</vt:lpstr>
      <vt:lpstr>Citez et définir les différents types de revues de la littérature</vt:lpstr>
      <vt:lpstr>Présentation PowerPoint</vt:lpstr>
      <vt:lpstr>Présentation PowerPoint</vt:lpstr>
      <vt:lpstr>Présentation PowerPoint</vt:lpstr>
      <vt:lpstr>Présentation PowerPoint</vt:lpstr>
      <vt:lpstr>Revue de littérature</vt:lpstr>
      <vt:lpstr>Définition</vt:lpstr>
      <vt:lpstr>Revues systématiques et narratives</vt:lpstr>
      <vt:lpstr>Étapes d’une revues systématique</vt:lpstr>
      <vt:lpstr>Présentation PowerPoint</vt:lpstr>
      <vt:lpstr>Recherche et sélection des études</vt:lpstr>
      <vt:lpstr>Extraction des données</vt:lpstr>
      <vt:lpstr>Évaluation de la qualité méthodologique des études, exemple</vt:lpstr>
      <vt:lpstr>Synthèse des données</vt:lpstr>
      <vt:lpstr>Synthèse quantitative par méta-analyse</vt:lpstr>
      <vt:lpstr>Synthèse semi-quantitative</vt:lpstr>
      <vt:lpstr>Synthèse descriptive</vt:lpstr>
      <vt:lpstr>Présentation PowerPoint</vt:lpstr>
      <vt:lpstr>Présentation PowerPoint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revue systématique</dc:title>
  <dc:creator>Herve Maisonneuve</dc:creator>
  <cp:lastModifiedBy>Herve Maisonneuve</cp:lastModifiedBy>
  <cp:revision>46</cp:revision>
  <dcterms:created xsi:type="dcterms:W3CDTF">2015-01-03T15:24:55Z</dcterms:created>
  <dcterms:modified xsi:type="dcterms:W3CDTF">2024-04-30T05:42:53Z</dcterms:modified>
</cp:coreProperties>
</file>