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3"/>
  </p:notesMasterIdLst>
  <p:sldIdLst>
    <p:sldId id="256" r:id="rId2"/>
    <p:sldId id="288" r:id="rId3"/>
    <p:sldId id="289" r:id="rId4"/>
    <p:sldId id="273" r:id="rId5"/>
    <p:sldId id="258" r:id="rId6"/>
    <p:sldId id="259" r:id="rId7"/>
    <p:sldId id="260" r:id="rId8"/>
    <p:sldId id="261" r:id="rId9"/>
    <p:sldId id="262" r:id="rId10"/>
    <p:sldId id="287" r:id="rId11"/>
    <p:sldId id="285" r:id="rId1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44"/>
      </p:cViewPr>
      <p:guideLst/>
    </p:cSldViewPr>
  </p:slideViewPr>
  <p:notesTextViewPr>
    <p:cViewPr>
      <p:scale>
        <a:sx n="1" d="1"/>
        <a:sy n="1" d="1"/>
      </p:scale>
      <p:origin x="0" y="0"/>
    </p:cViewPr>
  </p:notesTextViewPr>
  <p:sorterViewPr>
    <p:cViewPr varScale="1">
      <p:scale>
        <a:sx n="100" d="100"/>
        <a:sy n="100" d="100"/>
      </p:scale>
      <p:origin x="0" y="-276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9F7A1A-431F-4903-93D3-3A73CA7062C6}" type="datetimeFigureOut">
              <a:rPr lang="fr-FR" smtClean="0"/>
              <a:t>28/04/2024</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D4C0EF-7CE0-47D0-93C3-C728D05B3B03}" type="slidenum">
              <a:rPr lang="fr-FR" smtClean="0"/>
              <a:t>‹N°›</a:t>
            </a:fld>
            <a:endParaRPr lang="fr-FR"/>
          </a:p>
        </p:txBody>
      </p:sp>
    </p:spTree>
    <p:extLst>
      <p:ext uri="{BB962C8B-B14F-4D97-AF65-F5344CB8AC3E}">
        <p14:creationId xmlns:p14="http://schemas.microsoft.com/office/powerpoint/2010/main" val="12525979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3A9B8E3B-8307-46DB-834E-8000D25DDF31}" type="slidenum">
              <a:rPr lang="fr-FR" smtClean="0"/>
              <a:t>2</a:t>
            </a:fld>
            <a:endParaRPr lang="fr-FR"/>
          </a:p>
        </p:txBody>
      </p:sp>
    </p:spTree>
    <p:extLst>
      <p:ext uri="{BB962C8B-B14F-4D97-AF65-F5344CB8AC3E}">
        <p14:creationId xmlns:p14="http://schemas.microsoft.com/office/powerpoint/2010/main" val="26768173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3AD4C0EF-7CE0-47D0-93C3-C728D05B3B03}" type="slidenum">
              <a:rPr lang="fr-FR" smtClean="0"/>
              <a:t>5</a:t>
            </a:fld>
            <a:endParaRPr lang="fr-FR"/>
          </a:p>
        </p:txBody>
      </p:sp>
    </p:spTree>
    <p:extLst>
      <p:ext uri="{BB962C8B-B14F-4D97-AF65-F5344CB8AC3E}">
        <p14:creationId xmlns:p14="http://schemas.microsoft.com/office/powerpoint/2010/main" val="11333908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3AD4C0EF-7CE0-47D0-93C3-C728D05B3B03}" type="slidenum">
              <a:rPr lang="fr-FR" smtClean="0"/>
              <a:t>7</a:t>
            </a:fld>
            <a:endParaRPr lang="fr-FR"/>
          </a:p>
        </p:txBody>
      </p:sp>
    </p:spTree>
    <p:extLst>
      <p:ext uri="{BB962C8B-B14F-4D97-AF65-F5344CB8AC3E}">
        <p14:creationId xmlns:p14="http://schemas.microsoft.com/office/powerpoint/2010/main" val="33509846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52405500-36CF-4B98-8DB5-52331DEEFD2A}" type="slidenum">
              <a:rPr lang="fr-FR" smtClean="0"/>
              <a:t>10</a:t>
            </a:fld>
            <a:endParaRPr lang="fr-FR"/>
          </a:p>
        </p:txBody>
      </p:sp>
    </p:spTree>
    <p:extLst>
      <p:ext uri="{BB962C8B-B14F-4D97-AF65-F5344CB8AC3E}">
        <p14:creationId xmlns:p14="http://schemas.microsoft.com/office/powerpoint/2010/main" val="7815337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06E11E92-0B7D-4374-9929-EDA85EE178F9}" type="slidenum">
              <a:rPr lang="fr-FR" smtClean="0"/>
              <a:t>11</a:t>
            </a:fld>
            <a:endParaRPr lang="fr-FR"/>
          </a:p>
        </p:txBody>
      </p:sp>
    </p:spTree>
    <p:extLst>
      <p:ext uri="{BB962C8B-B14F-4D97-AF65-F5344CB8AC3E}">
        <p14:creationId xmlns:p14="http://schemas.microsoft.com/office/powerpoint/2010/main" val="5350139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p:cNvSpPr>
            <a:spLocks noGrp="1"/>
          </p:cNvSpPr>
          <p:nvPr>
            <p:ph type="dt" sz="half" idx="10"/>
          </p:nvPr>
        </p:nvSpPr>
        <p:spPr/>
        <p:txBody>
          <a:bodyPr/>
          <a:lstStyle/>
          <a:p>
            <a:fld id="{4AA4AD20-9D42-463B-9620-78D0C7A222AB}" type="datetime1">
              <a:rPr lang="fr-FR" smtClean="0"/>
              <a:t>28/04/2024</a:t>
            </a:fld>
            <a:endParaRPr lang="fr-FR"/>
          </a:p>
        </p:txBody>
      </p:sp>
      <p:sp>
        <p:nvSpPr>
          <p:cNvPr id="5" name="Espace réservé du pied de page 4"/>
          <p:cNvSpPr>
            <a:spLocks noGrp="1"/>
          </p:cNvSpPr>
          <p:nvPr>
            <p:ph type="ftr" sz="quarter" idx="11"/>
          </p:nvPr>
        </p:nvSpPr>
        <p:spPr/>
        <p:txBody>
          <a:bodyPr/>
          <a:lstStyle/>
          <a:p>
            <a:r>
              <a:rPr lang="fr-FR"/>
              <a:t>Cirad 2024</a:t>
            </a:r>
          </a:p>
        </p:txBody>
      </p:sp>
      <p:sp>
        <p:nvSpPr>
          <p:cNvPr id="6" name="Espace réservé du numéro de diapositive 5"/>
          <p:cNvSpPr>
            <a:spLocks noGrp="1"/>
          </p:cNvSpPr>
          <p:nvPr>
            <p:ph type="sldNum" sz="quarter" idx="12"/>
          </p:nvPr>
        </p:nvSpPr>
        <p:spPr/>
        <p:txBody>
          <a:bodyPr/>
          <a:lstStyle/>
          <a:p>
            <a:fld id="{E16964BE-43AE-4189-BC2C-68DB74D33983}" type="slidenum">
              <a:rPr lang="fr-FR" smtClean="0"/>
              <a:t>‹N°›</a:t>
            </a:fld>
            <a:endParaRPr lang="fr-FR"/>
          </a:p>
        </p:txBody>
      </p:sp>
    </p:spTree>
    <p:extLst>
      <p:ext uri="{BB962C8B-B14F-4D97-AF65-F5344CB8AC3E}">
        <p14:creationId xmlns:p14="http://schemas.microsoft.com/office/powerpoint/2010/main" val="18680195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F2DEBB7-7FA9-4E94-9E20-BBA55BFB689A}" type="datetime1">
              <a:rPr lang="fr-FR" smtClean="0"/>
              <a:t>28/04/2024</a:t>
            </a:fld>
            <a:endParaRPr lang="fr-FR"/>
          </a:p>
        </p:txBody>
      </p:sp>
      <p:sp>
        <p:nvSpPr>
          <p:cNvPr id="5" name="Espace réservé du pied de page 4"/>
          <p:cNvSpPr>
            <a:spLocks noGrp="1"/>
          </p:cNvSpPr>
          <p:nvPr>
            <p:ph type="ftr" sz="quarter" idx="11"/>
          </p:nvPr>
        </p:nvSpPr>
        <p:spPr/>
        <p:txBody>
          <a:bodyPr/>
          <a:lstStyle/>
          <a:p>
            <a:r>
              <a:rPr lang="fr-FR"/>
              <a:t>Cirad 2024</a:t>
            </a:r>
          </a:p>
        </p:txBody>
      </p:sp>
      <p:sp>
        <p:nvSpPr>
          <p:cNvPr id="6" name="Espace réservé du numéro de diapositive 5"/>
          <p:cNvSpPr>
            <a:spLocks noGrp="1"/>
          </p:cNvSpPr>
          <p:nvPr>
            <p:ph type="sldNum" sz="quarter" idx="12"/>
          </p:nvPr>
        </p:nvSpPr>
        <p:spPr/>
        <p:txBody>
          <a:bodyPr/>
          <a:lstStyle/>
          <a:p>
            <a:fld id="{E16964BE-43AE-4189-BC2C-68DB74D33983}" type="slidenum">
              <a:rPr lang="fr-FR" smtClean="0"/>
              <a:t>‹N°›</a:t>
            </a:fld>
            <a:endParaRPr lang="fr-FR"/>
          </a:p>
        </p:txBody>
      </p:sp>
    </p:spTree>
    <p:extLst>
      <p:ext uri="{BB962C8B-B14F-4D97-AF65-F5344CB8AC3E}">
        <p14:creationId xmlns:p14="http://schemas.microsoft.com/office/powerpoint/2010/main" val="339785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365DB121-7C8E-4699-9A0F-B0F307ADF078}" type="datetime1">
              <a:rPr lang="fr-FR" smtClean="0"/>
              <a:t>28/04/2024</a:t>
            </a:fld>
            <a:endParaRPr lang="fr-FR"/>
          </a:p>
        </p:txBody>
      </p:sp>
      <p:sp>
        <p:nvSpPr>
          <p:cNvPr id="5" name="Espace réservé du pied de page 4"/>
          <p:cNvSpPr>
            <a:spLocks noGrp="1"/>
          </p:cNvSpPr>
          <p:nvPr>
            <p:ph type="ftr" sz="quarter" idx="11"/>
          </p:nvPr>
        </p:nvSpPr>
        <p:spPr/>
        <p:txBody>
          <a:bodyPr/>
          <a:lstStyle/>
          <a:p>
            <a:r>
              <a:rPr lang="fr-FR"/>
              <a:t>Cirad 2024</a:t>
            </a:r>
          </a:p>
        </p:txBody>
      </p:sp>
      <p:sp>
        <p:nvSpPr>
          <p:cNvPr id="6" name="Espace réservé du numéro de diapositive 5"/>
          <p:cNvSpPr>
            <a:spLocks noGrp="1"/>
          </p:cNvSpPr>
          <p:nvPr>
            <p:ph type="sldNum" sz="quarter" idx="12"/>
          </p:nvPr>
        </p:nvSpPr>
        <p:spPr/>
        <p:txBody>
          <a:bodyPr/>
          <a:lstStyle/>
          <a:p>
            <a:fld id="{E16964BE-43AE-4189-BC2C-68DB74D33983}" type="slidenum">
              <a:rPr lang="fr-FR" smtClean="0"/>
              <a:t>‹N°›</a:t>
            </a:fld>
            <a:endParaRPr lang="fr-FR"/>
          </a:p>
        </p:txBody>
      </p:sp>
    </p:spTree>
    <p:extLst>
      <p:ext uri="{BB962C8B-B14F-4D97-AF65-F5344CB8AC3E}">
        <p14:creationId xmlns:p14="http://schemas.microsoft.com/office/powerpoint/2010/main" val="12289553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29F57451-D8ED-4CB6-B4B2-A6F249734275}" type="datetime1">
              <a:rPr lang="fr-FR" smtClean="0"/>
              <a:t>28/04/2024</a:t>
            </a:fld>
            <a:endParaRPr lang="fr-FR"/>
          </a:p>
        </p:txBody>
      </p:sp>
      <p:sp>
        <p:nvSpPr>
          <p:cNvPr id="6" name="Espace réservé du pied de page 5"/>
          <p:cNvSpPr>
            <a:spLocks noGrp="1"/>
          </p:cNvSpPr>
          <p:nvPr>
            <p:ph type="ftr" sz="quarter" idx="11"/>
          </p:nvPr>
        </p:nvSpPr>
        <p:spPr/>
        <p:txBody>
          <a:bodyPr/>
          <a:lstStyle/>
          <a:p>
            <a:r>
              <a:rPr lang="fr-FR"/>
              <a:t>Cirad 2024</a:t>
            </a:r>
          </a:p>
        </p:txBody>
      </p:sp>
      <p:sp>
        <p:nvSpPr>
          <p:cNvPr id="7" name="Espace réservé du numéro de diapositive 6"/>
          <p:cNvSpPr>
            <a:spLocks noGrp="1"/>
          </p:cNvSpPr>
          <p:nvPr>
            <p:ph type="sldNum" sz="quarter" idx="12"/>
          </p:nvPr>
        </p:nvSpPr>
        <p:spPr/>
        <p:txBody>
          <a:bodyPr/>
          <a:lstStyle/>
          <a:p>
            <a:fld id="{E16964BE-43AE-4189-BC2C-68DB74D33983}" type="slidenum">
              <a:rPr lang="fr-FR" smtClean="0"/>
              <a:t>‹N°›</a:t>
            </a:fld>
            <a:endParaRPr lang="fr-FR"/>
          </a:p>
        </p:txBody>
      </p:sp>
    </p:spTree>
    <p:extLst>
      <p:ext uri="{BB962C8B-B14F-4D97-AF65-F5344CB8AC3E}">
        <p14:creationId xmlns:p14="http://schemas.microsoft.com/office/powerpoint/2010/main" val="32341178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DF17A1E5-1A78-46CB-931E-34A5DE42C60F}" type="datetime1">
              <a:rPr lang="fr-FR" smtClean="0"/>
              <a:t>28/04/2024</a:t>
            </a:fld>
            <a:endParaRPr lang="fr-FR"/>
          </a:p>
        </p:txBody>
      </p:sp>
      <p:sp>
        <p:nvSpPr>
          <p:cNvPr id="8" name="Espace réservé du pied de page 7"/>
          <p:cNvSpPr>
            <a:spLocks noGrp="1"/>
          </p:cNvSpPr>
          <p:nvPr>
            <p:ph type="ftr" sz="quarter" idx="11"/>
          </p:nvPr>
        </p:nvSpPr>
        <p:spPr/>
        <p:txBody>
          <a:bodyPr/>
          <a:lstStyle/>
          <a:p>
            <a:r>
              <a:rPr lang="fr-FR"/>
              <a:t>Cirad 2024</a:t>
            </a:r>
          </a:p>
        </p:txBody>
      </p:sp>
      <p:sp>
        <p:nvSpPr>
          <p:cNvPr id="9" name="Espace réservé du numéro de diapositive 8"/>
          <p:cNvSpPr>
            <a:spLocks noGrp="1"/>
          </p:cNvSpPr>
          <p:nvPr>
            <p:ph type="sldNum" sz="quarter" idx="12"/>
          </p:nvPr>
        </p:nvSpPr>
        <p:spPr/>
        <p:txBody>
          <a:bodyPr/>
          <a:lstStyle/>
          <a:p>
            <a:fld id="{E16964BE-43AE-4189-BC2C-68DB74D33983}" type="slidenum">
              <a:rPr lang="fr-FR" smtClean="0"/>
              <a:t>‹N°›</a:t>
            </a:fld>
            <a:endParaRPr lang="fr-FR"/>
          </a:p>
        </p:txBody>
      </p:sp>
    </p:spTree>
    <p:extLst>
      <p:ext uri="{BB962C8B-B14F-4D97-AF65-F5344CB8AC3E}">
        <p14:creationId xmlns:p14="http://schemas.microsoft.com/office/powerpoint/2010/main" val="7702943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B448FE42-6CA7-41CE-A2A8-35A022BF352C}" type="datetime1">
              <a:rPr lang="fr-FR" smtClean="0"/>
              <a:t>28/04/2024</a:t>
            </a:fld>
            <a:endParaRPr lang="fr-FR"/>
          </a:p>
        </p:txBody>
      </p:sp>
      <p:sp>
        <p:nvSpPr>
          <p:cNvPr id="4" name="Espace réservé du pied de page 3"/>
          <p:cNvSpPr>
            <a:spLocks noGrp="1"/>
          </p:cNvSpPr>
          <p:nvPr>
            <p:ph type="ftr" sz="quarter" idx="11"/>
          </p:nvPr>
        </p:nvSpPr>
        <p:spPr/>
        <p:txBody>
          <a:bodyPr/>
          <a:lstStyle/>
          <a:p>
            <a:r>
              <a:rPr lang="fr-FR"/>
              <a:t>Cirad 2024</a:t>
            </a:r>
          </a:p>
        </p:txBody>
      </p:sp>
      <p:sp>
        <p:nvSpPr>
          <p:cNvPr id="5" name="Espace réservé du numéro de diapositive 4"/>
          <p:cNvSpPr>
            <a:spLocks noGrp="1"/>
          </p:cNvSpPr>
          <p:nvPr>
            <p:ph type="sldNum" sz="quarter" idx="12"/>
          </p:nvPr>
        </p:nvSpPr>
        <p:spPr/>
        <p:txBody>
          <a:bodyPr/>
          <a:lstStyle/>
          <a:p>
            <a:fld id="{E16964BE-43AE-4189-BC2C-68DB74D33983}" type="slidenum">
              <a:rPr lang="fr-FR" smtClean="0"/>
              <a:t>‹N°›</a:t>
            </a:fld>
            <a:endParaRPr lang="fr-FR"/>
          </a:p>
        </p:txBody>
      </p:sp>
    </p:spTree>
    <p:extLst>
      <p:ext uri="{BB962C8B-B14F-4D97-AF65-F5344CB8AC3E}">
        <p14:creationId xmlns:p14="http://schemas.microsoft.com/office/powerpoint/2010/main" val="1599421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CFA7101A-5584-4EB9-BBF3-695348390FB1}" type="datetime1">
              <a:rPr lang="fr-FR" smtClean="0"/>
              <a:t>28/04/2024</a:t>
            </a:fld>
            <a:endParaRPr lang="fr-FR"/>
          </a:p>
        </p:txBody>
      </p:sp>
      <p:sp>
        <p:nvSpPr>
          <p:cNvPr id="3" name="Espace réservé du pied de page 2"/>
          <p:cNvSpPr>
            <a:spLocks noGrp="1"/>
          </p:cNvSpPr>
          <p:nvPr>
            <p:ph type="ftr" sz="quarter" idx="11"/>
          </p:nvPr>
        </p:nvSpPr>
        <p:spPr/>
        <p:txBody>
          <a:bodyPr/>
          <a:lstStyle/>
          <a:p>
            <a:r>
              <a:rPr lang="fr-FR"/>
              <a:t>Cirad 2024</a:t>
            </a:r>
          </a:p>
        </p:txBody>
      </p:sp>
      <p:sp>
        <p:nvSpPr>
          <p:cNvPr id="4" name="Espace réservé du numéro de diapositive 3"/>
          <p:cNvSpPr>
            <a:spLocks noGrp="1"/>
          </p:cNvSpPr>
          <p:nvPr>
            <p:ph type="sldNum" sz="quarter" idx="12"/>
          </p:nvPr>
        </p:nvSpPr>
        <p:spPr/>
        <p:txBody>
          <a:bodyPr/>
          <a:lstStyle/>
          <a:p>
            <a:fld id="{E16964BE-43AE-4189-BC2C-68DB74D33983}" type="slidenum">
              <a:rPr lang="fr-FR" smtClean="0"/>
              <a:t>‹N°›</a:t>
            </a:fld>
            <a:endParaRPr lang="fr-FR"/>
          </a:p>
        </p:txBody>
      </p:sp>
    </p:spTree>
    <p:extLst>
      <p:ext uri="{BB962C8B-B14F-4D97-AF65-F5344CB8AC3E}">
        <p14:creationId xmlns:p14="http://schemas.microsoft.com/office/powerpoint/2010/main" val="244586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02DB3FB4-E92B-45F6-81D4-98A8D9C3E6F1}" type="datetime1">
              <a:rPr lang="fr-FR" smtClean="0"/>
              <a:t>28/04/2024</a:t>
            </a:fld>
            <a:endParaRPr lang="fr-FR"/>
          </a:p>
        </p:txBody>
      </p:sp>
      <p:sp>
        <p:nvSpPr>
          <p:cNvPr id="6" name="Espace réservé du pied de page 5"/>
          <p:cNvSpPr>
            <a:spLocks noGrp="1"/>
          </p:cNvSpPr>
          <p:nvPr>
            <p:ph type="ftr" sz="quarter" idx="11"/>
          </p:nvPr>
        </p:nvSpPr>
        <p:spPr/>
        <p:txBody>
          <a:bodyPr/>
          <a:lstStyle/>
          <a:p>
            <a:r>
              <a:rPr lang="fr-FR"/>
              <a:t>Cirad 2024</a:t>
            </a:r>
          </a:p>
        </p:txBody>
      </p:sp>
      <p:sp>
        <p:nvSpPr>
          <p:cNvPr id="7" name="Espace réservé du numéro de diapositive 6"/>
          <p:cNvSpPr>
            <a:spLocks noGrp="1"/>
          </p:cNvSpPr>
          <p:nvPr>
            <p:ph type="sldNum" sz="quarter" idx="12"/>
          </p:nvPr>
        </p:nvSpPr>
        <p:spPr/>
        <p:txBody>
          <a:bodyPr/>
          <a:lstStyle/>
          <a:p>
            <a:fld id="{E16964BE-43AE-4189-BC2C-68DB74D33983}" type="slidenum">
              <a:rPr lang="fr-FR" smtClean="0"/>
              <a:t>‹N°›</a:t>
            </a:fld>
            <a:endParaRPr lang="fr-FR"/>
          </a:p>
        </p:txBody>
      </p:sp>
    </p:spTree>
    <p:extLst>
      <p:ext uri="{BB962C8B-B14F-4D97-AF65-F5344CB8AC3E}">
        <p14:creationId xmlns:p14="http://schemas.microsoft.com/office/powerpoint/2010/main" val="12141231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4D5CE136-D408-4493-BE26-D76B49021E2D}" type="datetime1">
              <a:rPr lang="fr-FR" smtClean="0"/>
              <a:t>28/04/2024</a:t>
            </a:fld>
            <a:endParaRPr lang="fr-FR"/>
          </a:p>
        </p:txBody>
      </p:sp>
      <p:sp>
        <p:nvSpPr>
          <p:cNvPr id="6" name="Espace réservé du pied de page 5"/>
          <p:cNvSpPr>
            <a:spLocks noGrp="1"/>
          </p:cNvSpPr>
          <p:nvPr>
            <p:ph type="ftr" sz="quarter" idx="11"/>
          </p:nvPr>
        </p:nvSpPr>
        <p:spPr/>
        <p:txBody>
          <a:bodyPr/>
          <a:lstStyle/>
          <a:p>
            <a:r>
              <a:rPr lang="fr-FR"/>
              <a:t>Cirad 2024</a:t>
            </a:r>
          </a:p>
        </p:txBody>
      </p:sp>
      <p:sp>
        <p:nvSpPr>
          <p:cNvPr id="7" name="Espace réservé du numéro de diapositive 6"/>
          <p:cNvSpPr>
            <a:spLocks noGrp="1"/>
          </p:cNvSpPr>
          <p:nvPr>
            <p:ph type="sldNum" sz="quarter" idx="12"/>
          </p:nvPr>
        </p:nvSpPr>
        <p:spPr/>
        <p:txBody>
          <a:bodyPr/>
          <a:lstStyle/>
          <a:p>
            <a:fld id="{E16964BE-43AE-4189-BC2C-68DB74D33983}" type="slidenum">
              <a:rPr lang="fr-FR" smtClean="0"/>
              <a:t>‹N°›</a:t>
            </a:fld>
            <a:endParaRPr lang="fr-FR"/>
          </a:p>
        </p:txBody>
      </p:sp>
    </p:spTree>
    <p:extLst>
      <p:ext uri="{BB962C8B-B14F-4D97-AF65-F5344CB8AC3E}">
        <p14:creationId xmlns:p14="http://schemas.microsoft.com/office/powerpoint/2010/main" val="22160736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39C3ECFF-27AF-4F7E-A790-6447A8724394}" type="datetime1">
              <a:rPr lang="fr-FR" smtClean="0"/>
              <a:t>28/04/2024</a:t>
            </a:fld>
            <a:endParaRPr lang="fr-FR"/>
          </a:p>
        </p:txBody>
      </p:sp>
      <p:sp>
        <p:nvSpPr>
          <p:cNvPr id="5" name="Espace réservé du pied de page 4"/>
          <p:cNvSpPr>
            <a:spLocks noGrp="1"/>
          </p:cNvSpPr>
          <p:nvPr>
            <p:ph type="ftr" sz="quarter" idx="11"/>
          </p:nvPr>
        </p:nvSpPr>
        <p:spPr/>
        <p:txBody>
          <a:bodyPr/>
          <a:lstStyle/>
          <a:p>
            <a:r>
              <a:rPr lang="fr-FR"/>
              <a:t>Cirad 2024</a:t>
            </a:r>
          </a:p>
        </p:txBody>
      </p:sp>
      <p:sp>
        <p:nvSpPr>
          <p:cNvPr id="6" name="Espace réservé du numéro de diapositive 5"/>
          <p:cNvSpPr>
            <a:spLocks noGrp="1"/>
          </p:cNvSpPr>
          <p:nvPr>
            <p:ph type="sldNum" sz="quarter" idx="12"/>
          </p:nvPr>
        </p:nvSpPr>
        <p:spPr/>
        <p:txBody>
          <a:bodyPr/>
          <a:lstStyle/>
          <a:p>
            <a:fld id="{E16964BE-43AE-4189-BC2C-68DB74D33983}" type="slidenum">
              <a:rPr lang="fr-FR" smtClean="0"/>
              <a:t>‹N°›</a:t>
            </a:fld>
            <a:endParaRPr lang="fr-FR"/>
          </a:p>
        </p:txBody>
      </p:sp>
    </p:spTree>
    <p:extLst>
      <p:ext uri="{BB962C8B-B14F-4D97-AF65-F5344CB8AC3E}">
        <p14:creationId xmlns:p14="http://schemas.microsoft.com/office/powerpoint/2010/main" val="24646314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411BFA42-F8A1-4B4C-80FA-0F380F3B8988}" type="datetime1">
              <a:rPr lang="fr-FR" smtClean="0"/>
              <a:t>28/04/2024</a:t>
            </a:fld>
            <a:endParaRPr lang="fr-FR"/>
          </a:p>
        </p:txBody>
      </p:sp>
      <p:sp>
        <p:nvSpPr>
          <p:cNvPr id="5" name="Espace réservé du pied de page 4"/>
          <p:cNvSpPr>
            <a:spLocks noGrp="1"/>
          </p:cNvSpPr>
          <p:nvPr>
            <p:ph type="ftr" sz="quarter" idx="11"/>
          </p:nvPr>
        </p:nvSpPr>
        <p:spPr/>
        <p:txBody>
          <a:bodyPr/>
          <a:lstStyle/>
          <a:p>
            <a:r>
              <a:rPr lang="fr-FR"/>
              <a:t>Cirad 2024</a:t>
            </a:r>
          </a:p>
        </p:txBody>
      </p:sp>
      <p:sp>
        <p:nvSpPr>
          <p:cNvPr id="6" name="Espace réservé du numéro de diapositive 5"/>
          <p:cNvSpPr>
            <a:spLocks noGrp="1"/>
          </p:cNvSpPr>
          <p:nvPr>
            <p:ph type="sldNum" sz="quarter" idx="12"/>
          </p:nvPr>
        </p:nvSpPr>
        <p:spPr/>
        <p:txBody>
          <a:bodyPr/>
          <a:lstStyle/>
          <a:p>
            <a:fld id="{E16964BE-43AE-4189-BC2C-68DB74D33983}" type="slidenum">
              <a:rPr lang="fr-FR" smtClean="0"/>
              <a:t>‹N°›</a:t>
            </a:fld>
            <a:endParaRPr lang="fr-FR"/>
          </a:p>
        </p:txBody>
      </p:sp>
    </p:spTree>
    <p:extLst>
      <p:ext uri="{BB962C8B-B14F-4D97-AF65-F5344CB8AC3E}">
        <p14:creationId xmlns:p14="http://schemas.microsoft.com/office/powerpoint/2010/main" val="24922527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A4D3D4-2D28-4080-898F-012C2385EE42}" type="datetime1">
              <a:rPr lang="fr-FR" smtClean="0"/>
              <a:t>28/04/2024</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fr-FR"/>
              <a:t>Cirad 2024</a:t>
            </a: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16964BE-43AE-4189-BC2C-68DB74D33983}" type="slidenum">
              <a:rPr lang="fr-FR" smtClean="0"/>
              <a:t>‹N°›</a:t>
            </a:fld>
            <a:endParaRPr lang="fr-FR"/>
          </a:p>
        </p:txBody>
      </p:sp>
    </p:spTree>
    <p:extLst>
      <p:ext uri="{BB962C8B-B14F-4D97-AF65-F5344CB8AC3E}">
        <p14:creationId xmlns:p14="http://schemas.microsoft.com/office/powerpoint/2010/main" val="30437879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hyperlink" Target="https://www.nature.com/polopoly_fs/1.15033!/menu/main/topColumns/topLeftColumn/pdf/508312a.pdf" TargetMode="External"/><Relationship Id="rId5" Type="http://schemas.openxmlformats.org/officeDocument/2006/relationships/hyperlink" Target="https://casrai.org/credit/" TargetMode="Externa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fr-FR" b="1" dirty="0">
                <a:solidFill>
                  <a:schemeClr val="accent5"/>
                </a:solidFill>
                <a:latin typeface="+mn-lt"/>
              </a:rPr>
              <a:t>Auteurs – Co-auteurs</a:t>
            </a:r>
          </a:p>
        </p:txBody>
      </p:sp>
      <p:sp>
        <p:nvSpPr>
          <p:cNvPr id="3" name="Sous-titre 2"/>
          <p:cNvSpPr>
            <a:spLocks noGrp="1"/>
          </p:cNvSpPr>
          <p:nvPr>
            <p:ph type="subTitle" idx="1"/>
          </p:nvPr>
        </p:nvSpPr>
        <p:spPr/>
        <p:txBody>
          <a:bodyPr/>
          <a:lstStyle/>
          <a:p>
            <a:endParaRPr lang="fr-FR"/>
          </a:p>
        </p:txBody>
      </p:sp>
    </p:spTree>
    <p:extLst>
      <p:ext uri="{BB962C8B-B14F-4D97-AF65-F5344CB8AC3E}">
        <p14:creationId xmlns:p14="http://schemas.microsoft.com/office/powerpoint/2010/main" val="2772268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6"/>
            <a:ext cx="10515600" cy="603866"/>
          </a:xfrm>
        </p:spPr>
        <p:txBody>
          <a:bodyPr>
            <a:normAutofit fontScale="90000"/>
          </a:bodyPr>
          <a:lstStyle/>
          <a:p>
            <a:r>
              <a:rPr lang="fr-FR" b="1" dirty="0">
                <a:solidFill>
                  <a:schemeClr val="accent5"/>
                </a:solidFill>
                <a:latin typeface="+mn-lt"/>
              </a:rPr>
              <a:t>Le statut d’auteur d’un article</a:t>
            </a:r>
          </a:p>
        </p:txBody>
      </p:sp>
      <p:sp>
        <p:nvSpPr>
          <p:cNvPr id="3" name="Espace réservé du contenu 2"/>
          <p:cNvSpPr>
            <a:spLocks noGrp="1"/>
          </p:cNvSpPr>
          <p:nvPr>
            <p:ph idx="1"/>
          </p:nvPr>
        </p:nvSpPr>
        <p:spPr>
          <a:xfrm>
            <a:off x="436728" y="968992"/>
            <a:ext cx="11546006" cy="5207971"/>
          </a:xfrm>
        </p:spPr>
        <p:txBody>
          <a:bodyPr>
            <a:noAutofit/>
          </a:bodyPr>
          <a:lstStyle/>
          <a:p>
            <a:pPr marL="0" indent="0">
              <a:buNone/>
            </a:pPr>
            <a:r>
              <a:rPr lang="fr-FR" sz="3200" dirty="0"/>
              <a:t>Vous êtes un jeune professeur récemment nommé dans une université française après avoir obtenu votre doctorat aux Etats-Unis. Vous êtes très enthousiaste au vu des résultats d'expériences récentes. Ils sont suffisamment importants pour mériter la publication dans une revue internationale prestigieuse. </a:t>
            </a:r>
          </a:p>
          <a:p>
            <a:pPr marL="0" indent="0">
              <a:buNone/>
            </a:pPr>
            <a:r>
              <a:rPr lang="fr-FR" sz="3200" dirty="0"/>
              <a:t>Au fur et à mesure que vous complétez le manuscrit, votre directeur du département fait remarquer que l'acceptation de votre article aura pour conséquence des invitations pour vous et vos coauteurs. Il permettra d'obtenir des financements nouveaux pour le département. Il vous suggère d'ajouter votre superviseur de l'université américaine, qui n'a pas participé à la recherche, mais qui est internationalement connu, en tant que co-auteur de l'article ....</a:t>
            </a:r>
          </a:p>
        </p:txBody>
      </p:sp>
      <p:sp>
        <p:nvSpPr>
          <p:cNvPr id="4" name="Espace réservé du pied de page 3"/>
          <p:cNvSpPr>
            <a:spLocks noGrp="1"/>
          </p:cNvSpPr>
          <p:nvPr>
            <p:ph type="ftr" sz="quarter" idx="11"/>
          </p:nvPr>
        </p:nvSpPr>
        <p:spPr/>
        <p:txBody>
          <a:bodyPr/>
          <a:lstStyle/>
          <a:p>
            <a:r>
              <a:rPr lang="fr-FR"/>
              <a:t>Cirad 2024</a:t>
            </a:r>
          </a:p>
        </p:txBody>
      </p:sp>
      <p:sp>
        <p:nvSpPr>
          <p:cNvPr id="5" name="Espace réservé du numéro de diapositive 4"/>
          <p:cNvSpPr>
            <a:spLocks noGrp="1"/>
          </p:cNvSpPr>
          <p:nvPr>
            <p:ph type="sldNum" sz="quarter" idx="12"/>
          </p:nvPr>
        </p:nvSpPr>
        <p:spPr/>
        <p:txBody>
          <a:bodyPr/>
          <a:lstStyle/>
          <a:p>
            <a:fld id="{915B31B5-9E1B-45DD-BA0B-E4BBE79D2B47}" type="slidenum">
              <a:rPr lang="fr-FR" smtClean="0"/>
              <a:t>2</a:t>
            </a:fld>
            <a:endParaRPr lang="fr-FR"/>
          </a:p>
        </p:txBody>
      </p:sp>
    </p:spTree>
    <p:extLst>
      <p:ext uri="{BB962C8B-B14F-4D97-AF65-F5344CB8AC3E}">
        <p14:creationId xmlns:p14="http://schemas.microsoft.com/office/powerpoint/2010/main" val="7029493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6"/>
            <a:ext cx="10515600" cy="603866"/>
          </a:xfrm>
        </p:spPr>
        <p:txBody>
          <a:bodyPr>
            <a:normAutofit fontScale="90000"/>
          </a:bodyPr>
          <a:lstStyle/>
          <a:p>
            <a:r>
              <a:rPr lang="fr-FR" altLang="fr-FR" b="1" dirty="0">
                <a:solidFill>
                  <a:schemeClr val="accent5"/>
                </a:solidFill>
                <a:latin typeface="+mn-lt"/>
              </a:rPr>
              <a:t>Le statut d’auteur </a:t>
            </a:r>
            <a:r>
              <a:rPr lang="fr-FR" b="1" dirty="0">
                <a:solidFill>
                  <a:schemeClr val="accent5"/>
                </a:solidFill>
                <a:latin typeface="+mn-lt"/>
              </a:rPr>
              <a:t>d’un article</a:t>
            </a:r>
          </a:p>
        </p:txBody>
      </p:sp>
      <p:sp>
        <p:nvSpPr>
          <p:cNvPr id="3" name="Espace réservé du contenu 2"/>
          <p:cNvSpPr>
            <a:spLocks noGrp="1"/>
          </p:cNvSpPr>
          <p:nvPr>
            <p:ph idx="1"/>
          </p:nvPr>
        </p:nvSpPr>
        <p:spPr>
          <a:xfrm>
            <a:off x="436728" y="968992"/>
            <a:ext cx="11341290" cy="5207971"/>
          </a:xfrm>
        </p:spPr>
        <p:txBody>
          <a:bodyPr>
            <a:noAutofit/>
          </a:bodyPr>
          <a:lstStyle/>
          <a:p>
            <a:pPr marL="0" indent="0">
              <a:buNone/>
            </a:pPr>
            <a:r>
              <a:rPr lang="fr-FR" sz="3200" dirty="0"/>
              <a:t>…. Cela améliorerait certainement la probabilité que l'article soit accepté. </a:t>
            </a:r>
          </a:p>
          <a:p>
            <a:pPr marL="0" indent="0">
              <a:buNone/>
            </a:pPr>
            <a:r>
              <a:rPr lang="fr-FR" sz="3200" dirty="0"/>
              <a:t>Le directeur du département indique également qu'il s'attend à être co-auteur, même s'il n'a pas été impliqué dans le travail.</a:t>
            </a:r>
          </a:p>
          <a:p>
            <a:pPr marL="0" indent="0">
              <a:buNone/>
            </a:pPr>
            <a:endParaRPr lang="fr-FR" sz="3200" dirty="0"/>
          </a:p>
          <a:p>
            <a:pPr marL="0" indent="0">
              <a:buNone/>
            </a:pPr>
            <a:endParaRPr lang="fr-FR" sz="3200" dirty="0"/>
          </a:p>
          <a:p>
            <a:pPr marL="0" indent="0">
              <a:buNone/>
            </a:pPr>
            <a:r>
              <a:rPr lang="fr-FR" sz="3200" b="1" dirty="0"/>
              <a:t>Que répondez-vous au directeur du département ?</a:t>
            </a:r>
          </a:p>
          <a:p>
            <a:pPr marL="0" indent="0">
              <a:buNone/>
            </a:pPr>
            <a:r>
              <a:rPr lang="fr-FR" sz="3200" b="1" dirty="0"/>
              <a:t>Quelles seraient les conséquences de suivre sa suggestion ?</a:t>
            </a:r>
          </a:p>
        </p:txBody>
      </p:sp>
      <p:sp>
        <p:nvSpPr>
          <p:cNvPr id="4" name="Espace réservé du pied de page 3"/>
          <p:cNvSpPr>
            <a:spLocks noGrp="1"/>
          </p:cNvSpPr>
          <p:nvPr>
            <p:ph type="ftr" sz="quarter" idx="11"/>
          </p:nvPr>
        </p:nvSpPr>
        <p:spPr/>
        <p:txBody>
          <a:bodyPr/>
          <a:lstStyle/>
          <a:p>
            <a:r>
              <a:rPr lang="fr-FR"/>
              <a:t>Cirad 2024</a:t>
            </a:r>
          </a:p>
        </p:txBody>
      </p:sp>
      <p:sp>
        <p:nvSpPr>
          <p:cNvPr id="5" name="Espace réservé du numéro de diapositive 4"/>
          <p:cNvSpPr>
            <a:spLocks noGrp="1"/>
          </p:cNvSpPr>
          <p:nvPr>
            <p:ph type="sldNum" sz="quarter" idx="12"/>
          </p:nvPr>
        </p:nvSpPr>
        <p:spPr/>
        <p:txBody>
          <a:bodyPr/>
          <a:lstStyle/>
          <a:p>
            <a:fld id="{915B31B5-9E1B-45DD-BA0B-E4BBE79D2B47}" type="slidenum">
              <a:rPr lang="fr-FR" smtClean="0"/>
              <a:t>3</a:t>
            </a:fld>
            <a:endParaRPr lang="fr-FR"/>
          </a:p>
        </p:txBody>
      </p:sp>
    </p:spTree>
    <p:extLst>
      <p:ext uri="{BB962C8B-B14F-4D97-AF65-F5344CB8AC3E}">
        <p14:creationId xmlns:p14="http://schemas.microsoft.com/office/powerpoint/2010/main" val="31022469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itre 1"/>
          <p:cNvSpPr>
            <a:spLocks noGrp="1"/>
          </p:cNvSpPr>
          <p:nvPr>
            <p:ph type="title"/>
          </p:nvPr>
        </p:nvSpPr>
        <p:spPr>
          <a:xfrm>
            <a:off x="462614" y="15874"/>
            <a:ext cx="8058150" cy="930275"/>
          </a:xfrm>
        </p:spPr>
        <p:txBody>
          <a:bodyPr>
            <a:normAutofit/>
          </a:bodyPr>
          <a:lstStyle/>
          <a:p>
            <a:pPr eaLnBrk="1" hangingPunct="1"/>
            <a:r>
              <a:rPr lang="fr-FR" altLang="fr-FR" b="1" dirty="0">
                <a:solidFill>
                  <a:schemeClr val="accent5"/>
                </a:solidFill>
                <a:latin typeface="+mn-lt"/>
              </a:rPr>
              <a:t>Critères du statut d’auteur</a:t>
            </a:r>
          </a:p>
        </p:txBody>
      </p:sp>
      <p:sp>
        <p:nvSpPr>
          <p:cNvPr id="3" name="Espace réservé du contenu 2"/>
          <p:cNvSpPr>
            <a:spLocks noGrp="1"/>
          </p:cNvSpPr>
          <p:nvPr>
            <p:ph idx="1"/>
          </p:nvPr>
        </p:nvSpPr>
        <p:spPr>
          <a:xfrm>
            <a:off x="544773" y="938213"/>
            <a:ext cx="10809027" cy="5426075"/>
          </a:xfrm>
        </p:spPr>
        <p:txBody>
          <a:bodyPr rtlCol="0">
            <a:noAutofit/>
          </a:bodyPr>
          <a:lstStyle/>
          <a:p>
            <a:pPr marL="514350" indent="-514350">
              <a:buFont typeface="+mj-lt"/>
              <a:buAutoNum type="arabicPeriod"/>
              <a:defRPr/>
            </a:pPr>
            <a:r>
              <a:rPr lang="fr-FR" sz="3200" dirty="0"/>
              <a:t>Contribution substantielle à la conception ou aux méthodes de la recherche ou à l’acquisition, l’analyse ou l’interprétation des données ; </a:t>
            </a:r>
            <a:r>
              <a:rPr lang="fr-FR" sz="3200" b="1" dirty="0"/>
              <a:t>ET</a:t>
            </a:r>
          </a:p>
          <a:p>
            <a:pPr marL="514350" indent="-514350">
              <a:buFont typeface="+mj-lt"/>
              <a:buAutoNum type="arabicPeriod"/>
              <a:defRPr/>
            </a:pPr>
            <a:r>
              <a:rPr lang="fr-FR" sz="3200" dirty="0"/>
              <a:t>Rédaction préliminaire de l’article ou sa révision critique impliquant une contribution importante au contenu intellectuel ; </a:t>
            </a:r>
            <a:r>
              <a:rPr lang="fr-FR" sz="3200" b="1" dirty="0"/>
              <a:t>ET</a:t>
            </a:r>
          </a:p>
          <a:p>
            <a:pPr marL="514350" indent="-514350">
              <a:buFont typeface="+mj-lt"/>
              <a:buAutoNum type="arabicPeriod"/>
              <a:defRPr/>
            </a:pPr>
            <a:r>
              <a:rPr lang="fr-FR" sz="3200" dirty="0"/>
              <a:t>Approbation de la version à publier ; </a:t>
            </a:r>
            <a:r>
              <a:rPr lang="fr-FR" sz="3200" b="1" dirty="0"/>
              <a:t>ET</a:t>
            </a:r>
          </a:p>
          <a:p>
            <a:pPr marL="514350" indent="-514350">
              <a:buFont typeface="+mj-lt"/>
              <a:buAutoNum type="arabicPeriod"/>
              <a:defRPr/>
            </a:pPr>
            <a:r>
              <a:rPr lang="fr-FR" sz="3200" b="0" i="0" u="none" strike="noStrike" baseline="0" dirty="0">
                <a:solidFill>
                  <a:srgbClr val="000000"/>
                </a:solidFill>
              </a:rPr>
              <a:t>Engagement à être considéré comptable de tous les aspects de la recherche en veillant à ce que les questions liées à l’exactitude ou l’intégrité de toute partie de l’</a:t>
            </a:r>
            <a:r>
              <a:rPr lang="fr-FR" sz="3200" b="0" i="0" u="none" strike="noStrike" baseline="0" dirty="0" err="1">
                <a:solidFill>
                  <a:srgbClr val="000000"/>
                </a:solidFill>
              </a:rPr>
              <a:t>oeuvre</a:t>
            </a:r>
            <a:r>
              <a:rPr lang="fr-FR" sz="3200" b="0" i="0" u="none" strike="noStrike" baseline="0" dirty="0">
                <a:solidFill>
                  <a:srgbClr val="000000"/>
                </a:solidFill>
              </a:rPr>
              <a:t> soient examinées de manière appropriée et résolues. </a:t>
            </a:r>
          </a:p>
          <a:p>
            <a:pPr marL="0" indent="0">
              <a:buNone/>
              <a:defRPr/>
            </a:pPr>
            <a:r>
              <a:rPr lang="fr-FR" sz="4000" b="1" dirty="0"/>
              <a:t>Les auteurs doivent remplir ces 4 conditions.</a:t>
            </a:r>
            <a:endParaRPr lang="fr-FR" sz="4800" b="1" dirty="0"/>
          </a:p>
        </p:txBody>
      </p:sp>
      <p:pic>
        <p:nvPicPr>
          <p:cNvPr id="2" name="Image 1"/>
          <p:cNvPicPr>
            <a:picLocks noChangeAspect="1"/>
          </p:cNvPicPr>
          <p:nvPr/>
        </p:nvPicPr>
        <p:blipFill>
          <a:blip r:embed="rId2"/>
          <a:stretch>
            <a:fillRect/>
          </a:stretch>
        </p:blipFill>
        <p:spPr>
          <a:xfrm>
            <a:off x="8418382" y="160045"/>
            <a:ext cx="3773618" cy="641935"/>
          </a:xfrm>
          <a:prstGeom prst="rect">
            <a:avLst/>
          </a:prstGeom>
        </p:spPr>
      </p:pic>
      <p:sp>
        <p:nvSpPr>
          <p:cNvPr id="4" name="Espace réservé du pied de page 3"/>
          <p:cNvSpPr>
            <a:spLocks noGrp="1"/>
          </p:cNvSpPr>
          <p:nvPr>
            <p:ph type="ftr" sz="quarter" idx="11"/>
          </p:nvPr>
        </p:nvSpPr>
        <p:spPr/>
        <p:txBody>
          <a:bodyPr/>
          <a:lstStyle/>
          <a:p>
            <a:r>
              <a:rPr lang="fr-FR"/>
              <a:t>Cirad 2024</a:t>
            </a:r>
          </a:p>
        </p:txBody>
      </p:sp>
      <p:sp>
        <p:nvSpPr>
          <p:cNvPr id="5" name="Espace réservé du numéro de diapositive 4"/>
          <p:cNvSpPr>
            <a:spLocks noGrp="1"/>
          </p:cNvSpPr>
          <p:nvPr>
            <p:ph type="sldNum" sz="quarter" idx="12"/>
          </p:nvPr>
        </p:nvSpPr>
        <p:spPr/>
        <p:txBody>
          <a:bodyPr/>
          <a:lstStyle/>
          <a:p>
            <a:fld id="{546FBEAA-79D1-4294-A385-7208DD4246DA}" type="slidenum">
              <a:rPr lang="fr-FR" smtClean="0"/>
              <a:t>4</a:t>
            </a:fld>
            <a:endParaRPr lang="fr-FR"/>
          </a:p>
        </p:txBody>
      </p:sp>
    </p:spTree>
    <p:extLst>
      <p:ext uri="{BB962C8B-B14F-4D97-AF65-F5344CB8AC3E}">
        <p14:creationId xmlns:p14="http://schemas.microsoft.com/office/powerpoint/2010/main" val="2366224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93845" y="391016"/>
            <a:ext cx="8229600" cy="936104"/>
          </a:xfrm>
        </p:spPr>
        <p:txBody>
          <a:bodyPr>
            <a:normAutofit/>
          </a:bodyPr>
          <a:lstStyle/>
          <a:p>
            <a:r>
              <a:rPr lang="fr-FR" sz="4800" b="1" dirty="0">
                <a:solidFill>
                  <a:schemeClr val="accent5"/>
                </a:solidFill>
                <a:latin typeface="+mn-lt"/>
              </a:rPr>
              <a:t>Statut d’auteur des articles</a:t>
            </a:r>
          </a:p>
        </p:txBody>
      </p:sp>
      <p:sp>
        <p:nvSpPr>
          <p:cNvPr id="3" name="Espace réservé du contenu 2"/>
          <p:cNvSpPr>
            <a:spLocks noGrp="1"/>
          </p:cNvSpPr>
          <p:nvPr>
            <p:ph idx="1"/>
          </p:nvPr>
        </p:nvSpPr>
        <p:spPr>
          <a:xfrm>
            <a:off x="793845" y="1327120"/>
            <a:ext cx="10793104" cy="4839816"/>
          </a:xfrm>
        </p:spPr>
        <p:txBody>
          <a:bodyPr>
            <a:noAutofit/>
          </a:bodyPr>
          <a:lstStyle/>
          <a:p>
            <a:r>
              <a:rPr lang="fr-FR" sz="3200" dirty="0">
                <a:solidFill>
                  <a:schemeClr val="accent5"/>
                </a:solidFill>
              </a:rPr>
              <a:t>Honoraires ou ‘cadeaux’</a:t>
            </a:r>
            <a:r>
              <a:rPr lang="fr-FR" sz="3200" dirty="0"/>
              <a:t> : renvois d’ascenseur, ajout d’un collègue à promouvoir, ‘</a:t>
            </a:r>
            <a:r>
              <a:rPr lang="fr-FR" sz="3200" i="1" dirty="0"/>
              <a:t>américain de service’</a:t>
            </a:r>
            <a:r>
              <a:rPr lang="fr-FR" sz="3200" dirty="0"/>
              <a:t>, chef de service qui n’a rien fait dans le travail, certains découvrent par hasard qu’ils sont auteurs…</a:t>
            </a:r>
          </a:p>
          <a:p>
            <a:r>
              <a:rPr lang="fr-FR" sz="3200" dirty="0">
                <a:solidFill>
                  <a:schemeClr val="accent5"/>
                </a:solidFill>
              </a:rPr>
              <a:t>Fantômes</a:t>
            </a:r>
            <a:r>
              <a:rPr lang="fr-FR" sz="3200" dirty="0"/>
              <a:t> :</a:t>
            </a:r>
          </a:p>
          <a:p>
            <a:pPr lvl="1"/>
            <a:r>
              <a:rPr lang="fr-FR" sz="3200" dirty="0"/>
              <a:t>Milieu universitaire : fréquence inconnue ; interne oublié lorsque l’on publie sa thèse ; collègue enlevé, spécialistes oubliés, ‘</a:t>
            </a:r>
            <a:r>
              <a:rPr lang="fr-FR" sz="3200" i="1" dirty="0"/>
              <a:t>données empruntées</a:t>
            </a:r>
            <a:r>
              <a:rPr lang="fr-FR" sz="3200" dirty="0"/>
              <a:t>’, etc…..</a:t>
            </a:r>
          </a:p>
          <a:p>
            <a:pPr lvl="1"/>
            <a:r>
              <a:rPr lang="fr-FR" sz="3200" dirty="0"/>
              <a:t>Rédacteurs de l’industrie… Nombreux problèmes mais il faut être deux (l’auteur et le rédacteur) ; en voie de diminution avec GPP (Good Publication Practices)</a:t>
            </a:r>
          </a:p>
        </p:txBody>
      </p:sp>
      <p:sp>
        <p:nvSpPr>
          <p:cNvPr id="4" name="Espace réservé du pied de page 3"/>
          <p:cNvSpPr>
            <a:spLocks noGrp="1"/>
          </p:cNvSpPr>
          <p:nvPr>
            <p:ph type="ftr" sz="quarter" idx="11"/>
          </p:nvPr>
        </p:nvSpPr>
        <p:spPr/>
        <p:txBody>
          <a:bodyPr/>
          <a:lstStyle/>
          <a:p>
            <a:r>
              <a:rPr lang="fr-BE"/>
              <a:t>Cirad 2024</a:t>
            </a:r>
          </a:p>
        </p:txBody>
      </p:sp>
      <p:sp>
        <p:nvSpPr>
          <p:cNvPr id="5" name="Espace réservé du numéro de diapositive 4"/>
          <p:cNvSpPr>
            <a:spLocks noGrp="1"/>
          </p:cNvSpPr>
          <p:nvPr>
            <p:ph type="sldNum" sz="quarter" idx="12"/>
          </p:nvPr>
        </p:nvSpPr>
        <p:spPr/>
        <p:txBody>
          <a:bodyPr/>
          <a:lstStyle/>
          <a:p>
            <a:fld id="{CF4668DC-857F-487D-BFFA-8C0CA5037977}" type="slidenum">
              <a:rPr lang="fr-BE" smtClean="0"/>
              <a:t>5</a:t>
            </a:fld>
            <a:endParaRPr lang="fr-BE"/>
          </a:p>
        </p:txBody>
      </p:sp>
    </p:spTree>
    <p:extLst>
      <p:ext uri="{BB962C8B-B14F-4D97-AF65-F5344CB8AC3E}">
        <p14:creationId xmlns:p14="http://schemas.microsoft.com/office/powerpoint/2010/main" val="39696960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r>
              <a:rPr lang="fr-FR"/>
              <a:t>Cirad 2024</a:t>
            </a:r>
          </a:p>
        </p:txBody>
      </p:sp>
      <p:pic>
        <p:nvPicPr>
          <p:cNvPr id="4" name="Image 3"/>
          <p:cNvPicPr>
            <a:picLocks noChangeAspect="1"/>
          </p:cNvPicPr>
          <p:nvPr/>
        </p:nvPicPr>
        <p:blipFill>
          <a:blip r:embed="rId2"/>
          <a:stretch>
            <a:fillRect/>
          </a:stretch>
        </p:blipFill>
        <p:spPr>
          <a:xfrm>
            <a:off x="552450" y="633412"/>
            <a:ext cx="5137961" cy="2591051"/>
          </a:xfrm>
          <a:prstGeom prst="rect">
            <a:avLst/>
          </a:prstGeom>
        </p:spPr>
      </p:pic>
      <p:pic>
        <p:nvPicPr>
          <p:cNvPr id="5" name="Image 4"/>
          <p:cNvPicPr>
            <a:picLocks noChangeAspect="1"/>
          </p:cNvPicPr>
          <p:nvPr/>
        </p:nvPicPr>
        <p:blipFill>
          <a:blip r:embed="rId3"/>
          <a:stretch>
            <a:fillRect/>
          </a:stretch>
        </p:blipFill>
        <p:spPr>
          <a:xfrm>
            <a:off x="2708527" y="3553560"/>
            <a:ext cx="9256400" cy="2473693"/>
          </a:xfrm>
          <a:prstGeom prst="rect">
            <a:avLst/>
          </a:prstGeom>
        </p:spPr>
      </p:pic>
      <p:sp>
        <p:nvSpPr>
          <p:cNvPr id="3" name="Espace réservé du numéro de diapositive 2"/>
          <p:cNvSpPr>
            <a:spLocks noGrp="1"/>
          </p:cNvSpPr>
          <p:nvPr>
            <p:ph type="sldNum" sz="quarter" idx="12"/>
          </p:nvPr>
        </p:nvSpPr>
        <p:spPr/>
        <p:txBody>
          <a:bodyPr/>
          <a:lstStyle/>
          <a:p>
            <a:fld id="{546FBEAA-79D1-4294-A385-7208DD4246DA}" type="slidenum">
              <a:rPr lang="fr-FR" smtClean="0"/>
              <a:t>6</a:t>
            </a:fld>
            <a:endParaRPr lang="fr-FR"/>
          </a:p>
        </p:txBody>
      </p:sp>
    </p:spTree>
    <p:extLst>
      <p:ext uri="{BB962C8B-B14F-4D97-AF65-F5344CB8AC3E}">
        <p14:creationId xmlns:p14="http://schemas.microsoft.com/office/powerpoint/2010/main" val="6227841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r>
              <a:rPr lang="fr-FR"/>
              <a:t>Cirad 2024</a:t>
            </a:r>
          </a:p>
        </p:txBody>
      </p:sp>
      <p:pic>
        <p:nvPicPr>
          <p:cNvPr id="4" name="Image 3"/>
          <p:cNvPicPr>
            <a:picLocks noChangeAspect="1"/>
          </p:cNvPicPr>
          <p:nvPr/>
        </p:nvPicPr>
        <p:blipFill>
          <a:blip r:embed="rId3"/>
          <a:stretch>
            <a:fillRect/>
          </a:stretch>
        </p:blipFill>
        <p:spPr>
          <a:xfrm>
            <a:off x="1193834" y="2802439"/>
            <a:ext cx="10286898" cy="2585536"/>
          </a:xfrm>
          <a:prstGeom prst="rect">
            <a:avLst/>
          </a:prstGeom>
        </p:spPr>
      </p:pic>
      <p:pic>
        <p:nvPicPr>
          <p:cNvPr id="5" name="Image 4"/>
          <p:cNvPicPr>
            <a:picLocks noChangeAspect="1"/>
          </p:cNvPicPr>
          <p:nvPr/>
        </p:nvPicPr>
        <p:blipFill>
          <a:blip r:embed="rId4"/>
          <a:stretch>
            <a:fillRect/>
          </a:stretch>
        </p:blipFill>
        <p:spPr>
          <a:xfrm>
            <a:off x="8610600" y="5387975"/>
            <a:ext cx="2076450" cy="1333500"/>
          </a:xfrm>
          <a:prstGeom prst="rect">
            <a:avLst/>
          </a:prstGeom>
        </p:spPr>
      </p:pic>
      <p:pic>
        <p:nvPicPr>
          <p:cNvPr id="6" name="Image 5"/>
          <p:cNvPicPr>
            <a:picLocks noChangeAspect="1"/>
          </p:cNvPicPr>
          <p:nvPr/>
        </p:nvPicPr>
        <p:blipFill>
          <a:blip r:embed="rId5"/>
          <a:stretch>
            <a:fillRect/>
          </a:stretch>
        </p:blipFill>
        <p:spPr>
          <a:xfrm>
            <a:off x="1015815" y="171417"/>
            <a:ext cx="10429875" cy="2714625"/>
          </a:xfrm>
          <a:prstGeom prst="rect">
            <a:avLst/>
          </a:prstGeom>
        </p:spPr>
      </p:pic>
      <p:sp>
        <p:nvSpPr>
          <p:cNvPr id="3" name="Espace réservé du numéro de diapositive 2"/>
          <p:cNvSpPr>
            <a:spLocks noGrp="1"/>
          </p:cNvSpPr>
          <p:nvPr>
            <p:ph type="sldNum" sz="quarter" idx="12"/>
          </p:nvPr>
        </p:nvSpPr>
        <p:spPr/>
        <p:txBody>
          <a:bodyPr/>
          <a:lstStyle/>
          <a:p>
            <a:fld id="{546FBEAA-79D1-4294-A385-7208DD4246DA}" type="slidenum">
              <a:rPr lang="fr-FR" smtClean="0"/>
              <a:t>7</a:t>
            </a:fld>
            <a:endParaRPr lang="fr-FR"/>
          </a:p>
        </p:txBody>
      </p:sp>
    </p:spTree>
    <p:extLst>
      <p:ext uri="{BB962C8B-B14F-4D97-AF65-F5344CB8AC3E}">
        <p14:creationId xmlns:p14="http://schemas.microsoft.com/office/powerpoint/2010/main" val="7766431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r>
              <a:rPr lang="fr-FR"/>
              <a:t>Cirad 2024</a:t>
            </a:r>
          </a:p>
        </p:txBody>
      </p:sp>
      <p:pic>
        <p:nvPicPr>
          <p:cNvPr id="4" name="Image 3"/>
          <p:cNvPicPr>
            <a:picLocks noChangeAspect="1"/>
          </p:cNvPicPr>
          <p:nvPr/>
        </p:nvPicPr>
        <p:blipFill>
          <a:blip r:embed="rId2"/>
          <a:stretch>
            <a:fillRect/>
          </a:stretch>
        </p:blipFill>
        <p:spPr>
          <a:xfrm>
            <a:off x="2326181" y="462012"/>
            <a:ext cx="7489275" cy="5894337"/>
          </a:xfrm>
          <a:prstGeom prst="rect">
            <a:avLst/>
          </a:prstGeom>
        </p:spPr>
      </p:pic>
      <p:sp>
        <p:nvSpPr>
          <p:cNvPr id="3" name="Espace réservé du numéro de diapositive 2"/>
          <p:cNvSpPr>
            <a:spLocks noGrp="1"/>
          </p:cNvSpPr>
          <p:nvPr>
            <p:ph type="sldNum" sz="quarter" idx="12"/>
          </p:nvPr>
        </p:nvSpPr>
        <p:spPr/>
        <p:txBody>
          <a:bodyPr/>
          <a:lstStyle/>
          <a:p>
            <a:fld id="{546FBEAA-79D1-4294-A385-7208DD4246DA}" type="slidenum">
              <a:rPr lang="fr-FR" smtClean="0"/>
              <a:t>8</a:t>
            </a:fld>
            <a:endParaRPr lang="fr-FR"/>
          </a:p>
        </p:txBody>
      </p:sp>
    </p:spTree>
    <p:extLst>
      <p:ext uri="{BB962C8B-B14F-4D97-AF65-F5344CB8AC3E}">
        <p14:creationId xmlns:p14="http://schemas.microsoft.com/office/powerpoint/2010/main" val="9249369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r>
              <a:rPr lang="fr-FR"/>
              <a:t>Cirad 2024</a:t>
            </a:r>
          </a:p>
        </p:txBody>
      </p:sp>
      <p:pic>
        <p:nvPicPr>
          <p:cNvPr id="4" name="Image 3"/>
          <p:cNvPicPr>
            <a:picLocks noChangeAspect="1"/>
          </p:cNvPicPr>
          <p:nvPr/>
        </p:nvPicPr>
        <p:blipFill>
          <a:blip r:embed="rId2"/>
          <a:stretch>
            <a:fillRect/>
          </a:stretch>
        </p:blipFill>
        <p:spPr>
          <a:xfrm>
            <a:off x="2672432" y="1"/>
            <a:ext cx="6989098" cy="6721474"/>
          </a:xfrm>
          <a:prstGeom prst="rect">
            <a:avLst/>
          </a:prstGeom>
        </p:spPr>
      </p:pic>
      <p:sp>
        <p:nvSpPr>
          <p:cNvPr id="3" name="Espace réservé du numéro de diapositive 2"/>
          <p:cNvSpPr>
            <a:spLocks noGrp="1"/>
          </p:cNvSpPr>
          <p:nvPr>
            <p:ph type="sldNum" sz="quarter" idx="12"/>
          </p:nvPr>
        </p:nvSpPr>
        <p:spPr/>
        <p:txBody>
          <a:bodyPr/>
          <a:lstStyle/>
          <a:p>
            <a:fld id="{546FBEAA-79D1-4294-A385-7208DD4246DA}" type="slidenum">
              <a:rPr lang="fr-FR" smtClean="0"/>
              <a:t>9</a:t>
            </a:fld>
            <a:endParaRPr lang="fr-FR"/>
          </a:p>
        </p:txBody>
      </p:sp>
    </p:spTree>
    <p:extLst>
      <p:ext uri="{BB962C8B-B14F-4D97-AF65-F5344CB8AC3E}">
        <p14:creationId xmlns:p14="http://schemas.microsoft.com/office/powerpoint/2010/main" val="12587692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GB" b="1" dirty="0">
                <a:solidFill>
                  <a:schemeClr val="accent5"/>
                </a:solidFill>
                <a:latin typeface="+mn-lt"/>
              </a:rPr>
              <a:t>Le </a:t>
            </a:r>
            <a:r>
              <a:rPr lang="en-GB" b="1" dirty="0" err="1">
                <a:solidFill>
                  <a:schemeClr val="accent5"/>
                </a:solidFill>
                <a:latin typeface="+mn-lt"/>
              </a:rPr>
              <a:t>passeport</a:t>
            </a:r>
            <a:r>
              <a:rPr lang="en-GB" b="1" dirty="0">
                <a:solidFill>
                  <a:schemeClr val="accent5"/>
                </a:solidFill>
                <a:latin typeface="+mn-lt"/>
              </a:rPr>
              <a:t> du </a:t>
            </a:r>
            <a:r>
              <a:rPr lang="en-GB" b="1" dirty="0" err="1">
                <a:solidFill>
                  <a:schemeClr val="accent5"/>
                </a:solidFill>
                <a:latin typeface="+mn-lt"/>
              </a:rPr>
              <a:t>chercheur</a:t>
            </a:r>
            <a:endParaRPr lang="en-GB" b="1" dirty="0">
              <a:solidFill>
                <a:schemeClr val="accent5"/>
              </a:solidFill>
              <a:latin typeface="+mn-lt"/>
            </a:endParaRPr>
          </a:p>
        </p:txBody>
      </p:sp>
      <p:pic>
        <p:nvPicPr>
          <p:cNvPr id="6" name="Espace réservé du contenu 5"/>
          <p:cNvPicPr>
            <a:picLocks noGrp="1" noChangeAspect="1"/>
          </p:cNvPicPr>
          <p:nvPr>
            <p:ph idx="1"/>
          </p:nvPr>
        </p:nvPicPr>
        <p:blipFill>
          <a:blip r:embed="rId3"/>
          <a:stretch>
            <a:fillRect/>
          </a:stretch>
        </p:blipFill>
        <p:spPr>
          <a:xfrm>
            <a:off x="518616" y="1598676"/>
            <a:ext cx="11027390" cy="4861390"/>
          </a:xfrm>
          <a:prstGeom prst="rect">
            <a:avLst/>
          </a:prstGeom>
        </p:spPr>
      </p:pic>
      <p:sp>
        <p:nvSpPr>
          <p:cNvPr id="5" name="Espace réservé du numéro de diapositive 4"/>
          <p:cNvSpPr>
            <a:spLocks noGrp="1"/>
          </p:cNvSpPr>
          <p:nvPr>
            <p:ph type="sldNum" sz="quarter" idx="12"/>
          </p:nvPr>
        </p:nvSpPr>
        <p:spPr/>
        <p:txBody>
          <a:bodyPr/>
          <a:lstStyle/>
          <a:p>
            <a:fld id="{B76DCA18-B5B8-4B20-B860-66FA7D59F54A}" type="slidenum">
              <a:rPr lang="fr-FR" smtClean="0"/>
              <a:t>10</a:t>
            </a:fld>
            <a:endParaRPr lang="fr-FR"/>
          </a:p>
        </p:txBody>
      </p:sp>
      <p:pic>
        <p:nvPicPr>
          <p:cNvPr id="7" name="Image 6"/>
          <p:cNvPicPr>
            <a:picLocks noChangeAspect="1"/>
          </p:cNvPicPr>
          <p:nvPr/>
        </p:nvPicPr>
        <p:blipFill>
          <a:blip r:embed="rId4"/>
          <a:stretch>
            <a:fillRect/>
          </a:stretch>
        </p:blipFill>
        <p:spPr>
          <a:xfrm>
            <a:off x="8952931" y="0"/>
            <a:ext cx="3239069" cy="1878660"/>
          </a:xfrm>
          <a:prstGeom prst="rect">
            <a:avLst/>
          </a:prstGeom>
        </p:spPr>
      </p:pic>
      <p:sp>
        <p:nvSpPr>
          <p:cNvPr id="3" name="Espace réservé du pied de page 2">
            <a:extLst>
              <a:ext uri="{FF2B5EF4-FFF2-40B4-BE49-F238E27FC236}">
                <a16:creationId xmlns:a16="http://schemas.microsoft.com/office/drawing/2014/main" id="{17D1F52D-5511-431E-D2E5-0399D9B25BC8}"/>
              </a:ext>
            </a:extLst>
          </p:cNvPr>
          <p:cNvSpPr>
            <a:spLocks noGrp="1"/>
          </p:cNvSpPr>
          <p:nvPr>
            <p:ph type="ftr" sz="quarter" idx="11"/>
          </p:nvPr>
        </p:nvSpPr>
        <p:spPr/>
        <p:txBody>
          <a:bodyPr/>
          <a:lstStyle/>
          <a:p>
            <a:r>
              <a:rPr lang="fr-FR"/>
              <a:t>Cirad 2024</a:t>
            </a:r>
          </a:p>
        </p:txBody>
      </p:sp>
    </p:spTree>
    <p:extLst>
      <p:ext uri="{BB962C8B-B14F-4D97-AF65-F5344CB8AC3E}">
        <p14:creationId xmlns:p14="http://schemas.microsoft.com/office/powerpoint/2010/main" val="39011573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b="1" dirty="0" err="1">
                <a:solidFill>
                  <a:schemeClr val="accent5"/>
                </a:solidFill>
                <a:latin typeface="+mn-lt"/>
              </a:rPr>
              <a:t>Contributorship</a:t>
            </a:r>
            <a:r>
              <a:rPr lang="en-US" b="1" dirty="0">
                <a:solidFill>
                  <a:schemeClr val="accent5"/>
                </a:solidFill>
                <a:latin typeface="+mn-lt"/>
              </a:rPr>
              <a:t>: </a:t>
            </a:r>
            <a:r>
              <a:rPr lang="en-US" b="1" dirty="0" err="1">
                <a:solidFill>
                  <a:schemeClr val="accent5"/>
                </a:solidFill>
                <a:latin typeface="+mn-lt"/>
              </a:rPr>
              <a:t>CRediT</a:t>
            </a:r>
            <a:endParaRPr lang="fr-FR" b="1" dirty="0">
              <a:solidFill>
                <a:schemeClr val="accent5"/>
              </a:solidFill>
              <a:latin typeface="+mn-lt"/>
            </a:endParaRPr>
          </a:p>
        </p:txBody>
      </p:sp>
      <p:pic>
        <p:nvPicPr>
          <p:cNvPr id="7" name="Espace réservé du contenu 6"/>
          <p:cNvPicPr>
            <a:picLocks noGrp="1" noChangeAspect="1"/>
          </p:cNvPicPr>
          <p:nvPr>
            <p:ph sz="half" idx="1"/>
          </p:nvPr>
        </p:nvPicPr>
        <p:blipFill>
          <a:blip r:embed="rId3"/>
          <a:stretch>
            <a:fillRect/>
          </a:stretch>
        </p:blipFill>
        <p:spPr>
          <a:xfrm>
            <a:off x="135556" y="2456892"/>
            <a:ext cx="6858484" cy="2355739"/>
          </a:xfrm>
          <a:prstGeom prst="rect">
            <a:avLst/>
          </a:prstGeom>
        </p:spPr>
      </p:pic>
      <p:pic>
        <p:nvPicPr>
          <p:cNvPr id="8" name="Espace réservé du contenu 7"/>
          <p:cNvPicPr>
            <a:picLocks noGrp="1" noChangeAspect="1"/>
          </p:cNvPicPr>
          <p:nvPr>
            <p:ph sz="half" idx="2"/>
          </p:nvPr>
        </p:nvPicPr>
        <p:blipFill>
          <a:blip r:embed="rId4"/>
          <a:stretch>
            <a:fillRect/>
          </a:stretch>
        </p:blipFill>
        <p:spPr>
          <a:xfrm>
            <a:off x="8467527" y="0"/>
            <a:ext cx="2582275" cy="6811049"/>
          </a:xfrm>
          <a:prstGeom prst="rect">
            <a:avLst/>
          </a:prstGeom>
        </p:spPr>
      </p:pic>
      <p:sp>
        <p:nvSpPr>
          <p:cNvPr id="3" name="ZoneTexte 2"/>
          <p:cNvSpPr txBox="1"/>
          <p:nvPr/>
        </p:nvSpPr>
        <p:spPr>
          <a:xfrm>
            <a:off x="135556" y="4812631"/>
            <a:ext cx="3522847" cy="369332"/>
          </a:xfrm>
          <a:prstGeom prst="rect">
            <a:avLst/>
          </a:prstGeom>
          <a:noFill/>
        </p:spPr>
        <p:txBody>
          <a:bodyPr wrap="square" rtlCol="0">
            <a:spAutoFit/>
          </a:bodyPr>
          <a:lstStyle/>
          <a:p>
            <a:r>
              <a:rPr lang="fr-FR" b="1" dirty="0">
                <a:hlinkClick r:id="rId5"/>
              </a:rPr>
              <a:t>https://casrai.org/credit/</a:t>
            </a:r>
            <a:r>
              <a:rPr lang="fr-FR" b="1" dirty="0"/>
              <a:t> </a:t>
            </a:r>
          </a:p>
        </p:txBody>
      </p:sp>
      <p:sp>
        <p:nvSpPr>
          <p:cNvPr id="4" name="ZoneTexte 3"/>
          <p:cNvSpPr txBox="1"/>
          <p:nvPr/>
        </p:nvSpPr>
        <p:spPr>
          <a:xfrm>
            <a:off x="2784509" y="5986913"/>
            <a:ext cx="5611528" cy="646331"/>
          </a:xfrm>
          <a:prstGeom prst="rect">
            <a:avLst/>
          </a:prstGeom>
          <a:noFill/>
        </p:spPr>
        <p:txBody>
          <a:bodyPr wrap="square" rtlCol="0">
            <a:spAutoFit/>
          </a:bodyPr>
          <a:lstStyle/>
          <a:p>
            <a:r>
              <a:rPr lang="fr-FR" dirty="0">
                <a:hlinkClick r:id="rId6"/>
              </a:rPr>
              <a:t>https://www.nature.com/polopoly_fs/1.15033!/menu/main/topColumns/topLeftColumn/pdf/508312a.pdf</a:t>
            </a:r>
            <a:r>
              <a:rPr lang="fr-FR" dirty="0"/>
              <a:t> </a:t>
            </a:r>
          </a:p>
        </p:txBody>
      </p:sp>
      <p:sp>
        <p:nvSpPr>
          <p:cNvPr id="6" name="Espace réservé du numéro de diapositive 5"/>
          <p:cNvSpPr>
            <a:spLocks noGrp="1"/>
          </p:cNvSpPr>
          <p:nvPr>
            <p:ph type="sldNum" sz="quarter" idx="12"/>
          </p:nvPr>
        </p:nvSpPr>
        <p:spPr/>
        <p:txBody>
          <a:bodyPr/>
          <a:lstStyle/>
          <a:p>
            <a:fld id="{6F9B7BA5-873F-4A23-AE73-2B4198C97A50}" type="slidenum">
              <a:rPr lang="fr-FR" smtClean="0"/>
              <a:t>11</a:t>
            </a:fld>
            <a:endParaRPr lang="fr-FR"/>
          </a:p>
        </p:txBody>
      </p:sp>
      <p:sp>
        <p:nvSpPr>
          <p:cNvPr id="5" name="Espace réservé du pied de page 4">
            <a:extLst>
              <a:ext uri="{FF2B5EF4-FFF2-40B4-BE49-F238E27FC236}">
                <a16:creationId xmlns:a16="http://schemas.microsoft.com/office/drawing/2014/main" id="{5327168D-93DB-6F6F-E178-7B4C923E116F}"/>
              </a:ext>
            </a:extLst>
          </p:cNvPr>
          <p:cNvSpPr>
            <a:spLocks noGrp="1"/>
          </p:cNvSpPr>
          <p:nvPr>
            <p:ph type="ftr" sz="quarter" idx="11"/>
          </p:nvPr>
        </p:nvSpPr>
        <p:spPr/>
        <p:txBody>
          <a:bodyPr/>
          <a:lstStyle/>
          <a:p>
            <a:r>
              <a:rPr lang="fr-FR"/>
              <a:t>Cirad 2024</a:t>
            </a:r>
          </a:p>
        </p:txBody>
      </p:sp>
    </p:spTree>
    <p:extLst>
      <p:ext uri="{BB962C8B-B14F-4D97-AF65-F5344CB8AC3E}">
        <p14:creationId xmlns:p14="http://schemas.microsoft.com/office/powerpoint/2010/main" val="332826741"/>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247</TotalTime>
  <Words>453</Words>
  <Application>Microsoft Office PowerPoint</Application>
  <PresentationFormat>Grand écran</PresentationFormat>
  <Paragraphs>51</Paragraphs>
  <Slides>11</Slides>
  <Notes>5</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11</vt:i4>
      </vt:variant>
    </vt:vector>
  </HeadingPairs>
  <TitlesOfParts>
    <vt:vector size="15" baseType="lpstr">
      <vt:lpstr>Arial</vt:lpstr>
      <vt:lpstr>Calibri</vt:lpstr>
      <vt:lpstr>Calibri Light</vt:lpstr>
      <vt:lpstr>Thème Office</vt:lpstr>
      <vt:lpstr>Auteurs – Co-auteurs</vt:lpstr>
      <vt:lpstr>Le statut d’auteur d’un article</vt:lpstr>
      <vt:lpstr>Le statut d’auteur d’un article</vt:lpstr>
      <vt:lpstr>Critères du statut d’auteur</vt:lpstr>
      <vt:lpstr>Statut d’auteur des articles</vt:lpstr>
      <vt:lpstr>Présentation PowerPoint</vt:lpstr>
      <vt:lpstr>Présentation PowerPoint</vt:lpstr>
      <vt:lpstr>Présentation PowerPoint</vt:lpstr>
      <vt:lpstr>Présentation PowerPoint</vt:lpstr>
      <vt:lpstr>Le passeport du chercheur</vt:lpstr>
      <vt:lpstr>Contributorship: CRediT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Auteurs – Co-auteurs</dc:title>
  <dc:creator>Herve Maisonneuve</dc:creator>
  <cp:lastModifiedBy>Herve Maisonneuve</cp:lastModifiedBy>
  <cp:revision>13</cp:revision>
  <dcterms:created xsi:type="dcterms:W3CDTF">2021-01-22T06:23:34Z</dcterms:created>
  <dcterms:modified xsi:type="dcterms:W3CDTF">2024-04-28T17:53:32Z</dcterms:modified>
</cp:coreProperties>
</file>