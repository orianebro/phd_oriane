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635" r:id="rId2"/>
    <p:sldId id="1664" r:id="rId3"/>
    <p:sldId id="1666" r:id="rId4"/>
    <p:sldId id="1667" r:id="rId5"/>
    <p:sldId id="1665" r:id="rId6"/>
    <p:sldId id="638" r:id="rId7"/>
    <p:sldId id="636" r:id="rId8"/>
    <p:sldId id="1668" r:id="rId9"/>
    <p:sldId id="1669" r:id="rId10"/>
    <p:sldId id="1670" r:id="rId11"/>
    <p:sldId id="1671" r:id="rId12"/>
    <p:sldId id="633" r:id="rId13"/>
    <p:sldId id="634" r:id="rId14"/>
    <p:sldId id="503" r:id="rId15"/>
    <p:sldId id="570" r:id="rId16"/>
    <p:sldId id="571" r:id="rId17"/>
    <p:sldId id="667" r:id="rId18"/>
    <p:sldId id="668" r:id="rId19"/>
    <p:sldId id="1662" r:id="rId20"/>
    <p:sldId id="572" r:id="rId21"/>
    <p:sldId id="507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9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B1332-6769-46D5-B6A1-69D7A4C2A710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6F1C0-A20F-4049-BB02-64EB4BCBF6A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39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2B9AA9-9400-4AC1-B750-A187D4F2CA0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8929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6F1C0-A20F-4049-BB02-64EB4BCBF6A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231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2B9AA9-9400-4AC1-B750-A187D4F2CA0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461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2B9AA9-9400-4AC1-B750-A187D4F2CA0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767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2B9AA9-9400-4AC1-B750-A187D4F2CA0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081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6F1C0-A20F-4049-BB02-64EB4BCBF6AF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01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F2585-7250-4EDD-8324-52DFA5E7AF03}" type="datetime1">
              <a:rPr lang="en-GB" smtClean="0"/>
              <a:t>30/04/2024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9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DCF18-CE90-490C-9CCA-8451D3FFAEA5}" type="datetime1">
              <a:rPr lang="en-GB" smtClean="0"/>
              <a:t>30/04/2024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8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9CB94-A046-476E-A7E1-C6AC5F9BA1CC}" type="datetime1">
              <a:rPr lang="en-GB" smtClean="0"/>
              <a:t>30/04/2024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07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DD35-74B4-451B-A6D1-DF90F65B4217}" type="datetime1">
              <a:rPr lang="en-GB" smtClean="0"/>
              <a:t>30/04/2024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477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60895-18EB-4B8C-9ABA-D0AD6E7AAC7C}" type="datetime1">
              <a:rPr lang="en-GB" smtClean="0"/>
              <a:t>30/04/2024</a:t>
            </a:fld>
            <a:endParaRPr lang="en-GB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889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6B1F-B624-4E80-BA69-333E4ADB77F1}" type="datetime1">
              <a:rPr lang="en-GB" smtClean="0"/>
              <a:t>30/04/2024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7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FBBA1-8F7C-4632-A618-434F295EECC7}" type="datetime1">
              <a:rPr lang="en-GB" smtClean="0"/>
              <a:t>30/04/2024</a:t>
            </a:fld>
            <a:endParaRPr lang="en-GB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05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597E-E40B-407B-B4FE-65C92C1AAF1E}" type="datetime1">
              <a:rPr lang="en-GB" smtClean="0"/>
              <a:t>30/04/2024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4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EA02-8E83-48AC-80F7-9F2E3EABB151}" type="datetime1">
              <a:rPr lang="en-GB" smtClean="0"/>
              <a:t>30/04/2024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94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0840-F2A2-4E70-9A3E-0D5294764788}" type="datetime1">
              <a:rPr lang="en-GB" smtClean="0"/>
              <a:t>30/04/2024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45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B568-D11D-4F63-8CC5-64AAA7FB7072}" type="datetime1">
              <a:rPr lang="en-GB" smtClean="0"/>
              <a:t>30/04/2024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44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5A9E4-AFE8-436C-94C8-00F297EBEDAD}" type="datetime1">
              <a:rPr lang="en-GB" smtClean="0"/>
              <a:t>30/04/2024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Titre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0A657-63F5-4AA1-8896-D2E86A40153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020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693019" y="290501"/>
            <a:ext cx="9519385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fr-FR" altLang="fr-FR" b="1" dirty="0">
                <a:solidFill>
                  <a:srgbClr val="00B0F0"/>
                </a:solidFill>
                <a:latin typeface="+mn-lt"/>
              </a:rPr>
              <a:t>Titre : comment faire un bon titre ?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fr-FR" altLang="fr-FR" sz="3200" dirty="0"/>
              <a:t>Longueur d’un titre ?</a:t>
            </a:r>
          </a:p>
          <a:p>
            <a:r>
              <a:rPr lang="fr-FR" altLang="fr-FR" sz="3200" dirty="0"/>
              <a:t>Peut-on mettre :</a:t>
            </a:r>
          </a:p>
          <a:p>
            <a:pPr lvl="1"/>
            <a:r>
              <a:rPr lang="fr-FR" altLang="fr-FR" sz="3200" dirty="0"/>
              <a:t>un verbe ? Un sous-titre ?</a:t>
            </a:r>
          </a:p>
          <a:p>
            <a:pPr lvl="1"/>
            <a:r>
              <a:rPr lang="fr-FR" altLang="fr-FR" sz="3200" dirty="0"/>
              <a:t>un point d’interrogation ?</a:t>
            </a:r>
          </a:p>
          <a:p>
            <a:pPr lvl="1"/>
            <a:r>
              <a:rPr lang="fr-FR" altLang="fr-FR" sz="3200" dirty="0"/>
              <a:t>de l’humour ?</a:t>
            </a:r>
          </a:p>
          <a:p>
            <a:pPr lvl="1"/>
            <a:r>
              <a:rPr lang="fr-FR" altLang="fr-FR" sz="3200" dirty="0"/>
              <a:t>le résultat principal ?</a:t>
            </a:r>
          </a:p>
          <a:p>
            <a:pPr lvl="1"/>
            <a:r>
              <a:rPr lang="fr-FR" altLang="fr-FR" sz="3200" dirty="0"/>
              <a:t>l’effectif des souris, des plantes ?</a:t>
            </a:r>
          </a:p>
          <a:p>
            <a:pPr lvl="1"/>
            <a:r>
              <a:rPr lang="fr-FR" altLang="fr-FR" sz="3200" dirty="0"/>
              <a:t>le lieu de l’étude ?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CA18-B5B8-4B20-B860-66FA7D59F5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878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9C1BC61-046B-0E33-C729-FE867AA4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0DDF7DB-5444-A23A-0DA4-17938D80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2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321515-AD8F-ABA7-20B2-37F872400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7" y="1078787"/>
            <a:ext cx="10805387" cy="459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1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DE36119-3E10-34FB-B7CB-1DE2BBD2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C10A25-8092-0D73-AF38-A6825396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3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84400C-09FE-0128-1E49-060B7C0F2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82" y="919541"/>
            <a:ext cx="10839235" cy="472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7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DE36119-3E10-34FB-B7CB-1DE2BBD2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C10A25-8092-0D73-AF38-A6825396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4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458E6D7-8AED-34B4-8B1E-C89776DFD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34" y="565079"/>
            <a:ext cx="10866731" cy="488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7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DE36119-3E10-34FB-B7CB-1DE2BBD2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C10A25-8092-0D73-AF38-A6825396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5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57D678-A28E-B092-126B-C82CF0E7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6" y="834261"/>
            <a:ext cx="11151727" cy="489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6</a:t>
            </a:fld>
            <a:endParaRPr lang="en-GB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1900237"/>
            <a:ext cx="105822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5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693019" y="290501"/>
            <a:ext cx="9519385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fr-FR" altLang="fr-FR" b="1" dirty="0">
                <a:solidFill>
                  <a:srgbClr val="00B0F0"/>
                </a:solidFill>
                <a:latin typeface="+mn-lt"/>
              </a:rPr>
              <a:t>Titre : trois options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57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ctr" eaLnBrk="1" hangingPunct="1">
              <a:buNone/>
            </a:pPr>
            <a:r>
              <a:rPr lang="fr-FR" altLang="fr-FR" sz="3600" b="1" dirty="0"/>
              <a:t>Interrogatif</a:t>
            </a:r>
          </a:p>
          <a:p>
            <a:pPr marL="0" indent="0">
              <a:buNone/>
            </a:pPr>
            <a:r>
              <a:rPr lang="fr-FR" altLang="fr-FR" sz="3000" dirty="0" err="1"/>
              <a:t>Does</a:t>
            </a:r>
            <a:r>
              <a:rPr lang="fr-FR" altLang="fr-FR" sz="3000" dirty="0"/>
              <a:t> population </a:t>
            </a:r>
            <a:r>
              <a:rPr lang="fr-FR" altLang="fr-FR" sz="3000" dirty="0" err="1"/>
              <a:t>genetics</a:t>
            </a:r>
            <a:r>
              <a:rPr lang="fr-FR" altLang="fr-FR" sz="3000" dirty="0"/>
              <a:t> of </a:t>
            </a:r>
            <a:r>
              <a:rPr lang="fr-FR" altLang="fr-FR" sz="3000" i="1" dirty="0" err="1"/>
              <a:t>Narcissus</a:t>
            </a:r>
            <a:r>
              <a:rPr lang="fr-FR" altLang="fr-FR" sz="3000" dirty="0"/>
              <a:t> </a:t>
            </a:r>
            <a:r>
              <a:rPr lang="fr-FR" altLang="fr-FR" sz="3000" dirty="0" err="1"/>
              <a:t>species</a:t>
            </a:r>
            <a:r>
              <a:rPr lang="fr-FR" altLang="fr-FR" sz="3000" dirty="0"/>
              <a:t> </a:t>
            </a:r>
            <a:r>
              <a:rPr lang="fr-FR" altLang="fr-FR" sz="3000" dirty="0" err="1"/>
              <a:t>reveal</a:t>
            </a:r>
            <a:r>
              <a:rPr lang="fr-FR" altLang="fr-FR" sz="3000" dirty="0"/>
              <a:t> high </a:t>
            </a:r>
            <a:r>
              <a:rPr lang="fr-FR" altLang="fr-FR" sz="3000" dirty="0" err="1"/>
              <a:t>diversity</a:t>
            </a:r>
            <a:r>
              <a:rPr lang="fr-FR" altLang="fr-FR" sz="3000" dirty="0"/>
              <a:t> and multiple introductions </a:t>
            </a:r>
            <a:r>
              <a:rPr lang="fr-FR" altLang="fr-FR" sz="3000" dirty="0" err="1"/>
              <a:t>into</a:t>
            </a:r>
            <a:r>
              <a:rPr lang="fr-FR" altLang="fr-FR" sz="3000" dirty="0"/>
              <a:t> Kashmir?</a:t>
            </a:r>
          </a:p>
          <a:p>
            <a:pPr marL="0" indent="0" algn="ctr" eaLnBrk="1" hangingPunct="1">
              <a:buNone/>
            </a:pPr>
            <a:r>
              <a:rPr lang="fr-FR" altLang="fr-FR" sz="3600" b="1" dirty="0"/>
              <a:t>Indicatif</a:t>
            </a:r>
          </a:p>
          <a:p>
            <a:pPr marL="0" indent="0">
              <a:buNone/>
            </a:pPr>
            <a:r>
              <a:rPr lang="fr-FR" altLang="fr-FR" sz="3000" dirty="0" err="1"/>
              <a:t>Effect</a:t>
            </a:r>
            <a:r>
              <a:rPr lang="fr-FR" altLang="fr-FR" sz="3000" dirty="0"/>
              <a:t> of population </a:t>
            </a:r>
            <a:r>
              <a:rPr lang="fr-FR" altLang="fr-FR" sz="3000" dirty="0" err="1"/>
              <a:t>genetics</a:t>
            </a:r>
            <a:r>
              <a:rPr lang="fr-FR" altLang="fr-FR" sz="3000" dirty="0"/>
              <a:t> of </a:t>
            </a:r>
            <a:r>
              <a:rPr lang="fr-FR" altLang="fr-FR" sz="3000" i="1" dirty="0" err="1"/>
              <a:t>Narcissus</a:t>
            </a:r>
            <a:r>
              <a:rPr lang="fr-FR" altLang="fr-FR" sz="3000" dirty="0"/>
              <a:t> </a:t>
            </a:r>
            <a:r>
              <a:rPr lang="fr-FR" altLang="fr-FR" sz="3000" dirty="0" err="1"/>
              <a:t>species</a:t>
            </a:r>
            <a:r>
              <a:rPr lang="fr-FR" altLang="fr-FR" sz="3000" dirty="0"/>
              <a:t> on high </a:t>
            </a:r>
            <a:r>
              <a:rPr lang="fr-FR" altLang="fr-FR" sz="3000" dirty="0" err="1"/>
              <a:t>diversity</a:t>
            </a:r>
            <a:r>
              <a:rPr lang="fr-FR" altLang="fr-FR" sz="3000" dirty="0"/>
              <a:t> and multiple introductions </a:t>
            </a:r>
            <a:r>
              <a:rPr lang="fr-FR" altLang="fr-FR" sz="3000" dirty="0" err="1"/>
              <a:t>into</a:t>
            </a:r>
            <a:r>
              <a:rPr lang="fr-FR" altLang="fr-FR" sz="3000" dirty="0"/>
              <a:t> Kashmir</a:t>
            </a:r>
          </a:p>
          <a:p>
            <a:pPr marL="0" indent="0" algn="ctr" eaLnBrk="1" hangingPunct="1">
              <a:buNone/>
            </a:pPr>
            <a:r>
              <a:rPr lang="fr-FR" altLang="fr-FR" sz="3600" b="1" dirty="0"/>
              <a:t>Informatif</a:t>
            </a:r>
          </a:p>
          <a:p>
            <a:pPr marL="0" indent="0" eaLnBrk="1" hangingPunct="1">
              <a:buNone/>
            </a:pPr>
            <a:r>
              <a:rPr lang="fr-FR" altLang="fr-FR" sz="3000" dirty="0"/>
              <a:t>Population </a:t>
            </a:r>
            <a:r>
              <a:rPr lang="fr-FR" altLang="fr-FR" sz="3000" dirty="0" err="1"/>
              <a:t>genetics</a:t>
            </a:r>
            <a:r>
              <a:rPr lang="fr-FR" altLang="fr-FR" sz="3000" dirty="0"/>
              <a:t> of </a:t>
            </a:r>
            <a:r>
              <a:rPr lang="fr-FR" altLang="fr-FR" sz="3000" i="1" dirty="0" err="1"/>
              <a:t>Narcissus</a:t>
            </a:r>
            <a:r>
              <a:rPr lang="fr-FR" altLang="fr-FR" sz="3000" dirty="0"/>
              <a:t> </a:t>
            </a:r>
            <a:r>
              <a:rPr lang="fr-FR" altLang="fr-FR" sz="3000" dirty="0" err="1"/>
              <a:t>species</a:t>
            </a:r>
            <a:r>
              <a:rPr lang="fr-FR" altLang="fr-FR" sz="3000" dirty="0"/>
              <a:t> </a:t>
            </a:r>
            <a:r>
              <a:rPr lang="fr-FR" altLang="fr-FR" sz="3000" dirty="0" err="1"/>
              <a:t>reveals</a:t>
            </a:r>
            <a:r>
              <a:rPr lang="fr-FR" altLang="fr-FR" sz="3000" dirty="0"/>
              <a:t> high </a:t>
            </a:r>
            <a:r>
              <a:rPr lang="fr-FR" altLang="fr-FR" sz="3000" dirty="0" err="1"/>
              <a:t>diversity</a:t>
            </a:r>
            <a:r>
              <a:rPr lang="fr-FR" altLang="fr-FR" sz="3000" dirty="0"/>
              <a:t> and multiple introductions </a:t>
            </a:r>
            <a:r>
              <a:rPr lang="fr-FR" altLang="fr-FR" sz="3000" dirty="0" err="1"/>
              <a:t>into</a:t>
            </a:r>
            <a:r>
              <a:rPr lang="fr-FR" altLang="fr-FR" sz="3000" dirty="0"/>
              <a:t> Kashmir</a:t>
            </a:r>
            <a:endParaRPr lang="fr-FR" altLang="fr-FR" sz="39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CA18-B5B8-4B20-B860-66FA7D59F5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5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FED24-9A40-1F6A-D2F4-ECF096C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3600" dirty="0"/>
              <a:t>Quantitative </a:t>
            </a:r>
            <a:r>
              <a:rPr lang="fr-FR" sz="3600" dirty="0" err="1"/>
              <a:t>analysis</a:t>
            </a:r>
            <a:r>
              <a:rPr lang="fr-FR" sz="3600" dirty="0"/>
              <a:t> of cashew </a:t>
            </a:r>
            <a:r>
              <a:rPr lang="fr-FR" sz="3600" dirty="0" err="1"/>
              <a:t>nutshell</a:t>
            </a:r>
            <a:r>
              <a:rPr lang="fr-FR" sz="3600" dirty="0"/>
              <a:t> </a:t>
            </a:r>
            <a:r>
              <a:rPr lang="fr-FR" sz="3600" dirty="0" err="1"/>
              <a:t>liquid</a:t>
            </a:r>
            <a:r>
              <a:rPr lang="fr-FR" sz="3600" dirty="0"/>
              <a:t> and </a:t>
            </a:r>
            <a:r>
              <a:rPr lang="fr-FR" sz="3600" dirty="0" err="1"/>
              <a:t>isomeric</a:t>
            </a:r>
            <a:r>
              <a:rPr lang="fr-FR" sz="3600" dirty="0"/>
              <a:t> </a:t>
            </a:r>
            <a:r>
              <a:rPr lang="fr-FR" sz="3600" dirty="0" err="1"/>
              <a:t>characterisation</a:t>
            </a:r>
            <a:r>
              <a:rPr lang="fr-FR" sz="3600" dirty="0"/>
              <a:t> of </a:t>
            </a:r>
            <a:r>
              <a:rPr lang="fr-FR" sz="3600" dirty="0" err="1"/>
              <a:t>its</a:t>
            </a:r>
            <a:r>
              <a:rPr lang="fr-FR" sz="3600" dirty="0"/>
              <a:t> </a:t>
            </a:r>
            <a:r>
              <a:rPr lang="fr-FR" sz="3600" dirty="0" err="1"/>
              <a:t>primary</a:t>
            </a:r>
            <a:r>
              <a:rPr lang="fr-FR" sz="3600" dirty="0"/>
              <a:t> constituants: </a:t>
            </a:r>
            <a:r>
              <a:rPr lang="fr-FR" sz="3600" dirty="0" err="1"/>
              <a:t>Anacard</a:t>
            </a:r>
            <a:r>
              <a:rPr lang="fr-FR" sz="3600" dirty="0"/>
              <a:t> </a:t>
            </a:r>
            <a:r>
              <a:rPr lang="fr-FR" sz="3600" dirty="0" err="1"/>
              <a:t>acids</a:t>
            </a:r>
            <a:r>
              <a:rPr lang="fr-FR" sz="3600" dirty="0"/>
              <a:t>, </a:t>
            </a:r>
            <a:r>
              <a:rPr lang="fr-FR" sz="3600" dirty="0" err="1"/>
              <a:t>Cardanols</a:t>
            </a:r>
            <a:r>
              <a:rPr lang="fr-FR" sz="3600" dirty="0"/>
              <a:t>, and </a:t>
            </a:r>
            <a:r>
              <a:rPr lang="fr-FR" sz="3600" dirty="0" err="1"/>
              <a:t>cardols</a:t>
            </a:r>
            <a:endParaRPr lang="fr-FR" sz="36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666271-48D1-9BCC-9D11-AF0A779C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0F634A-C092-3D44-9FC7-FCAF6791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59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FED24-9A40-1F6A-D2F4-ECF096C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FR" sz="3600" dirty="0"/>
          </a:p>
          <a:p>
            <a:pPr marL="0" indent="0" algn="ctr">
              <a:buNone/>
            </a:pPr>
            <a:endParaRPr lang="fr-FR" sz="3600" dirty="0"/>
          </a:p>
          <a:p>
            <a:pPr marL="0" indent="0" algn="ctr">
              <a:buNone/>
            </a:pPr>
            <a:r>
              <a:rPr lang="fr-FR" sz="3600" dirty="0" err="1"/>
              <a:t>Unraveling</a:t>
            </a:r>
            <a:r>
              <a:rPr lang="fr-FR" sz="3600" dirty="0"/>
              <a:t> Phi-EC2: </a:t>
            </a:r>
            <a:r>
              <a:rPr lang="fr-FR" sz="3600" dirty="0" err="1"/>
              <a:t>Genome</a:t>
            </a:r>
            <a:r>
              <a:rPr lang="fr-FR" sz="3600" dirty="0"/>
              <a:t> </a:t>
            </a:r>
            <a:r>
              <a:rPr lang="fr-FR" sz="3600" dirty="0" err="1"/>
              <a:t>Sequence</a:t>
            </a:r>
            <a:r>
              <a:rPr lang="fr-FR" sz="3600" dirty="0"/>
              <a:t> and </a:t>
            </a:r>
            <a:r>
              <a:rPr lang="fr-FR" sz="3600" dirty="0" err="1"/>
              <a:t>Its</a:t>
            </a:r>
            <a:r>
              <a:rPr lang="fr-FR" sz="3600" dirty="0"/>
              <a:t> </a:t>
            </a:r>
            <a:r>
              <a:rPr lang="fr-FR" sz="3600" dirty="0" err="1"/>
              <a:t>Role</a:t>
            </a:r>
            <a:r>
              <a:rPr lang="fr-FR" sz="3600" dirty="0"/>
              <a:t> in </a:t>
            </a:r>
            <a:r>
              <a:rPr lang="fr-FR" sz="3600" dirty="0" err="1"/>
              <a:t>Transferring</a:t>
            </a:r>
            <a:r>
              <a:rPr lang="fr-FR" sz="3600" dirty="0"/>
              <a:t> Large DNA Fragments in </a:t>
            </a:r>
            <a:r>
              <a:rPr lang="fr-FR" sz="3600" dirty="0" err="1"/>
              <a:t>Dickeya</a:t>
            </a:r>
            <a:r>
              <a:rPr lang="fr-FR" sz="3600" dirty="0"/>
              <a:t> </a:t>
            </a:r>
            <a:r>
              <a:rPr lang="fr-FR" sz="3600" dirty="0" err="1"/>
              <a:t>salani</a:t>
            </a:r>
            <a:endParaRPr lang="fr-FR" sz="36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666271-48D1-9BCC-9D11-AF0A779C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0F634A-C092-3D44-9FC7-FCAF6791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40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FED24-9A40-1F6A-D2F4-ECF096C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FR" sz="3600" dirty="0"/>
          </a:p>
          <a:p>
            <a:pPr marL="0" indent="0" algn="ctr">
              <a:buNone/>
            </a:pPr>
            <a:endParaRPr lang="fr-FR" sz="3600" dirty="0"/>
          </a:p>
          <a:p>
            <a:pPr marL="0" indent="0" algn="ctr">
              <a:buNone/>
            </a:pPr>
            <a:r>
              <a:rPr lang="fr-FR" sz="3600" dirty="0"/>
              <a:t>A neural network architecture for tropical </a:t>
            </a:r>
            <a:r>
              <a:rPr lang="fr-FR" sz="3600" dirty="0" err="1"/>
              <a:t>forest</a:t>
            </a:r>
            <a:r>
              <a:rPr lang="fr-FR" sz="3600" dirty="0"/>
              <a:t> </a:t>
            </a:r>
            <a:r>
              <a:rPr lang="fr-FR" sz="3600" dirty="0" err="1"/>
              <a:t>degration</a:t>
            </a:r>
            <a:r>
              <a:rPr lang="fr-FR" sz="3600" dirty="0"/>
              <a:t> </a:t>
            </a:r>
            <a:r>
              <a:rPr lang="fr-FR" sz="3600" dirty="0" err="1"/>
              <a:t>trancking</a:t>
            </a:r>
            <a:r>
              <a:rPr lang="fr-FR" sz="3600" dirty="0"/>
              <a:t> </a:t>
            </a:r>
            <a:r>
              <a:rPr lang="fr-FR" sz="3600" dirty="0" err="1"/>
              <a:t>with</a:t>
            </a:r>
            <a:r>
              <a:rPr lang="fr-FR" sz="3600" dirty="0"/>
              <a:t> SAV </a:t>
            </a:r>
            <a:r>
              <a:rPr lang="fr-FR" sz="3600" dirty="0" err="1"/>
              <a:t>timeseries</a:t>
            </a:r>
            <a:endParaRPr lang="fr-FR" sz="36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666271-48D1-9BCC-9D11-AF0A779C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0F634A-C092-3D44-9FC7-FCAF6791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060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FED24-9A40-1F6A-D2F4-ECF096C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FR" sz="3600" dirty="0"/>
          </a:p>
          <a:p>
            <a:pPr marL="0" indent="0" algn="ctr">
              <a:buNone/>
            </a:pPr>
            <a:r>
              <a:rPr lang="fr-FR" sz="3600" dirty="0"/>
              <a:t>Vaccine </a:t>
            </a:r>
            <a:r>
              <a:rPr lang="fr-FR" sz="3600" dirty="0" err="1"/>
              <a:t>efficacy</a:t>
            </a:r>
            <a:r>
              <a:rPr lang="fr-FR" sz="3600" dirty="0"/>
              <a:t> </a:t>
            </a:r>
            <a:r>
              <a:rPr lang="fr-FR" sz="3600" dirty="0" err="1"/>
              <a:t>against</a:t>
            </a:r>
            <a:r>
              <a:rPr lang="fr-FR" sz="3600" dirty="0"/>
              <a:t> </a:t>
            </a:r>
            <a:r>
              <a:rPr lang="fr-FR" sz="3600" dirty="0" err="1"/>
              <a:t>Swine</a:t>
            </a:r>
            <a:r>
              <a:rPr lang="fr-FR" sz="3600" dirty="0"/>
              <a:t> Influenza A Virus in </a:t>
            </a:r>
            <a:r>
              <a:rPr lang="fr-FR" sz="3600" dirty="0" err="1"/>
              <a:t>terms</a:t>
            </a:r>
            <a:r>
              <a:rPr lang="fr-FR" sz="3600" dirty="0"/>
              <a:t> of </a:t>
            </a:r>
            <a:r>
              <a:rPr lang="fr-FR" sz="3600" dirty="0" err="1"/>
              <a:t>clinical</a:t>
            </a:r>
            <a:r>
              <a:rPr lang="fr-FR" sz="3600" dirty="0"/>
              <a:t> </a:t>
            </a:r>
            <a:r>
              <a:rPr lang="fr-FR" sz="3600" dirty="0" err="1"/>
              <a:t>signs</a:t>
            </a:r>
            <a:r>
              <a:rPr lang="fr-FR" sz="3600" dirty="0"/>
              <a:t>, viral </a:t>
            </a:r>
            <a:r>
              <a:rPr lang="fr-FR" sz="3600" dirty="0" err="1"/>
              <a:t>excretion</a:t>
            </a:r>
            <a:r>
              <a:rPr lang="fr-FR" sz="3600" dirty="0"/>
              <a:t> via nasal </a:t>
            </a:r>
            <a:r>
              <a:rPr lang="fr-FR" sz="3600" dirty="0" err="1"/>
              <a:t>Swabs</a:t>
            </a:r>
            <a:r>
              <a:rPr lang="fr-FR" sz="3600" dirty="0"/>
              <a:t> and Transmission: </a:t>
            </a:r>
            <a:r>
              <a:rPr lang="fr-FR" sz="3600" dirty="0" err="1"/>
              <a:t>systematic</a:t>
            </a:r>
            <a:r>
              <a:rPr lang="fr-FR" sz="3600" dirty="0"/>
              <a:t> </a:t>
            </a:r>
            <a:r>
              <a:rPr lang="fr-FR" sz="3600" dirty="0" err="1"/>
              <a:t>review</a:t>
            </a:r>
            <a:r>
              <a:rPr lang="fr-FR" sz="3600" dirty="0"/>
              <a:t> and </a:t>
            </a:r>
            <a:r>
              <a:rPr lang="fr-FR" sz="3600" dirty="0" err="1"/>
              <a:t>meta-analysis</a:t>
            </a:r>
            <a:endParaRPr lang="fr-FR" sz="36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666271-48D1-9BCC-9D11-AF0A779C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0F634A-C092-3D44-9FC7-FCAF6791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518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693019" y="290501"/>
            <a:ext cx="9519385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fr-FR" altLang="fr-FR" b="1" dirty="0">
                <a:solidFill>
                  <a:srgbClr val="00B0F0"/>
                </a:solidFill>
                <a:latin typeface="+mn-lt"/>
              </a:rPr>
              <a:t>Titre : comment faire un bon titre ?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fr-FR" altLang="fr-FR" sz="3200" b="1" dirty="0"/>
          </a:p>
          <a:p>
            <a:pPr eaLnBrk="1" hangingPunct="1"/>
            <a:r>
              <a:rPr lang="fr-FR" altLang="fr-FR" sz="3200" dirty="0"/>
              <a:t>Cohérence du titre et de l’article</a:t>
            </a:r>
          </a:p>
          <a:p>
            <a:pPr eaLnBrk="1" hangingPunct="1"/>
            <a:r>
              <a:rPr lang="fr-FR" altLang="fr-FR" sz="3200" dirty="0"/>
              <a:t>Informatif plutôt qu’indicatif</a:t>
            </a:r>
          </a:p>
          <a:p>
            <a:pPr eaLnBrk="1" hangingPunct="1"/>
            <a:r>
              <a:rPr lang="fr-FR" altLang="fr-FR" sz="3200" dirty="0"/>
              <a:t>Adapté au public et à la revue</a:t>
            </a:r>
          </a:p>
          <a:p>
            <a:pPr eaLnBrk="1" hangingPunct="1"/>
            <a:r>
              <a:rPr lang="fr-FR" altLang="fr-FR" sz="3200" dirty="0"/>
              <a:t>Minimum de mots, maximum de signification</a:t>
            </a:r>
          </a:p>
          <a:p>
            <a:pPr marL="0" indent="0" eaLnBrk="1" hangingPunct="1">
              <a:buNone/>
            </a:pPr>
            <a:endParaRPr lang="fr-FR" altLang="fr-FR" sz="32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CA18-B5B8-4B20-B860-66FA7D59F54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83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693019" y="290501"/>
            <a:ext cx="9519385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fr-FR" altLang="fr-FR" b="1" dirty="0">
                <a:solidFill>
                  <a:srgbClr val="00B0F0"/>
                </a:solidFill>
                <a:latin typeface="+mn-lt"/>
              </a:rPr>
              <a:t>Titre : comment faire un bon titre ?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fr-FR" altLang="fr-FR" sz="3200" dirty="0"/>
              <a:t>Longueur d’un titre ?</a:t>
            </a:r>
          </a:p>
          <a:p>
            <a:pPr eaLnBrk="1" hangingPunct="1"/>
            <a:r>
              <a:rPr lang="fr-FR" altLang="fr-FR" sz="3200" dirty="0"/>
              <a:t>Peut-on mettre :</a:t>
            </a:r>
          </a:p>
          <a:p>
            <a:pPr lvl="1"/>
            <a:r>
              <a:rPr lang="fr-FR" altLang="fr-FR" sz="3200" dirty="0"/>
              <a:t>un verbe ? Un sous-titre ? </a:t>
            </a:r>
            <a:r>
              <a:rPr lang="fr-FR" altLang="fr-FR" sz="3200" b="1" dirty="0">
                <a:solidFill>
                  <a:srgbClr val="FF0000"/>
                </a:solidFill>
              </a:rPr>
              <a:t>OUI</a:t>
            </a:r>
          </a:p>
          <a:p>
            <a:pPr lvl="1"/>
            <a:r>
              <a:rPr lang="fr-FR" altLang="fr-FR" sz="3200" dirty="0"/>
              <a:t>un point d’interrogation ? </a:t>
            </a:r>
            <a:r>
              <a:rPr lang="fr-FR" altLang="fr-FR" sz="3200" b="1" dirty="0">
                <a:solidFill>
                  <a:srgbClr val="FF0000"/>
                </a:solidFill>
              </a:rPr>
              <a:t>Oui / Non</a:t>
            </a:r>
          </a:p>
          <a:p>
            <a:pPr lvl="1"/>
            <a:r>
              <a:rPr lang="fr-FR" altLang="fr-FR" sz="3200" dirty="0"/>
              <a:t>de l’humour ? </a:t>
            </a:r>
            <a:r>
              <a:rPr lang="fr-FR" altLang="fr-FR" sz="3200" b="1" dirty="0">
                <a:solidFill>
                  <a:srgbClr val="FF0000"/>
                </a:solidFill>
              </a:rPr>
              <a:t>NON</a:t>
            </a:r>
          </a:p>
          <a:p>
            <a:pPr lvl="1"/>
            <a:r>
              <a:rPr lang="fr-FR" altLang="fr-FR" sz="3200" dirty="0"/>
              <a:t>le résultat principal ? </a:t>
            </a:r>
            <a:r>
              <a:rPr lang="fr-FR" altLang="fr-FR" sz="3200" b="1" dirty="0">
                <a:solidFill>
                  <a:srgbClr val="FF0000"/>
                </a:solidFill>
              </a:rPr>
              <a:t>OUI</a:t>
            </a:r>
          </a:p>
          <a:p>
            <a:pPr lvl="1"/>
            <a:r>
              <a:rPr lang="fr-FR" altLang="fr-FR" sz="3200" dirty="0"/>
              <a:t>l’effectif des souris, des plantes ? </a:t>
            </a:r>
            <a:r>
              <a:rPr lang="fr-FR" altLang="fr-FR" sz="3200" b="1" dirty="0">
                <a:solidFill>
                  <a:srgbClr val="FF0000"/>
                </a:solidFill>
              </a:rPr>
              <a:t>Oui / Non</a:t>
            </a:r>
            <a:endParaRPr lang="fr-FR" altLang="fr-FR" sz="3200" dirty="0"/>
          </a:p>
          <a:p>
            <a:pPr lvl="1"/>
            <a:r>
              <a:rPr lang="fr-FR" altLang="fr-FR" sz="3200" dirty="0"/>
              <a:t>le lieu de l’étude ? </a:t>
            </a:r>
            <a:r>
              <a:rPr lang="fr-FR" altLang="fr-FR" sz="3200" dirty="0">
                <a:solidFill>
                  <a:srgbClr val="FF0000"/>
                </a:solidFill>
              </a:rPr>
              <a:t>Non (sauf génétique,…)</a:t>
            </a:r>
          </a:p>
          <a:p>
            <a:pPr lvl="1"/>
            <a:endParaRPr lang="fr-FR" altLang="fr-FR" sz="3200" dirty="0">
              <a:solidFill>
                <a:srgbClr val="FF0000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CA18-B5B8-4B20-B860-66FA7D59F54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105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  <a:latin typeface="+mn-lt"/>
              </a:rPr>
              <a:t>Résumé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CA18-B5B8-4B20-B860-66FA7D59F54A}" type="slidenum">
              <a:rPr lang="fr-FR" smtClean="0"/>
              <a:t>14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4" y="1626147"/>
            <a:ext cx="11866825" cy="4262473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886F3BE-AB88-2AAD-1749-AD7FFA57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838223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Le résumé : Images ? </a:t>
            </a:r>
            <a:r>
              <a:rPr lang="fr-FR" b="1" dirty="0" err="1">
                <a:solidFill>
                  <a:schemeClr val="accent5"/>
                </a:solidFill>
                <a:latin typeface="+mn-lt"/>
              </a:rPr>
              <a:t>Highlights</a:t>
            </a:r>
            <a:r>
              <a:rPr lang="fr-FR" b="1" dirty="0">
                <a:solidFill>
                  <a:schemeClr val="accent5"/>
                </a:solidFill>
                <a:latin typeface="+mn-lt"/>
              </a:rPr>
              <a:t> ?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" y="1323458"/>
            <a:ext cx="8686800" cy="5431909"/>
          </a:xfr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B5A9-B53F-4CEA-9CA2-5A8A8562A2F7}" type="slidenum">
              <a:rPr lang="fr-FR" smtClean="0"/>
              <a:t>15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1C67E6-CAF5-F1E9-F6F9-E6CD1EF2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43860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Le résumé en une image : question-réponse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714" y="1387460"/>
            <a:ext cx="9448198" cy="5334015"/>
          </a:xfr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B5A9-B53F-4CEA-9CA2-5A8A8562A2F7}" type="slidenum">
              <a:rPr lang="fr-FR" smtClean="0"/>
              <a:t>16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625232-1890-95A9-E00D-BFDF597A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616644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5287E58-4EB6-4299-A3B2-C98252497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2" y="220023"/>
            <a:ext cx="11524891" cy="650231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5C8140-4C9E-020A-902C-1DD80DA8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3F820-ECF4-45B0-B6FB-9679F8A0D233}" type="slidenum">
              <a:rPr lang="fr-FR" smtClean="0"/>
              <a:t>17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8CCFFEE-4EF2-F8AC-F55E-6E4629EF7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51549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A657-63F5-4AA1-8896-D2E86A40153B}" type="slidenum">
              <a:rPr lang="en-GB" smtClean="0"/>
              <a:t>18</a:t>
            </a:fld>
            <a:endParaRPr lang="en-GB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63"/>
            <a:ext cx="12192000" cy="6528074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B6E5008-C4F5-E1E6-3B75-74224E8F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15637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1CD2E41-FBDD-C8C4-2EE9-89B91F1B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Résumé visuel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D83CCAC-5540-597A-D0C7-FBEF7663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BEAA-79D1-4294-A385-7208DD4246DA}" type="slidenum">
              <a:rPr lang="fr-FR" smtClean="0"/>
              <a:t>19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8BE70B-D030-F217-0F21-8A93119B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26" y="1238341"/>
            <a:ext cx="7500135" cy="5525905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EA69413-0B16-B79C-D8A8-E14B09F5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</p:spTree>
    <p:extLst>
      <p:ext uri="{BB962C8B-B14F-4D97-AF65-F5344CB8AC3E}">
        <p14:creationId xmlns:p14="http://schemas.microsoft.com/office/powerpoint/2010/main" val="3808081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Des podcasts ?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16" y="1964853"/>
            <a:ext cx="9661704" cy="3997035"/>
          </a:xfr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8B5A9-B53F-4CEA-9CA2-5A8A8562A2F7}" type="slidenum">
              <a:rPr lang="fr-FR" smtClean="0"/>
              <a:t>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ABD92C-3986-A459-5384-0ABDF725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700615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3B4A88-EE5A-431B-B382-B4B1CE09327B}" type="slidenum">
              <a:rPr lang="en-US" sz="1200">
                <a:solidFill>
                  <a:srgbClr val="045C75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sz="1200">
              <a:solidFill>
                <a:srgbClr val="045C75"/>
              </a:solidFill>
            </a:endParaRP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357447"/>
            <a:ext cx="7267575" cy="1066800"/>
          </a:xfrm>
        </p:spPr>
        <p:txBody>
          <a:bodyPr/>
          <a:lstStyle/>
          <a:p>
            <a:pPr eaLnBrk="1" hangingPunct="1"/>
            <a:r>
              <a:rPr lang="fr-FR" sz="5400" b="1" dirty="0">
                <a:solidFill>
                  <a:schemeClr val="accent5"/>
                </a:solidFill>
                <a:latin typeface="+mn-lt"/>
              </a:rPr>
              <a:t>Résumé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6058" y="1708150"/>
            <a:ext cx="8229600" cy="4648200"/>
          </a:xfrm>
        </p:spPr>
        <p:txBody>
          <a:bodyPr/>
          <a:lstStyle/>
          <a:p>
            <a:pPr eaLnBrk="1" hangingPunct="1"/>
            <a:r>
              <a:rPr lang="fr-FR" sz="3200" b="1" dirty="0"/>
              <a:t>Facile, et à faire en dernier</a:t>
            </a:r>
          </a:p>
          <a:p>
            <a:pPr eaLnBrk="1" hangingPunct="1"/>
            <a:r>
              <a:rPr lang="fr-FR" sz="3200" b="1" dirty="0"/>
              <a:t>Uniquement des informations de l’article</a:t>
            </a:r>
          </a:p>
          <a:p>
            <a:pPr eaLnBrk="1" hangingPunct="1"/>
            <a:r>
              <a:rPr lang="fr-FR" sz="3200" b="1" dirty="0"/>
              <a:t>Structuré pour de nombreux journaux</a:t>
            </a:r>
          </a:p>
          <a:p>
            <a:pPr lvl="1" eaLnBrk="1" hangingPunct="1"/>
            <a:r>
              <a:rPr lang="fr-FR" sz="2800" b="1" dirty="0"/>
              <a:t>Dernière phrase de l’introduction</a:t>
            </a:r>
          </a:p>
          <a:p>
            <a:pPr lvl="1" eaLnBrk="1" hangingPunct="1"/>
            <a:r>
              <a:rPr lang="fr-FR" sz="2800" b="1" dirty="0"/>
              <a:t>1ére phrase de chaque paragraphe des méthodes</a:t>
            </a:r>
          </a:p>
          <a:p>
            <a:pPr lvl="1" eaLnBrk="1" hangingPunct="1"/>
            <a:r>
              <a:rPr lang="fr-FR" sz="2800" b="1" dirty="0"/>
              <a:t>Une phrase par illustration</a:t>
            </a:r>
          </a:p>
          <a:p>
            <a:pPr lvl="1" eaLnBrk="1" hangingPunct="1"/>
            <a:r>
              <a:rPr lang="fr-FR" sz="2800" b="1" dirty="0"/>
              <a:t>1ére phrase de la discussion</a:t>
            </a:r>
          </a:p>
          <a:p>
            <a:pPr lvl="1" eaLnBrk="1" hangingPunct="1"/>
            <a:endParaRPr lang="fr-FR" sz="2800" b="1" dirty="0"/>
          </a:p>
          <a:p>
            <a:pPr eaLnBrk="1" hangingPunct="1"/>
            <a:r>
              <a:rPr lang="fr-FR" sz="3200" b="1" dirty="0"/>
              <a:t>Résumés en 7 ou 9 parties ?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C49A06F-835F-BF31-EF2A-A4288850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4003371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</TotalTime>
  <Words>371</Words>
  <Application>Microsoft Office PowerPoint</Application>
  <PresentationFormat>Grand écran</PresentationFormat>
  <Paragraphs>103</Paragraphs>
  <Slides>21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Thème Office</vt:lpstr>
      <vt:lpstr>Titre : comment faire un bon titre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Titre : trois options</vt:lpstr>
      <vt:lpstr>Présentation PowerPoint</vt:lpstr>
      <vt:lpstr>Présentation PowerPoint</vt:lpstr>
      <vt:lpstr>Présentation PowerPoint</vt:lpstr>
      <vt:lpstr>Présentation PowerPoint</vt:lpstr>
      <vt:lpstr>Titre : comment faire un bon titre ?</vt:lpstr>
      <vt:lpstr>Titre : comment faire un bon titre ?</vt:lpstr>
      <vt:lpstr>Résumé</vt:lpstr>
      <vt:lpstr>Le résumé : Images ? Highlights ?</vt:lpstr>
      <vt:lpstr>Le résumé en une image : question-réponse</vt:lpstr>
      <vt:lpstr>Présentation PowerPoint</vt:lpstr>
      <vt:lpstr>Présentation PowerPoint</vt:lpstr>
      <vt:lpstr>Résumé visuel</vt:lpstr>
      <vt:lpstr>Des podcasts ?</vt:lpstr>
      <vt:lpstr>Résumé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a policy brief</dc:title>
  <dc:creator>Herve Maisonneuve</dc:creator>
  <cp:lastModifiedBy>Herve Maisonneuve</cp:lastModifiedBy>
  <cp:revision>160</cp:revision>
  <dcterms:created xsi:type="dcterms:W3CDTF">2017-08-09T10:01:52Z</dcterms:created>
  <dcterms:modified xsi:type="dcterms:W3CDTF">2024-04-30T18:50:49Z</dcterms:modified>
</cp:coreProperties>
</file>