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531" r:id="rId2"/>
    <p:sldId id="1664" r:id="rId3"/>
    <p:sldId id="334" r:id="rId4"/>
    <p:sldId id="339" r:id="rId5"/>
    <p:sldId id="335" r:id="rId6"/>
    <p:sldId id="340" r:id="rId7"/>
    <p:sldId id="341" r:id="rId8"/>
    <p:sldId id="354" r:id="rId9"/>
    <p:sldId id="336" r:id="rId10"/>
    <p:sldId id="337" r:id="rId11"/>
    <p:sldId id="356" r:id="rId12"/>
    <p:sldId id="357" r:id="rId13"/>
    <p:sldId id="358" r:id="rId14"/>
    <p:sldId id="436" r:id="rId15"/>
    <p:sldId id="510" r:id="rId16"/>
    <p:sldId id="511" r:id="rId17"/>
    <p:sldId id="512" r:id="rId18"/>
    <p:sldId id="513" r:id="rId19"/>
    <p:sldId id="514" r:id="rId20"/>
    <p:sldId id="525" r:id="rId21"/>
    <p:sldId id="526" r:id="rId22"/>
    <p:sldId id="527" r:id="rId23"/>
    <p:sldId id="528"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339BCABD-2097-4691-9D2F-2B023612AE54}">
          <p14:sldIdLst>
            <p14:sldId id="531"/>
            <p14:sldId id="1664"/>
            <p14:sldId id="334"/>
            <p14:sldId id="339"/>
            <p14:sldId id="335"/>
            <p14:sldId id="340"/>
            <p14:sldId id="341"/>
            <p14:sldId id="354"/>
            <p14:sldId id="336"/>
            <p14:sldId id="337"/>
            <p14:sldId id="356"/>
            <p14:sldId id="357"/>
            <p14:sldId id="358"/>
            <p14:sldId id="436"/>
            <p14:sldId id="510"/>
            <p14:sldId id="511"/>
            <p14:sldId id="512"/>
            <p14:sldId id="513"/>
            <p14:sldId id="514"/>
            <p14:sldId id="525"/>
            <p14:sldId id="526"/>
            <p14:sldId id="527"/>
            <p14:sldId id="5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62" d="100"/>
          <a:sy n="62" d="100"/>
        </p:scale>
        <p:origin x="804" y="44"/>
      </p:cViewPr>
      <p:guideLst/>
    </p:cSldViewPr>
  </p:slideViewPr>
  <p:notesTextViewPr>
    <p:cViewPr>
      <p:scale>
        <a:sx n="3" d="2"/>
        <a:sy n="3" d="2"/>
      </p:scale>
      <p:origin x="0" y="0"/>
    </p:cViewPr>
  </p:notesTextViewPr>
  <p:sorterViewPr>
    <p:cViewPr varScale="1">
      <p:scale>
        <a:sx n="1" d="1"/>
        <a:sy n="1" d="1"/>
      </p:scale>
      <p:origin x="0" y="-85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B1332-6769-46D5-B6A1-69D7A4C2A710}" type="datetimeFigureOut">
              <a:rPr lang="en-GB" smtClean="0"/>
              <a:t>30/04/2024</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B6F1C0-A20F-4049-BB02-64EB4BCBF6AF}" type="slidenum">
              <a:rPr lang="en-GB" smtClean="0"/>
              <a:t>‹N°›</a:t>
            </a:fld>
            <a:endParaRPr lang="en-GB"/>
          </a:p>
        </p:txBody>
      </p:sp>
    </p:spTree>
    <p:extLst>
      <p:ext uri="{BB962C8B-B14F-4D97-AF65-F5344CB8AC3E}">
        <p14:creationId xmlns:p14="http://schemas.microsoft.com/office/powerpoint/2010/main" val="3471395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58DC7476-457E-4959-806A-65B00BB3AA02}" type="slidenum">
              <a:rPr lang="fr-FR" smtClean="0"/>
              <a:t>15</a:t>
            </a:fld>
            <a:endParaRPr lang="fr-FR"/>
          </a:p>
        </p:txBody>
      </p:sp>
    </p:spTree>
    <p:extLst>
      <p:ext uri="{BB962C8B-B14F-4D97-AF65-F5344CB8AC3E}">
        <p14:creationId xmlns:p14="http://schemas.microsoft.com/office/powerpoint/2010/main" val="955375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58DC7476-457E-4959-806A-65B00BB3AA02}" type="slidenum">
              <a:rPr lang="fr-FR" smtClean="0"/>
              <a:t>19</a:t>
            </a:fld>
            <a:endParaRPr lang="fr-FR"/>
          </a:p>
        </p:txBody>
      </p:sp>
    </p:spTree>
    <p:extLst>
      <p:ext uri="{BB962C8B-B14F-4D97-AF65-F5344CB8AC3E}">
        <p14:creationId xmlns:p14="http://schemas.microsoft.com/office/powerpoint/2010/main" val="3476632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GB"/>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4" name="Espace réservé de la date 3"/>
          <p:cNvSpPr>
            <a:spLocks noGrp="1"/>
          </p:cNvSpPr>
          <p:nvPr>
            <p:ph type="dt" sz="half" idx="10"/>
          </p:nvPr>
        </p:nvSpPr>
        <p:spPr/>
        <p:txBody>
          <a:bodyPr/>
          <a:lstStyle/>
          <a:p>
            <a:fld id="{517BA5ED-2928-47C1-A97D-B41FFCB407D0}" type="datetime1">
              <a:rPr lang="en-GB" smtClean="0"/>
              <a:t>30/04/2024</a:t>
            </a:fld>
            <a:endParaRPr lang="en-GB"/>
          </a:p>
        </p:txBody>
      </p:sp>
      <p:sp>
        <p:nvSpPr>
          <p:cNvPr id="5" name="Espace réservé du pied de page 4"/>
          <p:cNvSpPr>
            <a:spLocks noGrp="1"/>
          </p:cNvSpPr>
          <p:nvPr>
            <p:ph type="ftr" sz="quarter" idx="11"/>
          </p:nvPr>
        </p:nvSpPr>
        <p:spPr/>
        <p:txBody>
          <a:bodyPr/>
          <a:lstStyle/>
          <a:p>
            <a:r>
              <a:rPr lang="en-GB"/>
              <a:t>CIRAD_2024</a:t>
            </a:r>
          </a:p>
        </p:txBody>
      </p:sp>
      <p:sp>
        <p:nvSpPr>
          <p:cNvPr id="6" name="Espace réservé du numéro de diapositive 5"/>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376694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GB"/>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p:cNvSpPr>
            <a:spLocks noGrp="1"/>
          </p:cNvSpPr>
          <p:nvPr>
            <p:ph type="dt" sz="half" idx="10"/>
          </p:nvPr>
        </p:nvSpPr>
        <p:spPr/>
        <p:txBody>
          <a:bodyPr/>
          <a:lstStyle/>
          <a:p>
            <a:fld id="{90E84073-0154-4690-836F-5607D875EA6E}" type="datetime1">
              <a:rPr lang="en-GB" smtClean="0"/>
              <a:t>30/04/2024</a:t>
            </a:fld>
            <a:endParaRPr lang="en-GB"/>
          </a:p>
        </p:txBody>
      </p:sp>
      <p:sp>
        <p:nvSpPr>
          <p:cNvPr id="5" name="Espace réservé du pied de page 4"/>
          <p:cNvSpPr>
            <a:spLocks noGrp="1"/>
          </p:cNvSpPr>
          <p:nvPr>
            <p:ph type="ftr" sz="quarter" idx="11"/>
          </p:nvPr>
        </p:nvSpPr>
        <p:spPr/>
        <p:txBody>
          <a:bodyPr/>
          <a:lstStyle/>
          <a:p>
            <a:r>
              <a:rPr lang="en-GB"/>
              <a:t>CIRAD_2024</a:t>
            </a:r>
          </a:p>
        </p:txBody>
      </p:sp>
      <p:sp>
        <p:nvSpPr>
          <p:cNvPr id="6" name="Espace réservé du numéro de diapositive 5"/>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88983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GB"/>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CF72588-E31D-4F36-97AC-C8BF8F6A90A6}" type="datetime1">
              <a:rPr lang="en-GB" smtClean="0"/>
              <a:t>30/04/2024</a:t>
            </a:fld>
            <a:endParaRPr lang="en-GB"/>
          </a:p>
        </p:txBody>
      </p:sp>
      <p:sp>
        <p:nvSpPr>
          <p:cNvPr id="5" name="Espace réservé du pied de page 4"/>
          <p:cNvSpPr>
            <a:spLocks noGrp="1"/>
          </p:cNvSpPr>
          <p:nvPr>
            <p:ph type="ftr" sz="quarter" idx="11"/>
          </p:nvPr>
        </p:nvSpPr>
        <p:spPr/>
        <p:txBody>
          <a:bodyPr/>
          <a:lstStyle/>
          <a:p>
            <a:r>
              <a:rPr lang="en-GB"/>
              <a:t>CIRAD_2024</a:t>
            </a:r>
          </a:p>
        </p:txBody>
      </p:sp>
      <p:sp>
        <p:nvSpPr>
          <p:cNvPr id="6" name="Espace réservé du numéro de diapositive 5"/>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1862074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GB"/>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e la date 4"/>
          <p:cNvSpPr>
            <a:spLocks noGrp="1"/>
          </p:cNvSpPr>
          <p:nvPr>
            <p:ph type="dt" sz="half" idx="10"/>
          </p:nvPr>
        </p:nvSpPr>
        <p:spPr/>
        <p:txBody>
          <a:bodyPr/>
          <a:lstStyle/>
          <a:p>
            <a:fld id="{700D5D82-5847-4FBF-AA5C-250B90279A0A}" type="datetime1">
              <a:rPr lang="en-GB" smtClean="0"/>
              <a:t>30/04/2024</a:t>
            </a:fld>
            <a:endParaRPr lang="en-GB"/>
          </a:p>
        </p:txBody>
      </p:sp>
      <p:sp>
        <p:nvSpPr>
          <p:cNvPr id="6" name="Espace réservé du pied de page 5"/>
          <p:cNvSpPr>
            <a:spLocks noGrp="1"/>
          </p:cNvSpPr>
          <p:nvPr>
            <p:ph type="ftr" sz="quarter" idx="11"/>
          </p:nvPr>
        </p:nvSpPr>
        <p:spPr/>
        <p:txBody>
          <a:bodyPr/>
          <a:lstStyle/>
          <a:p>
            <a:r>
              <a:rPr lang="en-GB"/>
              <a:t>CIRAD_2024</a:t>
            </a:r>
          </a:p>
        </p:txBody>
      </p:sp>
      <p:sp>
        <p:nvSpPr>
          <p:cNvPr id="7" name="Espace réservé du numéro de diapositive 6"/>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2864477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en-GB"/>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7" name="Espace réservé de la date 6"/>
          <p:cNvSpPr>
            <a:spLocks noGrp="1"/>
          </p:cNvSpPr>
          <p:nvPr>
            <p:ph type="dt" sz="half" idx="10"/>
          </p:nvPr>
        </p:nvSpPr>
        <p:spPr/>
        <p:txBody>
          <a:bodyPr/>
          <a:lstStyle/>
          <a:p>
            <a:fld id="{123873E3-D73A-4AF4-8D15-D6C64C97C4EE}" type="datetime1">
              <a:rPr lang="en-GB" smtClean="0"/>
              <a:t>30/04/2024</a:t>
            </a:fld>
            <a:endParaRPr lang="en-GB"/>
          </a:p>
        </p:txBody>
      </p:sp>
      <p:sp>
        <p:nvSpPr>
          <p:cNvPr id="8" name="Espace réservé du pied de page 7"/>
          <p:cNvSpPr>
            <a:spLocks noGrp="1"/>
          </p:cNvSpPr>
          <p:nvPr>
            <p:ph type="ftr" sz="quarter" idx="11"/>
          </p:nvPr>
        </p:nvSpPr>
        <p:spPr/>
        <p:txBody>
          <a:bodyPr/>
          <a:lstStyle/>
          <a:p>
            <a:r>
              <a:rPr lang="en-GB"/>
              <a:t>CIRAD_2024</a:t>
            </a:r>
          </a:p>
        </p:txBody>
      </p:sp>
      <p:sp>
        <p:nvSpPr>
          <p:cNvPr id="9" name="Espace réservé du numéro de diapositive 8"/>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774889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GB"/>
          </a:p>
        </p:txBody>
      </p:sp>
      <p:sp>
        <p:nvSpPr>
          <p:cNvPr id="3" name="Espace réservé de la date 2"/>
          <p:cNvSpPr>
            <a:spLocks noGrp="1"/>
          </p:cNvSpPr>
          <p:nvPr>
            <p:ph type="dt" sz="half" idx="10"/>
          </p:nvPr>
        </p:nvSpPr>
        <p:spPr/>
        <p:txBody>
          <a:bodyPr/>
          <a:lstStyle/>
          <a:p>
            <a:fld id="{AB5F3BAA-5590-47EF-9317-FE5646ACC5BE}" type="datetime1">
              <a:rPr lang="en-GB" smtClean="0"/>
              <a:t>30/04/2024</a:t>
            </a:fld>
            <a:endParaRPr lang="en-GB"/>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14477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A3C5ED3-D13A-4505-9C53-565D79DFF42F}" type="datetime1">
              <a:rPr lang="en-GB" smtClean="0"/>
              <a:t>30/04/2024</a:t>
            </a:fld>
            <a:endParaRPr lang="en-GB"/>
          </a:p>
        </p:txBody>
      </p:sp>
      <p:sp>
        <p:nvSpPr>
          <p:cNvPr id="3" name="Espace réservé du pied de page 2"/>
          <p:cNvSpPr>
            <a:spLocks noGrp="1"/>
          </p:cNvSpPr>
          <p:nvPr>
            <p:ph type="ftr" sz="quarter" idx="11"/>
          </p:nvPr>
        </p:nvSpPr>
        <p:spPr/>
        <p:txBody>
          <a:bodyPr/>
          <a:lstStyle/>
          <a:p>
            <a:r>
              <a:rPr lang="en-GB"/>
              <a:t>CIRAD_2024</a:t>
            </a:r>
          </a:p>
        </p:txBody>
      </p:sp>
      <p:sp>
        <p:nvSpPr>
          <p:cNvPr id="4" name="Espace réservé du numéro de diapositive 3"/>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371005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18A1D833-A1E2-494E-B327-259AA1E32681}" type="datetime1">
              <a:rPr lang="en-GB" smtClean="0"/>
              <a:t>30/04/2024</a:t>
            </a:fld>
            <a:endParaRPr lang="en-GB"/>
          </a:p>
        </p:txBody>
      </p:sp>
      <p:sp>
        <p:nvSpPr>
          <p:cNvPr id="6" name="Espace réservé du pied de page 5"/>
          <p:cNvSpPr>
            <a:spLocks noGrp="1"/>
          </p:cNvSpPr>
          <p:nvPr>
            <p:ph type="ftr" sz="quarter" idx="11"/>
          </p:nvPr>
        </p:nvSpPr>
        <p:spPr/>
        <p:txBody>
          <a:bodyPr/>
          <a:lstStyle/>
          <a:p>
            <a:r>
              <a:rPr lang="en-GB"/>
              <a:t>CIRAD_2024</a:t>
            </a:r>
          </a:p>
        </p:txBody>
      </p:sp>
      <p:sp>
        <p:nvSpPr>
          <p:cNvPr id="7" name="Espace réservé du numéro de diapositive 6"/>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101944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GB"/>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49B96DA-0AC1-4C44-AD96-F2C25146BA9C}" type="datetime1">
              <a:rPr lang="en-GB" smtClean="0"/>
              <a:t>30/04/2024</a:t>
            </a:fld>
            <a:endParaRPr lang="en-GB"/>
          </a:p>
        </p:txBody>
      </p:sp>
      <p:sp>
        <p:nvSpPr>
          <p:cNvPr id="6" name="Espace réservé du pied de page 5"/>
          <p:cNvSpPr>
            <a:spLocks noGrp="1"/>
          </p:cNvSpPr>
          <p:nvPr>
            <p:ph type="ftr" sz="quarter" idx="11"/>
          </p:nvPr>
        </p:nvSpPr>
        <p:spPr/>
        <p:txBody>
          <a:bodyPr/>
          <a:lstStyle/>
          <a:p>
            <a:r>
              <a:rPr lang="en-GB"/>
              <a:t>CIRAD_2024</a:t>
            </a:r>
          </a:p>
        </p:txBody>
      </p:sp>
      <p:sp>
        <p:nvSpPr>
          <p:cNvPr id="7" name="Espace réservé du numéro de diapositive 6"/>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526945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GB"/>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p:cNvSpPr>
            <a:spLocks noGrp="1"/>
          </p:cNvSpPr>
          <p:nvPr>
            <p:ph type="dt" sz="half" idx="10"/>
          </p:nvPr>
        </p:nvSpPr>
        <p:spPr/>
        <p:txBody>
          <a:bodyPr/>
          <a:lstStyle/>
          <a:p>
            <a:fld id="{C635530D-12DD-4711-A900-0DF99F538FDC}" type="datetime1">
              <a:rPr lang="en-GB" smtClean="0"/>
              <a:t>30/04/2024</a:t>
            </a:fld>
            <a:endParaRPr lang="en-GB"/>
          </a:p>
        </p:txBody>
      </p:sp>
      <p:sp>
        <p:nvSpPr>
          <p:cNvPr id="5" name="Espace réservé du pied de page 4"/>
          <p:cNvSpPr>
            <a:spLocks noGrp="1"/>
          </p:cNvSpPr>
          <p:nvPr>
            <p:ph type="ftr" sz="quarter" idx="11"/>
          </p:nvPr>
        </p:nvSpPr>
        <p:spPr/>
        <p:txBody>
          <a:bodyPr/>
          <a:lstStyle/>
          <a:p>
            <a:r>
              <a:rPr lang="en-GB"/>
              <a:t>CIRAD_2024</a:t>
            </a:r>
          </a:p>
        </p:txBody>
      </p:sp>
      <p:sp>
        <p:nvSpPr>
          <p:cNvPr id="6" name="Espace réservé du numéro de diapositive 5"/>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3321457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en-GB"/>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p:cNvSpPr>
            <a:spLocks noGrp="1"/>
          </p:cNvSpPr>
          <p:nvPr>
            <p:ph type="dt" sz="half" idx="10"/>
          </p:nvPr>
        </p:nvSpPr>
        <p:spPr/>
        <p:txBody>
          <a:bodyPr/>
          <a:lstStyle/>
          <a:p>
            <a:fld id="{8AE470FB-84DD-4AC6-A503-F1546CD0E11C}" type="datetime1">
              <a:rPr lang="en-GB" smtClean="0"/>
              <a:t>30/04/2024</a:t>
            </a:fld>
            <a:endParaRPr lang="en-GB"/>
          </a:p>
        </p:txBody>
      </p:sp>
      <p:sp>
        <p:nvSpPr>
          <p:cNvPr id="5" name="Espace réservé du pied de page 4"/>
          <p:cNvSpPr>
            <a:spLocks noGrp="1"/>
          </p:cNvSpPr>
          <p:nvPr>
            <p:ph type="ftr" sz="quarter" idx="11"/>
          </p:nvPr>
        </p:nvSpPr>
        <p:spPr/>
        <p:txBody>
          <a:bodyPr/>
          <a:lstStyle/>
          <a:p>
            <a:r>
              <a:rPr lang="en-GB"/>
              <a:t>CIRAD_2024</a:t>
            </a:r>
          </a:p>
        </p:txBody>
      </p:sp>
      <p:sp>
        <p:nvSpPr>
          <p:cNvPr id="6" name="Espace réservé du numéro de diapositive 5"/>
          <p:cNvSpPr>
            <a:spLocks noGrp="1"/>
          </p:cNvSpPr>
          <p:nvPr>
            <p:ph type="sldNum" sz="quarter" idx="12"/>
          </p:nvPr>
        </p:nvSpPr>
        <p:spPr/>
        <p:txBody>
          <a:bodyPr/>
          <a:lstStyle/>
          <a:p>
            <a:fld id="{9590A657-63F5-4AA1-8896-D2E86A40153B}" type="slidenum">
              <a:rPr lang="en-GB" smtClean="0"/>
              <a:t>‹N°›</a:t>
            </a:fld>
            <a:endParaRPr lang="en-GB"/>
          </a:p>
        </p:txBody>
      </p:sp>
    </p:spTree>
    <p:extLst>
      <p:ext uri="{BB962C8B-B14F-4D97-AF65-F5344CB8AC3E}">
        <p14:creationId xmlns:p14="http://schemas.microsoft.com/office/powerpoint/2010/main" val="3309446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GB"/>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4051B2-9A76-4D79-A928-E7B2245AEA56}" type="datetime1">
              <a:rPr lang="en-GB" smtClean="0"/>
              <a:t>30/04/2024</a:t>
            </a:fld>
            <a:endParaRPr lang="en-GB"/>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CIRAD_2024</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90A657-63F5-4AA1-8896-D2E86A40153B}" type="slidenum">
              <a:rPr lang="en-GB" smtClean="0"/>
              <a:t>‹N°›</a:t>
            </a:fld>
            <a:endParaRPr lang="en-GB"/>
          </a:p>
        </p:txBody>
      </p:sp>
    </p:spTree>
    <p:extLst>
      <p:ext uri="{BB962C8B-B14F-4D97-AF65-F5344CB8AC3E}">
        <p14:creationId xmlns:p14="http://schemas.microsoft.com/office/powerpoint/2010/main" val="2774020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98383" y="474445"/>
            <a:ext cx="2084171" cy="2706716"/>
          </a:xfrm>
          <a:prstGeom prst="rect">
            <a:avLst/>
          </a:prstGeom>
        </p:spPr>
      </p:pic>
      <p:pic>
        <p:nvPicPr>
          <p:cNvPr id="3" name="Image 2"/>
          <p:cNvPicPr>
            <a:picLocks noChangeAspect="1"/>
          </p:cNvPicPr>
          <p:nvPr/>
        </p:nvPicPr>
        <p:blipFill>
          <a:blip r:embed="rId3"/>
          <a:stretch>
            <a:fillRect/>
          </a:stretch>
        </p:blipFill>
        <p:spPr>
          <a:xfrm>
            <a:off x="9162799" y="474445"/>
            <a:ext cx="2082103" cy="2701892"/>
          </a:xfrm>
          <a:prstGeom prst="rect">
            <a:avLst/>
          </a:prstGeom>
        </p:spPr>
      </p:pic>
      <p:pic>
        <p:nvPicPr>
          <p:cNvPr id="4" name="Image 3"/>
          <p:cNvPicPr>
            <a:picLocks noChangeAspect="1"/>
          </p:cNvPicPr>
          <p:nvPr/>
        </p:nvPicPr>
        <p:blipFill>
          <a:blip r:embed="rId4"/>
          <a:stretch>
            <a:fillRect/>
          </a:stretch>
        </p:blipFill>
        <p:spPr>
          <a:xfrm>
            <a:off x="298383" y="3709132"/>
            <a:ext cx="2084171" cy="2760850"/>
          </a:xfrm>
          <a:prstGeom prst="rect">
            <a:avLst/>
          </a:prstGeom>
        </p:spPr>
      </p:pic>
      <p:pic>
        <p:nvPicPr>
          <p:cNvPr id="5" name="Image 4"/>
          <p:cNvPicPr>
            <a:picLocks noChangeAspect="1"/>
          </p:cNvPicPr>
          <p:nvPr/>
        </p:nvPicPr>
        <p:blipFill>
          <a:blip r:embed="rId5"/>
          <a:stretch>
            <a:fillRect/>
          </a:stretch>
        </p:blipFill>
        <p:spPr>
          <a:xfrm>
            <a:off x="9330136" y="3693192"/>
            <a:ext cx="2105917" cy="2707608"/>
          </a:xfrm>
          <a:prstGeom prst="rect">
            <a:avLst/>
          </a:prstGeom>
        </p:spPr>
      </p:pic>
      <p:pic>
        <p:nvPicPr>
          <p:cNvPr id="6" name="Image 5"/>
          <p:cNvPicPr>
            <a:picLocks noChangeAspect="1"/>
          </p:cNvPicPr>
          <p:nvPr/>
        </p:nvPicPr>
        <p:blipFill>
          <a:blip r:embed="rId6"/>
          <a:stretch>
            <a:fillRect/>
          </a:stretch>
        </p:blipFill>
        <p:spPr>
          <a:xfrm>
            <a:off x="6829771" y="474445"/>
            <a:ext cx="2044721" cy="2695314"/>
          </a:xfrm>
          <a:prstGeom prst="rect">
            <a:avLst/>
          </a:prstGeom>
        </p:spPr>
      </p:pic>
      <p:pic>
        <p:nvPicPr>
          <p:cNvPr id="7" name="Image 6"/>
          <p:cNvPicPr>
            <a:picLocks noChangeAspect="1"/>
          </p:cNvPicPr>
          <p:nvPr/>
        </p:nvPicPr>
        <p:blipFill>
          <a:blip r:embed="rId7"/>
          <a:stretch>
            <a:fillRect/>
          </a:stretch>
        </p:blipFill>
        <p:spPr>
          <a:xfrm>
            <a:off x="2522133" y="3709132"/>
            <a:ext cx="2007720" cy="2691668"/>
          </a:xfrm>
          <a:prstGeom prst="rect">
            <a:avLst/>
          </a:prstGeom>
        </p:spPr>
      </p:pic>
      <p:pic>
        <p:nvPicPr>
          <p:cNvPr id="8" name="Image 7"/>
          <p:cNvPicPr>
            <a:picLocks noChangeAspect="1"/>
          </p:cNvPicPr>
          <p:nvPr/>
        </p:nvPicPr>
        <p:blipFill>
          <a:blip r:embed="rId8"/>
          <a:stretch>
            <a:fillRect/>
          </a:stretch>
        </p:blipFill>
        <p:spPr>
          <a:xfrm>
            <a:off x="2484267" y="474445"/>
            <a:ext cx="2106482" cy="2706716"/>
          </a:xfrm>
          <a:prstGeom prst="rect">
            <a:avLst/>
          </a:prstGeom>
        </p:spPr>
      </p:pic>
      <p:pic>
        <p:nvPicPr>
          <p:cNvPr id="9" name="Image 8"/>
          <p:cNvPicPr>
            <a:picLocks noChangeAspect="1"/>
          </p:cNvPicPr>
          <p:nvPr/>
        </p:nvPicPr>
        <p:blipFill>
          <a:blip r:embed="rId9"/>
          <a:stretch>
            <a:fillRect/>
          </a:stretch>
        </p:blipFill>
        <p:spPr>
          <a:xfrm>
            <a:off x="6977441" y="3693192"/>
            <a:ext cx="2128113" cy="2776789"/>
          </a:xfrm>
          <a:prstGeom prst="rect">
            <a:avLst/>
          </a:prstGeom>
        </p:spPr>
      </p:pic>
      <p:pic>
        <p:nvPicPr>
          <p:cNvPr id="10" name="Image 9"/>
          <p:cNvPicPr>
            <a:picLocks noChangeAspect="1"/>
          </p:cNvPicPr>
          <p:nvPr/>
        </p:nvPicPr>
        <p:blipFill>
          <a:blip r:embed="rId10"/>
          <a:stretch>
            <a:fillRect/>
          </a:stretch>
        </p:blipFill>
        <p:spPr>
          <a:xfrm>
            <a:off x="4692462" y="3709133"/>
            <a:ext cx="2060397" cy="2691668"/>
          </a:xfrm>
          <a:prstGeom prst="rect">
            <a:avLst/>
          </a:prstGeom>
        </p:spPr>
      </p:pic>
      <p:pic>
        <p:nvPicPr>
          <p:cNvPr id="11" name="Image 10"/>
          <p:cNvPicPr>
            <a:picLocks noChangeAspect="1"/>
          </p:cNvPicPr>
          <p:nvPr/>
        </p:nvPicPr>
        <p:blipFill>
          <a:blip r:embed="rId11"/>
          <a:stretch>
            <a:fillRect/>
          </a:stretch>
        </p:blipFill>
        <p:spPr>
          <a:xfrm>
            <a:off x="4692462" y="474445"/>
            <a:ext cx="2035597" cy="2703006"/>
          </a:xfrm>
          <a:prstGeom prst="rect">
            <a:avLst/>
          </a:prstGeom>
        </p:spPr>
      </p:pic>
      <p:sp>
        <p:nvSpPr>
          <p:cNvPr id="12" name="Espace réservé du pied de page 11"/>
          <p:cNvSpPr>
            <a:spLocks noGrp="1"/>
          </p:cNvSpPr>
          <p:nvPr>
            <p:ph type="ftr" sz="quarter" idx="11"/>
          </p:nvPr>
        </p:nvSpPr>
        <p:spPr/>
        <p:txBody>
          <a:bodyPr/>
          <a:lstStyle/>
          <a:p>
            <a:r>
              <a:rPr lang="en-GB"/>
              <a:t>CIRAD_2024</a:t>
            </a:r>
          </a:p>
        </p:txBody>
      </p:sp>
      <p:sp>
        <p:nvSpPr>
          <p:cNvPr id="13" name="Espace réservé du numéro de diapositive 12"/>
          <p:cNvSpPr>
            <a:spLocks noGrp="1"/>
          </p:cNvSpPr>
          <p:nvPr>
            <p:ph type="sldNum" sz="quarter" idx="12"/>
          </p:nvPr>
        </p:nvSpPr>
        <p:spPr/>
        <p:txBody>
          <a:bodyPr/>
          <a:lstStyle/>
          <a:p>
            <a:fld id="{9590A657-63F5-4AA1-8896-D2E86A40153B}" type="slidenum">
              <a:rPr lang="en-GB" smtClean="0"/>
              <a:t>1</a:t>
            </a:fld>
            <a:endParaRPr lang="en-GB"/>
          </a:p>
        </p:txBody>
      </p:sp>
    </p:spTree>
    <p:extLst>
      <p:ext uri="{BB962C8B-B14F-4D97-AF65-F5344CB8AC3E}">
        <p14:creationId xmlns:p14="http://schemas.microsoft.com/office/powerpoint/2010/main" val="18746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B320189-E1CA-7D22-7FB3-AEA2AB2C0F18}"/>
              </a:ext>
            </a:extLst>
          </p:cNvPr>
          <p:cNvSpPr>
            <a:spLocks noGrp="1"/>
          </p:cNvSpPr>
          <p:nvPr>
            <p:ph type="sldNum" sz="quarter" idx="12"/>
          </p:nvPr>
        </p:nvSpPr>
        <p:spPr/>
        <p:txBody>
          <a:bodyPr/>
          <a:lstStyle/>
          <a:p>
            <a:fld id="{546FBEAA-79D1-4294-A385-7208DD4246DA}" type="slidenum">
              <a:rPr lang="fr-FR" smtClean="0"/>
              <a:t>2</a:t>
            </a:fld>
            <a:endParaRPr lang="fr-FR"/>
          </a:p>
        </p:txBody>
      </p:sp>
      <p:pic>
        <p:nvPicPr>
          <p:cNvPr id="4" name="Image 3">
            <a:extLst>
              <a:ext uri="{FF2B5EF4-FFF2-40B4-BE49-F238E27FC236}">
                <a16:creationId xmlns:a16="http://schemas.microsoft.com/office/drawing/2014/main" id="{BE741AB7-9E8E-15CD-95D6-84A3AC3AEA31}"/>
              </a:ext>
            </a:extLst>
          </p:cNvPr>
          <p:cNvPicPr>
            <a:picLocks noChangeAspect="1"/>
          </p:cNvPicPr>
          <p:nvPr/>
        </p:nvPicPr>
        <p:blipFill>
          <a:blip r:embed="rId2"/>
          <a:stretch>
            <a:fillRect/>
          </a:stretch>
        </p:blipFill>
        <p:spPr>
          <a:xfrm>
            <a:off x="1450834" y="136525"/>
            <a:ext cx="9290331" cy="6492469"/>
          </a:xfrm>
          <a:prstGeom prst="rect">
            <a:avLst/>
          </a:prstGeom>
        </p:spPr>
      </p:pic>
      <p:sp>
        <p:nvSpPr>
          <p:cNvPr id="3" name="Espace réservé du pied de page 2">
            <a:extLst>
              <a:ext uri="{FF2B5EF4-FFF2-40B4-BE49-F238E27FC236}">
                <a16:creationId xmlns:a16="http://schemas.microsoft.com/office/drawing/2014/main" id="{EB1280A2-57F5-A597-C30A-FB2F8ADACC2F}"/>
              </a:ext>
            </a:extLst>
          </p:cNvPr>
          <p:cNvSpPr>
            <a:spLocks noGrp="1"/>
          </p:cNvSpPr>
          <p:nvPr>
            <p:ph type="ftr" sz="quarter" idx="11"/>
          </p:nvPr>
        </p:nvSpPr>
        <p:spPr/>
        <p:txBody>
          <a:bodyPr/>
          <a:lstStyle/>
          <a:p>
            <a:r>
              <a:rPr lang="fr-FR"/>
              <a:t>CIRAD_2024</a:t>
            </a:r>
          </a:p>
        </p:txBody>
      </p:sp>
    </p:spTree>
    <p:extLst>
      <p:ext uri="{BB962C8B-B14F-4D97-AF65-F5344CB8AC3E}">
        <p14:creationId xmlns:p14="http://schemas.microsoft.com/office/powerpoint/2010/main" val="500310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b="1" dirty="0">
                <a:solidFill>
                  <a:schemeClr val="accent5"/>
                </a:solidFill>
                <a:latin typeface="+mn-lt"/>
              </a:rPr>
              <a:t>Elements of style</a:t>
            </a:r>
          </a:p>
        </p:txBody>
      </p:sp>
      <p:sp>
        <p:nvSpPr>
          <p:cNvPr id="3" name="Espace réservé du contenu 2"/>
          <p:cNvSpPr>
            <a:spLocks noGrp="1"/>
          </p:cNvSpPr>
          <p:nvPr>
            <p:ph idx="1"/>
          </p:nvPr>
        </p:nvSpPr>
        <p:spPr/>
        <p:txBody>
          <a:bodyPr/>
          <a:lstStyle/>
          <a:p>
            <a:r>
              <a:rPr lang="en-GB" dirty="0"/>
              <a:t>Start with your main point</a:t>
            </a:r>
          </a:p>
          <a:p>
            <a:r>
              <a:rPr lang="en-GB" dirty="0"/>
              <a:t>Coherent paragraph</a:t>
            </a:r>
          </a:p>
          <a:p>
            <a:r>
              <a:rPr lang="en-GB" dirty="0"/>
              <a:t>What not to say</a:t>
            </a:r>
          </a:p>
          <a:p>
            <a:r>
              <a:rPr lang="en-GB" dirty="0"/>
              <a:t>Use simple language to describe complex ideas</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3</a:t>
            </a:fld>
            <a:endParaRPr lang="en-GB"/>
          </a:p>
        </p:txBody>
      </p:sp>
    </p:spTree>
    <p:extLst>
      <p:ext uri="{BB962C8B-B14F-4D97-AF65-F5344CB8AC3E}">
        <p14:creationId xmlns:p14="http://schemas.microsoft.com/office/powerpoint/2010/main" val="119947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b="1" dirty="0">
                <a:solidFill>
                  <a:schemeClr val="accent5"/>
                </a:solidFill>
                <a:latin typeface="+mn-lt"/>
              </a:rPr>
              <a:t>Start with your main point</a:t>
            </a:r>
          </a:p>
        </p:txBody>
      </p:sp>
      <p:sp>
        <p:nvSpPr>
          <p:cNvPr id="3" name="Espace réservé du contenu 2"/>
          <p:cNvSpPr>
            <a:spLocks noGrp="1"/>
          </p:cNvSpPr>
          <p:nvPr>
            <p:ph idx="1"/>
          </p:nvPr>
        </p:nvSpPr>
        <p:spPr/>
        <p:txBody>
          <a:bodyPr>
            <a:normAutofit/>
          </a:bodyPr>
          <a:lstStyle/>
          <a:p>
            <a:pPr marL="0" indent="0">
              <a:buNone/>
            </a:pPr>
            <a:endParaRPr lang="en-GB" dirty="0"/>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4</a:t>
            </a:fld>
            <a:endParaRPr lang="en-GB"/>
          </a:p>
        </p:txBody>
      </p:sp>
    </p:spTree>
    <p:extLst>
      <p:ext uri="{BB962C8B-B14F-4D97-AF65-F5344CB8AC3E}">
        <p14:creationId xmlns:p14="http://schemas.microsoft.com/office/powerpoint/2010/main" val="3418949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2288" y="242486"/>
            <a:ext cx="11690445" cy="4351338"/>
          </a:xfrm>
        </p:spPr>
        <p:txBody>
          <a:bodyPr>
            <a:noAutofit/>
          </a:bodyPr>
          <a:lstStyle/>
          <a:p>
            <a:pPr marL="0" indent="0">
              <a:buNone/>
            </a:pPr>
            <a:r>
              <a:rPr lang="en-GB" dirty="0"/>
              <a:t>There is no central registry of veterans that identifies them as such, and not all veterans are counted by the Department of Veterans Affairs (VA) because only about 50 per cent of veterans ever register with the VA. The Department of </a:t>
            </a:r>
            <a:r>
              <a:rPr lang="en-GB" dirty="0" err="1"/>
              <a:t>Defense</a:t>
            </a:r>
            <a:r>
              <a:rPr lang="en-GB" dirty="0"/>
              <a:t> (DOD) and the US </a:t>
            </a:r>
            <a:r>
              <a:rPr lang="en-GB" dirty="0" err="1"/>
              <a:t>Centers</a:t>
            </a:r>
            <a:r>
              <a:rPr lang="en-GB" dirty="0"/>
              <a:t> for Disease Control and Prevention have partnered with the VA to share databases in an effort to more accurately estimate the number of veterans who commit suicide, but it’s still an imperfect system. The best estimate to date is that 22 veterans die by suicide daily, and more recent data suggest that the rate may be higher for veterans under the age of 30. For those still serving on active duty, DOD has more accurate count of suicide numbers because it investigates all of these events. Over the last decade, the number of suicides among service members slowly increased, hitting a high of 349 in 2012 and surpassing the number of service members lost in combat. The VA cannot accurately estimate the number of veterans who commit suicide without better data.</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5</a:t>
            </a:fld>
            <a:endParaRPr lang="en-GB"/>
          </a:p>
        </p:txBody>
      </p:sp>
    </p:spTree>
    <p:extLst>
      <p:ext uri="{BB962C8B-B14F-4D97-AF65-F5344CB8AC3E}">
        <p14:creationId xmlns:p14="http://schemas.microsoft.com/office/powerpoint/2010/main" val="2674532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2288" y="242486"/>
            <a:ext cx="11690445" cy="4351338"/>
          </a:xfrm>
        </p:spPr>
        <p:txBody>
          <a:bodyPr>
            <a:noAutofit/>
          </a:bodyPr>
          <a:lstStyle/>
          <a:p>
            <a:pPr marL="0" indent="0">
              <a:buNone/>
            </a:pPr>
            <a:r>
              <a:rPr lang="en-GB" dirty="0"/>
              <a:t>The Department of Veterans Affairs (VA) cannot accurately estimate the number of veterans who commit suicide without better data. There is no central registry of veterans that identifies them as such, and not all veterans are counted by the VA because only about 50 per cent of veterans ever register with the VA. The Department of </a:t>
            </a:r>
            <a:r>
              <a:rPr lang="en-GB" dirty="0" err="1"/>
              <a:t>Defense</a:t>
            </a:r>
            <a:r>
              <a:rPr lang="en-GB" dirty="0"/>
              <a:t> (DOD) and the US </a:t>
            </a:r>
            <a:r>
              <a:rPr lang="en-GB" dirty="0" err="1"/>
              <a:t>Centers</a:t>
            </a:r>
            <a:r>
              <a:rPr lang="en-GB" dirty="0"/>
              <a:t> for Disease Control and Prevention have partnered with the VA to share databases in an effort to more accurately estimate the number of veterans who commit suicide, but it’s still an imperfect system. The best estimate to date is that 22 veterans die by suicide daily, and more recent data suggest that the rate may be higher for veterans under the age of 30. For those still serving on active duty, DOD has more accurate count of suicide numbers because it investigates all of these events. Over the last decade, the number of suicides among service members slowly increased, hitting a high of 349 in 2012 and surpassing the number of service members lost in combat.</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6</a:t>
            </a:fld>
            <a:endParaRPr lang="en-GB"/>
          </a:p>
        </p:txBody>
      </p:sp>
    </p:spTree>
    <p:extLst>
      <p:ext uri="{BB962C8B-B14F-4D97-AF65-F5344CB8AC3E}">
        <p14:creationId xmlns:p14="http://schemas.microsoft.com/office/powerpoint/2010/main" val="416824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92288" y="242486"/>
            <a:ext cx="11690445" cy="4351338"/>
          </a:xfrm>
        </p:spPr>
        <p:txBody>
          <a:bodyPr>
            <a:noAutofit/>
          </a:bodyPr>
          <a:lstStyle/>
          <a:p>
            <a:pPr marL="0" indent="0">
              <a:buNone/>
            </a:pPr>
            <a:r>
              <a:rPr lang="en-GB" b="1" dirty="0"/>
              <a:t>The Department of Veterans Affairs (VA) cannot accurately estimate the number of veterans who commit suicide without better data. </a:t>
            </a:r>
          </a:p>
          <a:p>
            <a:pPr marL="0" indent="0">
              <a:buNone/>
            </a:pPr>
            <a:r>
              <a:rPr lang="en-GB" dirty="0"/>
              <a:t>			   There is no central registry of veterans that identifies them as such, and not all veterans are counted by the VA because only about 50 per cent of veterans ever register with the VA. The Department of </a:t>
            </a:r>
            <a:r>
              <a:rPr lang="en-GB" dirty="0" err="1"/>
              <a:t>Defense</a:t>
            </a:r>
            <a:r>
              <a:rPr lang="en-GB" dirty="0"/>
              <a:t> (DOD) and the US </a:t>
            </a:r>
            <a:r>
              <a:rPr lang="en-GB" dirty="0" err="1"/>
              <a:t>Centers</a:t>
            </a:r>
            <a:r>
              <a:rPr lang="en-GB" dirty="0"/>
              <a:t> for Disease Control and Prevention have partnered with the VA to share databases in an effort to more accurately estimate the number of veterans who commit suicide, but it’s still an imperfect system. The best estimate to date is that 22 veterans die by suicide daily, and more recent data suggest that the rate may be higher for veterans under the age of 30. For those still serving on active duty, DOD has more accurate count of suicide numbers because it investigates all of these events. Over the last decade, the number of suicides among service members slowly increased, hitting a high of 349 in 2012 and surpassing the number of service members lost in combat.</a:t>
            </a:r>
          </a:p>
        </p:txBody>
      </p:sp>
      <p:sp>
        <p:nvSpPr>
          <p:cNvPr id="4" name="Espace réservé du pied de page 3"/>
          <p:cNvSpPr>
            <a:spLocks noGrp="1"/>
          </p:cNvSpPr>
          <p:nvPr>
            <p:ph type="ftr" sz="quarter" idx="11"/>
          </p:nvPr>
        </p:nvSpPr>
        <p:spPr/>
        <p:txBody>
          <a:bodyPr/>
          <a:lstStyle/>
          <a:p>
            <a:r>
              <a:rPr lang="en-GB"/>
              <a:t>CIRAD_2024</a:t>
            </a:r>
            <a:endParaRPr lang="en-GB" dirty="0"/>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7</a:t>
            </a:fld>
            <a:endParaRPr lang="en-GB" dirty="0"/>
          </a:p>
        </p:txBody>
      </p:sp>
      <p:sp>
        <p:nvSpPr>
          <p:cNvPr id="6" name="Bulle ronde 5"/>
          <p:cNvSpPr/>
          <p:nvPr/>
        </p:nvSpPr>
        <p:spPr>
          <a:xfrm rot="10800000" flipV="1">
            <a:off x="4572001" y="1069301"/>
            <a:ext cx="2811438" cy="1168932"/>
          </a:xfrm>
          <a:prstGeom prst="wedgeEllipseCallout">
            <a:avLst>
              <a:gd name="adj1" fmla="val 46561"/>
              <a:gd name="adj2" fmla="val -776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Main point</a:t>
            </a:r>
          </a:p>
        </p:txBody>
      </p:sp>
      <p:sp>
        <p:nvSpPr>
          <p:cNvPr id="7" name="Bulle ronde 6"/>
          <p:cNvSpPr/>
          <p:nvPr/>
        </p:nvSpPr>
        <p:spPr>
          <a:xfrm>
            <a:off x="2961564" y="2756848"/>
            <a:ext cx="3739487" cy="1542197"/>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Discussion of data and evidence</a:t>
            </a:r>
          </a:p>
        </p:txBody>
      </p:sp>
      <p:sp>
        <p:nvSpPr>
          <p:cNvPr id="8" name="ZoneTexte 7"/>
          <p:cNvSpPr txBox="1"/>
          <p:nvPr/>
        </p:nvSpPr>
        <p:spPr>
          <a:xfrm>
            <a:off x="6237027" y="6015692"/>
            <a:ext cx="5513696" cy="523220"/>
          </a:xfrm>
          <a:prstGeom prst="rect">
            <a:avLst/>
          </a:prstGeom>
          <a:solidFill>
            <a:srgbClr val="FFFF00"/>
          </a:solidFill>
        </p:spPr>
        <p:txBody>
          <a:bodyPr wrap="square" rtlCol="0">
            <a:spAutoFit/>
          </a:bodyPr>
          <a:lstStyle/>
          <a:p>
            <a:r>
              <a:rPr lang="en-GB" sz="2800" b="1" dirty="0"/>
              <a:t>Illustration of a deductive structure</a:t>
            </a:r>
          </a:p>
        </p:txBody>
      </p:sp>
    </p:spTree>
    <p:extLst>
      <p:ext uri="{BB962C8B-B14F-4D97-AF65-F5344CB8AC3E}">
        <p14:creationId xmlns:p14="http://schemas.microsoft.com/office/powerpoint/2010/main" val="3769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4800" b="1" dirty="0">
                <a:solidFill>
                  <a:schemeClr val="accent5"/>
                </a:solidFill>
                <a:latin typeface="+mn-lt"/>
              </a:rPr>
              <a:t>Start with your main point</a:t>
            </a:r>
          </a:p>
        </p:txBody>
      </p:sp>
      <p:sp>
        <p:nvSpPr>
          <p:cNvPr id="3" name="Espace réservé du contenu 2"/>
          <p:cNvSpPr>
            <a:spLocks noGrp="1"/>
          </p:cNvSpPr>
          <p:nvPr>
            <p:ph idx="1"/>
          </p:nvPr>
        </p:nvSpPr>
        <p:spPr/>
        <p:txBody>
          <a:bodyPr/>
          <a:lstStyle/>
          <a:p>
            <a:endParaRPr lang="en-GB" dirty="0"/>
          </a:p>
          <a:p>
            <a:r>
              <a:rPr lang="en-GB" dirty="0"/>
              <a:t>It applies to the </a:t>
            </a:r>
            <a:r>
              <a:rPr lang="en-GB" b="1" dirty="0"/>
              <a:t>paragraph</a:t>
            </a:r>
          </a:p>
          <a:p>
            <a:endParaRPr lang="en-GB" dirty="0"/>
          </a:p>
          <a:p>
            <a:r>
              <a:rPr lang="en-GB" dirty="0"/>
              <a:t>It applies to the </a:t>
            </a:r>
            <a:r>
              <a:rPr lang="en-GB" b="1" dirty="0"/>
              <a:t>sentence</a:t>
            </a:r>
          </a:p>
          <a:p>
            <a:endParaRPr lang="en-GB" dirty="0"/>
          </a:p>
          <a:p>
            <a:r>
              <a:rPr lang="en-GB" dirty="0"/>
              <a:t>It applies to the </a:t>
            </a:r>
            <a:r>
              <a:rPr lang="en-GB" b="1" dirty="0"/>
              <a:t>title</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8</a:t>
            </a:fld>
            <a:endParaRPr lang="en-GB"/>
          </a:p>
        </p:txBody>
      </p:sp>
    </p:spTree>
    <p:extLst>
      <p:ext uri="{BB962C8B-B14F-4D97-AF65-F5344CB8AC3E}">
        <p14:creationId xmlns:p14="http://schemas.microsoft.com/office/powerpoint/2010/main" val="3186712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4800" b="1" dirty="0">
                <a:solidFill>
                  <a:schemeClr val="accent5"/>
                </a:solidFill>
                <a:latin typeface="+mn-lt"/>
              </a:rPr>
              <a:t>Coherent paragraph</a:t>
            </a:r>
          </a:p>
        </p:txBody>
      </p:sp>
      <p:sp>
        <p:nvSpPr>
          <p:cNvPr id="3" name="Espace réservé du contenu 2"/>
          <p:cNvSpPr>
            <a:spLocks noGrp="1"/>
          </p:cNvSpPr>
          <p:nvPr>
            <p:ph idx="1"/>
          </p:nvPr>
        </p:nvSpPr>
        <p:spPr/>
        <p:txBody>
          <a:bodyPr/>
          <a:lstStyle/>
          <a:p>
            <a:r>
              <a:rPr lang="en-GB" dirty="0"/>
              <a:t>Use repetition when it is needed </a:t>
            </a:r>
            <a:r>
              <a:rPr lang="en-GB"/>
              <a:t>for accuracy</a:t>
            </a:r>
            <a:endParaRPr lang="en-GB" dirty="0"/>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9</a:t>
            </a:fld>
            <a:endParaRPr lang="en-GB"/>
          </a:p>
        </p:txBody>
      </p:sp>
    </p:spTree>
    <p:extLst>
      <p:ext uri="{BB962C8B-B14F-4D97-AF65-F5344CB8AC3E}">
        <p14:creationId xmlns:p14="http://schemas.microsoft.com/office/powerpoint/2010/main" val="774528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4800" b="1" dirty="0">
                <a:solidFill>
                  <a:schemeClr val="accent5"/>
                </a:solidFill>
                <a:latin typeface="+mn-lt"/>
              </a:rPr>
              <a:t>What not to say: delete needless words</a:t>
            </a:r>
          </a:p>
        </p:txBody>
      </p:sp>
      <p:sp>
        <p:nvSpPr>
          <p:cNvPr id="6" name="Espace réservé du contenu 5"/>
          <p:cNvSpPr>
            <a:spLocks noGrp="1"/>
          </p:cNvSpPr>
          <p:nvPr>
            <p:ph idx="1"/>
          </p:nvPr>
        </p:nvSpPr>
        <p:spPr/>
        <p:txBody>
          <a:bodyPr/>
          <a:lstStyle/>
          <a:p>
            <a:pPr marL="0" indent="0">
              <a:buNone/>
            </a:pPr>
            <a:r>
              <a:rPr lang="en-GB" dirty="0"/>
              <a:t>When possible, compress several words into a word or two</a:t>
            </a:r>
          </a:p>
          <a:p>
            <a:endParaRPr lang="en-GB" dirty="0"/>
          </a:p>
          <a:p>
            <a:r>
              <a:rPr lang="en-GB" dirty="0"/>
              <a:t>Draft: We are in a position to make a recommendation that will improve the program.</a:t>
            </a:r>
          </a:p>
          <a:p>
            <a:r>
              <a:rPr lang="en-GB" dirty="0"/>
              <a:t>Revision: We can make a recommendation that will improve the program.</a:t>
            </a:r>
          </a:p>
          <a:p>
            <a:r>
              <a:rPr lang="en-GB" dirty="0"/>
              <a:t>Further revision: We can recommend an improvement.</a:t>
            </a:r>
          </a:p>
          <a:p>
            <a:endParaRPr lang="en-GB" dirty="0"/>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10</a:t>
            </a:fld>
            <a:endParaRPr lang="en-GB"/>
          </a:p>
        </p:txBody>
      </p:sp>
    </p:spTree>
    <p:extLst>
      <p:ext uri="{BB962C8B-B14F-4D97-AF65-F5344CB8AC3E}">
        <p14:creationId xmlns:p14="http://schemas.microsoft.com/office/powerpoint/2010/main" val="1342998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4800" b="1" dirty="0">
                <a:solidFill>
                  <a:schemeClr val="accent5"/>
                </a:solidFill>
                <a:latin typeface="+mn-lt"/>
              </a:rPr>
              <a:t>What not to say: delete needless words</a:t>
            </a:r>
          </a:p>
        </p:txBody>
      </p:sp>
      <p:sp>
        <p:nvSpPr>
          <p:cNvPr id="6" name="Espace réservé du contenu 5"/>
          <p:cNvSpPr>
            <a:spLocks noGrp="1"/>
          </p:cNvSpPr>
          <p:nvPr>
            <p:ph idx="1"/>
          </p:nvPr>
        </p:nvSpPr>
        <p:spPr/>
        <p:txBody>
          <a:bodyPr/>
          <a:lstStyle/>
          <a:p>
            <a:pPr marL="0" indent="0">
              <a:buNone/>
            </a:pPr>
            <a:r>
              <a:rPr lang="en-GB" dirty="0"/>
              <a:t>When possible, compress several words into a word or two</a:t>
            </a:r>
          </a:p>
          <a:p>
            <a:endParaRPr lang="en-GB" dirty="0"/>
          </a:p>
          <a:p>
            <a:r>
              <a:rPr lang="en-GB" dirty="0"/>
              <a:t>Draft: In the event that the program fails to meet certain standards…..</a:t>
            </a:r>
          </a:p>
          <a:p>
            <a:r>
              <a:rPr lang="en-GB" dirty="0"/>
              <a:t>Revision: If the program fails……</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11</a:t>
            </a:fld>
            <a:endParaRPr lang="en-GB"/>
          </a:p>
        </p:txBody>
      </p:sp>
    </p:spTree>
    <p:extLst>
      <p:ext uri="{BB962C8B-B14F-4D97-AF65-F5344CB8AC3E}">
        <p14:creationId xmlns:p14="http://schemas.microsoft.com/office/powerpoint/2010/main" val="350872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4800" b="1" dirty="0">
                <a:solidFill>
                  <a:schemeClr val="accent5"/>
                </a:solidFill>
                <a:latin typeface="+mn-lt"/>
              </a:rPr>
              <a:t>What not to say: delete needless words</a:t>
            </a:r>
          </a:p>
        </p:txBody>
      </p:sp>
      <p:sp>
        <p:nvSpPr>
          <p:cNvPr id="6" name="Espace réservé du contenu 5"/>
          <p:cNvSpPr>
            <a:spLocks noGrp="1"/>
          </p:cNvSpPr>
          <p:nvPr>
            <p:ph idx="1"/>
          </p:nvPr>
        </p:nvSpPr>
        <p:spPr/>
        <p:txBody>
          <a:bodyPr>
            <a:normAutofit lnSpcReduction="10000"/>
          </a:bodyPr>
          <a:lstStyle/>
          <a:p>
            <a:pPr marL="0" indent="0">
              <a:buNone/>
            </a:pPr>
            <a:r>
              <a:rPr lang="en-GB" dirty="0"/>
              <a:t>Delete “double words”</a:t>
            </a:r>
          </a:p>
          <a:p>
            <a:r>
              <a:rPr lang="en-GB" dirty="0"/>
              <a:t>Full and complete…</a:t>
            </a:r>
          </a:p>
          <a:p>
            <a:r>
              <a:rPr lang="en-GB" dirty="0"/>
              <a:t>True and accurate…</a:t>
            </a:r>
          </a:p>
          <a:p>
            <a:r>
              <a:rPr lang="en-GB" dirty="0"/>
              <a:t>Could and potentially…</a:t>
            </a:r>
          </a:p>
          <a:p>
            <a:endParaRPr lang="en-GB" dirty="0"/>
          </a:p>
          <a:p>
            <a:pPr marL="0" indent="0">
              <a:buNone/>
            </a:pPr>
            <a:r>
              <a:rPr lang="en-GB" dirty="0"/>
              <a:t>Delete redundant modifiers</a:t>
            </a:r>
          </a:p>
          <a:p>
            <a:r>
              <a:rPr lang="en-GB" dirty="0"/>
              <a:t>Final implies outcome, so…..……final outcome is redundant</a:t>
            </a:r>
          </a:p>
          <a:p>
            <a:r>
              <a:rPr lang="en-GB" dirty="0"/>
              <a:t>Finish implies complete, so……..completely finish is redundant</a:t>
            </a:r>
          </a:p>
          <a:p>
            <a:r>
              <a:rPr lang="en-GB" dirty="0"/>
              <a:t>Young juveniles…       7 am in the morning……</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12</a:t>
            </a:fld>
            <a:endParaRPr lang="en-GB"/>
          </a:p>
        </p:txBody>
      </p:sp>
    </p:spTree>
    <p:extLst>
      <p:ext uri="{BB962C8B-B14F-4D97-AF65-F5344CB8AC3E}">
        <p14:creationId xmlns:p14="http://schemas.microsoft.com/office/powerpoint/2010/main" val="235799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en-GB" sz="4800" b="1" dirty="0">
                <a:solidFill>
                  <a:schemeClr val="accent5"/>
                </a:solidFill>
                <a:latin typeface="+mn-lt"/>
              </a:rPr>
              <a:t>What not to say: delete needless words</a:t>
            </a:r>
          </a:p>
        </p:txBody>
      </p:sp>
      <p:sp>
        <p:nvSpPr>
          <p:cNvPr id="6" name="Espace réservé du contenu 5"/>
          <p:cNvSpPr>
            <a:spLocks noGrp="1"/>
          </p:cNvSpPr>
          <p:nvPr>
            <p:ph idx="1"/>
          </p:nvPr>
        </p:nvSpPr>
        <p:spPr/>
        <p:txBody>
          <a:bodyPr>
            <a:normAutofit/>
          </a:bodyPr>
          <a:lstStyle/>
          <a:p>
            <a:pPr marL="0" indent="0">
              <a:buNone/>
            </a:pPr>
            <a:r>
              <a:rPr lang="en-GB" dirty="0"/>
              <a:t>Delete empty nouns and meaningless modifiers</a:t>
            </a:r>
          </a:p>
          <a:p>
            <a:pPr marL="0" indent="0">
              <a:buNone/>
            </a:pPr>
            <a:r>
              <a:rPr lang="en-GB" i="1" dirty="0"/>
              <a:t>Kind of, really, basically, practically, actually, virtually, generally, certain, particular, individual, various, different, specific,…</a:t>
            </a:r>
          </a:p>
          <a:p>
            <a:pPr marL="0" indent="0">
              <a:buNone/>
            </a:pPr>
            <a:endParaRPr lang="en-GB" dirty="0"/>
          </a:p>
          <a:p>
            <a:pPr marL="0" indent="0">
              <a:buNone/>
            </a:pPr>
            <a:endParaRPr lang="en-GB" dirty="0"/>
          </a:p>
          <a:p>
            <a:pPr marL="0" indent="0">
              <a:buNone/>
            </a:pPr>
            <a:r>
              <a:rPr lang="en-GB" dirty="0"/>
              <a:t>Avoid using adverbs as much as possible</a:t>
            </a:r>
          </a:p>
          <a:p>
            <a:r>
              <a:rPr lang="en-GB" dirty="0"/>
              <a:t>Unnecessary adverbs muddy up a statement.</a:t>
            </a:r>
          </a:p>
          <a:p>
            <a:r>
              <a:rPr lang="en-GB" dirty="0"/>
              <a:t>Intensifiers (</a:t>
            </a:r>
            <a:r>
              <a:rPr lang="en-GB" i="1" dirty="0"/>
              <a:t>completely, totally, absolutely</a:t>
            </a:r>
            <a:r>
              <a:rPr lang="en-GB" dirty="0"/>
              <a:t>) are the most frequent overused.</a:t>
            </a:r>
          </a:p>
        </p:txBody>
      </p:sp>
      <p:sp>
        <p:nvSpPr>
          <p:cNvPr id="4" name="Espace réservé du pied de page 3"/>
          <p:cNvSpPr>
            <a:spLocks noGrp="1"/>
          </p:cNvSpPr>
          <p:nvPr>
            <p:ph type="ftr" sz="quarter" idx="11"/>
          </p:nvPr>
        </p:nvSpPr>
        <p:spPr/>
        <p:txBody>
          <a:bodyPr/>
          <a:lstStyle/>
          <a:p>
            <a:r>
              <a:rPr lang="en-GB"/>
              <a:t>CIRAD_2024</a:t>
            </a:r>
          </a:p>
        </p:txBody>
      </p:sp>
      <p:sp>
        <p:nvSpPr>
          <p:cNvPr id="5" name="Espace réservé du numéro de diapositive 4"/>
          <p:cNvSpPr>
            <a:spLocks noGrp="1"/>
          </p:cNvSpPr>
          <p:nvPr>
            <p:ph type="sldNum" sz="quarter" idx="12"/>
          </p:nvPr>
        </p:nvSpPr>
        <p:spPr/>
        <p:txBody>
          <a:bodyPr/>
          <a:lstStyle/>
          <a:p>
            <a:fld id="{9590A657-63F5-4AA1-8896-D2E86A40153B}" type="slidenum">
              <a:rPr lang="en-GB" smtClean="0"/>
              <a:t>13</a:t>
            </a:fld>
            <a:endParaRPr lang="en-GB"/>
          </a:p>
        </p:txBody>
      </p:sp>
    </p:spTree>
    <p:extLst>
      <p:ext uri="{BB962C8B-B14F-4D97-AF65-F5344CB8AC3E}">
        <p14:creationId xmlns:p14="http://schemas.microsoft.com/office/powerpoint/2010/main" val="101749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b="1" dirty="0">
                <a:solidFill>
                  <a:schemeClr val="accent5"/>
                </a:solidFill>
                <a:latin typeface="+mn-lt"/>
              </a:rPr>
              <a:t>Nominalisation</a:t>
            </a:r>
            <a:endParaRPr lang="en-GB" dirty="0">
              <a:latin typeface="+mn-lt"/>
            </a:endParaRPr>
          </a:p>
        </p:txBody>
      </p:sp>
      <p:sp>
        <p:nvSpPr>
          <p:cNvPr id="3" name="Espace réservé du contenu 2"/>
          <p:cNvSpPr>
            <a:spLocks noGrp="1"/>
          </p:cNvSpPr>
          <p:nvPr>
            <p:ph idx="1"/>
          </p:nvPr>
        </p:nvSpPr>
        <p:spPr/>
        <p:txBody>
          <a:bodyPr>
            <a:normAutofit/>
          </a:bodyPr>
          <a:lstStyle/>
          <a:p>
            <a:r>
              <a:rPr lang="en-US" dirty="0"/>
              <a:t>Indeed a major impediment to the interpretability of microarray data is the current lack of comparability from laboratory to laboratory</a:t>
            </a:r>
          </a:p>
          <a:p>
            <a:endParaRPr lang="en-US" dirty="0"/>
          </a:p>
          <a:p>
            <a:r>
              <a:rPr lang="en-US" i="1" dirty="0" err="1"/>
              <a:t>Nominalised</a:t>
            </a:r>
            <a:r>
              <a:rPr lang="en-US" i="1" dirty="0"/>
              <a:t> wor</a:t>
            </a:r>
            <a:r>
              <a:rPr lang="en-US" dirty="0"/>
              <a:t>ds: interpretability, comparability</a:t>
            </a:r>
          </a:p>
          <a:p>
            <a:endParaRPr lang="en-US" dirty="0"/>
          </a:p>
          <a:p>
            <a:r>
              <a:rPr lang="en-US" i="1" dirty="0"/>
              <a:t>Suggested edit</a:t>
            </a:r>
            <a:r>
              <a:rPr lang="en-US" dirty="0"/>
              <a:t>: </a:t>
            </a:r>
            <a:r>
              <a:rPr lang="en-US" b="1" dirty="0"/>
              <a:t>Interpreting microarray data is difficult because we cannot easily compare data among laboratories</a:t>
            </a:r>
            <a:endParaRPr lang="en-US" dirty="0"/>
          </a:p>
          <a:p>
            <a:endParaRPr lang="en-GB" dirty="0"/>
          </a:p>
        </p:txBody>
      </p:sp>
      <p:sp>
        <p:nvSpPr>
          <p:cNvPr id="4" name="Espace réservé du pied de page 3"/>
          <p:cNvSpPr>
            <a:spLocks noGrp="1"/>
          </p:cNvSpPr>
          <p:nvPr>
            <p:ph type="ftr" sz="quarter" idx="11"/>
          </p:nvPr>
        </p:nvSpPr>
        <p:spPr/>
        <p:txBody>
          <a:bodyPr/>
          <a:lstStyle/>
          <a:p>
            <a:r>
              <a:rPr lang="fr-FR"/>
              <a:t>CIRAD_2024</a:t>
            </a:r>
          </a:p>
        </p:txBody>
      </p:sp>
      <p:sp>
        <p:nvSpPr>
          <p:cNvPr id="5" name="Espace réservé du numéro de diapositive 4"/>
          <p:cNvSpPr>
            <a:spLocks noGrp="1"/>
          </p:cNvSpPr>
          <p:nvPr>
            <p:ph type="sldNum" sz="quarter" idx="12"/>
          </p:nvPr>
        </p:nvSpPr>
        <p:spPr/>
        <p:txBody>
          <a:bodyPr/>
          <a:lstStyle/>
          <a:p>
            <a:fld id="{B76DCA18-B5B8-4B20-B860-66FA7D59F54A}" type="slidenum">
              <a:rPr lang="fr-FR" smtClean="0"/>
              <a:t>14</a:t>
            </a:fld>
            <a:endParaRPr lang="fr-FR"/>
          </a:p>
        </p:txBody>
      </p:sp>
    </p:spTree>
    <p:extLst>
      <p:ext uri="{BB962C8B-B14F-4D97-AF65-F5344CB8AC3E}">
        <p14:creationId xmlns:p14="http://schemas.microsoft.com/office/powerpoint/2010/main" val="210136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Style: KISS</a:t>
            </a:r>
            <a:endParaRPr lang="en-GB" b="1" dirty="0">
              <a:solidFill>
                <a:schemeClr val="accent5"/>
              </a:solidFill>
              <a:latin typeface="+mn-lt"/>
            </a:endParaRPr>
          </a:p>
        </p:txBody>
      </p:sp>
      <p:sp>
        <p:nvSpPr>
          <p:cNvPr id="3" name="Espace réservé du contenu 2"/>
          <p:cNvSpPr>
            <a:spLocks noGrp="1"/>
          </p:cNvSpPr>
          <p:nvPr>
            <p:ph idx="1"/>
          </p:nvPr>
        </p:nvSpPr>
        <p:spPr/>
        <p:txBody>
          <a:bodyPr/>
          <a:lstStyle/>
          <a:p>
            <a:pPr marL="0" indent="0" algn="ctr">
              <a:buNone/>
            </a:pPr>
            <a:r>
              <a:rPr lang="fr-FR" sz="4800" b="1" dirty="0" err="1">
                <a:solidFill>
                  <a:schemeClr val="accent5"/>
                </a:solidFill>
              </a:rPr>
              <a:t>Keep</a:t>
            </a:r>
            <a:r>
              <a:rPr lang="fr-FR" sz="4800" b="1" dirty="0">
                <a:solidFill>
                  <a:schemeClr val="accent5"/>
                </a:solidFill>
              </a:rPr>
              <a:t> </a:t>
            </a:r>
            <a:r>
              <a:rPr lang="fr-FR" sz="4800" b="1" dirty="0" err="1">
                <a:solidFill>
                  <a:schemeClr val="accent5"/>
                </a:solidFill>
              </a:rPr>
              <a:t>it</a:t>
            </a:r>
            <a:r>
              <a:rPr lang="fr-FR" sz="4800" b="1" dirty="0">
                <a:solidFill>
                  <a:schemeClr val="accent5"/>
                </a:solidFill>
              </a:rPr>
              <a:t> short and simple</a:t>
            </a:r>
          </a:p>
          <a:p>
            <a:endParaRPr lang="fr-FR" b="1" dirty="0"/>
          </a:p>
          <a:p>
            <a:r>
              <a:rPr lang="fr-FR" b="1" dirty="0" err="1"/>
              <a:t>Subject</a:t>
            </a:r>
            <a:r>
              <a:rPr lang="fr-FR" b="1" dirty="0"/>
              <a:t> / </a:t>
            </a:r>
            <a:r>
              <a:rPr lang="fr-FR" b="1" dirty="0" err="1"/>
              <a:t>Verb</a:t>
            </a:r>
            <a:r>
              <a:rPr lang="fr-FR" b="1" dirty="0"/>
              <a:t> / Object</a:t>
            </a:r>
          </a:p>
          <a:p>
            <a:endParaRPr lang="fr-FR" b="1" dirty="0"/>
          </a:p>
          <a:p>
            <a:r>
              <a:rPr lang="fr-FR" b="1" dirty="0"/>
              <a:t>10 to 15 </a:t>
            </a:r>
            <a:r>
              <a:rPr lang="fr-FR" b="1" dirty="0" err="1"/>
              <a:t>words</a:t>
            </a:r>
            <a:r>
              <a:rPr lang="fr-FR" b="1" dirty="0"/>
              <a:t> per sentence</a:t>
            </a:r>
          </a:p>
          <a:p>
            <a:endParaRPr lang="fr-FR" b="1" dirty="0"/>
          </a:p>
          <a:p>
            <a:r>
              <a:rPr lang="en-GB" b="1" dirty="0"/>
              <a:t>Use simple language to describe complex ideas</a:t>
            </a:r>
            <a:endParaRPr lang="fr-FR" b="1" dirty="0"/>
          </a:p>
          <a:p>
            <a:pPr marL="0" indent="0">
              <a:buNone/>
            </a:pPr>
            <a:endParaRPr lang="fr-FR" b="1" dirty="0"/>
          </a:p>
        </p:txBody>
      </p:sp>
      <p:sp>
        <p:nvSpPr>
          <p:cNvPr id="4" name="Espace réservé du pied de page 3"/>
          <p:cNvSpPr>
            <a:spLocks noGrp="1"/>
          </p:cNvSpPr>
          <p:nvPr>
            <p:ph type="ftr" sz="quarter" idx="11"/>
          </p:nvPr>
        </p:nvSpPr>
        <p:spPr/>
        <p:txBody>
          <a:bodyPr/>
          <a:lstStyle/>
          <a:p>
            <a:r>
              <a:rPr lang="en-US"/>
              <a:t>CIRAD_2024</a:t>
            </a:r>
            <a:endParaRPr lang="fr-FR"/>
          </a:p>
        </p:txBody>
      </p:sp>
      <p:sp>
        <p:nvSpPr>
          <p:cNvPr id="5" name="Espace réservé du numéro de diapositive 4"/>
          <p:cNvSpPr>
            <a:spLocks noGrp="1"/>
          </p:cNvSpPr>
          <p:nvPr>
            <p:ph type="sldNum" sz="quarter" idx="12"/>
          </p:nvPr>
        </p:nvSpPr>
        <p:spPr/>
        <p:txBody>
          <a:bodyPr/>
          <a:lstStyle/>
          <a:p>
            <a:fld id="{26F187A0-C832-4BDC-881F-B530DBA51D73}" type="slidenum">
              <a:rPr lang="fr-FR" smtClean="0"/>
              <a:pPr/>
              <a:t>15</a:t>
            </a:fld>
            <a:endParaRPr lang="fr-FR"/>
          </a:p>
        </p:txBody>
      </p:sp>
    </p:spTree>
    <p:extLst>
      <p:ext uri="{BB962C8B-B14F-4D97-AF65-F5344CB8AC3E}">
        <p14:creationId xmlns:p14="http://schemas.microsoft.com/office/powerpoint/2010/main" val="475218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Style: KISS</a:t>
            </a:r>
            <a:endParaRPr lang="en-GB" dirty="0">
              <a:solidFill>
                <a:schemeClr val="accent5"/>
              </a:solidFill>
              <a:latin typeface="+mn-lt"/>
            </a:endParaRPr>
          </a:p>
        </p:txBody>
      </p:sp>
      <p:sp>
        <p:nvSpPr>
          <p:cNvPr id="3" name="Espace réservé du contenu 2"/>
          <p:cNvSpPr>
            <a:spLocks noGrp="1"/>
          </p:cNvSpPr>
          <p:nvPr>
            <p:ph idx="1"/>
          </p:nvPr>
        </p:nvSpPr>
        <p:spPr>
          <a:xfrm>
            <a:off x="838200" y="1502229"/>
            <a:ext cx="10515600" cy="4674734"/>
          </a:xfrm>
        </p:spPr>
        <p:txBody>
          <a:bodyPr>
            <a:normAutofit/>
          </a:bodyPr>
          <a:lstStyle/>
          <a:p>
            <a:r>
              <a:rPr lang="fr-FR" b="1" dirty="0" err="1"/>
              <a:t>Avoid</a:t>
            </a:r>
            <a:r>
              <a:rPr lang="fr-FR" b="1" dirty="0"/>
              <a:t> double </a:t>
            </a:r>
            <a:r>
              <a:rPr lang="fr-FR" b="1" dirty="0" err="1"/>
              <a:t>negatives</a:t>
            </a:r>
            <a:endParaRPr lang="fr-FR" b="1" dirty="0"/>
          </a:p>
          <a:p>
            <a:pPr lvl="1"/>
            <a:r>
              <a:rPr lang="fr-FR" i="1" dirty="0" err="1"/>
              <a:t>Don’t</a:t>
            </a:r>
            <a:r>
              <a:rPr lang="fr-FR" i="1" dirty="0"/>
              <a:t> </a:t>
            </a:r>
            <a:r>
              <a:rPr lang="fr-FR" i="1" dirty="0" err="1"/>
              <a:t>write</a:t>
            </a:r>
            <a:r>
              <a:rPr lang="fr-FR" i="1" dirty="0"/>
              <a:t> a </a:t>
            </a:r>
            <a:r>
              <a:rPr lang="fr-FR" i="1" dirty="0" err="1"/>
              <a:t>paper</a:t>
            </a:r>
            <a:r>
              <a:rPr lang="fr-FR" i="1" dirty="0"/>
              <a:t> </a:t>
            </a:r>
            <a:r>
              <a:rPr lang="fr-FR" i="1" dirty="0" err="1"/>
              <a:t>without</a:t>
            </a:r>
            <a:r>
              <a:rPr lang="fr-FR" i="1" dirty="0"/>
              <a:t> </a:t>
            </a:r>
            <a:r>
              <a:rPr lang="fr-FR" i="1" dirty="0" err="1"/>
              <a:t>rules</a:t>
            </a:r>
            <a:r>
              <a:rPr lang="fr-FR" i="1" dirty="0"/>
              <a:t> for </a:t>
            </a:r>
            <a:r>
              <a:rPr lang="fr-FR" i="1" dirty="0" err="1"/>
              <a:t>co-authors</a:t>
            </a:r>
            <a:endParaRPr lang="fr-FR" i="1" dirty="0"/>
          </a:p>
          <a:p>
            <a:pPr lvl="1"/>
            <a:r>
              <a:rPr lang="fr-FR" dirty="0" err="1"/>
              <a:t>Define</a:t>
            </a:r>
            <a:r>
              <a:rPr lang="fr-FR" dirty="0"/>
              <a:t> </a:t>
            </a:r>
            <a:r>
              <a:rPr lang="fr-FR" dirty="0" err="1"/>
              <a:t>rules</a:t>
            </a:r>
            <a:r>
              <a:rPr lang="fr-FR" dirty="0"/>
              <a:t> for </a:t>
            </a:r>
            <a:r>
              <a:rPr lang="fr-FR" dirty="0" err="1"/>
              <a:t>co-authors</a:t>
            </a:r>
            <a:r>
              <a:rPr lang="fr-FR" dirty="0"/>
              <a:t> to </a:t>
            </a:r>
            <a:r>
              <a:rPr lang="fr-FR" dirty="0" err="1"/>
              <a:t>write</a:t>
            </a:r>
            <a:r>
              <a:rPr lang="fr-FR" dirty="0"/>
              <a:t> a </a:t>
            </a:r>
            <a:r>
              <a:rPr lang="fr-FR" dirty="0" err="1"/>
              <a:t>paper</a:t>
            </a:r>
            <a:endParaRPr lang="fr-FR" dirty="0"/>
          </a:p>
          <a:p>
            <a:r>
              <a:rPr lang="fr-FR" b="1" dirty="0" err="1"/>
              <a:t>Avoid</a:t>
            </a:r>
            <a:r>
              <a:rPr lang="fr-FR" b="1" dirty="0"/>
              <a:t> </a:t>
            </a:r>
            <a:r>
              <a:rPr lang="fr-FR" b="1" dirty="0" err="1"/>
              <a:t>metaphors</a:t>
            </a:r>
            <a:endParaRPr lang="fr-FR" b="1" dirty="0"/>
          </a:p>
          <a:p>
            <a:r>
              <a:rPr lang="fr-FR" b="1" dirty="0" err="1"/>
              <a:t>Avoid</a:t>
            </a:r>
            <a:r>
              <a:rPr lang="fr-FR" b="1" dirty="0"/>
              <a:t> </a:t>
            </a:r>
            <a:r>
              <a:rPr lang="fr-FR" b="1" dirty="0" err="1"/>
              <a:t>euphemisms</a:t>
            </a:r>
            <a:r>
              <a:rPr lang="fr-FR" b="1" dirty="0"/>
              <a:t>:</a:t>
            </a:r>
          </a:p>
          <a:p>
            <a:pPr lvl="1"/>
            <a:r>
              <a:rPr lang="fr-FR" dirty="0"/>
              <a:t>‘</a:t>
            </a:r>
            <a:r>
              <a:rPr lang="fr-FR" i="1" dirty="0" err="1"/>
              <a:t>Passed</a:t>
            </a:r>
            <a:r>
              <a:rPr lang="fr-FR" i="1" dirty="0"/>
              <a:t> </a:t>
            </a:r>
            <a:r>
              <a:rPr lang="fr-FR" i="1" dirty="0" err="1"/>
              <a:t>away</a:t>
            </a:r>
            <a:r>
              <a:rPr lang="fr-FR" dirty="0"/>
              <a:t>’     use     ‘</a:t>
            </a:r>
            <a:r>
              <a:rPr lang="fr-FR" dirty="0" err="1"/>
              <a:t>died</a:t>
            </a:r>
            <a:r>
              <a:rPr lang="fr-FR" dirty="0"/>
              <a:t>’</a:t>
            </a:r>
          </a:p>
          <a:p>
            <a:pPr lvl="1"/>
            <a:r>
              <a:rPr lang="fr-FR" dirty="0" err="1"/>
              <a:t>Animals</a:t>
            </a:r>
            <a:r>
              <a:rPr lang="fr-FR" dirty="0"/>
              <a:t> are not ‘</a:t>
            </a:r>
            <a:r>
              <a:rPr lang="fr-FR" i="1" dirty="0" err="1"/>
              <a:t>sacrified</a:t>
            </a:r>
            <a:r>
              <a:rPr lang="fr-FR" dirty="0"/>
              <a:t>’, </a:t>
            </a:r>
            <a:r>
              <a:rPr lang="fr-FR" dirty="0" err="1"/>
              <a:t>they</a:t>
            </a:r>
            <a:r>
              <a:rPr lang="fr-FR" dirty="0"/>
              <a:t> are ‘</a:t>
            </a:r>
            <a:r>
              <a:rPr lang="fr-FR" dirty="0" err="1"/>
              <a:t>killed</a:t>
            </a:r>
            <a:r>
              <a:rPr lang="fr-FR" dirty="0"/>
              <a:t>’</a:t>
            </a:r>
          </a:p>
          <a:p>
            <a:pPr lvl="1"/>
            <a:r>
              <a:rPr lang="fr-FR" i="1" dirty="0"/>
              <a:t>‘</a:t>
            </a:r>
            <a:r>
              <a:rPr lang="fr-FR" i="1" dirty="0" err="1"/>
              <a:t>Mortal</a:t>
            </a:r>
            <a:r>
              <a:rPr lang="fr-FR" i="1" dirty="0"/>
              <a:t> </a:t>
            </a:r>
            <a:r>
              <a:rPr lang="fr-FR" i="1" dirty="0" err="1"/>
              <a:t>consequences</a:t>
            </a:r>
            <a:r>
              <a:rPr lang="fr-FR" i="1" dirty="0"/>
              <a:t>’</a:t>
            </a:r>
            <a:r>
              <a:rPr lang="fr-FR" dirty="0"/>
              <a:t>…..      Use   ‘</a:t>
            </a:r>
            <a:r>
              <a:rPr lang="fr-FR" dirty="0" err="1"/>
              <a:t>death</a:t>
            </a:r>
            <a:r>
              <a:rPr lang="fr-FR" dirty="0"/>
              <a:t>’</a:t>
            </a:r>
          </a:p>
          <a:p>
            <a:pPr lvl="1"/>
            <a:endParaRPr lang="fr-FR" b="1" dirty="0"/>
          </a:p>
          <a:p>
            <a:r>
              <a:rPr lang="fr-FR" b="1" dirty="0"/>
              <a:t>Active </a:t>
            </a:r>
            <a:r>
              <a:rPr lang="fr-FR" b="1" dirty="0" err="1"/>
              <a:t>voice</a:t>
            </a:r>
            <a:r>
              <a:rPr lang="fr-FR" b="1" dirty="0"/>
              <a:t>:   </a:t>
            </a:r>
            <a:r>
              <a:rPr lang="fr-FR" dirty="0"/>
              <a:t>‘</a:t>
            </a:r>
            <a:r>
              <a:rPr lang="fr-FR" i="1" dirty="0"/>
              <a:t>It </a:t>
            </a:r>
            <a:r>
              <a:rPr lang="fr-FR" i="1" dirty="0" err="1"/>
              <a:t>was</a:t>
            </a:r>
            <a:r>
              <a:rPr lang="fr-FR" i="1" dirty="0"/>
              <a:t> </a:t>
            </a:r>
            <a:r>
              <a:rPr lang="fr-FR" i="1" dirty="0" err="1"/>
              <a:t>found</a:t>
            </a:r>
            <a:r>
              <a:rPr lang="fr-FR" i="1" dirty="0"/>
              <a:t> </a:t>
            </a:r>
            <a:r>
              <a:rPr lang="fr-FR" i="1" dirty="0" err="1"/>
              <a:t>that</a:t>
            </a:r>
            <a:r>
              <a:rPr lang="fr-FR" i="1" dirty="0"/>
              <a:t>…</a:t>
            </a:r>
            <a:r>
              <a:rPr lang="fr-FR" dirty="0"/>
              <a:t>’     </a:t>
            </a:r>
            <a:r>
              <a:rPr lang="fr-FR" dirty="0" err="1"/>
              <a:t>say</a:t>
            </a:r>
            <a:r>
              <a:rPr lang="fr-FR" dirty="0"/>
              <a:t>    ‘I </a:t>
            </a:r>
            <a:r>
              <a:rPr lang="fr-FR" dirty="0" err="1"/>
              <a:t>found</a:t>
            </a:r>
            <a:r>
              <a:rPr lang="fr-FR" dirty="0"/>
              <a:t> </a:t>
            </a:r>
            <a:r>
              <a:rPr lang="fr-FR" dirty="0" err="1"/>
              <a:t>that</a:t>
            </a:r>
            <a:r>
              <a:rPr lang="fr-FR" dirty="0"/>
              <a:t>…..’</a:t>
            </a:r>
          </a:p>
          <a:p>
            <a:pPr lvl="1"/>
            <a:endParaRPr lang="en-GB" b="1" dirty="0"/>
          </a:p>
        </p:txBody>
      </p:sp>
      <p:sp>
        <p:nvSpPr>
          <p:cNvPr id="4" name="Espace réservé du pied de page 3"/>
          <p:cNvSpPr>
            <a:spLocks noGrp="1"/>
          </p:cNvSpPr>
          <p:nvPr>
            <p:ph type="ftr" sz="quarter" idx="11"/>
          </p:nvPr>
        </p:nvSpPr>
        <p:spPr/>
        <p:txBody>
          <a:bodyPr/>
          <a:lstStyle/>
          <a:p>
            <a:r>
              <a:rPr lang="en-US"/>
              <a:t>CIRAD_2024</a:t>
            </a:r>
            <a:endParaRPr lang="fr-FR"/>
          </a:p>
        </p:txBody>
      </p:sp>
      <p:sp>
        <p:nvSpPr>
          <p:cNvPr id="5" name="Espace réservé du numéro de diapositive 4"/>
          <p:cNvSpPr>
            <a:spLocks noGrp="1"/>
          </p:cNvSpPr>
          <p:nvPr>
            <p:ph type="sldNum" sz="quarter" idx="12"/>
          </p:nvPr>
        </p:nvSpPr>
        <p:spPr/>
        <p:txBody>
          <a:bodyPr/>
          <a:lstStyle/>
          <a:p>
            <a:fld id="{26F187A0-C832-4BDC-881F-B530DBA51D73}" type="slidenum">
              <a:rPr lang="fr-FR" smtClean="0"/>
              <a:pPr/>
              <a:t>16</a:t>
            </a:fld>
            <a:endParaRPr lang="fr-FR"/>
          </a:p>
        </p:txBody>
      </p:sp>
    </p:spTree>
    <p:extLst>
      <p:ext uri="{BB962C8B-B14F-4D97-AF65-F5344CB8AC3E}">
        <p14:creationId xmlns:p14="http://schemas.microsoft.com/office/powerpoint/2010/main" val="421137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b="1" dirty="0" err="1">
                <a:solidFill>
                  <a:schemeClr val="accent5"/>
                </a:solidFill>
                <a:latin typeface="+mn-lt"/>
              </a:rPr>
              <a:t>Tenses</a:t>
            </a:r>
            <a:r>
              <a:rPr lang="fr-FR" sz="4800" b="1" dirty="0">
                <a:solidFill>
                  <a:schemeClr val="accent5"/>
                </a:solidFill>
                <a:latin typeface="+mn-lt"/>
              </a:rPr>
              <a:t> of </a:t>
            </a:r>
            <a:r>
              <a:rPr lang="fr-FR" sz="4800" b="1" dirty="0" err="1">
                <a:solidFill>
                  <a:schemeClr val="accent5"/>
                </a:solidFill>
                <a:latin typeface="+mn-lt"/>
              </a:rPr>
              <a:t>verbs</a:t>
            </a:r>
            <a:endParaRPr lang="en-GB" sz="4800" b="1" dirty="0">
              <a:solidFill>
                <a:schemeClr val="accent5"/>
              </a:solidFill>
              <a:latin typeface="+mn-lt"/>
            </a:endParaRPr>
          </a:p>
        </p:txBody>
      </p:sp>
      <p:sp>
        <p:nvSpPr>
          <p:cNvPr id="3" name="Espace réservé du contenu 2"/>
          <p:cNvSpPr>
            <a:spLocks noGrp="1"/>
          </p:cNvSpPr>
          <p:nvPr>
            <p:ph idx="1"/>
          </p:nvPr>
        </p:nvSpPr>
        <p:spPr/>
        <p:txBody>
          <a:bodyPr/>
          <a:lstStyle/>
          <a:p>
            <a:r>
              <a:rPr lang="fr-FR" dirty="0" err="1"/>
              <a:t>Past</a:t>
            </a:r>
            <a:r>
              <a:rPr lang="fr-FR" dirty="0"/>
              <a:t> </a:t>
            </a:r>
            <a:r>
              <a:rPr lang="fr-FR" dirty="0" err="1"/>
              <a:t>tenses</a:t>
            </a:r>
            <a:r>
              <a:rPr lang="fr-FR" dirty="0"/>
              <a:t> for </a:t>
            </a:r>
            <a:r>
              <a:rPr lang="fr-FR" dirty="0" err="1"/>
              <a:t>facts</a:t>
            </a:r>
            <a:r>
              <a:rPr lang="fr-FR" dirty="0"/>
              <a:t> </a:t>
            </a:r>
            <a:r>
              <a:rPr lang="fr-FR" dirty="0" err="1"/>
              <a:t>that</a:t>
            </a:r>
            <a:r>
              <a:rPr lang="fr-FR" dirty="0"/>
              <a:t> </a:t>
            </a:r>
            <a:r>
              <a:rPr lang="fr-FR" dirty="0" err="1"/>
              <a:t>were</a:t>
            </a:r>
            <a:r>
              <a:rPr lang="fr-FR" dirty="0"/>
              <a:t> </a:t>
            </a:r>
            <a:r>
              <a:rPr lang="fr-FR" dirty="0" err="1"/>
              <a:t>observed</a:t>
            </a:r>
            <a:r>
              <a:rPr lang="fr-FR" dirty="0"/>
              <a:t>: </a:t>
            </a:r>
            <a:r>
              <a:rPr lang="fr-FR" dirty="0" err="1"/>
              <a:t>mostly</a:t>
            </a:r>
            <a:r>
              <a:rPr lang="fr-FR" dirty="0"/>
              <a:t> </a:t>
            </a:r>
            <a:r>
              <a:rPr lang="fr-FR" b="1" dirty="0"/>
              <a:t>all</a:t>
            </a:r>
            <a:r>
              <a:rPr lang="fr-FR" dirty="0"/>
              <a:t> </a:t>
            </a:r>
            <a:r>
              <a:rPr lang="fr-FR" dirty="0" err="1"/>
              <a:t>scientific</a:t>
            </a:r>
            <a:r>
              <a:rPr lang="fr-FR" dirty="0"/>
              <a:t> data</a:t>
            </a:r>
          </a:p>
          <a:p>
            <a:endParaRPr lang="fr-FR" dirty="0"/>
          </a:p>
          <a:p>
            <a:r>
              <a:rPr lang="fr-FR" dirty="0" err="1"/>
              <a:t>Present</a:t>
            </a:r>
            <a:r>
              <a:rPr lang="fr-FR" dirty="0"/>
              <a:t> </a:t>
            </a:r>
            <a:r>
              <a:rPr lang="fr-FR" dirty="0" err="1"/>
              <a:t>tense</a:t>
            </a:r>
            <a:r>
              <a:rPr lang="fr-FR" dirty="0"/>
              <a:t> for </a:t>
            </a:r>
            <a:r>
              <a:rPr lang="fr-FR" dirty="0" err="1"/>
              <a:t>established</a:t>
            </a:r>
            <a:r>
              <a:rPr lang="fr-FR" dirty="0"/>
              <a:t> </a:t>
            </a:r>
            <a:r>
              <a:rPr lang="fr-FR" dirty="0" err="1"/>
              <a:t>knowledge</a:t>
            </a:r>
            <a:r>
              <a:rPr lang="fr-FR" dirty="0"/>
              <a:t>:</a:t>
            </a:r>
          </a:p>
          <a:p>
            <a:pPr lvl="1"/>
            <a:r>
              <a:rPr lang="fr-FR" dirty="0"/>
              <a:t>’</a:t>
            </a:r>
            <a:r>
              <a:rPr lang="fr-FR" dirty="0" err="1"/>
              <a:t>Streptomycin</a:t>
            </a:r>
            <a:r>
              <a:rPr lang="fr-FR" dirty="0"/>
              <a:t> </a:t>
            </a:r>
            <a:r>
              <a:rPr lang="fr-FR" dirty="0" err="1"/>
              <a:t>inhibits</a:t>
            </a:r>
            <a:r>
              <a:rPr lang="fr-FR" dirty="0"/>
              <a:t> the </a:t>
            </a:r>
            <a:r>
              <a:rPr lang="fr-FR" dirty="0" err="1"/>
              <a:t>growth</a:t>
            </a:r>
            <a:r>
              <a:rPr lang="fr-FR" dirty="0"/>
              <a:t> of </a:t>
            </a:r>
            <a:r>
              <a:rPr lang="fr-FR" i="1" dirty="0"/>
              <a:t>M </a:t>
            </a:r>
            <a:r>
              <a:rPr lang="fr-FR" i="1" dirty="0" err="1"/>
              <a:t>tuberculosis</a:t>
            </a:r>
            <a:r>
              <a:rPr lang="fr-FR" dirty="0"/>
              <a:t>…’</a:t>
            </a:r>
          </a:p>
          <a:p>
            <a:pPr lvl="1"/>
            <a:r>
              <a:rPr lang="fr-FR" dirty="0"/>
              <a:t>The </a:t>
            </a:r>
            <a:r>
              <a:rPr lang="fr-FR" dirty="0" err="1"/>
              <a:t>Earth</a:t>
            </a:r>
            <a:r>
              <a:rPr lang="fr-FR" dirty="0"/>
              <a:t> </a:t>
            </a:r>
            <a:r>
              <a:rPr lang="fr-FR" dirty="0" err="1"/>
              <a:t>is</a:t>
            </a:r>
            <a:r>
              <a:rPr lang="fr-FR" dirty="0"/>
              <a:t> round</a:t>
            </a:r>
          </a:p>
          <a:p>
            <a:endParaRPr lang="fr-FR" dirty="0"/>
          </a:p>
          <a:p>
            <a:r>
              <a:rPr lang="fr-FR" dirty="0" err="1"/>
              <a:t>Refer</a:t>
            </a:r>
            <a:r>
              <a:rPr lang="fr-FR" dirty="0"/>
              <a:t> </a:t>
            </a:r>
            <a:r>
              <a:rPr lang="fr-FR" dirty="0" err="1"/>
              <a:t>your</a:t>
            </a:r>
            <a:r>
              <a:rPr lang="fr-FR" dirty="0"/>
              <a:t> </a:t>
            </a:r>
            <a:r>
              <a:rPr lang="fr-FR" dirty="0" err="1"/>
              <a:t>own</a:t>
            </a:r>
            <a:r>
              <a:rPr lang="fr-FR" dirty="0"/>
              <a:t> </a:t>
            </a:r>
            <a:r>
              <a:rPr lang="fr-FR" dirty="0" err="1"/>
              <a:t>present</a:t>
            </a:r>
            <a:r>
              <a:rPr lang="fr-FR" dirty="0"/>
              <a:t> </a:t>
            </a:r>
            <a:r>
              <a:rPr lang="fr-FR" dirty="0" err="1"/>
              <a:t>work</a:t>
            </a:r>
            <a:r>
              <a:rPr lang="fr-FR" dirty="0"/>
              <a:t> in the </a:t>
            </a:r>
            <a:r>
              <a:rPr lang="fr-FR" dirty="0" err="1"/>
              <a:t>past</a:t>
            </a:r>
            <a:r>
              <a:rPr lang="fr-FR" dirty="0"/>
              <a:t> </a:t>
            </a:r>
            <a:r>
              <a:rPr lang="fr-FR" dirty="0" err="1"/>
              <a:t>tense</a:t>
            </a:r>
            <a:endParaRPr lang="en-GB" dirty="0"/>
          </a:p>
        </p:txBody>
      </p:sp>
      <p:sp>
        <p:nvSpPr>
          <p:cNvPr id="4" name="Espace réservé du pied de page 3"/>
          <p:cNvSpPr>
            <a:spLocks noGrp="1"/>
          </p:cNvSpPr>
          <p:nvPr>
            <p:ph type="ftr" sz="quarter" idx="11"/>
          </p:nvPr>
        </p:nvSpPr>
        <p:spPr/>
        <p:txBody>
          <a:bodyPr/>
          <a:lstStyle/>
          <a:p>
            <a:r>
              <a:rPr lang="en-US"/>
              <a:t>CIRAD_2024</a:t>
            </a:r>
            <a:endParaRPr lang="fr-FR"/>
          </a:p>
        </p:txBody>
      </p:sp>
      <p:sp>
        <p:nvSpPr>
          <p:cNvPr id="5" name="Espace réservé du numéro de diapositive 4"/>
          <p:cNvSpPr>
            <a:spLocks noGrp="1"/>
          </p:cNvSpPr>
          <p:nvPr>
            <p:ph type="sldNum" sz="quarter" idx="12"/>
          </p:nvPr>
        </p:nvSpPr>
        <p:spPr/>
        <p:txBody>
          <a:bodyPr/>
          <a:lstStyle/>
          <a:p>
            <a:fld id="{26F187A0-C832-4BDC-881F-B530DBA51D73}" type="slidenum">
              <a:rPr lang="fr-FR" smtClean="0"/>
              <a:pPr/>
              <a:t>17</a:t>
            </a:fld>
            <a:endParaRPr lang="fr-FR"/>
          </a:p>
        </p:txBody>
      </p:sp>
    </p:spTree>
    <p:extLst>
      <p:ext uri="{BB962C8B-B14F-4D97-AF65-F5344CB8AC3E}">
        <p14:creationId xmlns:p14="http://schemas.microsoft.com/office/powerpoint/2010/main" val="2741884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b="1" dirty="0" err="1">
                <a:solidFill>
                  <a:schemeClr val="accent5"/>
                </a:solidFill>
                <a:latin typeface="+mn-lt"/>
              </a:rPr>
              <a:t>Tenses</a:t>
            </a:r>
            <a:r>
              <a:rPr lang="fr-FR" sz="4800" b="1" dirty="0">
                <a:solidFill>
                  <a:schemeClr val="accent5"/>
                </a:solidFill>
                <a:latin typeface="+mn-lt"/>
              </a:rPr>
              <a:t> of </a:t>
            </a:r>
            <a:r>
              <a:rPr lang="fr-FR" sz="4800" b="1" dirty="0" err="1">
                <a:solidFill>
                  <a:schemeClr val="accent5"/>
                </a:solidFill>
                <a:latin typeface="+mn-lt"/>
              </a:rPr>
              <a:t>verbs</a:t>
            </a:r>
            <a:r>
              <a:rPr lang="fr-FR" sz="4800" b="1" dirty="0">
                <a:solidFill>
                  <a:schemeClr val="accent5"/>
                </a:solidFill>
                <a:latin typeface="+mn-lt"/>
              </a:rPr>
              <a:t>…   </a:t>
            </a:r>
            <a:r>
              <a:rPr lang="fr-FR" sz="4000" b="1" dirty="0" err="1">
                <a:solidFill>
                  <a:schemeClr val="accent5"/>
                </a:solidFill>
                <a:latin typeface="+mn-lt"/>
              </a:rPr>
              <a:t>never</a:t>
            </a:r>
            <a:r>
              <a:rPr lang="fr-FR" sz="4000" b="1" dirty="0">
                <a:solidFill>
                  <a:schemeClr val="accent5"/>
                </a:solidFill>
                <a:latin typeface="+mn-lt"/>
              </a:rPr>
              <a:t> use future </a:t>
            </a:r>
            <a:r>
              <a:rPr lang="fr-FR" sz="4000" b="1" dirty="0" err="1">
                <a:solidFill>
                  <a:schemeClr val="accent5"/>
                </a:solidFill>
                <a:latin typeface="+mn-lt"/>
              </a:rPr>
              <a:t>tenses</a:t>
            </a:r>
            <a:endParaRPr lang="en-GB" sz="4800" b="1" dirty="0">
              <a:solidFill>
                <a:schemeClr val="accent5"/>
              </a:solidFill>
              <a:latin typeface="+mn-lt"/>
            </a:endParaRPr>
          </a:p>
        </p:txBody>
      </p:sp>
      <p:sp>
        <p:nvSpPr>
          <p:cNvPr id="3" name="Espace réservé du contenu 2"/>
          <p:cNvSpPr>
            <a:spLocks noGrp="1"/>
          </p:cNvSpPr>
          <p:nvPr>
            <p:ph idx="1"/>
          </p:nvPr>
        </p:nvSpPr>
        <p:spPr/>
        <p:txBody>
          <a:bodyPr/>
          <a:lstStyle/>
          <a:p>
            <a:r>
              <a:rPr lang="fr-FR" dirty="0"/>
              <a:t>Introduction: </a:t>
            </a:r>
            <a:r>
              <a:rPr lang="fr-FR" dirty="0" err="1"/>
              <a:t>past</a:t>
            </a:r>
            <a:r>
              <a:rPr lang="fr-FR" dirty="0"/>
              <a:t> and </a:t>
            </a:r>
            <a:r>
              <a:rPr lang="fr-FR" dirty="0" err="1"/>
              <a:t>present</a:t>
            </a:r>
            <a:endParaRPr lang="fr-FR" dirty="0"/>
          </a:p>
          <a:p>
            <a:pPr lvl="1"/>
            <a:r>
              <a:rPr lang="fr-FR" i="1" dirty="0" err="1"/>
              <a:t>Streptomycin</a:t>
            </a:r>
            <a:r>
              <a:rPr lang="fr-FR" i="1" dirty="0"/>
              <a:t> </a:t>
            </a:r>
            <a:r>
              <a:rPr lang="fr-FR" i="1" dirty="0" err="1"/>
              <a:t>is</a:t>
            </a:r>
            <a:r>
              <a:rPr lang="fr-FR" i="1" dirty="0"/>
              <a:t> an </a:t>
            </a:r>
            <a:r>
              <a:rPr lang="fr-FR" i="1" dirty="0" err="1"/>
              <a:t>antibiotic</a:t>
            </a:r>
            <a:r>
              <a:rPr lang="fr-FR" i="1" dirty="0"/>
              <a:t>….</a:t>
            </a:r>
          </a:p>
          <a:p>
            <a:r>
              <a:rPr lang="fr-FR" dirty="0" err="1"/>
              <a:t>Methods</a:t>
            </a:r>
            <a:r>
              <a:rPr lang="fr-FR" dirty="0"/>
              <a:t>: </a:t>
            </a:r>
            <a:r>
              <a:rPr lang="fr-FR" dirty="0" err="1"/>
              <a:t>past</a:t>
            </a:r>
            <a:endParaRPr lang="fr-FR" dirty="0"/>
          </a:p>
          <a:p>
            <a:pPr lvl="1"/>
            <a:r>
              <a:rPr lang="fr-FR" i="1" dirty="0" err="1"/>
              <a:t>Streptomycin</a:t>
            </a:r>
            <a:r>
              <a:rPr lang="fr-FR" i="1" dirty="0"/>
              <a:t> </a:t>
            </a:r>
            <a:r>
              <a:rPr lang="fr-FR" i="1" dirty="0" err="1"/>
              <a:t>was</a:t>
            </a:r>
            <a:r>
              <a:rPr lang="fr-FR" i="1" dirty="0"/>
              <a:t> </a:t>
            </a:r>
            <a:r>
              <a:rPr lang="fr-FR" i="1" dirty="0" err="1"/>
              <a:t>tested</a:t>
            </a:r>
            <a:r>
              <a:rPr lang="fr-FR" i="1" dirty="0"/>
              <a:t> </a:t>
            </a:r>
            <a:r>
              <a:rPr lang="fr-FR" i="1" dirty="0" err="1"/>
              <a:t>against</a:t>
            </a:r>
            <a:endParaRPr lang="fr-FR" i="1" dirty="0"/>
          </a:p>
          <a:p>
            <a:r>
              <a:rPr lang="fr-FR" dirty="0" err="1"/>
              <a:t>Results</a:t>
            </a:r>
            <a:r>
              <a:rPr lang="fr-FR" dirty="0"/>
              <a:t>: </a:t>
            </a:r>
            <a:r>
              <a:rPr lang="fr-FR" dirty="0" err="1"/>
              <a:t>past</a:t>
            </a:r>
            <a:endParaRPr lang="fr-FR" dirty="0"/>
          </a:p>
          <a:p>
            <a:pPr lvl="1"/>
            <a:r>
              <a:rPr lang="fr-FR" i="1" dirty="0" err="1"/>
              <a:t>Growth</a:t>
            </a:r>
            <a:r>
              <a:rPr lang="fr-FR" i="1" dirty="0"/>
              <a:t> of </a:t>
            </a:r>
            <a:r>
              <a:rPr lang="fr-FR" i="1" dirty="0" err="1"/>
              <a:t>streptomycin</a:t>
            </a:r>
            <a:r>
              <a:rPr lang="fr-FR" i="1" dirty="0"/>
              <a:t> </a:t>
            </a:r>
            <a:r>
              <a:rPr lang="fr-FR" i="1" dirty="0" err="1"/>
              <a:t>was</a:t>
            </a:r>
            <a:r>
              <a:rPr lang="fr-FR" i="1" dirty="0"/>
              <a:t> </a:t>
            </a:r>
            <a:r>
              <a:rPr lang="fr-FR" i="1" dirty="0" err="1"/>
              <a:t>inhibited</a:t>
            </a:r>
            <a:r>
              <a:rPr lang="fr-FR" i="1" dirty="0"/>
              <a:t>…</a:t>
            </a:r>
          </a:p>
          <a:p>
            <a:r>
              <a:rPr lang="fr-FR" dirty="0"/>
              <a:t>Discussion: </a:t>
            </a:r>
            <a:r>
              <a:rPr lang="fr-FR" dirty="0" err="1"/>
              <a:t>past</a:t>
            </a:r>
            <a:r>
              <a:rPr lang="fr-FR" dirty="0"/>
              <a:t> and </a:t>
            </a:r>
            <a:r>
              <a:rPr lang="fr-FR" dirty="0" err="1"/>
              <a:t>present</a:t>
            </a:r>
            <a:endParaRPr lang="fr-FR" dirty="0"/>
          </a:p>
          <a:p>
            <a:pPr lvl="1"/>
            <a:r>
              <a:rPr lang="fr-FR" i="1" dirty="0"/>
              <a:t>M </a:t>
            </a:r>
            <a:r>
              <a:rPr lang="fr-FR" i="1" dirty="0" err="1"/>
              <a:t>tuberculosis</a:t>
            </a:r>
            <a:r>
              <a:rPr lang="fr-FR" i="1" dirty="0"/>
              <a:t> </a:t>
            </a:r>
            <a:r>
              <a:rPr lang="fr-FR" i="1" dirty="0" err="1"/>
              <a:t>was</a:t>
            </a:r>
            <a:r>
              <a:rPr lang="fr-FR" i="1" dirty="0"/>
              <a:t> </a:t>
            </a:r>
            <a:r>
              <a:rPr lang="fr-FR" i="1" dirty="0" err="1"/>
              <a:t>most</a:t>
            </a:r>
            <a:r>
              <a:rPr lang="fr-FR" i="1" dirty="0"/>
              <a:t> susceptible to </a:t>
            </a:r>
            <a:r>
              <a:rPr lang="fr-FR" i="1" dirty="0" err="1"/>
              <a:t>streptomycin</a:t>
            </a:r>
            <a:r>
              <a:rPr lang="fr-FR" i="1" dirty="0"/>
              <a:t> </a:t>
            </a:r>
            <a:r>
              <a:rPr lang="fr-FR" i="1" dirty="0" err="1"/>
              <a:t>at</a:t>
            </a:r>
            <a:r>
              <a:rPr lang="fr-FR" i="1" dirty="0"/>
              <a:t> ph 8.2. </a:t>
            </a:r>
            <a:r>
              <a:rPr lang="fr-FR" i="1" dirty="0" err="1"/>
              <a:t>Various</a:t>
            </a:r>
            <a:r>
              <a:rPr lang="fr-FR" i="1" dirty="0"/>
              <a:t> </a:t>
            </a:r>
            <a:r>
              <a:rPr lang="fr-FR" i="1" dirty="0" err="1"/>
              <a:t>species</a:t>
            </a:r>
            <a:r>
              <a:rPr lang="fr-FR" i="1" dirty="0"/>
              <a:t> are </a:t>
            </a:r>
            <a:r>
              <a:rPr lang="fr-FR" i="1" dirty="0" err="1"/>
              <a:t>most</a:t>
            </a:r>
            <a:r>
              <a:rPr lang="fr-FR" i="1" dirty="0"/>
              <a:t> susceptible to </a:t>
            </a:r>
            <a:r>
              <a:rPr lang="fr-FR" i="1" dirty="0" err="1"/>
              <a:t>streptomycin</a:t>
            </a:r>
            <a:r>
              <a:rPr lang="fr-FR" i="1" dirty="0"/>
              <a:t> (5,9)….</a:t>
            </a:r>
            <a:endParaRPr lang="en-GB" i="1" dirty="0"/>
          </a:p>
        </p:txBody>
      </p:sp>
      <p:sp>
        <p:nvSpPr>
          <p:cNvPr id="4" name="Espace réservé du pied de page 3"/>
          <p:cNvSpPr>
            <a:spLocks noGrp="1"/>
          </p:cNvSpPr>
          <p:nvPr>
            <p:ph type="ftr" sz="quarter" idx="11"/>
          </p:nvPr>
        </p:nvSpPr>
        <p:spPr/>
        <p:txBody>
          <a:bodyPr/>
          <a:lstStyle/>
          <a:p>
            <a:r>
              <a:rPr lang="en-US"/>
              <a:t>CIRAD_2024</a:t>
            </a:r>
            <a:endParaRPr lang="fr-FR"/>
          </a:p>
        </p:txBody>
      </p:sp>
      <p:sp>
        <p:nvSpPr>
          <p:cNvPr id="5" name="Espace réservé du numéro de diapositive 4"/>
          <p:cNvSpPr>
            <a:spLocks noGrp="1"/>
          </p:cNvSpPr>
          <p:nvPr>
            <p:ph type="sldNum" sz="quarter" idx="12"/>
          </p:nvPr>
        </p:nvSpPr>
        <p:spPr/>
        <p:txBody>
          <a:bodyPr/>
          <a:lstStyle/>
          <a:p>
            <a:fld id="{26F187A0-C832-4BDC-881F-B530DBA51D73}" type="slidenum">
              <a:rPr lang="fr-FR" smtClean="0"/>
              <a:pPr/>
              <a:t>18</a:t>
            </a:fld>
            <a:endParaRPr lang="fr-FR"/>
          </a:p>
        </p:txBody>
      </p:sp>
    </p:spTree>
    <p:extLst>
      <p:ext uri="{BB962C8B-B14F-4D97-AF65-F5344CB8AC3E}">
        <p14:creationId xmlns:p14="http://schemas.microsoft.com/office/powerpoint/2010/main" val="720854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Style KISS</a:t>
            </a:r>
            <a:endParaRPr lang="en-GB" b="1" dirty="0">
              <a:solidFill>
                <a:schemeClr val="accent5"/>
              </a:solidFill>
              <a:latin typeface="+mn-lt"/>
            </a:endParaRPr>
          </a:p>
        </p:txBody>
      </p:sp>
      <p:sp>
        <p:nvSpPr>
          <p:cNvPr id="3" name="Espace réservé du contenu 2"/>
          <p:cNvSpPr>
            <a:spLocks noGrp="1"/>
          </p:cNvSpPr>
          <p:nvPr>
            <p:ph idx="1"/>
          </p:nvPr>
        </p:nvSpPr>
        <p:spPr/>
        <p:txBody>
          <a:bodyPr/>
          <a:lstStyle/>
          <a:p>
            <a:r>
              <a:rPr lang="fr-FR" b="1" dirty="0" err="1"/>
              <a:t>Numerals</a:t>
            </a:r>
            <a:r>
              <a:rPr lang="fr-FR" b="1" dirty="0"/>
              <a:t>: </a:t>
            </a:r>
            <a:r>
              <a:rPr lang="fr-FR" b="1" dirty="0" err="1"/>
              <a:t>it</a:t>
            </a:r>
            <a:r>
              <a:rPr lang="fr-FR" b="1" dirty="0"/>
              <a:t> </a:t>
            </a:r>
            <a:r>
              <a:rPr lang="fr-FR" b="1" dirty="0" err="1"/>
              <a:t>depends</a:t>
            </a:r>
            <a:r>
              <a:rPr lang="fr-FR" b="1" dirty="0"/>
              <a:t> on </a:t>
            </a:r>
            <a:r>
              <a:rPr lang="fr-FR" b="1" dirty="0" err="1"/>
              <a:t>your</a:t>
            </a:r>
            <a:r>
              <a:rPr lang="fr-FR" b="1" dirty="0"/>
              <a:t> style </a:t>
            </a:r>
            <a:r>
              <a:rPr lang="fr-FR" b="1" dirty="0" err="1"/>
              <a:t>manual</a:t>
            </a:r>
            <a:endParaRPr lang="fr-FR" b="1" dirty="0"/>
          </a:p>
          <a:p>
            <a:pPr lvl="1"/>
            <a:r>
              <a:rPr lang="fr-FR" dirty="0" err="1"/>
              <a:t>Spelling</a:t>
            </a:r>
            <a:r>
              <a:rPr lang="fr-FR" dirty="0"/>
              <a:t> out </a:t>
            </a:r>
            <a:r>
              <a:rPr lang="fr-FR" dirty="0" err="1"/>
              <a:t>numbers</a:t>
            </a:r>
            <a:r>
              <a:rPr lang="fr-FR" dirty="0"/>
              <a:t> </a:t>
            </a:r>
            <a:r>
              <a:rPr lang="fr-FR" dirty="0" err="1"/>
              <a:t>from</a:t>
            </a:r>
            <a:r>
              <a:rPr lang="fr-FR" dirty="0"/>
              <a:t> one to </a:t>
            </a:r>
            <a:r>
              <a:rPr lang="fr-FR" dirty="0" err="1"/>
              <a:t>nine</a:t>
            </a:r>
            <a:r>
              <a:rPr lang="fr-FR" dirty="0"/>
              <a:t> and </a:t>
            </a:r>
            <a:r>
              <a:rPr lang="fr-FR" dirty="0" err="1"/>
              <a:t>then</a:t>
            </a:r>
            <a:r>
              <a:rPr lang="fr-FR" dirty="0"/>
              <a:t> </a:t>
            </a:r>
            <a:r>
              <a:rPr lang="fr-FR" dirty="0" err="1"/>
              <a:t>numerals</a:t>
            </a:r>
            <a:r>
              <a:rPr lang="fr-FR" dirty="0"/>
              <a:t> for 10 and </a:t>
            </a:r>
            <a:r>
              <a:rPr lang="fr-FR" dirty="0" err="1"/>
              <a:t>followers</a:t>
            </a:r>
            <a:endParaRPr lang="fr-FR" dirty="0"/>
          </a:p>
          <a:p>
            <a:pPr lvl="1"/>
            <a:r>
              <a:rPr lang="fr-FR" dirty="0"/>
              <a:t>13 </a:t>
            </a:r>
            <a:r>
              <a:rPr lang="fr-FR" dirty="0" err="1"/>
              <a:t>mL</a:t>
            </a:r>
            <a:endParaRPr lang="fr-FR" dirty="0"/>
          </a:p>
          <a:p>
            <a:pPr lvl="1"/>
            <a:r>
              <a:rPr lang="fr-FR" dirty="0" err="1"/>
              <a:t>Don’t</a:t>
            </a:r>
            <a:r>
              <a:rPr lang="fr-FR" dirty="0"/>
              <a:t> use </a:t>
            </a:r>
            <a:r>
              <a:rPr lang="fr-FR" dirty="0" err="1"/>
              <a:t>numerals</a:t>
            </a:r>
            <a:r>
              <a:rPr lang="fr-FR" dirty="0"/>
              <a:t> to </a:t>
            </a:r>
            <a:r>
              <a:rPr lang="fr-FR" dirty="0" err="1"/>
              <a:t>start</a:t>
            </a:r>
            <a:r>
              <a:rPr lang="fr-FR" dirty="0"/>
              <a:t> a sentence: For </a:t>
            </a:r>
            <a:r>
              <a:rPr lang="fr-FR" dirty="0" err="1"/>
              <a:t>hundred</a:t>
            </a:r>
            <a:r>
              <a:rPr lang="fr-FR" dirty="0"/>
              <a:t> and </a:t>
            </a:r>
            <a:r>
              <a:rPr lang="fr-FR" dirty="0" err="1"/>
              <a:t>ten</a:t>
            </a:r>
            <a:r>
              <a:rPr lang="fr-FR" dirty="0"/>
              <a:t> patients </a:t>
            </a:r>
            <a:r>
              <a:rPr lang="fr-FR" dirty="0" err="1"/>
              <a:t>had</a:t>
            </a:r>
            <a:r>
              <a:rPr lang="fr-FR" dirty="0"/>
              <a:t>…  and </a:t>
            </a:r>
            <a:r>
              <a:rPr lang="fr-FR" dirty="0" err="1"/>
              <a:t>don’t</a:t>
            </a:r>
            <a:r>
              <a:rPr lang="fr-FR" dirty="0"/>
              <a:t> </a:t>
            </a:r>
            <a:r>
              <a:rPr lang="fr-FR" dirty="0" err="1"/>
              <a:t>start</a:t>
            </a:r>
            <a:r>
              <a:rPr lang="fr-FR" dirty="0"/>
              <a:t> by 410</a:t>
            </a:r>
          </a:p>
          <a:p>
            <a:pPr lvl="1"/>
            <a:endParaRPr lang="fr-FR" dirty="0"/>
          </a:p>
          <a:p>
            <a:r>
              <a:rPr lang="fr-FR" b="1" dirty="0" err="1"/>
              <a:t>Abreviations</a:t>
            </a:r>
            <a:r>
              <a:rPr lang="fr-FR" b="1" dirty="0"/>
              <a:t> are rare</a:t>
            </a:r>
            <a:endParaRPr lang="en-GB" b="1" dirty="0"/>
          </a:p>
        </p:txBody>
      </p:sp>
      <p:sp>
        <p:nvSpPr>
          <p:cNvPr id="4" name="Espace réservé du pied de page 3"/>
          <p:cNvSpPr>
            <a:spLocks noGrp="1"/>
          </p:cNvSpPr>
          <p:nvPr>
            <p:ph type="ftr" sz="quarter" idx="11"/>
          </p:nvPr>
        </p:nvSpPr>
        <p:spPr/>
        <p:txBody>
          <a:bodyPr/>
          <a:lstStyle/>
          <a:p>
            <a:r>
              <a:rPr lang="en-US"/>
              <a:t>CIRAD_2024</a:t>
            </a:r>
            <a:endParaRPr lang="fr-FR"/>
          </a:p>
        </p:txBody>
      </p:sp>
      <p:sp>
        <p:nvSpPr>
          <p:cNvPr id="5" name="Espace réservé du numéro de diapositive 4"/>
          <p:cNvSpPr>
            <a:spLocks noGrp="1"/>
          </p:cNvSpPr>
          <p:nvPr>
            <p:ph type="sldNum" sz="quarter" idx="12"/>
          </p:nvPr>
        </p:nvSpPr>
        <p:spPr/>
        <p:txBody>
          <a:bodyPr/>
          <a:lstStyle/>
          <a:p>
            <a:fld id="{26F187A0-C832-4BDC-881F-B530DBA51D73}" type="slidenum">
              <a:rPr lang="fr-FR" smtClean="0"/>
              <a:pPr/>
              <a:t>19</a:t>
            </a:fld>
            <a:endParaRPr lang="fr-FR"/>
          </a:p>
        </p:txBody>
      </p:sp>
    </p:spTree>
    <p:extLst>
      <p:ext uri="{BB962C8B-B14F-4D97-AF65-F5344CB8AC3E}">
        <p14:creationId xmlns:p14="http://schemas.microsoft.com/office/powerpoint/2010/main" val="604571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2209800" y="381000"/>
            <a:ext cx="7772400" cy="1428750"/>
          </a:xfrm>
        </p:spPr>
        <p:txBody>
          <a:bodyPr>
            <a:normAutofit fontScale="90000"/>
          </a:bodyPr>
          <a:lstStyle/>
          <a:p>
            <a:pPr algn="ctr" eaLnBrk="1" hangingPunct="1">
              <a:defRPr/>
            </a:pPr>
            <a:r>
              <a:rPr lang="fr-FR" sz="5400" b="1" dirty="0">
                <a:solidFill>
                  <a:schemeClr val="accent5"/>
                </a:solidFill>
                <a:latin typeface="+mn-lt"/>
                <a:ea typeface="Calibri" panose="020F0502020204030204" pitchFamily="34" charset="0"/>
                <a:cs typeface="Calibri" panose="020F0502020204030204" pitchFamily="34" charset="0"/>
              </a:rPr>
              <a:t>Le meilleur style est</a:t>
            </a:r>
            <a:br>
              <a:rPr lang="fr-FR" sz="5400" b="1" dirty="0">
                <a:solidFill>
                  <a:schemeClr val="accent5"/>
                </a:solidFill>
                <a:latin typeface="+mn-lt"/>
                <a:ea typeface="Calibri" panose="020F0502020204030204" pitchFamily="34" charset="0"/>
                <a:cs typeface="Calibri" panose="020F0502020204030204" pitchFamily="34" charset="0"/>
              </a:rPr>
            </a:br>
            <a:r>
              <a:rPr lang="fr-FR" sz="5400" b="1" dirty="0">
                <a:solidFill>
                  <a:schemeClr val="accent5"/>
                </a:solidFill>
                <a:latin typeface="+mn-lt"/>
                <a:ea typeface="Calibri" panose="020F0502020204030204" pitchFamily="34" charset="0"/>
                <a:cs typeface="Calibri" panose="020F0502020204030204" pitchFamily="34" charset="0"/>
              </a:rPr>
              <a:t>l’absence de style</a:t>
            </a:r>
          </a:p>
        </p:txBody>
      </p:sp>
      <p:sp>
        <p:nvSpPr>
          <p:cNvPr id="142339" name="Rectangle 3"/>
          <p:cNvSpPr>
            <a:spLocks noGrp="1" noChangeArrowheads="1"/>
          </p:cNvSpPr>
          <p:nvPr>
            <p:ph idx="1"/>
          </p:nvPr>
        </p:nvSpPr>
        <p:spPr>
          <a:xfrm>
            <a:off x="2133600" y="2057400"/>
            <a:ext cx="7924800" cy="4103688"/>
          </a:xfrm>
        </p:spPr>
        <p:txBody>
          <a:bodyPr/>
          <a:lstStyle/>
          <a:p>
            <a:pPr algn="ctr" eaLnBrk="1" hangingPunct="1"/>
            <a:r>
              <a:rPr lang="fr-FR" altLang="fr-FR" sz="4800" b="1"/>
              <a:t>Précision</a:t>
            </a:r>
          </a:p>
          <a:p>
            <a:pPr algn="ctr" eaLnBrk="1" hangingPunct="1"/>
            <a:r>
              <a:rPr lang="fr-FR" altLang="fr-FR" sz="4800" b="1"/>
              <a:t>Clarté</a:t>
            </a:r>
          </a:p>
          <a:p>
            <a:pPr algn="ctr" eaLnBrk="1" hangingPunct="1"/>
            <a:r>
              <a:rPr lang="fr-FR" altLang="fr-FR" sz="4800" b="1"/>
              <a:t>Brièveté</a:t>
            </a:r>
          </a:p>
          <a:p>
            <a:pPr algn="ctr" eaLnBrk="1" hangingPunct="1"/>
            <a:endParaRPr lang="fr-FR" altLang="fr-FR" sz="4800" b="1"/>
          </a:p>
          <a:p>
            <a:pPr algn="ctr" eaLnBrk="1" hangingPunct="1"/>
            <a:r>
              <a:rPr lang="fr-FR" altLang="fr-FR" sz="3600" b="1"/>
              <a:t>Lisibilité (15 à 20 mots par phrase)</a:t>
            </a:r>
          </a:p>
        </p:txBody>
      </p:sp>
      <p:sp>
        <p:nvSpPr>
          <p:cNvPr id="142340" name="Espace réservé du pied de page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fr-FR" altLang="fr-FR">
                <a:solidFill>
                  <a:srgbClr val="045C75"/>
                </a:solidFill>
              </a:rPr>
              <a:t>CIRAD_2024</a:t>
            </a:r>
          </a:p>
        </p:txBody>
      </p:sp>
      <p:sp>
        <p:nvSpPr>
          <p:cNvPr id="142341"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BB17AD-CF50-4691-AFFF-55AE8CA644B5}" type="slidenum">
              <a:rPr lang="fr-FR" altLang="fr-FR">
                <a:solidFill>
                  <a:srgbClr val="045C75"/>
                </a:solidFill>
                <a:latin typeface="Constantia" panose="02030602050306030303" pitchFamily="18" charset="0"/>
              </a:rPr>
              <a:pPr/>
              <a:t>20</a:t>
            </a:fld>
            <a:endParaRPr lang="fr-FR" altLang="fr-FR">
              <a:solidFill>
                <a:srgbClr val="045C75"/>
              </a:solidFill>
              <a:latin typeface="Constantia" panose="02030602050306030303" pitchFamily="18" charset="0"/>
            </a:endParaRPr>
          </a:p>
        </p:txBody>
      </p:sp>
    </p:spTree>
    <p:extLst>
      <p:ext uri="{BB962C8B-B14F-4D97-AF65-F5344CB8AC3E}">
        <p14:creationId xmlns:p14="http://schemas.microsoft.com/office/powerpoint/2010/main" val="153125442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209800" y="152400"/>
            <a:ext cx="7772400" cy="1714500"/>
          </a:xfrm>
        </p:spPr>
        <p:txBody>
          <a:bodyPr/>
          <a:lstStyle/>
          <a:p>
            <a:pPr algn="ctr" eaLnBrk="1" hangingPunct="1">
              <a:defRPr/>
            </a:pPr>
            <a:r>
              <a:rPr lang="fr-FR" sz="3600" b="1" dirty="0">
                <a:solidFill>
                  <a:schemeClr val="accent5"/>
                </a:solidFill>
                <a:latin typeface="+mn-lt"/>
              </a:rPr>
              <a:t>Le meilleur style est l’absence de style :</a:t>
            </a:r>
            <a:br>
              <a:rPr lang="fr-FR" sz="3600" b="1" dirty="0">
                <a:solidFill>
                  <a:schemeClr val="accent5"/>
                </a:solidFill>
                <a:latin typeface="+mn-lt"/>
              </a:rPr>
            </a:br>
            <a:r>
              <a:rPr lang="fr-FR" sz="4800" b="1" dirty="0">
                <a:solidFill>
                  <a:schemeClr val="accent5"/>
                </a:solidFill>
                <a:latin typeface="+mn-lt"/>
              </a:rPr>
              <a:t>la précision</a:t>
            </a:r>
          </a:p>
        </p:txBody>
      </p:sp>
      <p:sp>
        <p:nvSpPr>
          <p:cNvPr id="23555" name="Rectangle 3"/>
          <p:cNvSpPr>
            <a:spLocks noGrp="1" noChangeArrowheads="1"/>
          </p:cNvSpPr>
          <p:nvPr>
            <p:ph idx="1"/>
          </p:nvPr>
        </p:nvSpPr>
        <p:spPr>
          <a:xfrm>
            <a:off x="2133600" y="2008188"/>
            <a:ext cx="7924800" cy="4011612"/>
          </a:xfrm>
        </p:spPr>
        <p:txBody>
          <a:bodyPr/>
          <a:lstStyle/>
          <a:p>
            <a:pPr algn="ctr" eaLnBrk="1" hangingPunct="1"/>
            <a:r>
              <a:rPr lang="fr-FR" altLang="fr-FR" sz="4000" b="1"/>
              <a:t>Mots</a:t>
            </a:r>
          </a:p>
          <a:p>
            <a:pPr algn="ctr" eaLnBrk="1" hangingPunct="1"/>
            <a:r>
              <a:rPr lang="fr-FR" altLang="fr-FR" sz="4000" b="1"/>
              <a:t>Chiffres / totaux</a:t>
            </a:r>
          </a:p>
          <a:p>
            <a:pPr algn="ctr" eaLnBrk="1" hangingPunct="1"/>
            <a:r>
              <a:rPr lang="fr-FR" altLang="fr-FR" sz="4000" b="1"/>
              <a:t>Faits /opinions</a:t>
            </a:r>
          </a:p>
          <a:p>
            <a:pPr algn="ctr" eaLnBrk="1" hangingPunct="1"/>
            <a:r>
              <a:rPr lang="fr-FR" altLang="fr-FR" sz="4000" b="1"/>
              <a:t>Illustrations</a:t>
            </a:r>
          </a:p>
          <a:p>
            <a:pPr algn="ctr" eaLnBrk="1" hangingPunct="1"/>
            <a:r>
              <a:rPr lang="fr-FR" altLang="fr-FR" sz="4000" b="1"/>
              <a:t>Références</a:t>
            </a:r>
          </a:p>
        </p:txBody>
      </p:sp>
      <p:sp>
        <p:nvSpPr>
          <p:cNvPr id="143364" name="Espace réservé du pied de page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fr-FR" altLang="fr-FR">
                <a:solidFill>
                  <a:srgbClr val="045C75"/>
                </a:solidFill>
              </a:rPr>
              <a:t>CIRAD_2024</a:t>
            </a:r>
          </a:p>
        </p:txBody>
      </p:sp>
      <p:sp>
        <p:nvSpPr>
          <p:cNvPr id="143365"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E902FCC-27A4-4858-BDB6-E3C7D95B8D85}" type="slidenum">
              <a:rPr lang="fr-FR" altLang="fr-FR">
                <a:solidFill>
                  <a:srgbClr val="045C75"/>
                </a:solidFill>
                <a:latin typeface="Constantia" panose="02030602050306030303" pitchFamily="18" charset="0"/>
              </a:rPr>
              <a:pPr/>
              <a:t>21</a:t>
            </a:fld>
            <a:endParaRPr lang="fr-FR" altLang="fr-FR">
              <a:solidFill>
                <a:srgbClr val="045C75"/>
              </a:solidFill>
              <a:latin typeface="Constantia" panose="02030602050306030303" pitchFamily="18" charset="0"/>
            </a:endParaRPr>
          </a:p>
        </p:txBody>
      </p:sp>
    </p:spTree>
    <p:extLst>
      <p:ext uri="{BB962C8B-B14F-4D97-AF65-F5344CB8AC3E}">
        <p14:creationId xmlns:p14="http://schemas.microsoft.com/office/powerpoint/2010/main" val="135803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wipe(down)">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wipe(down)">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wipe(down)">
                                      <p:cBhvr>
                                        <p:cTn id="17" dur="500"/>
                                        <p:tgtEl>
                                          <p:spTgt spid="23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wipe(down)">
                                      <p:cBhvr>
                                        <p:cTn id="22" dur="500"/>
                                        <p:tgtEl>
                                          <p:spTgt spid="235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Effect transition="in" filter="wipe(down)">
                                      <p:cBhvr>
                                        <p:cTn id="27"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209800" y="152400"/>
            <a:ext cx="7772400" cy="1714500"/>
          </a:xfrm>
        </p:spPr>
        <p:txBody>
          <a:bodyPr/>
          <a:lstStyle/>
          <a:p>
            <a:pPr algn="ctr" eaLnBrk="1" hangingPunct="1">
              <a:defRPr/>
            </a:pPr>
            <a:r>
              <a:rPr lang="fr-FR" sz="3600" b="1" dirty="0">
                <a:solidFill>
                  <a:schemeClr val="accent5"/>
                </a:solidFill>
                <a:latin typeface="+mn-lt"/>
              </a:rPr>
              <a:t>Le meilleur style est l’absence de style :</a:t>
            </a:r>
            <a:br>
              <a:rPr lang="fr-FR" sz="3600" b="1" dirty="0">
                <a:solidFill>
                  <a:schemeClr val="accent5"/>
                </a:solidFill>
                <a:latin typeface="+mn-lt"/>
              </a:rPr>
            </a:br>
            <a:r>
              <a:rPr lang="fr-FR" sz="4800" b="1" dirty="0">
                <a:solidFill>
                  <a:schemeClr val="accent5"/>
                </a:solidFill>
                <a:latin typeface="+mn-lt"/>
              </a:rPr>
              <a:t>la clarté</a:t>
            </a:r>
          </a:p>
        </p:txBody>
      </p:sp>
      <p:sp>
        <p:nvSpPr>
          <p:cNvPr id="26627" name="Rectangle 3"/>
          <p:cNvSpPr>
            <a:spLocks noGrp="1" noChangeArrowheads="1"/>
          </p:cNvSpPr>
          <p:nvPr>
            <p:ph idx="1"/>
          </p:nvPr>
        </p:nvSpPr>
        <p:spPr>
          <a:xfrm>
            <a:off x="2133600" y="1828800"/>
            <a:ext cx="7924800" cy="4191000"/>
          </a:xfrm>
        </p:spPr>
        <p:txBody>
          <a:bodyPr>
            <a:normAutofit lnSpcReduction="10000"/>
          </a:bodyPr>
          <a:lstStyle/>
          <a:p>
            <a:pPr algn="ctr" eaLnBrk="1" hangingPunct="1"/>
            <a:r>
              <a:rPr lang="fr-FR" altLang="fr-FR" sz="4000" b="1"/>
              <a:t>Position forte : début de phrase, de paragraphe, du titre…</a:t>
            </a:r>
          </a:p>
          <a:p>
            <a:pPr algn="ctr" eaLnBrk="1" hangingPunct="1"/>
            <a:r>
              <a:rPr lang="fr-FR" altLang="fr-FR" sz="4000" b="1"/>
              <a:t>Voix active</a:t>
            </a:r>
          </a:p>
          <a:p>
            <a:pPr algn="ctr" eaLnBrk="1" hangingPunct="1"/>
            <a:r>
              <a:rPr lang="fr-FR" altLang="fr-FR" sz="4000" b="1"/>
              <a:t>Pas de variation élégante</a:t>
            </a:r>
          </a:p>
          <a:p>
            <a:pPr algn="ctr" eaLnBrk="1" hangingPunct="1"/>
            <a:r>
              <a:rPr lang="fr-FR" altLang="fr-FR" sz="4000" b="1"/>
              <a:t>Temps des verbes : passé</a:t>
            </a:r>
          </a:p>
          <a:p>
            <a:pPr algn="ctr" eaLnBrk="1" hangingPunct="1"/>
            <a:r>
              <a:rPr lang="fr-FR" altLang="fr-FR" sz="4000" b="1"/>
              <a:t>Pas de double négation</a:t>
            </a:r>
          </a:p>
          <a:p>
            <a:pPr algn="ctr" eaLnBrk="1" hangingPunct="1"/>
            <a:r>
              <a:rPr lang="fr-FR" altLang="fr-FR" sz="4000" b="1"/>
              <a:t>Titres/légendes des illustrations</a:t>
            </a:r>
          </a:p>
        </p:txBody>
      </p:sp>
      <p:sp>
        <p:nvSpPr>
          <p:cNvPr id="144388" name="Espace réservé du pied de page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fr-FR" altLang="fr-FR">
                <a:solidFill>
                  <a:srgbClr val="045C75"/>
                </a:solidFill>
              </a:rPr>
              <a:t>CIRAD_2024</a:t>
            </a:r>
          </a:p>
        </p:txBody>
      </p:sp>
      <p:sp>
        <p:nvSpPr>
          <p:cNvPr id="144389"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155488A-934E-49F4-BE2C-01337AA7DF54}" type="slidenum">
              <a:rPr lang="fr-FR" altLang="fr-FR">
                <a:solidFill>
                  <a:srgbClr val="045C75"/>
                </a:solidFill>
                <a:latin typeface="Constantia" panose="02030602050306030303" pitchFamily="18" charset="0"/>
              </a:rPr>
              <a:pPr/>
              <a:t>22</a:t>
            </a:fld>
            <a:endParaRPr lang="fr-FR" altLang="fr-FR">
              <a:solidFill>
                <a:srgbClr val="045C75"/>
              </a:solidFill>
              <a:latin typeface="Constantia" panose="02030602050306030303" pitchFamily="18" charset="0"/>
            </a:endParaRPr>
          </a:p>
        </p:txBody>
      </p:sp>
    </p:spTree>
    <p:extLst>
      <p:ext uri="{BB962C8B-B14F-4D97-AF65-F5344CB8AC3E}">
        <p14:creationId xmlns:p14="http://schemas.microsoft.com/office/powerpoint/2010/main" val="37735355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down)">
                                      <p:cBhvr>
                                        <p:cTn id="7" dur="500"/>
                                        <p:tgtEl>
                                          <p:spTgt spid="26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wipe(down)">
                                      <p:cBhvr>
                                        <p:cTn id="12" dur="500"/>
                                        <p:tgtEl>
                                          <p:spTgt spid="266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wipe(down)">
                                      <p:cBhvr>
                                        <p:cTn id="17" dur="500"/>
                                        <p:tgtEl>
                                          <p:spTgt spid="266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wipe(down)">
                                      <p:cBhvr>
                                        <p:cTn id="22" dur="500"/>
                                        <p:tgtEl>
                                          <p:spTgt spid="266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wipe(down)">
                                      <p:cBhvr>
                                        <p:cTn id="27" dur="500"/>
                                        <p:tgtEl>
                                          <p:spTgt spid="266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6627">
                                            <p:txEl>
                                              <p:pRg st="5" end="5"/>
                                            </p:txEl>
                                          </p:spTgt>
                                        </p:tgtEl>
                                        <p:attrNameLst>
                                          <p:attrName>style.visibility</p:attrName>
                                        </p:attrNameLst>
                                      </p:cBhvr>
                                      <p:to>
                                        <p:strVal val="visible"/>
                                      </p:to>
                                    </p:set>
                                    <p:animEffect transition="in" filter="wipe(down)">
                                      <p:cBhvr>
                                        <p:cTn id="32" dur="500"/>
                                        <p:tgtEl>
                                          <p:spTgt spid="26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2209800" y="428626"/>
            <a:ext cx="7772400" cy="1357313"/>
          </a:xfrm>
        </p:spPr>
        <p:txBody>
          <a:bodyPr/>
          <a:lstStyle/>
          <a:p>
            <a:pPr algn="ctr" eaLnBrk="1" hangingPunct="1">
              <a:defRPr/>
            </a:pPr>
            <a:r>
              <a:rPr lang="fr-FR" sz="3600" b="1" dirty="0">
                <a:solidFill>
                  <a:schemeClr val="accent5"/>
                </a:solidFill>
                <a:latin typeface="+mn-lt"/>
              </a:rPr>
              <a:t>Le meilleur style est l’absence de style :</a:t>
            </a:r>
            <a:br>
              <a:rPr lang="fr-FR" sz="3600" b="1" dirty="0">
                <a:solidFill>
                  <a:schemeClr val="accent5"/>
                </a:solidFill>
                <a:latin typeface="+mn-lt"/>
              </a:rPr>
            </a:br>
            <a:r>
              <a:rPr lang="fr-FR" sz="4800" b="1" dirty="0">
                <a:solidFill>
                  <a:schemeClr val="accent5"/>
                </a:solidFill>
                <a:latin typeface="+mn-lt"/>
              </a:rPr>
              <a:t>la brièveté</a:t>
            </a:r>
          </a:p>
        </p:txBody>
      </p:sp>
      <p:sp>
        <p:nvSpPr>
          <p:cNvPr id="27651" name="Rectangle 3"/>
          <p:cNvSpPr>
            <a:spLocks noGrp="1" noChangeArrowheads="1"/>
          </p:cNvSpPr>
          <p:nvPr>
            <p:ph idx="1"/>
          </p:nvPr>
        </p:nvSpPr>
        <p:spPr>
          <a:xfrm>
            <a:off x="2133600" y="2209800"/>
            <a:ext cx="7924800" cy="3810000"/>
          </a:xfrm>
        </p:spPr>
        <p:txBody>
          <a:bodyPr/>
          <a:lstStyle/>
          <a:p>
            <a:pPr algn="ctr" eaLnBrk="1" hangingPunct="1"/>
            <a:r>
              <a:rPr lang="fr-FR" altLang="fr-FR" sz="4000" b="1"/>
              <a:t>Pas d’expressions émotionnelles</a:t>
            </a:r>
          </a:p>
          <a:p>
            <a:pPr algn="ctr" eaLnBrk="1" hangingPunct="1"/>
            <a:r>
              <a:rPr lang="fr-FR" altLang="fr-FR" sz="4000" b="1"/>
              <a:t>Enlever les bois morts</a:t>
            </a:r>
          </a:p>
          <a:p>
            <a:pPr algn="ctr" eaLnBrk="1" hangingPunct="1"/>
            <a:r>
              <a:rPr lang="fr-FR" altLang="fr-FR" sz="4000" b="1"/>
              <a:t>Peu d’adverbes</a:t>
            </a:r>
          </a:p>
          <a:p>
            <a:pPr algn="ctr" eaLnBrk="1" hangingPunct="1"/>
            <a:r>
              <a:rPr lang="fr-FR" altLang="fr-FR" sz="4000" b="1"/>
              <a:t>Abréviations ?</a:t>
            </a:r>
          </a:p>
          <a:p>
            <a:pPr algn="ctr" eaLnBrk="1" hangingPunct="1"/>
            <a:r>
              <a:rPr lang="fr-FR" altLang="fr-FR" sz="4000" b="1"/>
              <a:t>Pas d’ellipses</a:t>
            </a:r>
          </a:p>
        </p:txBody>
      </p:sp>
      <p:sp>
        <p:nvSpPr>
          <p:cNvPr id="145412" name="Espace réservé du pied de page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fr-FR" altLang="fr-FR">
                <a:solidFill>
                  <a:srgbClr val="045C75"/>
                </a:solidFill>
              </a:rPr>
              <a:t>CIRAD_2024</a:t>
            </a:r>
          </a:p>
        </p:txBody>
      </p:sp>
      <p:sp>
        <p:nvSpPr>
          <p:cNvPr id="145413"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EE32B25-A895-4768-BA6D-2F6D72F0A198}" type="slidenum">
              <a:rPr lang="fr-FR" altLang="fr-FR">
                <a:solidFill>
                  <a:srgbClr val="045C75"/>
                </a:solidFill>
                <a:latin typeface="Constantia" panose="02030602050306030303" pitchFamily="18" charset="0"/>
              </a:rPr>
              <a:pPr/>
              <a:t>23</a:t>
            </a:fld>
            <a:endParaRPr lang="fr-FR" altLang="fr-FR">
              <a:solidFill>
                <a:srgbClr val="045C75"/>
              </a:solidFill>
              <a:latin typeface="Constantia" panose="02030602050306030303" pitchFamily="18" charset="0"/>
            </a:endParaRPr>
          </a:p>
        </p:txBody>
      </p:sp>
    </p:spTree>
    <p:extLst>
      <p:ext uri="{BB962C8B-B14F-4D97-AF65-F5344CB8AC3E}">
        <p14:creationId xmlns:p14="http://schemas.microsoft.com/office/powerpoint/2010/main" val="4070366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down)">
                                      <p:cBhvr>
                                        <p:cTn id="7" dur="500"/>
                                        <p:tgtEl>
                                          <p:spTgt spid="2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wipe(down)">
                                      <p:cBhvr>
                                        <p:cTn id="12" dur="500"/>
                                        <p:tgtEl>
                                          <p:spTgt spid="27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wipe(down)">
                                      <p:cBhvr>
                                        <p:cTn id="17" dur="500"/>
                                        <p:tgtEl>
                                          <p:spTgt spid="276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wipe(down)">
                                      <p:cBhvr>
                                        <p:cTn id="22" dur="500"/>
                                        <p:tgtEl>
                                          <p:spTgt spid="276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7651">
                                            <p:txEl>
                                              <p:pRg st="4" end="4"/>
                                            </p:txEl>
                                          </p:spTgt>
                                        </p:tgtEl>
                                        <p:attrNameLst>
                                          <p:attrName>style.visibility</p:attrName>
                                        </p:attrNameLst>
                                      </p:cBhvr>
                                      <p:to>
                                        <p:strVal val="visible"/>
                                      </p:to>
                                    </p:set>
                                    <p:animEffect transition="in" filter="wipe(down)">
                                      <p:cBhvr>
                                        <p:cTn id="27" dur="500"/>
                                        <p:tgtEl>
                                          <p:spTgt spid="276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1973</TotalTime>
  <Words>1369</Words>
  <Application>Microsoft Office PowerPoint</Application>
  <PresentationFormat>Grand écran</PresentationFormat>
  <Paragraphs>173</Paragraphs>
  <Slides>23</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23</vt:i4>
      </vt:variant>
    </vt:vector>
  </HeadingPairs>
  <TitlesOfParts>
    <vt:vector size="28" baseType="lpstr">
      <vt:lpstr>Arial</vt:lpstr>
      <vt:lpstr>Calibri</vt:lpstr>
      <vt:lpstr>Calibri Light</vt:lpstr>
      <vt:lpstr>Constantia</vt:lpstr>
      <vt:lpstr>Thème Office</vt:lpstr>
      <vt:lpstr>Présentation PowerPoint</vt:lpstr>
      <vt:lpstr>Présentation PowerPoint</vt:lpstr>
      <vt:lpstr>Elements of style</vt:lpstr>
      <vt:lpstr>Start with your main point</vt:lpstr>
      <vt:lpstr>Présentation PowerPoint</vt:lpstr>
      <vt:lpstr>Présentation PowerPoint</vt:lpstr>
      <vt:lpstr>Présentation PowerPoint</vt:lpstr>
      <vt:lpstr>Start with your main point</vt:lpstr>
      <vt:lpstr>Coherent paragraph</vt:lpstr>
      <vt:lpstr>What not to say: delete needless words</vt:lpstr>
      <vt:lpstr>What not to say: delete needless words</vt:lpstr>
      <vt:lpstr>What not to say: delete needless words</vt:lpstr>
      <vt:lpstr>What not to say: delete needless words</vt:lpstr>
      <vt:lpstr>Nominalisation</vt:lpstr>
      <vt:lpstr>Style: KISS</vt:lpstr>
      <vt:lpstr>Style: KISS</vt:lpstr>
      <vt:lpstr>Tenses of verbs</vt:lpstr>
      <vt:lpstr>Tenses of verbs…   never use future tenses</vt:lpstr>
      <vt:lpstr>Style KISS</vt:lpstr>
      <vt:lpstr>Le meilleur style est l’absence de style</vt:lpstr>
      <vt:lpstr>Le meilleur style est l’absence de style : la précision</vt:lpstr>
      <vt:lpstr>Le meilleur style est l’absence de style : la clarté</vt:lpstr>
      <vt:lpstr>Le meilleur style est l’absence de style : la brièveté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write a policy brief</dc:title>
  <dc:creator>Herve Maisonneuve</dc:creator>
  <cp:lastModifiedBy>Herve Maisonneuve</cp:lastModifiedBy>
  <cp:revision>137</cp:revision>
  <dcterms:created xsi:type="dcterms:W3CDTF">2017-08-09T10:01:52Z</dcterms:created>
  <dcterms:modified xsi:type="dcterms:W3CDTF">2024-04-30T18:50:06Z</dcterms:modified>
</cp:coreProperties>
</file>