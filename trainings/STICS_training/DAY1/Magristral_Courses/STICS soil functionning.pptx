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notesSlides/notesSlide8.xml" ContentType="application/vnd.openxmlformats-officedocument.presentationml.notesSlide+xml"/>
  <Override PartName="/ppt/tags/tag2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4"/>
    <p:sldMasterId id="2147483832" r:id="rId5"/>
    <p:sldMasterId id="2147483837" r:id="rId6"/>
    <p:sldMasterId id="2147483842" r:id="rId7"/>
    <p:sldMasterId id="2147483847" r:id="rId8"/>
  </p:sldMasterIdLst>
  <p:notesMasterIdLst>
    <p:notesMasterId r:id="rId41"/>
  </p:notesMasterIdLst>
  <p:handoutMasterIdLst>
    <p:handoutMasterId r:id="rId42"/>
  </p:handoutMasterIdLst>
  <p:sldIdLst>
    <p:sldId id="466" r:id="rId9"/>
    <p:sldId id="1166" r:id="rId10"/>
    <p:sldId id="1175" r:id="rId11"/>
    <p:sldId id="1167" r:id="rId12"/>
    <p:sldId id="1179" r:id="rId13"/>
    <p:sldId id="1186" r:id="rId14"/>
    <p:sldId id="1170" r:id="rId15"/>
    <p:sldId id="1168" r:id="rId16"/>
    <p:sldId id="1176" r:id="rId17"/>
    <p:sldId id="1177" r:id="rId18"/>
    <p:sldId id="1180" r:id="rId19"/>
    <p:sldId id="1187" r:id="rId20"/>
    <p:sldId id="1181" r:id="rId21"/>
    <p:sldId id="1184" r:id="rId22"/>
    <p:sldId id="1172" r:id="rId23"/>
    <p:sldId id="1173" r:id="rId24"/>
    <p:sldId id="1188" r:id="rId25"/>
    <p:sldId id="1174" r:id="rId26"/>
    <p:sldId id="1189" r:id="rId27"/>
    <p:sldId id="1190" r:id="rId28"/>
    <p:sldId id="1193" r:id="rId29"/>
    <p:sldId id="1194" r:id="rId30"/>
    <p:sldId id="1191" r:id="rId31"/>
    <p:sldId id="1192" r:id="rId32"/>
    <p:sldId id="1195" r:id="rId33"/>
    <p:sldId id="1196" r:id="rId34"/>
    <p:sldId id="1197" r:id="rId35"/>
    <p:sldId id="1198" r:id="rId36"/>
    <p:sldId id="1199" r:id="rId37"/>
    <p:sldId id="1200" r:id="rId38"/>
    <p:sldId id="1201" r:id="rId39"/>
    <p:sldId id="1157" r:id="rId40"/>
  </p:sldIdLst>
  <p:sldSz cx="9144000" cy="6858000" type="screen4x3"/>
  <p:notesSz cx="6799263" cy="99298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b="1" kern="1200">
        <a:solidFill>
          <a:srgbClr val="666699"/>
        </a:solidFill>
        <a:latin typeface="Trebuchet MS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000" b="1" kern="1200">
        <a:solidFill>
          <a:srgbClr val="666699"/>
        </a:solidFill>
        <a:latin typeface="Trebuchet MS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000" b="1" kern="1200">
        <a:solidFill>
          <a:srgbClr val="666699"/>
        </a:solidFill>
        <a:latin typeface="Trebuchet MS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000" b="1" kern="1200">
        <a:solidFill>
          <a:srgbClr val="666699"/>
        </a:solidFill>
        <a:latin typeface="Trebuchet MS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000" b="1" kern="1200">
        <a:solidFill>
          <a:srgbClr val="666699"/>
        </a:solidFill>
        <a:latin typeface="Trebuchet MS" pitchFamily="34" charset="0"/>
        <a:ea typeface="+mn-ea"/>
        <a:cs typeface="Arial" charset="0"/>
      </a:defRPr>
    </a:lvl5pPr>
    <a:lvl6pPr marL="2286000" algn="l" defTabSz="914400" rtl="0" eaLnBrk="1" latinLnBrk="0" hangingPunct="1">
      <a:defRPr sz="2000" b="1" kern="1200">
        <a:solidFill>
          <a:srgbClr val="666699"/>
        </a:solidFill>
        <a:latin typeface="Trebuchet MS" pitchFamily="34" charset="0"/>
        <a:ea typeface="+mn-ea"/>
        <a:cs typeface="Arial" charset="0"/>
      </a:defRPr>
    </a:lvl6pPr>
    <a:lvl7pPr marL="2743200" algn="l" defTabSz="914400" rtl="0" eaLnBrk="1" latinLnBrk="0" hangingPunct="1">
      <a:defRPr sz="2000" b="1" kern="1200">
        <a:solidFill>
          <a:srgbClr val="666699"/>
        </a:solidFill>
        <a:latin typeface="Trebuchet MS" pitchFamily="34" charset="0"/>
        <a:ea typeface="+mn-ea"/>
        <a:cs typeface="Arial" charset="0"/>
      </a:defRPr>
    </a:lvl7pPr>
    <a:lvl8pPr marL="3200400" algn="l" defTabSz="914400" rtl="0" eaLnBrk="1" latinLnBrk="0" hangingPunct="1">
      <a:defRPr sz="2000" b="1" kern="1200">
        <a:solidFill>
          <a:srgbClr val="666699"/>
        </a:solidFill>
        <a:latin typeface="Trebuchet MS" pitchFamily="34" charset="0"/>
        <a:ea typeface="+mn-ea"/>
        <a:cs typeface="Arial" charset="0"/>
      </a:defRPr>
    </a:lvl8pPr>
    <a:lvl9pPr marL="3657600" algn="l" defTabSz="914400" rtl="0" eaLnBrk="1" latinLnBrk="0" hangingPunct="1">
      <a:defRPr sz="2000" b="1" kern="1200">
        <a:solidFill>
          <a:srgbClr val="666699"/>
        </a:solidFill>
        <a:latin typeface="Trebuchet MS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ie Launay" initials="ML" lastIdx="1" clrIdx="0">
    <p:extLst>
      <p:ext uri="{19B8F6BF-5375-455C-9EA6-DF929625EA0E}">
        <p15:presenceInfo xmlns:p15="http://schemas.microsoft.com/office/powerpoint/2012/main" userId="S-1-5-21-3569255166-3711921035-3486062074-10757" providerId="AD"/>
      </p:ext>
    </p:extLst>
  </p:cmAuthor>
  <p:cmAuthor id="2" name="Eric Justes" initials="EJ" lastIdx="1" clrIdx="1">
    <p:extLst>
      <p:ext uri="{19B8F6BF-5375-455C-9EA6-DF929625EA0E}">
        <p15:presenceInfo xmlns:p15="http://schemas.microsoft.com/office/powerpoint/2012/main" userId="S-1-5-21-3569255166-3711921035-3486062074-1384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6600"/>
    <a:srgbClr val="0066FF"/>
    <a:srgbClr val="990099"/>
    <a:srgbClr val="CC0099"/>
    <a:srgbClr val="6666FF"/>
    <a:srgbClr val="FF3399"/>
    <a:srgbClr val="FFC000"/>
    <a:srgbClr val="009999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853" autoAdjust="0"/>
    <p:restoredTop sz="95865" autoAdjust="0"/>
  </p:normalViewPr>
  <p:slideViewPr>
    <p:cSldViewPr snapToGrid="0">
      <p:cViewPr varScale="1">
        <p:scale>
          <a:sx n="99" d="100"/>
          <a:sy n="99" d="100"/>
        </p:scale>
        <p:origin x="662" y="298"/>
      </p:cViewPr>
      <p:guideLst>
        <p:guide orient="horz" pos="2160"/>
        <p:guide pos="2880"/>
      </p:guideLst>
    </p:cSldViewPr>
  </p:slideViewPr>
  <p:outlineViewPr>
    <p:cViewPr>
      <p:scale>
        <a:sx n="100" d="100"/>
        <a:sy n="100" d="100"/>
      </p:scale>
      <p:origin x="0" y="-640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2704" y="48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commentAuthors" Target="commentAuthor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theme" Target="theme/theme1.xml"/><Relationship Id="rId20" Type="http://schemas.openxmlformats.org/officeDocument/2006/relationships/slide" Target="slides/slide12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347" cy="496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342" y="0"/>
            <a:ext cx="2946347" cy="496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B09877D-425D-42B7-B4DC-72598AB1DA4E}" type="datetimeFigureOut">
              <a:rPr lang="en-US"/>
              <a:pPr>
                <a:defRPr/>
              </a:pPr>
              <a:t>11/22/2023</a:t>
            </a:fld>
            <a:endParaRPr lang="en-US"/>
          </a:p>
        </p:txBody>
      </p:sp>
      <p:sp>
        <p:nvSpPr>
          <p:cNvPr id="1208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599"/>
            <a:ext cx="2946347" cy="496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342" y="9431599"/>
            <a:ext cx="2946347" cy="496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29C0C11-50DE-4475-A4C1-B51F38DA8C3D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4522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347" cy="496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 b="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30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916" y="0"/>
            <a:ext cx="2946347" cy="496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 b="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4113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0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569" y="4716661"/>
            <a:ext cx="4986126" cy="4468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30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3322"/>
            <a:ext cx="2946347" cy="496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 b="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30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916" y="9433322"/>
            <a:ext cx="2946347" cy="496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 b="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45C1E192-0840-4BC5-972B-A6FDE0492D0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34174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>
              <a:buNone/>
            </a:pPr>
            <a:endParaRPr lang="fr-F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515235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52301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824817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25820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Les 4 </a:t>
            </a:r>
            <a:r>
              <a:rPr lang="fr-FR" dirty="0" err="1" smtClean="0"/>
              <a:t>regulations</a:t>
            </a:r>
            <a:endParaRPr lang="fr-FR" dirty="0" smtClean="0"/>
          </a:p>
          <a:p>
            <a:r>
              <a:rPr lang="fr-FR" dirty="0" smtClean="0"/>
              <a:t>Effet 1 : réduction de la vitesse de décomposition</a:t>
            </a:r>
          </a:p>
          <a:p>
            <a:r>
              <a:rPr lang="fr-FR" dirty="0" smtClean="0"/>
              <a:t>Effet 2 : réduction du rapport N/C de la biomasse microbienne</a:t>
            </a:r>
          </a:p>
          <a:p>
            <a:r>
              <a:rPr lang="fr-FR" dirty="0" smtClean="0"/>
              <a:t>Effet 3 : réduction du rapport N/C de l’humus néoformé</a:t>
            </a:r>
          </a:p>
          <a:p>
            <a:r>
              <a:rPr lang="fr-FR" dirty="0" smtClean="0"/>
              <a:t>Effet 4 : apparition d’un ”Priming </a:t>
            </a:r>
            <a:r>
              <a:rPr lang="fr-FR" dirty="0" err="1" smtClean="0"/>
              <a:t>effect</a:t>
            </a:r>
            <a:r>
              <a:rPr lang="fr-FR" dirty="0" smtClean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2110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Les apports de résidus racinaires à la récolte ou à la fauche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C6663F-C98B-4797-9D47-DE1ED22BC569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3913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66DC7E-4EF7-40CC-AF19-559A919E28DA}" type="slidenum"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fr-FR" dirty="0" smtClean="0"/>
              <a:t>Pas très prédictive pour les sols sableux et non calcaires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276006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66DC7E-4EF7-40CC-AF19-559A919E28DA}" type="slidenum"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fr-FR" dirty="0" smtClean="0"/>
              <a:t>Pas très prédictive pour les sols sableux et non calcaires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276541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8825" cy="3427412"/>
          </a:xfrm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828" y="4343253"/>
            <a:ext cx="5488347" cy="4113029"/>
          </a:xfrm>
        </p:spPr>
        <p:txBody>
          <a:bodyPr/>
          <a:lstStyle/>
          <a:p>
            <a:r>
              <a:rPr lang="fr-FR" dirty="0" smtClean="0"/>
              <a:t>Par processus, quelles sont nos interrogations (qui nous poussent éventuellement à proposer des modifications ?)</a:t>
            </a:r>
          </a:p>
          <a:p>
            <a:endParaRPr lang="fr-FR" dirty="0" smtClean="0"/>
          </a:p>
          <a:p>
            <a:r>
              <a:rPr lang="fr-FR" dirty="0" smtClean="0"/>
              <a:t>- </a:t>
            </a:r>
            <a:r>
              <a:rPr lang="fr-FR" dirty="0" err="1" smtClean="0"/>
              <a:t>dénit</a:t>
            </a:r>
            <a:r>
              <a:rPr lang="fr-FR" dirty="0" smtClean="0"/>
              <a:t> peu touchée dans son formalisme, mais :</a:t>
            </a:r>
          </a:p>
          <a:p>
            <a:r>
              <a:rPr lang="fr-FR" dirty="0" smtClean="0"/>
              <a:t>1) des interrogations sur la valeur du Km de la relation de </a:t>
            </a:r>
            <a:r>
              <a:rPr lang="fr-FR" dirty="0" err="1" smtClean="0"/>
              <a:t>Michaelis-Menten</a:t>
            </a:r>
            <a:r>
              <a:rPr lang="fr-FR" dirty="0" smtClean="0"/>
              <a:t> qui relie l’activité </a:t>
            </a:r>
            <a:r>
              <a:rPr lang="fr-FR" dirty="0" err="1" smtClean="0"/>
              <a:t>dénitrifiante</a:t>
            </a:r>
            <a:r>
              <a:rPr lang="fr-FR" dirty="0" smtClean="0"/>
              <a:t> à la concentration en NO3 (labo, champs ; remanié ou pas...)</a:t>
            </a:r>
          </a:p>
          <a:p>
            <a:r>
              <a:rPr lang="fr-FR" dirty="0" smtClean="0"/>
              <a:t>2) fonction température</a:t>
            </a:r>
          </a:p>
          <a:p>
            <a:endParaRPr lang="fr-FR" dirty="0" smtClean="0"/>
          </a:p>
          <a:p>
            <a:r>
              <a:rPr lang="fr-FR" dirty="0" smtClean="0"/>
              <a:t>- nit : </a:t>
            </a:r>
          </a:p>
          <a:p>
            <a:r>
              <a:rPr lang="fr-FR" dirty="0" smtClean="0"/>
              <a:t>1) cosmétique pour distinguer potentiel et effet eau</a:t>
            </a:r>
          </a:p>
          <a:p>
            <a:r>
              <a:rPr lang="fr-FR" dirty="0" smtClean="0"/>
              <a:t>2) minéralisation pour apports NH4 hors fertilisation</a:t>
            </a:r>
          </a:p>
          <a:p>
            <a:r>
              <a:rPr lang="fr-FR" dirty="0" smtClean="0"/>
              <a:t>3) question de la cohérence avec STICS</a:t>
            </a:r>
          </a:p>
          <a:p>
            <a:endParaRPr lang="fr-FR" dirty="0" smtClean="0"/>
          </a:p>
          <a:p>
            <a:r>
              <a:rPr lang="fr-FR" dirty="0" smtClean="0"/>
              <a:t>- ratios</a:t>
            </a:r>
          </a:p>
          <a:p>
            <a:r>
              <a:rPr lang="fr-FR" dirty="0" smtClean="0"/>
              <a:t>1) nit assez variable selon les sols, mais aussi en fonction de la teneur en eau</a:t>
            </a:r>
          </a:p>
          <a:p>
            <a:r>
              <a:rPr lang="fr-FR" dirty="0" smtClean="0"/>
              <a:t>2) </a:t>
            </a:r>
            <a:r>
              <a:rPr lang="fr-FR" dirty="0" err="1" smtClean="0"/>
              <a:t>denit</a:t>
            </a:r>
            <a:r>
              <a:rPr lang="fr-FR" dirty="0" smtClean="0"/>
              <a:t> dépendant eau et nitrates</a:t>
            </a:r>
          </a:p>
          <a:p>
            <a:endParaRPr lang="fr-FR" dirty="0" smtClean="0"/>
          </a:p>
          <a:p>
            <a:r>
              <a:rPr lang="fr-FR" dirty="0" smtClean="0"/>
              <a:t>effets températures aussi...</a:t>
            </a:r>
          </a:p>
        </p:txBody>
      </p:sp>
    </p:spTree>
    <p:extLst>
      <p:ext uri="{BB962C8B-B14F-4D97-AF65-F5344CB8AC3E}">
        <p14:creationId xmlns:p14="http://schemas.microsoft.com/office/powerpoint/2010/main" val="26492988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8825" cy="3427412"/>
          </a:xfrm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828" y="4343253"/>
            <a:ext cx="5488347" cy="4113029"/>
          </a:xfrm>
        </p:spPr>
        <p:txBody>
          <a:bodyPr/>
          <a:lstStyle/>
          <a:p>
            <a:r>
              <a:rPr lang="fr-FR" dirty="0" smtClean="0"/>
              <a:t>Par processus, quelles sont nos interrogations (qui nous poussent éventuellement à proposer des modifications ?)</a:t>
            </a:r>
          </a:p>
          <a:p>
            <a:endParaRPr lang="fr-FR" dirty="0" smtClean="0"/>
          </a:p>
          <a:p>
            <a:r>
              <a:rPr lang="fr-FR" dirty="0" smtClean="0"/>
              <a:t>- </a:t>
            </a:r>
            <a:r>
              <a:rPr lang="fr-FR" dirty="0" err="1" smtClean="0"/>
              <a:t>dénit</a:t>
            </a:r>
            <a:r>
              <a:rPr lang="fr-FR" dirty="0" smtClean="0"/>
              <a:t> peu touchée dans son formalisme, mais :</a:t>
            </a:r>
          </a:p>
          <a:p>
            <a:r>
              <a:rPr lang="fr-FR" dirty="0" smtClean="0"/>
              <a:t>1) des interrogations sur la valeur du Km de la relation de </a:t>
            </a:r>
            <a:r>
              <a:rPr lang="fr-FR" dirty="0" err="1" smtClean="0"/>
              <a:t>Michaelis-Menten</a:t>
            </a:r>
            <a:r>
              <a:rPr lang="fr-FR" dirty="0" smtClean="0"/>
              <a:t> qui relie l’activité </a:t>
            </a:r>
            <a:r>
              <a:rPr lang="fr-FR" dirty="0" err="1" smtClean="0"/>
              <a:t>dénitrifiante</a:t>
            </a:r>
            <a:r>
              <a:rPr lang="fr-FR" dirty="0" smtClean="0"/>
              <a:t> à la concentration en NO3 (labo, champs ; remanié ou pas...)</a:t>
            </a:r>
          </a:p>
          <a:p>
            <a:r>
              <a:rPr lang="fr-FR" dirty="0" smtClean="0"/>
              <a:t>2) fonction température</a:t>
            </a:r>
          </a:p>
          <a:p>
            <a:endParaRPr lang="fr-FR" dirty="0" smtClean="0"/>
          </a:p>
          <a:p>
            <a:r>
              <a:rPr lang="fr-FR" dirty="0" smtClean="0"/>
              <a:t>- nit : </a:t>
            </a:r>
          </a:p>
          <a:p>
            <a:r>
              <a:rPr lang="fr-FR" dirty="0" smtClean="0"/>
              <a:t>1) cosmétique pour distinguer potentiel et effet eau</a:t>
            </a:r>
          </a:p>
          <a:p>
            <a:r>
              <a:rPr lang="fr-FR" dirty="0" smtClean="0"/>
              <a:t>2) minéralisation pour apports NH4 hors fertilisation</a:t>
            </a:r>
          </a:p>
          <a:p>
            <a:r>
              <a:rPr lang="fr-FR" dirty="0" smtClean="0"/>
              <a:t>3) question de la cohérence avec STICS</a:t>
            </a:r>
          </a:p>
          <a:p>
            <a:endParaRPr lang="fr-FR" dirty="0" smtClean="0"/>
          </a:p>
          <a:p>
            <a:r>
              <a:rPr lang="fr-FR" dirty="0" smtClean="0"/>
              <a:t>- ratios</a:t>
            </a:r>
          </a:p>
          <a:p>
            <a:r>
              <a:rPr lang="fr-FR" dirty="0" smtClean="0"/>
              <a:t>1) nit assez variable selon les sols, mais aussi en fonction de la teneur en eau</a:t>
            </a:r>
          </a:p>
          <a:p>
            <a:r>
              <a:rPr lang="fr-FR" dirty="0" smtClean="0"/>
              <a:t>2) </a:t>
            </a:r>
            <a:r>
              <a:rPr lang="fr-FR" dirty="0" err="1" smtClean="0"/>
              <a:t>denit</a:t>
            </a:r>
            <a:r>
              <a:rPr lang="fr-FR" dirty="0" smtClean="0"/>
              <a:t> dépendant eau et nitrates</a:t>
            </a:r>
          </a:p>
          <a:p>
            <a:endParaRPr lang="fr-FR" dirty="0" smtClean="0"/>
          </a:p>
          <a:p>
            <a:r>
              <a:rPr lang="fr-FR" dirty="0" smtClean="0"/>
              <a:t>effets températures aussi...</a:t>
            </a:r>
          </a:p>
        </p:txBody>
      </p:sp>
    </p:spTree>
    <p:extLst>
      <p:ext uri="{BB962C8B-B14F-4D97-AF65-F5344CB8AC3E}">
        <p14:creationId xmlns:p14="http://schemas.microsoft.com/office/powerpoint/2010/main" val="1712361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8825" cy="3427412"/>
          </a:xfrm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828" y="4343253"/>
            <a:ext cx="5488347" cy="4113029"/>
          </a:xfrm>
        </p:spPr>
        <p:txBody>
          <a:bodyPr/>
          <a:lstStyle/>
          <a:p>
            <a:r>
              <a:rPr lang="fr-FR" dirty="0" smtClean="0"/>
              <a:t>Par processus, quelles sont nos interrogations (qui nous poussent éventuellement à proposer des modifications ?)</a:t>
            </a:r>
          </a:p>
          <a:p>
            <a:endParaRPr lang="fr-FR" dirty="0" smtClean="0"/>
          </a:p>
          <a:p>
            <a:r>
              <a:rPr lang="fr-FR" dirty="0" smtClean="0"/>
              <a:t>- </a:t>
            </a:r>
            <a:r>
              <a:rPr lang="fr-FR" dirty="0" err="1" smtClean="0"/>
              <a:t>dénit</a:t>
            </a:r>
            <a:r>
              <a:rPr lang="fr-FR" dirty="0" smtClean="0"/>
              <a:t> peu touchée dans son formalisme, mais :</a:t>
            </a:r>
          </a:p>
          <a:p>
            <a:r>
              <a:rPr lang="fr-FR" dirty="0" smtClean="0"/>
              <a:t>1) des interrogations sur la valeur du Km de la relation de </a:t>
            </a:r>
            <a:r>
              <a:rPr lang="fr-FR" dirty="0" err="1" smtClean="0"/>
              <a:t>Michaelis-Menten</a:t>
            </a:r>
            <a:r>
              <a:rPr lang="fr-FR" dirty="0" smtClean="0"/>
              <a:t> qui relie l’activité </a:t>
            </a:r>
            <a:r>
              <a:rPr lang="fr-FR" dirty="0" err="1" smtClean="0"/>
              <a:t>dénitrifiante</a:t>
            </a:r>
            <a:r>
              <a:rPr lang="fr-FR" dirty="0" smtClean="0"/>
              <a:t> à la concentration en NO3 (labo, champs ; remanié ou pas...)</a:t>
            </a:r>
          </a:p>
          <a:p>
            <a:r>
              <a:rPr lang="fr-FR" dirty="0" smtClean="0"/>
              <a:t>2) fonction température</a:t>
            </a:r>
          </a:p>
          <a:p>
            <a:endParaRPr lang="fr-FR" dirty="0" smtClean="0"/>
          </a:p>
          <a:p>
            <a:r>
              <a:rPr lang="fr-FR" dirty="0" smtClean="0"/>
              <a:t>- nit : </a:t>
            </a:r>
          </a:p>
          <a:p>
            <a:r>
              <a:rPr lang="fr-FR" dirty="0" smtClean="0"/>
              <a:t>1) cosmétique pour distinguer potentiel et effet eau</a:t>
            </a:r>
          </a:p>
          <a:p>
            <a:r>
              <a:rPr lang="fr-FR" dirty="0" smtClean="0"/>
              <a:t>2) minéralisation pour apports NH4 hors fertilisation</a:t>
            </a:r>
          </a:p>
          <a:p>
            <a:r>
              <a:rPr lang="fr-FR" dirty="0" smtClean="0"/>
              <a:t>3) question de la cohérence avec STICS</a:t>
            </a:r>
          </a:p>
          <a:p>
            <a:endParaRPr lang="fr-FR" dirty="0" smtClean="0"/>
          </a:p>
          <a:p>
            <a:r>
              <a:rPr lang="fr-FR" dirty="0" smtClean="0"/>
              <a:t>- ratios</a:t>
            </a:r>
          </a:p>
          <a:p>
            <a:r>
              <a:rPr lang="fr-FR" dirty="0" smtClean="0"/>
              <a:t>1) nit assez variable selon les sols, mais aussi en fonction de la teneur en eau</a:t>
            </a:r>
          </a:p>
          <a:p>
            <a:r>
              <a:rPr lang="fr-FR" dirty="0" smtClean="0"/>
              <a:t>2) </a:t>
            </a:r>
            <a:r>
              <a:rPr lang="fr-FR" dirty="0" err="1" smtClean="0"/>
              <a:t>denit</a:t>
            </a:r>
            <a:r>
              <a:rPr lang="fr-FR" dirty="0" smtClean="0"/>
              <a:t> dépendant eau et nitrates</a:t>
            </a:r>
          </a:p>
          <a:p>
            <a:endParaRPr lang="fr-FR" dirty="0" smtClean="0"/>
          </a:p>
          <a:p>
            <a:r>
              <a:rPr lang="fr-FR" dirty="0" smtClean="0"/>
              <a:t>effets températures aussi...</a:t>
            </a:r>
          </a:p>
        </p:txBody>
      </p:sp>
    </p:spTree>
    <p:extLst>
      <p:ext uri="{BB962C8B-B14F-4D97-AF65-F5344CB8AC3E}">
        <p14:creationId xmlns:p14="http://schemas.microsoft.com/office/powerpoint/2010/main" val="33930260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D403A4-5BC9-431F-9E10-10BE3157E08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9253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D403A4-5BC9-431F-9E10-10BE3157E08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20727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D403A4-5BC9-431F-9E10-10BE3157E08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6181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D403A4-5BC9-431F-9E10-10BE3157E08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3142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63930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AD17C407-1745-4E52-8093-2727FE134D23}"/>
              </a:ext>
            </a:extLst>
          </p:cNvPr>
          <p:cNvGrpSpPr/>
          <p:nvPr userDrawn="1"/>
        </p:nvGrpSpPr>
        <p:grpSpPr>
          <a:xfrm>
            <a:off x="0" y="6159261"/>
            <a:ext cx="9144000" cy="698740"/>
            <a:chOff x="0" y="6159261"/>
            <a:chExt cx="9144000" cy="69874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01CFF2A-49E4-4E9D-8744-CD0C4246D740}"/>
                </a:ext>
              </a:extLst>
            </p:cNvPr>
            <p:cNvSpPr/>
            <p:nvPr userDrawn="1"/>
          </p:nvSpPr>
          <p:spPr bwMode="auto">
            <a:xfrm>
              <a:off x="0" y="6159261"/>
              <a:ext cx="9144000" cy="698740"/>
            </a:xfrm>
            <a:prstGeom prst="rect">
              <a:avLst/>
            </a:prstGeom>
            <a:solidFill>
              <a:srgbClr val="009999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2000" b="1" i="0" u="none" strike="noStrike" cap="none" normalizeH="0" baseline="0">
                <a:ln>
                  <a:noFill/>
                </a:ln>
                <a:solidFill>
                  <a:srgbClr val="666699"/>
                </a:solidFill>
                <a:effectLst/>
                <a:latin typeface="Trebuchet MS" pitchFamily="34" charset="0"/>
              </a:endParaRP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FA388F37-0B1D-419A-A4A2-F0153B3A441D}"/>
                </a:ext>
              </a:extLst>
            </p:cNvPr>
            <p:cNvSpPr txBox="1"/>
            <p:nvPr userDrawn="1"/>
          </p:nvSpPr>
          <p:spPr>
            <a:xfrm>
              <a:off x="32791" y="6327350"/>
              <a:ext cx="89746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chemeClr val="bg1"/>
                  </a:solidFill>
                </a:rPr>
                <a:t>STICS </a:t>
              </a:r>
              <a:r>
                <a:rPr lang="fr-FR" dirty="0" err="1">
                  <a:solidFill>
                    <a:schemeClr val="bg1"/>
                  </a:solidFill>
                </a:rPr>
                <a:t>Soil</a:t>
              </a:r>
              <a:r>
                <a:rPr lang="fr-FR" dirty="0">
                  <a:solidFill>
                    <a:schemeClr val="bg1"/>
                  </a:solidFill>
                </a:rPr>
                <a:t> </a:t>
              </a:r>
              <a:r>
                <a:rPr lang="fr-FR" dirty="0" err="1">
                  <a:solidFill>
                    <a:schemeClr val="bg1"/>
                  </a:solidFill>
                </a:rPr>
                <a:t>Crop</a:t>
              </a:r>
              <a:r>
                <a:rPr lang="fr-FR" dirty="0">
                  <a:solidFill>
                    <a:schemeClr val="bg1"/>
                  </a:solidFill>
                </a:rPr>
                <a:t> Model - Online training course – </a:t>
              </a:r>
              <a:r>
                <a:rPr lang="fr-FR" dirty="0" err="1" smtClean="0">
                  <a:solidFill>
                    <a:schemeClr val="bg1"/>
                  </a:solidFill>
                </a:rPr>
                <a:t>Automn</a:t>
              </a:r>
              <a:r>
                <a:rPr lang="fr-FR" dirty="0" smtClean="0">
                  <a:solidFill>
                    <a:schemeClr val="bg1"/>
                  </a:solidFill>
                </a:rPr>
                <a:t> </a:t>
              </a:r>
              <a:r>
                <a:rPr lang="fr-FR" dirty="0" smtClean="0">
                  <a:solidFill>
                    <a:schemeClr val="bg1"/>
                  </a:solidFill>
                </a:rPr>
                <a:t>2023</a:t>
              </a:r>
              <a:endParaRPr lang="fr-FR" dirty="0">
                <a:solidFill>
                  <a:schemeClr val="bg1"/>
                </a:solidFill>
              </a:endParaRPr>
            </a:p>
          </p:txBody>
        </p:sp>
      </p:grpSp>
      <p:sp>
        <p:nvSpPr>
          <p:cNvPr id="10803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fr-FR" altLang="en-US"/>
              <a:t>Cliquez pour modifier le style du titre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702945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FR" altLang="en-US"/>
          </a:p>
        </p:txBody>
      </p:sp>
      <p:sp>
        <p:nvSpPr>
          <p:cNvPr id="9" name="Espace réservé du numéro de diapositive 3">
            <a:extLst>
              <a:ext uri="{FF2B5EF4-FFF2-40B4-BE49-F238E27FC236}">
                <a16:creationId xmlns:a16="http://schemas.microsoft.com/office/drawing/2014/main" id="{D8F870DB-2751-45D7-9596-DA84A5947A4F}"/>
              </a:ext>
            </a:extLst>
          </p:cNvPr>
          <p:cNvSpPr txBox="1">
            <a:spLocks/>
          </p:cNvSpPr>
          <p:nvPr userDrawn="1"/>
        </p:nvSpPr>
        <p:spPr>
          <a:xfrm>
            <a:off x="7885113" y="6245225"/>
            <a:ext cx="1122362" cy="2508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BE" sz="16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.0</a:t>
            </a:r>
            <a:fld id="{0B289E1E-1EA8-4623-A2C9-B8A4246E6D87}" type="slidenum">
              <a:rPr lang="fr-BE" sz="160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‹N°›</a:t>
            </a:fld>
            <a:endParaRPr lang="fr-BE" sz="16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505200" y="6237288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0CC453-B2F1-4B52-AD8A-6A214F7A8D55}" type="slidenum">
              <a:rPr lang="fr-FR" altLang="en-US"/>
              <a:pPr>
                <a:defRPr/>
              </a:pPr>
              <a:t>‹N°›</a:t>
            </a:fld>
            <a:endParaRPr lang="fr-F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505200" y="6237288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FC6FAD-9324-439B-B140-76643DE0A700}" type="slidenum">
              <a:rPr lang="fr-FR" altLang="en-US"/>
              <a:pPr>
                <a:defRPr/>
              </a:pPr>
              <a:t>‹N°›</a:t>
            </a:fld>
            <a:endParaRPr lang="fr-F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Espace réservé de la date 4"/>
          <p:cNvSpPr>
            <a:spLocks noGrp="1" noChangeArrowheads="1"/>
          </p:cNvSpPr>
          <p:nvPr>
            <p:ph type="dt" sz="half" idx="10"/>
          </p:nvPr>
        </p:nvSpPr>
        <p:spPr>
          <a:xfrm>
            <a:off x="3505200" y="6237288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en-US"/>
          </a:p>
        </p:txBody>
      </p:sp>
      <p:sp>
        <p:nvSpPr>
          <p:cNvPr id="6" name="Espace réservé du pied de pag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638" y="638175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5AF92-5A9A-4618-9E5C-184E40C09C80}" type="slidenum">
              <a:rPr lang="fr-FR" altLang="en-US"/>
              <a:pPr>
                <a:defRPr/>
              </a:pPr>
              <a:t>‹N°›</a:t>
            </a:fld>
            <a:endParaRPr lang="fr-F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505200" y="6237288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638" y="638175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960FC9-A2EB-430B-B567-2CED8A4459F7}" type="slidenum">
              <a:rPr lang="fr-FR" altLang="en-US"/>
              <a:pPr>
                <a:defRPr/>
              </a:pPr>
              <a:t>‹N°›</a:t>
            </a:fld>
            <a:endParaRPr lang="fr-F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505200" y="6237288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638" y="638175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0057FC-29CC-4C52-B648-C8517FAAEC61}" type="slidenum">
              <a:rPr lang="fr-FR" altLang="en-US"/>
              <a:pPr>
                <a:defRPr/>
              </a:pPr>
              <a:t>‹N°›</a:t>
            </a:fld>
            <a:endParaRPr lang="fr-F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505200" y="6237288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638" y="638175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A5C39D-8A46-4171-B9AE-7C4C00E7DA57}" type="slidenum">
              <a:rPr lang="fr-FR" altLang="en-US"/>
              <a:pPr>
                <a:defRPr/>
              </a:pPr>
              <a:t>‹N°›</a:t>
            </a:fld>
            <a:endParaRPr lang="fr-F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Espace réservé de la date 4"/>
          <p:cNvSpPr>
            <a:spLocks noGrp="1" noChangeArrowheads="1"/>
          </p:cNvSpPr>
          <p:nvPr>
            <p:ph type="dt" sz="half" idx="10"/>
          </p:nvPr>
        </p:nvSpPr>
        <p:spPr>
          <a:xfrm>
            <a:off x="3505200" y="6237288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en-US"/>
          </a:p>
        </p:txBody>
      </p:sp>
      <p:sp>
        <p:nvSpPr>
          <p:cNvPr id="6" name="Espace réservé du pied de pag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638" y="638175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D7D20A-8466-4002-A750-8AD15664DCBA}" type="slidenum">
              <a:rPr lang="fr-FR" altLang="en-US"/>
              <a:pPr>
                <a:defRPr/>
              </a:pPr>
              <a:t>‹N°›</a:t>
            </a:fld>
            <a:endParaRPr lang="fr-F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Espace réservé de la date 4"/>
          <p:cNvSpPr>
            <a:spLocks noGrp="1" noChangeArrowheads="1"/>
          </p:cNvSpPr>
          <p:nvPr>
            <p:ph type="dt" sz="half" idx="10"/>
          </p:nvPr>
        </p:nvSpPr>
        <p:spPr>
          <a:xfrm>
            <a:off x="3505200" y="6237288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en-US"/>
          </a:p>
        </p:txBody>
      </p:sp>
      <p:sp>
        <p:nvSpPr>
          <p:cNvPr id="6" name="Espace réservé du pied de pag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638" y="638175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14AAF6-9CDC-4B04-8C20-FD2A277F848F}" type="slidenum">
              <a:rPr lang="fr-FR" altLang="en-US"/>
              <a:pPr>
                <a:defRPr/>
              </a:pPr>
              <a:t>‹N°›</a:t>
            </a:fld>
            <a:endParaRPr lang="fr-F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505200" y="6237288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638" y="638175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13C96E-BFB9-4EE7-A91B-F72AFF952C92}" type="slidenum">
              <a:rPr lang="fr-FR" altLang="en-US"/>
              <a:pPr>
                <a:defRPr/>
              </a:pPr>
              <a:t>‹N°›</a:t>
            </a:fld>
            <a:endParaRPr lang="fr-F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505200" y="6237288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638" y="638175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FE1E06-8AA9-410D-8A25-BC99B17E0B32}" type="slidenum">
              <a:rPr lang="fr-FR" altLang="en-US"/>
              <a:pPr>
                <a:defRPr/>
              </a:pPr>
              <a:t>‹N°›</a:t>
            </a:fld>
            <a:endParaRPr lang="fr-FR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cueil">
    <p:bg>
      <p:bgPr>
        <a:solidFill>
          <a:srgbClr val="6F9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44450"/>
            <a:ext cx="1304925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13" y="2852738"/>
            <a:ext cx="2160587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5732463"/>
            <a:ext cx="1260475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>
            <a:spLocks noChangeArrowheads="1"/>
          </p:cNvSpPr>
          <p:nvPr userDrawn="1"/>
        </p:nvSpPr>
        <p:spPr bwMode="auto">
          <a:xfrm>
            <a:off x="1259633" y="6381328"/>
            <a:ext cx="4680520" cy="404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Stics</a:t>
            </a:r>
            <a:r>
              <a:rPr kumimoji="0" lang="en-US" alt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crop model : Soil W and N balance</a:t>
            </a:r>
            <a:endParaRPr kumimoji="0" lang="fr-FR" altLang="fr-FR" sz="16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6004232" y="6201217"/>
            <a:ext cx="2061783" cy="58477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Online training course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2021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7418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cour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3"/>
          <p:cNvSpPr txBox="1">
            <a:spLocks/>
          </p:cNvSpPr>
          <p:nvPr userDrawn="1"/>
        </p:nvSpPr>
        <p:spPr>
          <a:xfrm>
            <a:off x="7986142" y="6453336"/>
            <a:ext cx="1122362" cy="2508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.0</a:t>
            </a:r>
            <a:fld id="{0B289E1E-1EA8-4623-A2C9-B8A4246E6D87}" type="slidenum">
              <a:rPr kumimoji="0" lang="fr-BE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 userDrawn="1"/>
        </p:nvSpPr>
        <p:spPr bwMode="auto">
          <a:xfrm>
            <a:off x="1259633" y="6381328"/>
            <a:ext cx="4680520" cy="404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Stics</a:t>
            </a:r>
            <a:r>
              <a:rPr kumimoji="0" lang="en-US" alt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crop model : Soil W and N balance</a:t>
            </a:r>
            <a:endParaRPr kumimoji="0" lang="fr-FR" altLang="fr-FR" sz="16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6357053" y="6201217"/>
            <a:ext cx="1356140" cy="58477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Online course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2021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8" y="6381328"/>
            <a:ext cx="1146859" cy="30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2005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79712" y="365125"/>
            <a:ext cx="6535638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F9D20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.0</a:t>
            </a:r>
            <a:fld id="{BA3227DA-F666-4F05-BCC7-FBBC8CC3F0D4}" type="slidenum">
              <a:rPr kumimoji="0" lang="fr-BE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0" y="6164263"/>
            <a:ext cx="9144000" cy="693737"/>
          </a:xfrm>
          <a:prstGeom prst="rect">
            <a:avLst/>
          </a:prstGeom>
          <a:solidFill>
            <a:srgbClr val="6F9D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308884"/>
            <a:ext cx="1080000" cy="447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 bwMode="auto">
          <a:xfrm>
            <a:off x="0" y="6119813"/>
            <a:ext cx="1403350" cy="46037"/>
          </a:xfrm>
          <a:prstGeom prst="rect">
            <a:avLst/>
          </a:prstGeom>
          <a:solidFill>
            <a:srgbClr val="C5D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Imag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44450"/>
            <a:ext cx="1304925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Espace réservé du numéro de diapositive 3"/>
          <p:cNvSpPr txBox="1">
            <a:spLocks/>
          </p:cNvSpPr>
          <p:nvPr userDrawn="1"/>
        </p:nvSpPr>
        <p:spPr>
          <a:xfrm>
            <a:off x="7885113" y="6245225"/>
            <a:ext cx="1122362" cy="2508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.0</a:t>
            </a:r>
            <a:fld id="{0B289E1E-1EA8-4623-A2C9-B8A4246E6D87}" type="slidenum">
              <a:rPr kumimoji="0" lang="fr-BE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2" name="Espace réservé du contenu 11"/>
          <p:cNvSpPr>
            <a:spLocks noGrp="1"/>
          </p:cNvSpPr>
          <p:nvPr userDrawn="1">
            <p:ph sz="quarter" idx="11"/>
          </p:nvPr>
        </p:nvSpPr>
        <p:spPr>
          <a:xfrm>
            <a:off x="250825" y="1989138"/>
            <a:ext cx="4177159" cy="407358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GB"/>
          </a:p>
        </p:txBody>
      </p:sp>
      <p:sp>
        <p:nvSpPr>
          <p:cNvPr id="14" name="Espace réservé du contenu 13"/>
          <p:cNvSpPr>
            <a:spLocks noGrp="1"/>
          </p:cNvSpPr>
          <p:nvPr userDrawn="1">
            <p:ph sz="quarter" idx="12"/>
          </p:nvPr>
        </p:nvSpPr>
        <p:spPr>
          <a:xfrm>
            <a:off x="4716016" y="2005013"/>
            <a:ext cx="4197797" cy="40576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dirty="0" smtClean="0"/>
              <a:t>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GB" dirty="0"/>
          </a:p>
        </p:txBody>
      </p:sp>
      <p:sp>
        <p:nvSpPr>
          <p:cNvPr id="13" name="Rectangle 2"/>
          <p:cNvSpPr>
            <a:spLocks noChangeArrowheads="1"/>
          </p:cNvSpPr>
          <p:nvPr userDrawn="1"/>
        </p:nvSpPr>
        <p:spPr bwMode="auto">
          <a:xfrm>
            <a:off x="1259633" y="6381328"/>
            <a:ext cx="4680520" cy="404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Stics</a:t>
            </a:r>
            <a:r>
              <a:rPr kumimoji="0" lang="en-US" alt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crop model : Soil W and N balance</a:t>
            </a:r>
            <a:endParaRPr kumimoji="0" lang="fr-FR" altLang="fr-FR" sz="16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6004232" y="6201217"/>
            <a:ext cx="2061783" cy="58477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Online training course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2021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85969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bg>
      <p:bgPr>
        <a:solidFill>
          <a:srgbClr val="6F9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44450"/>
            <a:ext cx="1304925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259633" y="6381328"/>
            <a:ext cx="4680520" cy="404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Stics</a:t>
            </a:r>
            <a:r>
              <a:rPr kumimoji="0" lang="en-US" alt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crop model : Soil W and N balance</a:t>
            </a:r>
            <a:endParaRPr kumimoji="0" lang="fr-FR" altLang="fr-FR" sz="16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6357053" y="6201217"/>
            <a:ext cx="1356140" cy="58477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Online course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2021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8" y="6381328"/>
            <a:ext cx="1146859" cy="30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0718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cueil">
    <p:bg>
      <p:bgPr>
        <a:solidFill>
          <a:srgbClr val="6F9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44450"/>
            <a:ext cx="1304925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13" y="2852738"/>
            <a:ext cx="2160587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5732463"/>
            <a:ext cx="1260475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>
            <a:spLocks noChangeArrowheads="1"/>
          </p:cNvSpPr>
          <p:nvPr userDrawn="1"/>
        </p:nvSpPr>
        <p:spPr bwMode="auto">
          <a:xfrm>
            <a:off x="1259633" y="6381328"/>
            <a:ext cx="4680520" cy="404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Stics</a:t>
            </a:r>
            <a:r>
              <a:rPr kumimoji="0" lang="en-US" alt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crop model : Soil W and N balance</a:t>
            </a:r>
            <a:endParaRPr kumimoji="0" lang="fr-FR" altLang="fr-FR" sz="16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6004232" y="6201217"/>
            <a:ext cx="2061783" cy="58477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Online training course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2021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6622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cour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3"/>
          <p:cNvSpPr txBox="1">
            <a:spLocks/>
          </p:cNvSpPr>
          <p:nvPr userDrawn="1"/>
        </p:nvSpPr>
        <p:spPr>
          <a:xfrm>
            <a:off x="7986142" y="6453336"/>
            <a:ext cx="1122362" cy="2508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.0</a:t>
            </a:r>
            <a:fld id="{0B289E1E-1EA8-4623-A2C9-B8A4246E6D87}" type="slidenum">
              <a:rPr kumimoji="0" lang="fr-BE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 userDrawn="1"/>
        </p:nvSpPr>
        <p:spPr bwMode="auto">
          <a:xfrm>
            <a:off x="1259633" y="6381328"/>
            <a:ext cx="4680520" cy="404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Stics</a:t>
            </a:r>
            <a:r>
              <a:rPr kumimoji="0" lang="en-US" alt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crop model : Soil W and N balance</a:t>
            </a:r>
            <a:endParaRPr kumimoji="0" lang="fr-FR" altLang="fr-FR" sz="16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6357053" y="6201217"/>
            <a:ext cx="1356140" cy="58477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Online course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2021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8" y="6381328"/>
            <a:ext cx="1146859" cy="30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9610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79712" y="365125"/>
            <a:ext cx="6535638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F9D20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.0</a:t>
            </a:r>
            <a:fld id="{BA3227DA-F666-4F05-BCC7-FBBC8CC3F0D4}" type="slidenum">
              <a:rPr kumimoji="0" lang="fr-BE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0" y="6164263"/>
            <a:ext cx="9144000" cy="693737"/>
          </a:xfrm>
          <a:prstGeom prst="rect">
            <a:avLst/>
          </a:prstGeom>
          <a:solidFill>
            <a:srgbClr val="6F9D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308884"/>
            <a:ext cx="1080000" cy="447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 bwMode="auto">
          <a:xfrm>
            <a:off x="0" y="6119813"/>
            <a:ext cx="1403350" cy="46037"/>
          </a:xfrm>
          <a:prstGeom prst="rect">
            <a:avLst/>
          </a:prstGeom>
          <a:solidFill>
            <a:srgbClr val="C5D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Imag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44450"/>
            <a:ext cx="1304925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Espace réservé du numéro de diapositive 3"/>
          <p:cNvSpPr txBox="1">
            <a:spLocks/>
          </p:cNvSpPr>
          <p:nvPr userDrawn="1"/>
        </p:nvSpPr>
        <p:spPr>
          <a:xfrm>
            <a:off x="7885113" y="6245225"/>
            <a:ext cx="1122362" cy="2508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.0</a:t>
            </a:r>
            <a:fld id="{0B289E1E-1EA8-4623-A2C9-B8A4246E6D87}" type="slidenum">
              <a:rPr kumimoji="0" lang="fr-BE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2" name="Espace réservé du contenu 11"/>
          <p:cNvSpPr>
            <a:spLocks noGrp="1"/>
          </p:cNvSpPr>
          <p:nvPr userDrawn="1">
            <p:ph sz="quarter" idx="11"/>
          </p:nvPr>
        </p:nvSpPr>
        <p:spPr>
          <a:xfrm>
            <a:off x="250825" y="1989138"/>
            <a:ext cx="4177159" cy="407358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GB"/>
          </a:p>
        </p:txBody>
      </p:sp>
      <p:sp>
        <p:nvSpPr>
          <p:cNvPr id="14" name="Espace réservé du contenu 13"/>
          <p:cNvSpPr>
            <a:spLocks noGrp="1"/>
          </p:cNvSpPr>
          <p:nvPr userDrawn="1">
            <p:ph sz="quarter" idx="12"/>
          </p:nvPr>
        </p:nvSpPr>
        <p:spPr>
          <a:xfrm>
            <a:off x="4716016" y="2005013"/>
            <a:ext cx="4197797" cy="40576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dirty="0" smtClean="0"/>
              <a:t>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GB" dirty="0"/>
          </a:p>
        </p:txBody>
      </p:sp>
      <p:sp>
        <p:nvSpPr>
          <p:cNvPr id="13" name="Rectangle 2"/>
          <p:cNvSpPr>
            <a:spLocks noChangeArrowheads="1"/>
          </p:cNvSpPr>
          <p:nvPr userDrawn="1"/>
        </p:nvSpPr>
        <p:spPr bwMode="auto">
          <a:xfrm>
            <a:off x="1259633" y="6381328"/>
            <a:ext cx="4680520" cy="404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Stics</a:t>
            </a:r>
            <a:r>
              <a:rPr kumimoji="0" lang="en-US" alt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crop model : Soil W and N balance</a:t>
            </a:r>
            <a:endParaRPr kumimoji="0" lang="fr-FR" altLang="fr-FR" sz="16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6004232" y="6201217"/>
            <a:ext cx="2061783" cy="58477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Online training course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2021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4588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bg>
      <p:bgPr>
        <a:solidFill>
          <a:srgbClr val="6F9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44450"/>
            <a:ext cx="1304925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259633" y="6381328"/>
            <a:ext cx="4680520" cy="404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Stics</a:t>
            </a:r>
            <a:r>
              <a:rPr kumimoji="0" lang="en-US" alt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crop model : Soil W and N balance</a:t>
            </a:r>
            <a:endParaRPr kumimoji="0" lang="fr-FR" altLang="fr-FR" sz="16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6357053" y="6201217"/>
            <a:ext cx="1356140" cy="58477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Online course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2021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8" y="6381328"/>
            <a:ext cx="1146859" cy="30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0546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cueil">
    <p:bg>
      <p:bgPr>
        <a:solidFill>
          <a:srgbClr val="6F9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44450"/>
            <a:ext cx="1304925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13" y="2852738"/>
            <a:ext cx="2160587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5732463"/>
            <a:ext cx="1260475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>
            <a:spLocks noChangeArrowheads="1"/>
          </p:cNvSpPr>
          <p:nvPr userDrawn="1"/>
        </p:nvSpPr>
        <p:spPr bwMode="auto">
          <a:xfrm>
            <a:off x="1259633" y="6381328"/>
            <a:ext cx="4680520" cy="404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Stics</a:t>
            </a:r>
            <a:r>
              <a:rPr kumimoji="0" lang="en-US" alt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crop model : Soil W and N balance</a:t>
            </a:r>
            <a:endParaRPr kumimoji="0" lang="fr-FR" altLang="fr-FR" sz="16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6004232" y="6201217"/>
            <a:ext cx="2061783" cy="58477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Online training course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2021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1169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cour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3"/>
          <p:cNvSpPr txBox="1">
            <a:spLocks/>
          </p:cNvSpPr>
          <p:nvPr userDrawn="1"/>
        </p:nvSpPr>
        <p:spPr>
          <a:xfrm>
            <a:off x="7986142" y="6453336"/>
            <a:ext cx="1122362" cy="2508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.0</a:t>
            </a:r>
            <a:fld id="{0B289E1E-1EA8-4623-A2C9-B8A4246E6D87}" type="slidenum">
              <a:rPr kumimoji="0" lang="fr-BE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 userDrawn="1"/>
        </p:nvSpPr>
        <p:spPr bwMode="auto">
          <a:xfrm>
            <a:off x="1259633" y="6381328"/>
            <a:ext cx="4680520" cy="404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Stics</a:t>
            </a:r>
            <a:r>
              <a:rPr kumimoji="0" lang="en-US" alt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crop model : Soil W and N balance</a:t>
            </a:r>
            <a:endParaRPr kumimoji="0" lang="fr-FR" altLang="fr-FR" sz="16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6357053" y="6201217"/>
            <a:ext cx="1356140" cy="58477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Online course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2021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8" y="6381328"/>
            <a:ext cx="1146859" cy="30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6733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79712" y="365125"/>
            <a:ext cx="6535638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F9D20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.0</a:t>
            </a:r>
            <a:fld id="{BA3227DA-F666-4F05-BCC7-FBBC8CC3F0D4}" type="slidenum">
              <a:rPr kumimoji="0" lang="fr-BE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0" y="6164263"/>
            <a:ext cx="9144000" cy="693737"/>
          </a:xfrm>
          <a:prstGeom prst="rect">
            <a:avLst/>
          </a:prstGeom>
          <a:solidFill>
            <a:srgbClr val="6F9D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308884"/>
            <a:ext cx="1080000" cy="447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 bwMode="auto">
          <a:xfrm>
            <a:off x="0" y="6119813"/>
            <a:ext cx="1403350" cy="46037"/>
          </a:xfrm>
          <a:prstGeom prst="rect">
            <a:avLst/>
          </a:prstGeom>
          <a:solidFill>
            <a:srgbClr val="C5D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Imag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44450"/>
            <a:ext cx="1304925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Espace réservé du numéro de diapositive 3"/>
          <p:cNvSpPr txBox="1">
            <a:spLocks/>
          </p:cNvSpPr>
          <p:nvPr userDrawn="1"/>
        </p:nvSpPr>
        <p:spPr>
          <a:xfrm>
            <a:off x="7885113" y="6245225"/>
            <a:ext cx="1122362" cy="2508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.0</a:t>
            </a:r>
            <a:fld id="{0B289E1E-1EA8-4623-A2C9-B8A4246E6D87}" type="slidenum">
              <a:rPr kumimoji="0" lang="fr-BE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2" name="Espace réservé du contenu 11"/>
          <p:cNvSpPr>
            <a:spLocks noGrp="1"/>
          </p:cNvSpPr>
          <p:nvPr userDrawn="1">
            <p:ph sz="quarter" idx="11"/>
          </p:nvPr>
        </p:nvSpPr>
        <p:spPr>
          <a:xfrm>
            <a:off x="250825" y="1989138"/>
            <a:ext cx="4177159" cy="407358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GB"/>
          </a:p>
        </p:txBody>
      </p:sp>
      <p:sp>
        <p:nvSpPr>
          <p:cNvPr id="14" name="Espace réservé du contenu 13"/>
          <p:cNvSpPr>
            <a:spLocks noGrp="1"/>
          </p:cNvSpPr>
          <p:nvPr userDrawn="1">
            <p:ph sz="quarter" idx="12"/>
          </p:nvPr>
        </p:nvSpPr>
        <p:spPr>
          <a:xfrm>
            <a:off x="4716016" y="2005013"/>
            <a:ext cx="4197797" cy="40576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dirty="0" smtClean="0"/>
              <a:t>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GB" dirty="0"/>
          </a:p>
        </p:txBody>
      </p:sp>
      <p:sp>
        <p:nvSpPr>
          <p:cNvPr id="13" name="Rectangle 2"/>
          <p:cNvSpPr>
            <a:spLocks noChangeArrowheads="1"/>
          </p:cNvSpPr>
          <p:nvPr userDrawn="1"/>
        </p:nvSpPr>
        <p:spPr bwMode="auto">
          <a:xfrm>
            <a:off x="1259633" y="6381328"/>
            <a:ext cx="4680520" cy="404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Stics</a:t>
            </a:r>
            <a:r>
              <a:rPr kumimoji="0" lang="en-US" alt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crop model : Soil W and N balance</a:t>
            </a:r>
            <a:endParaRPr kumimoji="0" lang="fr-FR" altLang="fr-FR" sz="16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6004232" y="6201217"/>
            <a:ext cx="2061783" cy="58477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Online training course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2021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6814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bg>
      <p:bgPr>
        <a:solidFill>
          <a:srgbClr val="6F9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44450"/>
            <a:ext cx="1304925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259633" y="6381328"/>
            <a:ext cx="4680520" cy="404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Stics</a:t>
            </a:r>
            <a:r>
              <a:rPr kumimoji="0" lang="en-US" alt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crop model : Soil W and N balance</a:t>
            </a:r>
            <a:endParaRPr kumimoji="0" lang="fr-FR" altLang="fr-FR" sz="16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6357053" y="6201217"/>
            <a:ext cx="1356140" cy="58477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Online course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2021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8" y="6381328"/>
            <a:ext cx="1146859" cy="30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4645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cueil">
    <p:bg>
      <p:bgPr>
        <a:solidFill>
          <a:srgbClr val="6F9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44450"/>
            <a:ext cx="1304925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13" y="2852738"/>
            <a:ext cx="2160587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5732463"/>
            <a:ext cx="1260475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>
            <a:spLocks noChangeArrowheads="1"/>
          </p:cNvSpPr>
          <p:nvPr userDrawn="1"/>
        </p:nvSpPr>
        <p:spPr bwMode="auto">
          <a:xfrm>
            <a:off x="1259633" y="6381328"/>
            <a:ext cx="4680520" cy="404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Stics</a:t>
            </a:r>
            <a:r>
              <a:rPr kumimoji="0" lang="en-US" alt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crop model : Soil W and N balance</a:t>
            </a:r>
            <a:endParaRPr kumimoji="0" lang="fr-FR" altLang="fr-FR" sz="16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6004232" y="6201217"/>
            <a:ext cx="2061783" cy="58477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Online training course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2021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8255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cour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3"/>
          <p:cNvSpPr txBox="1">
            <a:spLocks/>
          </p:cNvSpPr>
          <p:nvPr userDrawn="1"/>
        </p:nvSpPr>
        <p:spPr>
          <a:xfrm>
            <a:off x="7986142" y="6453336"/>
            <a:ext cx="1122362" cy="2508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.0</a:t>
            </a:r>
            <a:fld id="{0B289E1E-1EA8-4623-A2C9-B8A4246E6D87}" type="slidenum">
              <a:rPr kumimoji="0" lang="fr-BE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 userDrawn="1"/>
        </p:nvSpPr>
        <p:spPr bwMode="auto">
          <a:xfrm>
            <a:off x="1259633" y="6381328"/>
            <a:ext cx="4680520" cy="404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Stics</a:t>
            </a:r>
            <a:r>
              <a:rPr kumimoji="0" lang="en-US" alt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crop model : Soil W and N balance</a:t>
            </a:r>
            <a:endParaRPr kumimoji="0" lang="fr-FR" altLang="fr-FR" sz="16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6357053" y="6201217"/>
            <a:ext cx="1356140" cy="58477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Online course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2021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8" y="6381328"/>
            <a:ext cx="1146859" cy="30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7040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79712" y="365125"/>
            <a:ext cx="6535638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F9D20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.0</a:t>
            </a:r>
            <a:fld id="{BA3227DA-F666-4F05-BCC7-FBBC8CC3F0D4}" type="slidenum">
              <a:rPr kumimoji="0" lang="fr-BE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0" y="6164263"/>
            <a:ext cx="9144000" cy="693737"/>
          </a:xfrm>
          <a:prstGeom prst="rect">
            <a:avLst/>
          </a:prstGeom>
          <a:solidFill>
            <a:srgbClr val="6F9D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308884"/>
            <a:ext cx="1080000" cy="447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 bwMode="auto">
          <a:xfrm>
            <a:off x="0" y="6119813"/>
            <a:ext cx="1403350" cy="46037"/>
          </a:xfrm>
          <a:prstGeom prst="rect">
            <a:avLst/>
          </a:prstGeom>
          <a:solidFill>
            <a:srgbClr val="C5D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Imag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44450"/>
            <a:ext cx="1304925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Espace réservé du numéro de diapositive 3"/>
          <p:cNvSpPr txBox="1">
            <a:spLocks/>
          </p:cNvSpPr>
          <p:nvPr userDrawn="1"/>
        </p:nvSpPr>
        <p:spPr>
          <a:xfrm>
            <a:off x="7885113" y="6245225"/>
            <a:ext cx="1122362" cy="2508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.0</a:t>
            </a:r>
            <a:fld id="{0B289E1E-1EA8-4623-A2C9-B8A4246E6D87}" type="slidenum">
              <a:rPr kumimoji="0" lang="fr-BE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2" name="Espace réservé du contenu 11"/>
          <p:cNvSpPr>
            <a:spLocks noGrp="1"/>
          </p:cNvSpPr>
          <p:nvPr userDrawn="1">
            <p:ph sz="quarter" idx="11"/>
          </p:nvPr>
        </p:nvSpPr>
        <p:spPr>
          <a:xfrm>
            <a:off x="250825" y="1989138"/>
            <a:ext cx="4177159" cy="407358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GB"/>
          </a:p>
        </p:txBody>
      </p:sp>
      <p:sp>
        <p:nvSpPr>
          <p:cNvPr id="14" name="Espace réservé du contenu 13"/>
          <p:cNvSpPr>
            <a:spLocks noGrp="1"/>
          </p:cNvSpPr>
          <p:nvPr userDrawn="1">
            <p:ph sz="quarter" idx="12"/>
          </p:nvPr>
        </p:nvSpPr>
        <p:spPr>
          <a:xfrm>
            <a:off x="4716016" y="2005013"/>
            <a:ext cx="4197797" cy="40576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dirty="0" smtClean="0"/>
              <a:t>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GB" dirty="0"/>
          </a:p>
        </p:txBody>
      </p:sp>
      <p:sp>
        <p:nvSpPr>
          <p:cNvPr id="13" name="Rectangle 2"/>
          <p:cNvSpPr>
            <a:spLocks noChangeArrowheads="1"/>
          </p:cNvSpPr>
          <p:nvPr userDrawn="1"/>
        </p:nvSpPr>
        <p:spPr bwMode="auto">
          <a:xfrm>
            <a:off x="1259633" y="6381328"/>
            <a:ext cx="4680520" cy="404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Stics</a:t>
            </a:r>
            <a:r>
              <a:rPr kumimoji="0" lang="en-US" alt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crop model : Soil W and N balance</a:t>
            </a:r>
            <a:endParaRPr kumimoji="0" lang="fr-FR" altLang="fr-FR" sz="16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6004232" y="6201217"/>
            <a:ext cx="2061783" cy="58477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Online training course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2021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510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bg>
      <p:bgPr>
        <a:solidFill>
          <a:srgbClr val="6F9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44450"/>
            <a:ext cx="1304925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259633" y="6381328"/>
            <a:ext cx="4680520" cy="404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Stics</a:t>
            </a:r>
            <a:r>
              <a:rPr kumimoji="0" lang="en-US" alt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crop model : Soil W and N balance</a:t>
            </a:r>
            <a:endParaRPr kumimoji="0" lang="fr-FR" altLang="fr-FR" sz="16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6357053" y="6201217"/>
            <a:ext cx="1356140" cy="58477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Online course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2021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8" y="6381328"/>
            <a:ext cx="1146859" cy="30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6914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2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/>
              <a:t>Cliquez pour modifier le style du titre</a:t>
            </a:r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/>
              <a:t>Cliquez pour modifier les styles du texte du masque</a:t>
            </a:r>
          </a:p>
          <a:p>
            <a:pPr lvl="1"/>
            <a:r>
              <a:rPr lang="fr-FR" altLang="en-US"/>
              <a:t>Deuxième niveau</a:t>
            </a:r>
          </a:p>
          <a:p>
            <a:pPr lvl="2"/>
            <a:r>
              <a:rPr lang="fr-FR" altLang="en-US"/>
              <a:t>Troisième niveau</a:t>
            </a:r>
          </a:p>
          <a:p>
            <a:pPr lvl="3"/>
            <a:r>
              <a:rPr lang="fr-FR" altLang="en-US"/>
              <a:t>Quatrième niveau</a:t>
            </a:r>
          </a:p>
          <a:p>
            <a:pPr lvl="4"/>
            <a:r>
              <a:rPr lang="fr-FR" altLang="en-US"/>
              <a:t>Cinquième niveau</a:t>
            </a:r>
          </a:p>
        </p:txBody>
      </p:sp>
      <p:sp>
        <p:nvSpPr>
          <p:cNvPr id="10793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4821A7AF-8E51-448B-9B66-2084B7A54C10}" type="slidenum">
              <a:rPr lang="fr-FR" altLang="en-US"/>
              <a:pPr>
                <a:defRPr/>
              </a:pPr>
              <a:t>‹N°›</a:t>
            </a:fld>
            <a:endParaRPr lang="fr-F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3"/>
          <p:cNvSpPr>
            <a:spLocks noGrp="1"/>
          </p:cNvSpPr>
          <p:nvPr>
            <p:ph type="sldNum" sz="quarter" idx="4"/>
          </p:nvPr>
        </p:nvSpPr>
        <p:spPr>
          <a:xfrm>
            <a:off x="7885113" y="6245225"/>
            <a:ext cx="1122362" cy="250825"/>
          </a:xfrm>
          <a:prstGeom prst="rect">
            <a:avLst/>
          </a:prstGeom>
        </p:spPr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.0</a:t>
            </a:r>
            <a:fld id="{BA3227DA-F666-4F05-BCC7-FBBC8CC3F0D4}" type="slidenum">
              <a:rPr kumimoji="0" lang="fr-BE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415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3"/>
          <p:cNvSpPr>
            <a:spLocks noGrp="1"/>
          </p:cNvSpPr>
          <p:nvPr>
            <p:ph type="sldNum" sz="quarter" idx="4"/>
          </p:nvPr>
        </p:nvSpPr>
        <p:spPr>
          <a:xfrm>
            <a:off x="7885113" y="6245225"/>
            <a:ext cx="1122362" cy="250825"/>
          </a:xfrm>
          <a:prstGeom prst="rect">
            <a:avLst/>
          </a:prstGeom>
        </p:spPr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.0</a:t>
            </a:r>
            <a:fld id="{BA3227DA-F666-4F05-BCC7-FBBC8CC3F0D4}" type="slidenum">
              <a:rPr kumimoji="0" lang="fr-BE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848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3"/>
          <p:cNvSpPr>
            <a:spLocks noGrp="1"/>
          </p:cNvSpPr>
          <p:nvPr>
            <p:ph type="sldNum" sz="quarter" idx="4"/>
          </p:nvPr>
        </p:nvSpPr>
        <p:spPr>
          <a:xfrm>
            <a:off x="7885113" y="6245225"/>
            <a:ext cx="1122362" cy="250825"/>
          </a:xfrm>
          <a:prstGeom prst="rect">
            <a:avLst/>
          </a:prstGeom>
        </p:spPr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.0</a:t>
            </a:r>
            <a:fld id="{BA3227DA-F666-4F05-BCC7-FBBC8CC3F0D4}" type="slidenum">
              <a:rPr kumimoji="0" lang="fr-BE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645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numéro de diapositive 3"/>
          <p:cNvSpPr>
            <a:spLocks noGrp="1"/>
          </p:cNvSpPr>
          <p:nvPr>
            <p:ph type="sldNum" sz="quarter" idx="4"/>
          </p:nvPr>
        </p:nvSpPr>
        <p:spPr>
          <a:xfrm>
            <a:off x="7885113" y="6245225"/>
            <a:ext cx="1122362" cy="250825"/>
          </a:xfrm>
          <a:prstGeom prst="rect">
            <a:avLst/>
          </a:prstGeom>
        </p:spPr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.0</a:t>
            </a:r>
            <a:fld id="{BA3227DA-F666-4F05-BCC7-FBBC8CC3F0D4}" type="slidenum">
              <a:rPr kumimoji="0" lang="fr-BE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466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Relationship Id="rId6" Type="http://schemas.openxmlformats.org/officeDocument/2006/relationships/image" Target="../media/image30.png"/><Relationship Id="rId5" Type="http://schemas.openxmlformats.org/officeDocument/2006/relationships/image" Target="../media/image26.png"/><Relationship Id="rId10" Type="http://schemas.openxmlformats.org/officeDocument/2006/relationships/image" Target="../media/image28.jpg"/><Relationship Id="rId4" Type="http://schemas.openxmlformats.org/officeDocument/2006/relationships/image" Target="../media/image25.wmf"/><Relationship Id="rId9" Type="http://schemas.openxmlformats.org/officeDocument/2006/relationships/image" Target="../media/image27.jp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Relationship Id="rId6" Type="http://schemas.openxmlformats.org/officeDocument/2006/relationships/image" Target="../media/image300.png"/><Relationship Id="rId4" Type="http://schemas.openxmlformats.org/officeDocument/2006/relationships/image" Target="../media/image29.jpeg"/><Relationship Id="rId9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7.png"/><Relationship Id="rId5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3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15560"/>
            <a:ext cx="7772400" cy="923330"/>
          </a:xfrm>
        </p:spPr>
        <p:txBody>
          <a:bodyPr>
            <a:spAutoFit/>
          </a:bodyPr>
          <a:lstStyle/>
          <a:p>
            <a:pPr algn="ctr" eaLnBrk="1" hangingPunct="1"/>
            <a:r>
              <a:rPr lang="fr-FR" sz="54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fr-FR" sz="5400" b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Soil functioning</a:t>
            </a:r>
            <a:endParaRPr lang="fr-FR" sz="5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 descr="Logotype INRA"/>
          <p:cNvSpPr>
            <a:spLocks noChangeAspect="1" noChangeArrowheads="1"/>
          </p:cNvSpPr>
          <p:nvPr/>
        </p:nvSpPr>
        <p:spPr bwMode="auto">
          <a:xfrm>
            <a:off x="155575" y="-457200"/>
            <a:ext cx="19050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07E4CCE5-CDD3-4A5F-82C9-47941A26CF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14" y="3115560"/>
            <a:ext cx="1290828" cy="9947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Outline</a:t>
            </a:r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>
            <a:off x="888710" y="3629941"/>
            <a:ext cx="765657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fr-FR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Soil compartments and parameters</a:t>
            </a:r>
          </a:p>
          <a:p>
            <a:pPr marL="342900" indent="-342900">
              <a:buFontTx/>
              <a:buChar char="-"/>
            </a:pPr>
            <a:endParaRPr lang="fr-FR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Tx/>
              <a:buChar char="-"/>
            </a:pPr>
            <a:r>
              <a:rPr lang="fr-FR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Boundary conditions, initial conditions</a:t>
            </a:r>
          </a:p>
          <a:p>
            <a:pPr marL="342900" indent="-342900">
              <a:buFontTx/>
              <a:buChar char="-"/>
            </a:pPr>
            <a:endParaRPr lang="fr-FR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Tx/>
              <a:buChar char="-"/>
            </a:pPr>
            <a:r>
              <a:rPr lang="fr-FR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Transfers (water, nitrate, heat)</a:t>
            </a:r>
          </a:p>
          <a:p>
            <a:pPr marL="342900" indent="-342900">
              <a:buFontTx/>
              <a:buChar char="-"/>
            </a:pPr>
            <a:endParaRPr lang="fr-FR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Tx/>
              <a:buChar char="-"/>
            </a:pPr>
            <a:r>
              <a:rPr lang="fr-FR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Soil biogeochemistry (C and N transformations, fluxes)</a:t>
            </a:r>
            <a:endParaRPr lang="fr-FR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4" name="Groupe 43"/>
          <p:cNvGrpSpPr/>
          <p:nvPr/>
        </p:nvGrpSpPr>
        <p:grpSpPr>
          <a:xfrm>
            <a:off x="3875315" y="601210"/>
            <a:ext cx="3907971" cy="2705334"/>
            <a:chOff x="2634343" y="1123724"/>
            <a:chExt cx="3907971" cy="2705334"/>
          </a:xfrm>
        </p:grpSpPr>
        <p:pic>
          <p:nvPicPr>
            <p:cNvPr id="42" name="Image 4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81145" y="1123724"/>
              <a:ext cx="3581710" cy="2705334"/>
            </a:xfrm>
            <a:prstGeom prst="rect">
              <a:avLst/>
            </a:prstGeom>
          </p:spPr>
        </p:pic>
        <p:sp>
          <p:nvSpPr>
            <p:cNvPr id="43" name="Rectangle 42"/>
            <p:cNvSpPr/>
            <p:nvPr/>
          </p:nvSpPr>
          <p:spPr bwMode="auto">
            <a:xfrm>
              <a:off x="2634343" y="2424800"/>
              <a:ext cx="3907971" cy="1404258"/>
            </a:xfrm>
            <a:prstGeom prst="rect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2000" b="1" i="0" u="none" strike="noStrike" cap="none" normalizeH="0" baseline="0" smtClean="0">
                <a:ln>
                  <a:noFill/>
                </a:ln>
                <a:solidFill>
                  <a:srgbClr val="666699"/>
                </a:solidFill>
                <a:effectLst/>
                <a:latin typeface="Trebuchet MS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8567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15560"/>
            <a:ext cx="7772400" cy="1754326"/>
          </a:xfrm>
        </p:spPr>
        <p:txBody>
          <a:bodyPr>
            <a:spAutoFit/>
          </a:bodyPr>
          <a:lstStyle/>
          <a:p>
            <a:pPr algn="ctr" eaLnBrk="1" hangingPunct="1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fr-FR" sz="3600" b="1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Soil functionning</a:t>
            </a:r>
            <a:r>
              <a:rPr lang="fr-FR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fr-FR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3600" b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Soil compartments and parameters</a:t>
            </a:r>
            <a:endParaRPr lang="fr-FR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 descr="Logotype INRA"/>
          <p:cNvSpPr>
            <a:spLocks noChangeAspect="1" noChangeArrowheads="1"/>
          </p:cNvSpPr>
          <p:nvPr/>
        </p:nvSpPr>
        <p:spPr bwMode="auto">
          <a:xfrm>
            <a:off x="155575" y="-457200"/>
            <a:ext cx="19050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07E4CCE5-CDD3-4A5F-82C9-47941A26CF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14" y="3115560"/>
            <a:ext cx="1290828" cy="994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452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58507"/>
          </a:xfrm>
        </p:spPr>
        <p:txBody>
          <a:bodyPr/>
          <a:lstStyle/>
          <a:p>
            <a:r>
              <a:rPr lang="fr-FR" sz="4000" smtClean="0"/>
              <a:t>Soil layers</a:t>
            </a:r>
            <a:endParaRPr lang="fr-FR" sz="4000"/>
          </a:p>
        </p:txBody>
      </p:sp>
      <p:sp>
        <p:nvSpPr>
          <p:cNvPr id="3" name="ZoneTexte 2"/>
          <p:cNvSpPr txBox="1"/>
          <p:nvPr/>
        </p:nvSpPr>
        <p:spPr>
          <a:xfrm>
            <a:off x="-141515" y="1091251"/>
            <a:ext cx="471351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Tx/>
              <a:buChar char="-"/>
            </a:pPr>
            <a:r>
              <a:rPr lang="fr-FR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Up to five layers </a:t>
            </a: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(~soil horizons) described in the soil input file</a:t>
            </a:r>
          </a:p>
          <a:p>
            <a:pPr marL="800100" lvl="1" indent="-342900">
              <a:buFontTx/>
              <a:buChar char="-"/>
            </a:pPr>
            <a:r>
              <a:rPr lang="fr-FR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Surface parameters</a:t>
            </a: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(clay content, pH, N content, CaCO3 + </a:t>
            </a:r>
            <a:r>
              <a:rPr lang="fr-FR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albedo, q0, </a:t>
            </a: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ruisolnu…)</a:t>
            </a:r>
          </a:p>
          <a:p>
            <a:pPr marL="800100" lvl="1" indent="-342900">
              <a:buFontTx/>
              <a:buChar char="-"/>
            </a:pPr>
            <a:r>
              <a:rPr lang="fr-FR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Layer specific parameters </a:t>
            </a: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DAF, hccf, hminf, cailloux, epd…</a:t>
            </a:r>
          </a:p>
          <a:p>
            <a:pPr marL="800100" lvl="1" indent="-342900">
              <a:buFontTx/>
              <a:buChar char="-"/>
            </a:pPr>
            <a:endParaRPr lang="fr-FR" b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Tx/>
              <a:buChar char="-"/>
            </a:pPr>
            <a:r>
              <a:rPr lang="fr-FR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Elementary layers </a:t>
            </a:r>
            <a:r>
              <a:rPr lang="fr-FR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computational purpose : 1 cm</a:t>
            </a:r>
          </a:p>
          <a:p>
            <a:pPr marL="800100" lvl="1" indent="-342900">
              <a:buFontTx/>
              <a:buChar char="-"/>
            </a:pPr>
            <a:r>
              <a:rPr lang="fr-FR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Mixing cell thickness </a:t>
            </a:r>
            <a:r>
              <a:rPr lang="fr-FR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nitrate dispersion (epd</a:t>
            </a: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fr-FR" b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017" y="657066"/>
            <a:ext cx="4419983" cy="2735817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9591" y="4063435"/>
            <a:ext cx="5051275" cy="697296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272143" y="4760731"/>
            <a:ext cx="80663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fr-FR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« active » layers </a:t>
            </a:r>
            <a:r>
              <a:rPr lang="fr-FR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humification, denitrification</a:t>
            </a:r>
          </a:p>
          <a:p>
            <a:pPr marL="800100" lvl="1" indent="-342900">
              <a:buFontTx/>
              <a:buChar char="-"/>
            </a:pPr>
            <a:r>
              <a:rPr lang="fr-FR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 not coincide necessarily with a soil layer</a:t>
            </a:r>
          </a:p>
          <a:p>
            <a:pPr marL="800100" lvl="1" indent="-342900">
              <a:buFontTx/>
              <a:buChar char="-"/>
            </a:pPr>
            <a:r>
              <a:rPr lang="fr-FR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specific parameters </a:t>
            </a: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(denitrification </a:t>
            </a:r>
            <a:r>
              <a:rPr lang="fr-FR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potential</a:t>
            </a: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…)</a:t>
            </a:r>
          </a:p>
          <a:p>
            <a:pPr marL="342900" lvl="1" indent="-342900">
              <a:buFontTx/>
              <a:buChar char="-"/>
            </a:pPr>
            <a:r>
              <a:rPr lang="fr-FR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General parameters </a:t>
            </a: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(zesx, cfes, obstarac…)</a:t>
            </a:r>
          </a:p>
          <a:p>
            <a:endParaRPr lang="fr-FR" sz="1600" b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95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58507"/>
          </a:xfrm>
        </p:spPr>
        <p:txBody>
          <a:bodyPr/>
          <a:lstStyle/>
          <a:p>
            <a:r>
              <a:rPr lang="fr-FR" sz="4000" smtClean="0"/>
              <a:t>Soil compartments</a:t>
            </a:r>
            <a:endParaRPr lang="fr-FR" sz="400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057" y="2895601"/>
            <a:ext cx="4742886" cy="3687464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272143" y="1829233"/>
            <a:ext cx="50400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fr-FR" sz="160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Macroporosity</a:t>
            </a:r>
            <a:r>
              <a:rPr lang="fr-FR" sz="16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(codemacropor = 1)</a:t>
            </a:r>
          </a:p>
          <a:p>
            <a:r>
              <a:rPr lang="fr-FR" sz="16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 saturation – field capacity</a:t>
            </a:r>
          </a:p>
          <a:p>
            <a:r>
              <a:rPr lang="fr-FR" sz="16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fr-FR" sz="16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ctive if infiltrability at the base of soil layers is limiting, control anoxia, useful to describe the effect of impedding layers (plow pan for ex)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457200" y="1145379"/>
            <a:ext cx="6695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Microporosity is mandatory, other compartment are optional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272143" y="3436416"/>
            <a:ext cx="424279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fr-FR" sz="160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Cracks</a:t>
            </a:r>
            <a:r>
              <a:rPr lang="fr-FR" sz="16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(codefente = 1 &amp; codemacropor = 1)</a:t>
            </a:r>
          </a:p>
          <a:p>
            <a:r>
              <a:rPr lang="fr-FR" sz="16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fr-FR" sz="16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 swelling soils</a:t>
            </a:r>
          </a:p>
          <a:p>
            <a:endParaRPr lang="fr-FR" sz="1600" b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fr-FR" sz="160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Pebbles</a:t>
            </a:r>
            <a:r>
              <a:rPr lang="fr-FR" sz="16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(codecailloux = 1)</a:t>
            </a:r>
          </a:p>
          <a:p>
            <a:endParaRPr lang="fr-FR" sz="1600" b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4. </a:t>
            </a:r>
            <a:r>
              <a:rPr lang="fr-FR" sz="160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Artificial drains </a:t>
            </a:r>
            <a:r>
              <a:rPr lang="fr-FR" sz="16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(codedrainage = 1 &amp; codemacropor = 1)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356113" y="5330158"/>
            <a:ext cx="34486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endParaRPr lang="fr-FR" b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 and N pools </a:t>
            </a: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(see later)</a:t>
            </a:r>
            <a:endParaRPr lang="fr-FR" b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Tx/>
              <a:buChar char="-"/>
            </a:pPr>
            <a:endParaRPr lang="fr-FR" b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211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15560"/>
            <a:ext cx="7772400" cy="1754326"/>
          </a:xfrm>
        </p:spPr>
        <p:txBody>
          <a:bodyPr>
            <a:spAutoFit/>
          </a:bodyPr>
          <a:lstStyle/>
          <a:p>
            <a:pPr algn="ctr" eaLnBrk="1" hangingPunct="1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fr-FR" sz="3600" b="1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Soil functionning</a:t>
            </a:r>
            <a:r>
              <a:rPr lang="fr-FR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fr-FR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3600" b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Boundary and initial conditions</a:t>
            </a:r>
            <a:endParaRPr lang="fr-FR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 descr="Logotype INRA"/>
          <p:cNvSpPr>
            <a:spLocks noChangeAspect="1" noChangeArrowheads="1"/>
          </p:cNvSpPr>
          <p:nvPr/>
        </p:nvSpPr>
        <p:spPr bwMode="auto">
          <a:xfrm>
            <a:off x="155575" y="-457200"/>
            <a:ext cx="19050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07E4CCE5-CDD3-4A5F-82C9-47941A26CF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14" y="3115560"/>
            <a:ext cx="1290828" cy="994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150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58507"/>
          </a:xfrm>
        </p:spPr>
        <p:txBody>
          <a:bodyPr/>
          <a:lstStyle/>
          <a:p>
            <a:r>
              <a:rPr lang="fr-FR" sz="4000" smtClean="0"/>
              <a:t>Boundary conditions</a:t>
            </a:r>
            <a:endParaRPr lang="fr-FR" sz="4000"/>
          </a:p>
        </p:txBody>
      </p:sp>
      <p:sp>
        <p:nvSpPr>
          <p:cNvPr id="3" name="ZoneTexte 2"/>
          <p:cNvSpPr txBox="1"/>
          <p:nvPr/>
        </p:nvSpPr>
        <p:spPr>
          <a:xfrm>
            <a:off x="457200" y="1036320"/>
            <a:ext cx="811377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fr-FR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Soil surface</a:t>
            </a:r>
          </a:p>
          <a:p>
            <a:pPr marL="800100" lvl="1" indent="-342900">
              <a:buFontTx/>
              <a:buChar char="-"/>
            </a:pP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Water</a:t>
            </a:r>
            <a:r>
              <a:rPr lang="fr-FR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input </a:t>
            </a: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through rainfall (- runoff), irrigation or </a:t>
            </a:r>
            <a:r>
              <a:rPr lang="fr-FR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losses</a:t>
            </a: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through evaporation/transpiration</a:t>
            </a:r>
          </a:p>
          <a:p>
            <a:pPr marL="800100" lvl="1" indent="-342900">
              <a:buFontTx/>
              <a:buChar char="-"/>
            </a:pPr>
            <a:r>
              <a:rPr lang="fr-FR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Air temperature (no heat flow calculation)</a:t>
            </a:r>
          </a:p>
          <a:p>
            <a:pPr marL="800100" lvl="1" indent="-342900">
              <a:buFontTx/>
              <a:buChar char="-"/>
            </a:pP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 and N </a:t>
            </a:r>
            <a:r>
              <a:rPr lang="fr-FR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inputs</a:t>
            </a: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(mineral or organic fertilizers, residue, rainfall/irrigation…) or </a:t>
            </a:r>
            <a:r>
              <a:rPr lang="fr-FR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outputs</a:t>
            </a: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(gaseous losses : NH3, N2O, (N2), N uptake </a:t>
            </a:r>
          </a:p>
          <a:p>
            <a:pPr marL="342900" indent="-342900">
              <a:buFontTx/>
              <a:buChar char="-"/>
            </a:pPr>
            <a:endParaRPr lang="fr-FR" b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Tx/>
              <a:buChar char="-"/>
            </a:pPr>
            <a:r>
              <a:rPr lang="fr-FR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Bottom of soil profile</a:t>
            </a:r>
          </a:p>
          <a:p>
            <a:pPr marL="800100" lvl="1" indent="-342900">
              <a:buFontTx/>
              <a:buChar char="-"/>
            </a:pP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Water</a:t>
            </a:r>
            <a:r>
              <a:rPr lang="fr-FR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losses </a:t>
            </a: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through drainage, or </a:t>
            </a:r>
            <a:r>
              <a:rPr lang="fr-FR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through capillary rise</a:t>
            </a:r>
          </a:p>
          <a:p>
            <a:pPr marL="800100" lvl="1" indent="-342900">
              <a:buFontTx/>
              <a:buChar char="-"/>
            </a:pP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 </a:t>
            </a:r>
            <a:r>
              <a:rPr lang="fr-FR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losses</a:t>
            </a: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through nitrate leaching</a:t>
            </a:r>
          </a:p>
          <a:p>
            <a:pPr marL="800100" lvl="1" indent="-342900">
              <a:buFontTx/>
              <a:buChar char="-"/>
            </a:pPr>
            <a:endParaRPr lang="fr-FR" b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Tx/>
              <a:buChar char="-"/>
            </a:pPr>
            <a:r>
              <a:rPr lang="fr-FR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Modifications due to snow</a:t>
            </a: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 preprocessing of climate data</a:t>
            </a:r>
          </a:p>
          <a:p>
            <a:pPr marL="800100" lvl="1" indent="-342900">
              <a:buFontTx/>
              <a:buChar char="-"/>
            </a:pP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Water is stored when snow accumulates and released later at melting</a:t>
            </a:r>
          </a:p>
          <a:p>
            <a:pPr marL="800100" lvl="1" indent="-342900">
              <a:buFontTx/>
              <a:buChar char="-"/>
            </a:pP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Isolation effect of the snow cover : effect on surface temperature</a:t>
            </a:r>
          </a:p>
          <a:p>
            <a:pPr marL="800100" lvl="1" indent="-342900">
              <a:buFontTx/>
              <a:buChar char="-"/>
            </a:pPr>
            <a:endParaRPr lang="fr-FR" b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Tx/>
              <a:buChar char="-"/>
            </a:pPr>
            <a:endParaRPr lang="fr-FR" b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320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58507"/>
          </a:xfrm>
        </p:spPr>
        <p:txBody>
          <a:bodyPr/>
          <a:lstStyle/>
          <a:p>
            <a:r>
              <a:rPr lang="fr-FR" sz="4000" smtClean="0"/>
              <a:t>Initial conditions</a:t>
            </a:r>
            <a:endParaRPr lang="fr-FR" sz="4000"/>
          </a:p>
        </p:txBody>
      </p:sp>
      <p:sp>
        <p:nvSpPr>
          <p:cNvPr id="3" name="ZoneTexte 2"/>
          <p:cNvSpPr txBox="1"/>
          <p:nvPr/>
        </p:nvSpPr>
        <p:spPr>
          <a:xfrm>
            <a:off x="457200" y="1243584"/>
            <a:ext cx="81137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fr-FR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Soil water</a:t>
            </a: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% gravimetric (!) for each layer; 0 means hccf</a:t>
            </a:r>
          </a:p>
          <a:p>
            <a:pPr marL="342900" indent="-342900">
              <a:buFontTx/>
              <a:buChar char="-"/>
            </a:pPr>
            <a:endParaRPr lang="fr-FR" b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Tx/>
              <a:buChar char="-"/>
            </a:pPr>
            <a:r>
              <a:rPr lang="fr-FR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Soil mineral nitrogen </a:t>
            </a: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NH4, NO3, kg/ha</a:t>
            </a:r>
            <a:endParaRPr lang="fr-FR" b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Tx/>
              <a:buChar char="-"/>
            </a:pPr>
            <a:endParaRPr lang="fr-FR" b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318" y="2774287"/>
            <a:ext cx="5466836" cy="2614142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849086" y="5715000"/>
            <a:ext cx="80229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Choosing the best moment for initialization: no plant, known soil water content, mineral N profile available…</a:t>
            </a:r>
          </a:p>
        </p:txBody>
      </p:sp>
    </p:spTree>
    <p:extLst>
      <p:ext uri="{BB962C8B-B14F-4D97-AF65-F5344CB8AC3E}">
        <p14:creationId xmlns:p14="http://schemas.microsoft.com/office/powerpoint/2010/main" val="829060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15560"/>
            <a:ext cx="7772400" cy="1754326"/>
          </a:xfrm>
        </p:spPr>
        <p:txBody>
          <a:bodyPr>
            <a:spAutoFit/>
          </a:bodyPr>
          <a:lstStyle/>
          <a:p>
            <a:pPr algn="ctr" eaLnBrk="1" hangingPunct="1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fr-FR" sz="3600" b="1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Soil functionning</a:t>
            </a:r>
            <a:r>
              <a:rPr lang="fr-FR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fr-FR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3600" b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Transfers (water, nitrate, heat)</a:t>
            </a:r>
            <a:endParaRPr lang="fr-FR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 descr="Logotype INRA"/>
          <p:cNvSpPr>
            <a:spLocks noChangeAspect="1" noChangeArrowheads="1"/>
          </p:cNvSpPr>
          <p:nvPr/>
        </p:nvSpPr>
        <p:spPr bwMode="auto">
          <a:xfrm>
            <a:off x="155575" y="-457200"/>
            <a:ext cx="19050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07E4CCE5-CDD3-4A5F-82C9-47941A26CF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14" y="3115560"/>
            <a:ext cx="1290828" cy="994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93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58507"/>
          </a:xfrm>
        </p:spPr>
        <p:txBody>
          <a:bodyPr/>
          <a:lstStyle/>
          <a:p>
            <a:r>
              <a:rPr lang="fr-FR" sz="4000" smtClean="0"/>
              <a:t>Water transfer</a:t>
            </a:r>
            <a:endParaRPr lang="fr-FR" sz="4000"/>
          </a:p>
        </p:txBody>
      </p:sp>
      <p:sp>
        <p:nvSpPr>
          <p:cNvPr id="3" name="ZoneTexte 2"/>
          <p:cNvSpPr txBox="1"/>
          <p:nvPr/>
        </p:nvSpPr>
        <p:spPr>
          <a:xfrm>
            <a:off x="269879" y="1047443"/>
            <a:ext cx="811377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fr-FR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Non preferential downward flow</a:t>
            </a:r>
          </a:p>
          <a:p>
            <a:pPr lvl="1"/>
            <a:endParaRPr lang="fr-FR" b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Tx/>
              <a:buChar char="-"/>
            </a:pP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Reservoir analogy (reservoir = hccf - hminf)</a:t>
            </a:r>
          </a:p>
          <a:p>
            <a:pPr marL="800100" lvl="1" indent="-342900">
              <a:buFontTx/>
              <a:buChar char="-"/>
            </a:pPr>
            <a:r>
              <a:rPr lang="en-US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Water entering the soil fills the elementary layers from top to bottom, assuming that the maximum soil water content of each layer is its field </a:t>
            </a:r>
            <a:r>
              <a:rPr lang="en-US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capacity (flow rate is not limited).</a:t>
            </a:r>
          </a:p>
          <a:p>
            <a:pPr marL="800100" lvl="1" indent="-342900">
              <a:buFontTx/>
              <a:buChar char="-"/>
            </a:pPr>
            <a:r>
              <a:rPr lang="en-US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Drainage can occur when the whole profile is at field capacity</a:t>
            </a:r>
          </a:p>
          <a:p>
            <a:pPr marL="800100" lvl="1" indent="-342900">
              <a:buFontTx/>
              <a:buChar char="-"/>
            </a:pPr>
            <a:endParaRPr lang="en-US" b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Tx/>
              <a:buChar char="-"/>
            </a:pPr>
            <a:r>
              <a:rPr lang="en-US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Soil </a:t>
            </a:r>
            <a:r>
              <a:rPr lang="en-US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water can only be removed from each elementary layer through evaporation and plant </a:t>
            </a:r>
            <a:r>
              <a:rPr lang="en-US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transpiration</a:t>
            </a:r>
          </a:p>
          <a:p>
            <a:pPr marL="800100" lvl="1" indent="-342900">
              <a:buFontTx/>
              <a:buChar char="-"/>
            </a:pPr>
            <a:endParaRPr lang="fr-FR" b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Tx/>
              <a:buChar char="-"/>
            </a:pPr>
            <a:endParaRPr lang="fr-FR" b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Tx/>
              <a:buChar char="-"/>
            </a:pPr>
            <a:endParaRPr lang="fr-FR" b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Tx/>
              <a:buChar char="-"/>
            </a:pPr>
            <a:endParaRPr lang="fr-FR" b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013" y="4405189"/>
            <a:ext cx="3025402" cy="2270957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0632" y="4367674"/>
            <a:ext cx="3033023" cy="261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105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58507"/>
          </a:xfrm>
        </p:spPr>
        <p:txBody>
          <a:bodyPr/>
          <a:lstStyle/>
          <a:p>
            <a:r>
              <a:rPr lang="fr-FR" sz="4000" smtClean="0"/>
              <a:t>Water transfer</a:t>
            </a:r>
            <a:endParaRPr lang="fr-FR" sz="4000"/>
          </a:p>
        </p:txBody>
      </p:sp>
      <p:sp>
        <p:nvSpPr>
          <p:cNvPr id="3" name="ZoneTexte 2"/>
          <p:cNvSpPr txBox="1"/>
          <p:nvPr/>
        </p:nvSpPr>
        <p:spPr>
          <a:xfrm>
            <a:off x="-198673" y="1043725"/>
            <a:ext cx="547899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fr-FR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Macroporosity</a:t>
            </a:r>
          </a:p>
          <a:p>
            <a:pPr marL="800100" lvl="1" indent="-342900">
              <a:buFontTx/>
              <a:buChar char="-"/>
            </a:pPr>
            <a:endParaRPr lang="fr-FR" sz="1800" b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Tx/>
              <a:buChar char="-"/>
            </a:pPr>
            <a:r>
              <a:rPr lang="fr-FR" sz="18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Limiting infiltrability value at the base of soil layers (one or more)</a:t>
            </a:r>
          </a:p>
          <a:p>
            <a:pPr marL="800100" lvl="1" indent="-342900">
              <a:buFontTx/>
              <a:buChar char="-"/>
            </a:pPr>
            <a:r>
              <a:rPr lang="fr-FR" sz="18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the deepest elementary layer of a soil layer is at field capacity, part of the excess water flow downward (at a rate equal to infiltrability), the remaining flows into macroporosity</a:t>
            </a:r>
          </a:p>
          <a:p>
            <a:pPr lvl="1"/>
            <a:r>
              <a:rPr lang="fr-FR" sz="18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-&gt; progressive saturation from the bottom, anoxia</a:t>
            </a:r>
          </a:p>
          <a:p>
            <a:pPr lvl="1"/>
            <a:endParaRPr lang="fr-FR" b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Cracks</a:t>
            </a:r>
          </a:p>
          <a:p>
            <a:pPr marL="800100" lvl="1" indent="-342900">
              <a:buFontTx/>
              <a:buChar char="-"/>
            </a:pPr>
            <a:endParaRPr lang="en-US" sz="1800" b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Tx/>
              <a:buChar char="-"/>
            </a:pPr>
            <a:r>
              <a:rPr lang="en-US" sz="18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unique </a:t>
            </a:r>
            <a:r>
              <a:rPr lang="en-US" sz="18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compartment, extending from the soil surface to the maximum soil depth, which replaces the macroporosity</a:t>
            </a:r>
            <a:endParaRPr lang="fr-FR" sz="1800" b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Tx/>
              <a:buChar char="-"/>
            </a:pPr>
            <a:r>
              <a:rPr lang="fr-FR" sz="18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Only feeded from the surface</a:t>
            </a:r>
          </a:p>
          <a:p>
            <a:pPr marL="800100" lvl="1" indent="-342900">
              <a:buFontTx/>
              <a:buChar char="-"/>
            </a:pPr>
            <a:r>
              <a:rPr lang="fr-FR" sz="18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Direct pathway to drainage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325" y="565088"/>
            <a:ext cx="3863675" cy="2682472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360" y="3892043"/>
            <a:ext cx="3924640" cy="261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299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58507"/>
          </a:xfrm>
        </p:spPr>
        <p:txBody>
          <a:bodyPr/>
          <a:lstStyle/>
          <a:p>
            <a:r>
              <a:rPr lang="fr-FR" sz="4000" smtClean="0"/>
              <a:t>Water transfer</a:t>
            </a:r>
            <a:endParaRPr lang="fr-FR" sz="4000"/>
          </a:p>
        </p:txBody>
      </p:sp>
      <p:sp>
        <p:nvSpPr>
          <p:cNvPr id="3" name="ZoneTexte 2"/>
          <p:cNvSpPr txBox="1"/>
          <p:nvPr/>
        </p:nvSpPr>
        <p:spPr>
          <a:xfrm>
            <a:off x="457200" y="1243584"/>
            <a:ext cx="811377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WFPS </a:t>
            </a:r>
            <a:r>
              <a:rPr lang="fr-FR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option for nitrification and denitrification </a:t>
            </a:r>
            <a:r>
              <a:rPr lang="fr-FR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endParaRPr lang="fr-FR" b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allows </a:t>
            </a:r>
            <a:r>
              <a:rPr lang="fr-FR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take into account soil water content &gt; field capacity and &lt; saturation for the soil surface for days with </a:t>
            </a: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rainfall</a:t>
            </a:r>
          </a:p>
          <a:p>
            <a:endParaRPr lang="fr-FR" b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Tx/>
              <a:buChar char="-"/>
            </a:pP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Rainfall saturates surface layers by filling the empty porosity until saturation</a:t>
            </a:r>
          </a:p>
          <a:p>
            <a:pPr marL="342900" indent="-342900">
              <a:buFontTx/>
              <a:buChar char="-"/>
            </a:pP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Progressive desaturation during the day until reaching soil water content at field capacity</a:t>
            </a:r>
          </a:p>
          <a:p>
            <a:pPr marL="342900" indent="-342900">
              <a:buFontTx/>
              <a:buChar char="-"/>
            </a:pP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Used for WFPS effect on N2O production/reduction processes</a:t>
            </a:r>
          </a:p>
          <a:p>
            <a:pPr marL="342900" indent="-342900">
              <a:buFontTx/>
              <a:buChar char="-"/>
            </a:pP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output, only internal (does not affect transfers) !</a:t>
            </a:r>
            <a:endParaRPr lang="fr-FR" b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260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58507"/>
          </a:xfrm>
        </p:spPr>
        <p:txBody>
          <a:bodyPr/>
          <a:lstStyle/>
          <a:p>
            <a:r>
              <a:rPr lang="fr-FR" sz="4000" smtClean="0"/>
              <a:t>Water transfer</a:t>
            </a:r>
            <a:endParaRPr lang="fr-FR" sz="400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53" y="2934439"/>
            <a:ext cx="5434673" cy="3336925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240" b="30980"/>
          <a:stretch/>
        </p:blipFill>
        <p:spPr>
          <a:xfrm>
            <a:off x="5800660" y="893788"/>
            <a:ext cx="2633685" cy="1965938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8492" y="3160814"/>
            <a:ext cx="2220889" cy="2289224"/>
          </a:xfrm>
          <a:prstGeom prst="rect">
            <a:avLst/>
          </a:prstGeom>
        </p:spPr>
      </p:pic>
      <p:sp>
        <p:nvSpPr>
          <p:cNvPr id="11" name="ZoneTexte 10"/>
          <p:cNvSpPr txBox="1"/>
          <p:nvPr/>
        </p:nvSpPr>
        <p:spPr>
          <a:xfrm>
            <a:off x="457200" y="1267157"/>
            <a:ext cx="2972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Upward flow: evaporation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497776" y="1683068"/>
            <a:ext cx="44645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6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Potential evaporation depends on climatic demand and vegetative cover</a:t>
            </a:r>
          </a:p>
          <a:p>
            <a:pPr marL="285750" indent="-285750">
              <a:buFontTx/>
              <a:buChar char="-"/>
            </a:pPr>
            <a:r>
              <a:rPr lang="fr-FR" sz="16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Actual evaporation = 2 steps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6205104" y="555234"/>
            <a:ext cx="18247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Better HA estimate: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6480949" y="2859726"/>
            <a:ext cx="15489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ACLIM estimate: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2730057" y="6858000"/>
            <a:ext cx="3446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0.63 to be corrected… -&gt; soil porosity ! </a:t>
            </a:r>
          </a:p>
        </p:txBody>
      </p:sp>
    </p:spTree>
    <p:extLst>
      <p:ext uri="{BB962C8B-B14F-4D97-AF65-F5344CB8AC3E}">
        <p14:creationId xmlns:p14="http://schemas.microsoft.com/office/powerpoint/2010/main" val="1247009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58507"/>
          </a:xfrm>
        </p:spPr>
        <p:txBody>
          <a:bodyPr/>
          <a:lstStyle/>
          <a:p>
            <a:r>
              <a:rPr lang="fr-FR" sz="4000" smtClean="0"/>
              <a:t>Water transfer</a:t>
            </a:r>
            <a:endParaRPr lang="fr-FR" sz="400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/>
          <a:srcRect t="37122" b="898"/>
          <a:stretch/>
        </p:blipFill>
        <p:spPr>
          <a:xfrm>
            <a:off x="3157907" y="1004984"/>
            <a:ext cx="6251757" cy="2695510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301326" y="4183360"/>
            <a:ext cx="39290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Soil also influence transpiration</a:t>
            </a:r>
            <a:r>
              <a:rPr lang="fr-FR" sz="16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</a:t>
            </a:r>
          </a:p>
          <a:p>
            <a:pPr marL="342900" indent="-342900">
              <a:buFontTx/>
              <a:buChar char="-"/>
            </a:pPr>
            <a:r>
              <a:rPr lang="fr-FR" sz="16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Evaporation has priority on transpiration</a:t>
            </a:r>
          </a:p>
          <a:p>
            <a:pPr marL="342900" indent="-342900">
              <a:buFontTx/>
              <a:buChar char="-"/>
            </a:pPr>
            <a:r>
              <a:rPr lang="fr-FR" sz="16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Threshold of available water below which transpiration is reduced when the soil is drying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4657" y="4050468"/>
            <a:ext cx="3400910" cy="2597058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457200" y="1222699"/>
            <a:ext cx="18521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Evaporation profile</a:t>
            </a:r>
          </a:p>
          <a:p>
            <a:pPr marL="285750" indent="-285750">
              <a:buFontTx/>
              <a:buChar char="-"/>
            </a:pPr>
            <a:r>
              <a:rPr lang="fr-FR" sz="16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Maximum depth</a:t>
            </a:r>
          </a:p>
          <a:p>
            <a:pPr marL="285750" indent="-285750">
              <a:buFontTx/>
              <a:buChar char="-"/>
            </a:pPr>
            <a:r>
              <a:rPr lang="fr-FR" sz="16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Shape</a:t>
            </a:r>
          </a:p>
        </p:txBody>
      </p:sp>
    </p:spTree>
    <p:extLst>
      <p:ext uri="{BB962C8B-B14F-4D97-AF65-F5344CB8AC3E}">
        <p14:creationId xmlns:p14="http://schemas.microsoft.com/office/powerpoint/2010/main" val="623122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58507"/>
          </a:xfrm>
        </p:spPr>
        <p:txBody>
          <a:bodyPr/>
          <a:lstStyle/>
          <a:p>
            <a:r>
              <a:rPr lang="fr-FR" sz="4000" smtClean="0"/>
              <a:t>Nitrate transfer</a:t>
            </a:r>
            <a:endParaRPr lang="fr-FR" sz="4000"/>
          </a:p>
        </p:txBody>
      </p:sp>
      <p:sp>
        <p:nvSpPr>
          <p:cNvPr id="3" name="ZoneTexte 2"/>
          <p:cNvSpPr txBox="1"/>
          <p:nvPr/>
        </p:nvSpPr>
        <p:spPr>
          <a:xfrm>
            <a:off x="457200" y="1036320"/>
            <a:ext cx="811377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Tx/>
              <a:buChar char="-"/>
            </a:pP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Nitrate flows with water (convection)</a:t>
            </a:r>
          </a:p>
          <a:p>
            <a:pPr marL="800100" lvl="1" indent="-342900">
              <a:buFontTx/>
              <a:buChar char="-"/>
            </a:pP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Any nitrate arriving into an elementary layer mixes with the nitrate already present</a:t>
            </a:r>
          </a:p>
          <a:p>
            <a:pPr marL="800100" lvl="1" indent="-342900">
              <a:buFontTx/>
              <a:buChar char="-"/>
            </a:pP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Excess water flows downward with the new concentration of the mixture</a:t>
            </a:r>
          </a:p>
          <a:p>
            <a:pPr marL="800100" lvl="1" indent="-342900">
              <a:buFontTx/>
              <a:buChar char="-"/>
            </a:pP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Dispersion is taken into account through « mixing cells » which thickness (epd) is higher than elementary layer thickness</a:t>
            </a:r>
          </a:p>
          <a:p>
            <a:pPr marL="800100" lvl="1" indent="-342900">
              <a:buFontTx/>
              <a:buChar char="-"/>
            </a:pPr>
            <a:endParaRPr lang="fr-FR" b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701" y="3531355"/>
            <a:ext cx="4010025" cy="2628900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5856514" y="4288971"/>
            <a:ext cx="11272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epd = 2 * </a:t>
            </a:r>
            <a:r>
              <a:rPr lang="fr-FR" sz="1600" b="0" smtClean="0">
                <a:solidFill>
                  <a:schemeClr val="tx1"/>
                </a:solidFill>
                <a:latin typeface="Symbol" panose="05050102010706020507" pitchFamily="18" charset="2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5284948" y="5638799"/>
            <a:ext cx="16987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Perfect et al. 2002</a:t>
            </a:r>
          </a:p>
        </p:txBody>
      </p:sp>
    </p:spTree>
    <p:extLst>
      <p:ext uri="{BB962C8B-B14F-4D97-AF65-F5344CB8AC3E}">
        <p14:creationId xmlns:p14="http://schemas.microsoft.com/office/powerpoint/2010/main" val="970559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58507"/>
          </a:xfrm>
        </p:spPr>
        <p:txBody>
          <a:bodyPr/>
          <a:lstStyle/>
          <a:p>
            <a:r>
              <a:rPr lang="fr-FR" sz="4000" smtClean="0"/>
              <a:t>Heat transfer</a:t>
            </a:r>
            <a:endParaRPr lang="fr-FR" sz="4000"/>
          </a:p>
        </p:txBody>
      </p:sp>
      <p:sp>
        <p:nvSpPr>
          <p:cNvPr id="4" name="ZoneTexte 3"/>
          <p:cNvSpPr txBox="1"/>
          <p:nvPr/>
        </p:nvSpPr>
        <p:spPr>
          <a:xfrm>
            <a:off x="642257" y="1436914"/>
            <a:ext cx="80445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heat </a:t>
            </a: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flow calculation!</a:t>
            </a:r>
            <a:endParaRPr lang="fr-FR" b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endParaRPr lang="fr-FR" b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Temperature at the soil surface is equal to tcult : determine the daily thermal amplitude</a:t>
            </a:r>
          </a:p>
          <a:p>
            <a:pPr marL="285750" indent="-285750">
              <a:buFontTx/>
              <a:buChar char="-"/>
            </a:pPr>
            <a:endParaRPr lang="fr-FR" b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Tsol at depth z calculated by propagating the surface wave taking into account the exponential attenuation of the amplitude due to inertia</a:t>
            </a:r>
          </a:p>
          <a:p>
            <a:pPr marL="285750" indent="-285750">
              <a:buFontTx/>
              <a:buChar char="-"/>
            </a:pPr>
            <a:endParaRPr lang="fr-FR" b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endParaRPr lang="fr-FR" b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631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15560"/>
            <a:ext cx="7772400" cy="2308324"/>
          </a:xfrm>
        </p:spPr>
        <p:txBody>
          <a:bodyPr>
            <a:spAutoFit/>
          </a:bodyPr>
          <a:lstStyle/>
          <a:p>
            <a:pPr algn="ctr" eaLnBrk="1" hangingPunct="1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fr-FR" sz="3600" b="1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Soil functionning</a:t>
            </a:r>
            <a:r>
              <a:rPr lang="fr-FR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fr-FR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4. Soil biogeochemistry (C and N transformations, fluxes)</a:t>
            </a:r>
          </a:p>
        </p:txBody>
      </p:sp>
      <p:sp>
        <p:nvSpPr>
          <p:cNvPr id="2" name="AutoShape 2" descr="Logotype INRA"/>
          <p:cNvSpPr>
            <a:spLocks noChangeAspect="1" noChangeArrowheads="1"/>
          </p:cNvSpPr>
          <p:nvPr/>
        </p:nvSpPr>
        <p:spPr bwMode="auto">
          <a:xfrm>
            <a:off x="155575" y="-457200"/>
            <a:ext cx="19050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07E4CCE5-CDD3-4A5F-82C9-47941A26CF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14" y="3115560"/>
            <a:ext cx="1290828" cy="994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543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58507"/>
          </a:xfrm>
        </p:spPr>
        <p:txBody>
          <a:bodyPr/>
          <a:lstStyle/>
          <a:p>
            <a:r>
              <a:rPr lang="fr-FR" sz="4000" smtClean="0"/>
              <a:t>C N transformations</a:t>
            </a:r>
            <a:endParaRPr lang="fr-FR" sz="4000"/>
          </a:p>
        </p:txBody>
      </p:sp>
      <p:sp>
        <p:nvSpPr>
          <p:cNvPr id="3" name="ZoneTexte 2"/>
          <p:cNvSpPr txBox="1"/>
          <p:nvPr/>
        </p:nvSpPr>
        <p:spPr>
          <a:xfrm>
            <a:off x="87086" y="1190208"/>
            <a:ext cx="81137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Tx/>
              <a:buChar char="-"/>
            </a:pP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Different pools that are related</a:t>
            </a:r>
          </a:p>
          <a:p>
            <a:pPr marL="800100" lvl="1" indent="-342900">
              <a:buFontTx/>
              <a:buChar char="-"/>
            </a:pP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Active layers (prohhum, profdenit)</a:t>
            </a:r>
          </a:p>
          <a:p>
            <a:pPr marL="800100" lvl="1" indent="-342900">
              <a:buFontTx/>
              <a:buChar char="-"/>
            </a:pPr>
            <a:r>
              <a:rPr lang="fr-FR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Interaction with transfers (local conditions, transport)</a:t>
            </a:r>
          </a:p>
          <a:p>
            <a:pPr marL="800100" lvl="1" indent="-342900">
              <a:buFontTx/>
              <a:buChar char="-"/>
            </a:pPr>
            <a:endParaRPr lang="fr-FR" b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Tx/>
              <a:buChar char="-"/>
            </a:pPr>
            <a:r>
              <a:rPr lang="fr-FR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Potential rate + modulation by substrate availability &amp; environmental conditions (temperature, water content, aeration, pH…)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/>
          <a:srcRect t="6652"/>
          <a:stretch/>
        </p:blipFill>
        <p:spPr>
          <a:xfrm>
            <a:off x="1615190" y="3283088"/>
            <a:ext cx="5761219" cy="349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53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Pools and fluxes</a:t>
            </a:r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02" y="965598"/>
            <a:ext cx="8186640" cy="589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055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88987"/>
          </a:xfrm>
        </p:spPr>
        <p:txBody>
          <a:bodyPr/>
          <a:lstStyle/>
          <a:p>
            <a:r>
              <a:rPr lang="fr-FR" smtClean="0"/>
              <a:t>Overview</a:t>
            </a:r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>
            <a:off x="561474" y="1177007"/>
            <a:ext cx="77724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Decomposition/mineralization</a:t>
            </a:r>
          </a:p>
          <a:p>
            <a:pPr marL="285750" indent="-285750">
              <a:buFontTx/>
              <a:buChar char="-"/>
            </a:pPr>
            <a:r>
              <a:rPr lang="fr-FR" sz="18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 organic pools : residue, microbial biomass, humus (already present or newly formed)</a:t>
            </a:r>
          </a:p>
          <a:p>
            <a:pPr marL="285750" indent="-285750">
              <a:buFontTx/>
              <a:buChar char="-"/>
            </a:pPr>
            <a:r>
              <a:rPr lang="fr-FR" sz="18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rate dependent on C:N ratio, soil water content, temperature</a:t>
            </a:r>
          </a:p>
          <a:p>
            <a:pPr marL="285750" indent="-285750">
              <a:buFontTx/>
              <a:buChar char="-"/>
            </a:pPr>
            <a:r>
              <a:rPr lang="fr-FR" sz="18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fr-FR" sz="18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nduces mineralisation or organisation, which influences the mineral nitrogen pools</a:t>
            </a:r>
          </a:p>
          <a:p>
            <a:pPr marL="285750" indent="-285750">
              <a:buFontTx/>
              <a:buChar char="-"/>
            </a:pPr>
            <a:r>
              <a:rPr lang="fr-FR" sz="18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Humus also mineralized</a:t>
            </a:r>
          </a:p>
          <a:p>
            <a:pPr marL="285750" indent="-285750">
              <a:buFontTx/>
              <a:buChar char="-"/>
            </a:pPr>
            <a:endParaRPr lang="fr-FR" sz="1800" b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80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Nitrification</a:t>
            </a:r>
          </a:p>
          <a:p>
            <a:pPr marL="285750" indent="-285750">
              <a:buFontTx/>
              <a:buChar char="-"/>
            </a:pPr>
            <a:r>
              <a:rPr lang="fr-FR" sz="18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transforms NH4 into NO3</a:t>
            </a:r>
          </a:p>
          <a:p>
            <a:pPr marL="285750" indent="-285750">
              <a:buFontTx/>
              <a:buChar char="-"/>
            </a:pPr>
            <a:r>
              <a:rPr lang="fr-FR" sz="18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 of the nitrified N is lost as N2O</a:t>
            </a:r>
          </a:p>
          <a:p>
            <a:pPr marL="285750" indent="-285750">
              <a:buFontTx/>
              <a:buChar char="-"/>
            </a:pPr>
            <a:endParaRPr lang="fr-FR" sz="1800" b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8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Mineral nitrogen (NH4 or NO3) can be used by the plant (without selectivity)</a:t>
            </a:r>
          </a:p>
          <a:p>
            <a:endParaRPr lang="fr-FR" sz="1800" b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80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Denitrification</a:t>
            </a:r>
          </a:p>
          <a:p>
            <a:pPr marL="285750" indent="-285750">
              <a:buFontTx/>
              <a:buChar char="-"/>
            </a:pPr>
            <a:r>
              <a:rPr lang="fr-FR" sz="18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NO3 is transformed in N2O</a:t>
            </a:r>
          </a:p>
          <a:p>
            <a:pPr marL="285750" indent="-285750">
              <a:buFontTx/>
              <a:buChar char="-"/>
            </a:pPr>
            <a:r>
              <a:rPr lang="fr-FR" sz="18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N2O can be reduced to N2</a:t>
            </a:r>
          </a:p>
          <a:p>
            <a:pPr marL="285750" indent="-285750">
              <a:buFontTx/>
              <a:buChar char="-"/>
            </a:pPr>
            <a:endParaRPr lang="fr-FR" sz="1800" b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8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N2 pool in STICS (gaseous loss which can be estimated from the N balance)</a:t>
            </a:r>
          </a:p>
        </p:txBody>
      </p:sp>
    </p:spTree>
    <p:extLst>
      <p:ext uri="{BB962C8B-B14F-4D97-AF65-F5344CB8AC3E}">
        <p14:creationId xmlns:p14="http://schemas.microsoft.com/office/powerpoint/2010/main" val="2018100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194" y="277813"/>
            <a:ext cx="8170404" cy="647405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GB" sz="2800" b="1" dirty="0" smtClean="0">
                <a:solidFill>
                  <a:srgbClr val="6F9D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Residues decomposition </a:t>
            </a:r>
            <a:r>
              <a:rPr lang="en-GB" sz="2800" b="1" smtClean="0">
                <a:solidFill>
                  <a:srgbClr val="6F9D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mineralization</a:t>
            </a:r>
            <a:endParaRPr lang="en-GB" sz="4000" b="1" dirty="0" smtClean="0">
              <a:solidFill>
                <a:srgbClr val="6F9D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8901" name="Group 5"/>
          <p:cNvGrpSpPr>
            <a:grpSpLocks/>
          </p:cNvGrpSpPr>
          <p:nvPr/>
        </p:nvGrpSpPr>
        <p:grpSpPr bwMode="auto">
          <a:xfrm>
            <a:off x="895285" y="2080593"/>
            <a:ext cx="7493441" cy="2708521"/>
            <a:chOff x="393" y="1350"/>
            <a:chExt cx="5024" cy="1837"/>
          </a:xfrm>
        </p:grpSpPr>
        <p:sp>
          <p:nvSpPr>
            <p:cNvPr id="208902" name="Rectangle 6"/>
            <p:cNvSpPr>
              <a:spLocks noChangeArrowheads="1"/>
            </p:cNvSpPr>
            <p:nvPr/>
          </p:nvSpPr>
          <p:spPr bwMode="auto">
            <a:xfrm>
              <a:off x="393" y="1350"/>
              <a:ext cx="43" cy="1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15840" rIns="0" bIns="0">
              <a:spAutoFit/>
            </a:bodyPr>
            <a:lstStyle/>
            <a:p>
              <a:pPr marL="0" marR="0" lvl="0" indent="0" algn="l" defTabSz="449263" rtl="0" eaLnBrk="1" fontAlgn="base" latinLnBrk="0" hangingPunct="1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ctr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/>
              </a:pPr>
              <a:r>
                <a:rPr kumimoji="0" lang="en-GB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 pitchFamily="34" charset="-128"/>
                  <a:cs typeface="Arial" panose="020B0604020202020204" pitchFamily="34" charset="0"/>
                </a:rPr>
                <a:t> 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8904" name="Rectangle 8"/>
            <p:cNvSpPr>
              <a:spLocks noChangeArrowheads="1"/>
            </p:cNvSpPr>
            <p:nvPr/>
          </p:nvSpPr>
          <p:spPr bwMode="auto">
            <a:xfrm>
              <a:off x="3977" y="3022"/>
              <a:ext cx="39" cy="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14040" rIns="0" bIns="0">
              <a:spAutoFit/>
            </a:bodyPr>
            <a:lstStyle/>
            <a:p>
              <a:pPr marL="0" marR="0" lvl="0" indent="0" algn="l" defTabSz="449263" rtl="0" eaLnBrk="1" fontAlgn="base" latinLnBrk="0" hangingPunct="1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ctr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/>
              </a:pPr>
              <a:r>
                <a:rPr kumimoji="0" lang="en-GB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 pitchFamily="34" charset="-128"/>
                  <a:cs typeface="Arial" panose="020B0604020202020204" pitchFamily="34" charset="0"/>
                </a:rPr>
                <a:t> </a:t>
              </a:r>
              <a:endPara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8905" name="Rectangle 9"/>
            <p:cNvSpPr>
              <a:spLocks noChangeArrowheads="1"/>
            </p:cNvSpPr>
            <p:nvPr/>
          </p:nvSpPr>
          <p:spPr bwMode="auto">
            <a:xfrm>
              <a:off x="589" y="1812"/>
              <a:ext cx="1104" cy="529"/>
            </a:xfrm>
            <a:prstGeom prst="rect">
              <a:avLst/>
            </a:prstGeom>
            <a:noFill/>
            <a:ln w="14400">
              <a:solidFill>
                <a:srgbClr val="333333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62640" rIns="90000" bIns="46800"/>
            <a:lstStyle/>
            <a:p>
              <a:pPr marL="0" marR="0" lvl="0" indent="0" algn="ctr" defTabSz="449263" rtl="0" eaLnBrk="1" fontAlgn="base" latinLnBrk="0" hangingPunct="1">
                <a:lnSpc>
                  <a:spcPct val="93000"/>
                </a:lnSpc>
                <a:spcBef>
                  <a:spcPts val="675"/>
                </a:spcBef>
                <a:spcAft>
                  <a:spcPts val="675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ctr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/>
              </a:pPr>
              <a:r>
                <a:rPr kumimoji="0" lang="en-GB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 pitchFamily="34" charset="-128"/>
                  <a:cs typeface="Arial" panose="020B0604020202020204" pitchFamily="34" charset="0"/>
                </a:rPr>
                <a:t>Organic residues C/N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8906" name="Rectangle 10"/>
            <p:cNvSpPr>
              <a:spLocks noChangeArrowheads="1"/>
            </p:cNvSpPr>
            <p:nvPr/>
          </p:nvSpPr>
          <p:spPr bwMode="auto">
            <a:xfrm>
              <a:off x="2374" y="1812"/>
              <a:ext cx="1062" cy="547"/>
            </a:xfrm>
            <a:prstGeom prst="rect">
              <a:avLst/>
            </a:prstGeom>
            <a:noFill/>
            <a:ln w="14400">
              <a:solidFill>
                <a:srgbClr val="333333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62640" rIns="90000" bIns="46800"/>
            <a:lstStyle/>
            <a:p>
              <a:pPr marL="0" marR="0" lvl="0" indent="0" algn="ctr" defTabSz="449263" rtl="0" eaLnBrk="1" fontAlgn="base" latinLnBrk="0" hangingPunct="1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ctr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/>
              </a:pPr>
              <a:r>
                <a:rPr kumimoji="0" lang="en-GB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 pitchFamily="34" charset="-128"/>
                  <a:cs typeface="Arial" panose="020B0604020202020204" pitchFamily="34" charset="0"/>
                </a:rPr>
                <a:t>Microbial biomass</a:t>
              </a:r>
            </a:p>
            <a:p>
              <a:pPr marL="0" marR="0" lvl="0" indent="0" algn="ctr" defTabSz="449263" rtl="0" eaLnBrk="1" fontAlgn="base" latinLnBrk="0" hangingPunct="1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ctr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/>
              </a:pPr>
              <a:r>
                <a:rPr kumimoji="0" lang="en-GB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 pitchFamily="34" charset="-128"/>
                  <a:cs typeface="Arial" panose="020B0604020202020204" pitchFamily="34" charset="0"/>
                </a:rPr>
                <a:t>C/N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8907" name="Rectangle 11"/>
            <p:cNvSpPr>
              <a:spLocks noChangeArrowheads="1"/>
            </p:cNvSpPr>
            <p:nvPr/>
          </p:nvSpPr>
          <p:spPr bwMode="auto">
            <a:xfrm>
              <a:off x="4131" y="1776"/>
              <a:ext cx="1286" cy="529"/>
            </a:xfrm>
            <a:prstGeom prst="rect">
              <a:avLst/>
            </a:prstGeom>
            <a:noFill/>
            <a:ln w="14400">
              <a:solidFill>
                <a:srgbClr val="333333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62640" rIns="90000" bIns="46800"/>
            <a:lstStyle/>
            <a:p>
              <a:pPr marL="0" marR="0" lvl="0" indent="0" algn="ctr" defTabSz="449263" rtl="0" eaLnBrk="1" fontAlgn="base" latinLnBrk="0" hangingPunct="1">
                <a:lnSpc>
                  <a:spcPct val="93000"/>
                </a:lnSpc>
                <a:spcBef>
                  <a:spcPts val="563"/>
                </a:spcBef>
                <a:spcAft>
                  <a:spcPts val="563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ctr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/>
              </a:pPr>
              <a:r>
                <a:rPr kumimoji="0" lang="en-GB" sz="1800" b="0" i="0" u="none" strike="noStrike" kern="1200" cap="none" spc="0" normalizeH="0" baseline="0" noProof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 pitchFamily="34" charset="-128"/>
                  <a:cs typeface="Arial" panose="020B0604020202020204" pitchFamily="34" charset="0"/>
                </a:rPr>
                <a:t>Humified</a:t>
              </a:r>
              <a:r>
                <a:rPr kumimoji="0" lang="en-GB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 pitchFamily="34" charset="-128"/>
                  <a:cs typeface="Arial" panose="020B0604020202020204" pitchFamily="34" charset="0"/>
                </a:rPr>
                <a:t> organic matter C/N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8908" name="Rectangle 12"/>
            <p:cNvSpPr>
              <a:spLocks noChangeArrowheads="1"/>
            </p:cNvSpPr>
            <p:nvPr/>
          </p:nvSpPr>
          <p:spPr bwMode="auto">
            <a:xfrm>
              <a:off x="2527" y="2670"/>
              <a:ext cx="756" cy="217"/>
            </a:xfrm>
            <a:prstGeom prst="rect">
              <a:avLst/>
            </a:prstGeom>
            <a:solidFill>
              <a:srgbClr val="FFFFFF"/>
            </a:solidFill>
            <a:ln w="14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60840" rIns="90000" bIns="46800"/>
            <a:lstStyle/>
            <a:p>
              <a:pPr marL="0" marR="0" lvl="0" indent="0" algn="ctr" defTabSz="449263" rtl="0" eaLnBrk="1" fontAlgn="base" latinLnBrk="0" hangingPunct="1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ctr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/>
              </a:pPr>
              <a:r>
                <a:rPr kumimoji="0" lang="en-GB" sz="1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 pitchFamily="34" charset="-128"/>
                  <a:cs typeface="Arial" panose="020B0604020202020204" pitchFamily="34" charset="0"/>
                </a:rPr>
                <a:t>Mineral N</a:t>
              </a:r>
              <a:endPara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8909" name="Freeform 13"/>
            <p:cNvSpPr>
              <a:spLocks noChangeArrowheads="1"/>
            </p:cNvSpPr>
            <p:nvPr/>
          </p:nvSpPr>
          <p:spPr bwMode="auto">
            <a:xfrm>
              <a:off x="1716" y="1940"/>
              <a:ext cx="658" cy="79"/>
            </a:xfrm>
            <a:custGeom>
              <a:avLst/>
              <a:gdLst>
                <a:gd name="T0" fmla="*/ 0 w 658"/>
                <a:gd name="T1" fmla="*/ 27 h 79"/>
                <a:gd name="T2" fmla="*/ 592 w 658"/>
                <a:gd name="T3" fmla="*/ 27 h 79"/>
                <a:gd name="T4" fmla="*/ 592 w 658"/>
                <a:gd name="T5" fmla="*/ 53 h 79"/>
                <a:gd name="T6" fmla="*/ 0 w 658"/>
                <a:gd name="T7" fmla="*/ 53 h 79"/>
                <a:gd name="T8" fmla="*/ 0 w 658"/>
                <a:gd name="T9" fmla="*/ 27 h 79"/>
                <a:gd name="T10" fmla="*/ 579 w 658"/>
                <a:gd name="T11" fmla="*/ 0 h 79"/>
                <a:gd name="T12" fmla="*/ 658 w 658"/>
                <a:gd name="T13" fmla="*/ 40 h 79"/>
                <a:gd name="T14" fmla="*/ 579 w 658"/>
                <a:gd name="T15" fmla="*/ 79 h 79"/>
                <a:gd name="T16" fmla="*/ 579 w 658"/>
                <a:gd name="T1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58" h="79">
                  <a:moveTo>
                    <a:pt x="0" y="27"/>
                  </a:moveTo>
                  <a:lnTo>
                    <a:pt x="592" y="27"/>
                  </a:lnTo>
                  <a:lnTo>
                    <a:pt x="592" y="53"/>
                  </a:lnTo>
                  <a:lnTo>
                    <a:pt x="0" y="53"/>
                  </a:lnTo>
                  <a:lnTo>
                    <a:pt x="0" y="27"/>
                  </a:lnTo>
                  <a:close/>
                  <a:moveTo>
                    <a:pt x="579" y="0"/>
                  </a:moveTo>
                  <a:lnTo>
                    <a:pt x="658" y="40"/>
                  </a:lnTo>
                  <a:lnTo>
                    <a:pt x="579" y="79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339966"/>
            </a:solidFill>
            <a:ln w="3240">
              <a:solidFill>
                <a:srgbClr val="339966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08910" name="Freeform 14"/>
            <p:cNvSpPr>
              <a:spLocks noChangeArrowheads="1"/>
            </p:cNvSpPr>
            <p:nvPr/>
          </p:nvSpPr>
          <p:spPr bwMode="auto">
            <a:xfrm>
              <a:off x="3436" y="1940"/>
              <a:ext cx="658" cy="79"/>
            </a:xfrm>
            <a:custGeom>
              <a:avLst/>
              <a:gdLst>
                <a:gd name="T0" fmla="*/ 0 w 658"/>
                <a:gd name="T1" fmla="*/ 27 h 79"/>
                <a:gd name="T2" fmla="*/ 592 w 658"/>
                <a:gd name="T3" fmla="*/ 27 h 79"/>
                <a:gd name="T4" fmla="*/ 592 w 658"/>
                <a:gd name="T5" fmla="*/ 53 h 79"/>
                <a:gd name="T6" fmla="*/ 0 w 658"/>
                <a:gd name="T7" fmla="*/ 53 h 79"/>
                <a:gd name="T8" fmla="*/ 0 w 658"/>
                <a:gd name="T9" fmla="*/ 27 h 79"/>
                <a:gd name="T10" fmla="*/ 579 w 658"/>
                <a:gd name="T11" fmla="*/ 0 h 79"/>
                <a:gd name="T12" fmla="*/ 658 w 658"/>
                <a:gd name="T13" fmla="*/ 40 h 79"/>
                <a:gd name="T14" fmla="*/ 579 w 658"/>
                <a:gd name="T15" fmla="*/ 79 h 79"/>
                <a:gd name="T16" fmla="*/ 579 w 658"/>
                <a:gd name="T1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58" h="79">
                  <a:moveTo>
                    <a:pt x="0" y="27"/>
                  </a:moveTo>
                  <a:lnTo>
                    <a:pt x="592" y="27"/>
                  </a:lnTo>
                  <a:lnTo>
                    <a:pt x="592" y="53"/>
                  </a:lnTo>
                  <a:lnTo>
                    <a:pt x="0" y="53"/>
                  </a:lnTo>
                  <a:lnTo>
                    <a:pt x="0" y="27"/>
                  </a:lnTo>
                  <a:close/>
                  <a:moveTo>
                    <a:pt x="579" y="0"/>
                  </a:moveTo>
                  <a:lnTo>
                    <a:pt x="658" y="40"/>
                  </a:lnTo>
                  <a:lnTo>
                    <a:pt x="579" y="79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339966"/>
            </a:solidFill>
            <a:ln w="3240">
              <a:solidFill>
                <a:srgbClr val="339966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08911" name="Freeform 15"/>
            <p:cNvSpPr>
              <a:spLocks noChangeArrowheads="1"/>
            </p:cNvSpPr>
            <p:nvPr/>
          </p:nvSpPr>
          <p:spPr bwMode="auto">
            <a:xfrm>
              <a:off x="1857" y="1621"/>
              <a:ext cx="229" cy="366"/>
            </a:xfrm>
            <a:custGeom>
              <a:avLst/>
              <a:gdLst>
                <a:gd name="T0" fmla="*/ 0 w 229"/>
                <a:gd name="T1" fmla="*/ 352 h 366"/>
                <a:gd name="T2" fmla="*/ 184 w 229"/>
                <a:gd name="T3" fmla="*/ 50 h 366"/>
                <a:gd name="T4" fmla="*/ 207 w 229"/>
                <a:gd name="T5" fmla="*/ 63 h 366"/>
                <a:gd name="T6" fmla="*/ 23 w 229"/>
                <a:gd name="T7" fmla="*/ 366 h 366"/>
                <a:gd name="T8" fmla="*/ 0 w 229"/>
                <a:gd name="T9" fmla="*/ 352 h 366"/>
                <a:gd name="T10" fmla="*/ 155 w 229"/>
                <a:gd name="T11" fmla="*/ 47 h 366"/>
                <a:gd name="T12" fmla="*/ 229 w 229"/>
                <a:gd name="T13" fmla="*/ 0 h 366"/>
                <a:gd name="T14" fmla="*/ 222 w 229"/>
                <a:gd name="T15" fmla="*/ 88 h 366"/>
                <a:gd name="T16" fmla="*/ 155 w 229"/>
                <a:gd name="T17" fmla="*/ 47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9" h="366">
                  <a:moveTo>
                    <a:pt x="0" y="352"/>
                  </a:moveTo>
                  <a:lnTo>
                    <a:pt x="184" y="50"/>
                  </a:lnTo>
                  <a:lnTo>
                    <a:pt x="207" y="63"/>
                  </a:lnTo>
                  <a:lnTo>
                    <a:pt x="23" y="366"/>
                  </a:lnTo>
                  <a:lnTo>
                    <a:pt x="0" y="352"/>
                  </a:lnTo>
                  <a:close/>
                  <a:moveTo>
                    <a:pt x="155" y="47"/>
                  </a:moveTo>
                  <a:lnTo>
                    <a:pt x="229" y="0"/>
                  </a:lnTo>
                  <a:lnTo>
                    <a:pt x="222" y="88"/>
                  </a:lnTo>
                  <a:lnTo>
                    <a:pt x="155" y="47"/>
                  </a:lnTo>
                  <a:close/>
                </a:path>
              </a:pathLst>
            </a:custGeom>
            <a:solidFill>
              <a:srgbClr val="339966"/>
            </a:solidFill>
            <a:ln w="3240">
              <a:solidFill>
                <a:srgbClr val="339966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08912" name="Freeform 16"/>
            <p:cNvSpPr>
              <a:spLocks noChangeArrowheads="1"/>
            </p:cNvSpPr>
            <p:nvPr/>
          </p:nvSpPr>
          <p:spPr bwMode="auto">
            <a:xfrm>
              <a:off x="3527" y="1621"/>
              <a:ext cx="309" cy="367"/>
            </a:xfrm>
            <a:custGeom>
              <a:avLst/>
              <a:gdLst>
                <a:gd name="T0" fmla="*/ 0 w 309"/>
                <a:gd name="T1" fmla="*/ 350 h 367"/>
                <a:gd name="T2" fmla="*/ 257 w 309"/>
                <a:gd name="T3" fmla="*/ 43 h 367"/>
                <a:gd name="T4" fmla="*/ 277 w 309"/>
                <a:gd name="T5" fmla="*/ 59 h 367"/>
                <a:gd name="T6" fmla="*/ 20 w 309"/>
                <a:gd name="T7" fmla="*/ 367 h 367"/>
                <a:gd name="T8" fmla="*/ 0 w 309"/>
                <a:gd name="T9" fmla="*/ 350 h 367"/>
                <a:gd name="T10" fmla="*/ 228 w 309"/>
                <a:gd name="T11" fmla="*/ 36 h 367"/>
                <a:gd name="T12" fmla="*/ 309 w 309"/>
                <a:gd name="T13" fmla="*/ 0 h 367"/>
                <a:gd name="T14" fmla="*/ 289 w 309"/>
                <a:gd name="T15" fmla="*/ 86 h 367"/>
                <a:gd name="T16" fmla="*/ 228 w 309"/>
                <a:gd name="T17" fmla="*/ 36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9" h="367">
                  <a:moveTo>
                    <a:pt x="0" y="350"/>
                  </a:moveTo>
                  <a:lnTo>
                    <a:pt x="257" y="43"/>
                  </a:lnTo>
                  <a:lnTo>
                    <a:pt x="277" y="59"/>
                  </a:lnTo>
                  <a:lnTo>
                    <a:pt x="20" y="367"/>
                  </a:lnTo>
                  <a:lnTo>
                    <a:pt x="0" y="350"/>
                  </a:lnTo>
                  <a:close/>
                  <a:moveTo>
                    <a:pt x="228" y="36"/>
                  </a:moveTo>
                  <a:lnTo>
                    <a:pt x="309" y="0"/>
                  </a:lnTo>
                  <a:lnTo>
                    <a:pt x="289" y="86"/>
                  </a:lnTo>
                  <a:lnTo>
                    <a:pt x="228" y="36"/>
                  </a:lnTo>
                  <a:close/>
                </a:path>
              </a:pathLst>
            </a:custGeom>
            <a:solidFill>
              <a:srgbClr val="339966"/>
            </a:solidFill>
            <a:ln w="3240">
              <a:solidFill>
                <a:srgbClr val="339966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08913" name="Freeform 17"/>
            <p:cNvSpPr>
              <a:spLocks noChangeArrowheads="1"/>
            </p:cNvSpPr>
            <p:nvPr/>
          </p:nvSpPr>
          <p:spPr bwMode="auto">
            <a:xfrm>
              <a:off x="3782" y="2976"/>
              <a:ext cx="672" cy="81"/>
            </a:xfrm>
            <a:custGeom>
              <a:avLst/>
              <a:gdLst>
                <a:gd name="T0" fmla="*/ 0 w 606"/>
                <a:gd name="T1" fmla="*/ 26 h 79"/>
                <a:gd name="T2" fmla="*/ 540 w 606"/>
                <a:gd name="T3" fmla="*/ 26 h 79"/>
                <a:gd name="T4" fmla="*/ 540 w 606"/>
                <a:gd name="T5" fmla="*/ 52 h 79"/>
                <a:gd name="T6" fmla="*/ 0 w 606"/>
                <a:gd name="T7" fmla="*/ 52 h 79"/>
                <a:gd name="T8" fmla="*/ 0 w 606"/>
                <a:gd name="T9" fmla="*/ 26 h 79"/>
                <a:gd name="T10" fmla="*/ 527 w 606"/>
                <a:gd name="T11" fmla="*/ 0 h 79"/>
                <a:gd name="T12" fmla="*/ 606 w 606"/>
                <a:gd name="T13" fmla="*/ 39 h 79"/>
                <a:gd name="T14" fmla="*/ 527 w 606"/>
                <a:gd name="T15" fmla="*/ 79 h 79"/>
                <a:gd name="T16" fmla="*/ 527 w 606"/>
                <a:gd name="T1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6" h="79">
                  <a:moveTo>
                    <a:pt x="0" y="26"/>
                  </a:moveTo>
                  <a:lnTo>
                    <a:pt x="540" y="26"/>
                  </a:lnTo>
                  <a:lnTo>
                    <a:pt x="540" y="52"/>
                  </a:lnTo>
                  <a:lnTo>
                    <a:pt x="0" y="52"/>
                  </a:lnTo>
                  <a:lnTo>
                    <a:pt x="0" y="26"/>
                  </a:lnTo>
                  <a:close/>
                  <a:moveTo>
                    <a:pt x="527" y="0"/>
                  </a:moveTo>
                  <a:lnTo>
                    <a:pt x="606" y="39"/>
                  </a:lnTo>
                  <a:lnTo>
                    <a:pt x="527" y="79"/>
                  </a:lnTo>
                  <a:lnTo>
                    <a:pt x="527" y="0"/>
                  </a:lnTo>
                  <a:close/>
                </a:path>
              </a:pathLst>
            </a:custGeom>
            <a:solidFill>
              <a:srgbClr val="339966"/>
            </a:solidFill>
            <a:ln w="3240">
              <a:solidFill>
                <a:srgbClr val="339966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08914" name="Rectangle 18"/>
            <p:cNvSpPr>
              <a:spLocks noChangeArrowheads="1"/>
            </p:cNvSpPr>
            <p:nvPr/>
          </p:nvSpPr>
          <p:spPr bwMode="auto">
            <a:xfrm>
              <a:off x="1814" y="1363"/>
              <a:ext cx="544" cy="229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60840" rIns="90000" bIns="46800">
              <a:spAutoFit/>
            </a:bodyPr>
            <a:lstStyle/>
            <a:p>
              <a:pPr marL="0" marR="0" lvl="0" indent="0" algn="ctr" defTabSz="449263" rtl="0" eaLnBrk="1" fontAlgn="base" latinLnBrk="0" hangingPunct="1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ctr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/>
              </a:pPr>
              <a:r>
                <a:rPr kumimoji="0" lang="en-GB" sz="1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 pitchFamily="34" charset="-128"/>
                  <a:cs typeface="Arial" panose="020B0604020202020204" pitchFamily="34" charset="0"/>
                </a:rPr>
                <a:t>C-CO</a:t>
              </a:r>
              <a:r>
                <a:rPr kumimoji="0" lang="en-GB" sz="1600" b="1" i="0" u="none" strike="noStrike" kern="1200" cap="none" spc="0" normalizeH="0" baseline="-2500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 pitchFamily="34" charset="-128"/>
                  <a:cs typeface="Arial" panose="020B0604020202020204" pitchFamily="34" charset="0"/>
                </a:rPr>
                <a:t>2</a:t>
              </a:r>
              <a:endParaRPr kumimoji="0" lang="en-GB" sz="16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8915" name="Rectangle 19"/>
            <p:cNvSpPr>
              <a:spLocks noChangeArrowheads="1"/>
            </p:cNvSpPr>
            <p:nvPr/>
          </p:nvSpPr>
          <p:spPr bwMode="auto">
            <a:xfrm>
              <a:off x="4557" y="2764"/>
              <a:ext cx="112" cy="1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15840" rIns="0" bIns="0">
              <a:spAutoFit/>
            </a:bodyPr>
            <a:lstStyle/>
            <a:p>
              <a:pPr marL="0" marR="0" lvl="0" indent="0" algn="l" defTabSz="449263" rtl="0" eaLnBrk="1" fontAlgn="base" latinLnBrk="0" hangingPunct="1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ctr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/>
              </a:pPr>
              <a:r>
                <a:rPr kumimoji="0" lang="en-GB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 pitchFamily="34" charset="-128"/>
                  <a:cs typeface="Arial" panose="020B0604020202020204" pitchFamily="34" charset="0"/>
                </a:rPr>
                <a:t>N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8916" name="Rectangle 20"/>
            <p:cNvSpPr>
              <a:spLocks noChangeArrowheads="1"/>
            </p:cNvSpPr>
            <p:nvPr/>
          </p:nvSpPr>
          <p:spPr bwMode="auto">
            <a:xfrm>
              <a:off x="4557" y="2946"/>
              <a:ext cx="112" cy="1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15840" rIns="0" bIns="0">
              <a:spAutoFit/>
            </a:bodyPr>
            <a:lstStyle/>
            <a:p>
              <a:pPr marL="0" marR="0" lvl="0" indent="0" algn="l" defTabSz="449263" rtl="0" eaLnBrk="1" fontAlgn="base" latinLnBrk="0" hangingPunct="1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ctr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/>
              </a:pPr>
              <a:r>
                <a:rPr kumimoji="0" lang="en-GB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 pitchFamily="34" charset="-128"/>
                  <a:cs typeface="Arial" panose="020B0604020202020204" pitchFamily="34" charset="0"/>
                </a:rPr>
                <a:t>C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8917" name="Rectangle 21"/>
            <p:cNvSpPr>
              <a:spLocks noChangeArrowheads="1"/>
            </p:cNvSpPr>
            <p:nvPr/>
          </p:nvSpPr>
          <p:spPr bwMode="auto">
            <a:xfrm>
              <a:off x="3547" y="1363"/>
              <a:ext cx="544" cy="229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60840" rIns="90000" bIns="46800">
              <a:spAutoFit/>
            </a:bodyPr>
            <a:lstStyle/>
            <a:p>
              <a:pPr marL="0" marR="0" lvl="0" indent="0" algn="ctr" defTabSz="449263" rtl="0" eaLnBrk="1" fontAlgn="base" latinLnBrk="0" hangingPunct="1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ctr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/>
              </a:pPr>
              <a:r>
                <a:rPr kumimoji="0" lang="en-GB" sz="1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 pitchFamily="34" charset="-128"/>
                  <a:cs typeface="Arial" panose="020B0604020202020204" pitchFamily="34" charset="0"/>
                </a:rPr>
                <a:t>C-CO</a:t>
              </a:r>
              <a:r>
                <a:rPr kumimoji="0" lang="en-GB" sz="1600" b="1" i="0" u="none" strike="noStrike" kern="1200" cap="none" spc="0" normalizeH="0" baseline="-2500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 pitchFamily="34" charset="-128"/>
                  <a:cs typeface="Arial" panose="020B0604020202020204" pitchFamily="34" charset="0"/>
                </a:rPr>
                <a:t>2</a:t>
              </a:r>
              <a:endParaRPr kumimoji="0" lang="en-GB" sz="16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8918" name="Line 22"/>
            <p:cNvSpPr>
              <a:spLocks noChangeShapeType="1"/>
            </p:cNvSpPr>
            <p:nvPr/>
          </p:nvSpPr>
          <p:spPr bwMode="auto">
            <a:xfrm>
              <a:off x="1732" y="2142"/>
              <a:ext cx="635" cy="1"/>
            </a:xfrm>
            <a:prstGeom prst="line">
              <a:avLst/>
            </a:prstGeom>
            <a:noFill/>
            <a:ln w="50760">
              <a:solidFill>
                <a:srgbClr val="339966"/>
              </a:solidFill>
              <a:prstDash val="sysDot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08919" name="Line 23"/>
            <p:cNvSpPr>
              <a:spLocks noChangeShapeType="1"/>
            </p:cNvSpPr>
            <p:nvPr/>
          </p:nvSpPr>
          <p:spPr bwMode="auto">
            <a:xfrm>
              <a:off x="3782" y="2840"/>
              <a:ext cx="656" cy="1"/>
            </a:xfrm>
            <a:prstGeom prst="line">
              <a:avLst/>
            </a:prstGeom>
            <a:noFill/>
            <a:ln w="50760">
              <a:solidFill>
                <a:srgbClr val="339966"/>
              </a:solidFill>
              <a:prstDash val="sysDot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08920" name="Line 24"/>
            <p:cNvSpPr>
              <a:spLocks noChangeShapeType="1"/>
            </p:cNvSpPr>
            <p:nvPr/>
          </p:nvSpPr>
          <p:spPr bwMode="auto">
            <a:xfrm>
              <a:off x="3446" y="2151"/>
              <a:ext cx="635" cy="1"/>
            </a:xfrm>
            <a:prstGeom prst="line">
              <a:avLst/>
            </a:prstGeom>
            <a:noFill/>
            <a:ln w="50760">
              <a:solidFill>
                <a:srgbClr val="339966"/>
              </a:solidFill>
              <a:prstDash val="sysDot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08921" name="Line 25"/>
            <p:cNvSpPr>
              <a:spLocks noChangeShapeType="1"/>
            </p:cNvSpPr>
            <p:nvPr/>
          </p:nvSpPr>
          <p:spPr bwMode="auto">
            <a:xfrm>
              <a:off x="1868" y="2160"/>
              <a:ext cx="907" cy="453"/>
            </a:xfrm>
            <a:prstGeom prst="line">
              <a:avLst/>
            </a:prstGeom>
            <a:noFill/>
            <a:ln w="50760">
              <a:solidFill>
                <a:srgbClr val="339966"/>
              </a:solidFill>
              <a:prstDash val="sysDot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08922" name="Line 26"/>
            <p:cNvSpPr>
              <a:spLocks noChangeShapeType="1"/>
            </p:cNvSpPr>
            <p:nvPr/>
          </p:nvSpPr>
          <p:spPr bwMode="auto">
            <a:xfrm flipH="1">
              <a:off x="2999" y="2205"/>
              <a:ext cx="868" cy="408"/>
            </a:xfrm>
            <a:prstGeom prst="line">
              <a:avLst/>
            </a:prstGeom>
            <a:noFill/>
            <a:ln w="50760">
              <a:solidFill>
                <a:srgbClr val="339966"/>
              </a:solidFill>
              <a:prstDash val="sysDot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08923" name="Line 27"/>
            <p:cNvSpPr>
              <a:spLocks noChangeShapeType="1"/>
            </p:cNvSpPr>
            <p:nvPr/>
          </p:nvSpPr>
          <p:spPr bwMode="auto">
            <a:xfrm flipV="1">
              <a:off x="2911" y="2384"/>
              <a:ext cx="1" cy="233"/>
            </a:xfrm>
            <a:prstGeom prst="line">
              <a:avLst/>
            </a:prstGeom>
            <a:noFill/>
            <a:ln w="50760">
              <a:solidFill>
                <a:srgbClr val="339966"/>
              </a:solidFill>
              <a:prstDash val="sysDot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26" name="Text Box 36"/>
          <p:cNvSpPr txBox="1">
            <a:spLocks noChangeArrowheads="1"/>
          </p:cNvSpPr>
          <p:nvPr/>
        </p:nvSpPr>
        <p:spPr bwMode="auto">
          <a:xfrm>
            <a:off x="297893" y="1335946"/>
            <a:ext cx="860309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Decomposition = f(Soil moisture and temperature (</a:t>
            </a: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Normalized days</a:t>
            </a: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), residues nature and C/N, available SMN)	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456" y="4830201"/>
            <a:ext cx="93160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Successive regulation according to N availability </a:t>
            </a: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(</a:t>
            </a: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CC00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8"/>
                <a:cs typeface="Arial" pitchFamily="34" charset="0"/>
              </a:rPr>
              <a:t>Giacomini et al, 2008).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CC00"/>
              </a:solidFill>
              <a:effectLst/>
              <a:uLnTx/>
              <a:uFillTx/>
              <a:latin typeface="Arial" panose="020B0604020202020204" pitchFamily="34" charset="0"/>
              <a:ea typeface="Arial Unicode MS" pitchFamily="34" charset="-128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777437" y="3668823"/>
            <a:ext cx="2018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CC00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8"/>
                <a:cs typeface="Arial" pitchFamily="34" charset="0"/>
              </a:rPr>
              <a:t>(</a:t>
            </a:r>
            <a:r>
              <a:rPr kumimoji="0" lang="en-GB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CC00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8"/>
                <a:cs typeface="Arial" pitchFamily="34" charset="0"/>
              </a:rPr>
              <a:t>Nicolardot</a:t>
            </a: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CC00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8"/>
                <a:cs typeface="Arial" pitchFamily="34" charset="0"/>
              </a:rPr>
              <a:t>, 2001)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Line 5"/>
          <p:cNvSpPr>
            <a:spLocks noChangeShapeType="1"/>
          </p:cNvSpPr>
          <p:nvPr/>
        </p:nvSpPr>
        <p:spPr bwMode="auto">
          <a:xfrm>
            <a:off x="0" y="164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3457" y="5299136"/>
            <a:ext cx="81909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Parameters according to nature and location </a:t>
            </a:r>
            <a:r>
              <a:rPr kumimoji="0" lang="en-GB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of residues (contact with the soil)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93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idx="4294967295"/>
          </p:nvPr>
        </p:nvSpPr>
        <p:spPr>
          <a:xfrm>
            <a:off x="107504" y="2362174"/>
            <a:ext cx="9113838" cy="576262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400" smtClean="0">
                <a:latin typeface="Arial" pitchFamily="34" charset="0"/>
                <a:cs typeface="Arial" pitchFamily="34" charset="0"/>
              </a:rPr>
              <a:t>Direct input (tec file) or automatic input </a:t>
            </a:r>
            <a:r>
              <a:rPr lang="en-US" sz="2400" b="1" smtClean="0">
                <a:latin typeface="Arial" pitchFamily="34" charset="0"/>
                <a:cs typeface="Arial" pitchFamily="34" charset="0"/>
              </a:rPr>
              <a:t>at harvest</a:t>
            </a:r>
            <a:endParaRPr lang="fr-FR" sz="2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310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33" t="49451" r="14807" b="20776"/>
          <a:stretch/>
        </p:blipFill>
        <p:spPr bwMode="auto">
          <a:xfrm>
            <a:off x="107504" y="2795999"/>
            <a:ext cx="8915019" cy="219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07505" y="1176684"/>
            <a:ext cx="9005913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Crop 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residues or organic wastes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left as 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mulch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or 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buried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into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the 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soil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/!\</a:t>
            </a:r>
            <a:r>
              <a:rPr kumimoji="0" lang="en-US" b="0" i="1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(measured remaining biomass may include microbial biomass!)</a:t>
            </a:r>
            <a:endParaRPr kumimoji="0" lang="en-US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3917" y="5138608"/>
            <a:ext cx="900591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Contributions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of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root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residues at harvest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= f(root system description option; root length, specific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parameter)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398030" y="281856"/>
            <a:ext cx="8229600" cy="576064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6F9D2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Residue input</a:t>
            </a: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F9D2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/>
            </a:r>
            <a:b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F9D2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endParaRPr kumimoji="0" lang="fr-FR" sz="2800" b="1" i="0" u="none" strike="noStrike" kern="0" cap="none" spc="0" normalizeH="0" baseline="0" noProof="0" dirty="0">
              <a:ln>
                <a:noFill/>
              </a:ln>
              <a:solidFill>
                <a:srgbClr val="6F9D2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3893343" y="757733"/>
            <a:ext cx="52200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CC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(</a:t>
            </a:r>
            <a:r>
              <a:rPr kumimoji="0" lang="fr-FR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CC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Nicolardot</a:t>
            </a:r>
            <a:r>
              <a:rPr kumimoji="0" lang="fr-FR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CC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et al, 2001; Justes et al., 2009)</a:t>
            </a: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srgbClr val="00CC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1465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11"/>
          <p:cNvSpPr/>
          <p:nvPr/>
        </p:nvSpPr>
        <p:spPr>
          <a:xfrm>
            <a:off x="4572000" y="1357021"/>
            <a:ext cx="720080" cy="57691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774" name="Text Box 8"/>
          <p:cNvSpPr txBox="1">
            <a:spLocks noChangeArrowheads="1"/>
          </p:cNvSpPr>
          <p:nvPr/>
        </p:nvSpPr>
        <p:spPr bwMode="auto">
          <a:xfrm>
            <a:off x="1112587" y="1933932"/>
            <a:ext cx="853089" cy="342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Stable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1779" name="Rectangle 35"/>
          <p:cNvSpPr>
            <a:spLocks noChangeArrowheads="1"/>
          </p:cNvSpPr>
          <p:nvPr/>
        </p:nvSpPr>
        <p:spPr bwMode="auto">
          <a:xfrm>
            <a:off x="1142256" y="2918666"/>
            <a:ext cx="793750" cy="339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Active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748" name="Rectangle 36"/>
          <p:cNvSpPr>
            <a:spLocks noGrp="1" noChangeArrowheads="1"/>
          </p:cNvSpPr>
          <p:nvPr>
            <p:ph type="title" idx="4294967295"/>
          </p:nvPr>
        </p:nvSpPr>
        <p:spPr>
          <a:xfrm>
            <a:off x="2070941" y="274737"/>
            <a:ext cx="6259914" cy="587375"/>
          </a:xfrm>
          <a:prstGeom prst="rect">
            <a:avLst/>
          </a:prstGeom>
          <a:noFill/>
        </p:spPr>
        <p:txBody>
          <a:bodyPr/>
          <a:lstStyle/>
          <a:p>
            <a:pPr eaLnBrk="1" hangingPunct="1"/>
            <a:r>
              <a:rPr lang="en-GB" sz="2800" b="1" dirty="0" smtClean="0">
                <a:solidFill>
                  <a:srgbClr val="6F9D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Humus mineralization (C and N)  </a:t>
            </a:r>
          </a:p>
        </p:txBody>
      </p:sp>
      <p:grpSp>
        <p:nvGrpSpPr>
          <p:cNvPr id="71726" name="Group 46"/>
          <p:cNvGrpSpPr>
            <a:grpSpLocks/>
          </p:cNvGrpSpPr>
          <p:nvPr/>
        </p:nvGrpSpPr>
        <p:grpSpPr bwMode="auto">
          <a:xfrm>
            <a:off x="4928018" y="4432844"/>
            <a:ext cx="3952875" cy="868364"/>
            <a:chOff x="3270" y="1947"/>
            <a:chExt cx="2490" cy="547"/>
          </a:xfrm>
        </p:grpSpPr>
        <p:pic>
          <p:nvPicPr>
            <p:cNvPr id="31770" name="Picture 48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29"/>
            <a:stretch>
              <a:fillRect/>
            </a:stretch>
          </p:blipFill>
          <p:spPr bwMode="auto">
            <a:xfrm>
              <a:off x="3270" y="1947"/>
              <a:ext cx="1872" cy="1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771" name="Picture 49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72" y="2178"/>
              <a:ext cx="2488" cy="3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36" name="Text Box 23"/>
          <p:cNvSpPr txBox="1">
            <a:spLocks noChangeArrowheads="1"/>
          </p:cNvSpPr>
          <p:nvPr/>
        </p:nvSpPr>
        <p:spPr bwMode="auto">
          <a:xfrm>
            <a:off x="3322881" y="4432509"/>
            <a:ext cx="1495426" cy="707886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Normalized days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63"/>
              <p:cNvSpPr>
                <a:spLocks noChangeArrowheads="1"/>
              </p:cNvSpPr>
              <p:nvPr/>
            </p:nvSpPr>
            <p:spPr bwMode="auto">
              <a:xfrm>
                <a:off x="3504456" y="5414217"/>
                <a:ext cx="4993675" cy="646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fr-FR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𝑝𝑟𝑜𝑓h𝑢𝑚</m:t>
                    </m:r>
                  </m:oMath>
                </a14:m>
                <a:r>
                  <a:rPr kumimoji="0" lang="en-GB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:  thickness of mineralization </a:t>
                </a:r>
                <a:r>
                  <a:rPr kumimoji="0" lang="en-GB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layer ~ </a:t>
                </a:r>
                <a:endParaRPr kumimoji="0" lang="en-GB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ploughed </a:t>
                </a:r>
                <a:r>
                  <a:rPr kumimoji="0" lang="en-GB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layer </a:t>
                </a:r>
                <a:r>
                  <a:rPr kumimoji="0" lang="en-GB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or high root density horizon</a:t>
                </a: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7" name="Rectangle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4456" y="5414217"/>
                <a:ext cx="4993675" cy="646331"/>
              </a:xfrm>
              <a:prstGeom prst="rect">
                <a:avLst/>
              </a:prstGeom>
              <a:blipFill>
                <a:blip r:embed="rId6"/>
                <a:stretch>
                  <a:fillRect l="-1099" t="-4717" b="-1415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/>
              <p:cNvSpPr txBox="1"/>
              <p:nvPr/>
            </p:nvSpPr>
            <p:spPr>
              <a:xfrm>
                <a:off x="4033811" y="1357021"/>
                <a:ext cx="3069110" cy="5164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Arial" charset="0"/>
                  </a:rPr>
                  <a:t>K2</a:t>
                </a:r>
                <a:r>
                  <a:rPr kumimoji="0" lang="fr-FR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fr-FR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kumimoji="0" lang="fr-FR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𝐾</m:t>
                    </m:r>
                    <m:r>
                      <a:rPr kumimoji="0" lang="fr-FR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2</m:t>
                    </m:r>
                    <m:r>
                      <a:rPr kumimoji="0" lang="fr-FR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𝑝𝑜𝑡</m:t>
                    </m:r>
                    <m:r>
                      <a:rPr kumimoji="0" lang="fr-FR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 ∗ </m:t>
                    </m:r>
                    <m:f>
                      <m:fPr>
                        <m:ctrlPr>
                          <a:rPr kumimoji="0" lang="fr-F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kumimoji="0" lang="pt-BR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naryPr>
                          <m:sub>
                            <m:r>
                              <a:rPr kumimoji="0" lang="fr-FR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  <m:r>
                              <a:rPr kumimoji="0" lang="fr-FR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=1</m:t>
                            </m:r>
                          </m:sub>
                          <m:sup>
                            <m:r>
                              <a:rPr kumimoji="0" lang="fr-FR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𝑝𝑟𝑜𝑓h𝑢𝑚</m:t>
                            </m:r>
                          </m:sup>
                          <m:e>
                            <m:r>
                              <a:rPr kumimoji="0" lang="fr-FR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𝐹𝐻</m:t>
                            </m:r>
                            <m:r>
                              <a:rPr kumimoji="0" lang="fr-FR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∗</m:t>
                            </m:r>
                            <m:r>
                              <a:rPr kumimoji="0" lang="fr-FR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  <m:t>𝐹𝑇𝐻</m:t>
                            </m:r>
                          </m:e>
                        </m:nary>
                        <m:r>
                          <m:rPr>
                            <m:nor/>
                          </m:rPr>
                          <a:rPr kumimoji="0" lang="fr-FR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itchFamily="34" charset="0"/>
                            <a:ea typeface="+mn-ea"/>
                            <a:cs typeface="Arial" charset="0"/>
                          </a:rPr>
                          <m:t> </m:t>
                        </m:r>
                      </m:num>
                      <m:den>
                        <m:r>
                          <a:rPr kumimoji="0" lang="fr-FR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𝑝𝑟𝑜𝑓h𝑢𝑚</m:t>
                        </m:r>
                        <m:r>
                          <m:rPr>
                            <m:nor/>
                          </m:rPr>
                          <a:rPr kumimoji="0" lang="fr-FR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itchFamily="34" charset="0"/>
                            <a:ea typeface="+mn-ea"/>
                            <a:cs typeface="Arial" charset="0"/>
                          </a:rPr>
                          <m:t> </m:t>
                        </m:r>
                      </m:den>
                    </m:f>
                  </m:oMath>
                </a14:m>
                <a:endParaRPr kumimoji="0" 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Arial" charset="0"/>
                </a:endParaRPr>
              </a:p>
            </p:txBody>
          </p:sp>
        </mc:Choice>
        <mc:Fallback xmlns=""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811" y="1357021"/>
                <a:ext cx="3069110" cy="516423"/>
              </a:xfrm>
              <a:prstGeom prst="rect">
                <a:avLst/>
              </a:prstGeom>
              <a:blipFill>
                <a:blip r:embed="rId8"/>
                <a:stretch>
                  <a:fillRect l="-4771" b="-8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 Box 47"/>
          <p:cNvSpPr txBox="1">
            <a:spLocks noChangeArrowheads="1"/>
          </p:cNvSpPr>
          <p:nvPr/>
        </p:nvSpPr>
        <p:spPr bwMode="auto">
          <a:xfrm>
            <a:off x="3157489" y="868653"/>
            <a:ext cx="5853689" cy="400110"/>
          </a:xfrm>
          <a:prstGeom prst="rect">
            <a:avLst/>
          </a:prstGeom>
          <a:solidFill>
            <a:srgbClr val="FFFF99"/>
          </a:solidFill>
          <a:ln w="25400">
            <a:solidFill>
              <a:srgbClr val="FF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Potential mineralization rate </a:t>
            </a:r>
            <a:r>
              <a:rPr kumimoji="0" lang="en-GB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Vminh</a:t>
            </a: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 = K2*NHUM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46076" y="2059527"/>
            <a:ext cx="8665102" cy="20827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3" name="Image 5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753" y="3279660"/>
            <a:ext cx="6724650" cy="514350"/>
          </a:xfrm>
          <a:prstGeom prst="rect">
            <a:avLst/>
          </a:prstGeom>
        </p:spPr>
      </p:pic>
      <p:pic>
        <p:nvPicPr>
          <p:cNvPr id="50" name="Image 4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2474108"/>
            <a:ext cx="2647659" cy="467234"/>
          </a:xfrm>
          <a:prstGeom prst="rect">
            <a:avLst/>
          </a:prstGeom>
        </p:spPr>
      </p:pic>
      <p:sp>
        <p:nvSpPr>
          <p:cNvPr id="51" name="ZoneTexte 50"/>
          <p:cNvSpPr txBox="1"/>
          <p:nvPr/>
        </p:nvSpPr>
        <p:spPr>
          <a:xfrm>
            <a:off x="3369432" y="2401724"/>
            <a:ext cx="2210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Delphin, 1986 and </a:t>
            </a:r>
            <a:r>
              <a:rPr kumimoji="0" lang="fr-FR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Chaussod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 et al, 1986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539552" y="3388996"/>
            <a:ext cx="16508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Clivot et al, 2017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377582" y="2243388"/>
            <a:ext cx="21499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K2pot : 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2 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choices</a:t>
            </a: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4928018" y="4328321"/>
            <a:ext cx="580086" cy="4712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Ellipse 58"/>
          <p:cNvSpPr/>
          <p:nvPr/>
        </p:nvSpPr>
        <p:spPr>
          <a:xfrm>
            <a:off x="4860032" y="4829972"/>
            <a:ext cx="580086" cy="4712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919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445190" y="1484784"/>
            <a:ext cx="5663314" cy="15841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1772" name="Picture 6" descr="Présent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66" t="22223" r="27408" b="22221"/>
          <a:stretch>
            <a:fillRect/>
          </a:stretch>
        </p:blipFill>
        <p:spPr bwMode="auto">
          <a:xfrm>
            <a:off x="346075" y="1327362"/>
            <a:ext cx="2362200" cy="3846051"/>
          </a:xfrm>
          <a:prstGeom prst="rect">
            <a:avLst/>
          </a:prstGeom>
          <a:solidFill>
            <a:srgbClr val="FFC000"/>
          </a:solidFill>
          <a:ln>
            <a:noFill/>
          </a:ln>
        </p:spPr>
      </p:pic>
      <p:sp>
        <p:nvSpPr>
          <p:cNvPr id="31774" name="Text Box 8"/>
          <p:cNvSpPr txBox="1">
            <a:spLocks noChangeArrowheads="1"/>
          </p:cNvSpPr>
          <p:nvPr/>
        </p:nvSpPr>
        <p:spPr bwMode="auto">
          <a:xfrm>
            <a:off x="1112587" y="1933932"/>
            <a:ext cx="853089" cy="342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Stable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1775" name="Text Box 12"/>
          <p:cNvSpPr txBox="1">
            <a:spLocks noChangeArrowheads="1"/>
          </p:cNvSpPr>
          <p:nvPr/>
        </p:nvSpPr>
        <p:spPr bwMode="auto">
          <a:xfrm>
            <a:off x="679450" y="5226296"/>
            <a:ext cx="1803400" cy="339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stable/total = 0.65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1776" name="Text Box 23"/>
          <p:cNvSpPr txBox="1">
            <a:spLocks noChangeArrowheads="1"/>
          </p:cNvSpPr>
          <p:nvPr/>
        </p:nvSpPr>
        <p:spPr bwMode="auto">
          <a:xfrm>
            <a:off x="661193" y="4311609"/>
            <a:ext cx="1805095" cy="707886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Soil mineral nitrogen pool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1777" name="AutoShape 32"/>
          <p:cNvSpPr>
            <a:spLocks noChangeArrowheads="1"/>
          </p:cNvSpPr>
          <p:nvPr/>
        </p:nvSpPr>
        <p:spPr bwMode="auto">
          <a:xfrm>
            <a:off x="1374775" y="3774412"/>
            <a:ext cx="304800" cy="461526"/>
          </a:xfrm>
          <a:prstGeom prst="downArrow">
            <a:avLst>
              <a:gd name="adj1" fmla="val 50000"/>
              <a:gd name="adj2" fmla="val 37500"/>
            </a:avLst>
          </a:prstGeom>
          <a:solidFill>
            <a:srgbClr val="99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778" name="Rectangle 34"/>
          <p:cNvSpPr>
            <a:spLocks noChangeArrowheads="1"/>
          </p:cNvSpPr>
          <p:nvPr/>
        </p:nvSpPr>
        <p:spPr bwMode="auto">
          <a:xfrm>
            <a:off x="971600" y="980728"/>
            <a:ext cx="1219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Humus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779" name="Rectangle 35"/>
          <p:cNvSpPr>
            <a:spLocks noChangeArrowheads="1"/>
          </p:cNvSpPr>
          <p:nvPr/>
        </p:nvSpPr>
        <p:spPr bwMode="auto">
          <a:xfrm>
            <a:off x="1142256" y="2918666"/>
            <a:ext cx="793750" cy="339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Active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748" name="Rectangle 36"/>
          <p:cNvSpPr>
            <a:spLocks noGrp="1" noChangeArrowheads="1"/>
          </p:cNvSpPr>
          <p:nvPr>
            <p:ph type="title" idx="4294967295"/>
          </p:nvPr>
        </p:nvSpPr>
        <p:spPr>
          <a:xfrm>
            <a:off x="2070941" y="274737"/>
            <a:ext cx="6259914" cy="587375"/>
          </a:xfrm>
          <a:prstGeom prst="rect">
            <a:avLst/>
          </a:prstGeom>
          <a:noFill/>
        </p:spPr>
        <p:txBody>
          <a:bodyPr/>
          <a:lstStyle/>
          <a:p>
            <a:pPr eaLnBrk="1" hangingPunct="1"/>
            <a:r>
              <a:rPr lang="en-GB" sz="2800" b="1" dirty="0" smtClean="0">
                <a:solidFill>
                  <a:srgbClr val="6F9D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Humus mineralization (C and N)  </a:t>
            </a:r>
          </a:p>
        </p:txBody>
      </p:sp>
      <p:sp>
        <p:nvSpPr>
          <p:cNvPr id="31753" name="Rectangle 68"/>
          <p:cNvSpPr>
            <a:spLocks noChangeArrowheads="1"/>
          </p:cNvSpPr>
          <p:nvPr/>
        </p:nvSpPr>
        <p:spPr bwMode="auto">
          <a:xfrm>
            <a:off x="661193" y="5659376"/>
            <a:ext cx="23903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GB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Andriulo</a:t>
            </a: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et al., 1999)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7" name="Text Box 47"/>
          <p:cNvSpPr txBox="1">
            <a:spLocks noChangeArrowheads="1"/>
          </p:cNvSpPr>
          <p:nvPr/>
        </p:nvSpPr>
        <p:spPr bwMode="auto">
          <a:xfrm>
            <a:off x="3157489" y="868653"/>
            <a:ext cx="5853689" cy="400110"/>
          </a:xfrm>
          <a:prstGeom prst="rect">
            <a:avLst/>
          </a:prstGeom>
          <a:solidFill>
            <a:srgbClr val="FFFF99"/>
          </a:solidFill>
          <a:ln w="25400">
            <a:solidFill>
              <a:srgbClr val="FF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Potential mineralization rate </a:t>
            </a:r>
            <a:r>
              <a:rPr kumimoji="0" lang="en-GB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Vminh</a:t>
            </a: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 = K2*NHUM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3491572" y="1711841"/>
                <a:ext cx="56557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𝑁𝐻𝑈𝑀</m:t>
                      </m:r>
                      <m:r>
                        <a:rPr kumimoji="0" lang="fr-FR" sz="1800" b="0" i="1" u="none" strike="noStrike" kern="1200" cap="none" spc="0" normalizeH="0" baseline="-2500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∗</m:t>
                      </m:r>
                      <m:r>
                        <a:rPr kumimoji="0" lang="fr-F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 =</m:t>
                      </m:r>
                      <m:r>
                        <a:rPr kumimoji="0" lang="fr-F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𝑁𝑜𝑟𝑔</m:t>
                      </m:r>
                      <m:r>
                        <a:rPr kumimoji="0" lang="fr-F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 ∗</m:t>
                      </m:r>
                      <m:r>
                        <a:rPr kumimoji="0" lang="fr-F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𝐷𝑎</m:t>
                      </m:r>
                      <m:r>
                        <a:rPr kumimoji="0" lang="fr-F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(1) ∗</m:t>
                      </m:r>
                      <m:r>
                        <a:rPr kumimoji="0" lang="fr-F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𝑃𝑅𝑂𝐹𝐻𝑈𝑀</m:t>
                      </m:r>
                      <m:r>
                        <a:rPr kumimoji="0" lang="fr-F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∗(1−</m:t>
                      </m:r>
                      <m:r>
                        <a:rPr kumimoji="0" lang="fr-F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𝐹𝐼𝑁𝐸𝑅𝑇</m:t>
                      </m:r>
                      <m:r>
                        <a:rPr kumimoji="0" lang="fr-F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)</m:t>
                      </m:r>
                    </m:oMath>
                  </m:oMathPara>
                </a14:m>
                <a:endParaRPr kumimoji="0" 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Arial" charset="0"/>
                </a:endParaRPr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572" y="1711841"/>
                <a:ext cx="5655715" cy="276999"/>
              </a:xfrm>
              <a:prstGeom prst="rect">
                <a:avLst/>
              </a:prstGeom>
              <a:blipFill>
                <a:blip r:embed="rId6"/>
                <a:stretch>
                  <a:fillRect l="-216" t="-2222" r="-647" b="-3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ZoneTexte 47"/>
              <p:cNvSpPr txBox="1"/>
              <p:nvPr/>
            </p:nvSpPr>
            <p:spPr>
              <a:xfrm>
                <a:off x="3492024" y="2575937"/>
                <a:ext cx="55435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𝐶𝐻𝑈𝑀</m:t>
                      </m:r>
                      <m:r>
                        <a:rPr kumimoji="0" lang="fr-FR" sz="1800" b="0" i="1" u="none" strike="noStrike" kern="1200" cap="none" spc="0" normalizeH="0" baseline="-2500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∗</m:t>
                      </m:r>
                      <m:r>
                        <a:rPr kumimoji="0" lang="fr-F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 =</m:t>
                      </m:r>
                      <m:r>
                        <a:rPr kumimoji="0" lang="fr-F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𝐶𝑜𝑟𝑔</m:t>
                      </m:r>
                      <m:r>
                        <a:rPr kumimoji="0" lang="fr-F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 ∗</m:t>
                      </m:r>
                      <m:r>
                        <a:rPr kumimoji="0" lang="fr-F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𝐷𝑎</m:t>
                      </m:r>
                      <m:r>
                        <a:rPr kumimoji="0" lang="fr-F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(1) ∗</m:t>
                      </m:r>
                      <m:r>
                        <a:rPr kumimoji="0" lang="fr-F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𝑃𝑅𝑂𝐹𝐻𝑈𝑀</m:t>
                      </m:r>
                      <m:r>
                        <a:rPr kumimoji="0" lang="fr-F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∗(1−</m:t>
                      </m:r>
                      <m:r>
                        <a:rPr kumimoji="0" lang="fr-F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𝐹𝐼𝑁𝐸𝑅𝑇</m:t>
                      </m:r>
                      <m:r>
                        <a:rPr kumimoji="0" lang="fr-F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)</m:t>
                      </m:r>
                    </m:oMath>
                  </m:oMathPara>
                </a14:m>
                <a:endParaRPr kumimoji="0" 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Arial" charset="0"/>
                </a:endParaRPr>
              </a:p>
            </p:txBody>
          </p:sp>
        </mc:Choice>
        <mc:Fallback xmlns="">
          <p:sp>
            <p:nvSpPr>
              <p:cNvPr id="48" name="ZoneTexte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024" y="2575937"/>
                <a:ext cx="5543505" cy="276999"/>
              </a:xfrm>
              <a:prstGeom prst="rect">
                <a:avLst/>
              </a:prstGeom>
              <a:blipFill>
                <a:blip r:embed="rId7"/>
                <a:stretch>
                  <a:fillRect l="-660" t="-4444" r="-1210" b="-3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718555" y="2031231"/>
                <a:ext cx="1322221" cy="3629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0" i="0" u="none" strike="noStrike" kern="1200" cap="none" spc="0" normalizeH="0" baseline="-2500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Arial" charset="0"/>
                  </a:rPr>
                  <a:t>*</a:t>
                </a:r>
                <a14:m>
                  <m:oMath xmlns:m="http://schemas.openxmlformats.org/officeDocument/2006/math">
                    <m:r>
                      <a:rPr kumimoji="0" lang="fr-FR" sz="1800" b="0" i="1" u="none" strike="noStrike" kern="1200" cap="none" spc="0" normalizeH="0" baseline="-2500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𝑎𝑐𝑡𝑖𝑣𝑒</m:t>
                    </m:r>
                    <m:r>
                      <a:rPr kumimoji="0" lang="fr-FR" sz="1800" b="0" i="1" u="none" strike="noStrike" kern="1200" cap="none" spc="0" normalizeH="0" baseline="-2500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r>
                      <a:rPr kumimoji="0" lang="fr-FR" sz="1800" b="0" i="1" u="none" strike="noStrike" kern="1200" cap="none" spc="0" normalizeH="0" baseline="-2500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𝑓𝑟𝑎𝑐𝑡𝑖𝑜𝑛</m:t>
                    </m:r>
                  </m:oMath>
                </a14:m>
                <a:endParaRPr kumimoji="0" lang="fr-FR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Arial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555" y="2031231"/>
                <a:ext cx="1322221" cy="362984"/>
              </a:xfrm>
              <a:prstGeom prst="rect">
                <a:avLst/>
              </a:prstGeom>
              <a:blipFill>
                <a:blip r:embed="rId8"/>
                <a:stretch>
                  <a:fillRect b="-23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ZoneTexte 1"/>
          <p:cNvSpPr txBox="1"/>
          <p:nvPr/>
        </p:nvSpPr>
        <p:spPr>
          <a:xfrm>
            <a:off x="3718555" y="3207369"/>
            <a:ext cx="5316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Da : </a:t>
            </a:r>
            <a:r>
              <a:rPr kumimoji="0" lang="fr-FR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only</a:t>
            </a: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 on the first layer in the 9.0 version , </a:t>
            </a:r>
            <a:r>
              <a:rPr kumimoji="0" lang="fr-FR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will</a:t>
            </a: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 </a:t>
            </a:r>
            <a:r>
              <a:rPr kumimoji="0" lang="fr-FR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be</a:t>
            </a: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 </a:t>
            </a:r>
            <a:r>
              <a:rPr kumimoji="0" lang="fr-FR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corrected</a:t>
            </a:r>
            <a:r>
              <a:rPr kumimoji="0" lang="fr-F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 on the v10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63"/>
              <p:cNvSpPr>
                <a:spLocks noChangeArrowheads="1"/>
              </p:cNvSpPr>
              <p:nvPr/>
            </p:nvSpPr>
            <p:spPr bwMode="auto">
              <a:xfrm>
                <a:off x="3718555" y="4527082"/>
                <a:ext cx="4993675" cy="646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fr-FR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𝑝𝑟𝑜𝑓h𝑢𝑚</m:t>
                    </m:r>
                  </m:oMath>
                </a14:m>
                <a:r>
                  <a:rPr kumimoji="0" lang="en-GB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:  thickness of mineralization </a:t>
                </a:r>
                <a:r>
                  <a:rPr kumimoji="0" lang="en-GB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layer ~ </a:t>
                </a:r>
                <a:endParaRPr kumimoji="0" lang="en-GB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ploughed </a:t>
                </a:r>
                <a:r>
                  <a:rPr kumimoji="0" lang="en-GB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layer </a:t>
                </a:r>
                <a:r>
                  <a:rPr kumimoji="0" lang="en-GB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or high root density horizon</a:t>
                </a: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Rectangle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18555" y="4527082"/>
                <a:ext cx="4993675" cy="646331"/>
              </a:xfrm>
              <a:prstGeom prst="rect">
                <a:avLst/>
              </a:prstGeom>
              <a:blipFill>
                <a:blip r:embed="rId9"/>
                <a:stretch>
                  <a:fillRect l="-977" t="-5660" b="-1415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05913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40"/>
          <p:cNvSpPr>
            <a:spLocks noChangeArrowheads="1"/>
          </p:cNvSpPr>
          <p:nvPr/>
        </p:nvSpPr>
        <p:spPr bwMode="auto">
          <a:xfrm>
            <a:off x="755393" y="172827"/>
            <a:ext cx="7269669" cy="906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algn="ctr" eaLnBrk="0" hangingPunct="0"/>
            <a:r>
              <a:rPr lang="en-GB" sz="2800" smtClean="0">
                <a:solidFill>
                  <a:srgbClr val="6F9D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Gaseous </a:t>
            </a:r>
            <a:r>
              <a:rPr lang="en-GB" sz="2800">
                <a:solidFill>
                  <a:srgbClr val="6F9D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GB" sz="2800" smtClean="0">
                <a:solidFill>
                  <a:srgbClr val="6F9D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losses through v</a:t>
            </a:r>
            <a:r>
              <a:rPr kumimoji="0" lang="en-GB" sz="2800" b="1" i="0" u="none" strike="noStrike" kern="1200" cap="none" spc="0" normalizeH="0" baseline="0" noProof="0" smtClean="0">
                <a:ln>
                  <a:noFill/>
                </a:ln>
                <a:solidFill>
                  <a:srgbClr val="6F9D2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olatilization, nitrification, denitrification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srgbClr val="6F9D2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Rectangle 2"/>
          <p:cNvSpPr txBox="1">
            <a:spLocks noChangeArrowheads="1"/>
          </p:cNvSpPr>
          <p:nvPr/>
        </p:nvSpPr>
        <p:spPr>
          <a:xfrm>
            <a:off x="99650" y="1460125"/>
            <a:ext cx="8204897" cy="576065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1) Empirical fertilizer efficiency approach of</a:t>
            </a:r>
            <a:r>
              <a:rPr kumimoji="0" lang="en-GB" sz="2400" b="1" i="0" u="none" strike="noStrike" kern="1200" cap="none" spc="0" normalizeH="0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N losses</a:t>
            </a:r>
            <a:r>
              <a:rPr kumimoji="0" lang="en-GB" sz="24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:</a:t>
            </a:r>
            <a:endParaRPr kumimoji="0" lang="en-GB" sz="2400" b="1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1" name="Text Box 15"/>
          <p:cNvSpPr txBox="1">
            <a:spLocks noChangeArrowheads="1"/>
          </p:cNvSpPr>
          <p:nvPr/>
        </p:nvSpPr>
        <p:spPr bwMode="auto">
          <a:xfrm>
            <a:off x="755394" y="2152278"/>
            <a:ext cx="7995894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FFFFCC"/>
              </a:buClr>
              <a:buSzPct val="100000"/>
              <a:buFont typeface="Times New Roman" pitchFamily="18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immobilization </a:t>
            </a: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– volatilization – denitrification</a:t>
            </a:r>
          </a:p>
        </p:txBody>
      </p:sp>
      <p:grpSp>
        <p:nvGrpSpPr>
          <p:cNvPr id="12" name="Group 27"/>
          <p:cNvGrpSpPr>
            <a:grpSpLocks/>
          </p:cNvGrpSpPr>
          <p:nvPr/>
        </p:nvGrpSpPr>
        <p:grpSpPr bwMode="auto">
          <a:xfrm>
            <a:off x="1298476" y="3016001"/>
            <a:ext cx="5884377" cy="700088"/>
            <a:chOff x="2952" y="394"/>
            <a:chExt cx="3071" cy="441"/>
          </a:xfrm>
        </p:grpSpPr>
        <p:sp>
          <p:nvSpPr>
            <p:cNvPr id="13" name="Text Box 28"/>
            <p:cNvSpPr txBox="1">
              <a:spLocks noChangeArrowheads="1"/>
            </p:cNvSpPr>
            <p:nvPr/>
          </p:nvSpPr>
          <p:spPr bwMode="auto">
            <a:xfrm>
              <a:off x="2952" y="394"/>
              <a:ext cx="307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itchFamily="34" charset="0"/>
                </a:rPr>
                <a:t>EFFN = 1 – </a:t>
              </a:r>
              <a:r>
                <a:rPr kumimoji="0" lang="en-GB" sz="180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itchFamily="34" charset="0"/>
                </a:rPr>
                <a:t>NORGENG</a:t>
              </a:r>
              <a:r>
                <a:rPr kumimoji="0" lang="en-GB" sz="180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itchFamily="34" charset="0"/>
                </a:rPr>
                <a:t> + </a:t>
              </a:r>
              <a:r>
                <a:rPr kumimoji="0" lang="en-GB" sz="180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3BCF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itchFamily="34" charset="0"/>
                </a:rPr>
                <a:t>NVOLENG</a:t>
              </a:r>
              <a:r>
                <a:rPr kumimoji="0" lang="en-GB" sz="180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itchFamily="34" charset="0"/>
                </a:rPr>
                <a:t> + </a:t>
              </a:r>
              <a:r>
                <a:rPr kumimoji="0" lang="en-GB" sz="180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itchFamily="34" charset="0"/>
                </a:rPr>
                <a:t>NDENENG</a:t>
              </a:r>
              <a:endParaRPr kumimoji="0" lang="en-GB" sz="18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4" name="Line 29"/>
            <p:cNvSpPr>
              <a:spLocks noChangeShapeType="1"/>
            </p:cNvSpPr>
            <p:nvPr/>
          </p:nvSpPr>
          <p:spPr bwMode="auto">
            <a:xfrm>
              <a:off x="3554" y="602"/>
              <a:ext cx="2401" cy="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3" name="Text Box 30"/>
            <p:cNvSpPr txBox="1">
              <a:spLocks noChangeArrowheads="1"/>
            </p:cNvSpPr>
            <p:nvPr/>
          </p:nvSpPr>
          <p:spPr bwMode="auto">
            <a:xfrm>
              <a:off x="4185" y="602"/>
              <a:ext cx="62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itchFamily="34" charset="0"/>
                </a:rPr>
                <a:t>ANIT</a:t>
              </a:r>
              <a:endParaRPr kumimoji="0" lang="en-GB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endParaRPr>
            </a:p>
          </p:txBody>
        </p:sp>
      </p:grpSp>
      <p:sp>
        <p:nvSpPr>
          <p:cNvPr id="24" name="Text Box 15"/>
          <p:cNvSpPr txBox="1">
            <a:spLocks noChangeArrowheads="1"/>
          </p:cNvSpPr>
          <p:nvPr/>
        </p:nvSpPr>
        <p:spPr bwMode="auto">
          <a:xfrm>
            <a:off x="756743" y="3882775"/>
            <a:ext cx="7779870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FFFFCC"/>
              </a:buClr>
              <a:buSzPct val="100000"/>
              <a:buFont typeface="Times New Roman" pitchFamily="18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=&gt; Efficiency  </a:t>
            </a:r>
            <a:r>
              <a:rPr kumimoji="0" lang="en-GB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= f(fertilizer </a:t>
            </a: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typology, crop N uptake rate)</a:t>
            </a:r>
          </a:p>
        </p:txBody>
      </p:sp>
      <p:cxnSp>
        <p:nvCxnSpPr>
          <p:cNvPr id="3" name="Connecteur droit avec flèche 2"/>
          <p:cNvCxnSpPr/>
          <p:nvPr/>
        </p:nvCxnSpPr>
        <p:spPr>
          <a:xfrm>
            <a:off x="2123546" y="2681263"/>
            <a:ext cx="623120" cy="3299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/>
          <p:nvPr/>
        </p:nvCxnSpPr>
        <p:spPr>
          <a:xfrm>
            <a:off x="4283156" y="2681263"/>
            <a:ext cx="0" cy="3654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/>
          <p:cNvCxnSpPr/>
          <p:nvPr/>
        </p:nvCxnSpPr>
        <p:spPr>
          <a:xfrm flipH="1">
            <a:off x="5723946" y="2681263"/>
            <a:ext cx="572193" cy="3654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"/>
          <p:cNvSpPr txBox="1">
            <a:spLocks noChangeArrowheads="1"/>
          </p:cNvSpPr>
          <p:nvPr/>
        </p:nvSpPr>
        <p:spPr>
          <a:xfrm>
            <a:off x="370360" y="4662750"/>
            <a:ext cx="8204897" cy="576065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2) Mecanistic approach</a:t>
            </a:r>
            <a:endParaRPr kumimoji="0" lang="en-GB" sz="2400" b="1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755392" y="5421413"/>
            <a:ext cx="72696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Description and simulation of volatilization, </a:t>
            </a:r>
            <a:r>
              <a:rPr lang="fr-FR" sz="2400" b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nitrification and denitrification processes</a:t>
            </a:r>
            <a:endParaRPr lang="fr-FR" sz="2400" b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978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40"/>
          <p:cNvSpPr>
            <a:spLocks noChangeArrowheads="1"/>
          </p:cNvSpPr>
          <p:nvPr/>
        </p:nvSpPr>
        <p:spPr bwMode="auto">
          <a:xfrm>
            <a:off x="827584" y="248800"/>
            <a:ext cx="6480720" cy="63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smtClean="0">
                <a:ln>
                  <a:noFill/>
                </a:ln>
                <a:solidFill>
                  <a:srgbClr val="6F9D2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Volatilization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srgbClr val="6F9D2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Rectangle 2"/>
          <p:cNvSpPr txBox="1">
            <a:spLocks noChangeArrowheads="1"/>
          </p:cNvSpPr>
          <p:nvPr/>
        </p:nvSpPr>
        <p:spPr>
          <a:xfrm>
            <a:off x="171840" y="978861"/>
            <a:ext cx="6515121" cy="576065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1" i="0" u="none" strike="noStrike" kern="1200" cap="none" spc="0" normalizeH="0" baseline="0" noProof="0" dirty="0" smtClean="0">
              <a:ln>
                <a:noFill/>
              </a:ln>
              <a:solidFill>
                <a:srgbClr val="6F9D2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7" name="Text Box 2"/>
          <p:cNvSpPr txBox="1">
            <a:spLocks noChangeArrowheads="1"/>
          </p:cNvSpPr>
          <p:nvPr/>
        </p:nvSpPr>
        <p:spPr bwMode="auto">
          <a:xfrm>
            <a:off x="4611056" y="5975257"/>
            <a:ext cx="369474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smtClean="0">
                <a:ln>
                  <a:noFill/>
                </a:ln>
                <a:solidFill>
                  <a:srgbClr val="00CC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(Génermont </a:t>
            </a:r>
            <a:r>
              <a:rPr kumimoji="0" 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CC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and Cellier, 1997)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rgbClr val="00CC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827584" y="971373"/>
            <a:ext cx="736962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buFontTx/>
              <a:buChar char="-"/>
            </a:pPr>
            <a:r>
              <a:rPr lang="en-US" smtClean="0"/>
              <a:t>Purely </a:t>
            </a:r>
            <a:r>
              <a:rPr lang="en-US" b="1" smtClean="0"/>
              <a:t>chemical process</a:t>
            </a:r>
          </a:p>
          <a:p>
            <a:pPr marL="342900" indent="-342900">
              <a:buFontTx/>
              <a:buChar char="-"/>
            </a:pPr>
            <a:r>
              <a:rPr lang="en-US" smtClean="0"/>
              <a:t>Transform ammonium (NH4+) into </a:t>
            </a:r>
            <a:r>
              <a:rPr lang="en-US" b="1" smtClean="0"/>
              <a:t>gaseous ammonia </a:t>
            </a:r>
            <a:r>
              <a:rPr lang="en-US" smtClean="0"/>
              <a:t>(NH3)</a:t>
            </a:r>
          </a:p>
          <a:p>
            <a:pPr marL="342900" indent="-342900">
              <a:buFontTx/>
              <a:buChar char="-"/>
            </a:pPr>
            <a:r>
              <a:rPr lang="en-US" smtClean="0"/>
              <a:t>Only available for </a:t>
            </a:r>
            <a:r>
              <a:rPr lang="en-US" b="1" smtClean="0"/>
              <a:t>organic manure</a:t>
            </a:r>
          </a:p>
          <a:p>
            <a:pPr marL="342900" indent="-342900">
              <a:buFontTx/>
              <a:buChar char="-"/>
            </a:pPr>
            <a:r>
              <a:rPr lang="en-US" smtClean="0"/>
              <a:t>Tracks changes between 4 forms of ammonia compounds, one of them, NH3 in gaseous phase leads to volatilization.</a:t>
            </a:r>
          </a:p>
          <a:p>
            <a:pPr marL="342900" indent="-342900">
              <a:buFontTx/>
              <a:buChar char="-"/>
            </a:pPr>
            <a:endParaRPr lang="en-US"/>
          </a:p>
          <a:p>
            <a:r>
              <a:rPr lang="en-US" smtClean="0"/>
              <a:t>Function of NH4+ concentration, temperature, evolving pH (high value = increase in volatilization), manure properties (Nmin, water content), soil tillage, soil porosity, wind speed...</a:t>
            </a:r>
          </a:p>
        </p:txBody>
      </p:sp>
    </p:spTree>
    <p:extLst>
      <p:ext uri="{BB962C8B-B14F-4D97-AF65-F5344CB8AC3E}">
        <p14:creationId xmlns:p14="http://schemas.microsoft.com/office/powerpoint/2010/main" val="2475375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40"/>
          <p:cNvSpPr>
            <a:spLocks noChangeArrowheads="1"/>
          </p:cNvSpPr>
          <p:nvPr/>
        </p:nvSpPr>
        <p:spPr bwMode="auto">
          <a:xfrm>
            <a:off x="827584" y="334304"/>
            <a:ext cx="6480720" cy="63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smtClean="0">
                <a:ln>
                  <a:noFill/>
                </a:ln>
                <a:solidFill>
                  <a:srgbClr val="6F9D2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Nitrification, denitrification and associated N2O emissions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srgbClr val="6F9D2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Rectangle 2"/>
          <p:cNvSpPr txBox="1">
            <a:spLocks noChangeArrowheads="1"/>
          </p:cNvSpPr>
          <p:nvPr/>
        </p:nvSpPr>
        <p:spPr>
          <a:xfrm>
            <a:off x="171840" y="978861"/>
            <a:ext cx="6515121" cy="576065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1" i="0" u="none" strike="noStrike" kern="1200" cap="none" spc="0" normalizeH="0" baseline="0" noProof="0" dirty="0" smtClean="0">
              <a:ln>
                <a:noFill/>
              </a:ln>
              <a:solidFill>
                <a:srgbClr val="6F9D2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598984" y="1266893"/>
            <a:ext cx="736962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buFontTx/>
              <a:buChar char="-"/>
            </a:pPr>
            <a:r>
              <a:rPr lang="en-US" smtClean="0"/>
              <a:t>Options to activate (codenitrif, codedenit), but should be the default</a:t>
            </a:r>
          </a:p>
          <a:p>
            <a:pPr marL="342900" indent="-342900">
              <a:buFontTx/>
              <a:buChar char="-"/>
            </a:pPr>
            <a:r>
              <a:rPr lang="en-US" smtClean="0"/>
              <a:t>Use default values first</a:t>
            </a:r>
          </a:p>
          <a:p>
            <a:pPr marL="342900" indent="-342900">
              <a:buFontTx/>
              <a:buChar char="-"/>
            </a:pPr>
            <a:r>
              <a:rPr lang="en-US" smtClean="0"/>
              <a:t>Main uncertainty = denitrification potential</a:t>
            </a:r>
          </a:p>
          <a:p>
            <a:pPr marL="342900" indent="-342900">
              <a:buFontTx/>
              <a:buChar char="-"/>
            </a:pPr>
            <a:r>
              <a:rPr lang="en-US" smtClean="0"/>
              <a:t>Active over profhum or prodenit</a:t>
            </a:r>
          </a:p>
          <a:p>
            <a:pPr marL="342900" indent="-342900">
              <a:buFontTx/>
              <a:buChar char="-"/>
            </a:pPr>
            <a:endParaRPr lang="en-US" smtClean="0"/>
          </a:p>
          <a:p>
            <a:pPr marL="342900" indent="-342900">
              <a:buFontTx/>
              <a:buChar char="-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030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91147" y="2863737"/>
            <a:ext cx="760339" cy="435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083534" y="2835137"/>
            <a:ext cx="1152128" cy="4641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1891147" y="2835136"/>
                <a:ext cx="5409109" cy="4641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𝑣𝑛𝑖𝑡</m:t>
                      </m:r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𝑣𝑛𝑖𝑡𝑝𝑜𝑡</m:t>
                      </m:r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.</m:t>
                      </m:r>
                      <m:sSub>
                        <m:sSubPr>
                          <m:ctrlP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𝑓</m:t>
                          </m:r>
                        </m:e>
                        <m:sub>
                          <m: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𝑁𝐻</m:t>
                          </m:r>
                          <m: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4</m:t>
                          </m:r>
                        </m:sub>
                      </m:sSub>
                      <m:r>
                        <a:rPr kumimoji="0" lang="fr-FR" sz="2800" b="0" i="1" u="none" strike="noStrike" kern="1200" cap="none" spc="0" normalizeH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.</m:t>
                      </m:r>
                      <m:sSub>
                        <m:sSubPr>
                          <m:ctrlP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𝑓</m:t>
                          </m:r>
                        </m:e>
                        <m:sub>
                          <m: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𝑝𝐻</m:t>
                          </m:r>
                        </m:sub>
                      </m:sSub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.</m:t>
                      </m:r>
                      <m:sSub>
                        <m:sSubPr>
                          <m:ctrlP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𝑓</m:t>
                          </m:r>
                        </m:e>
                        <m:sub>
                          <m: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𝑇</m:t>
                          </m:r>
                        </m:sub>
                      </m:sSub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.</m:t>
                      </m:r>
                      <m:sSub>
                        <m:sSubPr>
                          <m:ctrlP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𝑓</m:t>
                          </m:r>
                        </m:e>
                        <m:sub>
                          <m: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𝑊𝐹𝑃𝑆</m:t>
                          </m:r>
                        </m:sub>
                      </m:sSub>
                    </m:oMath>
                  </m:oMathPara>
                </a14:m>
                <a:endParaRPr kumimoji="0" lang="en-GB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Arial" charset="0"/>
                </a:endParaRPr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1147" y="2835136"/>
                <a:ext cx="5409109" cy="4641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re 1"/>
          <p:cNvSpPr>
            <a:spLocks noGrp="1"/>
          </p:cNvSpPr>
          <p:nvPr>
            <p:ph type="title" idx="4294967295"/>
          </p:nvPr>
        </p:nvSpPr>
        <p:spPr>
          <a:xfrm>
            <a:off x="514029" y="146795"/>
            <a:ext cx="6635750" cy="1143000"/>
          </a:xfrm>
          <a:prstGeom prst="rect">
            <a:avLst/>
          </a:prstGeom>
        </p:spPr>
        <p:txBody>
          <a:bodyPr/>
          <a:lstStyle/>
          <a:p>
            <a:r>
              <a:rPr lang="en-GB" dirty="0" smtClean="0"/>
              <a:t>N</a:t>
            </a:r>
            <a:r>
              <a:rPr lang="en-GB" baseline="-25000" dirty="0" smtClean="0"/>
              <a:t>2</a:t>
            </a:r>
            <a:r>
              <a:rPr lang="en-GB" dirty="0" smtClean="0"/>
              <a:t>O module: nitrification</a:t>
            </a:r>
            <a:endParaRPr lang="en-GB" dirty="0"/>
          </a:p>
        </p:txBody>
      </p:sp>
      <p:sp>
        <p:nvSpPr>
          <p:cNvPr id="7" name="Bulle ronde 6"/>
          <p:cNvSpPr/>
          <p:nvPr/>
        </p:nvSpPr>
        <p:spPr>
          <a:xfrm>
            <a:off x="47402" y="2071648"/>
            <a:ext cx="1867445" cy="792088"/>
          </a:xfrm>
          <a:prstGeom prst="wedgeEllipseCallout">
            <a:avLst>
              <a:gd name="adj1" fmla="val 54518"/>
              <a:gd name="adj2" fmla="val 51359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nitrification rate 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Bulle ronde 8"/>
          <p:cNvSpPr/>
          <p:nvPr/>
        </p:nvSpPr>
        <p:spPr>
          <a:xfrm>
            <a:off x="2335271" y="1417638"/>
            <a:ext cx="1867445" cy="1018205"/>
          </a:xfrm>
          <a:prstGeom prst="wedgeEllipseCallout">
            <a:avLst>
              <a:gd name="adj1" fmla="val 22973"/>
              <a:gd name="adj2" fmla="val 8849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potential </a:t>
            </a: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nitrification  rate 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Bulle ronde 10"/>
          <p:cNvSpPr/>
          <p:nvPr/>
        </p:nvSpPr>
        <p:spPr>
          <a:xfrm>
            <a:off x="2335270" y="3803293"/>
            <a:ext cx="1867445" cy="792088"/>
          </a:xfrm>
          <a:prstGeom prst="wedgeEllipseCallout">
            <a:avLst>
              <a:gd name="adj1" fmla="val 80413"/>
              <a:gd name="adj2" fmla="val -111813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NH</a:t>
            </a:r>
            <a:r>
              <a:rPr kumimoji="0" lang="en-GB" sz="1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availability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4887590" y="1749411"/>
            <a:ext cx="1832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regulation </a:t>
            </a: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factors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sp>
        <p:nvSpPr>
          <p:cNvPr id="13" name="Accolade ouvrante 12"/>
          <p:cNvSpPr/>
          <p:nvPr/>
        </p:nvSpPr>
        <p:spPr>
          <a:xfrm rot="5400000">
            <a:off x="5551935" y="927995"/>
            <a:ext cx="504056" cy="2992586"/>
          </a:xfrm>
          <a:prstGeom prst="leftBrac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Bulle ronde 13"/>
          <p:cNvSpPr/>
          <p:nvPr/>
        </p:nvSpPr>
        <p:spPr>
          <a:xfrm>
            <a:off x="4347512" y="3844846"/>
            <a:ext cx="1472326" cy="792088"/>
          </a:xfrm>
          <a:prstGeom prst="wedgeEllipseCallout">
            <a:avLst>
              <a:gd name="adj1" fmla="val 24341"/>
              <a:gd name="adj2" fmla="val -120693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 effect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Bulle ronde 14"/>
          <p:cNvSpPr/>
          <p:nvPr/>
        </p:nvSpPr>
        <p:spPr>
          <a:xfrm>
            <a:off x="5891178" y="3842659"/>
            <a:ext cx="1944884" cy="792088"/>
          </a:xfrm>
          <a:prstGeom prst="wedgeEllipseCallout">
            <a:avLst>
              <a:gd name="adj1" fmla="val -43470"/>
              <a:gd name="adj2" fmla="val -122913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temperature effect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Bulle ronde 15"/>
          <p:cNvSpPr/>
          <p:nvPr/>
        </p:nvSpPr>
        <p:spPr>
          <a:xfrm>
            <a:off x="7548029" y="2933411"/>
            <a:ext cx="1595971" cy="1085905"/>
          </a:xfrm>
          <a:prstGeom prst="wedgeEllipseCallout">
            <a:avLst>
              <a:gd name="adj1" fmla="val -72998"/>
              <a:gd name="adj2" fmla="val -18572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soil water </a:t>
            </a:r>
            <a:r>
              <a:rPr kumimoji="0" lang="en-GB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content – aeration effect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/>
              <p:cNvSpPr txBox="1"/>
              <p:nvPr/>
            </p:nvSpPr>
            <p:spPr>
              <a:xfrm>
                <a:off x="1914847" y="5013550"/>
                <a:ext cx="5191485" cy="4641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𝑣𝑛𝑖𝑡</m:t>
                      </m:r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𝑓𝑛𝑥</m:t>
                      </m:r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 ∗</m:t>
                      </m:r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𝑁𝐻</m:t>
                      </m:r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4 .</m:t>
                      </m:r>
                      <m:sSub>
                        <m:sSubPr>
                          <m:ctrlP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𝑓</m:t>
                          </m:r>
                        </m:e>
                        <m:sub>
                          <m: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𝑝𝐻</m:t>
                          </m:r>
                        </m:sub>
                      </m:sSub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.</m:t>
                      </m:r>
                      <m:sSub>
                        <m:sSubPr>
                          <m:ctrlP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𝑓</m:t>
                          </m:r>
                        </m:e>
                        <m:sub>
                          <m: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𝑇</m:t>
                          </m:r>
                        </m:sub>
                      </m:sSub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.</m:t>
                      </m:r>
                      <m:sSub>
                        <m:sSubPr>
                          <m:ctrlP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𝑓</m:t>
                          </m:r>
                        </m:e>
                        <m:sub>
                          <m: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𝑊𝐹𝑃𝑆</m:t>
                          </m:r>
                        </m:sub>
                      </m:sSub>
                    </m:oMath>
                  </m:oMathPara>
                </a14:m>
                <a:endParaRPr kumimoji="0" lang="en-GB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Arial" charset="0"/>
                </a:endParaRPr>
              </a:p>
            </p:txBody>
          </p:sp>
        </mc:Choice>
        <mc:Fallback xmlns="">
          <p:sp>
            <p:nvSpPr>
              <p:cNvPr id="17" name="ZoneTexte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4847" y="5013550"/>
                <a:ext cx="5191485" cy="4641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63" y="2863736"/>
            <a:ext cx="457200" cy="457200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88" y="5013550"/>
            <a:ext cx="457200" cy="457200"/>
          </a:xfrm>
          <a:prstGeom prst="rect">
            <a:avLst/>
          </a:prstGeom>
        </p:spPr>
      </p:pic>
      <p:sp>
        <p:nvSpPr>
          <p:cNvPr id="19" name="ZoneTexte 18"/>
          <p:cNvSpPr txBox="1"/>
          <p:nvPr/>
        </p:nvSpPr>
        <p:spPr>
          <a:xfrm>
            <a:off x="463049" y="5768898"/>
            <a:ext cx="80950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FontTx/>
              <a:buChar char="-"/>
              <a:defRPr sz="24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indent="0">
              <a:buNone/>
            </a:pPr>
            <a:r>
              <a:rPr lang="fr-FR" sz="2000" i="1"/>
              <a:t>Option 2 is more satisfying but option 1 works better in practice because the absence of saturation compensates for unrealistic high NH4 concentration at the soil surface!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83534" y="4928564"/>
            <a:ext cx="1804056" cy="6154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721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424544" y="3355394"/>
            <a:ext cx="1651511" cy="4308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67445" y="3382274"/>
            <a:ext cx="1192387" cy="4040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idx="4294967295"/>
          </p:nvPr>
        </p:nvSpPr>
        <p:spPr>
          <a:xfrm>
            <a:off x="1867445" y="106115"/>
            <a:ext cx="6635750" cy="1143000"/>
          </a:xfrm>
          <a:prstGeom prst="rect">
            <a:avLst/>
          </a:prstGeom>
        </p:spPr>
        <p:txBody>
          <a:bodyPr/>
          <a:lstStyle/>
          <a:p>
            <a:r>
              <a:rPr lang="en-GB" dirty="0" smtClean="0"/>
              <a:t>N</a:t>
            </a:r>
            <a:r>
              <a:rPr lang="en-GB" baseline="-25000" dirty="0" smtClean="0"/>
              <a:t>2</a:t>
            </a:r>
            <a:r>
              <a:rPr lang="en-GB" dirty="0" smtClean="0"/>
              <a:t>O module: denitrification</a:t>
            </a:r>
            <a:endParaRPr lang="en-GB" dirty="0"/>
          </a:p>
        </p:txBody>
      </p:sp>
      <p:sp>
        <p:nvSpPr>
          <p:cNvPr id="7" name="Bulle ronde 6"/>
          <p:cNvSpPr/>
          <p:nvPr/>
        </p:nvSpPr>
        <p:spPr>
          <a:xfrm>
            <a:off x="16504" y="2384886"/>
            <a:ext cx="2242588" cy="891098"/>
          </a:xfrm>
          <a:prstGeom prst="wedgeEllipseCallout">
            <a:avLst>
              <a:gd name="adj1" fmla="val 37267"/>
              <a:gd name="adj2" fmla="val 63569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denitrification rate 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Bulle ronde 8"/>
          <p:cNvSpPr/>
          <p:nvPr/>
        </p:nvSpPr>
        <p:spPr>
          <a:xfrm>
            <a:off x="2340806" y="1582356"/>
            <a:ext cx="2332439" cy="1255293"/>
          </a:xfrm>
          <a:prstGeom prst="wedgeEllipseCallout">
            <a:avLst>
              <a:gd name="adj1" fmla="val 20711"/>
              <a:gd name="adj2" fmla="val 8919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potential </a:t>
            </a: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denitrification  rate</a:t>
            </a:r>
          </a:p>
        </p:txBody>
      </p:sp>
      <p:sp>
        <p:nvSpPr>
          <p:cNvPr id="11" name="Bulle ronde 10"/>
          <p:cNvSpPr/>
          <p:nvPr/>
        </p:nvSpPr>
        <p:spPr>
          <a:xfrm>
            <a:off x="3207830" y="4362917"/>
            <a:ext cx="1867445" cy="792088"/>
          </a:xfrm>
          <a:prstGeom prst="wedgeEllipseCallout">
            <a:avLst>
              <a:gd name="adj1" fmla="val 74763"/>
              <a:gd name="adj2" fmla="val -120693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</a:t>
            </a:r>
            <a:r>
              <a:rPr kumimoji="0" lang="en-GB" sz="1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availability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5331940" y="2268765"/>
            <a:ext cx="1832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regulation </a:t>
            </a: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factors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sp>
        <p:nvSpPr>
          <p:cNvPr id="13" name="Accolade ouvrante 12"/>
          <p:cNvSpPr/>
          <p:nvPr/>
        </p:nvSpPr>
        <p:spPr>
          <a:xfrm rot="5400000">
            <a:off x="5996285" y="1916305"/>
            <a:ext cx="504056" cy="2056482"/>
          </a:xfrm>
          <a:prstGeom prst="leftBrac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Bulle ronde 14"/>
          <p:cNvSpPr/>
          <p:nvPr/>
        </p:nvSpPr>
        <p:spPr>
          <a:xfrm>
            <a:off x="5436096" y="4375966"/>
            <a:ext cx="1944884" cy="792088"/>
          </a:xfrm>
          <a:prstGeom prst="wedgeEllipseCallout">
            <a:avLst>
              <a:gd name="adj1" fmla="val -10920"/>
              <a:gd name="adj2" fmla="val -126243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temperature effect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Bulle ronde 15"/>
          <p:cNvSpPr/>
          <p:nvPr/>
        </p:nvSpPr>
        <p:spPr>
          <a:xfrm>
            <a:off x="7548029" y="3673056"/>
            <a:ext cx="1595971" cy="1085905"/>
          </a:xfrm>
          <a:prstGeom prst="wedgeEllipseCallout">
            <a:avLst>
              <a:gd name="adj1" fmla="val -66938"/>
              <a:gd name="adj2" fmla="val -43672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soil water </a:t>
            </a:r>
            <a:r>
              <a:rPr kumimoji="0" lang="en-GB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content –aeration effect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45725" y="1121139"/>
            <a:ext cx="1976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1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f(Norg</a:t>
            </a:r>
            <a:r>
              <a:rPr kumimoji="0" lang="en-GB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 &amp; </a:t>
            </a:r>
            <a:r>
              <a:rPr kumimoji="0" lang="en-GB" sz="1800" b="0" i="1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CsurNsol)</a:t>
            </a:r>
            <a:endParaRPr kumimoji="0" lang="en-GB" sz="1800" b="0" i="1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or </a:t>
            </a:r>
            <a:r>
              <a:rPr kumimoji="0" lang="en-GB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vpotdenit</a:t>
            </a:r>
            <a:endParaRPr kumimoji="0" lang="en-GB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cxnSp>
        <p:nvCxnSpPr>
          <p:cNvPr id="18" name="Connecteur en arc 17"/>
          <p:cNvCxnSpPr>
            <a:stCxn id="6" idx="2"/>
            <a:endCxn id="9" idx="2"/>
          </p:cNvCxnSpPr>
          <p:nvPr/>
        </p:nvCxnSpPr>
        <p:spPr>
          <a:xfrm rot="16200000" flipH="1">
            <a:off x="1466205" y="1335401"/>
            <a:ext cx="442533" cy="1306670"/>
          </a:xfrm>
          <a:prstGeom prst="curvedConnector2">
            <a:avLst/>
          </a:prstGeom>
          <a:ln w="28575">
            <a:solidFill>
              <a:schemeClr val="accent5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1867445" y="3355394"/>
                <a:ext cx="56116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𝑣𝑑𝑒𝑛𝑖𝑡</m:t>
                      </m:r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𝑣𝑑𝑒𝑛𝑖𝑡𝑝𝑜𝑡</m:t>
                      </m:r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.</m:t>
                      </m:r>
                      <m:sSub>
                        <m:sSubPr>
                          <m:ctrlP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𝑓</m:t>
                          </m:r>
                        </m:e>
                        <m:sub>
                          <m: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𝑁</m:t>
                          </m:r>
                          <m: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03</m:t>
                          </m:r>
                        </m:sub>
                      </m:sSub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.</m:t>
                      </m:r>
                      <m:sSub>
                        <m:sSubPr>
                          <m:ctrlP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𝑓</m:t>
                          </m:r>
                        </m:e>
                        <m:sub>
                          <m: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𝑇</m:t>
                          </m:r>
                        </m:sub>
                      </m:sSub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.</m:t>
                      </m:r>
                      <m:sSub>
                        <m:sSubPr>
                          <m:ctrlP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𝑓</m:t>
                          </m:r>
                        </m:e>
                        <m:sub>
                          <m: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𝑊𝐹𝑃𝑆</m:t>
                          </m:r>
                        </m:sub>
                      </m:sSub>
                    </m:oMath>
                  </m:oMathPara>
                </a14:m>
                <a:endParaRPr kumimoji="0" lang="en-GB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Arial" charset="0"/>
                </a:endParaRPr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7445" y="3355394"/>
                <a:ext cx="5611601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551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5128096" y="4330957"/>
            <a:ext cx="1181301" cy="480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178669" y="2882183"/>
            <a:ext cx="731183" cy="4805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863980" y="4331245"/>
            <a:ext cx="1585583" cy="48026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/>
              <p:cNvSpPr txBox="1"/>
              <p:nvPr/>
            </p:nvSpPr>
            <p:spPr>
              <a:xfrm>
                <a:off x="2834600" y="4355937"/>
                <a:ext cx="347479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𝑁</m:t>
                      </m:r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2</m:t>
                      </m:r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𝑂𝑑𝑒𝑛𝑖𝑡</m:t>
                      </m:r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𝑟</m:t>
                      </m:r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.</m:t>
                      </m:r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𝑣𝑑𝑒𝑛𝑖𝑡</m:t>
                      </m:r>
                    </m:oMath>
                  </m:oMathPara>
                </a14:m>
                <a:endParaRPr kumimoji="0" lang="en-GB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Arial" charset="0"/>
                </a:endParaRPr>
              </a:p>
            </p:txBody>
          </p:sp>
        </mc:Choice>
        <mc:Fallback xmlns="">
          <p:sp>
            <p:nvSpPr>
              <p:cNvPr id="17" name="ZoneTexte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600" y="4355937"/>
                <a:ext cx="3474797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3207830" y="2882471"/>
            <a:ext cx="1241733" cy="4802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idx="4294967295"/>
          </p:nvPr>
        </p:nvSpPr>
        <p:spPr>
          <a:xfrm>
            <a:off x="1131688" y="45972"/>
            <a:ext cx="6635750" cy="1143000"/>
          </a:xfrm>
          <a:prstGeom prst="rect">
            <a:avLst/>
          </a:prstGeom>
        </p:spPr>
        <p:txBody>
          <a:bodyPr/>
          <a:lstStyle/>
          <a:p>
            <a:r>
              <a:rPr lang="en-GB" dirty="0" smtClean="0"/>
              <a:t>N</a:t>
            </a:r>
            <a:r>
              <a:rPr lang="en-GB" baseline="-25000" dirty="0" smtClean="0"/>
              <a:t>2</a:t>
            </a:r>
            <a:r>
              <a:rPr lang="en-GB" dirty="0" smtClean="0"/>
              <a:t>O module: N</a:t>
            </a:r>
            <a:r>
              <a:rPr lang="en-GB" baseline="-25000" dirty="0" smtClean="0"/>
              <a:t>2</a:t>
            </a:r>
            <a:r>
              <a:rPr lang="en-GB" dirty="0" smtClean="0"/>
              <a:t>O emissions</a:t>
            </a:r>
            <a:endParaRPr lang="en-GB" dirty="0"/>
          </a:p>
        </p:txBody>
      </p:sp>
      <p:sp>
        <p:nvSpPr>
          <p:cNvPr id="5" name="ZoneTexte 4"/>
          <p:cNvSpPr txBox="1"/>
          <p:nvPr/>
        </p:nvSpPr>
        <p:spPr>
          <a:xfrm>
            <a:off x="202164" y="977888"/>
            <a:ext cx="8739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N</a:t>
            </a:r>
            <a:r>
              <a:rPr kumimoji="0" lang="en-GB" sz="1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2</a:t>
            </a: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O </a:t>
            </a:r>
            <a:r>
              <a:rPr kumimoji="0" lang="en-GB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emissions correspond </a:t>
            </a: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to </a:t>
            </a:r>
            <a:r>
              <a:rPr kumimoji="0" lang="en-GB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a constant or variable proportion </a:t>
            </a: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of nitrification and denitrification rates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sp>
        <p:nvSpPr>
          <p:cNvPr id="7" name="Bulle ronde 6"/>
          <p:cNvSpPr/>
          <p:nvPr/>
        </p:nvSpPr>
        <p:spPr>
          <a:xfrm>
            <a:off x="505654" y="2269559"/>
            <a:ext cx="2242588" cy="891098"/>
          </a:xfrm>
          <a:prstGeom prst="wedgeEllipseCallout">
            <a:avLst>
              <a:gd name="adj1" fmla="val 69024"/>
              <a:gd name="adj2" fmla="val 3890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  <a:r>
              <a:rPr kumimoji="0" lang="en-GB" sz="1800" b="0" i="0" u="none" strike="noStrike" kern="1200" cap="none" spc="0" normalizeH="0" baseline="-2500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GB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 emissions </a:t>
            </a: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associated to nitrification 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3207830" y="2882183"/>
                <a:ext cx="270202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𝑁</m:t>
                      </m:r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2</m:t>
                      </m:r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𝑂𝑛𝑖𝑡</m:t>
                      </m:r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𝑧</m:t>
                      </m:r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.</m:t>
                      </m:r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𝑣𝑛𝑖𝑡</m:t>
                      </m:r>
                    </m:oMath>
                  </m:oMathPara>
                </a14:m>
                <a:endParaRPr kumimoji="0" lang="en-GB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Arial" charset="0"/>
                </a:endParaRPr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7830" y="2882183"/>
                <a:ext cx="2702022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Bulle ronde 19"/>
          <p:cNvSpPr/>
          <p:nvPr/>
        </p:nvSpPr>
        <p:spPr>
          <a:xfrm>
            <a:off x="179512" y="3789040"/>
            <a:ext cx="2242588" cy="891098"/>
          </a:xfrm>
          <a:prstGeom prst="wedgeEllipseCallout">
            <a:avLst>
              <a:gd name="adj1" fmla="val 69024"/>
              <a:gd name="adj2" fmla="val 38902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  <a:r>
              <a:rPr kumimoji="0" lang="en-GB" sz="1800" b="0" i="0" u="none" strike="noStrike" kern="1200" cap="none" spc="0" normalizeH="0" baseline="-2500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GB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 emissions </a:t>
            </a: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associated to denitrification 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Bulle ronde 20"/>
          <p:cNvSpPr/>
          <p:nvPr/>
        </p:nvSpPr>
        <p:spPr>
          <a:xfrm>
            <a:off x="6516216" y="4005064"/>
            <a:ext cx="2242588" cy="891098"/>
          </a:xfrm>
          <a:prstGeom prst="wedgeEllipseCallout">
            <a:avLst>
              <a:gd name="adj1" fmla="val -66749"/>
              <a:gd name="adj2" fmla="val 2378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denitrification rate 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Bulle ronde 21"/>
          <p:cNvSpPr/>
          <p:nvPr/>
        </p:nvSpPr>
        <p:spPr>
          <a:xfrm>
            <a:off x="6703787" y="2294266"/>
            <a:ext cx="1867445" cy="792088"/>
          </a:xfrm>
          <a:prstGeom prst="wedgeEllipseCallout">
            <a:avLst>
              <a:gd name="adj1" fmla="val -92849"/>
              <a:gd name="adj2" fmla="val 42479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nitrification rate 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Bulle ronde 23"/>
          <p:cNvSpPr/>
          <p:nvPr/>
        </p:nvSpPr>
        <p:spPr>
          <a:xfrm>
            <a:off x="3995936" y="1644296"/>
            <a:ext cx="2520280" cy="792088"/>
          </a:xfrm>
          <a:prstGeom prst="wedgeEllipseCallout">
            <a:avLst>
              <a:gd name="adj1" fmla="val 2257"/>
              <a:gd name="adj2" fmla="val 12018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water </a:t>
            </a:r>
            <a:r>
              <a:rPr kumimoji="0" lang="en-GB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content –aeration effect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Bulle ronde 24"/>
          <p:cNvSpPr/>
          <p:nvPr/>
        </p:nvSpPr>
        <p:spPr>
          <a:xfrm>
            <a:off x="3563888" y="5301208"/>
            <a:ext cx="2655551" cy="792088"/>
          </a:xfrm>
          <a:prstGeom prst="wedgeEllipseCallout">
            <a:avLst>
              <a:gd name="adj1" fmla="val 1786"/>
              <a:gd name="adj2" fmla="val -121804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</a:t>
            </a: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GB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water content-aeration </a:t>
            </a:r>
            <a:endParaRPr kumimoji="0" lang="en-GB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[NO</a:t>
            </a:r>
            <a:r>
              <a:rPr kumimoji="0" lang="en-GB" sz="18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r>
              <a:rPr kumimoji="0" lang="en-GB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] effects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3320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idx="4294967295"/>
          </p:nvPr>
        </p:nvSpPr>
        <p:spPr>
          <a:xfrm>
            <a:off x="1470149" y="0"/>
            <a:ext cx="6635750" cy="1143000"/>
          </a:xfrm>
          <a:prstGeom prst="rect">
            <a:avLst/>
          </a:prstGeom>
        </p:spPr>
        <p:txBody>
          <a:bodyPr/>
          <a:lstStyle/>
          <a:p>
            <a:r>
              <a:rPr lang="en-GB" dirty="0" smtClean="0"/>
              <a:t>N</a:t>
            </a:r>
            <a:r>
              <a:rPr lang="en-GB" baseline="-25000" dirty="0" smtClean="0"/>
              <a:t>2</a:t>
            </a:r>
            <a:r>
              <a:rPr lang="en-GB" dirty="0" smtClean="0"/>
              <a:t>O module : options</a:t>
            </a:r>
            <a:endParaRPr lang="en-GB" dirty="0"/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240853"/>
              </p:ext>
            </p:extLst>
          </p:nvPr>
        </p:nvGraphicFramePr>
        <p:xfrm>
          <a:off x="611560" y="908720"/>
          <a:ext cx="8352929" cy="5410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3929843598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2520017086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1950082638"/>
                    </a:ext>
                  </a:extLst>
                </a:gridCol>
                <a:gridCol w="1728193">
                  <a:extLst>
                    <a:ext uri="{9D8B030D-6E8A-4147-A177-3AD203B41FA5}">
                      <a16:colId xmlns:a16="http://schemas.microsoft.com/office/drawing/2014/main" val="26736177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b="1" dirty="0" smtClean="0"/>
                        <a:t>option</a:t>
                      </a:r>
                      <a:endParaRPr lang="en-GB" b="1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 smtClean="0"/>
                        <a:t>parameter</a:t>
                      </a:r>
                      <a:r>
                        <a:rPr lang="en-GB" b="1" baseline="0" dirty="0" smtClean="0"/>
                        <a:t> name</a:t>
                      </a:r>
                      <a:endParaRPr lang="en-GB" b="1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 smtClean="0"/>
                        <a:t>default value</a:t>
                      </a:r>
                      <a:endParaRPr lang="en-GB" b="1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 smtClean="0"/>
                        <a:t>other value</a:t>
                      </a:r>
                      <a:endParaRPr lang="en-GB" b="1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249206"/>
                  </a:ext>
                </a:extLst>
              </a:tr>
              <a:tr h="7092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dependence</a:t>
                      </a:r>
                      <a:r>
                        <a:rPr lang="en-GB" baseline="0" dirty="0" smtClean="0"/>
                        <a:t> on NH</a:t>
                      </a:r>
                      <a:r>
                        <a:rPr lang="en-GB" baseline="-25000" dirty="0" smtClean="0"/>
                        <a:t>4</a:t>
                      </a:r>
                      <a:r>
                        <a:rPr lang="en-GB" baseline="0" dirty="0" smtClean="0"/>
                        <a:t> for </a:t>
                      </a:r>
                      <a:r>
                        <a:rPr lang="en-GB" baseline="0" dirty="0" err="1" smtClean="0"/>
                        <a:t>vnitpot</a:t>
                      </a:r>
                      <a:endParaRPr lang="en-GB" dirty="0" smtClean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code_vnit</a:t>
                      </a:r>
                      <a:endParaRPr lang="en-GB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proportionality to NH</a:t>
                      </a:r>
                      <a:r>
                        <a:rPr lang="en-GB" baseline="-25000" dirty="0" smtClean="0"/>
                        <a:t>4</a:t>
                      </a:r>
                      <a:r>
                        <a:rPr lang="en-GB" dirty="0" smtClean="0"/>
                        <a:t> concentration</a:t>
                      </a:r>
                      <a:endParaRPr lang="en-GB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use of </a:t>
                      </a:r>
                      <a:r>
                        <a:rPr lang="en-GB" dirty="0" err="1" smtClean="0"/>
                        <a:t>Michaelis-Menten</a:t>
                      </a:r>
                      <a:r>
                        <a:rPr lang="en-GB" dirty="0" smtClean="0"/>
                        <a:t> function</a:t>
                      </a:r>
                      <a:endParaRPr lang="en-GB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634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temperature</a:t>
                      </a:r>
                      <a:r>
                        <a:rPr lang="en-GB" baseline="0" dirty="0" smtClean="0"/>
                        <a:t> function</a:t>
                      </a:r>
                      <a:endParaRPr lang="en-GB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code_tnit</a:t>
                      </a:r>
                      <a:endParaRPr lang="en-GB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Gaussian function</a:t>
                      </a:r>
                      <a:endParaRPr lang="en-GB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linear function</a:t>
                      </a:r>
                      <a:endParaRPr lang="en-GB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490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N</a:t>
                      </a:r>
                      <a:r>
                        <a:rPr lang="en-GB" baseline="-25000" dirty="0" smtClean="0"/>
                        <a:t>2</a:t>
                      </a:r>
                      <a:r>
                        <a:rPr lang="en-GB" dirty="0" smtClean="0"/>
                        <a:t>O ratio</a:t>
                      </a:r>
                      <a:endParaRPr lang="en-GB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code_rationit</a:t>
                      </a:r>
                      <a:endParaRPr lang="en-GB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variable with soil water</a:t>
                      </a:r>
                      <a:r>
                        <a:rPr lang="en-GB" baseline="0" dirty="0" smtClean="0"/>
                        <a:t> saturation</a:t>
                      </a:r>
                      <a:endParaRPr lang="en-GB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constant</a:t>
                      </a:r>
                      <a:endParaRPr lang="en-GB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414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hourly WFPS</a:t>
                      </a:r>
                      <a:endParaRPr lang="en-GB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code_hourly_wfps_nit</a:t>
                      </a:r>
                      <a:endParaRPr lang="en-GB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yes</a:t>
                      </a:r>
                      <a:endParaRPr lang="en-GB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no</a:t>
                      </a:r>
                      <a:endParaRPr lang="en-GB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63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source of denitrification potential</a:t>
                      </a:r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code_pdenit</a:t>
                      </a:r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estimated using</a:t>
                      </a:r>
                      <a:r>
                        <a:rPr lang="en-GB" baseline="0" dirty="0" smtClean="0"/>
                        <a:t> </a:t>
                      </a:r>
                      <a:r>
                        <a:rPr lang="en-GB" baseline="0" dirty="0" err="1" smtClean="0"/>
                        <a:t>Norg</a:t>
                      </a:r>
                      <a:r>
                        <a:rPr lang="en-GB" baseline="0" dirty="0" smtClean="0"/>
                        <a:t> and </a:t>
                      </a:r>
                      <a:r>
                        <a:rPr lang="en-GB" baseline="0" dirty="0" err="1" smtClean="0"/>
                        <a:t>CsurNsol</a:t>
                      </a:r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vpotdenit</a:t>
                      </a:r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278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N</a:t>
                      </a:r>
                      <a:r>
                        <a:rPr lang="en-GB" baseline="-25000" dirty="0" smtClean="0"/>
                        <a:t>2</a:t>
                      </a:r>
                      <a:r>
                        <a:rPr lang="en-GB" dirty="0" smtClean="0"/>
                        <a:t>O</a:t>
                      </a:r>
                      <a:r>
                        <a:rPr lang="en-GB" baseline="0" dirty="0" smtClean="0"/>
                        <a:t> ratio</a:t>
                      </a:r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code_ratiodenit</a:t>
                      </a:r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variable with soil pH</a:t>
                      </a:r>
                      <a:r>
                        <a:rPr lang="en-US" smtClean="0"/>
                        <a:t>, WFPS and </a:t>
                      </a:r>
                      <a:r>
                        <a:rPr lang="en-US" dirty="0" smtClean="0"/>
                        <a:t>NO3 concentration</a:t>
                      </a:r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constant</a:t>
                      </a:r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979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hourly WFPS</a:t>
                      </a:r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code_hourly_wfps_denit</a:t>
                      </a:r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yes</a:t>
                      </a:r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no</a:t>
                      </a:r>
                      <a:endParaRPr lang="en-GB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132277"/>
                  </a:ext>
                </a:extLst>
              </a:tr>
            </a:tbl>
          </a:graphicData>
        </a:graphic>
      </p:graphicFrame>
      <p:sp>
        <p:nvSpPr>
          <p:cNvPr id="14" name="ZoneTexte 13"/>
          <p:cNvSpPr txBox="1"/>
          <p:nvPr/>
        </p:nvSpPr>
        <p:spPr>
          <a:xfrm rot="16200000">
            <a:off x="-505292" y="2464505"/>
            <a:ext cx="1594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NITRIFICATION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 rot="16200000">
            <a:off x="-634334" y="5250958"/>
            <a:ext cx="185300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4BACC6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DENITRIFICATION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4BACC6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645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15560"/>
            <a:ext cx="7772400" cy="646331"/>
          </a:xfrm>
        </p:spPr>
        <p:txBody>
          <a:bodyPr>
            <a:spAutoFit/>
          </a:bodyPr>
          <a:lstStyle/>
          <a:p>
            <a:pPr algn="ctr" eaLnBrk="1" hangingPunct="1"/>
            <a:r>
              <a:rPr lang="fr-FR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fr-FR" sz="36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Thank</a:t>
            </a:r>
            <a:r>
              <a:rPr lang="fr-FR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36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lang="fr-FR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 </a:t>
            </a:r>
            <a:r>
              <a:rPr lang="fr-FR" sz="36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your</a:t>
            </a:r>
            <a:r>
              <a:rPr lang="fr-FR" sz="3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attention</a:t>
            </a:r>
          </a:p>
        </p:txBody>
      </p:sp>
      <p:sp>
        <p:nvSpPr>
          <p:cNvPr id="2" name="AutoShape 2" descr="Logotype INRA"/>
          <p:cNvSpPr>
            <a:spLocks noChangeAspect="1" noChangeArrowheads="1"/>
          </p:cNvSpPr>
          <p:nvPr/>
        </p:nvSpPr>
        <p:spPr bwMode="auto">
          <a:xfrm>
            <a:off x="155575" y="-457200"/>
            <a:ext cx="19050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38661F3-0FF0-4AD1-8849-942D1B5CC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46244"/>
            <a:ext cx="9144000" cy="136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972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1|6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1|6.8"/>
</p:tagLst>
</file>

<file path=ppt/theme/theme1.xml><?xml version="1.0" encoding="utf-8"?>
<a:theme xmlns:a="http://schemas.openxmlformats.org/drawingml/2006/main" name="Bordure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666699"/>
            </a:solidFill>
            <a:effectLst/>
            <a:latin typeface="Trebuchet MS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666699"/>
            </a:solidFill>
            <a:effectLst/>
            <a:latin typeface="Trebuchet MS" pitchFamily="34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1600" b="0" smtClean="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>
    <a:extraClrScheme>
      <a:clrScheme name="Bordur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ur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ur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ur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ur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ur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ur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ur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ur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eme_INR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heme_INR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Theme_INR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Theme_INR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1D634E1E13A64AA77145EB5C47893B" ma:contentTypeVersion="8" ma:contentTypeDescription="Crée un document." ma:contentTypeScope="" ma:versionID="3bbcf6d6d6bb4b7e558e56bf9ea10419">
  <xsd:schema xmlns:xsd="http://www.w3.org/2001/XMLSchema" xmlns:xs="http://www.w3.org/2001/XMLSchema" xmlns:p="http://schemas.microsoft.com/office/2006/metadata/properties" xmlns:ns2="87442eb4-9262-412a-9be8-1f458f51a3af" targetNamespace="http://schemas.microsoft.com/office/2006/metadata/properties" ma:root="true" ma:fieldsID="2c974714e798a9f4aa133d64fe6ae128" ns2:_="">
    <xsd:import namespace="87442eb4-9262-412a-9be8-1f458f51a3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442eb4-9262-412a-9be8-1f458f51a3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2E9EFB-C1BC-47D1-968F-EBB2C0CAFC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442eb4-9262-412a-9be8-1f458f51a3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0BDA5B3-F1BC-4787-9B88-C6A79E231643}">
  <ds:schemaRefs>
    <ds:schemaRef ds:uri="http://schemas.openxmlformats.org/package/2006/metadata/core-properties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terms/"/>
    <ds:schemaRef ds:uri="87442eb4-9262-412a-9be8-1f458f51a3af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12177ACA-B324-4CC4-AC35-EAA7E74412F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55990</TotalTime>
  <Words>2228</Words>
  <Application>Microsoft Office PowerPoint</Application>
  <PresentationFormat>Affichage à l'écran (4:3)</PresentationFormat>
  <Paragraphs>337</Paragraphs>
  <Slides>32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5</vt:i4>
      </vt:variant>
      <vt:variant>
        <vt:lpstr>Titres des diapositives</vt:lpstr>
      </vt:variant>
      <vt:variant>
        <vt:i4>32</vt:i4>
      </vt:variant>
    </vt:vector>
  </HeadingPairs>
  <TitlesOfParts>
    <vt:vector size="47" baseType="lpstr">
      <vt:lpstr>Arial</vt:lpstr>
      <vt:lpstr>Arial Narrow</vt:lpstr>
      <vt:lpstr>Arial Unicode MS</vt:lpstr>
      <vt:lpstr>Calibri</vt:lpstr>
      <vt:lpstr>Cambria Math</vt:lpstr>
      <vt:lpstr>Garamond</vt:lpstr>
      <vt:lpstr>Symbol</vt:lpstr>
      <vt:lpstr>Times New Roman</vt:lpstr>
      <vt:lpstr>Trebuchet MS</vt:lpstr>
      <vt:lpstr>Wingdings</vt:lpstr>
      <vt:lpstr>Bordure</vt:lpstr>
      <vt:lpstr>Theme_INRA</vt:lpstr>
      <vt:lpstr>1_Theme_INRA</vt:lpstr>
      <vt:lpstr>2_Theme_INRA</vt:lpstr>
      <vt:lpstr>3_Theme_INRA</vt:lpstr>
      <vt:lpstr> Soil functioning</vt:lpstr>
      <vt:lpstr>Outline</vt:lpstr>
      <vt:lpstr> Soil functionning  1. Soil compartments and parameters</vt:lpstr>
      <vt:lpstr>Soil layers</vt:lpstr>
      <vt:lpstr>Soil compartments</vt:lpstr>
      <vt:lpstr> Soil functionning  2. Boundary and initial conditions</vt:lpstr>
      <vt:lpstr>Boundary conditions</vt:lpstr>
      <vt:lpstr>Initial conditions</vt:lpstr>
      <vt:lpstr> Soil functionning  3. Transfers (water, nitrate, heat)</vt:lpstr>
      <vt:lpstr>Water transfer</vt:lpstr>
      <vt:lpstr>Water transfer</vt:lpstr>
      <vt:lpstr>Water transfer</vt:lpstr>
      <vt:lpstr>Water transfer</vt:lpstr>
      <vt:lpstr>Water transfer</vt:lpstr>
      <vt:lpstr>Nitrate transfer</vt:lpstr>
      <vt:lpstr>Heat transfer</vt:lpstr>
      <vt:lpstr> Soil functionning  4. Soil biogeochemistry (C and N transformations, fluxes)</vt:lpstr>
      <vt:lpstr>C N transformations</vt:lpstr>
      <vt:lpstr>Pools and fluxes</vt:lpstr>
      <vt:lpstr>Overview</vt:lpstr>
      <vt:lpstr>Residues decomposition and mineralization</vt:lpstr>
      <vt:lpstr>Direct input (tec file) or automatic input at harvest</vt:lpstr>
      <vt:lpstr>Humus mineralization (C and N)  </vt:lpstr>
      <vt:lpstr>Humus mineralization (C and N)  </vt:lpstr>
      <vt:lpstr>Présentation PowerPoint</vt:lpstr>
      <vt:lpstr>Présentation PowerPoint</vt:lpstr>
      <vt:lpstr>Présentation PowerPoint</vt:lpstr>
      <vt:lpstr>N2O module: nitrification</vt:lpstr>
      <vt:lpstr>N2O module: denitrification</vt:lpstr>
      <vt:lpstr>N2O module: N2O emissions</vt:lpstr>
      <vt:lpstr>N2O module : options</vt:lpstr>
      <vt:lpstr> 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du changement climatique           sur les écosystèmes</dc:title>
  <dc:creator>agroclim</dc:creator>
  <dc:description>S</dc:description>
  <cp:lastModifiedBy>Marie-Odile Bancal</cp:lastModifiedBy>
  <cp:revision>890</cp:revision>
  <cp:lastPrinted>2021-01-25T08:00:09Z</cp:lastPrinted>
  <dcterms:created xsi:type="dcterms:W3CDTF">2003-10-09T13:16:26Z</dcterms:created>
  <dcterms:modified xsi:type="dcterms:W3CDTF">2023-11-22T15:05:23Z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MyDocuments">
    <vt:bool>true</vt:bool>
  </property>
  <property fmtid="{D5CDD505-2E9C-101B-9397-08002B2CF9AE}" pid="3" name="ContentTypeId">
    <vt:lpwstr>0x010100D71D634E1E13A64AA77145EB5C47893B</vt:lpwstr>
  </property>
</Properties>
</file>