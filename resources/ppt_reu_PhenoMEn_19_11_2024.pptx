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3"/>
  </p:sldMasterIdLst>
  <p:notesMasterIdLst>
    <p:notesMasterId r:id="rId27"/>
  </p:notesMasterIdLst>
  <p:sldIdLst>
    <p:sldId id="256" r:id="rId4"/>
    <p:sldId id="259" r:id="rId5"/>
    <p:sldId id="295" r:id="rId6"/>
    <p:sldId id="298" r:id="rId7"/>
    <p:sldId id="299" r:id="rId8"/>
    <p:sldId id="274" r:id="rId9"/>
    <p:sldId id="319" r:id="rId10"/>
    <p:sldId id="315" r:id="rId11"/>
    <p:sldId id="330" r:id="rId12"/>
    <p:sldId id="329" r:id="rId13"/>
    <p:sldId id="328" r:id="rId14"/>
    <p:sldId id="326" r:id="rId15"/>
    <p:sldId id="331" r:id="rId16"/>
    <p:sldId id="257" r:id="rId17"/>
    <p:sldId id="301" r:id="rId18"/>
    <p:sldId id="290" r:id="rId19"/>
    <p:sldId id="266" r:id="rId20"/>
    <p:sldId id="325" r:id="rId21"/>
    <p:sldId id="312" r:id="rId22"/>
    <p:sldId id="311" r:id="rId23"/>
    <p:sldId id="321" r:id="rId24"/>
    <p:sldId id="323" r:id="rId25"/>
    <p:sldId id="309" r:id="rId2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89F"/>
    <a:srgbClr val="F39200"/>
    <a:srgbClr val="FFCC99"/>
    <a:srgbClr val="399758"/>
    <a:srgbClr val="24743A"/>
    <a:srgbClr val="AEAEAE"/>
    <a:srgbClr val="F1592A"/>
    <a:srgbClr val="F7941D"/>
    <a:srgbClr val="D07C00"/>
    <a:srgbClr val="C2874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594" autoAdjust="0"/>
    <p:restoredTop sz="63364" autoAdjust="0"/>
  </p:normalViewPr>
  <p:slideViewPr>
    <p:cSldViewPr snapToGrid="0">
      <p:cViewPr varScale="1">
        <p:scale>
          <a:sx n="52" d="100"/>
          <a:sy n="52" d="100"/>
        </p:scale>
        <p:origin x="734"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1.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1C0664-3760-4B25-9F25-C7AAC42DAE60}" type="datetimeFigureOut">
              <a:rPr lang="en-US" smtClean="0"/>
              <a:t>11/19/2024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A0A799-F059-4133-8369-1F74AA1BF689}" type="slidenum">
              <a:rPr lang="en-US" smtClean="0"/>
              <a:t>‹#›</a:t>
            </a:fld>
            <a:endParaRPr lang="en-US"/>
          </a:p>
        </p:txBody>
      </p:sp>
    </p:spTree>
    <p:extLst>
      <p:ext uri="{BB962C8B-B14F-4D97-AF65-F5344CB8AC3E}">
        <p14:creationId xmlns:p14="http://schemas.microsoft.com/office/powerpoint/2010/main" val="1155295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a:t>
            </a:r>
            <a:r>
              <a:rPr lang="en-US" dirty="0" err="1"/>
              <a:t>viens</a:t>
            </a:r>
            <a:r>
              <a:rPr lang="en-US" dirty="0"/>
              <a:t> </a:t>
            </a:r>
            <a:r>
              <a:rPr lang="en-US" dirty="0" err="1"/>
              <a:t>d’entamer</a:t>
            </a:r>
            <a:r>
              <a:rPr lang="en-US" dirty="0"/>
              <a:t> ma </a:t>
            </a:r>
            <a:r>
              <a:rPr lang="en-US" dirty="0" err="1"/>
              <a:t>deuxième</a:t>
            </a:r>
            <a:r>
              <a:rPr lang="en-US" dirty="0"/>
              <a:t> </a:t>
            </a:r>
            <a:r>
              <a:rPr lang="en-US" dirty="0" err="1"/>
              <a:t>année</a:t>
            </a:r>
            <a:r>
              <a:rPr lang="en-US" dirty="0"/>
              <a:t> de these au CIRAD, dans </a:t>
            </a:r>
            <a:r>
              <a:rPr lang="en-US" dirty="0" err="1"/>
              <a:t>l’école</a:t>
            </a:r>
            <a:r>
              <a:rPr lang="en-US" dirty="0"/>
              <a:t> </a:t>
            </a:r>
            <a:r>
              <a:rPr lang="en-US" dirty="0" err="1"/>
              <a:t>doctorale</a:t>
            </a:r>
            <a:r>
              <a:rPr lang="en-US" dirty="0"/>
              <a:t> I2S. </a:t>
            </a:r>
          </a:p>
          <a:p>
            <a:r>
              <a:rPr lang="en-US" dirty="0"/>
              <a:t>Je </a:t>
            </a:r>
            <a:r>
              <a:rPr lang="en-US" dirty="0" err="1"/>
              <a:t>suis</a:t>
            </a:r>
            <a:r>
              <a:rPr lang="en-US" dirty="0"/>
              <a:t> </a:t>
            </a:r>
            <a:r>
              <a:rPr lang="en-US" dirty="0" err="1"/>
              <a:t>encadrée</a:t>
            </a:r>
            <a:r>
              <a:rPr lang="en-US" dirty="0"/>
              <a:t> </a:t>
            </a:r>
            <a:r>
              <a:rPr lang="en-US" dirty="0" err="1"/>
              <a:t>en</a:t>
            </a:r>
            <a:r>
              <a:rPr lang="en-US" dirty="0"/>
              <a:t> </a:t>
            </a:r>
            <a:r>
              <a:rPr lang="en-US" dirty="0" err="1"/>
              <a:t>partie</a:t>
            </a:r>
            <a:r>
              <a:rPr lang="en-US" dirty="0"/>
              <a:t> à AGAP par Myriam Adam et Christophe </a:t>
            </a:r>
            <a:r>
              <a:rPr lang="en-US" dirty="0" err="1"/>
              <a:t>Pradal</a:t>
            </a:r>
            <a:r>
              <a:rPr lang="en-US" dirty="0"/>
              <a:t>, et </a:t>
            </a:r>
            <a:r>
              <a:rPr lang="en-US" dirty="0" err="1"/>
              <a:t>en</a:t>
            </a:r>
            <a:r>
              <a:rPr lang="en-US" dirty="0"/>
              <a:t> </a:t>
            </a:r>
            <a:r>
              <a:rPr lang="en-US" dirty="0" err="1"/>
              <a:t>partie</a:t>
            </a:r>
            <a:r>
              <a:rPr lang="en-US" dirty="0"/>
              <a:t> à AMAP par Marc Jaeger, </a:t>
            </a:r>
            <a:r>
              <a:rPr lang="en-US" dirty="0" err="1"/>
              <a:t>Rémi</a:t>
            </a:r>
            <a:r>
              <a:rPr lang="en-US" dirty="0"/>
              <a:t> </a:t>
            </a:r>
            <a:r>
              <a:rPr lang="en-US" dirty="0" err="1"/>
              <a:t>Vezy</a:t>
            </a:r>
            <a:r>
              <a:rPr lang="en-US" dirty="0"/>
              <a:t> et Thomas </a:t>
            </a:r>
            <a:r>
              <a:rPr lang="en-US" dirty="0" err="1"/>
              <a:t>Arsouze</a:t>
            </a:r>
            <a:r>
              <a:rPr lang="en-US" dirty="0"/>
              <a:t>. </a:t>
            </a:r>
          </a:p>
          <a:p>
            <a:r>
              <a:rPr lang="en-US" dirty="0"/>
              <a:t>Ma these </a:t>
            </a:r>
            <a:r>
              <a:rPr lang="en-US" dirty="0" err="1"/>
              <a:t>est</a:t>
            </a:r>
            <a:r>
              <a:rPr lang="en-US" dirty="0"/>
              <a:t> </a:t>
            </a:r>
            <a:r>
              <a:rPr lang="en-US" dirty="0" err="1"/>
              <a:t>financée</a:t>
            </a:r>
            <a:r>
              <a:rPr lang="en-US" dirty="0"/>
              <a:t> par le </a:t>
            </a:r>
            <a:r>
              <a:rPr lang="en-US" dirty="0" err="1"/>
              <a:t>projet</a:t>
            </a:r>
            <a:r>
              <a:rPr lang="en-US" dirty="0"/>
              <a:t> </a:t>
            </a:r>
            <a:r>
              <a:rPr lang="en-US" dirty="0" err="1"/>
              <a:t>européen</a:t>
            </a:r>
            <a:r>
              <a:rPr lang="en-US" dirty="0"/>
              <a:t> Horizons </a:t>
            </a:r>
            <a:r>
              <a:rPr lang="en-US" dirty="0" err="1"/>
              <a:t>IntercropValuES</a:t>
            </a:r>
            <a:r>
              <a:rPr lang="en-US" dirty="0"/>
              <a:t> et </a:t>
            </a:r>
            <a:r>
              <a:rPr lang="en-US" dirty="0" err="1"/>
              <a:t>est</a:t>
            </a:r>
            <a:r>
              <a:rPr lang="en-US" dirty="0"/>
              <a:t> </a:t>
            </a:r>
            <a:r>
              <a:rPr lang="en-US" dirty="0" err="1"/>
              <a:t>labellisée</a:t>
            </a:r>
            <a:r>
              <a:rPr lang="en-US" dirty="0"/>
              <a:t> </a:t>
            </a:r>
            <a:r>
              <a:rPr lang="en-US" dirty="0" err="1"/>
              <a:t>DigitAg</a:t>
            </a:r>
            <a:r>
              <a:rPr lang="en-US" dirty="0"/>
              <a:t>. </a:t>
            </a:r>
          </a:p>
          <a:p>
            <a:r>
              <a:rPr lang="en-US" dirty="0"/>
              <a:t>Ma these </a:t>
            </a:r>
            <a:r>
              <a:rPr lang="en-US" dirty="0" err="1"/>
              <a:t>porte</a:t>
            </a:r>
            <a:r>
              <a:rPr lang="en-US" dirty="0"/>
              <a:t> sur </a:t>
            </a:r>
            <a:r>
              <a:rPr lang="en-US" dirty="0" err="1"/>
              <a:t>une</a:t>
            </a:r>
            <a:r>
              <a:rPr lang="en-US" dirty="0"/>
              <a:t> </a:t>
            </a:r>
            <a:r>
              <a:rPr lang="en-US" dirty="0" err="1"/>
              <a:t>approche</a:t>
            </a:r>
            <a:r>
              <a:rPr lang="en-US" dirty="0"/>
              <a:t> </a:t>
            </a:r>
            <a:r>
              <a:rPr lang="en-US" dirty="0" err="1"/>
              <a:t>hybride</a:t>
            </a:r>
            <a:r>
              <a:rPr lang="en-US" dirty="0"/>
              <a:t> multi-echelle pour la </a:t>
            </a:r>
            <a:r>
              <a:rPr lang="en-US" dirty="0" err="1"/>
              <a:t>modélisation</a:t>
            </a:r>
            <a:r>
              <a:rPr lang="en-US" dirty="0"/>
              <a:t> des cultures </a:t>
            </a:r>
            <a:r>
              <a:rPr lang="en-US" dirty="0" err="1"/>
              <a:t>associées</a:t>
            </a:r>
            <a:r>
              <a:rPr lang="en-US" dirty="0"/>
              <a:t>, par le </a:t>
            </a:r>
            <a:r>
              <a:rPr lang="en-US" dirty="0" err="1"/>
              <a:t>couplage</a:t>
            </a:r>
            <a:r>
              <a:rPr lang="en-US" dirty="0"/>
              <a:t> des </a:t>
            </a:r>
            <a:r>
              <a:rPr lang="en-US" dirty="0" err="1"/>
              <a:t>modèles</a:t>
            </a:r>
            <a:r>
              <a:rPr lang="en-US" dirty="0"/>
              <a:t> de </a:t>
            </a:r>
            <a:r>
              <a:rPr lang="en-US" dirty="0" err="1"/>
              <a:t>plantes</a:t>
            </a:r>
            <a:r>
              <a:rPr lang="en-US" dirty="0"/>
              <a:t> et de cultures.</a:t>
            </a:r>
          </a:p>
        </p:txBody>
      </p:sp>
      <p:sp>
        <p:nvSpPr>
          <p:cNvPr id="4" name="Slide Number Placeholder 3"/>
          <p:cNvSpPr>
            <a:spLocks noGrp="1"/>
          </p:cNvSpPr>
          <p:nvPr>
            <p:ph type="sldNum" sz="quarter" idx="5"/>
          </p:nvPr>
        </p:nvSpPr>
        <p:spPr/>
        <p:txBody>
          <a:bodyPr/>
          <a:lstStyle/>
          <a:p>
            <a:fld id="{A9A0A799-F059-4133-8369-1F74AA1BF689}" type="slidenum">
              <a:rPr lang="en-US" smtClean="0"/>
              <a:t>1</a:t>
            </a:fld>
            <a:endParaRPr lang="en-US"/>
          </a:p>
        </p:txBody>
      </p:sp>
    </p:spTree>
    <p:extLst>
      <p:ext uri="{BB962C8B-B14F-4D97-AF65-F5344CB8AC3E}">
        <p14:creationId xmlns:p14="http://schemas.microsoft.com/office/powerpoint/2010/main" val="41360170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L’association de cultures est une pratique </a:t>
            </a:r>
            <a:r>
              <a:rPr lang="fr-FR" dirty="0" err="1"/>
              <a:t>agro-écologique</a:t>
            </a:r>
            <a:r>
              <a:rPr lang="fr-FR" dirty="0"/>
              <a:t> qui consiste à cultiver plusieurs espèces ou variétés différentes ensemble. </a:t>
            </a:r>
          </a:p>
          <a:p>
            <a:r>
              <a:rPr lang="fr-FR" dirty="0"/>
              <a:t>Ici, on va se concentrer sur des mélanges céréales et légumineuses, comme par exemple sorgho et niébé, pour prendre un exemple tropical. </a:t>
            </a:r>
          </a:p>
          <a:p>
            <a:r>
              <a:rPr lang="fr-FR" dirty="0"/>
              <a:t>Cette pratique peut avoir plusieurs avantages, comme une meilleure résilience des cultures face aux stress, une diminution de l’utilisation des fertilisants et des pesticides, ou encore une augmentation du rendement par rapport à des monocultures comparables. </a:t>
            </a:r>
          </a:p>
          <a:p>
            <a:r>
              <a:rPr lang="fr-FR" dirty="0"/>
              <a:t>Mais cela n’est possible que si ces systèmes de culture sont optimisés.</a:t>
            </a:r>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2</a:t>
            </a:fld>
            <a:endParaRPr lang="en-US"/>
          </a:p>
        </p:txBody>
      </p:sp>
    </p:spTree>
    <p:extLst>
      <p:ext uri="{BB962C8B-B14F-4D97-AF65-F5344CB8AC3E}">
        <p14:creationId xmlns:p14="http://schemas.microsoft.com/office/powerpoint/2010/main" val="16609012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Pour les systèmes de cultures associées qu’on va considérer ici, on a une espèce de légumineuse et une espèce de céréale, qui vont avoir des interactions plante-plante, de compétition ou de facilitation, et ce dans un environnement donné, qui peut être modifié par des pratiques agricoles, et en particulier ici le schéma de semis, qui va conditionner l’arrangement spatial des plantes et leur voisinage, mais aussi leur dynamique en fonction de la date de semis de chaque espèce.</a:t>
            </a:r>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3</a:t>
            </a:fld>
            <a:endParaRPr lang="en-US"/>
          </a:p>
        </p:txBody>
      </p:sp>
    </p:spTree>
    <p:extLst>
      <p:ext uri="{BB962C8B-B14F-4D97-AF65-F5344CB8AC3E}">
        <p14:creationId xmlns:p14="http://schemas.microsoft.com/office/powerpoint/2010/main" val="34559080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Pour étudier ces systèmes complexes, on peut utiliser des modèles de culture. </a:t>
            </a:r>
          </a:p>
          <a:p>
            <a:r>
              <a:rPr lang="fr-FR" dirty="0"/>
              <a:t>Ce sont des modèles qui sont utilisés pour faire de la prédiction ou comme outil d’aide à la décision. </a:t>
            </a:r>
          </a:p>
          <a:p>
            <a:r>
              <a:rPr lang="fr-FR" dirty="0"/>
              <a:t>Les modèles de culture sont définis à l’échelle de la parcelle (du m² ou de l’hectare), et reposent sur des hypothèses d’homogénéité du couvert en considérant une plante moyenne. </a:t>
            </a:r>
          </a:p>
          <a:p>
            <a:r>
              <a:rPr lang="fr-FR" dirty="0"/>
              <a:t>Ces modèles peuvent simuler plusieurs processus sur tout le cycle de développement des cultures. </a:t>
            </a:r>
          </a:p>
          <a:p>
            <a:r>
              <a:rPr lang="fr-FR" dirty="0"/>
              <a:t>Certains modèles de cultures ont été adaptés et calibrés pour certaines cultures associées, comme les modèles STICS et APSIM. </a:t>
            </a:r>
          </a:p>
          <a:p>
            <a:r>
              <a:rPr lang="fr-FR" dirty="0"/>
              <a:t>Les modèles de culture présentent aussi des limites dues à l’échelle qu’ils considèrent : ils ne considèrent pas explicitement l’hétérogénéité du couvert et les interactions </a:t>
            </a:r>
            <a:r>
              <a:rPr lang="fr-FR" dirty="0" err="1"/>
              <a:t>plant-plante</a:t>
            </a:r>
            <a:r>
              <a:rPr lang="fr-FR" dirty="0"/>
              <a:t>.</a:t>
            </a:r>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4</a:t>
            </a:fld>
            <a:endParaRPr lang="en-US"/>
          </a:p>
        </p:txBody>
      </p:sp>
    </p:spTree>
    <p:extLst>
      <p:ext uri="{BB962C8B-B14F-4D97-AF65-F5344CB8AC3E}">
        <p14:creationId xmlns:p14="http://schemas.microsoft.com/office/powerpoint/2010/main" val="35410114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Comme autre type de modèle, il y a les FSPM, les modèles de plantes structure-fonction, qui intègrent des connaissances en écophysiologie à l’échelle de l’organe. </a:t>
            </a:r>
          </a:p>
          <a:p>
            <a:r>
              <a:rPr lang="fr-FR" dirty="0"/>
              <a:t>C’est donc à l’échelle de l’organe que vont être calculés les processus, en considérant l’architecture 3D de la plante. </a:t>
            </a:r>
          </a:p>
          <a:p>
            <a:r>
              <a:rPr lang="fr-FR" dirty="0"/>
              <a:t>Donc les FSPM peuvent représenter explicitement des cultures hétérogènes et les interactions plante-plante émergentes par leurs interactions avec le milieu. </a:t>
            </a:r>
          </a:p>
          <a:p>
            <a:r>
              <a:rPr lang="fr-FR" dirty="0"/>
              <a:t>Par contre, les FSPM sont des modèles complexes, qui font des calculs sur un grand nombre d’éléments et sur des pas de temps courts. </a:t>
            </a:r>
          </a:p>
          <a:p>
            <a:r>
              <a:rPr lang="fr-FR" dirty="0"/>
              <a:t>Ils sont souvent utilisés pour simuler peu de processus à la fois, et parfois on manque de connaissances pour simuler un cycle de développement complet. </a:t>
            </a:r>
          </a:p>
          <a:p>
            <a:r>
              <a:rPr lang="fr-FR" dirty="0"/>
              <a:t>En plus, pour développer un FSPM, il faut avoir beaucoup de mesures 3D qui sont parfois difficile à obtenir. </a:t>
            </a:r>
          </a:p>
          <a:p>
            <a:r>
              <a:rPr lang="fr-FR" dirty="0"/>
              <a:t>Comme exemples de FSPM pour des mélanges, dans </a:t>
            </a:r>
            <a:r>
              <a:rPr lang="fr-FR" dirty="0" err="1"/>
              <a:t>OpenAlea</a:t>
            </a:r>
            <a:r>
              <a:rPr lang="fr-FR" dirty="0"/>
              <a:t> il y a Virtual </a:t>
            </a:r>
            <a:r>
              <a:rPr lang="fr-FR" dirty="0" err="1"/>
              <a:t>GrassLand</a:t>
            </a:r>
            <a:r>
              <a:rPr lang="fr-FR" dirty="0"/>
              <a:t> qui modélise des mélanges céréales-légumineuses, et SIMBAL qui modélise les dynamiques carbone-azote dans les mélanges colza-féverole.</a:t>
            </a:r>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5</a:t>
            </a:fld>
            <a:endParaRPr lang="en-US"/>
          </a:p>
        </p:txBody>
      </p:sp>
    </p:spTree>
    <p:extLst>
      <p:ext uri="{BB962C8B-B14F-4D97-AF65-F5344CB8AC3E}">
        <p14:creationId xmlns:p14="http://schemas.microsoft.com/office/powerpoint/2010/main" val="36175008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Comme autre type de modèle de plantes 3D, on peut aussi citer les modèles paramétriques, conçus pour l’infographie et surtout pour les arbres. </a:t>
            </a:r>
          </a:p>
          <a:p>
            <a:r>
              <a:rPr lang="fr-FR" dirty="0"/>
              <a:t>Alors que précédemment on avait des modèles dont les résultats émergeaient des processus modélisés, pour les modèles paramétriques c’est différent, ils ne prennent pas en compte les processus, mais sont contraints par des paramètres, des enveloppes ou encore des esquisses comme avec </a:t>
            </a:r>
            <a:r>
              <a:rPr lang="fr-FR" dirty="0" err="1"/>
              <a:t>TreeSketch</a:t>
            </a:r>
            <a:r>
              <a:rPr lang="fr-FR" dirty="0"/>
              <a:t>. </a:t>
            </a:r>
          </a:p>
          <a:p>
            <a:r>
              <a:rPr lang="fr-FR" dirty="0"/>
              <a:t>Ce sont donc des modèles faciles à utiliser par des non-spécialistes pour représenter la structure 3D d’une plante, mais on s’éloigne de la réalité biologique et on considère pas du tout les interactions avec l’environnement.</a:t>
            </a:r>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6</a:t>
            </a:fld>
            <a:endParaRPr lang="en-US"/>
          </a:p>
        </p:txBody>
      </p:sp>
    </p:spTree>
    <p:extLst>
      <p:ext uri="{BB962C8B-B14F-4D97-AF65-F5344CB8AC3E}">
        <p14:creationId xmlns:p14="http://schemas.microsoft.com/office/powerpoint/2010/main" val="4127846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Maintenant on peut se demander comment on pourrait s’y prendre pour tirer le meilleur de chaque approche pour modéliser les cultures en mélange ?</a:t>
            </a:r>
          </a:p>
          <a:p>
            <a:r>
              <a:rPr lang="fr-FR" dirty="0"/>
              <a:t>Certains travaux se sont déjà attachés, processus par processus, à </a:t>
            </a:r>
          </a:p>
          <a:p>
            <a:endParaRPr lang="fr-FR" dirty="0"/>
          </a:p>
          <a:p>
            <a:r>
              <a:rPr lang="fr-FR" dirty="0"/>
              <a:t>+ Zhu 2020 : </a:t>
            </a:r>
            <a:r>
              <a:rPr lang="en-US" dirty="0"/>
              <a:t>combine realistic 3-D plant architecture with a radiation model to quantify and evaluate the effect of differences in planting patterns (intercrops) and row orientations on canopy light interception </a:t>
            </a:r>
            <a:r>
              <a:rPr lang="en-US" dirty="0">
                <a:sym typeface="Wingdings" panose="05000000000000000000" pitchFamily="2" charset="2"/>
              </a:rPr>
              <a:t> through growth season but 3D reconstruction  can’t explore </a:t>
            </a:r>
            <a:r>
              <a:rPr lang="en-US" dirty="0" err="1">
                <a:sym typeface="Wingdings" panose="05000000000000000000" pitchFamily="2" charset="2"/>
              </a:rPr>
              <a:t>morphospace</a:t>
            </a:r>
            <a:endParaRPr lang="en-US" dirty="0">
              <a:sym typeface="Wingdings" panose="05000000000000000000" pitchFamily="2" charset="2"/>
            </a:endParaRPr>
          </a:p>
          <a:p>
            <a:endParaRPr lang="en-US" dirty="0">
              <a:sym typeface="Wingdings" panose="05000000000000000000" pitchFamily="2" charset="2"/>
            </a:endParaRPr>
          </a:p>
          <a:p>
            <a:r>
              <a:rPr lang="en-US" dirty="0">
                <a:sym typeface="Wingdings" panose="05000000000000000000" pitchFamily="2" charset="2"/>
              </a:rPr>
              <a:t>+ Yin 2021 : </a:t>
            </a:r>
            <a:r>
              <a:rPr lang="en-US" dirty="0"/>
              <a:t>On the needs for combining physiological principles and mathematics to improve crop models</a:t>
            </a:r>
          </a:p>
          <a:p>
            <a:endParaRPr lang="en-US" dirty="0"/>
          </a:p>
          <a:p>
            <a:r>
              <a:rPr lang="en-US" dirty="0"/>
              <a:t>+ </a:t>
            </a:r>
            <a:r>
              <a:rPr lang="en-US" dirty="0" err="1"/>
              <a:t>Gaudio</a:t>
            </a:r>
            <a:r>
              <a:rPr lang="en-US"/>
              <a:t> 2019, 2022</a:t>
            </a:r>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7</a:t>
            </a:fld>
            <a:endParaRPr lang="en-US"/>
          </a:p>
        </p:txBody>
      </p:sp>
    </p:spTree>
    <p:extLst>
      <p:ext uri="{BB962C8B-B14F-4D97-AF65-F5344CB8AC3E}">
        <p14:creationId xmlns:p14="http://schemas.microsoft.com/office/powerpoint/2010/main" val="38233785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Maintenant on peut se demander comment on pourrait s’y prendre pour tirer le meilleur de chaque approche pour modéliser les cultures en mélange ?</a:t>
            </a:r>
          </a:p>
          <a:p>
            <a:r>
              <a:rPr lang="fr-FR" dirty="0"/>
              <a:t>Je vais directement vous présenter l’approche hybride multi-échelle que je développe pendant ma thèse et qui vise à répondre à la question : quelle est l’échelle la plus pertinente pour modéliser les cultures associées en fonction des processus qu’on regarde ?</a:t>
            </a:r>
          </a:p>
          <a:p>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8</a:t>
            </a:fld>
            <a:endParaRPr lang="en-US"/>
          </a:p>
        </p:txBody>
      </p:sp>
    </p:spTree>
    <p:extLst>
      <p:ext uri="{BB962C8B-B14F-4D97-AF65-F5344CB8AC3E}">
        <p14:creationId xmlns:p14="http://schemas.microsoft.com/office/powerpoint/2010/main" val="13148818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Dans un premier chapitre, j’ai conçu un modèle, </a:t>
            </a:r>
            <a:r>
              <a:rPr lang="fr-FR" dirty="0" err="1"/>
              <a:t>ArchiCrop</a:t>
            </a:r>
            <a:r>
              <a:rPr lang="fr-FR" dirty="0"/>
              <a:t> qui est un modèle de plante 3D, paramétrique, et dont la croissance est contrainte par les sorties d’un modèle de culture.</a:t>
            </a:r>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9</a:t>
            </a:fld>
            <a:endParaRPr lang="en-US"/>
          </a:p>
        </p:txBody>
      </p:sp>
    </p:spTree>
    <p:extLst>
      <p:ext uri="{BB962C8B-B14F-4D97-AF65-F5344CB8AC3E}">
        <p14:creationId xmlns:p14="http://schemas.microsoft.com/office/powerpoint/2010/main" val="34312751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Dans un deuxième chapitre, je vais mener une analyse de l’incertitude dans un modèle de culture liée aux traits architecturaux des plantes, pour différents processus.</a:t>
            </a:r>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10</a:t>
            </a:fld>
            <a:endParaRPr lang="en-US"/>
          </a:p>
        </p:txBody>
      </p:sp>
    </p:spTree>
    <p:extLst>
      <p:ext uri="{BB962C8B-B14F-4D97-AF65-F5344CB8AC3E}">
        <p14:creationId xmlns:p14="http://schemas.microsoft.com/office/powerpoint/2010/main" val="39333981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Et mon dernier chapitre portera sur la proposition de nouvelles approches pour mieux prendre en compte les traits architecturaux identifiés précédemment dans les modèles de culture.</a:t>
            </a:r>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11</a:t>
            </a:fld>
            <a:endParaRPr lang="en-US"/>
          </a:p>
        </p:txBody>
      </p:sp>
    </p:spTree>
    <p:extLst>
      <p:ext uri="{BB962C8B-B14F-4D97-AF65-F5344CB8AC3E}">
        <p14:creationId xmlns:p14="http://schemas.microsoft.com/office/powerpoint/2010/main" val="2448381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Je </a:t>
            </a:r>
            <a:r>
              <a:rPr lang="en-US" sz="1600" dirty="0" err="1"/>
              <a:t>vais</a:t>
            </a:r>
            <a:r>
              <a:rPr lang="en-US" sz="1600" dirty="0"/>
              <a:t> commencer par </a:t>
            </a:r>
            <a:r>
              <a:rPr lang="en-US" sz="1600" dirty="0" err="1"/>
              <a:t>vous</a:t>
            </a:r>
            <a:r>
              <a:rPr lang="en-US" sz="1600" dirty="0"/>
              <a:t> presenter mon </a:t>
            </a:r>
            <a:r>
              <a:rPr lang="en-US" sz="1600" dirty="0" err="1"/>
              <a:t>modèle</a:t>
            </a:r>
            <a:r>
              <a:rPr lang="en-US" sz="1600" dirty="0"/>
              <a:t>, </a:t>
            </a:r>
            <a:r>
              <a:rPr lang="en-US" sz="1600" dirty="0" err="1"/>
              <a:t>ArchiCrop</a:t>
            </a:r>
            <a:r>
              <a:rPr lang="en-US" sz="1600"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err="1"/>
              <a:t>C’est</a:t>
            </a:r>
            <a:r>
              <a:rPr lang="en-US" sz="1600" dirty="0"/>
              <a:t> un </a:t>
            </a:r>
            <a:r>
              <a:rPr lang="en-US" sz="1600" dirty="0" err="1"/>
              <a:t>modèle</a:t>
            </a:r>
            <a:r>
              <a:rPr lang="en-US" sz="1600" dirty="0"/>
              <a:t> 3D de </a:t>
            </a:r>
            <a:r>
              <a:rPr lang="en-US" sz="1600" dirty="0" err="1"/>
              <a:t>plante</a:t>
            </a:r>
            <a:r>
              <a:rPr lang="en-US" sz="1600" dirty="0"/>
              <a:t>, pour </a:t>
            </a:r>
            <a:r>
              <a:rPr lang="en-US" sz="1600" dirty="0" err="1"/>
              <a:t>l’instant</a:t>
            </a:r>
            <a:r>
              <a:rPr lang="en-US" sz="1600" dirty="0"/>
              <a:t> pour </a:t>
            </a:r>
            <a:r>
              <a:rPr lang="en-US" sz="1600" dirty="0" err="1"/>
              <a:t>partie</a:t>
            </a:r>
            <a:r>
              <a:rPr lang="en-US" sz="1600" dirty="0"/>
              <a:t> </a:t>
            </a:r>
            <a:r>
              <a:rPr lang="en-US" sz="1600" dirty="0" err="1"/>
              <a:t>aérienne</a:t>
            </a:r>
            <a:r>
              <a:rPr lang="en-US" sz="1600" dirty="0"/>
              <a:t> de </a:t>
            </a:r>
            <a:r>
              <a:rPr lang="en-US" sz="1600" dirty="0" err="1"/>
              <a:t>céréales</a:t>
            </a:r>
            <a:r>
              <a:rPr lang="en-US" sz="1600" dirty="0"/>
              <a:t> </a:t>
            </a:r>
            <a:r>
              <a:rPr lang="en-US" sz="1600" dirty="0" err="1"/>
              <a:t>uniquement</a:t>
            </a:r>
            <a:r>
              <a:rPr lang="en-US" sz="1600"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err="1"/>
              <a:t>C’est</a:t>
            </a:r>
            <a:r>
              <a:rPr lang="en-US" sz="1600" dirty="0"/>
              <a:t> un </a:t>
            </a:r>
            <a:r>
              <a:rPr lang="en-US" sz="1600" dirty="0" err="1"/>
              <a:t>modèle</a:t>
            </a:r>
            <a:r>
              <a:rPr lang="en-US" sz="1600" dirty="0"/>
              <a:t> </a:t>
            </a:r>
            <a:r>
              <a:rPr lang="en-US" sz="1600" dirty="0" err="1"/>
              <a:t>où</a:t>
            </a:r>
            <a:r>
              <a:rPr lang="en-US" sz="1600" dirty="0"/>
              <a:t> </a:t>
            </a:r>
            <a:r>
              <a:rPr lang="en-US" sz="1600" dirty="0" err="1"/>
              <a:t>l’architecture</a:t>
            </a:r>
            <a:r>
              <a:rPr lang="en-US" sz="1600" dirty="0"/>
              <a:t> et le </a:t>
            </a:r>
            <a:r>
              <a:rPr lang="en-US" sz="1600" dirty="0" err="1"/>
              <a:t>développement</a:t>
            </a:r>
            <a:r>
              <a:rPr lang="en-US" sz="1600" dirty="0"/>
              <a:t> des </a:t>
            </a:r>
            <a:r>
              <a:rPr lang="en-US" sz="1600" dirty="0" err="1"/>
              <a:t>plantes</a:t>
            </a:r>
            <a:r>
              <a:rPr lang="en-US" sz="1600" dirty="0"/>
              <a:t> </a:t>
            </a:r>
            <a:r>
              <a:rPr lang="en-US" sz="1600" dirty="0" err="1"/>
              <a:t>sont</a:t>
            </a:r>
            <a:r>
              <a:rPr lang="en-US" sz="1600" dirty="0"/>
              <a:t> </a:t>
            </a:r>
            <a:r>
              <a:rPr lang="en-US" sz="1600" dirty="0" err="1"/>
              <a:t>définis</a:t>
            </a:r>
            <a:r>
              <a:rPr lang="en-US" sz="1600" dirty="0"/>
              <a:t> par des </a:t>
            </a:r>
            <a:r>
              <a:rPr lang="en-US" sz="1600" dirty="0" err="1"/>
              <a:t>paramètres</a:t>
            </a:r>
            <a:r>
              <a:rPr lang="en-US" sz="1600" dirty="0"/>
              <a:t>, et </a:t>
            </a:r>
            <a:r>
              <a:rPr lang="en-US" sz="1600" dirty="0" err="1"/>
              <a:t>où</a:t>
            </a:r>
            <a:r>
              <a:rPr lang="en-US" sz="1600" dirty="0"/>
              <a:t> la </a:t>
            </a:r>
            <a:r>
              <a:rPr lang="en-US" sz="1600" dirty="0" err="1"/>
              <a:t>croissance</a:t>
            </a:r>
            <a:r>
              <a:rPr lang="en-US" sz="1600" dirty="0"/>
              <a:t> des </a:t>
            </a:r>
            <a:r>
              <a:rPr lang="en-US" sz="1600" dirty="0" err="1"/>
              <a:t>plantes</a:t>
            </a:r>
            <a:r>
              <a:rPr lang="en-US" sz="1600" dirty="0"/>
              <a:t> </a:t>
            </a:r>
            <a:r>
              <a:rPr lang="en-US" sz="1600" dirty="0" err="1"/>
              <a:t>est</a:t>
            </a:r>
            <a:r>
              <a:rPr lang="en-US" sz="1600" dirty="0"/>
              <a:t> </a:t>
            </a:r>
            <a:r>
              <a:rPr lang="en-US" sz="1600" dirty="0" err="1"/>
              <a:t>globalement</a:t>
            </a:r>
            <a:r>
              <a:rPr lang="en-US" sz="1600" dirty="0"/>
              <a:t> </a:t>
            </a:r>
            <a:r>
              <a:rPr lang="en-US" sz="1600" dirty="0" err="1"/>
              <a:t>contrainte</a:t>
            </a:r>
            <a:r>
              <a:rPr lang="en-US" sz="1600" dirty="0"/>
              <a:t> par des </a:t>
            </a:r>
            <a:r>
              <a:rPr lang="en-US" sz="1600" dirty="0" err="1"/>
              <a:t>dynamiques</a:t>
            </a:r>
            <a:r>
              <a:rPr lang="en-US" sz="1600" dirty="0"/>
              <a:t> à </a:t>
            </a:r>
            <a:r>
              <a:rPr lang="en-US" sz="1600" dirty="0" err="1"/>
              <a:t>l’échelle</a:t>
            </a:r>
            <a:r>
              <a:rPr lang="en-US" sz="1600" dirty="0"/>
              <a:t> de la culture, </a:t>
            </a:r>
            <a:r>
              <a:rPr lang="en-US" sz="1600" dirty="0" err="1"/>
              <a:t>données</a:t>
            </a:r>
            <a:r>
              <a:rPr lang="en-US" sz="1600" dirty="0"/>
              <a:t> par des </a:t>
            </a:r>
            <a:r>
              <a:rPr lang="en-US" sz="1600" dirty="0" err="1"/>
              <a:t>modèles</a:t>
            </a:r>
            <a:r>
              <a:rPr lang="en-US" sz="1600" dirty="0"/>
              <a:t> de culture.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On </a:t>
            </a:r>
            <a:r>
              <a:rPr lang="en-US" sz="1600" dirty="0" err="1"/>
              <a:t>peut</a:t>
            </a:r>
            <a:r>
              <a:rPr lang="en-US" sz="1600" dirty="0"/>
              <a:t> </a:t>
            </a:r>
            <a:r>
              <a:rPr lang="en-US" sz="1600" dirty="0" err="1"/>
              <a:t>ajouter</a:t>
            </a:r>
            <a:r>
              <a:rPr lang="en-US" sz="1600" dirty="0"/>
              <a:t> que la </a:t>
            </a:r>
            <a:r>
              <a:rPr lang="en-US" sz="1600" dirty="0" err="1"/>
              <a:t>connaissance</a:t>
            </a:r>
            <a:r>
              <a:rPr lang="en-US" sz="1600" dirty="0"/>
              <a:t> de </a:t>
            </a:r>
            <a:r>
              <a:rPr lang="en-US" sz="1600" dirty="0" err="1"/>
              <a:t>lois</a:t>
            </a:r>
            <a:r>
              <a:rPr lang="en-US" sz="1600" dirty="0"/>
              <a:t> </a:t>
            </a:r>
            <a:r>
              <a:rPr lang="en-US" sz="1600" dirty="0" err="1"/>
              <a:t>allométriques</a:t>
            </a:r>
            <a:r>
              <a:rPr lang="en-US" sz="1600" dirty="0"/>
              <a:t> </a:t>
            </a:r>
            <a:r>
              <a:rPr lang="en-US" sz="1600" dirty="0" err="1"/>
              <a:t>permettent</a:t>
            </a:r>
            <a:r>
              <a:rPr lang="en-US" sz="1600" dirty="0"/>
              <a:t> de </a:t>
            </a:r>
            <a:r>
              <a:rPr lang="en-US" sz="1600" dirty="0" err="1"/>
              <a:t>réduire</a:t>
            </a:r>
            <a:r>
              <a:rPr lang="en-US" sz="1600" dirty="0"/>
              <a:t> le </a:t>
            </a:r>
            <a:r>
              <a:rPr lang="en-US" sz="1600" dirty="0" err="1"/>
              <a:t>nombre</a:t>
            </a:r>
            <a:r>
              <a:rPr lang="en-US" sz="1600" dirty="0"/>
              <a:t> de </a:t>
            </a:r>
            <a:r>
              <a:rPr lang="en-US" sz="1600" dirty="0" err="1"/>
              <a:t>paramètres</a:t>
            </a:r>
            <a:r>
              <a:rPr lang="en-US" sz="1600" dirty="0"/>
              <a:t> du </a:t>
            </a:r>
            <a:r>
              <a:rPr lang="en-US" sz="1600" dirty="0" err="1"/>
              <a:t>modèle</a:t>
            </a:r>
            <a:r>
              <a:rPr lang="en-US" sz="1600" dirty="0"/>
              <a:t>.</a:t>
            </a:r>
          </a:p>
          <a:p>
            <a:pPr marL="0" indent="0">
              <a:buNone/>
            </a:pPr>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12</a:t>
            </a:fld>
            <a:endParaRPr lang="en-US"/>
          </a:p>
        </p:txBody>
      </p:sp>
    </p:spTree>
    <p:extLst>
      <p:ext uri="{BB962C8B-B14F-4D97-AF65-F5344CB8AC3E}">
        <p14:creationId xmlns:p14="http://schemas.microsoft.com/office/powerpoint/2010/main" val="31783201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fr-FR" sz="1600" dirty="0"/>
              <a:t>Si on veut comparer </a:t>
            </a:r>
            <a:r>
              <a:rPr lang="fr-FR" sz="1600" dirty="0" err="1"/>
              <a:t>ArchiCrop</a:t>
            </a:r>
            <a:r>
              <a:rPr lang="fr-FR" sz="1600" dirty="0"/>
              <a:t> aux autres modèles qu’on a évoqués, on peut dire que ce n’est ni un FSPM, parce que l’architecture 3D n’émerge pas de processus puisque c’est l’architecture d’une plante potentielle qui est définie en amont de la simulation; ce n’est pas non plus purement un modèle paramétrique parce que, la croissance des plantes venant d’un modèle de culture, elle intègre indirectement les stress. </a:t>
            </a:r>
          </a:p>
          <a:p>
            <a:pPr marL="0" indent="0">
              <a:buNone/>
            </a:pPr>
            <a:r>
              <a:rPr lang="fr-FR" sz="1600" dirty="0"/>
              <a:t>On peut aussi ajouter que le fait de définir des relations entre les paramètres réduit non seulement le nombre d </a:t>
            </a:r>
            <a:r>
              <a:rPr lang="fr-FR" sz="1600" dirty="0" err="1"/>
              <a:t>eparamètres</a:t>
            </a:r>
            <a:r>
              <a:rPr lang="fr-FR" sz="1600" dirty="0"/>
              <a:t> mais aussi le nombre de mesures nécessaires pour calibrer le modèle.</a:t>
            </a:r>
            <a:endParaRPr lang="en-US" dirty="0"/>
          </a:p>
          <a:p>
            <a:pPr marL="0" indent="0">
              <a:buNone/>
            </a:pPr>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13</a:t>
            </a:fld>
            <a:endParaRPr lang="en-US"/>
          </a:p>
        </p:txBody>
      </p:sp>
    </p:spTree>
    <p:extLst>
      <p:ext uri="{BB962C8B-B14F-4D97-AF65-F5344CB8AC3E}">
        <p14:creationId xmlns:p14="http://schemas.microsoft.com/office/powerpoint/2010/main" val="31327037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Comme on a dit, l’architecture 3D des plantes et leur développement sont définis par des paramètres. </a:t>
            </a:r>
          </a:p>
          <a:p>
            <a:r>
              <a:rPr lang="fr-FR" dirty="0"/>
              <a:t>D’abord, une plante potentielle est définie, avec un nombre d’axes, de phytomères, une phyllotaxie, une certaine répartition de la longueur des feuilles le long des axes, des angles d’insertion et des courbures pour les feuilles, etc.</a:t>
            </a:r>
          </a:p>
          <a:p>
            <a:r>
              <a:rPr lang="fr-FR" dirty="0"/>
              <a:t>Ensuite, à chaque organe, donc à chaque </a:t>
            </a:r>
            <a:r>
              <a:rPr lang="fr-FR" dirty="0" err="1"/>
              <a:t>entrenoeud</a:t>
            </a:r>
            <a:r>
              <a:rPr lang="fr-FR" dirty="0"/>
              <a:t> et à chaque feuille, sont associés un temps d’apparition, en fonction du </a:t>
            </a:r>
            <a:r>
              <a:rPr lang="fr-FR" dirty="0" err="1"/>
              <a:t>phyllochrone</a:t>
            </a:r>
            <a:r>
              <a:rPr lang="fr-FR" dirty="0"/>
              <a:t> et du </a:t>
            </a:r>
            <a:r>
              <a:rPr lang="fr-FR" dirty="0" err="1"/>
              <a:t>plastochron</a:t>
            </a:r>
            <a:r>
              <a:rPr lang="fr-FR" dirty="0"/>
              <a:t>, et un temps de fin de croissance.</a:t>
            </a:r>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14</a:t>
            </a:fld>
            <a:endParaRPr lang="en-US"/>
          </a:p>
        </p:txBody>
      </p:sp>
    </p:spTree>
    <p:extLst>
      <p:ext uri="{BB962C8B-B14F-4D97-AF65-F5344CB8AC3E}">
        <p14:creationId xmlns:p14="http://schemas.microsoft.com/office/powerpoint/2010/main" val="31424799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Wingdings" panose="05000000000000000000" pitchFamily="2" charset="2"/>
              <a:buNone/>
            </a:pPr>
            <a:r>
              <a:rPr lang="fr-FR" sz="1200" dirty="0">
                <a:sym typeface="Wingdings" panose="05000000000000000000" pitchFamily="2" charset="2"/>
              </a:rPr>
              <a:t>Ensuite, il s’agira de contraindre la croissance des plantes d’une population de plantes à partir de dynamiques de croissance d’un modèle de culture. </a:t>
            </a:r>
          </a:p>
          <a:p>
            <a:pPr>
              <a:buFont typeface="Wingdings" panose="05000000000000000000" pitchFamily="2" charset="2"/>
              <a:buNone/>
            </a:pPr>
            <a:r>
              <a:rPr lang="fr-FR" sz="1200" dirty="0">
                <a:sym typeface="Wingdings" panose="05000000000000000000" pitchFamily="2" charset="2"/>
              </a:rPr>
              <a:t>On parle ici de la hauteur de la canopée et de la surface foliaire. Je vais vous expliquer avec la surface foliaire.</a:t>
            </a:r>
          </a:p>
          <a:p>
            <a:pPr>
              <a:buFont typeface="Wingdings" panose="05000000000000000000" pitchFamily="2" charset="2"/>
              <a:buNone/>
            </a:pPr>
            <a:r>
              <a:rPr lang="fr-FR" sz="1200" dirty="0">
                <a:sym typeface="Wingdings" panose="05000000000000000000" pitchFamily="2" charset="2"/>
              </a:rPr>
              <a:t>Pour tout pas de temps, la courbe du modèle de culture nous donne un incrément de surface foliaire par m², donc il va falloir distribuer cette contrainte entre les plantes de mon m² et pour chaque plante, entre les feuilles en croissance.</a:t>
            </a:r>
          </a:p>
          <a:p>
            <a:pPr>
              <a:buFont typeface="Wingdings" panose="05000000000000000000" pitchFamily="2" charset="2"/>
              <a:buNone/>
            </a:pPr>
            <a:r>
              <a:rPr lang="fr-FR" sz="1200" dirty="0">
                <a:sym typeface="Wingdings" panose="05000000000000000000" pitchFamily="2" charset="2"/>
              </a:rPr>
              <a:t>Et donc, à partir d’une courbe de LAI en fonction d’un temps pour toute la canopée, j’obtiens des courbes de croissance pour chacun des organes, qui vont refléter les stress qu’a pu subir la plante à différent instants de son développement.</a:t>
            </a:r>
            <a:endParaRPr lang="en-US" sz="1200" dirty="0">
              <a:sym typeface="Wingdings" panose="05000000000000000000" pitchFamily="2" charset="2"/>
            </a:endParaRPr>
          </a:p>
        </p:txBody>
      </p:sp>
      <p:sp>
        <p:nvSpPr>
          <p:cNvPr id="4" name="Slide Number Placeholder 3"/>
          <p:cNvSpPr>
            <a:spLocks noGrp="1"/>
          </p:cNvSpPr>
          <p:nvPr>
            <p:ph type="sldNum" sz="quarter" idx="5"/>
          </p:nvPr>
        </p:nvSpPr>
        <p:spPr/>
        <p:txBody>
          <a:bodyPr/>
          <a:lstStyle/>
          <a:p>
            <a:fld id="{A9A0A799-F059-4133-8369-1F74AA1BF689}" type="slidenum">
              <a:rPr lang="en-US" smtClean="0"/>
              <a:t>15</a:t>
            </a:fld>
            <a:endParaRPr lang="en-US"/>
          </a:p>
        </p:txBody>
      </p:sp>
    </p:spTree>
    <p:extLst>
      <p:ext uri="{BB962C8B-B14F-4D97-AF65-F5344CB8AC3E}">
        <p14:creationId xmlns:p14="http://schemas.microsoft.com/office/powerpoint/2010/main" val="4332399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err="1"/>
              <a:t>ArchiCrop</a:t>
            </a:r>
            <a:r>
              <a:rPr lang="fr-FR" dirty="0"/>
              <a:t> permet donc de prendre en compte différents niveaux d’hétérogénéité des cultures associées : une hétérogénéité </a:t>
            </a:r>
            <a:r>
              <a:rPr lang="fr-FR" dirty="0" err="1"/>
              <a:t>inter-spécifique</a:t>
            </a:r>
            <a:r>
              <a:rPr lang="fr-FR" dirty="0"/>
              <a:t>, en considérant un schéma de semis explicite, en rangées ou en damier par exemple ; une hétérogénéité </a:t>
            </a:r>
            <a:r>
              <a:rPr lang="fr-FR" dirty="0" err="1"/>
              <a:t>intra-spécifique</a:t>
            </a:r>
            <a:r>
              <a:rPr lang="fr-FR" dirty="0"/>
              <a:t>, parce qu’on pourrait aussi représenter explicitement des mélanges variétaux ; et une hétérogénéité entre les différents organes d’une même plante. </a:t>
            </a:r>
          </a:p>
        </p:txBody>
      </p:sp>
      <p:sp>
        <p:nvSpPr>
          <p:cNvPr id="4" name="Slide Number Placeholder 3"/>
          <p:cNvSpPr>
            <a:spLocks noGrp="1"/>
          </p:cNvSpPr>
          <p:nvPr>
            <p:ph type="sldNum" sz="quarter" idx="5"/>
          </p:nvPr>
        </p:nvSpPr>
        <p:spPr/>
        <p:txBody>
          <a:bodyPr/>
          <a:lstStyle/>
          <a:p>
            <a:fld id="{A9A0A799-F059-4133-8369-1F74AA1BF689}" type="slidenum">
              <a:rPr lang="en-US" smtClean="0"/>
              <a:t>16</a:t>
            </a:fld>
            <a:endParaRPr lang="en-US"/>
          </a:p>
        </p:txBody>
      </p:sp>
    </p:spTree>
    <p:extLst>
      <p:ext uri="{BB962C8B-B14F-4D97-AF65-F5344CB8AC3E}">
        <p14:creationId xmlns:p14="http://schemas.microsoft.com/office/powerpoint/2010/main" val="14292569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Un premier résultat avec </a:t>
            </a:r>
            <a:r>
              <a:rPr lang="fr-FR" dirty="0" err="1"/>
              <a:t>ArchiCrop</a:t>
            </a:r>
            <a:r>
              <a:rPr lang="fr-FR" dirty="0"/>
              <a:t>, c’est d’être capable d’explorer l’espace morphologique d’une espèce donnée au cours d’un cycle de croissance, étant données des conditions environnementales et des pratiques agricoles en entrées du modèle de culture. </a:t>
            </a:r>
          </a:p>
          <a:p>
            <a:r>
              <a:rPr lang="fr-FR" dirty="0"/>
              <a:t>Quand on génère les plantes potentielles, on peut faire varier des paramètres architecturaux comme les nombre de phytomères, la longueur de la plus grande feuille, le ratio longueur-largeur des feuilles, la phyllotaxie, l’angle d’insertion et la courbure des feuilles. </a:t>
            </a:r>
          </a:p>
          <a:p>
            <a:r>
              <a:rPr lang="fr-FR" dirty="0"/>
              <a:t>J’ai mis un exemple pour les courbure des feuilles. </a:t>
            </a:r>
          </a:p>
          <a:p>
            <a:r>
              <a:rPr lang="fr-FR" dirty="0"/>
              <a:t>Certains paramètres auront un impact sur la répartition de la contrainte par le modèle de culture (les 3 premiers), et on s’attachera dans le chapitre 2 à identifier les paramètres qui ont un impact sur les processus.</a:t>
            </a:r>
          </a:p>
        </p:txBody>
      </p:sp>
      <p:sp>
        <p:nvSpPr>
          <p:cNvPr id="4" name="Slide Number Placeholder 3"/>
          <p:cNvSpPr>
            <a:spLocks noGrp="1"/>
          </p:cNvSpPr>
          <p:nvPr>
            <p:ph type="sldNum" sz="quarter" idx="5"/>
          </p:nvPr>
        </p:nvSpPr>
        <p:spPr/>
        <p:txBody>
          <a:bodyPr/>
          <a:lstStyle/>
          <a:p>
            <a:fld id="{A9A0A799-F059-4133-8369-1F74AA1BF689}" type="slidenum">
              <a:rPr lang="en-US" smtClean="0"/>
              <a:t>17</a:t>
            </a:fld>
            <a:endParaRPr lang="en-US"/>
          </a:p>
        </p:txBody>
      </p:sp>
    </p:spTree>
    <p:extLst>
      <p:ext uri="{BB962C8B-B14F-4D97-AF65-F5344CB8AC3E}">
        <p14:creationId xmlns:p14="http://schemas.microsoft.com/office/powerpoint/2010/main" val="13759121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Voici un workflow de simulation dont on se servira dans le chapitre 2.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A partir d’une simulation avec un modèle de culture, ici on utilisera STICS, on obtient des dynamiques de croissance pour la hauteur et la surface foliaire de la canopée, qu’on donne à </a:t>
            </a:r>
            <a:r>
              <a:rPr lang="fr-FR" dirty="0" err="1"/>
              <a:t>ArchiCrop</a:t>
            </a:r>
            <a:r>
              <a:rPr lang="fr-FR"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En parallèle, </a:t>
            </a:r>
            <a:r>
              <a:rPr lang="fr-FR" dirty="0" err="1"/>
              <a:t>ArchiCrop</a:t>
            </a:r>
            <a:r>
              <a:rPr lang="fr-FR" dirty="0"/>
              <a:t> génère une plante potentielle pour chaque combinaison de paramètres architecturaux pour chaque espèce.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Etant donnée une configuration spatiale explicite des plantes dans la scène, </a:t>
            </a:r>
            <a:r>
              <a:rPr lang="fr-FR" dirty="0" err="1"/>
              <a:t>ArchiCrop</a:t>
            </a:r>
            <a:r>
              <a:rPr lang="fr-FR" dirty="0"/>
              <a:t> va faire croître les plantes en suivant exactement les dynamiques de STICS pour la canopée.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On obtient donc autant de scènes 3D dynamiques qu’on a de possibilités dans notre design expérimental.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18</a:t>
            </a:fld>
            <a:endParaRPr lang="en-US"/>
          </a:p>
        </p:txBody>
      </p:sp>
    </p:spTree>
    <p:extLst>
      <p:ext uri="{BB962C8B-B14F-4D97-AF65-F5344CB8AC3E}">
        <p14:creationId xmlns:p14="http://schemas.microsoft.com/office/powerpoint/2010/main" val="41713635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Ensuite, on peut calculer au cours du temps des processus à l’échelle de l’organe.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Pour l’interception de la lumière par exemple, on utilise le modèle de lumière </a:t>
            </a:r>
            <a:r>
              <a:rPr lang="fr-FR" dirty="0" err="1"/>
              <a:t>Caribu</a:t>
            </a:r>
            <a:r>
              <a:rPr lang="fr-FR" dirty="0"/>
              <a:t> pour les scènes 3D, qui est dans </a:t>
            </a:r>
            <a:r>
              <a:rPr lang="fr-FR" dirty="0" err="1"/>
              <a:t>OpenAlea</a:t>
            </a:r>
            <a:r>
              <a:rPr lang="fr-FR" dirty="0"/>
              <a:t>. </a:t>
            </a:r>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19</a:t>
            </a:fld>
            <a:endParaRPr lang="en-US"/>
          </a:p>
        </p:txBody>
      </p:sp>
    </p:spTree>
    <p:extLst>
      <p:ext uri="{BB962C8B-B14F-4D97-AF65-F5344CB8AC3E}">
        <p14:creationId xmlns:p14="http://schemas.microsoft.com/office/powerpoint/2010/main" val="42055525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Et enfin on peut analyser l’incertitude dans le modèle d’interception de la lumière STICS (une loi de Beer-Lambert) associée aux traits architecturaux des plantes et à la configuration spatiale explicite.</a:t>
            </a:r>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20</a:t>
            </a:fld>
            <a:endParaRPr lang="en-US"/>
          </a:p>
        </p:txBody>
      </p:sp>
    </p:spTree>
    <p:extLst>
      <p:ext uri="{BB962C8B-B14F-4D97-AF65-F5344CB8AC3E}">
        <p14:creationId xmlns:p14="http://schemas.microsoft.com/office/powerpoint/2010/main" val="38665572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Voici des résultats préliminaires que j’ai obtenus pour la comparaison de la lumière interceptée au cours du temps par une monoculture de sorgho calculée avec STICS et avec </a:t>
            </a:r>
            <a:r>
              <a:rPr lang="fr-FR" dirty="0" err="1"/>
              <a:t>Caribu</a:t>
            </a:r>
            <a:r>
              <a:rPr lang="fr-FR" dirty="0"/>
              <a:t> sur des morphotypes générés avec </a:t>
            </a:r>
            <a:r>
              <a:rPr lang="fr-FR" dirty="0" err="1"/>
              <a:t>ArchiCrop</a:t>
            </a:r>
            <a:r>
              <a:rPr lang="fr-FR" dirty="0"/>
              <a:t>. </a:t>
            </a:r>
          </a:p>
          <a:p>
            <a:r>
              <a:rPr lang="fr-FR" dirty="0"/>
              <a:t>J’ai fait varier l’angle d’insertion des feuilles, la courbure des feuilles et la phyllotaxie.</a:t>
            </a:r>
          </a:p>
          <a:p>
            <a:r>
              <a:rPr lang="fr-FR" dirty="0"/>
              <a:t>J’obtiens la figure de droite, avec en noir la courbe de </a:t>
            </a:r>
            <a:r>
              <a:rPr lang="en-US" dirty="0"/>
              <a:t>PAR </a:t>
            </a:r>
            <a:r>
              <a:rPr lang="en-US" dirty="0" err="1"/>
              <a:t>intercepté</a:t>
            </a:r>
            <a:r>
              <a:rPr lang="en-US" dirty="0"/>
              <a:t> </a:t>
            </a:r>
            <a:r>
              <a:rPr lang="en-US" dirty="0" err="1"/>
              <a:t>calculé</a:t>
            </a:r>
            <a:r>
              <a:rPr lang="en-US" dirty="0"/>
              <a:t> par STICS, et le </a:t>
            </a:r>
            <a:r>
              <a:rPr lang="en-US" dirty="0" err="1"/>
              <a:t>reste</a:t>
            </a:r>
            <a:r>
              <a:rPr lang="en-US" dirty="0"/>
              <a:t> correspond au simulations 3D.</a:t>
            </a:r>
          </a:p>
          <a:p>
            <a:r>
              <a:rPr lang="fr-FR" dirty="0"/>
              <a:t>O</a:t>
            </a:r>
            <a:r>
              <a:rPr lang="en-US" dirty="0"/>
              <a:t>n </a:t>
            </a:r>
            <a:r>
              <a:rPr lang="en-US" dirty="0" err="1"/>
              <a:t>voit</a:t>
            </a:r>
            <a:r>
              <a:rPr lang="en-US" dirty="0"/>
              <a:t> que sur le début de la </a:t>
            </a:r>
            <a:r>
              <a:rPr lang="en-US" dirty="0" err="1"/>
              <a:t>croissance</a:t>
            </a:r>
            <a:r>
              <a:rPr lang="en-US" dirty="0"/>
              <a:t> on a un </a:t>
            </a:r>
            <a:r>
              <a:rPr lang="en-US" dirty="0" err="1"/>
              <a:t>gros</a:t>
            </a:r>
            <a:r>
              <a:rPr lang="en-US" dirty="0"/>
              <a:t> decalage, on </a:t>
            </a:r>
            <a:r>
              <a:rPr lang="en-US" dirty="0" err="1"/>
              <a:t>sait</a:t>
            </a:r>
            <a:r>
              <a:rPr lang="en-US" dirty="0"/>
              <a:t> pas encore </a:t>
            </a:r>
            <a:r>
              <a:rPr lang="en-US" dirty="0" err="1"/>
              <a:t>d’où</a:t>
            </a:r>
            <a:r>
              <a:rPr lang="en-US" dirty="0"/>
              <a:t> </a:t>
            </a:r>
            <a:r>
              <a:rPr lang="en-US" dirty="0" err="1"/>
              <a:t>ça</a:t>
            </a:r>
            <a:r>
              <a:rPr lang="en-US" dirty="0"/>
              <a:t> </a:t>
            </a:r>
            <a:r>
              <a:rPr lang="en-US" dirty="0" err="1"/>
              <a:t>vient</a:t>
            </a:r>
            <a:r>
              <a:rPr lang="en-US" dirty="0"/>
              <a:t> </a:t>
            </a:r>
            <a:r>
              <a:rPr lang="en-US" dirty="0" err="1"/>
              <a:t>exactement</a:t>
            </a:r>
            <a:r>
              <a:rPr lang="en-US" dirty="0"/>
              <a:t>. </a:t>
            </a:r>
          </a:p>
          <a:p>
            <a:r>
              <a:rPr lang="fr-FR" dirty="0"/>
              <a:t>E</a:t>
            </a:r>
            <a:r>
              <a:rPr lang="en-US" dirty="0"/>
              <a:t>t </a:t>
            </a:r>
            <a:r>
              <a:rPr lang="en-US" dirty="0" err="1"/>
              <a:t>ensuite</a:t>
            </a:r>
            <a:r>
              <a:rPr lang="en-US" dirty="0"/>
              <a:t> on a des </a:t>
            </a:r>
            <a:r>
              <a:rPr lang="en-US" dirty="0" err="1"/>
              <a:t>valeurs</a:t>
            </a:r>
            <a:r>
              <a:rPr lang="en-US" dirty="0"/>
              <a:t> déjà plus </a:t>
            </a:r>
            <a:r>
              <a:rPr lang="en-US" dirty="0" err="1"/>
              <a:t>comparables</a:t>
            </a:r>
            <a:r>
              <a:rPr lang="en-US" dirty="0"/>
              <a:t>, </a:t>
            </a:r>
            <a:r>
              <a:rPr lang="en-US" dirty="0" err="1"/>
              <a:t>mais</a:t>
            </a:r>
            <a:r>
              <a:rPr lang="en-US" dirty="0"/>
              <a:t> on note </a:t>
            </a:r>
            <a:r>
              <a:rPr lang="en-US" dirty="0" err="1"/>
              <a:t>une</a:t>
            </a:r>
            <a:r>
              <a:rPr lang="en-US" dirty="0"/>
              <a:t> forte </a:t>
            </a:r>
            <a:r>
              <a:rPr lang="en-US" dirty="0" err="1"/>
              <a:t>variabilité</a:t>
            </a:r>
            <a:r>
              <a:rPr lang="en-US" dirty="0"/>
              <a:t> du PAR </a:t>
            </a:r>
            <a:r>
              <a:rPr lang="en-US" dirty="0" err="1"/>
              <a:t>intercepté</a:t>
            </a:r>
            <a:r>
              <a:rPr lang="en-US" dirty="0"/>
              <a:t> </a:t>
            </a:r>
            <a:r>
              <a:rPr lang="en-US" dirty="0" err="1"/>
              <a:t>en</a:t>
            </a:r>
            <a:r>
              <a:rPr lang="en-US" dirty="0"/>
              <a:t> function des </a:t>
            </a:r>
            <a:r>
              <a:rPr lang="en-US" dirty="0" err="1"/>
              <a:t>paramètres</a:t>
            </a:r>
            <a:r>
              <a:rPr lang="en-US" dirty="0"/>
              <a:t> </a:t>
            </a:r>
            <a:r>
              <a:rPr lang="en-US" dirty="0" err="1"/>
              <a:t>architecturaux</a:t>
            </a:r>
            <a:r>
              <a:rPr lang="en-US" dirty="0"/>
              <a:t> </a:t>
            </a:r>
            <a:r>
              <a:rPr lang="en-US" dirty="0" err="1"/>
              <a:t>qu’on</a:t>
            </a:r>
            <a:r>
              <a:rPr lang="en-US" dirty="0"/>
              <a:t> a fait </a:t>
            </a:r>
            <a:r>
              <a:rPr lang="en-US" dirty="0" err="1"/>
              <a:t>varier</a:t>
            </a:r>
            <a:r>
              <a:rPr lang="en-US" dirty="0"/>
              <a:t>.</a:t>
            </a:r>
          </a:p>
        </p:txBody>
      </p:sp>
      <p:sp>
        <p:nvSpPr>
          <p:cNvPr id="4" name="Slide Number Placeholder 3"/>
          <p:cNvSpPr>
            <a:spLocks noGrp="1"/>
          </p:cNvSpPr>
          <p:nvPr>
            <p:ph type="sldNum" sz="quarter" idx="5"/>
          </p:nvPr>
        </p:nvSpPr>
        <p:spPr/>
        <p:txBody>
          <a:bodyPr/>
          <a:lstStyle/>
          <a:p>
            <a:fld id="{A9A0A799-F059-4133-8369-1F74AA1BF689}" type="slidenum">
              <a:rPr lang="en-US" smtClean="0"/>
              <a:t>21</a:t>
            </a:fld>
            <a:endParaRPr lang="en-US"/>
          </a:p>
        </p:txBody>
      </p:sp>
    </p:spTree>
    <p:extLst>
      <p:ext uri="{BB962C8B-B14F-4D97-AF65-F5344CB8AC3E}">
        <p14:creationId xmlns:p14="http://schemas.microsoft.com/office/powerpoint/2010/main" val="19842908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Pour le premier article qu’on va publier, et qui portera sur le modèle </a:t>
            </a:r>
            <a:r>
              <a:rPr lang="fr-FR" dirty="0" err="1"/>
              <a:t>ArchiCrop</a:t>
            </a:r>
            <a:r>
              <a:rPr lang="fr-FR" dirty="0"/>
              <a:t>, on aimerait montrer des possibles utilisations du modèle.</a:t>
            </a:r>
          </a:p>
          <a:p>
            <a:r>
              <a:rPr lang="fr-FR" dirty="0"/>
              <a:t>On va commencer avec des simulations en monoculture, en regardant les différences de lumière interceptée au cours du temps en fonction des paramètres architecturaux, et les différences de dynamiques de croissances des organes en cas de stress.</a:t>
            </a:r>
          </a:p>
          <a:p>
            <a:r>
              <a:rPr lang="fr-FR" dirty="0"/>
              <a:t>Ensuite, pour des cultures associées de céréales, on va aussi regarder les différences de lumière interceptée au cours du temps en fonction des paramètres architecturaux mais aussi des configurations spatiales, et on va analyser l’influence de ces paramètres sur l’interception de la lumière.</a:t>
            </a:r>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22</a:t>
            </a:fld>
            <a:endParaRPr lang="en-US"/>
          </a:p>
        </p:txBody>
      </p:sp>
    </p:spTree>
    <p:extLst>
      <p:ext uri="{BB962C8B-B14F-4D97-AF65-F5344CB8AC3E}">
        <p14:creationId xmlns:p14="http://schemas.microsoft.com/office/powerpoint/2010/main" val="38006702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23</a:t>
            </a:fld>
            <a:endParaRPr lang="en-US"/>
          </a:p>
        </p:txBody>
      </p:sp>
    </p:spTree>
    <p:extLst>
      <p:ext uri="{BB962C8B-B14F-4D97-AF65-F5344CB8AC3E}">
        <p14:creationId xmlns:p14="http://schemas.microsoft.com/office/powerpoint/2010/main" val="33514180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p:cNvSpPr>
            <a:spLocks noGrp="1"/>
          </p:cNvSpPr>
          <p:nvPr>
            <p:ph type="dt" sz="half" idx="10"/>
          </p:nvPr>
        </p:nvSpPr>
        <p:spPr/>
        <p:txBody>
          <a:bodyPr/>
          <a:lstStyle/>
          <a:p>
            <a:fld id="{0C939681-64E9-4ED9-A4D7-2B0751918A9B}" type="datetime1">
              <a:rPr lang="fr-FR" smtClean="0"/>
              <a:t>19/11/2024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3310491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8811C267-FB5B-4DB2-8120-94FB1295D495}" type="datetime1">
              <a:rPr lang="fr-FR" smtClean="0"/>
              <a:t>19/11/2024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3841795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8BEDAEE3-F550-4433-89BF-DB1C91B4E694}" type="datetime1">
              <a:rPr lang="fr-FR" smtClean="0"/>
              <a:t>19/11/2024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3466923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875EFE55-6C38-4F83-92CA-E17D1080EAD0}" type="datetime1">
              <a:rPr lang="fr-FR" smtClean="0"/>
              <a:t>19/11/2024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3747632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C24B4F1F-1D19-4EA3-900F-F158BF65E775}" type="datetime1">
              <a:rPr lang="fr-FR" smtClean="0"/>
              <a:t>19/11/2024</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2611866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9347C87F-7D11-4D7B-B186-AEDF7BACC549}" type="datetime1">
              <a:rPr lang="fr-FR" smtClean="0"/>
              <a:t>19/11/2024</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3395854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30B461FB-6D13-494D-89E1-4530981B7536}" type="datetime1">
              <a:rPr lang="fr-FR" smtClean="0"/>
              <a:t>19/11/2024</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4040201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D2CEF9DF-4A39-43ED-BE68-EB63D76CFF37}" type="datetime1">
              <a:rPr lang="fr-FR" smtClean="0"/>
              <a:t>19/11/2024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2706407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12BA0CB7-2A57-4841-B602-02CB78CDF575}" type="datetime1">
              <a:rPr lang="fr-FR" smtClean="0"/>
              <a:t>19/11/2024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1610903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188FBEE-F816-42FF-9376-FE7E35860987}" type="datetime1">
              <a:rPr lang="fr-FR" smtClean="0"/>
              <a:t>19/11/2024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4172787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174ABB49-665E-4EE2-8EBF-FE4A452697D3}" type="datetime1">
              <a:rPr lang="fr-FR" smtClean="0"/>
              <a:t>19/11/2024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1902177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72661C0-4019-4DF0-85FA-478C82BAF507}" type="datetime1">
              <a:rPr lang="fr-FR" smtClean="0"/>
              <a:t>19/11/2024</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C6CCC6-2BE5-4E42-96A4-D1E8E81A3D8E}" type="slidenum">
              <a:rPr lang="fr-FR" smtClean="0"/>
              <a:t>‹#›</a:t>
            </a:fld>
            <a:endParaRPr lang="fr-FR"/>
          </a:p>
        </p:txBody>
      </p:sp>
    </p:spTree>
    <p:extLst>
      <p:ext uri="{BB962C8B-B14F-4D97-AF65-F5344CB8AC3E}">
        <p14:creationId xmlns:p14="http://schemas.microsoft.com/office/powerpoint/2010/main" val="3071127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sv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s>
</file>

<file path=ppt/slides/_rels/slide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2.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5" Type="http://schemas.openxmlformats.org/officeDocument/2006/relationships/image" Target="../media/image3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 Id="rId1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9.sv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38.PNG"/><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36.png"/><Relationship Id="rId7"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0.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36.png"/><Relationship Id="rId7"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 9" descr="Une image contenant logo, symbole, Police, Emblème&#10;&#10;Description générée automatiquement">
            <a:extLst>
              <a:ext uri="{FF2B5EF4-FFF2-40B4-BE49-F238E27FC236}">
                <a16:creationId xmlns:a16="http://schemas.microsoft.com/office/drawing/2014/main" id="{0F1B57BE-99A8-48AD-010D-6FDB4CE832E8}"/>
              </a:ext>
            </a:extLst>
          </p:cNvPr>
          <p:cNvPicPr>
            <a:picLocks noChangeAspect="1"/>
          </p:cNvPicPr>
          <p:nvPr/>
        </p:nvPicPr>
        <p:blipFill>
          <a:blip r:embed="rId3"/>
          <a:stretch>
            <a:fillRect/>
          </a:stretch>
        </p:blipFill>
        <p:spPr>
          <a:xfrm>
            <a:off x="9082544" y="456175"/>
            <a:ext cx="1093934" cy="1067083"/>
          </a:xfrm>
          <a:prstGeom prst="rect">
            <a:avLst/>
          </a:prstGeom>
        </p:spPr>
      </p:pic>
      <p:pic>
        <p:nvPicPr>
          <p:cNvPr id="6" name="Image 5" descr="Une image contenant texte, carte de visite, Police, logo&#10;&#10;Description générée automatiquement">
            <a:extLst>
              <a:ext uri="{FF2B5EF4-FFF2-40B4-BE49-F238E27FC236}">
                <a16:creationId xmlns:a16="http://schemas.microsoft.com/office/drawing/2014/main" id="{B0D4802D-A0F6-21D4-F02E-232C0B454AF4}"/>
              </a:ext>
            </a:extLst>
          </p:cNvPr>
          <p:cNvPicPr>
            <a:picLocks noChangeAspect="1"/>
          </p:cNvPicPr>
          <p:nvPr/>
        </p:nvPicPr>
        <p:blipFill>
          <a:blip r:embed="rId4"/>
          <a:stretch>
            <a:fillRect/>
          </a:stretch>
        </p:blipFill>
        <p:spPr>
          <a:xfrm>
            <a:off x="3109457" y="322058"/>
            <a:ext cx="1607220" cy="594037"/>
          </a:xfrm>
          <a:prstGeom prst="rect">
            <a:avLst/>
          </a:prstGeom>
        </p:spPr>
      </p:pic>
      <p:pic>
        <p:nvPicPr>
          <p:cNvPr id="7" name="Image 6" descr="Une image contenant Graphique, Police, logo, graphisme&#10;&#10;Description générée automatiquement">
            <a:extLst>
              <a:ext uri="{FF2B5EF4-FFF2-40B4-BE49-F238E27FC236}">
                <a16:creationId xmlns:a16="http://schemas.microsoft.com/office/drawing/2014/main" id="{2C611E11-5370-269F-3DB1-E099559E6973}"/>
              </a:ext>
            </a:extLst>
          </p:cNvPr>
          <p:cNvPicPr>
            <a:picLocks noChangeAspect="1"/>
          </p:cNvPicPr>
          <p:nvPr/>
        </p:nvPicPr>
        <p:blipFill rotWithShape="1">
          <a:blip r:embed="rId5"/>
          <a:srcRect t="2513" b="13491"/>
          <a:stretch/>
        </p:blipFill>
        <p:spPr>
          <a:xfrm>
            <a:off x="1524000" y="710539"/>
            <a:ext cx="1116005" cy="680929"/>
          </a:xfrm>
          <a:prstGeom prst="rect">
            <a:avLst/>
          </a:prstGeom>
        </p:spPr>
      </p:pic>
      <p:pic>
        <p:nvPicPr>
          <p:cNvPr id="8" name="Image 7" descr="Une image contenant texte, Graphique, graphisme, Police&#10;&#10;Description générée automatiquement">
            <a:extLst>
              <a:ext uri="{FF2B5EF4-FFF2-40B4-BE49-F238E27FC236}">
                <a16:creationId xmlns:a16="http://schemas.microsoft.com/office/drawing/2014/main" id="{96F5D487-E42A-F7DE-BE10-EDFC98D09473}"/>
              </a:ext>
            </a:extLst>
          </p:cNvPr>
          <p:cNvPicPr>
            <a:picLocks noChangeAspect="1"/>
          </p:cNvPicPr>
          <p:nvPr/>
        </p:nvPicPr>
        <p:blipFill>
          <a:blip r:embed="rId6"/>
          <a:stretch>
            <a:fillRect/>
          </a:stretch>
        </p:blipFill>
        <p:spPr>
          <a:xfrm>
            <a:off x="252992" y="208448"/>
            <a:ext cx="1093933" cy="1390736"/>
          </a:xfrm>
          <a:prstGeom prst="rect">
            <a:avLst/>
          </a:prstGeom>
        </p:spPr>
      </p:pic>
      <p:pic>
        <p:nvPicPr>
          <p:cNvPr id="9" name="Image 8" descr="Une image contenant Police, conception&#10;&#10;Description générée automatiquement">
            <a:extLst>
              <a:ext uri="{FF2B5EF4-FFF2-40B4-BE49-F238E27FC236}">
                <a16:creationId xmlns:a16="http://schemas.microsoft.com/office/drawing/2014/main" id="{5F1243C7-D429-C54F-9B84-E9D41BDAA7F1}"/>
              </a:ext>
            </a:extLst>
          </p:cNvPr>
          <p:cNvPicPr>
            <a:picLocks noChangeAspect="1"/>
          </p:cNvPicPr>
          <p:nvPr/>
        </p:nvPicPr>
        <p:blipFill>
          <a:blip r:embed="rId7"/>
          <a:stretch>
            <a:fillRect/>
          </a:stretch>
        </p:blipFill>
        <p:spPr>
          <a:xfrm>
            <a:off x="3109457" y="1096647"/>
            <a:ext cx="1604321" cy="605305"/>
          </a:xfrm>
          <a:prstGeom prst="rect">
            <a:avLst/>
          </a:prstGeom>
        </p:spPr>
      </p:pic>
      <p:pic>
        <p:nvPicPr>
          <p:cNvPr id="11" name="Image 10" descr="Une image contenant Police, Graphique, logo, graphisme&#10;&#10;Description générée automatiquement">
            <a:extLst>
              <a:ext uri="{FF2B5EF4-FFF2-40B4-BE49-F238E27FC236}">
                <a16:creationId xmlns:a16="http://schemas.microsoft.com/office/drawing/2014/main" id="{A47608B0-681C-A56E-F79B-2FFE5460102D}"/>
              </a:ext>
            </a:extLst>
          </p:cNvPr>
          <p:cNvPicPr>
            <a:picLocks noChangeAspect="1"/>
          </p:cNvPicPr>
          <p:nvPr/>
        </p:nvPicPr>
        <p:blipFill>
          <a:blip r:embed="rId8"/>
          <a:stretch>
            <a:fillRect/>
          </a:stretch>
        </p:blipFill>
        <p:spPr>
          <a:xfrm>
            <a:off x="10176478" y="250769"/>
            <a:ext cx="1383093" cy="459770"/>
          </a:xfrm>
          <a:prstGeom prst="rect">
            <a:avLst/>
          </a:prstGeom>
        </p:spPr>
      </p:pic>
      <p:pic>
        <p:nvPicPr>
          <p:cNvPr id="12" name="Image 11" descr="Une image contenant Police, Graphique, logo, texte&#10;&#10;Description générée automatiquement">
            <a:extLst>
              <a:ext uri="{FF2B5EF4-FFF2-40B4-BE49-F238E27FC236}">
                <a16:creationId xmlns:a16="http://schemas.microsoft.com/office/drawing/2014/main" id="{2E1F5487-2075-59F9-6D9C-B0224E931D53}"/>
              </a:ext>
            </a:extLst>
          </p:cNvPr>
          <p:cNvPicPr>
            <a:picLocks noChangeAspect="1"/>
          </p:cNvPicPr>
          <p:nvPr/>
        </p:nvPicPr>
        <p:blipFill>
          <a:blip r:embed="rId9"/>
          <a:stretch>
            <a:fillRect/>
          </a:stretch>
        </p:blipFill>
        <p:spPr>
          <a:xfrm>
            <a:off x="10322973" y="989717"/>
            <a:ext cx="1093935" cy="646111"/>
          </a:xfrm>
          <a:prstGeom prst="rect">
            <a:avLst/>
          </a:prstGeom>
        </p:spPr>
      </p:pic>
      <p:sp>
        <p:nvSpPr>
          <p:cNvPr id="13" name="Slide Number Placeholder 12">
            <a:extLst>
              <a:ext uri="{FF2B5EF4-FFF2-40B4-BE49-F238E27FC236}">
                <a16:creationId xmlns:a16="http://schemas.microsoft.com/office/drawing/2014/main" id="{35E9855F-9014-4E80-8C9B-4990DDDC83AA}"/>
              </a:ext>
            </a:extLst>
          </p:cNvPr>
          <p:cNvSpPr>
            <a:spLocks noGrp="1"/>
          </p:cNvSpPr>
          <p:nvPr>
            <p:ph type="sldNum" sz="quarter" idx="12"/>
          </p:nvPr>
        </p:nvSpPr>
        <p:spPr/>
        <p:txBody>
          <a:bodyPr/>
          <a:lstStyle/>
          <a:p>
            <a:fld id="{27C6CCC6-2BE5-4E42-96A4-D1E8E81A3D8E}" type="slidenum">
              <a:rPr lang="fr-FR" smtClean="0"/>
              <a:t>1</a:t>
            </a:fld>
            <a:endParaRPr lang="fr-FR" dirty="0"/>
          </a:p>
        </p:txBody>
      </p:sp>
      <p:sp>
        <p:nvSpPr>
          <p:cNvPr id="14" name="Subtitle 2">
            <a:extLst>
              <a:ext uri="{FF2B5EF4-FFF2-40B4-BE49-F238E27FC236}">
                <a16:creationId xmlns:a16="http://schemas.microsoft.com/office/drawing/2014/main" id="{A1BA3DBA-6C16-4E88-92C7-4138DA237B8E}"/>
              </a:ext>
            </a:extLst>
          </p:cNvPr>
          <p:cNvSpPr txBox="1">
            <a:spLocks/>
          </p:cNvSpPr>
          <p:nvPr/>
        </p:nvSpPr>
        <p:spPr>
          <a:xfrm>
            <a:off x="7361010" y="5667088"/>
            <a:ext cx="2154314" cy="96816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Marc Jaeger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Myriam Adam</a:t>
            </a:r>
          </a:p>
        </p:txBody>
      </p:sp>
      <p:sp>
        <p:nvSpPr>
          <p:cNvPr id="15" name="Subtitle 2">
            <a:extLst>
              <a:ext uri="{FF2B5EF4-FFF2-40B4-BE49-F238E27FC236}">
                <a16:creationId xmlns:a16="http://schemas.microsoft.com/office/drawing/2014/main" id="{762FB373-E77D-43AB-A634-BF3086140BF2}"/>
              </a:ext>
            </a:extLst>
          </p:cNvPr>
          <p:cNvSpPr txBox="1">
            <a:spLocks/>
          </p:cNvSpPr>
          <p:nvPr/>
        </p:nvSpPr>
        <p:spPr>
          <a:xfrm>
            <a:off x="9350543" y="5438080"/>
            <a:ext cx="2503503" cy="1444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Christophe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Pradal</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Remi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Vezy</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Thomas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Arsouze</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ubtitle 2">
            <a:extLst>
              <a:ext uri="{FF2B5EF4-FFF2-40B4-BE49-F238E27FC236}">
                <a16:creationId xmlns:a16="http://schemas.microsoft.com/office/drawing/2014/main" id="{49B05722-4E54-40CA-8F79-173593400762}"/>
              </a:ext>
            </a:extLst>
          </p:cNvPr>
          <p:cNvSpPr txBox="1">
            <a:spLocks/>
          </p:cNvSpPr>
          <p:nvPr/>
        </p:nvSpPr>
        <p:spPr>
          <a:xfrm>
            <a:off x="5292099" y="5860263"/>
            <a:ext cx="1441823" cy="44426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1"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Supervision</a:t>
            </a:r>
          </a:p>
        </p:txBody>
      </p:sp>
      <p:cxnSp>
        <p:nvCxnSpPr>
          <p:cNvPr id="19" name="Straight Connector 18">
            <a:extLst>
              <a:ext uri="{FF2B5EF4-FFF2-40B4-BE49-F238E27FC236}">
                <a16:creationId xmlns:a16="http://schemas.microsoft.com/office/drawing/2014/main" id="{2D1A87D7-C5FD-4508-B8AA-0BF51605773C}"/>
              </a:ext>
            </a:extLst>
          </p:cNvPr>
          <p:cNvCxnSpPr>
            <a:cxnSpLocks/>
          </p:cNvCxnSpPr>
          <p:nvPr/>
        </p:nvCxnSpPr>
        <p:spPr>
          <a:xfrm>
            <a:off x="7038359" y="5486402"/>
            <a:ext cx="0" cy="1088558"/>
          </a:xfrm>
          <a:prstGeom prst="line">
            <a:avLst/>
          </a:prstGeom>
          <a:ln>
            <a:solidFill>
              <a:schemeClr val="accent3"/>
            </a:solidFill>
          </a:ln>
        </p:spPr>
        <p:style>
          <a:lnRef idx="1">
            <a:schemeClr val="dk1"/>
          </a:lnRef>
          <a:fillRef idx="0">
            <a:schemeClr val="dk1"/>
          </a:fillRef>
          <a:effectRef idx="0">
            <a:schemeClr val="dk1"/>
          </a:effectRef>
          <a:fontRef idx="minor">
            <a:schemeClr val="tx1"/>
          </a:fontRef>
        </p:style>
      </p:cxnSp>
      <p:sp>
        <p:nvSpPr>
          <p:cNvPr id="20" name="Subtitle 2">
            <a:extLst>
              <a:ext uri="{FF2B5EF4-FFF2-40B4-BE49-F238E27FC236}">
                <a16:creationId xmlns:a16="http://schemas.microsoft.com/office/drawing/2014/main" id="{B501BA8B-2A82-46A0-B767-376AA5F5CD9C}"/>
              </a:ext>
            </a:extLst>
          </p:cNvPr>
          <p:cNvSpPr txBox="1">
            <a:spLocks/>
          </p:cNvSpPr>
          <p:nvPr/>
        </p:nvSpPr>
        <p:spPr>
          <a:xfrm>
            <a:off x="655658" y="5868676"/>
            <a:ext cx="1553862" cy="44426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1"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PhD Student</a:t>
            </a:r>
          </a:p>
        </p:txBody>
      </p:sp>
      <p:sp>
        <p:nvSpPr>
          <p:cNvPr id="21" name="Subtitle 2">
            <a:extLst>
              <a:ext uri="{FF2B5EF4-FFF2-40B4-BE49-F238E27FC236}">
                <a16:creationId xmlns:a16="http://schemas.microsoft.com/office/drawing/2014/main" id="{3905ABFD-9EE2-4414-8474-30540DDC8881}"/>
              </a:ext>
            </a:extLst>
          </p:cNvPr>
          <p:cNvSpPr txBox="1">
            <a:spLocks/>
          </p:cNvSpPr>
          <p:nvPr/>
        </p:nvSpPr>
        <p:spPr>
          <a:xfrm>
            <a:off x="2503644" y="5868676"/>
            <a:ext cx="1740833" cy="6964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Oriane</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Braud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2" name="Straight Connector 21">
            <a:extLst>
              <a:ext uri="{FF2B5EF4-FFF2-40B4-BE49-F238E27FC236}">
                <a16:creationId xmlns:a16="http://schemas.microsoft.com/office/drawing/2014/main" id="{58C34DD0-0CC8-4CA8-9D32-601A4432A99C}"/>
              </a:ext>
            </a:extLst>
          </p:cNvPr>
          <p:cNvCxnSpPr>
            <a:cxnSpLocks/>
          </p:cNvCxnSpPr>
          <p:nvPr/>
        </p:nvCxnSpPr>
        <p:spPr>
          <a:xfrm>
            <a:off x="2325363" y="5806530"/>
            <a:ext cx="0" cy="471363"/>
          </a:xfrm>
          <a:prstGeom prst="line">
            <a:avLst/>
          </a:prstGeom>
          <a:ln>
            <a:solidFill>
              <a:schemeClr val="accent3"/>
            </a:solidFill>
          </a:ln>
        </p:spPr>
        <p:style>
          <a:lnRef idx="1">
            <a:schemeClr val="dk1"/>
          </a:lnRef>
          <a:fillRef idx="0">
            <a:schemeClr val="dk1"/>
          </a:fillRef>
          <a:effectRef idx="0">
            <a:schemeClr val="dk1"/>
          </a:effectRef>
          <a:fontRef idx="minor">
            <a:schemeClr val="tx1"/>
          </a:fontRef>
        </p:style>
      </p:cxnSp>
      <p:sp>
        <p:nvSpPr>
          <p:cNvPr id="29" name="Rectangle 28">
            <a:extLst>
              <a:ext uri="{FF2B5EF4-FFF2-40B4-BE49-F238E27FC236}">
                <a16:creationId xmlns:a16="http://schemas.microsoft.com/office/drawing/2014/main" id="{670E44CE-6B91-4FE4-A410-66B0DF3F169E}"/>
              </a:ext>
            </a:extLst>
          </p:cNvPr>
          <p:cNvSpPr/>
          <p:nvPr/>
        </p:nvSpPr>
        <p:spPr>
          <a:xfrm>
            <a:off x="715373" y="2441528"/>
            <a:ext cx="10761251" cy="2298881"/>
          </a:xfrm>
          <a:prstGeom prst="rect">
            <a:avLst/>
          </a:prstGeom>
          <a:solidFill>
            <a:srgbClr val="FFFFFF">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p:cNvSpPr>
            <a:spLocks noGrp="1"/>
          </p:cNvSpPr>
          <p:nvPr>
            <p:ph type="ctrTitle"/>
          </p:nvPr>
        </p:nvSpPr>
        <p:spPr>
          <a:xfrm>
            <a:off x="0" y="2355301"/>
            <a:ext cx="12192000" cy="2194397"/>
          </a:xfrm>
          <a:solidFill>
            <a:srgbClr val="F7941D">
              <a:alpha val="60000"/>
            </a:srgbClr>
          </a:solidFill>
        </p:spPr>
        <p:txBody>
          <a:bodyPr>
            <a:normAutofit/>
          </a:bodyPr>
          <a:lstStyle/>
          <a:p>
            <a:r>
              <a:rPr lang="en-US" sz="5100" b="1" dirty="0"/>
              <a:t>Multiscale hybrid modeling framework </a:t>
            </a:r>
            <a:br>
              <a:rPr lang="en-US" sz="5100" b="1" dirty="0"/>
            </a:br>
            <a:r>
              <a:rPr lang="en-US" sz="5100" b="1" dirty="0"/>
              <a:t>for intercrops : </a:t>
            </a:r>
            <a:br>
              <a:rPr lang="en-US" sz="5100" b="1" dirty="0"/>
            </a:br>
            <a:r>
              <a:rPr lang="en-US" sz="4400" b="1" dirty="0"/>
              <a:t>the best of crop and plant models</a:t>
            </a:r>
            <a:endParaRPr lang="fr-FR" sz="5100" b="1" dirty="0"/>
          </a:p>
        </p:txBody>
      </p:sp>
      <p:pic>
        <p:nvPicPr>
          <p:cNvPr id="4" name="Graphic 3">
            <a:extLst>
              <a:ext uri="{FF2B5EF4-FFF2-40B4-BE49-F238E27FC236}">
                <a16:creationId xmlns:a16="http://schemas.microsoft.com/office/drawing/2014/main" id="{D907D704-FDE8-41E8-A4D1-F130C49BFF5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042000" y="389965"/>
            <a:ext cx="1476375" cy="1143000"/>
          </a:xfrm>
          <a:prstGeom prst="rect">
            <a:avLst/>
          </a:prstGeom>
        </p:spPr>
      </p:pic>
      <p:sp>
        <p:nvSpPr>
          <p:cNvPr id="3" name="TextBox 2">
            <a:extLst>
              <a:ext uri="{FF2B5EF4-FFF2-40B4-BE49-F238E27FC236}">
                <a16:creationId xmlns:a16="http://schemas.microsoft.com/office/drawing/2014/main" id="{4447252D-8AEF-4FA8-83E4-19AE62EB6727}"/>
              </a:ext>
            </a:extLst>
          </p:cNvPr>
          <p:cNvSpPr txBox="1"/>
          <p:nvPr/>
        </p:nvSpPr>
        <p:spPr>
          <a:xfrm>
            <a:off x="4324886" y="4641970"/>
            <a:ext cx="3376247" cy="369332"/>
          </a:xfrm>
          <a:prstGeom prst="rect">
            <a:avLst/>
          </a:prstGeom>
          <a:noFill/>
        </p:spPr>
        <p:txBody>
          <a:bodyPr wrap="square" rtlCol="0">
            <a:spAutoFit/>
          </a:bodyPr>
          <a:lstStyle/>
          <a:p>
            <a:r>
              <a:rPr lang="en-US" dirty="0"/>
              <a:t>PhD in computer science, 2</a:t>
            </a:r>
            <a:r>
              <a:rPr lang="en-US" baseline="30000" dirty="0"/>
              <a:t>nd</a:t>
            </a:r>
            <a:r>
              <a:rPr lang="en-US" dirty="0"/>
              <a:t> year</a:t>
            </a:r>
          </a:p>
        </p:txBody>
      </p:sp>
    </p:spTree>
    <p:extLst>
      <p:ext uri="{BB962C8B-B14F-4D97-AF65-F5344CB8AC3E}">
        <p14:creationId xmlns:p14="http://schemas.microsoft.com/office/powerpoint/2010/main" val="3784089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0AFAAC-EA6C-45A9-9E03-C9C9F0193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 4" descr="Une image contenant plein air, agriculture, récolte, Culture commerciale&#10;&#10;Description générée automatiquement">
            <a:extLst>
              <a:ext uri="{FF2B5EF4-FFF2-40B4-BE49-F238E27FC236}">
                <a16:creationId xmlns:a16="http://schemas.microsoft.com/office/drawing/2014/main" id="{3786E0D1-E499-E045-7B99-26DBAEB36AB5}"/>
              </a:ext>
            </a:extLst>
          </p:cNvPr>
          <p:cNvPicPr>
            <a:picLocks noChangeAspect="1"/>
          </p:cNvPicPr>
          <p:nvPr/>
        </p:nvPicPr>
        <p:blipFill rotWithShape="1">
          <a:blip r:embed="rId3"/>
          <a:srcRect t="34" r="10050" b="-34"/>
          <a:stretch/>
        </p:blipFill>
        <p:spPr>
          <a:xfrm>
            <a:off x="3009075" y="0"/>
            <a:ext cx="9184645" cy="6861124"/>
          </a:xfrm>
          <a:prstGeom prst="rect">
            <a:avLst/>
          </a:prstGeom>
        </p:spPr>
      </p:pic>
      <p:sp useBgFill="1">
        <p:nvSpPr>
          <p:cNvPr id="11" name="Freeform: Shape 10">
            <a:extLst>
              <a:ext uri="{FF2B5EF4-FFF2-40B4-BE49-F238E27FC236}">
                <a16:creationId xmlns:a16="http://schemas.microsoft.com/office/drawing/2014/main" id="{83549E37-C86B-4401-90BD-D8BF83859F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1" cy="6858000"/>
          </a:xfrm>
          <a:custGeom>
            <a:avLst/>
            <a:gdLst>
              <a:gd name="connsiteX0" fmla="*/ 0 w 6096001"/>
              <a:gd name="connsiteY0" fmla="*/ 0 h 6858000"/>
              <a:gd name="connsiteX1" fmla="*/ 4883023 w 6096001"/>
              <a:gd name="connsiteY1" fmla="*/ 0 h 6858000"/>
              <a:gd name="connsiteX2" fmla="*/ 4946006 w 6096001"/>
              <a:gd name="connsiteY2" fmla="*/ 69271 h 6858000"/>
              <a:gd name="connsiteX3" fmla="*/ 6096001 w 6096001"/>
              <a:gd name="connsiteY3" fmla="*/ 3429000 h 6858000"/>
              <a:gd name="connsiteX4" fmla="*/ 4946006 w 6096001"/>
              <a:gd name="connsiteY4" fmla="*/ 6788730 h 6858000"/>
              <a:gd name="connsiteX5" fmla="*/ 4883023 w 6096001"/>
              <a:gd name="connsiteY5" fmla="*/ 6858000 h 6858000"/>
              <a:gd name="connsiteX6" fmla="*/ 0 w 60960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1" h="6858000">
                <a:moveTo>
                  <a:pt x="0" y="0"/>
                </a:moveTo>
                <a:lnTo>
                  <a:pt x="4883023" y="0"/>
                </a:lnTo>
                <a:lnTo>
                  <a:pt x="4946006" y="69271"/>
                </a:lnTo>
                <a:cubicBezTo>
                  <a:pt x="5656532" y="929100"/>
                  <a:pt x="6096001" y="2116944"/>
                  <a:pt x="6096001" y="3429000"/>
                </a:cubicBezTo>
                <a:cubicBezTo>
                  <a:pt x="6096001" y="4741056"/>
                  <a:pt x="5656532" y="5928900"/>
                  <a:pt x="4946006" y="6788730"/>
                </a:cubicBezTo>
                <a:lnTo>
                  <a:pt x="4883023"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8A17784E-76D8-4521-A77D-0D2EBB9230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6857" cy="6858000"/>
          </a:xfrm>
          <a:custGeom>
            <a:avLst/>
            <a:gdLst>
              <a:gd name="connsiteX0" fmla="*/ 0 w 6086857"/>
              <a:gd name="connsiteY0" fmla="*/ 0 h 6858000"/>
              <a:gd name="connsiteX1" fmla="*/ 4873879 w 6086857"/>
              <a:gd name="connsiteY1" fmla="*/ 0 h 6858000"/>
              <a:gd name="connsiteX2" fmla="*/ 4936862 w 6086857"/>
              <a:gd name="connsiteY2" fmla="*/ 69271 h 6858000"/>
              <a:gd name="connsiteX3" fmla="*/ 6086857 w 6086857"/>
              <a:gd name="connsiteY3" fmla="*/ 3429000 h 6858000"/>
              <a:gd name="connsiteX4" fmla="*/ 4936862 w 6086857"/>
              <a:gd name="connsiteY4" fmla="*/ 6788730 h 6858000"/>
              <a:gd name="connsiteX5" fmla="*/ 4873879 w 6086857"/>
              <a:gd name="connsiteY5" fmla="*/ 6858000 h 6858000"/>
              <a:gd name="connsiteX6" fmla="*/ 0 w 608685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6857" h="6858000">
                <a:moveTo>
                  <a:pt x="0" y="0"/>
                </a:moveTo>
                <a:lnTo>
                  <a:pt x="4873879" y="0"/>
                </a:lnTo>
                <a:lnTo>
                  <a:pt x="4936862" y="69271"/>
                </a:lnTo>
                <a:cubicBezTo>
                  <a:pt x="5647388" y="929100"/>
                  <a:pt x="6086857" y="2116944"/>
                  <a:pt x="6086857" y="3429000"/>
                </a:cubicBezTo>
                <a:cubicBezTo>
                  <a:pt x="6086857" y="4741056"/>
                  <a:pt x="5647388" y="5928900"/>
                  <a:pt x="4936862" y="6788730"/>
                </a:cubicBezTo>
                <a:lnTo>
                  <a:pt x="487387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7DDB3797-4CC7-EDEE-FE39-54180F07BBDD}"/>
              </a:ext>
            </a:extLst>
          </p:cNvPr>
          <p:cNvSpPr>
            <a:spLocks noGrp="1"/>
          </p:cNvSpPr>
          <p:nvPr>
            <p:ph type="title"/>
          </p:nvPr>
        </p:nvSpPr>
        <p:spPr>
          <a:xfrm>
            <a:off x="374904" y="272618"/>
            <a:ext cx="4992624" cy="1243584"/>
          </a:xfrm>
        </p:spPr>
        <p:txBody>
          <a:bodyPr anchor="ctr">
            <a:normAutofit/>
          </a:bodyPr>
          <a:lstStyle/>
          <a:p>
            <a:r>
              <a:rPr lang="fr-FR" sz="4000" dirty="0" err="1"/>
              <a:t>Intercropping</a:t>
            </a:r>
            <a:endParaRPr lang="fr-FR" sz="4000" dirty="0"/>
          </a:p>
        </p:txBody>
      </p:sp>
      <p:sp>
        <p:nvSpPr>
          <p:cNvPr id="3" name="Espace réservé du contenu 2">
            <a:extLst>
              <a:ext uri="{FF2B5EF4-FFF2-40B4-BE49-F238E27FC236}">
                <a16:creationId xmlns:a16="http://schemas.microsoft.com/office/drawing/2014/main" id="{2F576957-2006-8C6B-72B0-A66981D2DBA4}"/>
              </a:ext>
            </a:extLst>
          </p:cNvPr>
          <p:cNvSpPr>
            <a:spLocks noGrp="1"/>
          </p:cNvSpPr>
          <p:nvPr>
            <p:ph idx="1"/>
          </p:nvPr>
        </p:nvSpPr>
        <p:spPr>
          <a:xfrm>
            <a:off x="373184" y="1423788"/>
            <a:ext cx="4875997" cy="1361942"/>
          </a:xfrm>
        </p:spPr>
        <p:txBody>
          <a:bodyPr vert="horz" lIns="91440" tIns="45720" rIns="91440" bIns="45720" rtlCol="0" anchor="t">
            <a:normAutofit/>
          </a:bodyPr>
          <a:lstStyle/>
          <a:p>
            <a:pPr marL="0" indent="0">
              <a:buNone/>
            </a:pPr>
            <a:r>
              <a:rPr lang="fr-FR" sz="2000" dirty="0"/>
              <a:t>= </a:t>
            </a:r>
            <a:r>
              <a:rPr lang="fr-FR" sz="2000" dirty="0" err="1"/>
              <a:t>agroecological</a:t>
            </a:r>
            <a:r>
              <a:rPr lang="fr-FR" sz="2000" dirty="0"/>
              <a:t> </a:t>
            </a:r>
            <a:r>
              <a:rPr lang="fr-FR" sz="2000" dirty="0" err="1"/>
              <a:t>pratice</a:t>
            </a:r>
            <a:r>
              <a:rPr lang="fr-FR" sz="2000" dirty="0"/>
              <a:t> </a:t>
            </a:r>
            <a:r>
              <a:rPr lang="fr-FR" sz="2000" dirty="0" err="1"/>
              <a:t>where</a:t>
            </a:r>
            <a:r>
              <a:rPr lang="fr-FR" sz="2000" dirty="0"/>
              <a:t> at least </a:t>
            </a:r>
            <a:r>
              <a:rPr lang="fr-FR" sz="2000" dirty="0" err="1"/>
              <a:t>two</a:t>
            </a:r>
            <a:r>
              <a:rPr lang="fr-FR" sz="2000" dirty="0"/>
              <a:t> </a:t>
            </a:r>
            <a:r>
              <a:rPr lang="fr-FR" sz="2000" dirty="0" err="1"/>
              <a:t>crop</a:t>
            </a:r>
            <a:r>
              <a:rPr lang="fr-FR" sz="2000" dirty="0"/>
              <a:t> </a:t>
            </a:r>
            <a:r>
              <a:rPr lang="fr-FR" sz="2000" dirty="0" err="1"/>
              <a:t>species</a:t>
            </a:r>
            <a:r>
              <a:rPr lang="fr-FR" sz="2000" dirty="0"/>
              <a:t> are </a:t>
            </a:r>
            <a:r>
              <a:rPr lang="fr-FR" sz="2000" dirty="0" err="1"/>
              <a:t>grown</a:t>
            </a:r>
            <a:r>
              <a:rPr lang="fr-FR" sz="2000" dirty="0"/>
              <a:t> </a:t>
            </a:r>
            <a:r>
              <a:rPr lang="fr-FR" sz="2000" dirty="0" err="1"/>
              <a:t>together</a:t>
            </a:r>
            <a:r>
              <a:rPr lang="fr-FR" sz="2000" dirty="0"/>
              <a:t> </a:t>
            </a:r>
          </a:p>
          <a:p>
            <a:pPr marL="0" indent="0">
              <a:buNone/>
            </a:pPr>
            <a:r>
              <a:rPr lang="fr-FR" sz="1200" dirty="0"/>
              <a:t>(</a:t>
            </a:r>
            <a:r>
              <a:rPr lang="fr-FR" sz="1200" dirty="0" err="1"/>
              <a:t>Vandermeer</a:t>
            </a:r>
            <a:r>
              <a:rPr lang="fr-FR" sz="1200" dirty="0"/>
              <a:t>, 1989)</a:t>
            </a:r>
          </a:p>
        </p:txBody>
      </p:sp>
      <p:sp>
        <p:nvSpPr>
          <p:cNvPr id="7" name="ZoneTexte 6">
            <a:extLst>
              <a:ext uri="{FF2B5EF4-FFF2-40B4-BE49-F238E27FC236}">
                <a16:creationId xmlns:a16="http://schemas.microsoft.com/office/drawing/2014/main" id="{539C11AB-2D6F-DBBE-7F83-17817FF0989D}"/>
              </a:ext>
            </a:extLst>
          </p:cNvPr>
          <p:cNvSpPr txBox="1"/>
          <p:nvPr/>
        </p:nvSpPr>
        <p:spPr>
          <a:xfrm>
            <a:off x="8763171" y="4131689"/>
            <a:ext cx="1473905" cy="646331"/>
          </a:xfrm>
          <a:prstGeom prst="rect">
            <a:avLst/>
          </a:prstGeom>
          <a:solidFill>
            <a:srgbClr val="AEAEAE">
              <a:alpha val="74902"/>
            </a:srgb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b="1" dirty="0"/>
              <a:t>CEREALS</a:t>
            </a:r>
          </a:p>
          <a:p>
            <a:r>
              <a:rPr lang="fr-FR" dirty="0"/>
              <a:t>e.g.: </a:t>
            </a:r>
            <a:r>
              <a:rPr lang="fr-FR" dirty="0" err="1"/>
              <a:t>sorghum</a:t>
            </a:r>
            <a:endParaRPr lang="fr-FR" dirty="0"/>
          </a:p>
        </p:txBody>
      </p:sp>
      <p:sp>
        <p:nvSpPr>
          <p:cNvPr id="8" name="ZoneTexte 7">
            <a:extLst>
              <a:ext uri="{FF2B5EF4-FFF2-40B4-BE49-F238E27FC236}">
                <a16:creationId xmlns:a16="http://schemas.microsoft.com/office/drawing/2014/main" id="{E217DA51-B5A8-AFAB-D602-DF8A424A8898}"/>
              </a:ext>
            </a:extLst>
          </p:cNvPr>
          <p:cNvSpPr txBox="1"/>
          <p:nvPr/>
        </p:nvSpPr>
        <p:spPr>
          <a:xfrm>
            <a:off x="6716995" y="4131689"/>
            <a:ext cx="1378792" cy="646331"/>
          </a:xfrm>
          <a:prstGeom prst="rect">
            <a:avLst/>
          </a:prstGeom>
          <a:solidFill>
            <a:srgbClr val="AEAEAE">
              <a:alpha val="74902"/>
            </a:srgb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b="1" dirty="0"/>
              <a:t>LEGUMES</a:t>
            </a:r>
          </a:p>
          <a:p>
            <a:r>
              <a:rPr lang="fr-FR" dirty="0"/>
              <a:t>e.g.: </a:t>
            </a:r>
            <a:r>
              <a:rPr lang="fr-FR" dirty="0" err="1"/>
              <a:t>cowpea</a:t>
            </a:r>
            <a:endParaRPr lang="fr-FR" dirty="0"/>
          </a:p>
        </p:txBody>
      </p:sp>
      <p:sp>
        <p:nvSpPr>
          <p:cNvPr id="4" name="Slide Number Placeholder 3">
            <a:extLst>
              <a:ext uri="{FF2B5EF4-FFF2-40B4-BE49-F238E27FC236}">
                <a16:creationId xmlns:a16="http://schemas.microsoft.com/office/drawing/2014/main" id="{BE6FE07A-B7DD-4BCA-A02A-FB967C727457}"/>
              </a:ext>
            </a:extLst>
          </p:cNvPr>
          <p:cNvSpPr>
            <a:spLocks noGrp="1"/>
          </p:cNvSpPr>
          <p:nvPr>
            <p:ph type="sldNum" sz="quarter" idx="12"/>
          </p:nvPr>
        </p:nvSpPr>
        <p:spPr/>
        <p:txBody>
          <a:bodyPr/>
          <a:lstStyle/>
          <a:p>
            <a:fld id="{27C6CCC6-2BE5-4E42-96A4-D1E8E81A3D8E}" type="slidenum">
              <a:rPr lang="fr-FR" smtClean="0"/>
              <a:t>2</a:t>
            </a:fld>
            <a:endParaRPr lang="fr-FR"/>
          </a:p>
        </p:txBody>
      </p:sp>
      <p:sp>
        <p:nvSpPr>
          <p:cNvPr id="6" name="TextBox 5">
            <a:extLst>
              <a:ext uri="{FF2B5EF4-FFF2-40B4-BE49-F238E27FC236}">
                <a16:creationId xmlns:a16="http://schemas.microsoft.com/office/drawing/2014/main" id="{B0131E4D-4574-4E1F-B022-5D79D8358D6D}"/>
              </a:ext>
            </a:extLst>
          </p:cNvPr>
          <p:cNvSpPr txBox="1"/>
          <p:nvPr/>
        </p:nvSpPr>
        <p:spPr>
          <a:xfrm>
            <a:off x="374904" y="5495065"/>
            <a:ext cx="4599161" cy="646331"/>
          </a:xfrm>
          <a:prstGeom prst="rect">
            <a:avLst/>
          </a:prstGeom>
          <a:noFill/>
        </p:spPr>
        <p:txBody>
          <a:bodyPr wrap="square" rtlCol="0">
            <a:spAutoFit/>
          </a:bodyPr>
          <a:lstStyle/>
          <a:p>
            <a:pPr lvl="0">
              <a:lnSpc>
                <a:spcPct val="90000"/>
              </a:lnSpc>
              <a:spcBef>
                <a:spcPts val="1000"/>
              </a:spcBef>
            </a:pPr>
            <a:r>
              <a:rPr lang="fr-FR" sz="2000" dirty="0">
                <a:solidFill>
                  <a:prstClr val="black"/>
                </a:solidFill>
              </a:rPr>
              <a:t>… </a:t>
            </a:r>
            <a:r>
              <a:rPr lang="fr-FR" sz="2000" dirty="0" err="1">
                <a:solidFill>
                  <a:prstClr val="black"/>
                </a:solidFill>
              </a:rPr>
              <a:t>only</a:t>
            </a:r>
            <a:r>
              <a:rPr lang="fr-FR" sz="2000" dirty="0">
                <a:solidFill>
                  <a:prstClr val="black"/>
                </a:solidFill>
              </a:rPr>
              <a:t> if </a:t>
            </a:r>
            <a:r>
              <a:rPr lang="fr-FR" sz="2000" dirty="0" err="1">
                <a:solidFill>
                  <a:prstClr val="black"/>
                </a:solidFill>
              </a:rPr>
              <a:t>intercropping</a:t>
            </a:r>
            <a:r>
              <a:rPr lang="fr-FR" sz="2000" dirty="0">
                <a:solidFill>
                  <a:prstClr val="black"/>
                </a:solidFill>
              </a:rPr>
              <a:t> </a:t>
            </a:r>
            <a:r>
              <a:rPr lang="fr-FR" sz="2000" dirty="0" err="1">
                <a:solidFill>
                  <a:prstClr val="black"/>
                </a:solidFill>
              </a:rPr>
              <a:t>systems</a:t>
            </a:r>
            <a:r>
              <a:rPr lang="fr-FR" sz="2000" dirty="0">
                <a:solidFill>
                  <a:prstClr val="black"/>
                </a:solidFill>
              </a:rPr>
              <a:t> are </a:t>
            </a:r>
            <a:r>
              <a:rPr lang="fr-FR" sz="2000" dirty="0" err="1">
                <a:solidFill>
                  <a:prstClr val="black"/>
                </a:solidFill>
              </a:rPr>
              <a:t>optimized</a:t>
            </a:r>
            <a:endParaRPr lang="fr-FR" sz="2800" dirty="0">
              <a:solidFill>
                <a:prstClr val="black"/>
              </a:solidFill>
            </a:endParaRPr>
          </a:p>
        </p:txBody>
      </p:sp>
      <p:sp>
        <p:nvSpPr>
          <p:cNvPr id="10" name="TextBox 9">
            <a:extLst>
              <a:ext uri="{FF2B5EF4-FFF2-40B4-BE49-F238E27FC236}">
                <a16:creationId xmlns:a16="http://schemas.microsoft.com/office/drawing/2014/main" id="{B1CE0F28-2DC4-4FEB-AAEF-720D45676D00}"/>
              </a:ext>
            </a:extLst>
          </p:cNvPr>
          <p:cNvSpPr txBox="1"/>
          <p:nvPr/>
        </p:nvSpPr>
        <p:spPr>
          <a:xfrm>
            <a:off x="374903" y="3163088"/>
            <a:ext cx="5111497" cy="1456809"/>
          </a:xfrm>
          <a:prstGeom prst="rect">
            <a:avLst/>
          </a:prstGeom>
          <a:noFill/>
        </p:spPr>
        <p:txBody>
          <a:bodyPr wrap="square" rtlCol="0">
            <a:spAutoFit/>
          </a:bodyPr>
          <a:lstStyle/>
          <a:p>
            <a:pPr lvl="0">
              <a:lnSpc>
                <a:spcPct val="90000"/>
              </a:lnSpc>
              <a:spcBef>
                <a:spcPts val="1000"/>
              </a:spcBef>
            </a:pPr>
            <a:r>
              <a:rPr lang="fr-FR" sz="2000" dirty="0" err="1">
                <a:solidFill>
                  <a:prstClr val="black"/>
                </a:solidFill>
              </a:rPr>
              <a:t>Potential</a:t>
            </a:r>
            <a:r>
              <a:rPr lang="fr-FR" sz="2000" dirty="0">
                <a:solidFill>
                  <a:prstClr val="black"/>
                </a:solidFill>
              </a:rPr>
              <a:t> </a:t>
            </a:r>
            <a:r>
              <a:rPr lang="fr-FR" sz="2000" dirty="0" err="1">
                <a:solidFill>
                  <a:prstClr val="black"/>
                </a:solidFill>
              </a:rPr>
              <a:t>benefits</a:t>
            </a:r>
            <a:r>
              <a:rPr lang="fr-FR" sz="2000" dirty="0">
                <a:solidFill>
                  <a:prstClr val="black"/>
                </a:solidFill>
              </a:rPr>
              <a:t> : </a:t>
            </a:r>
          </a:p>
          <a:p>
            <a:pPr marL="742950" lvl="1" indent="-285750">
              <a:lnSpc>
                <a:spcPct val="90000"/>
              </a:lnSpc>
              <a:spcBef>
                <a:spcPts val="500"/>
              </a:spcBef>
              <a:buFont typeface="Courier New,monospace" panose="020B0604020202020204" pitchFamily="34" charset="0"/>
              <a:buChar char="o"/>
            </a:pPr>
            <a:r>
              <a:rPr lang="fr-FR" sz="1600" dirty="0">
                <a:solidFill>
                  <a:prstClr val="black"/>
                </a:solidFill>
                <a:cs typeface="Arial"/>
              </a:rPr>
              <a:t>more </a:t>
            </a:r>
            <a:r>
              <a:rPr lang="fr-FR" sz="1600" dirty="0" err="1">
                <a:solidFill>
                  <a:prstClr val="black"/>
                </a:solidFill>
                <a:cs typeface="Arial"/>
              </a:rPr>
              <a:t>resilience</a:t>
            </a:r>
            <a:r>
              <a:rPr lang="fr-FR" sz="1600" dirty="0">
                <a:solidFill>
                  <a:prstClr val="black"/>
                </a:solidFill>
                <a:cs typeface="Arial"/>
              </a:rPr>
              <a:t> to stresses</a:t>
            </a:r>
            <a:endParaRPr lang="fr-FR" sz="1600" dirty="0">
              <a:solidFill>
                <a:prstClr val="black"/>
              </a:solidFill>
              <a:cs typeface="Arial"/>
              <a:sym typeface="Wingdings" panose="05000000000000000000" pitchFamily="2" charset="2"/>
            </a:endParaRPr>
          </a:p>
          <a:p>
            <a:pPr marL="742950" lvl="1" indent="-285750">
              <a:lnSpc>
                <a:spcPct val="90000"/>
              </a:lnSpc>
              <a:spcBef>
                <a:spcPts val="500"/>
              </a:spcBef>
              <a:buFont typeface="Courier New,monospace" panose="020B0604020202020204" pitchFamily="34" charset="0"/>
              <a:buChar char="o"/>
            </a:pPr>
            <a:r>
              <a:rPr lang="fr-FR" sz="1600" dirty="0" err="1">
                <a:solidFill>
                  <a:prstClr val="black"/>
                </a:solidFill>
                <a:cs typeface="Arial"/>
                <a:sym typeface="Wingdings" panose="05000000000000000000" pitchFamily="2" charset="2"/>
              </a:rPr>
              <a:t>reduction</a:t>
            </a:r>
            <a:r>
              <a:rPr lang="fr-FR" sz="1600" dirty="0">
                <a:solidFill>
                  <a:prstClr val="black"/>
                </a:solidFill>
                <a:cs typeface="Arial"/>
                <a:sym typeface="Wingdings" panose="05000000000000000000" pitchFamily="2" charset="2"/>
              </a:rPr>
              <a:t> of use of </a:t>
            </a:r>
            <a:r>
              <a:rPr lang="en-US" sz="1600" dirty="0">
                <a:solidFill>
                  <a:prstClr val="black"/>
                </a:solidFill>
                <a:cs typeface="Arial"/>
                <a:sym typeface="Wingdings" panose="05000000000000000000" pitchFamily="2" charset="2"/>
              </a:rPr>
              <a:t>fertilizers and pesticides</a:t>
            </a:r>
            <a:endParaRPr lang="en-US" sz="1600" dirty="0">
              <a:solidFill>
                <a:prstClr val="black"/>
              </a:solidFill>
              <a:cs typeface="Arial"/>
            </a:endParaRPr>
          </a:p>
          <a:p>
            <a:pPr marL="742950" lvl="1" indent="-285750">
              <a:lnSpc>
                <a:spcPct val="90000"/>
              </a:lnSpc>
              <a:spcBef>
                <a:spcPts val="500"/>
              </a:spcBef>
              <a:buFont typeface="Courier New,monospace" panose="020B0604020202020204" pitchFamily="34" charset="0"/>
              <a:buChar char="o"/>
            </a:pPr>
            <a:r>
              <a:rPr lang="fr-FR" sz="1600" dirty="0" err="1">
                <a:solidFill>
                  <a:prstClr val="black"/>
                </a:solidFill>
                <a:cs typeface="Arial"/>
              </a:rPr>
              <a:t>increased</a:t>
            </a:r>
            <a:r>
              <a:rPr lang="fr-FR" sz="1600" dirty="0">
                <a:solidFill>
                  <a:prstClr val="black"/>
                </a:solidFill>
                <a:cs typeface="Arial"/>
              </a:rPr>
              <a:t> </a:t>
            </a:r>
            <a:r>
              <a:rPr lang="fr-FR" sz="1600" dirty="0" err="1">
                <a:solidFill>
                  <a:prstClr val="black"/>
                </a:solidFill>
                <a:cs typeface="Arial"/>
              </a:rPr>
              <a:t>yield</a:t>
            </a:r>
            <a:r>
              <a:rPr lang="fr-FR" sz="1600" dirty="0">
                <a:solidFill>
                  <a:prstClr val="black"/>
                </a:solidFill>
                <a:cs typeface="Arial"/>
              </a:rPr>
              <a:t> </a:t>
            </a:r>
          </a:p>
          <a:p>
            <a:pPr lvl="1">
              <a:lnSpc>
                <a:spcPct val="90000"/>
              </a:lnSpc>
              <a:spcBef>
                <a:spcPts val="500"/>
              </a:spcBef>
            </a:pPr>
            <a:r>
              <a:rPr lang="fr-FR" sz="1200" dirty="0">
                <a:solidFill>
                  <a:prstClr val="black"/>
                </a:solidFill>
                <a:cs typeface="Arial"/>
              </a:rPr>
              <a:t>(Jensen et al., 2020, </a:t>
            </a:r>
            <a:r>
              <a:rPr lang="fr-FR" sz="1200" dirty="0" err="1">
                <a:solidFill>
                  <a:prstClr val="black"/>
                </a:solidFill>
                <a:cs typeface="Arial"/>
              </a:rPr>
              <a:t>Stomph</a:t>
            </a:r>
            <a:r>
              <a:rPr lang="fr-FR" sz="1200" dirty="0">
                <a:solidFill>
                  <a:prstClr val="black"/>
                </a:solidFill>
                <a:cs typeface="Arial"/>
              </a:rPr>
              <a:t> et al., 2020, </a:t>
            </a:r>
            <a:r>
              <a:rPr lang="fr-FR" sz="1200" dirty="0" err="1">
                <a:solidFill>
                  <a:prstClr val="black"/>
                </a:solidFill>
                <a:cs typeface="Arial"/>
              </a:rPr>
              <a:t>Gaudio</a:t>
            </a:r>
            <a:r>
              <a:rPr lang="fr-FR" sz="1200" dirty="0">
                <a:solidFill>
                  <a:prstClr val="black"/>
                </a:solidFill>
                <a:cs typeface="Arial"/>
              </a:rPr>
              <a:t> et al., 2021)</a:t>
            </a:r>
            <a:endParaRPr lang="fr-FR" sz="1200" dirty="0">
              <a:solidFill>
                <a:prstClr val="black"/>
              </a:solidFill>
            </a:endParaRPr>
          </a:p>
        </p:txBody>
      </p:sp>
    </p:spTree>
    <p:extLst>
      <p:ext uri="{BB962C8B-B14F-4D97-AF65-F5344CB8AC3E}">
        <p14:creationId xmlns:p14="http://schemas.microsoft.com/office/powerpoint/2010/main" val="1965073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DA0040-5BAE-5958-FC78-C71152A3A0F7}"/>
              </a:ext>
            </a:extLst>
          </p:cNvPr>
          <p:cNvSpPr>
            <a:spLocks noGrp="1"/>
          </p:cNvSpPr>
          <p:nvPr>
            <p:ph type="title"/>
          </p:nvPr>
        </p:nvSpPr>
        <p:spPr>
          <a:xfrm>
            <a:off x="381247" y="306861"/>
            <a:ext cx="10515600" cy="1325563"/>
          </a:xfrm>
        </p:spPr>
        <p:txBody>
          <a:bodyPr>
            <a:normAutofit/>
          </a:bodyPr>
          <a:lstStyle/>
          <a:p>
            <a:r>
              <a:rPr lang="fr-FR" sz="4000" dirty="0" err="1"/>
              <a:t>Intercropping</a:t>
            </a:r>
            <a:r>
              <a:rPr lang="fr-FR" sz="4000" dirty="0"/>
              <a:t> </a:t>
            </a:r>
            <a:r>
              <a:rPr lang="fr-FR" sz="4000" dirty="0" err="1"/>
              <a:t>systems</a:t>
            </a:r>
            <a:endParaRPr lang="fr-FR" sz="4000" dirty="0"/>
          </a:p>
        </p:txBody>
      </p:sp>
      <p:sp>
        <p:nvSpPr>
          <p:cNvPr id="3" name="Espace réservé du contenu 2">
            <a:extLst>
              <a:ext uri="{FF2B5EF4-FFF2-40B4-BE49-F238E27FC236}">
                <a16:creationId xmlns:a16="http://schemas.microsoft.com/office/drawing/2014/main" id="{B93B4046-E733-DB53-FDB9-9FBE0D561F5E}"/>
              </a:ext>
            </a:extLst>
          </p:cNvPr>
          <p:cNvSpPr>
            <a:spLocks noGrp="1"/>
          </p:cNvSpPr>
          <p:nvPr>
            <p:ph idx="1"/>
          </p:nvPr>
        </p:nvSpPr>
        <p:spPr>
          <a:xfrm>
            <a:off x="838200" y="2233666"/>
            <a:ext cx="10515600" cy="828326"/>
          </a:xfrm>
        </p:spPr>
        <p:txBody>
          <a:bodyPr vert="horz" lIns="91440" tIns="45720" rIns="91440" bIns="45720" rtlCol="0" anchor="t">
            <a:normAutofit/>
          </a:bodyPr>
          <a:lstStyle/>
          <a:p>
            <a:pPr marL="0" indent="0" algn="ctr">
              <a:buNone/>
            </a:pPr>
            <a:r>
              <a:rPr lang="fr-FR" sz="4400" b="1" dirty="0"/>
              <a:t>G     x     G     x     E     x     M</a:t>
            </a:r>
          </a:p>
        </p:txBody>
      </p:sp>
      <p:sp>
        <p:nvSpPr>
          <p:cNvPr id="9" name="Espace réservé du contenu 2">
            <a:extLst>
              <a:ext uri="{FF2B5EF4-FFF2-40B4-BE49-F238E27FC236}">
                <a16:creationId xmlns:a16="http://schemas.microsoft.com/office/drawing/2014/main" id="{3A6AC0EF-9D2C-7B34-EE6E-A14EF7F60F5D}"/>
              </a:ext>
            </a:extLst>
          </p:cNvPr>
          <p:cNvSpPr txBox="1">
            <a:spLocks/>
          </p:cNvSpPr>
          <p:nvPr/>
        </p:nvSpPr>
        <p:spPr>
          <a:xfrm>
            <a:off x="4485458" y="3325089"/>
            <a:ext cx="1253833" cy="723330"/>
          </a:xfrm>
          <a:prstGeom prst="rect">
            <a:avLst/>
          </a:prstGeom>
        </p:spPr>
        <p:txBody>
          <a:bodyPr vert="horz" lIns="91440" tIns="45720" rIns="91440" bIns="45720" rtlCol="0" anchor="t">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2200" b="1" dirty="0" err="1"/>
              <a:t>Genotype</a:t>
            </a:r>
            <a:r>
              <a:rPr lang="fr-FR" sz="2000" dirty="0"/>
              <a:t> </a:t>
            </a:r>
            <a:r>
              <a:rPr lang="fr-FR" sz="1900" dirty="0"/>
              <a:t>of a </a:t>
            </a:r>
            <a:r>
              <a:rPr lang="fr-FR" sz="1900" dirty="0" err="1"/>
              <a:t>cereal</a:t>
            </a:r>
            <a:endParaRPr lang="fr-FR" sz="1900" dirty="0"/>
          </a:p>
        </p:txBody>
      </p:sp>
      <p:sp>
        <p:nvSpPr>
          <p:cNvPr id="10" name="Espace réservé du contenu 2">
            <a:extLst>
              <a:ext uri="{FF2B5EF4-FFF2-40B4-BE49-F238E27FC236}">
                <a16:creationId xmlns:a16="http://schemas.microsoft.com/office/drawing/2014/main" id="{726360F6-ECD4-8ABB-63C7-CF65D3630BF0}"/>
              </a:ext>
            </a:extLst>
          </p:cNvPr>
          <p:cNvSpPr txBox="1">
            <a:spLocks/>
          </p:cNvSpPr>
          <p:nvPr/>
        </p:nvSpPr>
        <p:spPr>
          <a:xfrm>
            <a:off x="2587695" y="3325089"/>
            <a:ext cx="1395594" cy="89759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2000" b="1" dirty="0" err="1"/>
              <a:t>Genotype</a:t>
            </a:r>
            <a:r>
              <a:rPr lang="fr-FR" sz="2000" dirty="0"/>
              <a:t> </a:t>
            </a:r>
            <a:r>
              <a:rPr lang="fr-FR" sz="1800" dirty="0"/>
              <a:t>of a </a:t>
            </a:r>
            <a:r>
              <a:rPr lang="fr-FR" sz="1800" dirty="0" err="1"/>
              <a:t>legume</a:t>
            </a:r>
            <a:endParaRPr lang="fr-FR" sz="1800" dirty="0"/>
          </a:p>
        </p:txBody>
      </p:sp>
      <p:sp>
        <p:nvSpPr>
          <p:cNvPr id="11" name="Espace réservé du contenu 2">
            <a:extLst>
              <a:ext uri="{FF2B5EF4-FFF2-40B4-BE49-F238E27FC236}">
                <a16:creationId xmlns:a16="http://schemas.microsoft.com/office/drawing/2014/main" id="{00B1E25A-F2CD-2BF1-B075-C508D718FF10}"/>
              </a:ext>
            </a:extLst>
          </p:cNvPr>
          <p:cNvSpPr txBox="1">
            <a:spLocks/>
          </p:cNvSpPr>
          <p:nvPr/>
        </p:nvSpPr>
        <p:spPr>
          <a:xfrm>
            <a:off x="8201780" y="3325089"/>
            <a:ext cx="1865647" cy="201585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2000" b="1" dirty="0"/>
              <a:t>Management</a:t>
            </a:r>
          </a:p>
          <a:p>
            <a:pPr marL="0" indent="0">
              <a:buNone/>
            </a:pPr>
            <a:r>
              <a:rPr lang="fr-FR" sz="1800" dirty="0" err="1"/>
              <a:t>Sowing</a:t>
            </a:r>
            <a:r>
              <a:rPr lang="fr-FR" sz="1800" dirty="0"/>
              <a:t> pattern </a:t>
            </a:r>
          </a:p>
          <a:p>
            <a:pPr marL="0" indent="0">
              <a:buNone/>
            </a:pPr>
            <a:r>
              <a:rPr lang="fr-FR" sz="1800" dirty="0">
                <a:ea typeface="+mn-lt"/>
                <a:cs typeface="+mn-lt"/>
              </a:rPr>
              <a:t>Inputs</a:t>
            </a:r>
            <a:endParaRPr lang="fr-FR" sz="1800" dirty="0"/>
          </a:p>
        </p:txBody>
      </p:sp>
      <p:sp>
        <p:nvSpPr>
          <p:cNvPr id="12" name="Espace réservé du contenu 2">
            <a:extLst>
              <a:ext uri="{FF2B5EF4-FFF2-40B4-BE49-F238E27FC236}">
                <a16:creationId xmlns:a16="http://schemas.microsoft.com/office/drawing/2014/main" id="{652312E1-D4E0-631C-4DE6-22B2AAFC037C}"/>
              </a:ext>
            </a:extLst>
          </p:cNvPr>
          <p:cNvSpPr txBox="1">
            <a:spLocks/>
          </p:cNvSpPr>
          <p:nvPr/>
        </p:nvSpPr>
        <p:spPr>
          <a:xfrm>
            <a:off x="6059556" y="3325089"/>
            <a:ext cx="2101508" cy="98666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2000" b="1" dirty="0"/>
              <a:t>Environnement</a:t>
            </a:r>
          </a:p>
          <a:p>
            <a:pPr marL="0" indent="0">
              <a:buNone/>
            </a:pPr>
            <a:r>
              <a:rPr lang="fr-FR" sz="1800" dirty="0" err="1"/>
              <a:t>Soil</a:t>
            </a:r>
            <a:r>
              <a:rPr lang="fr-FR" sz="1800" dirty="0"/>
              <a:t> &amp; </a:t>
            </a:r>
            <a:r>
              <a:rPr lang="fr-FR" sz="1800" dirty="0" err="1"/>
              <a:t>atmosphere</a:t>
            </a:r>
            <a:endParaRPr lang="fr-FR" sz="1800" dirty="0">
              <a:ea typeface="+mn-lt"/>
              <a:cs typeface="+mn-lt"/>
            </a:endParaRPr>
          </a:p>
        </p:txBody>
      </p:sp>
      <p:pic>
        <p:nvPicPr>
          <p:cNvPr id="28" name="Image 27" descr="Une image contenant Tige, légume, plante, fleur&#10;&#10;Description générée automatiquement">
            <a:extLst>
              <a:ext uri="{FF2B5EF4-FFF2-40B4-BE49-F238E27FC236}">
                <a16:creationId xmlns:a16="http://schemas.microsoft.com/office/drawing/2014/main" id="{EF6D3CAF-D295-0DB9-6DA7-6076C82D57D7}"/>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4177345" y="4077735"/>
            <a:ext cx="2210683" cy="2206336"/>
          </a:xfrm>
          <a:prstGeom prst="rect">
            <a:avLst/>
          </a:prstGeom>
        </p:spPr>
      </p:pic>
      <p:pic>
        <p:nvPicPr>
          <p:cNvPr id="29" name="Image 28" descr="Une image contenant légume, Tige, plante&#10;&#10;Description générée automatiquement">
            <a:extLst>
              <a:ext uri="{FF2B5EF4-FFF2-40B4-BE49-F238E27FC236}">
                <a16:creationId xmlns:a16="http://schemas.microsoft.com/office/drawing/2014/main" id="{CB7300D5-D900-803B-C6E0-48400A502652}"/>
              </a:ext>
            </a:extLst>
          </p:cNvPr>
          <p:cNvPicPr>
            <a:picLocks noChangeAspect="1"/>
          </p:cNvPicPr>
          <p:nvPr/>
        </p:nvPicPr>
        <p:blipFill>
          <a:blip r:embed="rId5"/>
          <a:stretch>
            <a:fillRect/>
          </a:stretch>
        </p:blipFill>
        <p:spPr>
          <a:xfrm>
            <a:off x="2774372" y="4117318"/>
            <a:ext cx="687347" cy="1977243"/>
          </a:xfrm>
          <a:prstGeom prst="rect">
            <a:avLst/>
          </a:prstGeom>
        </p:spPr>
      </p:pic>
      <p:sp>
        <p:nvSpPr>
          <p:cNvPr id="18" name="Slide Number Placeholder 17">
            <a:extLst>
              <a:ext uri="{FF2B5EF4-FFF2-40B4-BE49-F238E27FC236}">
                <a16:creationId xmlns:a16="http://schemas.microsoft.com/office/drawing/2014/main" id="{E9FCEF18-CA2B-4401-AC1F-4DDBB77028D7}"/>
              </a:ext>
            </a:extLst>
          </p:cNvPr>
          <p:cNvSpPr>
            <a:spLocks noGrp="1"/>
          </p:cNvSpPr>
          <p:nvPr>
            <p:ph type="sldNum" sz="quarter" idx="12"/>
          </p:nvPr>
        </p:nvSpPr>
        <p:spPr/>
        <p:txBody>
          <a:bodyPr/>
          <a:lstStyle/>
          <a:p>
            <a:fld id="{27C6CCC6-2BE5-4E42-96A4-D1E8E81A3D8E}" type="slidenum">
              <a:rPr lang="fr-FR" smtClean="0"/>
              <a:t>3</a:t>
            </a:fld>
            <a:endParaRPr lang="fr-FR"/>
          </a:p>
        </p:txBody>
      </p:sp>
      <p:grpSp>
        <p:nvGrpSpPr>
          <p:cNvPr id="25" name="Group 24">
            <a:extLst>
              <a:ext uri="{FF2B5EF4-FFF2-40B4-BE49-F238E27FC236}">
                <a16:creationId xmlns:a16="http://schemas.microsoft.com/office/drawing/2014/main" id="{3D47B465-0C7D-4E4F-BE3E-58BAC8758E34}"/>
              </a:ext>
            </a:extLst>
          </p:cNvPr>
          <p:cNvGrpSpPr/>
          <p:nvPr/>
        </p:nvGrpSpPr>
        <p:grpSpPr>
          <a:xfrm>
            <a:off x="8201780" y="4691776"/>
            <a:ext cx="1662744" cy="828326"/>
            <a:chOff x="7753259" y="1690688"/>
            <a:chExt cx="3695945" cy="2098945"/>
          </a:xfrm>
        </p:grpSpPr>
        <p:sp>
          <p:nvSpPr>
            <p:cNvPr id="26" name="Rectangle 25">
              <a:extLst>
                <a:ext uri="{FF2B5EF4-FFF2-40B4-BE49-F238E27FC236}">
                  <a16:creationId xmlns:a16="http://schemas.microsoft.com/office/drawing/2014/main" id="{562A15CC-2169-47CC-B46E-39697059270E}"/>
                </a:ext>
              </a:extLst>
            </p:cNvPr>
            <p:cNvSpPr/>
            <p:nvPr/>
          </p:nvSpPr>
          <p:spPr>
            <a:xfrm flipH="1">
              <a:off x="7753259" y="1690688"/>
              <a:ext cx="443877" cy="2097252"/>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1BFA03D6-8DAB-4BFD-AC0C-56194FDFE6C5}"/>
                </a:ext>
              </a:extLst>
            </p:cNvPr>
            <p:cNvSpPr/>
            <p:nvPr/>
          </p:nvSpPr>
          <p:spPr>
            <a:xfrm flipH="1">
              <a:off x="8199698" y="1690688"/>
              <a:ext cx="443877" cy="2097252"/>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8C7DBA4-6806-4A6E-8A59-EE7AAF10921A}"/>
                </a:ext>
              </a:extLst>
            </p:cNvPr>
            <p:cNvSpPr/>
            <p:nvPr/>
          </p:nvSpPr>
          <p:spPr>
            <a:xfrm flipH="1">
              <a:off x="8644491" y="1690688"/>
              <a:ext cx="443877" cy="2097252"/>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1D8DD0F1-B30D-4F34-9C55-630C66019568}"/>
                </a:ext>
              </a:extLst>
            </p:cNvPr>
            <p:cNvSpPr/>
            <p:nvPr/>
          </p:nvSpPr>
          <p:spPr>
            <a:xfrm flipH="1">
              <a:off x="9089292" y="1690688"/>
              <a:ext cx="443877" cy="2097252"/>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29C2248-97F9-4650-8864-BD59FF37EDC0}"/>
                </a:ext>
              </a:extLst>
            </p:cNvPr>
            <p:cNvSpPr/>
            <p:nvPr/>
          </p:nvSpPr>
          <p:spPr>
            <a:xfrm flipH="1">
              <a:off x="9678328" y="1690998"/>
              <a:ext cx="443877" cy="2097252"/>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63C64C55-16B2-4AC4-9009-9F04794B15E7}"/>
                </a:ext>
              </a:extLst>
            </p:cNvPr>
            <p:cNvSpPr/>
            <p:nvPr/>
          </p:nvSpPr>
          <p:spPr>
            <a:xfrm flipH="1">
              <a:off x="10124761" y="1690998"/>
              <a:ext cx="443877" cy="2097252"/>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B2B5C0FA-4687-46E1-83F0-AF0C76182EDF}"/>
                </a:ext>
              </a:extLst>
            </p:cNvPr>
            <p:cNvSpPr/>
            <p:nvPr/>
          </p:nvSpPr>
          <p:spPr>
            <a:xfrm flipH="1">
              <a:off x="10559044" y="1690998"/>
              <a:ext cx="443877" cy="2097252"/>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95D12387-BCD0-4195-9434-79D0AB21F218}"/>
                </a:ext>
              </a:extLst>
            </p:cNvPr>
            <p:cNvSpPr/>
            <p:nvPr/>
          </p:nvSpPr>
          <p:spPr>
            <a:xfrm flipH="1">
              <a:off x="11003837" y="1692381"/>
              <a:ext cx="443877" cy="2097252"/>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4E9EE308-8FBC-46B6-9028-27D860C286F4}"/>
                </a:ext>
              </a:extLst>
            </p:cNvPr>
            <p:cNvSpPr/>
            <p:nvPr/>
          </p:nvSpPr>
          <p:spPr>
            <a:xfrm flipH="1">
              <a:off x="9667817" y="3078485"/>
              <a:ext cx="443877" cy="699001"/>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EF922928-5682-454D-A7E2-01569111FF60}"/>
                </a:ext>
              </a:extLst>
            </p:cNvPr>
            <p:cNvSpPr/>
            <p:nvPr/>
          </p:nvSpPr>
          <p:spPr>
            <a:xfrm flipH="1">
              <a:off x="9667817" y="2380932"/>
              <a:ext cx="443877" cy="699001"/>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77021F17-CD35-4310-A83F-F96028E1C329}"/>
                </a:ext>
              </a:extLst>
            </p:cNvPr>
            <p:cNvSpPr/>
            <p:nvPr/>
          </p:nvSpPr>
          <p:spPr>
            <a:xfrm flipH="1">
              <a:off x="10486956" y="3079959"/>
              <a:ext cx="443877" cy="699001"/>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F275509F-222F-46EB-8AC8-BAA106D8584D}"/>
                </a:ext>
              </a:extLst>
            </p:cNvPr>
            <p:cNvSpPr/>
            <p:nvPr/>
          </p:nvSpPr>
          <p:spPr>
            <a:xfrm flipH="1">
              <a:off x="10560526" y="2382407"/>
              <a:ext cx="443877" cy="699001"/>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E0FA3C79-E836-4AC6-A5CC-58143CEBA1D6}"/>
                </a:ext>
              </a:extLst>
            </p:cNvPr>
            <p:cNvSpPr/>
            <p:nvPr/>
          </p:nvSpPr>
          <p:spPr>
            <a:xfrm flipH="1">
              <a:off x="10124761" y="2380934"/>
              <a:ext cx="443877" cy="699001"/>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C7EA3F62-9ECB-480A-B053-6ACC3BE6D049}"/>
                </a:ext>
              </a:extLst>
            </p:cNvPr>
            <p:cNvSpPr/>
            <p:nvPr/>
          </p:nvSpPr>
          <p:spPr>
            <a:xfrm flipH="1">
              <a:off x="9672818" y="3088993"/>
              <a:ext cx="443877" cy="699001"/>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AD8E41F4-053C-4736-A8FA-24DDC3EE943A}"/>
                </a:ext>
              </a:extLst>
            </p:cNvPr>
            <p:cNvSpPr/>
            <p:nvPr/>
          </p:nvSpPr>
          <p:spPr>
            <a:xfrm flipH="1">
              <a:off x="11005327" y="2380933"/>
              <a:ext cx="443877" cy="699001"/>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FCB23D8C-5C62-4094-8C62-4D08D0F26AC1}"/>
                </a:ext>
              </a:extLst>
            </p:cNvPr>
            <p:cNvSpPr/>
            <p:nvPr/>
          </p:nvSpPr>
          <p:spPr>
            <a:xfrm flipH="1">
              <a:off x="10575884" y="3088993"/>
              <a:ext cx="443877" cy="699001"/>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670619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0FF5A-F545-B820-3B51-5271DB8E819E}"/>
              </a:ext>
            </a:extLst>
          </p:cNvPr>
          <p:cNvSpPr>
            <a:spLocks noGrp="1"/>
          </p:cNvSpPr>
          <p:nvPr>
            <p:ph type="title"/>
          </p:nvPr>
        </p:nvSpPr>
        <p:spPr>
          <a:xfrm>
            <a:off x="609627" y="542497"/>
            <a:ext cx="9181151" cy="896121"/>
          </a:xfrm>
        </p:spPr>
        <p:txBody>
          <a:bodyPr>
            <a:normAutofit/>
          </a:bodyPr>
          <a:lstStyle/>
          <a:p>
            <a:r>
              <a:rPr lang="en-US" sz="4000" dirty="0"/>
              <a:t>Crop models</a:t>
            </a:r>
          </a:p>
        </p:txBody>
      </p:sp>
      <p:sp>
        <p:nvSpPr>
          <p:cNvPr id="8" name="Content Placeholder 6">
            <a:extLst>
              <a:ext uri="{FF2B5EF4-FFF2-40B4-BE49-F238E27FC236}">
                <a16:creationId xmlns:a16="http://schemas.microsoft.com/office/drawing/2014/main" id="{0A5D27B1-842E-4F22-A103-CB1C111AB39C}"/>
              </a:ext>
            </a:extLst>
          </p:cNvPr>
          <p:cNvSpPr txBox="1">
            <a:spLocks/>
          </p:cNvSpPr>
          <p:nvPr/>
        </p:nvSpPr>
        <p:spPr>
          <a:xfrm>
            <a:off x="609626" y="990557"/>
            <a:ext cx="2984179" cy="730987"/>
          </a:xfrm>
          <a:prstGeom prst="rect">
            <a:avLst/>
          </a:prstGeom>
          <a:ln w="28575">
            <a:noFill/>
          </a:ln>
        </p:spPr>
        <p:txBody>
          <a:bodyPr vert="horz" lIns="91440" tIns="45720" rIns="91440" bIns="45720" rtlCol="0" anchor="ctr"/>
          <a:lstStyle>
            <a:defPPr>
              <a:defRPr lang="fr-FR"/>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fr-FR" sz="1400" dirty="0">
                <a:solidFill>
                  <a:schemeClr val="tx1"/>
                </a:solidFill>
              </a:rPr>
              <a:t>(Boote et al., 2013; Jones et al., 2017)</a:t>
            </a:r>
          </a:p>
        </p:txBody>
      </p:sp>
      <p:sp>
        <p:nvSpPr>
          <p:cNvPr id="82" name="Slide Number Placeholder 81">
            <a:extLst>
              <a:ext uri="{FF2B5EF4-FFF2-40B4-BE49-F238E27FC236}">
                <a16:creationId xmlns:a16="http://schemas.microsoft.com/office/drawing/2014/main" id="{FE30BE75-671C-4800-ADD5-0E3582D2062B}"/>
              </a:ext>
            </a:extLst>
          </p:cNvPr>
          <p:cNvSpPr>
            <a:spLocks noGrp="1"/>
          </p:cNvSpPr>
          <p:nvPr>
            <p:ph type="sldNum" sz="quarter" idx="12"/>
          </p:nvPr>
        </p:nvSpPr>
        <p:spPr/>
        <p:txBody>
          <a:bodyPr/>
          <a:lstStyle/>
          <a:p>
            <a:fld id="{27C6CCC6-2BE5-4E42-96A4-D1E8E81A3D8E}" type="slidenum">
              <a:rPr lang="fr-FR" smtClean="0"/>
              <a:t>4</a:t>
            </a:fld>
            <a:endParaRPr lang="fr-FR"/>
          </a:p>
        </p:txBody>
      </p:sp>
      <p:sp>
        <p:nvSpPr>
          <p:cNvPr id="3" name="Rectangle 2">
            <a:extLst>
              <a:ext uri="{FF2B5EF4-FFF2-40B4-BE49-F238E27FC236}">
                <a16:creationId xmlns:a16="http://schemas.microsoft.com/office/drawing/2014/main" id="{A7342D65-0316-45DA-9A79-F4B5A7F201C6}"/>
              </a:ext>
            </a:extLst>
          </p:cNvPr>
          <p:cNvSpPr/>
          <p:nvPr/>
        </p:nvSpPr>
        <p:spPr>
          <a:xfrm>
            <a:off x="5701694" y="1228397"/>
            <a:ext cx="5793005" cy="4708981"/>
          </a:xfrm>
          <a:prstGeom prst="rect">
            <a:avLst/>
          </a:prstGeom>
        </p:spPr>
        <p:txBody>
          <a:bodyPr wrap="square">
            <a:spAutoFit/>
          </a:bodyPr>
          <a:lstStyle/>
          <a:p>
            <a:r>
              <a:rPr lang="en-US" sz="2000" u="sng" dirty="0"/>
              <a:t>Objective:</a:t>
            </a:r>
            <a:r>
              <a:rPr lang="en-US" sz="2000" dirty="0"/>
              <a:t> prediction, decision-support tool</a:t>
            </a:r>
          </a:p>
          <a:p>
            <a:endParaRPr lang="en-US" sz="2000" dirty="0"/>
          </a:p>
          <a:p>
            <a:r>
              <a:rPr lang="en-US" sz="2000" u="sng" dirty="0"/>
              <a:t>Characteristics:</a:t>
            </a:r>
            <a:r>
              <a:rPr lang="en-US" sz="2000" dirty="0"/>
              <a:t> </a:t>
            </a:r>
          </a:p>
          <a:p>
            <a:pPr marL="285750" indent="-285750">
              <a:buFont typeface="Arial" panose="020B0604020202020204" pitchFamily="34" charset="0"/>
              <a:buChar char="•"/>
            </a:pPr>
            <a:r>
              <a:rPr lang="en-US" sz="2000" dirty="0"/>
              <a:t>crop scale</a:t>
            </a:r>
          </a:p>
          <a:p>
            <a:pPr marL="285750" indent="-285750">
              <a:buFont typeface="Arial" panose="020B0604020202020204" pitchFamily="34" charset="0"/>
              <a:buChar char="•"/>
            </a:pPr>
            <a:r>
              <a:rPr lang="en-US" sz="2000" dirty="0"/>
              <a:t>homogeneous hypotheses (average plant)</a:t>
            </a:r>
          </a:p>
          <a:p>
            <a:pPr marL="285750" indent="-285750">
              <a:buFont typeface="Arial" panose="020B0604020202020204" pitchFamily="34" charset="0"/>
              <a:buChar char="•"/>
            </a:pPr>
            <a:r>
              <a:rPr lang="en-US" sz="2000" dirty="0"/>
              <a:t>simulate </a:t>
            </a:r>
            <a:r>
              <a:rPr lang="en-US" sz="2000" b="1" dirty="0"/>
              <a:t>multiple processes </a:t>
            </a:r>
            <a:r>
              <a:rPr lang="en-US" sz="2000" dirty="0"/>
              <a:t>through the whole development cycle</a:t>
            </a:r>
          </a:p>
          <a:p>
            <a:pPr marL="285750" indent="-285750">
              <a:buFont typeface="Arial" panose="020B0604020202020204" pitchFamily="34" charset="0"/>
              <a:buChar char="•"/>
            </a:pPr>
            <a:r>
              <a:rPr lang="en-US" sz="2000" dirty="0"/>
              <a:t>some already calibrated for intercrops</a:t>
            </a:r>
          </a:p>
          <a:p>
            <a:pPr marL="285750" indent="-285750">
              <a:buFont typeface="Arial" panose="020B0604020202020204" pitchFamily="34" charset="0"/>
              <a:buChar char="•"/>
            </a:pPr>
            <a:endParaRPr lang="fr-FR" sz="2000" dirty="0"/>
          </a:p>
          <a:p>
            <a:pPr marL="285750" indent="-285750">
              <a:buFont typeface="Arial" panose="020B0604020202020204" pitchFamily="34" charset="0"/>
              <a:buChar char="•"/>
            </a:pPr>
            <a:endParaRPr lang="fr-FR" sz="2000" dirty="0"/>
          </a:p>
          <a:p>
            <a:pPr marL="285750" indent="-285750">
              <a:buFont typeface="Arial" panose="020B0604020202020204" pitchFamily="34" charset="0"/>
              <a:buChar char="•"/>
            </a:pPr>
            <a:endParaRPr lang="fr-FR" sz="2000" dirty="0"/>
          </a:p>
          <a:p>
            <a:pPr marL="285750" indent="-285750">
              <a:buFont typeface="Arial" panose="020B0604020202020204" pitchFamily="34" charset="0"/>
              <a:buChar char="•"/>
            </a:pPr>
            <a:endParaRPr lang="en-US" sz="2000" dirty="0"/>
          </a:p>
          <a:p>
            <a:r>
              <a:rPr lang="en-US" sz="2000" u="sng" dirty="0"/>
              <a:t>Limits:</a:t>
            </a:r>
            <a:r>
              <a:rPr lang="en-US" sz="2000" dirty="0"/>
              <a:t> </a:t>
            </a:r>
          </a:p>
          <a:p>
            <a:pPr marL="285750" indent="-285750">
              <a:buFont typeface="Arial" panose="020B0604020202020204" pitchFamily="34" charset="0"/>
              <a:buChar char="•"/>
            </a:pPr>
            <a:r>
              <a:rPr lang="en-US" sz="2000" b="1" dirty="0"/>
              <a:t>no heterogeneity </a:t>
            </a:r>
          </a:p>
          <a:p>
            <a:pPr marL="285750" indent="-285750">
              <a:buFont typeface="Arial" panose="020B0604020202020204" pitchFamily="34" charset="0"/>
              <a:buChar char="•"/>
            </a:pPr>
            <a:r>
              <a:rPr lang="fr-FR" sz="2000" dirty="0"/>
              <a:t>n</a:t>
            </a:r>
            <a:r>
              <a:rPr lang="en-US" sz="2000" dirty="0"/>
              <a:t>o explicit plant-plant interactions</a:t>
            </a:r>
          </a:p>
        </p:txBody>
      </p:sp>
      <p:grpSp>
        <p:nvGrpSpPr>
          <p:cNvPr id="14" name="Group 13">
            <a:extLst>
              <a:ext uri="{FF2B5EF4-FFF2-40B4-BE49-F238E27FC236}">
                <a16:creationId xmlns:a16="http://schemas.microsoft.com/office/drawing/2014/main" id="{6FA4931E-31D7-4EBE-B7CA-871AB3A9DE52}"/>
              </a:ext>
            </a:extLst>
          </p:cNvPr>
          <p:cNvGrpSpPr/>
          <p:nvPr/>
        </p:nvGrpSpPr>
        <p:grpSpPr>
          <a:xfrm>
            <a:off x="1000565" y="3494635"/>
            <a:ext cx="4030394" cy="2008699"/>
            <a:chOff x="609627" y="3316611"/>
            <a:chExt cx="4419573" cy="2508299"/>
          </a:xfrm>
        </p:grpSpPr>
        <p:sp>
          <p:nvSpPr>
            <p:cNvPr id="15" name="Cube 14">
              <a:extLst>
                <a:ext uri="{FF2B5EF4-FFF2-40B4-BE49-F238E27FC236}">
                  <a16:creationId xmlns:a16="http://schemas.microsoft.com/office/drawing/2014/main" id="{F76E5637-B997-422A-8B21-5B40EEC7B660}"/>
                </a:ext>
              </a:extLst>
            </p:cNvPr>
            <p:cNvSpPr/>
            <p:nvPr/>
          </p:nvSpPr>
          <p:spPr>
            <a:xfrm>
              <a:off x="609627" y="3669906"/>
              <a:ext cx="4419573" cy="2155004"/>
            </a:xfrm>
            <a:prstGeom prst="cube">
              <a:avLst>
                <a:gd name="adj" fmla="val 82867"/>
              </a:avLst>
            </a:prstGeom>
            <a:solidFill>
              <a:srgbClr val="C28745">
                <a:alpha val="64706"/>
              </a:srgbClr>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6" name="Cube 15">
              <a:extLst>
                <a:ext uri="{FF2B5EF4-FFF2-40B4-BE49-F238E27FC236}">
                  <a16:creationId xmlns:a16="http://schemas.microsoft.com/office/drawing/2014/main" id="{261B9085-48C5-495C-AE58-EF0C94904685}"/>
                </a:ext>
              </a:extLst>
            </p:cNvPr>
            <p:cNvSpPr/>
            <p:nvPr/>
          </p:nvSpPr>
          <p:spPr>
            <a:xfrm>
              <a:off x="609627" y="3316611"/>
              <a:ext cx="4419573" cy="2155004"/>
            </a:xfrm>
            <a:prstGeom prst="cube">
              <a:avLst>
                <a:gd name="adj" fmla="val 82867"/>
              </a:avLst>
            </a:prstGeom>
            <a:solidFill>
              <a:srgbClr val="399758">
                <a:alpha val="65098"/>
              </a:srgbClr>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grpSp>
      <p:sp>
        <p:nvSpPr>
          <p:cNvPr id="4" name="Rectangle 3">
            <a:extLst>
              <a:ext uri="{FF2B5EF4-FFF2-40B4-BE49-F238E27FC236}">
                <a16:creationId xmlns:a16="http://schemas.microsoft.com/office/drawing/2014/main" id="{A991B7EC-E2DF-42F5-935B-60E23F56670F}"/>
              </a:ext>
            </a:extLst>
          </p:cNvPr>
          <p:cNvSpPr/>
          <p:nvPr/>
        </p:nvSpPr>
        <p:spPr>
          <a:xfrm>
            <a:off x="2437719" y="4044974"/>
            <a:ext cx="1156086" cy="369332"/>
          </a:xfrm>
          <a:prstGeom prst="rect">
            <a:avLst/>
          </a:prstGeom>
        </p:spPr>
        <p:txBody>
          <a:bodyPr wrap="none">
            <a:spAutoFit/>
          </a:bodyPr>
          <a:lstStyle/>
          <a:p>
            <a:r>
              <a:rPr lang="en-US" dirty="0"/>
              <a:t>1 m</a:t>
            </a:r>
            <a:r>
              <a:rPr lang="fr-FR" dirty="0"/>
              <a:t>² or</a:t>
            </a:r>
            <a:r>
              <a:rPr lang="en-US" dirty="0"/>
              <a:t> ha</a:t>
            </a:r>
          </a:p>
        </p:txBody>
      </p:sp>
      <p:sp>
        <p:nvSpPr>
          <p:cNvPr id="5" name="Rectangle 4">
            <a:extLst>
              <a:ext uri="{FF2B5EF4-FFF2-40B4-BE49-F238E27FC236}">
                <a16:creationId xmlns:a16="http://schemas.microsoft.com/office/drawing/2014/main" id="{78E0B7CE-92C7-49E9-9871-ED7098E26389}"/>
              </a:ext>
            </a:extLst>
          </p:cNvPr>
          <p:cNvSpPr/>
          <p:nvPr/>
        </p:nvSpPr>
        <p:spPr>
          <a:xfrm>
            <a:off x="6006792" y="3777561"/>
            <a:ext cx="3088346" cy="707886"/>
          </a:xfrm>
          <a:prstGeom prst="rect">
            <a:avLst/>
          </a:prstGeom>
        </p:spPr>
        <p:txBody>
          <a:bodyPr wrap="none">
            <a:spAutoFit/>
          </a:bodyPr>
          <a:lstStyle/>
          <a:p>
            <a:r>
              <a:rPr lang="fr-FR" sz="2000" i="1" dirty="0"/>
              <a:t>e.g.: S</a:t>
            </a:r>
            <a:r>
              <a:rPr lang="en-US" sz="2000" i="1" dirty="0"/>
              <a:t>TICS </a:t>
            </a:r>
            <a:r>
              <a:rPr lang="en-US" i="1" dirty="0"/>
              <a:t>(</a:t>
            </a:r>
            <a:r>
              <a:rPr lang="en-US" i="1" dirty="0" err="1"/>
              <a:t>Vezy</a:t>
            </a:r>
            <a:r>
              <a:rPr lang="en-US" i="1" dirty="0"/>
              <a:t> et al., 2023)</a:t>
            </a:r>
            <a:r>
              <a:rPr lang="en-US" sz="2000" i="1" dirty="0"/>
              <a:t>, </a:t>
            </a:r>
          </a:p>
          <a:p>
            <a:r>
              <a:rPr lang="fr-FR" sz="2000" i="1" dirty="0"/>
              <a:t>A</a:t>
            </a:r>
            <a:r>
              <a:rPr lang="en-US" sz="2000" i="1" dirty="0"/>
              <a:t>PSIM </a:t>
            </a:r>
            <a:r>
              <a:rPr lang="en-US" i="1" dirty="0"/>
              <a:t>(</a:t>
            </a:r>
            <a:r>
              <a:rPr lang="fr-FR" i="1" dirty="0" err="1"/>
              <a:t>Githui</a:t>
            </a:r>
            <a:r>
              <a:rPr lang="fr-FR" i="1" dirty="0"/>
              <a:t> et al., 2023</a:t>
            </a:r>
            <a:r>
              <a:rPr lang="en-US" i="1" dirty="0"/>
              <a:t>)</a:t>
            </a:r>
          </a:p>
        </p:txBody>
      </p:sp>
    </p:spTree>
    <p:extLst>
      <p:ext uri="{BB962C8B-B14F-4D97-AF65-F5344CB8AC3E}">
        <p14:creationId xmlns:p14="http://schemas.microsoft.com/office/powerpoint/2010/main" val="5737630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0FF5A-F545-B820-3B51-5271DB8E819E}"/>
              </a:ext>
            </a:extLst>
          </p:cNvPr>
          <p:cNvSpPr>
            <a:spLocks noGrp="1"/>
          </p:cNvSpPr>
          <p:nvPr>
            <p:ph type="title"/>
          </p:nvPr>
        </p:nvSpPr>
        <p:spPr>
          <a:xfrm>
            <a:off x="664848" y="311470"/>
            <a:ext cx="9181151" cy="896121"/>
          </a:xfrm>
        </p:spPr>
        <p:txBody>
          <a:bodyPr>
            <a:normAutofit/>
          </a:bodyPr>
          <a:lstStyle/>
          <a:p>
            <a:r>
              <a:rPr lang="fr-FR" sz="4000" dirty="0"/>
              <a:t>FSPM </a:t>
            </a:r>
            <a:r>
              <a:rPr lang="fr-FR" sz="3200" dirty="0"/>
              <a:t>(</a:t>
            </a:r>
            <a:r>
              <a:rPr lang="fr-FR" sz="3200" b="1" dirty="0" err="1"/>
              <a:t>F</a:t>
            </a:r>
            <a:r>
              <a:rPr lang="fr-FR" sz="3200" dirty="0" err="1"/>
              <a:t>unctional</a:t>
            </a:r>
            <a:r>
              <a:rPr lang="fr-FR" sz="3200" dirty="0"/>
              <a:t>-</a:t>
            </a:r>
            <a:r>
              <a:rPr lang="fr-FR" sz="3200" b="1" dirty="0"/>
              <a:t>S</a:t>
            </a:r>
            <a:r>
              <a:rPr lang="fr-FR" sz="3200" dirty="0"/>
              <a:t>tructural </a:t>
            </a:r>
            <a:r>
              <a:rPr lang="fr-FR" sz="3200" b="1" dirty="0"/>
              <a:t>P</a:t>
            </a:r>
            <a:r>
              <a:rPr lang="fr-FR" sz="3200" dirty="0"/>
              <a:t>lant </a:t>
            </a:r>
            <a:r>
              <a:rPr lang="fr-FR" sz="3200" b="1" dirty="0" err="1"/>
              <a:t>M</a:t>
            </a:r>
            <a:r>
              <a:rPr lang="fr-FR" sz="3200" dirty="0" err="1"/>
              <a:t>odels</a:t>
            </a:r>
            <a:r>
              <a:rPr lang="fr-FR" sz="3200" dirty="0"/>
              <a:t>) </a:t>
            </a:r>
          </a:p>
        </p:txBody>
      </p:sp>
      <p:sp>
        <p:nvSpPr>
          <p:cNvPr id="9" name="Content Placeholder 7">
            <a:extLst>
              <a:ext uri="{FF2B5EF4-FFF2-40B4-BE49-F238E27FC236}">
                <a16:creationId xmlns:a16="http://schemas.microsoft.com/office/drawing/2014/main" id="{3944096A-74EF-4E2D-9E5D-E63FEDC5CCB4}"/>
              </a:ext>
            </a:extLst>
          </p:cNvPr>
          <p:cNvSpPr txBox="1">
            <a:spLocks/>
          </p:cNvSpPr>
          <p:nvPr/>
        </p:nvSpPr>
        <p:spPr>
          <a:xfrm>
            <a:off x="664848" y="1028080"/>
            <a:ext cx="4017852" cy="294283"/>
          </a:xfrm>
          <a:prstGeom prst="rect">
            <a:avLst/>
          </a:prstGeom>
          <a:ln w="28575">
            <a:noFill/>
          </a:ln>
        </p:spPr>
        <p:txBody>
          <a:bodyPr vert="horz" lIns="91440" tIns="45720" rIns="91440" bIns="45720" rtlCol="0" anchor="ctr">
            <a:normAutofit lnSpcReduction="10000"/>
          </a:bodyPr>
          <a:lstStyle>
            <a:defPPr>
              <a:defRPr lang="fr-FR"/>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fr-FR" sz="1400" dirty="0">
                <a:solidFill>
                  <a:schemeClr val="tx1"/>
                </a:solidFill>
              </a:rPr>
              <a:t>(</a:t>
            </a:r>
            <a:r>
              <a:rPr lang="da-DK" sz="1400" dirty="0">
                <a:solidFill>
                  <a:schemeClr val="tx1"/>
                </a:solidFill>
              </a:rPr>
              <a:t>Evers et al., 2019; </a:t>
            </a:r>
            <a:r>
              <a:rPr lang="fr-FR" sz="1400" dirty="0" err="1">
                <a:solidFill>
                  <a:schemeClr val="tx1"/>
                </a:solidFill>
              </a:rPr>
              <a:t>Louarn</a:t>
            </a:r>
            <a:r>
              <a:rPr lang="fr-FR" sz="1400" dirty="0">
                <a:solidFill>
                  <a:schemeClr val="tx1"/>
                </a:solidFill>
              </a:rPr>
              <a:t> and Song, 2020)</a:t>
            </a:r>
          </a:p>
        </p:txBody>
      </p:sp>
      <p:sp>
        <p:nvSpPr>
          <p:cNvPr id="82" name="Slide Number Placeholder 81">
            <a:extLst>
              <a:ext uri="{FF2B5EF4-FFF2-40B4-BE49-F238E27FC236}">
                <a16:creationId xmlns:a16="http://schemas.microsoft.com/office/drawing/2014/main" id="{FE30BE75-671C-4800-ADD5-0E3582D2062B}"/>
              </a:ext>
            </a:extLst>
          </p:cNvPr>
          <p:cNvSpPr>
            <a:spLocks noGrp="1"/>
          </p:cNvSpPr>
          <p:nvPr>
            <p:ph type="sldNum" sz="quarter" idx="12"/>
          </p:nvPr>
        </p:nvSpPr>
        <p:spPr/>
        <p:txBody>
          <a:bodyPr/>
          <a:lstStyle/>
          <a:p>
            <a:fld id="{27C6CCC6-2BE5-4E42-96A4-D1E8E81A3D8E}" type="slidenum">
              <a:rPr lang="fr-FR" smtClean="0"/>
              <a:t>5</a:t>
            </a:fld>
            <a:endParaRPr lang="fr-FR"/>
          </a:p>
        </p:txBody>
      </p:sp>
      <p:sp>
        <p:nvSpPr>
          <p:cNvPr id="19" name="Rectangle 18">
            <a:extLst>
              <a:ext uri="{FF2B5EF4-FFF2-40B4-BE49-F238E27FC236}">
                <a16:creationId xmlns:a16="http://schemas.microsoft.com/office/drawing/2014/main" id="{65E17AAE-D403-4C0C-BA8C-9BB147F88A50}"/>
              </a:ext>
            </a:extLst>
          </p:cNvPr>
          <p:cNvSpPr/>
          <p:nvPr/>
        </p:nvSpPr>
        <p:spPr>
          <a:xfrm>
            <a:off x="664848" y="1958202"/>
            <a:ext cx="8854068" cy="3785652"/>
          </a:xfrm>
          <a:prstGeom prst="rect">
            <a:avLst/>
          </a:prstGeom>
        </p:spPr>
        <p:txBody>
          <a:bodyPr wrap="square">
            <a:spAutoFit/>
          </a:bodyPr>
          <a:lstStyle/>
          <a:p>
            <a:r>
              <a:rPr lang="en-US" sz="2000" u="sng" dirty="0"/>
              <a:t>Objective:</a:t>
            </a:r>
            <a:r>
              <a:rPr lang="en-US" sz="2000" dirty="0"/>
              <a:t> integration of knowledge at organ scale </a:t>
            </a:r>
          </a:p>
          <a:p>
            <a:endParaRPr lang="en-US" sz="2000" dirty="0"/>
          </a:p>
          <a:p>
            <a:r>
              <a:rPr lang="en-US" sz="2000" u="sng" dirty="0"/>
              <a:t>Characteristics: </a:t>
            </a:r>
          </a:p>
          <a:p>
            <a:pPr marL="285750" indent="-285750">
              <a:buFont typeface="Arial" panose="020B0604020202020204" pitchFamily="34" charset="0"/>
              <a:buChar char="•"/>
            </a:pPr>
            <a:r>
              <a:rPr lang="en-US" sz="2000" dirty="0"/>
              <a:t>organ scale </a:t>
            </a:r>
          </a:p>
          <a:p>
            <a:pPr marL="285750" indent="-285750">
              <a:buFont typeface="Arial" panose="020B0604020202020204" pitchFamily="34" charset="0"/>
              <a:buChar char="•"/>
            </a:pPr>
            <a:r>
              <a:rPr lang="en-US" sz="2000" b="1" dirty="0"/>
              <a:t>3D plant structure </a:t>
            </a:r>
            <a:r>
              <a:rPr lang="en-US" sz="2000" dirty="0"/>
              <a:t>influence and emerges from plant processes</a:t>
            </a:r>
          </a:p>
          <a:p>
            <a:pPr marL="285750" indent="-285750">
              <a:buFont typeface="Arial" panose="020B0604020202020204" pitchFamily="34" charset="0"/>
              <a:buChar char="•"/>
            </a:pPr>
            <a:r>
              <a:rPr lang="en-US" sz="2000" dirty="0"/>
              <a:t>enable to represent heterogeneous crops</a:t>
            </a:r>
          </a:p>
          <a:p>
            <a:pPr marL="285750" indent="-285750">
              <a:buFont typeface="Arial" panose="020B0604020202020204" pitchFamily="34" charset="0"/>
              <a:buChar char="•"/>
            </a:pPr>
            <a:endParaRPr lang="fr-FR" sz="2000" dirty="0"/>
          </a:p>
          <a:p>
            <a:r>
              <a:rPr lang="fr-FR" sz="2000" u="sng" dirty="0"/>
              <a:t>Limits:</a:t>
            </a:r>
          </a:p>
          <a:p>
            <a:pPr marL="285750" indent="-285750">
              <a:buFont typeface="Arial" panose="020B0604020202020204" pitchFamily="34" charset="0"/>
              <a:buChar char="•"/>
            </a:pPr>
            <a:r>
              <a:rPr lang="fr-FR" sz="2000" b="1" dirty="0" err="1"/>
              <a:t>complexity</a:t>
            </a:r>
            <a:r>
              <a:rPr lang="fr-FR" sz="2000" dirty="0"/>
              <a:t> </a:t>
            </a:r>
          </a:p>
          <a:p>
            <a:pPr marL="285750" indent="-285750">
              <a:buFont typeface="Arial" panose="020B0604020202020204" pitchFamily="34" charset="0"/>
              <a:buChar char="•"/>
            </a:pPr>
            <a:r>
              <a:rPr lang="fr-FR" sz="2000" dirty="0" err="1"/>
              <a:t>consider</a:t>
            </a:r>
            <a:r>
              <a:rPr lang="fr-FR" sz="2000" dirty="0"/>
              <a:t> few </a:t>
            </a:r>
            <a:r>
              <a:rPr lang="fr-FR" sz="2000" dirty="0" err="1"/>
              <a:t>processes</a:t>
            </a:r>
            <a:r>
              <a:rPr lang="fr-FR" sz="2000" dirty="0"/>
              <a:t> at the </a:t>
            </a:r>
            <a:r>
              <a:rPr lang="fr-FR" sz="2000" dirty="0" err="1"/>
              <a:t>same</a:t>
            </a:r>
            <a:r>
              <a:rPr lang="fr-FR" sz="2000" dirty="0"/>
              <a:t> time</a:t>
            </a:r>
          </a:p>
          <a:p>
            <a:pPr marL="285750" indent="-285750">
              <a:buFont typeface="Arial" panose="020B0604020202020204" pitchFamily="34" charset="0"/>
              <a:buChar char="•"/>
            </a:pPr>
            <a:r>
              <a:rPr lang="fr-FR" sz="2000" dirty="0" err="1"/>
              <a:t>cannot</a:t>
            </a:r>
            <a:r>
              <a:rPr lang="fr-FR" sz="2000" dirty="0"/>
              <a:t> </a:t>
            </a:r>
            <a:r>
              <a:rPr lang="fr-FR" sz="2000" dirty="0" err="1"/>
              <a:t>always</a:t>
            </a:r>
            <a:r>
              <a:rPr lang="fr-FR" sz="2000" dirty="0"/>
              <a:t> </a:t>
            </a:r>
            <a:r>
              <a:rPr lang="fr-FR" sz="2000" dirty="0" err="1"/>
              <a:t>simulate</a:t>
            </a:r>
            <a:r>
              <a:rPr lang="fr-FR" sz="2000" dirty="0"/>
              <a:t> </a:t>
            </a:r>
            <a:r>
              <a:rPr lang="fr-FR" sz="2000" dirty="0" err="1"/>
              <a:t>whole</a:t>
            </a:r>
            <a:r>
              <a:rPr lang="fr-FR" sz="2000" dirty="0"/>
              <a:t> </a:t>
            </a:r>
            <a:r>
              <a:rPr lang="fr-FR" sz="2000" dirty="0" err="1"/>
              <a:t>development</a:t>
            </a:r>
            <a:r>
              <a:rPr lang="fr-FR" sz="2000" dirty="0"/>
              <a:t> cycle</a:t>
            </a:r>
          </a:p>
          <a:p>
            <a:pPr marL="285750" indent="-285750">
              <a:buFont typeface="Arial" panose="020B0604020202020204" pitchFamily="34" charset="0"/>
              <a:buChar char="•"/>
            </a:pPr>
            <a:r>
              <a:rPr lang="fr-FR" sz="2000" dirty="0" err="1">
                <a:sym typeface="Wingdings" panose="05000000000000000000" pitchFamily="2" charset="2"/>
              </a:rPr>
              <a:t>need</a:t>
            </a:r>
            <a:r>
              <a:rPr lang="fr-FR" sz="2000" dirty="0">
                <a:sym typeface="Wingdings" panose="05000000000000000000" pitchFamily="2" charset="2"/>
              </a:rPr>
              <a:t> </a:t>
            </a:r>
            <a:r>
              <a:rPr lang="fr-FR" sz="2000" b="1" dirty="0">
                <a:sym typeface="Wingdings" panose="05000000000000000000" pitchFamily="2" charset="2"/>
              </a:rPr>
              <a:t>lots of 3D </a:t>
            </a:r>
            <a:r>
              <a:rPr lang="fr-FR" sz="2000" b="1" dirty="0" err="1">
                <a:sym typeface="Wingdings" panose="05000000000000000000" pitchFamily="2" charset="2"/>
              </a:rPr>
              <a:t>measures</a:t>
            </a:r>
            <a:r>
              <a:rPr lang="fr-FR" sz="2000" b="1" dirty="0">
                <a:sym typeface="Wingdings" panose="05000000000000000000" pitchFamily="2" charset="2"/>
              </a:rPr>
              <a:t> </a:t>
            </a:r>
            <a:r>
              <a:rPr lang="fr-FR" sz="2000" dirty="0">
                <a:sym typeface="Wingdings" panose="05000000000000000000" pitchFamily="2" charset="2"/>
              </a:rPr>
              <a:t>(hard to </a:t>
            </a:r>
            <a:r>
              <a:rPr lang="fr-FR" sz="2000" dirty="0" err="1">
                <a:sym typeface="Wingdings" panose="05000000000000000000" pitchFamily="2" charset="2"/>
              </a:rPr>
              <a:t>get</a:t>
            </a:r>
            <a:r>
              <a:rPr lang="fr-FR" sz="2000" dirty="0">
                <a:sym typeface="Wingdings" panose="05000000000000000000" pitchFamily="2" charset="2"/>
              </a:rPr>
              <a:t>)</a:t>
            </a:r>
            <a:endParaRPr lang="en-US" sz="2000" dirty="0"/>
          </a:p>
        </p:txBody>
      </p:sp>
      <p:pic>
        <p:nvPicPr>
          <p:cNvPr id="4" name="Picture 3">
            <a:extLst>
              <a:ext uri="{FF2B5EF4-FFF2-40B4-BE49-F238E27FC236}">
                <a16:creationId xmlns:a16="http://schemas.microsoft.com/office/drawing/2014/main" id="{8BDC890E-5D70-44A9-8DD3-0EFCDCD7BC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78017" y="496153"/>
            <a:ext cx="2575783" cy="2530059"/>
          </a:xfrm>
          <a:prstGeom prst="rect">
            <a:avLst/>
          </a:prstGeom>
        </p:spPr>
      </p:pic>
      <p:sp>
        <p:nvSpPr>
          <p:cNvPr id="5" name="Rectangle 4">
            <a:extLst>
              <a:ext uri="{FF2B5EF4-FFF2-40B4-BE49-F238E27FC236}">
                <a16:creationId xmlns:a16="http://schemas.microsoft.com/office/drawing/2014/main" id="{1E1673D4-AF18-49DF-82F2-A993990254E8}"/>
              </a:ext>
            </a:extLst>
          </p:cNvPr>
          <p:cNvSpPr/>
          <p:nvPr/>
        </p:nvSpPr>
        <p:spPr>
          <a:xfrm>
            <a:off x="9023795" y="3037646"/>
            <a:ext cx="2084225" cy="646331"/>
          </a:xfrm>
          <a:prstGeom prst="rect">
            <a:avLst/>
          </a:prstGeom>
        </p:spPr>
        <p:txBody>
          <a:bodyPr wrap="none">
            <a:spAutoFit/>
          </a:bodyPr>
          <a:lstStyle/>
          <a:p>
            <a:pPr algn="ctr"/>
            <a:r>
              <a:rPr lang="fr-FR" sz="2000" i="1" dirty="0"/>
              <a:t>V</a:t>
            </a:r>
            <a:r>
              <a:rPr lang="en-US" sz="2000" i="1" dirty="0" err="1"/>
              <a:t>irtual</a:t>
            </a:r>
            <a:r>
              <a:rPr lang="en-US" sz="2000" i="1" dirty="0"/>
              <a:t> </a:t>
            </a:r>
            <a:r>
              <a:rPr lang="en-US" sz="2000" i="1" dirty="0" err="1"/>
              <a:t>GrassLand</a:t>
            </a:r>
            <a:r>
              <a:rPr lang="en-US" sz="2000" i="1" dirty="0"/>
              <a:t> </a:t>
            </a:r>
          </a:p>
          <a:p>
            <a:pPr algn="ctr"/>
            <a:r>
              <a:rPr lang="en-US" sz="1600" i="1" dirty="0"/>
              <a:t>(</a:t>
            </a:r>
            <a:r>
              <a:rPr lang="en-US" sz="1600" i="1" dirty="0" err="1"/>
              <a:t>Louarn</a:t>
            </a:r>
            <a:r>
              <a:rPr lang="en-US" sz="1600" i="1" dirty="0"/>
              <a:t> et al., 2014)</a:t>
            </a:r>
            <a:endParaRPr lang="en-US" sz="1600" dirty="0"/>
          </a:p>
        </p:txBody>
      </p:sp>
      <p:pic>
        <p:nvPicPr>
          <p:cNvPr id="10" name="Picture 9">
            <a:extLst>
              <a:ext uri="{FF2B5EF4-FFF2-40B4-BE49-F238E27FC236}">
                <a16:creationId xmlns:a16="http://schemas.microsoft.com/office/drawing/2014/main" id="{EEB096DD-4BD3-43A2-97AB-E13E0F14B2D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98056" y="3695411"/>
            <a:ext cx="3461848" cy="2376430"/>
          </a:xfrm>
          <a:prstGeom prst="rect">
            <a:avLst/>
          </a:prstGeom>
        </p:spPr>
      </p:pic>
      <p:sp>
        <p:nvSpPr>
          <p:cNvPr id="15" name="Rectangle 14">
            <a:extLst>
              <a:ext uri="{FF2B5EF4-FFF2-40B4-BE49-F238E27FC236}">
                <a16:creationId xmlns:a16="http://schemas.microsoft.com/office/drawing/2014/main" id="{77F72D28-7A0F-4802-BE31-05C8EBC2CD75}"/>
              </a:ext>
            </a:extLst>
          </p:cNvPr>
          <p:cNvSpPr/>
          <p:nvPr/>
        </p:nvSpPr>
        <p:spPr>
          <a:xfrm>
            <a:off x="8180648" y="6107452"/>
            <a:ext cx="2096664" cy="646331"/>
          </a:xfrm>
          <a:prstGeom prst="rect">
            <a:avLst/>
          </a:prstGeom>
        </p:spPr>
        <p:txBody>
          <a:bodyPr wrap="none">
            <a:spAutoFit/>
          </a:bodyPr>
          <a:lstStyle/>
          <a:p>
            <a:pPr algn="ctr"/>
            <a:r>
              <a:rPr lang="fr-FR" sz="2000" i="1" dirty="0"/>
              <a:t>SIMBAL</a:t>
            </a:r>
            <a:endParaRPr lang="en-US" sz="2000" i="1" dirty="0"/>
          </a:p>
          <a:p>
            <a:pPr algn="ctr"/>
            <a:r>
              <a:rPr lang="en-US" sz="1600" i="1" dirty="0"/>
              <a:t>(</a:t>
            </a:r>
            <a:r>
              <a:rPr lang="en-US" sz="1600" i="1" dirty="0" err="1"/>
              <a:t>Perthame</a:t>
            </a:r>
            <a:r>
              <a:rPr lang="en-US" sz="1600" i="1" dirty="0"/>
              <a:t> et al., 2023)</a:t>
            </a:r>
            <a:endParaRPr lang="en-US" sz="1600" dirty="0"/>
          </a:p>
        </p:txBody>
      </p:sp>
      <p:pic>
        <p:nvPicPr>
          <p:cNvPr id="16" name="Graphic 15">
            <a:extLst>
              <a:ext uri="{FF2B5EF4-FFF2-40B4-BE49-F238E27FC236}">
                <a16:creationId xmlns:a16="http://schemas.microsoft.com/office/drawing/2014/main" id="{EEAA3CC1-A076-43CF-B9CF-F66C4127764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897120" y="5767043"/>
            <a:ext cx="1202056" cy="930624"/>
          </a:xfrm>
          <a:prstGeom prst="rect">
            <a:avLst/>
          </a:prstGeom>
        </p:spPr>
      </p:pic>
    </p:spTree>
    <p:extLst>
      <p:ext uri="{BB962C8B-B14F-4D97-AF65-F5344CB8AC3E}">
        <p14:creationId xmlns:p14="http://schemas.microsoft.com/office/powerpoint/2010/main" val="791221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65ED3D-3230-49E3-8660-65D703D2BCE4}"/>
              </a:ext>
            </a:extLst>
          </p:cNvPr>
          <p:cNvSpPr>
            <a:spLocks noGrp="1"/>
          </p:cNvSpPr>
          <p:nvPr>
            <p:ph type="sldNum" sz="quarter" idx="12"/>
          </p:nvPr>
        </p:nvSpPr>
        <p:spPr/>
        <p:txBody>
          <a:bodyPr/>
          <a:lstStyle/>
          <a:p>
            <a:fld id="{4D0921BC-FC9B-4B20-AD4C-0D7EEBC2A9A8}" type="slidenum">
              <a:rPr lang="en-US" smtClean="0"/>
              <a:t>6</a:t>
            </a:fld>
            <a:endParaRPr lang="en-US"/>
          </a:p>
        </p:txBody>
      </p:sp>
      <p:sp>
        <p:nvSpPr>
          <p:cNvPr id="8" name="Title 1">
            <a:extLst>
              <a:ext uri="{FF2B5EF4-FFF2-40B4-BE49-F238E27FC236}">
                <a16:creationId xmlns:a16="http://schemas.microsoft.com/office/drawing/2014/main" id="{B82B70B0-6F28-4241-A580-5ACAC2536C2E}"/>
              </a:ext>
            </a:extLst>
          </p:cNvPr>
          <p:cNvSpPr txBox="1">
            <a:spLocks/>
          </p:cNvSpPr>
          <p:nvPr/>
        </p:nvSpPr>
        <p:spPr>
          <a:xfrm>
            <a:off x="838200" y="25715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Parametric 3D plant models</a:t>
            </a:r>
          </a:p>
        </p:txBody>
      </p:sp>
      <p:sp>
        <p:nvSpPr>
          <p:cNvPr id="2" name="Rectangle 1">
            <a:extLst>
              <a:ext uri="{FF2B5EF4-FFF2-40B4-BE49-F238E27FC236}">
                <a16:creationId xmlns:a16="http://schemas.microsoft.com/office/drawing/2014/main" id="{8E8D08FC-2001-4E1A-B58C-9FC29BB0A560}"/>
              </a:ext>
            </a:extLst>
          </p:cNvPr>
          <p:cNvSpPr/>
          <p:nvPr/>
        </p:nvSpPr>
        <p:spPr>
          <a:xfrm>
            <a:off x="838197" y="1461153"/>
            <a:ext cx="6096000" cy="2862322"/>
          </a:xfrm>
          <a:prstGeom prst="rect">
            <a:avLst/>
          </a:prstGeom>
        </p:spPr>
        <p:txBody>
          <a:bodyPr>
            <a:spAutoFit/>
          </a:bodyPr>
          <a:lstStyle/>
          <a:p>
            <a:r>
              <a:rPr lang="en-US" sz="2000" u="sng" dirty="0"/>
              <a:t>Objective:</a:t>
            </a:r>
            <a:r>
              <a:rPr lang="en-US" sz="2000" dirty="0"/>
              <a:t> computer graphics</a:t>
            </a:r>
          </a:p>
          <a:p>
            <a:endParaRPr lang="en-US" sz="2000" dirty="0"/>
          </a:p>
          <a:p>
            <a:r>
              <a:rPr lang="en-US" sz="2000" u="sng" dirty="0"/>
              <a:t>Characteristics: </a:t>
            </a:r>
          </a:p>
          <a:p>
            <a:pPr marL="285750" indent="-285750">
              <a:buFont typeface="Arial" panose="020B0604020202020204" pitchFamily="34" charset="0"/>
              <a:buChar char="•"/>
            </a:pPr>
            <a:r>
              <a:rPr lang="en-US" sz="2000" b="1" dirty="0"/>
              <a:t>3D plant structure </a:t>
            </a:r>
          </a:p>
          <a:p>
            <a:pPr marL="285750" indent="-285750">
              <a:buFont typeface="Arial" panose="020B0604020202020204" pitchFamily="34" charset="0"/>
              <a:buChar char="•"/>
            </a:pPr>
            <a:r>
              <a:rPr lang="en-US" sz="2000" b="1" dirty="0"/>
              <a:t>easy to use </a:t>
            </a:r>
            <a:r>
              <a:rPr lang="en-US" sz="2000" dirty="0"/>
              <a:t>for non-specialists</a:t>
            </a:r>
          </a:p>
          <a:p>
            <a:pPr marL="285750" indent="-285750">
              <a:buFont typeface="Arial" panose="020B0604020202020204" pitchFamily="34" charset="0"/>
              <a:buChar char="•"/>
            </a:pPr>
            <a:endParaRPr lang="fr-FR" sz="2000" dirty="0"/>
          </a:p>
          <a:p>
            <a:r>
              <a:rPr lang="fr-FR" sz="2000" u="sng" dirty="0"/>
              <a:t>Limits:</a:t>
            </a:r>
            <a:endParaRPr lang="fr-FR" sz="2000" dirty="0"/>
          </a:p>
          <a:p>
            <a:pPr marL="342900" indent="-342900">
              <a:buFont typeface="Arial" panose="020B0604020202020204" pitchFamily="34" charset="0"/>
              <a:buChar char="•"/>
            </a:pPr>
            <a:r>
              <a:rPr lang="fr-FR" sz="2000" dirty="0"/>
              <a:t>no </a:t>
            </a:r>
            <a:r>
              <a:rPr lang="fr-FR" sz="2000" dirty="0" err="1"/>
              <a:t>botanical</a:t>
            </a:r>
            <a:r>
              <a:rPr lang="fr-FR" sz="2000" dirty="0"/>
              <a:t> </a:t>
            </a:r>
            <a:r>
              <a:rPr lang="fr-FR" sz="2000" dirty="0" err="1"/>
              <a:t>accuracy</a:t>
            </a:r>
            <a:endParaRPr lang="fr-FR" sz="2000" dirty="0"/>
          </a:p>
          <a:p>
            <a:pPr marL="342900" indent="-342900">
              <a:buFont typeface="Arial" panose="020B0604020202020204" pitchFamily="34" charset="0"/>
              <a:buChar char="•"/>
            </a:pPr>
            <a:r>
              <a:rPr lang="fr-FR" sz="2000" dirty="0"/>
              <a:t>no </a:t>
            </a:r>
            <a:r>
              <a:rPr lang="fr-FR" sz="2000" dirty="0" err="1"/>
              <a:t>consideration</a:t>
            </a:r>
            <a:r>
              <a:rPr lang="fr-FR" sz="2000" dirty="0"/>
              <a:t> of </a:t>
            </a:r>
            <a:r>
              <a:rPr lang="fr-FR" sz="2000" dirty="0" err="1"/>
              <a:t>environment</a:t>
            </a:r>
            <a:endParaRPr lang="fr-FR" sz="2000" dirty="0"/>
          </a:p>
        </p:txBody>
      </p:sp>
      <p:pic>
        <p:nvPicPr>
          <p:cNvPr id="6" name="Picture 5">
            <a:extLst>
              <a:ext uri="{FF2B5EF4-FFF2-40B4-BE49-F238E27FC236}">
                <a16:creationId xmlns:a16="http://schemas.microsoft.com/office/drawing/2014/main" id="{167F340F-5AC4-4435-B922-6DA1716E705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92046" y="660894"/>
            <a:ext cx="2181027" cy="2718145"/>
          </a:xfrm>
          <a:prstGeom prst="rect">
            <a:avLst/>
          </a:prstGeom>
        </p:spPr>
      </p:pic>
      <p:pic>
        <p:nvPicPr>
          <p:cNvPr id="9" name="Picture 8">
            <a:extLst>
              <a:ext uri="{FF2B5EF4-FFF2-40B4-BE49-F238E27FC236}">
                <a16:creationId xmlns:a16="http://schemas.microsoft.com/office/drawing/2014/main" id="{3E537469-C3FB-4426-AB97-44E40DBF09D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73179" y="4395611"/>
            <a:ext cx="5365595" cy="2002471"/>
          </a:xfrm>
          <a:prstGeom prst="rect">
            <a:avLst/>
          </a:prstGeom>
        </p:spPr>
      </p:pic>
      <p:sp>
        <p:nvSpPr>
          <p:cNvPr id="10" name="Rectangle 9">
            <a:extLst>
              <a:ext uri="{FF2B5EF4-FFF2-40B4-BE49-F238E27FC236}">
                <a16:creationId xmlns:a16="http://schemas.microsoft.com/office/drawing/2014/main" id="{2E06841E-3BC1-4FDF-9954-990431A04ECA}"/>
              </a:ext>
            </a:extLst>
          </p:cNvPr>
          <p:cNvSpPr/>
          <p:nvPr/>
        </p:nvSpPr>
        <p:spPr>
          <a:xfrm>
            <a:off x="8992046" y="3384756"/>
            <a:ext cx="2192139" cy="646331"/>
          </a:xfrm>
          <a:prstGeom prst="rect">
            <a:avLst/>
          </a:prstGeom>
        </p:spPr>
        <p:txBody>
          <a:bodyPr wrap="none">
            <a:spAutoFit/>
          </a:bodyPr>
          <a:lstStyle/>
          <a:p>
            <a:pPr algn="ctr"/>
            <a:r>
              <a:rPr lang="en-US" sz="2000" i="1" dirty="0"/>
              <a:t>parametric trees </a:t>
            </a:r>
          </a:p>
          <a:p>
            <a:pPr algn="ctr"/>
            <a:r>
              <a:rPr lang="en-US" sz="1600" i="1" dirty="0"/>
              <a:t>(Weber and Penn, 1995)</a:t>
            </a:r>
          </a:p>
        </p:txBody>
      </p:sp>
      <p:sp>
        <p:nvSpPr>
          <p:cNvPr id="11" name="Rectangle 10">
            <a:extLst>
              <a:ext uri="{FF2B5EF4-FFF2-40B4-BE49-F238E27FC236}">
                <a16:creationId xmlns:a16="http://schemas.microsoft.com/office/drawing/2014/main" id="{B985193E-0B23-461F-9DCB-5008D9DBA1EF}"/>
              </a:ext>
            </a:extLst>
          </p:cNvPr>
          <p:cNvSpPr/>
          <p:nvPr/>
        </p:nvSpPr>
        <p:spPr>
          <a:xfrm>
            <a:off x="9138774" y="5181082"/>
            <a:ext cx="1887569" cy="646331"/>
          </a:xfrm>
          <a:prstGeom prst="rect">
            <a:avLst/>
          </a:prstGeom>
        </p:spPr>
        <p:txBody>
          <a:bodyPr wrap="none">
            <a:spAutoFit/>
          </a:bodyPr>
          <a:lstStyle/>
          <a:p>
            <a:pPr algn="ctr"/>
            <a:r>
              <a:rPr lang="en-US" sz="2000" i="1" dirty="0" err="1"/>
              <a:t>TreeSketch</a:t>
            </a:r>
            <a:r>
              <a:rPr lang="en-US" sz="2000" i="1" dirty="0"/>
              <a:t> </a:t>
            </a:r>
          </a:p>
          <a:p>
            <a:pPr algn="ctr"/>
            <a:r>
              <a:rPr lang="en-US" sz="1600" i="1" dirty="0"/>
              <a:t>(</a:t>
            </a:r>
            <a:r>
              <a:rPr lang="en-US" sz="1600" i="1" dirty="0" err="1"/>
              <a:t>Longay</a:t>
            </a:r>
            <a:r>
              <a:rPr lang="en-US" sz="1600" i="1" dirty="0"/>
              <a:t> et al., 2012)</a:t>
            </a:r>
          </a:p>
        </p:txBody>
      </p:sp>
    </p:spTree>
    <p:extLst>
      <p:ext uri="{BB962C8B-B14F-4D97-AF65-F5344CB8AC3E}">
        <p14:creationId xmlns:p14="http://schemas.microsoft.com/office/powerpoint/2010/main" val="31060902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Rectangle: Diagonal Corners Snipped 16">
            <a:extLst>
              <a:ext uri="{FF2B5EF4-FFF2-40B4-BE49-F238E27FC236}">
                <a16:creationId xmlns:a16="http://schemas.microsoft.com/office/drawing/2014/main" id="{293670AD-7624-4B36-BD7D-46DED881E2B9}"/>
              </a:ext>
            </a:extLst>
          </p:cNvPr>
          <p:cNvSpPr/>
          <p:nvPr/>
        </p:nvSpPr>
        <p:spPr>
          <a:xfrm>
            <a:off x="8030931" y="3036958"/>
            <a:ext cx="3292630" cy="2743199"/>
          </a:xfrm>
          <a:prstGeom prst="snip2DiagRect">
            <a:avLst/>
          </a:prstGeom>
          <a:solidFill>
            <a:srgbClr val="FFD89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Diagonal Corners Snipped 15">
            <a:extLst>
              <a:ext uri="{FF2B5EF4-FFF2-40B4-BE49-F238E27FC236}">
                <a16:creationId xmlns:a16="http://schemas.microsoft.com/office/drawing/2014/main" id="{707F41A6-3159-46CD-83B5-02EAD5C66679}"/>
              </a:ext>
            </a:extLst>
          </p:cNvPr>
          <p:cNvSpPr/>
          <p:nvPr/>
        </p:nvSpPr>
        <p:spPr>
          <a:xfrm>
            <a:off x="4569948" y="3019458"/>
            <a:ext cx="3365454" cy="2743199"/>
          </a:xfrm>
          <a:prstGeom prst="snip2DiagRect">
            <a:avLst/>
          </a:prstGeom>
          <a:solidFill>
            <a:srgbClr val="FFD89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Diagonal Corners Snipped 3">
            <a:extLst>
              <a:ext uri="{FF2B5EF4-FFF2-40B4-BE49-F238E27FC236}">
                <a16:creationId xmlns:a16="http://schemas.microsoft.com/office/drawing/2014/main" id="{D8A134D3-7C03-4F97-9E52-EBA5B21452F6}"/>
              </a:ext>
            </a:extLst>
          </p:cNvPr>
          <p:cNvSpPr/>
          <p:nvPr/>
        </p:nvSpPr>
        <p:spPr>
          <a:xfrm>
            <a:off x="607383" y="3019458"/>
            <a:ext cx="3857923" cy="2743199"/>
          </a:xfrm>
          <a:prstGeom prst="snip2DiagRect">
            <a:avLst/>
          </a:prstGeom>
          <a:solidFill>
            <a:srgbClr val="FFD89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B19D09E-F77F-4792-9293-E79FCCDB1E44}"/>
              </a:ext>
            </a:extLst>
          </p:cNvPr>
          <p:cNvSpPr/>
          <p:nvPr/>
        </p:nvSpPr>
        <p:spPr>
          <a:xfrm>
            <a:off x="547423" y="1772818"/>
            <a:ext cx="10718886" cy="830997"/>
          </a:xfrm>
          <a:prstGeom prst="rect">
            <a:avLst/>
          </a:prstGeom>
        </p:spPr>
        <p:txBody>
          <a:bodyPr wrap="square">
            <a:spAutoFit/>
          </a:bodyPr>
          <a:lstStyle/>
          <a:p>
            <a:pPr marL="285750" indent="-285750">
              <a:buFont typeface="Wingdings" panose="05000000000000000000" pitchFamily="2" charset="2"/>
              <a:buChar char="è"/>
            </a:pPr>
            <a:r>
              <a:rPr lang="fr-FR" sz="2400" dirty="0">
                <a:sym typeface="Wingdings" panose="05000000000000000000" pitchFamily="2" charset="2"/>
              </a:rPr>
              <a:t> by </a:t>
            </a:r>
            <a:r>
              <a:rPr lang="fr-FR" sz="2400" b="1" dirty="0" err="1">
                <a:sym typeface="Wingdings" panose="05000000000000000000" pitchFamily="2" charset="2"/>
              </a:rPr>
              <a:t>adapting</a:t>
            </a:r>
            <a:r>
              <a:rPr lang="fr-FR" sz="2400" b="1" dirty="0">
                <a:sym typeface="Wingdings" panose="05000000000000000000" pitchFamily="2" charset="2"/>
              </a:rPr>
              <a:t> </a:t>
            </a:r>
            <a:r>
              <a:rPr lang="fr-FR" sz="2400" b="1" dirty="0" err="1">
                <a:sym typeface="Wingdings" panose="05000000000000000000" pitchFamily="2" charset="2"/>
              </a:rPr>
              <a:t>crop</a:t>
            </a:r>
            <a:r>
              <a:rPr lang="fr-FR" sz="2400" b="1" dirty="0">
                <a:sym typeface="Wingdings" panose="05000000000000000000" pitchFamily="2" charset="2"/>
              </a:rPr>
              <a:t> </a:t>
            </a:r>
            <a:r>
              <a:rPr lang="fr-FR" sz="2400" b="1" dirty="0" err="1">
                <a:sym typeface="Wingdings" panose="05000000000000000000" pitchFamily="2" charset="2"/>
              </a:rPr>
              <a:t>models</a:t>
            </a:r>
            <a:r>
              <a:rPr lang="fr-FR" sz="2400" dirty="0">
                <a:sym typeface="Wingdings" panose="05000000000000000000" pitchFamily="2" charset="2"/>
              </a:rPr>
              <a:t> for </a:t>
            </a:r>
            <a:r>
              <a:rPr lang="fr-FR" sz="2400" dirty="0" err="1">
                <a:sym typeface="Wingdings" panose="05000000000000000000" pitchFamily="2" charset="2"/>
              </a:rPr>
              <a:t>considering</a:t>
            </a:r>
            <a:r>
              <a:rPr lang="fr-FR" sz="2400" dirty="0">
                <a:sym typeface="Wingdings" panose="05000000000000000000" pitchFamily="2" charset="2"/>
              </a:rPr>
              <a:t> more </a:t>
            </a:r>
            <a:r>
              <a:rPr lang="fr-FR" sz="2400" b="1" dirty="0">
                <a:sym typeface="Wingdings" panose="05000000000000000000" pitchFamily="2" charset="2"/>
              </a:rPr>
              <a:t>architectural and spatial </a:t>
            </a:r>
            <a:r>
              <a:rPr lang="fr-FR" sz="2400" b="1" dirty="0" err="1">
                <a:sym typeface="Wingdings" panose="05000000000000000000" pitchFamily="2" charset="2"/>
              </a:rPr>
              <a:t>heterogeneity</a:t>
            </a:r>
            <a:r>
              <a:rPr lang="fr-FR" sz="2400" b="1" dirty="0">
                <a:sym typeface="Wingdings" panose="05000000000000000000" pitchFamily="2" charset="2"/>
              </a:rPr>
              <a:t> </a:t>
            </a:r>
            <a:r>
              <a:rPr lang="fr-FR" sz="2400" dirty="0">
                <a:sym typeface="Wingdings" panose="05000000000000000000" pitchFamily="2" charset="2"/>
              </a:rPr>
              <a:t>of </a:t>
            </a:r>
            <a:r>
              <a:rPr lang="fr-FR" sz="2400" dirty="0" err="1">
                <a:sym typeface="Wingdings" panose="05000000000000000000" pitchFamily="2" charset="2"/>
              </a:rPr>
              <a:t>intercrops</a:t>
            </a:r>
            <a:endParaRPr lang="fr-FR" sz="2400" dirty="0">
              <a:sym typeface="Wingdings" panose="05000000000000000000" pitchFamily="2" charset="2"/>
            </a:endParaRPr>
          </a:p>
        </p:txBody>
      </p:sp>
      <p:sp>
        <p:nvSpPr>
          <p:cNvPr id="10" name="TextBox 9">
            <a:extLst>
              <a:ext uri="{FF2B5EF4-FFF2-40B4-BE49-F238E27FC236}">
                <a16:creationId xmlns:a16="http://schemas.microsoft.com/office/drawing/2014/main" id="{55FA22D2-B079-4D92-8652-2054AAB6232A}"/>
              </a:ext>
            </a:extLst>
          </p:cNvPr>
          <p:cNvSpPr txBox="1"/>
          <p:nvPr/>
        </p:nvSpPr>
        <p:spPr>
          <a:xfrm>
            <a:off x="547423" y="6274630"/>
            <a:ext cx="3207768" cy="307777"/>
          </a:xfrm>
          <a:prstGeom prst="rect">
            <a:avLst/>
          </a:prstGeom>
          <a:noFill/>
        </p:spPr>
        <p:txBody>
          <a:bodyPr wrap="square" rtlCol="0">
            <a:spAutoFit/>
          </a:bodyPr>
          <a:lstStyle/>
          <a:p>
            <a:r>
              <a:rPr lang="fr-FR" sz="1400" dirty="0"/>
              <a:t>(</a:t>
            </a:r>
            <a:r>
              <a:rPr lang="fr-FR" sz="1400" dirty="0" err="1"/>
              <a:t>Gaudio</a:t>
            </a:r>
            <a:r>
              <a:rPr lang="fr-FR" sz="1400" dirty="0"/>
              <a:t> et al., 2019)</a:t>
            </a:r>
            <a:endParaRPr lang="en-US" sz="1400" dirty="0"/>
          </a:p>
        </p:txBody>
      </p:sp>
      <p:sp>
        <p:nvSpPr>
          <p:cNvPr id="11" name="Slide Number Placeholder 10">
            <a:extLst>
              <a:ext uri="{FF2B5EF4-FFF2-40B4-BE49-F238E27FC236}">
                <a16:creationId xmlns:a16="http://schemas.microsoft.com/office/drawing/2014/main" id="{252B2EDF-C232-4BB8-BCFF-E351BAD12D99}"/>
              </a:ext>
            </a:extLst>
          </p:cNvPr>
          <p:cNvSpPr>
            <a:spLocks noGrp="1"/>
          </p:cNvSpPr>
          <p:nvPr>
            <p:ph type="sldNum" sz="quarter" idx="12"/>
          </p:nvPr>
        </p:nvSpPr>
        <p:spPr/>
        <p:txBody>
          <a:bodyPr/>
          <a:lstStyle/>
          <a:p>
            <a:fld id="{27C6CCC6-2BE5-4E42-96A4-D1E8E81A3D8E}" type="slidenum">
              <a:rPr lang="fr-FR" smtClean="0"/>
              <a:t>7</a:t>
            </a:fld>
            <a:endParaRPr lang="fr-FR"/>
          </a:p>
        </p:txBody>
      </p:sp>
      <p:sp>
        <p:nvSpPr>
          <p:cNvPr id="50" name="Rectangle 49">
            <a:extLst>
              <a:ext uri="{FF2B5EF4-FFF2-40B4-BE49-F238E27FC236}">
                <a16:creationId xmlns:a16="http://schemas.microsoft.com/office/drawing/2014/main" id="{927FDD9A-D2DA-4694-ABA6-485917682CF4}"/>
              </a:ext>
            </a:extLst>
          </p:cNvPr>
          <p:cNvSpPr/>
          <p:nvPr/>
        </p:nvSpPr>
        <p:spPr>
          <a:xfrm>
            <a:off x="8201059" y="4339292"/>
            <a:ext cx="3611703" cy="584775"/>
          </a:xfrm>
          <a:prstGeom prst="rect">
            <a:avLst/>
          </a:prstGeom>
        </p:spPr>
        <p:txBody>
          <a:bodyPr wrap="square">
            <a:spAutoFit/>
          </a:bodyPr>
          <a:lstStyle/>
          <a:p>
            <a:r>
              <a:rPr lang="en-US" dirty="0"/>
              <a:t>Hybrid 2.5D formalism in STICS </a:t>
            </a:r>
          </a:p>
          <a:p>
            <a:r>
              <a:rPr lang="en-US" sz="1400" dirty="0"/>
              <a:t>(</a:t>
            </a:r>
            <a:r>
              <a:rPr lang="en-US" sz="1400" dirty="0" err="1"/>
              <a:t>Vezy</a:t>
            </a:r>
            <a:r>
              <a:rPr lang="en-US" sz="1400" dirty="0"/>
              <a:t> et al., 2023)</a:t>
            </a:r>
            <a:endParaRPr lang="fr-FR" sz="1600" dirty="0"/>
          </a:p>
        </p:txBody>
      </p:sp>
      <p:sp>
        <p:nvSpPr>
          <p:cNvPr id="31" name="TextBox 30">
            <a:extLst>
              <a:ext uri="{FF2B5EF4-FFF2-40B4-BE49-F238E27FC236}">
                <a16:creationId xmlns:a16="http://schemas.microsoft.com/office/drawing/2014/main" id="{2D5C4A14-BC09-45FF-80BD-BB97089BA765}"/>
              </a:ext>
            </a:extLst>
          </p:cNvPr>
          <p:cNvSpPr txBox="1"/>
          <p:nvPr/>
        </p:nvSpPr>
        <p:spPr>
          <a:xfrm>
            <a:off x="8201059" y="4989844"/>
            <a:ext cx="3113568" cy="584775"/>
          </a:xfrm>
          <a:prstGeom prst="rect">
            <a:avLst/>
          </a:prstGeom>
          <a:noFill/>
        </p:spPr>
        <p:txBody>
          <a:bodyPr wrap="square" rtlCol="0">
            <a:spAutoFit/>
          </a:bodyPr>
          <a:lstStyle/>
          <a:p>
            <a:r>
              <a:rPr lang="en-US" dirty="0"/>
              <a:t>Incorporate effect of clumping</a:t>
            </a:r>
          </a:p>
          <a:p>
            <a:r>
              <a:rPr lang="en-US" sz="1400" dirty="0"/>
              <a:t>(</a:t>
            </a:r>
            <a:r>
              <a:rPr lang="fr-FR" sz="1400" dirty="0"/>
              <a:t>B</a:t>
            </a:r>
            <a:r>
              <a:rPr lang="en-US" sz="1400" dirty="0" err="1"/>
              <a:t>ailey</a:t>
            </a:r>
            <a:r>
              <a:rPr lang="en-US" sz="1400" dirty="0"/>
              <a:t> et al., 2020)</a:t>
            </a:r>
            <a:endParaRPr lang="en-US" sz="1600" dirty="0"/>
          </a:p>
        </p:txBody>
      </p:sp>
      <p:sp>
        <p:nvSpPr>
          <p:cNvPr id="51" name="Rectangle 50">
            <a:extLst>
              <a:ext uri="{FF2B5EF4-FFF2-40B4-BE49-F238E27FC236}">
                <a16:creationId xmlns:a16="http://schemas.microsoft.com/office/drawing/2014/main" id="{D4FC1B4F-1B37-413D-A2DB-060D0A6D1E42}"/>
              </a:ext>
            </a:extLst>
          </p:cNvPr>
          <p:cNvSpPr/>
          <p:nvPr/>
        </p:nvSpPr>
        <p:spPr>
          <a:xfrm>
            <a:off x="757109" y="4339293"/>
            <a:ext cx="3566412" cy="1077218"/>
          </a:xfrm>
          <a:prstGeom prst="rect">
            <a:avLst/>
          </a:prstGeom>
        </p:spPr>
        <p:txBody>
          <a:bodyPr wrap="square">
            <a:spAutoFit/>
          </a:bodyPr>
          <a:lstStyle/>
          <a:p>
            <a:r>
              <a:rPr lang="en-US" dirty="0"/>
              <a:t>Evaluate turbid medium approach for simulating light interception </a:t>
            </a:r>
          </a:p>
          <a:p>
            <a:r>
              <a:rPr lang="en-US" sz="1400" dirty="0"/>
              <a:t>(</a:t>
            </a:r>
            <a:r>
              <a:rPr lang="fr-FR" sz="1400" dirty="0" err="1"/>
              <a:t>Barillot</a:t>
            </a:r>
            <a:r>
              <a:rPr lang="fr-FR" sz="1400" dirty="0"/>
              <a:t> et al., 2011; Feng et al., 2014; </a:t>
            </a:r>
            <a:r>
              <a:rPr lang="en-US" sz="1400" dirty="0"/>
              <a:t>Ponce de Leon and Bailey, 2019; Li et al., 2024)</a:t>
            </a:r>
            <a:endParaRPr lang="en-US" sz="1600" dirty="0"/>
          </a:p>
        </p:txBody>
      </p:sp>
      <p:sp>
        <p:nvSpPr>
          <p:cNvPr id="52" name="Rectangle 51">
            <a:extLst>
              <a:ext uri="{FF2B5EF4-FFF2-40B4-BE49-F238E27FC236}">
                <a16:creationId xmlns:a16="http://schemas.microsoft.com/office/drawing/2014/main" id="{663C0DE6-BE9C-4AB9-943B-5E9DA0CF9EFE}"/>
              </a:ext>
            </a:extLst>
          </p:cNvPr>
          <p:cNvSpPr/>
          <p:nvPr/>
        </p:nvSpPr>
        <p:spPr>
          <a:xfrm>
            <a:off x="4717025" y="4339292"/>
            <a:ext cx="3113568" cy="1077218"/>
          </a:xfrm>
          <a:prstGeom prst="rect">
            <a:avLst/>
          </a:prstGeom>
        </p:spPr>
        <p:txBody>
          <a:bodyPr wrap="square">
            <a:spAutoFit/>
          </a:bodyPr>
          <a:lstStyle/>
          <a:p>
            <a:r>
              <a:rPr lang="fr-FR" dirty="0"/>
              <a:t>I</a:t>
            </a:r>
            <a:r>
              <a:rPr lang="en-US" dirty="0" err="1"/>
              <a:t>mpact</a:t>
            </a:r>
            <a:r>
              <a:rPr lang="en-US" dirty="0"/>
              <a:t> of plant architectural variations on light interception</a:t>
            </a:r>
            <a:endParaRPr lang="fr-FR" dirty="0"/>
          </a:p>
          <a:p>
            <a:r>
              <a:rPr lang="fr-FR" sz="1400" dirty="0"/>
              <a:t>(</a:t>
            </a:r>
            <a:r>
              <a:rPr lang="fr-FR" sz="1400" dirty="0" err="1"/>
              <a:t>Barillot</a:t>
            </a:r>
            <a:r>
              <a:rPr lang="fr-FR" sz="1400" dirty="0"/>
              <a:t> et al., 2014; T</a:t>
            </a:r>
            <a:r>
              <a:rPr lang="en-US" sz="1400" dirty="0" err="1"/>
              <a:t>ruong</a:t>
            </a:r>
            <a:r>
              <a:rPr lang="en-US" sz="1400" dirty="0"/>
              <a:t> et al, 2015; </a:t>
            </a:r>
            <a:r>
              <a:rPr lang="en-US" sz="1400" dirty="0" err="1"/>
              <a:t>Barillot</a:t>
            </a:r>
            <a:r>
              <a:rPr lang="en-US" sz="1400" dirty="0"/>
              <a:t> et al., 2019, Perez et al., 2019)</a:t>
            </a:r>
          </a:p>
        </p:txBody>
      </p:sp>
      <p:sp>
        <p:nvSpPr>
          <p:cNvPr id="53" name="TextBox 52">
            <a:extLst>
              <a:ext uri="{FF2B5EF4-FFF2-40B4-BE49-F238E27FC236}">
                <a16:creationId xmlns:a16="http://schemas.microsoft.com/office/drawing/2014/main" id="{F63DF9AE-7D49-40AF-9CE8-29C8AD4C08AA}"/>
              </a:ext>
            </a:extLst>
          </p:cNvPr>
          <p:cNvSpPr txBox="1"/>
          <p:nvPr/>
        </p:nvSpPr>
        <p:spPr>
          <a:xfrm>
            <a:off x="757109" y="3146746"/>
            <a:ext cx="3708197" cy="1015663"/>
          </a:xfrm>
          <a:prstGeom prst="rect">
            <a:avLst/>
          </a:prstGeom>
          <a:noFill/>
        </p:spPr>
        <p:txBody>
          <a:bodyPr wrap="square" rtlCol="0">
            <a:spAutoFit/>
          </a:bodyPr>
          <a:lstStyle/>
          <a:p>
            <a:r>
              <a:rPr lang="en-US" sz="2000" b="1" dirty="0"/>
              <a:t>1. Evaluate performance of existing crop model formalisms for heterogeneous canopies</a:t>
            </a:r>
          </a:p>
        </p:txBody>
      </p:sp>
      <p:sp>
        <p:nvSpPr>
          <p:cNvPr id="54" name="TextBox 53">
            <a:extLst>
              <a:ext uri="{FF2B5EF4-FFF2-40B4-BE49-F238E27FC236}">
                <a16:creationId xmlns:a16="http://schemas.microsoft.com/office/drawing/2014/main" id="{5B296E1A-DE6E-41AC-832C-248CACC44DEC}"/>
              </a:ext>
            </a:extLst>
          </p:cNvPr>
          <p:cNvSpPr txBox="1"/>
          <p:nvPr/>
        </p:nvSpPr>
        <p:spPr>
          <a:xfrm>
            <a:off x="4717025" y="3146746"/>
            <a:ext cx="2828261" cy="1015663"/>
          </a:xfrm>
          <a:prstGeom prst="rect">
            <a:avLst/>
          </a:prstGeom>
          <a:noFill/>
        </p:spPr>
        <p:txBody>
          <a:bodyPr wrap="square" rtlCol="0">
            <a:spAutoFit/>
          </a:bodyPr>
          <a:lstStyle/>
          <a:p>
            <a:r>
              <a:rPr lang="en-US" sz="2000" b="1" dirty="0"/>
              <a:t>2. Identify architectural traits of interest for a given process</a:t>
            </a:r>
          </a:p>
        </p:txBody>
      </p:sp>
      <p:sp>
        <p:nvSpPr>
          <p:cNvPr id="55" name="TextBox 54">
            <a:extLst>
              <a:ext uri="{FF2B5EF4-FFF2-40B4-BE49-F238E27FC236}">
                <a16:creationId xmlns:a16="http://schemas.microsoft.com/office/drawing/2014/main" id="{FA0DF061-EC3D-40C5-80C8-0CE5587D7A7E}"/>
              </a:ext>
            </a:extLst>
          </p:cNvPr>
          <p:cNvSpPr txBox="1"/>
          <p:nvPr/>
        </p:nvSpPr>
        <p:spPr>
          <a:xfrm>
            <a:off x="8201059" y="3150940"/>
            <a:ext cx="2828261" cy="707886"/>
          </a:xfrm>
          <a:prstGeom prst="rect">
            <a:avLst/>
          </a:prstGeom>
          <a:noFill/>
        </p:spPr>
        <p:txBody>
          <a:bodyPr wrap="square" rtlCol="0">
            <a:spAutoFit/>
          </a:bodyPr>
          <a:lstStyle/>
          <a:p>
            <a:r>
              <a:rPr lang="en-US" sz="2000" b="1" dirty="0"/>
              <a:t>3. Find new formalisms for crop models</a:t>
            </a:r>
          </a:p>
        </p:txBody>
      </p:sp>
      <p:sp>
        <p:nvSpPr>
          <p:cNvPr id="18" name="Title 1">
            <a:extLst>
              <a:ext uri="{FF2B5EF4-FFF2-40B4-BE49-F238E27FC236}">
                <a16:creationId xmlns:a16="http://schemas.microsoft.com/office/drawing/2014/main" id="{3EDDBF12-1243-4F0D-8812-ED58665DAFBE}"/>
              </a:ext>
            </a:extLst>
          </p:cNvPr>
          <p:cNvSpPr>
            <a:spLocks noGrp="1"/>
          </p:cNvSpPr>
          <p:nvPr>
            <p:ph type="title"/>
          </p:nvPr>
        </p:nvSpPr>
        <p:spPr>
          <a:xfrm>
            <a:off x="547423" y="316405"/>
            <a:ext cx="10515600" cy="1325563"/>
          </a:xfrm>
        </p:spPr>
        <p:txBody>
          <a:bodyPr>
            <a:normAutofit/>
          </a:bodyPr>
          <a:lstStyle/>
          <a:p>
            <a:r>
              <a:rPr lang="fr-FR" sz="3600" dirty="0">
                <a:sym typeface="Wingdings" panose="05000000000000000000" pitchFamily="2" charset="2"/>
              </a:rPr>
              <a:t>How to </a:t>
            </a:r>
            <a:r>
              <a:rPr lang="fr-FR" sz="3600" dirty="0" err="1">
                <a:sym typeface="Wingdings" panose="05000000000000000000" pitchFamily="2" charset="2"/>
              </a:rPr>
              <a:t>benefit</a:t>
            </a:r>
            <a:r>
              <a:rPr lang="fr-FR" sz="3600" dirty="0">
                <a:sym typeface="Wingdings" panose="05000000000000000000" pitchFamily="2" charset="2"/>
              </a:rPr>
              <a:t> </a:t>
            </a:r>
            <a:r>
              <a:rPr lang="fr-FR" sz="3600" dirty="0" err="1">
                <a:sym typeface="Wingdings" panose="05000000000000000000" pitchFamily="2" charset="2"/>
              </a:rPr>
              <a:t>from</a:t>
            </a:r>
            <a:r>
              <a:rPr lang="fr-FR" sz="3600" dirty="0">
                <a:sym typeface="Wingdings" panose="05000000000000000000" pitchFamily="2" charset="2"/>
              </a:rPr>
              <a:t> the best of </a:t>
            </a:r>
            <a:r>
              <a:rPr lang="fr-FR" sz="3600" dirty="0" err="1">
                <a:sym typeface="Wingdings" panose="05000000000000000000" pitchFamily="2" charset="2"/>
              </a:rPr>
              <a:t>both</a:t>
            </a:r>
            <a:r>
              <a:rPr lang="fr-FR" sz="3600" dirty="0">
                <a:sym typeface="Wingdings" panose="05000000000000000000" pitchFamily="2" charset="2"/>
              </a:rPr>
              <a:t> </a:t>
            </a:r>
            <a:r>
              <a:rPr lang="fr-FR" sz="3600" dirty="0" err="1">
                <a:sym typeface="Wingdings" panose="05000000000000000000" pitchFamily="2" charset="2"/>
              </a:rPr>
              <a:t>approaches</a:t>
            </a:r>
            <a:r>
              <a:rPr lang="fr-FR" sz="3600" dirty="0">
                <a:sym typeface="Wingdings" panose="05000000000000000000" pitchFamily="2" charset="2"/>
              </a:rPr>
              <a:t> for </a:t>
            </a:r>
            <a:r>
              <a:rPr lang="fr-FR" sz="3600" dirty="0" err="1">
                <a:sym typeface="Wingdings" panose="05000000000000000000" pitchFamily="2" charset="2"/>
              </a:rPr>
              <a:t>intercrops</a:t>
            </a:r>
            <a:r>
              <a:rPr lang="fr-FR" sz="3600" dirty="0">
                <a:sym typeface="Wingdings" panose="05000000000000000000" pitchFamily="2" charset="2"/>
              </a:rPr>
              <a:t>?</a:t>
            </a:r>
            <a:endParaRPr lang="en-US" sz="3400" dirty="0"/>
          </a:p>
        </p:txBody>
      </p:sp>
    </p:spTree>
    <p:extLst>
      <p:ext uri="{BB962C8B-B14F-4D97-AF65-F5344CB8AC3E}">
        <p14:creationId xmlns:p14="http://schemas.microsoft.com/office/powerpoint/2010/main" val="4129925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9057B95-F35D-C693-AE48-F6224EB5BCA4}"/>
              </a:ext>
            </a:extLst>
          </p:cNvPr>
          <p:cNvSpPr>
            <a:spLocks noGrp="1"/>
          </p:cNvSpPr>
          <p:nvPr>
            <p:ph type="title"/>
          </p:nvPr>
        </p:nvSpPr>
        <p:spPr>
          <a:xfrm>
            <a:off x="399548" y="389"/>
            <a:ext cx="10515600" cy="1325563"/>
          </a:xfrm>
        </p:spPr>
        <p:txBody>
          <a:bodyPr>
            <a:normAutofit/>
          </a:bodyPr>
          <a:lstStyle/>
          <a:p>
            <a:r>
              <a:rPr lang="fr-FR" sz="3600" dirty="0" err="1"/>
              <a:t>My</a:t>
            </a:r>
            <a:r>
              <a:rPr lang="fr-FR" sz="3600" dirty="0"/>
              <a:t> PhD : </a:t>
            </a:r>
            <a:r>
              <a:rPr lang="fr-FR" sz="2800" dirty="0" err="1"/>
              <a:t>Multiscale</a:t>
            </a:r>
            <a:r>
              <a:rPr lang="fr-FR" sz="2800" dirty="0"/>
              <a:t> </a:t>
            </a:r>
            <a:r>
              <a:rPr lang="fr-FR" sz="2800" dirty="0" err="1"/>
              <a:t>hybrid</a:t>
            </a:r>
            <a:r>
              <a:rPr lang="fr-FR" sz="2800" dirty="0"/>
              <a:t> </a:t>
            </a:r>
            <a:r>
              <a:rPr lang="fr-FR" sz="2800" dirty="0" err="1"/>
              <a:t>modelling</a:t>
            </a:r>
            <a:r>
              <a:rPr lang="fr-FR" sz="2800" dirty="0"/>
              <a:t> </a:t>
            </a:r>
            <a:r>
              <a:rPr lang="fr-FR" sz="2800" dirty="0" err="1"/>
              <a:t>approach</a:t>
            </a:r>
            <a:r>
              <a:rPr lang="fr-FR" sz="2800" dirty="0"/>
              <a:t> for </a:t>
            </a:r>
            <a:r>
              <a:rPr lang="fr-FR" sz="2800" dirty="0" err="1"/>
              <a:t>intercrops</a:t>
            </a:r>
            <a:r>
              <a:rPr lang="fr-FR" sz="2800" dirty="0"/>
              <a:t> </a:t>
            </a:r>
          </a:p>
        </p:txBody>
      </p:sp>
      <p:sp>
        <p:nvSpPr>
          <p:cNvPr id="9" name="TextBox 8">
            <a:extLst>
              <a:ext uri="{FF2B5EF4-FFF2-40B4-BE49-F238E27FC236}">
                <a16:creationId xmlns:a16="http://schemas.microsoft.com/office/drawing/2014/main" id="{4B023A90-5157-4005-A976-38BB0A6FFD60}"/>
              </a:ext>
            </a:extLst>
          </p:cNvPr>
          <p:cNvSpPr txBox="1"/>
          <p:nvPr/>
        </p:nvSpPr>
        <p:spPr>
          <a:xfrm>
            <a:off x="1261993" y="1068530"/>
            <a:ext cx="9555989" cy="954107"/>
          </a:xfrm>
          <a:prstGeom prst="rect">
            <a:avLst/>
          </a:prstGeom>
          <a:noFill/>
        </p:spPr>
        <p:txBody>
          <a:bodyPr wrap="square" rtlCol="0">
            <a:spAutoFit/>
          </a:bodyPr>
          <a:lstStyle/>
          <a:p>
            <a:pPr algn="ctr"/>
            <a:r>
              <a:rPr lang="en-US" sz="2800" i="1" dirty="0"/>
              <a:t>What scale is the most relevant for modeling intercrops, regarding given processes?</a:t>
            </a:r>
            <a:endParaRPr lang="fr-FR" sz="2800" i="1" dirty="0"/>
          </a:p>
        </p:txBody>
      </p:sp>
      <p:sp>
        <p:nvSpPr>
          <p:cNvPr id="10" name="Slide Number Placeholder 9">
            <a:extLst>
              <a:ext uri="{FF2B5EF4-FFF2-40B4-BE49-F238E27FC236}">
                <a16:creationId xmlns:a16="http://schemas.microsoft.com/office/drawing/2014/main" id="{B067720C-0A92-4BD7-8CEE-EB4786CC39DA}"/>
              </a:ext>
            </a:extLst>
          </p:cNvPr>
          <p:cNvSpPr>
            <a:spLocks noGrp="1"/>
          </p:cNvSpPr>
          <p:nvPr>
            <p:ph type="sldNum" sz="quarter" idx="12"/>
          </p:nvPr>
        </p:nvSpPr>
        <p:spPr/>
        <p:txBody>
          <a:bodyPr/>
          <a:lstStyle/>
          <a:p>
            <a:fld id="{27C6CCC6-2BE5-4E42-96A4-D1E8E81A3D8E}" type="slidenum">
              <a:rPr lang="fr-FR" smtClean="0"/>
              <a:t>8</a:t>
            </a:fld>
            <a:endParaRPr lang="fr-FR" dirty="0"/>
          </a:p>
        </p:txBody>
      </p:sp>
    </p:spTree>
    <p:extLst>
      <p:ext uri="{BB962C8B-B14F-4D97-AF65-F5344CB8AC3E}">
        <p14:creationId xmlns:p14="http://schemas.microsoft.com/office/powerpoint/2010/main" val="38624491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5807CF0F-B1FE-4895-A46C-A70E498E4EDC}"/>
              </a:ext>
            </a:extLst>
          </p:cNvPr>
          <p:cNvSpPr/>
          <p:nvPr/>
        </p:nvSpPr>
        <p:spPr>
          <a:xfrm>
            <a:off x="307908" y="2304661"/>
            <a:ext cx="3699346" cy="4319683"/>
          </a:xfrm>
          <a:prstGeom prst="roundRect">
            <a:avLst/>
          </a:prstGeom>
          <a:solidFill>
            <a:srgbClr val="399758">
              <a:alpha val="69804"/>
            </a:srgbClr>
          </a:solidFill>
          <a:ln>
            <a:solidFill>
              <a:srgbClr val="399758"/>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E9057B95-F35D-C693-AE48-F6224EB5BCA4}"/>
              </a:ext>
            </a:extLst>
          </p:cNvPr>
          <p:cNvSpPr>
            <a:spLocks noGrp="1"/>
          </p:cNvSpPr>
          <p:nvPr>
            <p:ph type="title"/>
          </p:nvPr>
        </p:nvSpPr>
        <p:spPr>
          <a:xfrm>
            <a:off x="399548" y="389"/>
            <a:ext cx="10515600" cy="1325563"/>
          </a:xfrm>
        </p:spPr>
        <p:txBody>
          <a:bodyPr>
            <a:normAutofit/>
          </a:bodyPr>
          <a:lstStyle/>
          <a:p>
            <a:r>
              <a:rPr lang="fr-FR" sz="3600" dirty="0" err="1"/>
              <a:t>My</a:t>
            </a:r>
            <a:r>
              <a:rPr lang="fr-FR" sz="3600" dirty="0"/>
              <a:t> PhD : </a:t>
            </a:r>
            <a:r>
              <a:rPr lang="fr-FR" sz="2800" dirty="0" err="1"/>
              <a:t>Multiscale</a:t>
            </a:r>
            <a:r>
              <a:rPr lang="fr-FR" sz="2800" dirty="0"/>
              <a:t> </a:t>
            </a:r>
            <a:r>
              <a:rPr lang="fr-FR" sz="2800" dirty="0" err="1"/>
              <a:t>hybrid</a:t>
            </a:r>
            <a:r>
              <a:rPr lang="fr-FR" sz="2800" dirty="0"/>
              <a:t> </a:t>
            </a:r>
            <a:r>
              <a:rPr lang="fr-FR" sz="2800" dirty="0" err="1"/>
              <a:t>modelling</a:t>
            </a:r>
            <a:r>
              <a:rPr lang="fr-FR" sz="2800" dirty="0"/>
              <a:t> </a:t>
            </a:r>
            <a:r>
              <a:rPr lang="fr-FR" sz="2800" dirty="0" err="1"/>
              <a:t>approach</a:t>
            </a:r>
            <a:r>
              <a:rPr lang="fr-FR" sz="2800" dirty="0"/>
              <a:t> for </a:t>
            </a:r>
            <a:r>
              <a:rPr lang="fr-FR" sz="2800" dirty="0" err="1"/>
              <a:t>intercrops</a:t>
            </a:r>
            <a:r>
              <a:rPr lang="fr-FR" sz="2800" dirty="0"/>
              <a:t> </a:t>
            </a:r>
          </a:p>
        </p:txBody>
      </p:sp>
      <p:sp>
        <p:nvSpPr>
          <p:cNvPr id="3" name="Espace réservé du contenu 2">
            <a:extLst>
              <a:ext uri="{FF2B5EF4-FFF2-40B4-BE49-F238E27FC236}">
                <a16:creationId xmlns:a16="http://schemas.microsoft.com/office/drawing/2014/main" id="{7D8CCA93-EA18-4579-6817-2FB13627CCFE}"/>
              </a:ext>
            </a:extLst>
          </p:cNvPr>
          <p:cNvSpPr>
            <a:spLocks noGrp="1"/>
          </p:cNvSpPr>
          <p:nvPr>
            <p:ph idx="1"/>
          </p:nvPr>
        </p:nvSpPr>
        <p:spPr>
          <a:xfrm>
            <a:off x="510149" y="2541726"/>
            <a:ext cx="3296102" cy="4082618"/>
          </a:xfrm>
        </p:spPr>
        <p:txBody>
          <a:bodyPr>
            <a:normAutofit/>
          </a:bodyPr>
          <a:lstStyle/>
          <a:p>
            <a:pPr marL="0" indent="0">
              <a:buNone/>
            </a:pPr>
            <a:r>
              <a:rPr lang="fr-FR" b="1" dirty="0" err="1"/>
              <a:t>Chapter</a:t>
            </a:r>
            <a:r>
              <a:rPr lang="fr-FR" b="1" dirty="0"/>
              <a:t> I </a:t>
            </a:r>
          </a:p>
          <a:p>
            <a:pPr marL="0" indent="0">
              <a:buNone/>
            </a:pPr>
            <a:r>
              <a:rPr lang="fr-FR" sz="2400" b="1" dirty="0" err="1"/>
              <a:t>ArchiCrop</a:t>
            </a:r>
            <a:r>
              <a:rPr lang="fr-FR" sz="2400" b="1" dirty="0"/>
              <a:t>, </a:t>
            </a:r>
            <a:br>
              <a:rPr lang="fr-FR" sz="2400" b="1" dirty="0"/>
            </a:br>
            <a:r>
              <a:rPr lang="fr-FR" sz="2400" b="1" dirty="0"/>
              <a:t>a 3D </a:t>
            </a:r>
            <a:r>
              <a:rPr lang="fr-FR" sz="2400" b="1" dirty="0" err="1"/>
              <a:t>dynamic</a:t>
            </a:r>
            <a:r>
              <a:rPr lang="fr-FR" sz="2400" b="1" dirty="0"/>
              <a:t> </a:t>
            </a:r>
            <a:r>
              <a:rPr lang="fr-FR" sz="2400" b="1" dirty="0" err="1"/>
              <a:t>parametric</a:t>
            </a:r>
            <a:r>
              <a:rPr lang="fr-FR" sz="2400" b="1" dirty="0"/>
              <a:t> plant model </a:t>
            </a:r>
          </a:p>
          <a:p>
            <a:pPr marL="0" indent="0">
              <a:buNone/>
            </a:pPr>
            <a:endParaRPr lang="fr-FR" sz="2400" dirty="0"/>
          </a:p>
          <a:p>
            <a:pPr marL="0" indent="0">
              <a:buNone/>
            </a:pPr>
            <a:r>
              <a:rPr lang="en-US" sz="2200" i="1" dirty="0"/>
              <a:t>How to conceive a 3D plant model with few architectural and developmental parameters and with a canopy-scale constraint on growth ? </a:t>
            </a:r>
          </a:p>
        </p:txBody>
      </p:sp>
      <p:sp>
        <p:nvSpPr>
          <p:cNvPr id="9" name="TextBox 8">
            <a:extLst>
              <a:ext uri="{FF2B5EF4-FFF2-40B4-BE49-F238E27FC236}">
                <a16:creationId xmlns:a16="http://schemas.microsoft.com/office/drawing/2014/main" id="{4B023A90-5157-4005-A976-38BB0A6FFD60}"/>
              </a:ext>
            </a:extLst>
          </p:cNvPr>
          <p:cNvSpPr txBox="1"/>
          <p:nvPr/>
        </p:nvSpPr>
        <p:spPr>
          <a:xfrm>
            <a:off x="1261993" y="1068530"/>
            <a:ext cx="9555989" cy="954107"/>
          </a:xfrm>
          <a:prstGeom prst="rect">
            <a:avLst/>
          </a:prstGeom>
          <a:noFill/>
        </p:spPr>
        <p:txBody>
          <a:bodyPr wrap="square" rtlCol="0">
            <a:spAutoFit/>
          </a:bodyPr>
          <a:lstStyle/>
          <a:p>
            <a:pPr algn="ctr"/>
            <a:r>
              <a:rPr lang="en-US" sz="2800" i="1" dirty="0"/>
              <a:t>What scale is the most relevant for modeling intercrops, regarding given processes?</a:t>
            </a:r>
            <a:endParaRPr lang="fr-FR" sz="2800" i="1" dirty="0"/>
          </a:p>
        </p:txBody>
      </p:sp>
      <p:sp>
        <p:nvSpPr>
          <p:cNvPr id="10" name="Slide Number Placeholder 9">
            <a:extLst>
              <a:ext uri="{FF2B5EF4-FFF2-40B4-BE49-F238E27FC236}">
                <a16:creationId xmlns:a16="http://schemas.microsoft.com/office/drawing/2014/main" id="{B067720C-0A92-4BD7-8CEE-EB4786CC39DA}"/>
              </a:ext>
            </a:extLst>
          </p:cNvPr>
          <p:cNvSpPr>
            <a:spLocks noGrp="1"/>
          </p:cNvSpPr>
          <p:nvPr>
            <p:ph type="sldNum" sz="quarter" idx="12"/>
          </p:nvPr>
        </p:nvSpPr>
        <p:spPr/>
        <p:txBody>
          <a:bodyPr/>
          <a:lstStyle/>
          <a:p>
            <a:fld id="{27C6CCC6-2BE5-4E42-96A4-D1E8E81A3D8E}" type="slidenum">
              <a:rPr lang="fr-FR" smtClean="0"/>
              <a:t>9</a:t>
            </a:fld>
            <a:endParaRPr lang="fr-FR" dirty="0"/>
          </a:p>
        </p:txBody>
      </p:sp>
    </p:spTree>
    <p:extLst>
      <p:ext uri="{BB962C8B-B14F-4D97-AF65-F5344CB8AC3E}">
        <p14:creationId xmlns:p14="http://schemas.microsoft.com/office/powerpoint/2010/main" val="529053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Rounded Corners 15">
            <a:extLst>
              <a:ext uri="{FF2B5EF4-FFF2-40B4-BE49-F238E27FC236}">
                <a16:creationId xmlns:a16="http://schemas.microsoft.com/office/drawing/2014/main" id="{72EDD71F-B612-426D-B44A-87B585DE68DA}"/>
              </a:ext>
            </a:extLst>
          </p:cNvPr>
          <p:cNvSpPr/>
          <p:nvPr/>
        </p:nvSpPr>
        <p:spPr>
          <a:xfrm>
            <a:off x="4134303" y="2304661"/>
            <a:ext cx="3811370" cy="4319683"/>
          </a:xfrm>
          <a:prstGeom prst="roundRect">
            <a:avLst/>
          </a:prstGeom>
          <a:solidFill>
            <a:srgbClr val="F39200">
              <a:alpha val="69804"/>
            </a:srgbClr>
          </a:solidFill>
          <a:ln>
            <a:solidFill>
              <a:srgbClr val="F392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5807CF0F-B1FE-4895-A46C-A70E498E4EDC}"/>
              </a:ext>
            </a:extLst>
          </p:cNvPr>
          <p:cNvSpPr/>
          <p:nvPr/>
        </p:nvSpPr>
        <p:spPr>
          <a:xfrm>
            <a:off x="307908" y="2304661"/>
            <a:ext cx="3699346" cy="4319683"/>
          </a:xfrm>
          <a:prstGeom prst="roundRect">
            <a:avLst/>
          </a:prstGeom>
          <a:solidFill>
            <a:srgbClr val="399758">
              <a:alpha val="69804"/>
            </a:srgbClr>
          </a:solidFill>
          <a:ln>
            <a:solidFill>
              <a:srgbClr val="399758"/>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E9057B95-F35D-C693-AE48-F6224EB5BCA4}"/>
              </a:ext>
            </a:extLst>
          </p:cNvPr>
          <p:cNvSpPr>
            <a:spLocks noGrp="1"/>
          </p:cNvSpPr>
          <p:nvPr>
            <p:ph type="title"/>
          </p:nvPr>
        </p:nvSpPr>
        <p:spPr>
          <a:xfrm>
            <a:off x="399548" y="389"/>
            <a:ext cx="10515600" cy="1325563"/>
          </a:xfrm>
        </p:spPr>
        <p:txBody>
          <a:bodyPr>
            <a:normAutofit/>
          </a:bodyPr>
          <a:lstStyle/>
          <a:p>
            <a:r>
              <a:rPr lang="fr-FR" sz="3600" dirty="0" err="1"/>
              <a:t>My</a:t>
            </a:r>
            <a:r>
              <a:rPr lang="fr-FR" sz="3600" dirty="0"/>
              <a:t> PhD : </a:t>
            </a:r>
            <a:r>
              <a:rPr lang="fr-FR" sz="2800" dirty="0" err="1"/>
              <a:t>Multiscale</a:t>
            </a:r>
            <a:r>
              <a:rPr lang="fr-FR" sz="2800" dirty="0"/>
              <a:t> </a:t>
            </a:r>
            <a:r>
              <a:rPr lang="fr-FR" sz="2800" dirty="0" err="1"/>
              <a:t>hybrid</a:t>
            </a:r>
            <a:r>
              <a:rPr lang="fr-FR" sz="2800" dirty="0"/>
              <a:t> </a:t>
            </a:r>
            <a:r>
              <a:rPr lang="fr-FR" sz="2800" dirty="0" err="1"/>
              <a:t>modelling</a:t>
            </a:r>
            <a:r>
              <a:rPr lang="fr-FR" sz="2800" dirty="0"/>
              <a:t> </a:t>
            </a:r>
            <a:r>
              <a:rPr lang="fr-FR" sz="2800" dirty="0" err="1"/>
              <a:t>approach</a:t>
            </a:r>
            <a:r>
              <a:rPr lang="fr-FR" sz="2800" dirty="0"/>
              <a:t> for </a:t>
            </a:r>
            <a:r>
              <a:rPr lang="fr-FR" sz="2800" dirty="0" err="1"/>
              <a:t>intercrops</a:t>
            </a:r>
            <a:r>
              <a:rPr lang="fr-FR" sz="2800" dirty="0"/>
              <a:t> </a:t>
            </a:r>
          </a:p>
        </p:txBody>
      </p:sp>
      <p:sp>
        <p:nvSpPr>
          <p:cNvPr id="3" name="Espace réservé du contenu 2">
            <a:extLst>
              <a:ext uri="{FF2B5EF4-FFF2-40B4-BE49-F238E27FC236}">
                <a16:creationId xmlns:a16="http://schemas.microsoft.com/office/drawing/2014/main" id="{7D8CCA93-EA18-4579-6817-2FB13627CCFE}"/>
              </a:ext>
            </a:extLst>
          </p:cNvPr>
          <p:cNvSpPr>
            <a:spLocks noGrp="1"/>
          </p:cNvSpPr>
          <p:nvPr>
            <p:ph idx="1"/>
          </p:nvPr>
        </p:nvSpPr>
        <p:spPr>
          <a:xfrm>
            <a:off x="510149" y="3577590"/>
            <a:ext cx="3296102" cy="1794510"/>
          </a:xfrm>
        </p:spPr>
        <p:txBody>
          <a:bodyPr>
            <a:normAutofit/>
          </a:bodyPr>
          <a:lstStyle/>
          <a:p>
            <a:pPr marL="0" indent="0">
              <a:buNone/>
            </a:pPr>
            <a:r>
              <a:rPr lang="fr-FR" b="1" dirty="0" err="1"/>
              <a:t>Chapter</a:t>
            </a:r>
            <a:r>
              <a:rPr lang="fr-FR" b="1" dirty="0"/>
              <a:t> I </a:t>
            </a:r>
          </a:p>
          <a:p>
            <a:pPr marL="0" indent="0">
              <a:buNone/>
            </a:pPr>
            <a:r>
              <a:rPr lang="fr-FR" sz="2400" b="1" dirty="0" err="1"/>
              <a:t>ArchiCrop</a:t>
            </a:r>
            <a:r>
              <a:rPr lang="fr-FR" sz="2400" b="1" dirty="0"/>
              <a:t>, </a:t>
            </a:r>
            <a:br>
              <a:rPr lang="fr-FR" sz="2400" b="1" dirty="0"/>
            </a:br>
            <a:r>
              <a:rPr lang="fr-FR" sz="2400" b="1" dirty="0"/>
              <a:t>a 3D </a:t>
            </a:r>
            <a:r>
              <a:rPr lang="fr-FR" sz="2400" b="1" dirty="0" err="1"/>
              <a:t>dynamic</a:t>
            </a:r>
            <a:r>
              <a:rPr lang="fr-FR" sz="2400" b="1" dirty="0"/>
              <a:t> </a:t>
            </a:r>
            <a:r>
              <a:rPr lang="fr-FR" sz="2400" b="1" dirty="0" err="1"/>
              <a:t>parametric</a:t>
            </a:r>
            <a:r>
              <a:rPr lang="fr-FR" sz="2400" b="1" dirty="0"/>
              <a:t> plant model </a:t>
            </a:r>
          </a:p>
          <a:p>
            <a:pPr marL="0" indent="0">
              <a:buNone/>
            </a:pPr>
            <a:endParaRPr lang="fr-FR" sz="2400" dirty="0"/>
          </a:p>
        </p:txBody>
      </p:sp>
      <p:sp>
        <p:nvSpPr>
          <p:cNvPr id="6" name="Espace réservé du contenu 2">
            <a:extLst>
              <a:ext uri="{FF2B5EF4-FFF2-40B4-BE49-F238E27FC236}">
                <a16:creationId xmlns:a16="http://schemas.microsoft.com/office/drawing/2014/main" id="{6A1F6667-290D-49AD-9176-73ACA1C1F769}"/>
              </a:ext>
            </a:extLst>
          </p:cNvPr>
          <p:cNvSpPr txBox="1">
            <a:spLocks/>
          </p:cNvSpPr>
          <p:nvPr/>
        </p:nvSpPr>
        <p:spPr>
          <a:xfrm>
            <a:off x="4326563" y="2541726"/>
            <a:ext cx="3514495" cy="3927654"/>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3000" b="1" dirty="0" err="1"/>
              <a:t>Chapter</a:t>
            </a:r>
            <a:r>
              <a:rPr lang="fr-FR" sz="3000" b="1" dirty="0"/>
              <a:t> II </a:t>
            </a:r>
          </a:p>
          <a:p>
            <a:pPr marL="0" indent="0">
              <a:buNone/>
            </a:pPr>
            <a:r>
              <a:rPr lang="fr-FR" sz="2600" b="1" dirty="0" err="1"/>
              <a:t>Uncertainty</a:t>
            </a:r>
            <a:r>
              <a:rPr lang="fr-FR" sz="2600" b="1" dirty="0"/>
              <a:t> </a:t>
            </a:r>
            <a:r>
              <a:rPr lang="fr-FR" sz="2600" b="1" dirty="0" err="1"/>
              <a:t>analysis</a:t>
            </a:r>
            <a:r>
              <a:rPr lang="fr-FR" sz="2600" b="1" dirty="0"/>
              <a:t> of </a:t>
            </a:r>
            <a:r>
              <a:rPr lang="fr-FR" sz="2600" b="1" dirty="0" err="1"/>
              <a:t>intercrop</a:t>
            </a:r>
            <a:r>
              <a:rPr lang="fr-FR" sz="2600" b="1" dirty="0"/>
              <a:t> </a:t>
            </a:r>
            <a:r>
              <a:rPr lang="fr-FR" sz="2600" b="1" dirty="0" err="1"/>
              <a:t>models</a:t>
            </a:r>
            <a:r>
              <a:rPr lang="fr-FR" sz="2600" b="1" dirty="0"/>
              <a:t> </a:t>
            </a:r>
            <a:r>
              <a:rPr lang="fr-FR" sz="2600" b="1" dirty="0" err="1"/>
              <a:t>considering</a:t>
            </a:r>
            <a:r>
              <a:rPr lang="fr-FR" sz="2600" b="1" dirty="0"/>
              <a:t> architectural </a:t>
            </a:r>
            <a:r>
              <a:rPr lang="fr-FR" sz="2600" b="1" dirty="0" err="1"/>
              <a:t>parameters</a:t>
            </a:r>
            <a:endParaRPr lang="fr-FR" sz="2600" b="1" dirty="0"/>
          </a:p>
          <a:p>
            <a:pPr marL="0" indent="0">
              <a:buNone/>
            </a:pPr>
            <a:endParaRPr lang="fr-FR" sz="2400" dirty="0"/>
          </a:p>
          <a:p>
            <a:pPr marL="0" indent="0">
              <a:buNone/>
            </a:pPr>
            <a:r>
              <a:rPr lang="en-US" sz="2400" i="1" dirty="0"/>
              <a:t>Which plant architectural traits and sowing pattern bring most of the uncertainty and should be considered explicitly in crop models?</a:t>
            </a:r>
          </a:p>
          <a:p>
            <a:pPr marL="0" indent="0">
              <a:buNone/>
            </a:pPr>
            <a:endParaRPr lang="fr-FR" sz="2400" dirty="0"/>
          </a:p>
        </p:txBody>
      </p:sp>
      <p:sp>
        <p:nvSpPr>
          <p:cNvPr id="9" name="TextBox 8">
            <a:extLst>
              <a:ext uri="{FF2B5EF4-FFF2-40B4-BE49-F238E27FC236}">
                <a16:creationId xmlns:a16="http://schemas.microsoft.com/office/drawing/2014/main" id="{4B023A90-5157-4005-A976-38BB0A6FFD60}"/>
              </a:ext>
            </a:extLst>
          </p:cNvPr>
          <p:cNvSpPr txBox="1"/>
          <p:nvPr/>
        </p:nvSpPr>
        <p:spPr>
          <a:xfrm>
            <a:off x="1261993" y="1068530"/>
            <a:ext cx="9555989" cy="954107"/>
          </a:xfrm>
          <a:prstGeom prst="rect">
            <a:avLst/>
          </a:prstGeom>
          <a:noFill/>
        </p:spPr>
        <p:txBody>
          <a:bodyPr wrap="square" rtlCol="0">
            <a:spAutoFit/>
          </a:bodyPr>
          <a:lstStyle/>
          <a:p>
            <a:pPr algn="ctr"/>
            <a:r>
              <a:rPr lang="en-US" sz="2800" i="1" dirty="0"/>
              <a:t>What scale is the most relevant for modeling intercrops, regarding given processes?</a:t>
            </a:r>
            <a:endParaRPr lang="fr-FR" sz="2800" i="1" dirty="0"/>
          </a:p>
        </p:txBody>
      </p:sp>
      <p:sp>
        <p:nvSpPr>
          <p:cNvPr id="10" name="Slide Number Placeholder 9">
            <a:extLst>
              <a:ext uri="{FF2B5EF4-FFF2-40B4-BE49-F238E27FC236}">
                <a16:creationId xmlns:a16="http://schemas.microsoft.com/office/drawing/2014/main" id="{B067720C-0A92-4BD7-8CEE-EB4786CC39DA}"/>
              </a:ext>
            </a:extLst>
          </p:cNvPr>
          <p:cNvSpPr>
            <a:spLocks noGrp="1"/>
          </p:cNvSpPr>
          <p:nvPr>
            <p:ph type="sldNum" sz="quarter" idx="12"/>
          </p:nvPr>
        </p:nvSpPr>
        <p:spPr/>
        <p:txBody>
          <a:bodyPr/>
          <a:lstStyle/>
          <a:p>
            <a:fld id="{27C6CCC6-2BE5-4E42-96A4-D1E8E81A3D8E}" type="slidenum">
              <a:rPr lang="fr-FR" smtClean="0"/>
              <a:t>10</a:t>
            </a:fld>
            <a:endParaRPr lang="fr-FR" dirty="0"/>
          </a:p>
        </p:txBody>
      </p:sp>
    </p:spTree>
    <p:extLst>
      <p:ext uri="{BB962C8B-B14F-4D97-AF65-F5344CB8AC3E}">
        <p14:creationId xmlns:p14="http://schemas.microsoft.com/office/powerpoint/2010/main" val="40719841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54E23F65-F125-464F-A7F3-FBD4BB6F6317}"/>
              </a:ext>
            </a:extLst>
          </p:cNvPr>
          <p:cNvSpPr/>
          <p:nvPr/>
        </p:nvSpPr>
        <p:spPr>
          <a:xfrm>
            <a:off x="8072722" y="2304661"/>
            <a:ext cx="3811370" cy="4304065"/>
          </a:xfrm>
          <a:prstGeom prst="roundRect">
            <a:avLst/>
          </a:prstGeom>
          <a:solidFill>
            <a:srgbClr val="C28745">
              <a:alpha val="69804"/>
            </a:srgbClr>
          </a:solidFill>
          <a:ln>
            <a:solidFill>
              <a:srgbClr val="C28745"/>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72EDD71F-B612-426D-B44A-87B585DE68DA}"/>
              </a:ext>
            </a:extLst>
          </p:cNvPr>
          <p:cNvSpPr/>
          <p:nvPr/>
        </p:nvSpPr>
        <p:spPr>
          <a:xfrm>
            <a:off x="4134303" y="2304661"/>
            <a:ext cx="3811370" cy="4319683"/>
          </a:xfrm>
          <a:prstGeom prst="roundRect">
            <a:avLst/>
          </a:prstGeom>
          <a:solidFill>
            <a:srgbClr val="F39200">
              <a:alpha val="69804"/>
            </a:srgbClr>
          </a:solidFill>
          <a:ln>
            <a:solidFill>
              <a:srgbClr val="F392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5807CF0F-B1FE-4895-A46C-A70E498E4EDC}"/>
              </a:ext>
            </a:extLst>
          </p:cNvPr>
          <p:cNvSpPr/>
          <p:nvPr/>
        </p:nvSpPr>
        <p:spPr>
          <a:xfrm>
            <a:off x="307908" y="2304661"/>
            <a:ext cx="3699346" cy="4319683"/>
          </a:xfrm>
          <a:prstGeom prst="roundRect">
            <a:avLst/>
          </a:prstGeom>
          <a:solidFill>
            <a:srgbClr val="399758">
              <a:alpha val="69804"/>
            </a:srgbClr>
          </a:solidFill>
          <a:ln>
            <a:solidFill>
              <a:srgbClr val="399758"/>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E9057B95-F35D-C693-AE48-F6224EB5BCA4}"/>
              </a:ext>
            </a:extLst>
          </p:cNvPr>
          <p:cNvSpPr>
            <a:spLocks noGrp="1"/>
          </p:cNvSpPr>
          <p:nvPr>
            <p:ph type="title"/>
          </p:nvPr>
        </p:nvSpPr>
        <p:spPr>
          <a:xfrm>
            <a:off x="399548" y="389"/>
            <a:ext cx="10515600" cy="1325563"/>
          </a:xfrm>
        </p:spPr>
        <p:txBody>
          <a:bodyPr>
            <a:normAutofit/>
          </a:bodyPr>
          <a:lstStyle/>
          <a:p>
            <a:r>
              <a:rPr lang="fr-FR" sz="3600" dirty="0" err="1"/>
              <a:t>My</a:t>
            </a:r>
            <a:r>
              <a:rPr lang="fr-FR" sz="3600" dirty="0"/>
              <a:t> PhD : </a:t>
            </a:r>
            <a:r>
              <a:rPr lang="fr-FR" sz="2800" dirty="0" err="1"/>
              <a:t>Multiscale</a:t>
            </a:r>
            <a:r>
              <a:rPr lang="fr-FR" sz="2800" dirty="0"/>
              <a:t> </a:t>
            </a:r>
            <a:r>
              <a:rPr lang="fr-FR" sz="2800" dirty="0" err="1"/>
              <a:t>hybrid</a:t>
            </a:r>
            <a:r>
              <a:rPr lang="fr-FR" sz="2800" dirty="0"/>
              <a:t> </a:t>
            </a:r>
            <a:r>
              <a:rPr lang="fr-FR" sz="2800" dirty="0" err="1"/>
              <a:t>modelling</a:t>
            </a:r>
            <a:r>
              <a:rPr lang="fr-FR" sz="2800" dirty="0"/>
              <a:t> </a:t>
            </a:r>
            <a:r>
              <a:rPr lang="fr-FR" sz="2800" dirty="0" err="1"/>
              <a:t>approach</a:t>
            </a:r>
            <a:r>
              <a:rPr lang="fr-FR" sz="2800" dirty="0"/>
              <a:t> for </a:t>
            </a:r>
            <a:r>
              <a:rPr lang="fr-FR" sz="2800" dirty="0" err="1"/>
              <a:t>intercrops</a:t>
            </a:r>
            <a:r>
              <a:rPr lang="fr-FR" sz="2800" dirty="0"/>
              <a:t> </a:t>
            </a:r>
          </a:p>
        </p:txBody>
      </p:sp>
      <p:sp>
        <p:nvSpPr>
          <p:cNvPr id="7" name="Espace réservé du contenu 2">
            <a:extLst>
              <a:ext uri="{FF2B5EF4-FFF2-40B4-BE49-F238E27FC236}">
                <a16:creationId xmlns:a16="http://schemas.microsoft.com/office/drawing/2014/main" id="{13CA4DC9-2347-420C-BEAC-087797A0488F}"/>
              </a:ext>
            </a:extLst>
          </p:cNvPr>
          <p:cNvSpPr txBox="1">
            <a:spLocks/>
          </p:cNvSpPr>
          <p:nvPr/>
        </p:nvSpPr>
        <p:spPr>
          <a:xfrm>
            <a:off x="8274962" y="2541726"/>
            <a:ext cx="3406890" cy="39874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b="1" dirty="0" err="1"/>
              <a:t>Chapter</a:t>
            </a:r>
            <a:r>
              <a:rPr lang="fr-FR" b="1" dirty="0"/>
              <a:t> III </a:t>
            </a:r>
          </a:p>
          <a:p>
            <a:pPr marL="0" indent="0">
              <a:buNone/>
            </a:pPr>
            <a:r>
              <a:rPr lang="fr-FR" sz="2400" b="1" dirty="0"/>
              <a:t>Proposition of multi-</a:t>
            </a:r>
            <a:r>
              <a:rPr lang="fr-FR" sz="2400" b="1" dirty="0" err="1"/>
              <a:t>scale</a:t>
            </a:r>
            <a:r>
              <a:rPr lang="fr-FR" sz="2400" b="1" dirty="0"/>
              <a:t> </a:t>
            </a:r>
            <a:r>
              <a:rPr lang="fr-FR" sz="2400" b="1" dirty="0" err="1"/>
              <a:t>modelling</a:t>
            </a:r>
            <a:r>
              <a:rPr lang="fr-FR" sz="2400" b="1" dirty="0"/>
              <a:t> </a:t>
            </a:r>
            <a:r>
              <a:rPr lang="fr-FR" sz="2400" b="1" dirty="0" err="1"/>
              <a:t>approaches</a:t>
            </a:r>
            <a:endParaRPr lang="fr-FR" sz="2400" b="1" dirty="0"/>
          </a:p>
          <a:p>
            <a:pPr marL="0" indent="0">
              <a:buNone/>
            </a:pPr>
            <a:endParaRPr lang="fr-FR" sz="2400" dirty="0"/>
          </a:p>
          <a:p>
            <a:pPr marL="0" indent="0">
              <a:buNone/>
            </a:pPr>
            <a:r>
              <a:rPr lang="fr-FR" sz="2200" i="1" dirty="0"/>
              <a:t>How to </a:t>
            </a:r>
            <a:r>
              <a:rPr lang="fr-FR" sz="2200" i="1" dirty="0" err="1"/>
              <a:t>consider</a:t>
            </a:r>
            <a:r>
              <a:rPr lang="fr-FR" sz="2200" i="1" dirty="0"/>
              <a:t> </a:t>
            </a:r>
            <a:r>
              <a:rPr lang="fr-FR" sz="2200" i="1" dirty="0" err="1"/>
              <a:t>explicitly</a:t>
            </a:r>
            <a:r>
              <a:rPr lang="fr-FR" sz="2200" i="1" dirty="0"/>
              <a:t> </a:t>
            </a:r>
            <a:r>
              <a:rPr lang="fr-FR" sz="2200" i="1" dirty="0" err="1"/>
              <a:t>identified</a:t>
            </a:r>
            <a:r>
              <a:rPr lang="fr-FR" sz="2200" i="1" dirty="0"/>
              <a:t> </a:t>
            </a:r>
            <a:r>
              <a:rPr lang="fr-FR" sz="2200" i="1" dirty="0" err="1"/>
              <a:t>parameters</a:t>
            </a:r>
            <a:r>
              <a:rPr lang="fr-FR" sz="2200" i="1" dirty="0"/>
              <a:t> in </a:t>
            </a:r>
            <a:r>
              <a:rPr lang="fr-FR" sz="2200" i="1" dirty="0" err="1"/>
              <a:t>crop</a:t>
            </a:r>
            <a:r>
              <a:rPr lang="fr-FR" sz="2200" i="1" dirty="0"/>
              <a:t> </a:t>
            </a:r>
            <a:r>
              <a:rPr lang="fr-FR" sz="2200" i="1" dirty="0" err="1"/>
              <a:t>models</a:t>
            </a:r>
            <a:r>
              <a:rPr lang="fr-FR" sz="2200" i="1" dirty="0"/>
              <a:t> in </a:t>
            </a:r>
            <a:r>
              <a:rPr lang="fr-FR" sz="2200" i="1" dirty="0" err="1"/>
              <a:t>order</a:t>
            </a:r>
            <a:r>
              <a:rPr lang="fr-FR" sz="2200" i="1" dirty="0"/>
              <a:t> to </a:t>
            </a:r>
            <a:r>
              <a:rPr lang="fr-FR" sz="2200" i="1" dirty="0" err="1"/>
              <a:t>improve</a:t>
            </a:r>
            <a:r>
              <a:rPr lang="fr-FR" sz="2200" i="1" dirty="0"/>
              <a:t> </a:t>
            </a:r>
            <a:r>
              <a:rPr lang="fr-FR" sz="2200" i="1" dirty="0" err="1"/>
              <a:t>their</a:t>
            </a:r>
            <a:r>
              <a:rPr lang="fr-FR" sz="2200" i="1" dirty="0"/>
              <a:t> </a:t>
            </a:r>
            <a:r>
              <a:rPr lang="fr-FR" sz="2200" i="1" dirty="0" err="1"/>
              <a:t>accuracy</a:t>
            </a:r>
            <a:r>
              <a:rPr lang="fr-FR" sz="2200" i="1" dirty="0"/>
              <a:t>?</a:t>
            </a:r>
            <a:endParaRPr lang="fr-FR" sz="2200" dirty="0"/>
          </a:p>
        </p:txBody>
      </p:sp>
      <p:sp>
        <p:nvSpPr>
          <p:cNvPr id="9" name="TextBox 8">
            <a:extLst>
              <a:ext uri="{FF2B5EF4-FFF2-40B4-BE49-F238E27FC236}">
                <a16:creationId xmlns:a16="http://schemas.microsoft.com/office/drawing/2014/main" id="{4B023A90-5157-4005-A976-38BB0A6FFD60}"/>
              </a:ext>
            </a:extLst>
          </p:cNvPr>
          <p:cNvSpPr txBox="1"/>
          <p:nvPr/>
        </p:nvSpPr>
        <p:spPr>
          <a:xfrm>
            <a:off x="1261993" y="1068530"/>
            <a:ext cx="9555989" cy="954107"/>
          </a:xfrm>
          <a:prstGeom prst="rect">
            <a:avLst/>
          </a:prstGeom>
          <a:noFill/>
        </p:spPr>
        <p:txBody>
          <a:bodyPr wrap="square" rtlCol="0">
            <a:spAutoFit/>
          </a:bodyPr>
          <a:lstStyle/>
          <a:p>
            <a:pPr algn="ctr"/>
            <a:r>
              <a:rPr lang="en-US" sz="2800" i="1" dirty="0"/>
              <a:t>What scale is the most relevant for modeling intercrops, regarding given processes?</a:t>
            </a:r>
            <a:endParaRPr lang="fr-FR" sz="2800" i="1" dirty="0"/>
          </a:p>
        </p:txBody>
      </p:sp>
      <p:sp>
        <p:nvSpPr>
          <p:cNvPr id="10" name="Slide Number Placeholder 9">
            <a:extLst>
              <a:ext uri="{FF2B5EF4-FFF2-40B4-BE49-F238E27FC236}">
                <a16:creationId xmlns:a16="http://schemas.microsoft.com/office/drawing/2014/main" id="{B067720C-0A92-4BD7-8CEE-EB4786CC39DA}"/>
              </a:ext>
            </a:extLst>
          </p:cNvPr>
          <p:cNvSpPr>
            <a:spLocks noGrp="1"/>
          </p:cNvSpPr>
          <p:nvPr>
            <p:ph type="sldNum" sz="quarter" idx="12"/>
          </p:nvPr>
        </p:nvSpPr>
        <p:spPr/>
        <p:txBody>
          <a:bodyPr/>
          <a:lstStyle/>
          <a:p>
            <a:fld id="{27C6CCC6-2BE5-4E42-96A4-D1E8E81A3D8E}" type="slidenum">
              <a:rPr lang="fr-FR" smtClean="0"/>
              <a:t>11</a:t>
            </a:fld>
            <a:endParaRPr lang="fr-FR" dirty="0"/>
          </a:p>
        </p:txBody>
      </p:sp>
      <p:sp>
        <p:nvSpPr>
          <p:cNvPr id="11" name="Espace réservé du contenu 2">
            <a:extLst>
              <a:ext uri="{FF2B5EF4-FFF2-40B4-BE49-F238E27FC236}">
                <a16:creationId xmlns:a16="http://schemas.microsoft.com/office/drawing/2014/main" id="{64F199A5-DF34-43A8-9E86-211FAE35BC4C}"/>
              </a:ext>
            </a:extLst>
          </p:cNvPr>
          <p:cNvSpPr txBox="1">
            <a:spLocks/>
          </p:cNvSpPr>
          <p:nvPr/>
        </p:nvSpPr>
        <p:spPr>
          <a:xfrm>
            <a:off x="510149" y="3577590"/>
            <a:ext cx="3296102" cy="17945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b="1" dirty="0" err="1"/>
              <a:t>Chapter</a:t>
            </a:r>
            <a:r>
              <a:rPr lang="fr-FR" b="1" dirty="0"/>
              <a:t> I </a:t>
            </a:r>
          </a:p>
          <a:p>
            <a:pPr marL="0" indent="0">
              <a:buFont typeface="Arial" panose="020B0604020202020204" pitchFamily="34" charset="0"/>
              <a:buNone/>
            </a:pPr>
            <a:r>
              <a:rPr lang="fr-FR" sz="2400" b="1" dirty="0" err="1"/>
              <a:t>ArchiCrop</a:t>
            </a:r>
            <a:r>
              <a:rPr lang="fr-FR" sz="2400" b="1" dirty="0"/>
              <a:t>, </a:t>
            </a:r>
            <a:br>
              <a:rPr lang="fr-FR" sz="2400" b="1" dirty="0"/>
            </a:br>
            <a:r>
              <a:rPr lang="fr-FR" sz="2400" b="1" dirty="0"/>
              <a:t>a 3D </a:t>
            </a:r>
            <a:r>
              <a:rPr lang="fr-FR" sz="2400" b="1" dirty="0" err="1"/>
              <a:t>dynamic</a:t>
            </a:r>
            <a:r>
              <a:rPr lang="fr-FR" sz="2400" b="1" dirty="0"/>
              <a:t> </a:t>
            </a:r>
            <a:r>
              <a:rPr lang="fr-FR" sz="2400" b="1" dirty="0" err="1"/>
              <a:t>parametric</a:t>
            </a:r>
            <a:r>
              <a:rPr lang="fr-FR" sz="2400" b="1" dirty="0"/>
              <a:t> plant model </a:t>
            </a:r>
          </a:p>
          <a:p>
            <a:pPr marL="0" indent="0">
              <a:buFont typeface="Arial" panose="020B0604020202020204" pitchFamily="34" charset="0"/>
              <a:buNone/>
            </a:pPr>
            <a:endParaRPr lang="fr-FR" sz="2400" dirty="0"/>
          </a:p>
        </p:txBody>
      </p:sp>
      <p:sp>
        <p:nvSpPr>
          <p:cNvPr id="18" name="Espace réservé du contenu 2">
            <a:extLst>
              <a:ext uri="{FF2B5EF4-FFF2-40B4-BE49-F238E27FC236}">
                <a16:creationId xmlns:a16="http://schemas.microsoft.com/office/drawing/2014/main" id="{6915FCC6-9A42-4321-A976-BFBB6DD81E2E}"/>
              </a:ext>
            </a:extLst>
          </p:cNvPr>
          <p:cNvSpPr txBox="1">
            <a:spLocks/>
          </p:cNvSpPr>
          <p:nvPr/>
        </p:nvSpPr>
        <p:spPr>
          <a:xfrm>
            <a:off x="4282739" y="3577590"/>
            <a:ext cx="3514495" cy="2053134"/>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3000" b="1" dirty="0" err="1"/>
              <a:t>Chapter</a:t>
            </a:r>
            <a:r>
              <a:rPr lang="fr-FR" sz="3000" b="1" dirty="0"/>
              <a:t> II </a:t>
            </a:r>
          </a:p>
          <a:p>
            <a:pPr marL="0" indent="0">
              <a:buNone/>
            </a:pPr>
            <a:r>
              <a:rPr lang="fr-FR" sz="2600" b="1" dirty="0" err="1"/>
              <a:t>Uncertainty</a:t>
            </a:r>
            <a:r>
              <a:rPr lang="fr-FR" sz="2600" b="1" dirty="0"/>
              <a:t> </a:t>
            </a:r>
            <a:r>
              <a:rPr lang="fr-FR" sz="2600" b="1" dirty="0" err="1"/>
              <a:t>analysis</a:t>
            </a:r>
            <a:r>
              <a:rPr lang="fr-FR" sz="2600" b="1" dirty="0"/>
              <a:t> of </a:t>
            </a:r>
            <a:r>
              <a:rPr lang="fr-FR" sz="2600" b="1" dirty="0" err="1"/>
              <a:t>intercrop</a:t>
            </a:r>
            <a:r>
              <a:rPr lang="fr-FR" sz="2600" b="1" dirty="0"/>
              <a:t> </a:t>
            </a:r>
            <a:r>
              <a:rPr lang="fr-FR" sz="2600" b="1" dirty="0" err="1"/>
              <a:t>models</a:t>
            </a:r>
            <a:r>
              <a:rPr lang="fr-FR" sz="2600" b="1" dirty="0"/>
              <a:t> </a:t>
            </a:r>
            <a:r>
              <a:rPr lang="fr-FR" sz="2600" b="1" dirty="0" err="1"/>
              <a:t>considering</a:t>
            </a:r>
            <a:r>
              <a:rPr lang="fr-FR" sz="2600" b="1" dirty="0"/>
              <a:t> architectural </a:t>
            </a:r>
            <a:r>
              <a:rPr lang="fr-FR" sz="2600" b="1" dirty="0" err="1"/>
              <a:t>parameters</a:t>
            </a:r>
            <a:endParaRPr lang="fr-FR" sz="2600" b="1" dirty="0"/>
          </a:p>
        </p:txBody>
      </p:sp>
    </p:spTree>
    <p:extLst>
      <p:ext uri="{BB962C8B-B14F-4D97-AF65-F5344CB8AC3E}">
        <p14:creationId xmlns:p14="http://schemas.microsoft.com/office/powerpoint/2010/main" val="19552357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4A4EC1-5752-4617-A145-D55DD48A7683}"/>
              </a:ext>
            </a:extLst>
          </p:cNvPr>
          <p:cNvSpPr>
            <a:spLocks noGrp="1"/>
          </p:cNvSpPr>
          <p:nvPr>
            <p:ph idx="1"/>
          </p:nvPr>
        </p:nvSpPr>
        <p:spPr>
          <a:xfrm>
            <a:off x="660394" y="1866134"/>
            <a:ext cx="7045099" cy="4866097"/>
          </a:xfrm>
        </p:spPr>
        <p:txBody>
          <a:bodyPr>
            <a:normAutofit/>
          </a:bodyPr>
          <a:lstStyle/>
          <a:p>
            <a:r>
              <a:rPr lang="en-US" sz="2000" dirty="0"/>
              <a:t>Plant </a:t>
            </a:r>
            <a:r>
              <a:rPr lang="en-US" sz="2000" b="1" dirty="0"/>
              <a:t>3D architecture </a:t>
            </a:r>
            <a:r>
              <a:rPr lang="en-US" sz="2000" dirty="0"/>
              <a:t>and </a:t>
            </a:r>
            <a:r>
              <a:rPr lang="en-US" sz="2000" b="1" dirty="0"/>
              <a:t>development</a:t>
            </a:r>
            <a:r>
              <a:rPr lang="en-US" sz="2000" dirty="0"/>
              <a:t> are defined by </a:t>
            </a:r>
            <a:r>
              <a:rPr lang="en-US" sz="2000" b="1" dirty="0"/>
              <a:t>parameters</a:t>
            </a:r>
            <a:r>
              <a:rPr lang="en-US" sz="2000" dirty="0"/>
              <a:t>.</a:t>
            </a:r>
          </a:p>
          <a:p>
            <a:pPr marL="0" indent="0">
              <a:buNone/>
            </a:pPr>
            <a:endParaRPr lang="fr-FR" sz="2000" dirty="0"/>
          </a:p>
          <a:p>
            <a:pPr marL="0" indent="0">
              <a:buNone/>
            </a:pPr>
            <a:endParaRPr lang="en-US" sz="2000" dirty="0"/>
          </a:p>
          <a:p>
            <a:r>
              <a:rPr lang="fr-FR" sz="2000" b="1" dirty="0">
                <a:solidFill>
                  <a:prstClr val="black"/>
                </a:solidFill>
              </a:rPr>
              <a:t>Global </a:t>
            </a:r>
            <a:r>
              <a:rPr lang="fr-FR" sz="2000" b="1" dirty="0" err="1">
                <a:solidFill>
                  <a:prstClr val="black"/>
                </a:solidFill>
              </a:rPr>
              <a:t>growth</a:t>
            </a:r>
            <a:r>
              <a:rPr lang="fr-FR" sz="2000" dirty="0">
                <a:solidFill>
                  <a:prstClr val="black"/>
                </a:solidFill>
              </a:rPr>
              <a:t> </a:t>
            </a:r>
            <a:r>
              <a:rPr lang="fr-FR" sz="2000" dirty="0" err="1">
                <a:solidFill>
                  <a:prstClr val="black"/>
                </a:solidFill>
              </a:rPr>
              <a:t>is</a:t>
            </a:r>
            <a:r>
              <a:rPr lang="fr-FR" sz="2000" dirty="0">
                <a:solidFill>
                  <a:prstClr val="black"/>
                </a:solidFill>
              </a:rPr>
              <a:t> </a:t>
            </a:r>
            <a:r>
              <a:rPr lang="fr-FR" sz="2000" dirty="0" err="1">
                <a:solidFill>
                  <a:prstClr val="black"/>
                </a:solidFill>
              </a:rPr>
              <a:t>constrained</a:t>
            </a:r>
            <a:r>
              <a:rPr lang="fr-FR" sz="2000" dirty="0">
                <a:solidFill>
                  <a:prstClr val="black"/>
                </a:solidFill>
              </a:rPr>
              <a:t> </a:t>
            </a:r>
            <a:r>
              <a:rPr lang="fr-FR" sz="2000" dirty="0" err="1">
                <a:solidFill>
                  <a:prstClr val="black"/>
                </a:solidFill>
              </a:rPr>
              <a:t>from</a:t>
            </a:r>
            <a:r>
              <a:rPr lang="fr-FR" sz="2000" dirty="0">
                <a:solidFill>
                  <a:prstClr val="black"/>
                </a:solidFill>
              </a:rPr>
              <a:t> </a:t>
            </a:r>
            <a:r>
              <a:rPr lang="fr-FR" sz="2000" b="1" dirty="0" err="1">
                <a:solidFill>
                  <a:prstClr val="black"/>
                </a:solidFill>
              </a:rPr>
              <a:t>crop</a:t>
            </a:r>
            <a:r>
              <a:rPr lang="fr-FR" sz="2000" b="1" dirty="0">
                <a:solidFill>
                  <a:prstClr val="black"/>
                </a:solidFill>
              </a:rPr>
              <a:t> model </a:t>
            </a:r>
            <a:r>
              <a:rPr lang="fr-FR" sz="2000" b="1" dirty="0" err="1">
                <a:solidFill>
                  <a:prstClr val="black"/>
                </a:solidFill>
              </a:rPr>
              <a:t>dynamics</a:t>
            </a:r>
            <a:endParaRPr lang="en-US" sz="2000" dirty="0"/>
          </a:p>
          <a:p>
            <a:endParaRPr lang="fr-FR" sz="2000" dirty="0"/>
          </a:p>
          <a:p>
            <a:endParaRPr lang="fr-FR" sz="2000" dirty="0"/>
          </a:p>
          <a:p>
            <a:r>
              <a:rPr lang="en-US" sz="2000" dirty="0"/>
              <a:t>Known </a:t>
            </a:r>
            <a:r>
              <a:rPr lang="en-US" sz="2000" b="1" dirty="0"/>
              <a:t>allometric laws </a:t>
            </a:r>
            <a:r>
              <a:rPr lang="en-US" sz="2000" dirty="0"/>
              <a:t>for potential plant </a:t>
            </a:r>
            <a:r>
              <a:rPr lang="en-US" sz="2000" dirty="0">
                <a:sym typeface="Wingdings" panose="05000000000000000000" pitchFamily="2" charset="2"/>
              </a:rPr>
              <a:t> few parameters </a:t>
            </a:r>
            <a:endParaRPr lang="fr-FR" sz="2000" dirty="0"/>
          </a:p>
          <a:p>
            <a:endParaRPr lang="fr-FR" sz="2000" dirty="0"/>
          </a:p>
          <a:p>
            <a:endParaRPr lang="en-US" sz="2000" dirty="0"/>
          </a:p>
        </p:txBody>
      </p:sp>
      <p:sp>
        <p:nvSpPr>
          <p:cNvPr id="6" name="Slide Number Placeholder 5">
            <a:extLst>
              <a:ext uri="{FF2B5EF4-FFF2-40B4-BE49-F238E27FC236}">
                <a16:creationId xmlns:a16="http://schemas.microsoft.com/office/drawing/2014/main" id="{B01AA784-0F2C-4C78-A201-36238F926F07}"/>
              </a:ext>
            </a:extLst>
          </p:cNvPr>
          <p:cNvSpPr>
            <a:spLocks noGrp="1"/>
          </p:cNvSpPr>
          <p:nvPr>
            <p:ph type="sldNum" sz="quarter" idx="12"/>
          </p:nvPr>
        </p:nvSpPr>
        <p:spPr/>
        <p:txBody>
          <a:bodyPr/>
          <a:lstStyle/>
          <a:p>
            <a:fld id="{27C6CCC6-2BE5-4E42-96A4-D1E8E81A3D8E}" type="slidenum">
              <a:rPr lang="fr-FR" smtClean="0"/>
              <a:t>12</a:t>
            </a:fld>
            <a:endParaRPr lang="fr-FR"/>
          </a:p>
        </p:txBody>
      </p:sp>
      <p:sp>
        <p:nvSpPr>
          <p:cNvPr id="16" name="Title 1">
            <a:extLst>
              <a:ext uri="{FF2B5EF4-FFF2-40B4-BE49-F238E27FC236}">
                <a16:creationId xmlns:a16="http://schemas.microsoft.com/office/drawing/2014/main" id="{C73BEDF6-6049-4548-AD92-6A3090618A54}"/>
              </a:ext>
            </a:extLst>
          </p:cNvPr>
          <p:cNvSpPr txBox="1">
            <a:spLocks/>
          </p:cNvSpPr>
          <p:nvPr/>
        </p:nvSpPr>
        <p:spPr>
          <a:xfrm>
            <a:off x="663937" y="170395"/>
            <a:ext cx="11095671"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err="1"/>
              <a:t>ArchiCrop</a:t>
            </a:r>
            <a:r>
              <a:rPr lang="en-US" sz="4000" dirty="0"/>
              <a:t>: </a:t>
            </a:r>
            <a:r>
              <a:rPr lang="en-US" sz="2800" dirty="0"/>
              <a:t>Constraint-driven 3D Parametric Plant Model for cereals</a:t>
            </a:r>
            <a:endParaRPr lang="en-US" sz="4000" dirty="0"/>
          </a:p>
        </p:txBody>
      </p:sp>
    </p:spTree>
    <p:extLst>
      <p:ext uri="{BB962C8B-B14F-4D97-AF65-F5344CB8AC3E}">
        <p14:creationId xmlns:p14="http://schemas.microsoft.com/office/powerpoint/2010/main" val="21548094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4A4EC1-5752-4617-A145-D55DD48A7683}"/>
              </a:ext>
            </a:extLst>
          </p:cNvPr>
          <p:cNvSpPr>
            <a:spLocks noGrp="1"/>
          </p:cNvSpPr>
          <p:nvPr>
            <p:ph idx="1"/>
          </p:nvPr>
        </p:nvSpPr>
        <p:spPr>
          <a:xfrm>
            <a:off x="660394" y="1866134"/>
            <a:ext cx="7045099" cy="4866097"/>
          </a:xfrm>
        </p:spPr>
        <p:txBody>
          <a:bodyPr>
            <a:normAutofit/>
          </a:bodyPr>
          <a:lstStyle/>
          <a:p>
            <a:r>
              <a:rPr lang="en-US" sz="2000" dirty="0"/>
              <a:t>Plant </a:t>
            </a:r>
            <a:r>
              <a:rPr lang="en-US" sz="2000" b="1" dirty="0"/>
              <a:t>3D architecture </a:t>
            </a:r>
            <a:r>
              <a:rPr lang="en-US" sz="2000" dirty="0"/>
              <a:t>and </a:t>
            </a:r>
            <a:r>
              <a:rPr lang="en-US" sz="2000" b="1" dirty="0"/>
              <a:t>development</a:t>
            </a:r>
            <a:r>
              <a:rPr lang="en-US" sz="2000" dirty="0"/>
              <a:t> are defined by </a:t>
            </a:r>
            <a:r>
              <a:rPr lang="en-US" sz="2000" b="1" dirty="0"/>
              <a:t>parameters</a:t>
            </a:r>
            <a:r>
              <a:rPr lang="en-US" sz="2000" dirty="0"/>
              <a:t>.</a:t>
            </a:r>
          </a:p>
          <a:p>
            <a:pPr marL="0" indent="0">
              <a:buNone/>
            </a:pPr>
            <a:endParaRPr lang="fr-FR" sz="2000" dirty="0"/>
          </a:p>
          <a:p>
            <a:pPr marL="0" indent="0">
              <a:buNone/>
            </a:pPr>
            <a:endParaRPr lang="en-US" sz="2000" dirty="0"/>
          </a:p>
          <a:p>
            <a:r>
              <a:rPr lang="fr-FR" sz="2000" b="1" dirty="0">
                <a:solidFill>
                  <a:prstClr val="black"/>
                </a:solidFill>
              </a:rPr>
              <a:t>Global </a:t>
            </a:r>
            <a:r>
              <a:rPr lang="fr-FR" sz="2000" b="1" dirty="0" err="1">
                <a:solidFill>
                  <a:prstClr val="black"/>
                </a:solidFill>
              </a:rPr>
              <a:t>growth</a:t>
            </a:r>
            <a:r>
              <a:rPr lang="fr-FR" sz="2000" dirty="0">
                <a:solidFill>
                  <a:prstClr val="black"/>
                </a:solidFill>
              </a:rPr>
              <a:t> </a:t>
            </a:r>
            <a:r>
              <a:rPr lang="fr-FR" sz="2000" dirty="0" err="1">
                <a:solidFill>
                  <a:prstClr val="black"/>
                </a:solidFill>
              </a:rPr>
              <a:t>is</a:t>
            </a:r>
            <a:r>
              <a:rPr lang="fr-FR" sz="2000" dirty="0">
                <a:solidFill>
                  <a:prstClr val="black"/>
                </a:solidFill>
              </a:rPr>
              <a:t> </a:t>
            </a:r>
            <a:r>
              <a:rPr lang="fr-FR" sz="2000" dirty="0" err="1">
                <a:solidFill>
                  <a:prstClr val="black"/>
                </a:solidFill>
              </a:rPr>
              <a:t>constrained</a:t>
            </a:r>
            <a:r>
              <a:rPr lang="fr-FR" sz="2000" dirty="0">
                <a:solidFill>
                  <a:prstClr val="black"/>
                </a:solidFill>
              </a:rPr>
              <a:t> </a:t>
            </a:r>
            <a:r>
              <a:rPr lang="fr-FR" sz="2000" dirty="0" err="1">
                <a:solidFill>
                  <a:prstClr val="black"/>
                </a:solidFill>
              </a:rPr>
              <a:t>from</a:t>
            </a:r>
            <a:r>
              <a:rPr lang="fr-FR" sz="2000" dirty="0">
                <a:solidFill>
                  <a:prstClr val="black"/>
                </a:solidFill>
              </a:rPr>
              <a:t> </a:t>
            </a:r>
            <a:r>
              <a:rPr lang="fr-FR" sz="2000" b="1" dirty="0" err="1">
                <a:solidFill>
                  <a:prstClr val="black"/>
                </a:solidFill>
              </a:rPr>
              <a:t>crop</a:t>
            </a:r>
            <a:r>
              <a:rPr lang="fr-FR" sz="2000" b="1" dirty="0">
                <a:solidFill>
                  <a:prstClr val="black"/>
                </a:solidFill>
              </a:rPr>
              <a:t> model </a:t>
            </a:r>
            <a:r>
              <a:rPr lang="fr-FR" sz="2000" b="1" dirty="0" err="1">
                <a:solidFill>
                  <a:prstClr val="black"/>
                </a:solidFill>
              </a:rPr>
              <a:t>dynamics</a:t>
            </a:r>
            <a:endParaRPr lang="en-US" sz="2000" dirty="0"/>
          </a:p>
          <a:p>
            <a:endParaRPr lang="fr-FR" sz="2000" dirty="0"/>
          </a:p>
          <a:p>
            <a:endParaRPr lang="fr-FR" sz="2000" dirty="0"/>
          </a:p>
          <a:p>
            <a:r>
              <a:rPr lang="en-US" sz="2000" dirty="0"/>
              <a:t>Known </a:t>
            </a:r>
            <a:r>
              <a:rPr lang="en-US" sz="2000" b="1" dirty="0"/>
              <a:t>allometric laws </a:t>
            </a:r>
            <a:r>
              <a:rPr lang="en-US" sz="2000" dirty="0"/>
              <a:t>for potential plant </a:t>
            </a:r>
            <a:r>
              <a:rPr lang="en-US" sz="2000" dirty="0">
                <a:sym typeface="Wingdings" panose="05000000000000000000" pitchFamily="2" charset="2"/>
              </a:rPr>
              <a:t> few parameters </a:t>
            </a:r>
            <a:endParaRPr lang="fr-FR" sz="2000" dirty="0"/>
          </a:p>
          <a:p>
            <a:endParaRPr lang="fr-FR" sz="2000" dirty="0"/>
          </a:p>
          <a:p>
            <a:endParaRPr lang="en-US" sz="2000" dirty="0"/>
          </a:p>
        </p:txBody>
      </p:sp>
      <p:sp>
        <p:nvSpPr>
          <p:cNvPr id="6" name="Slide Number Placeholder 5">
            <a:extLst>
              <a:ext uri="{FF2B5EF4-FFF2-40B4-BE49-F238E27FC236}">
                <a16:creationId xmlns:a16="http://schemas.microsoft.com/office/drawing/2014/main" id="{B01AA784-0F2C-4C78-A201-36238F926F07}"/>
              </a:ext>
            </a:extLst>
          </p:cNvPr>
          <p:cNvSpPr>
            <a:spLocks noGrp="1"/>
          </p:cNvSpPr>
          <p:nvPr>
            <p:ph type="sldNum" sz="quarter" idx="12"/>
          </p:nvPr>
        </p:nvSpPr>
        <p:spPr/>
        <p:txBody>
          <a:bodyPr/>
          <a:lstStyle/>
          <a:p>
            <a:fld id="{27C6CCC6-2BE5-4E42-96A4-D1E8E81A3D8E}" type="slidenum">
              <a:rPr lang="fr-FR" smtClean="0"/>
              <a:t>13</a:t>
            </a:fld>
            <a:endParaRPr lang="fr-FR"/>
          </a:p>
        </p:txBody>
      </p:sp>
      <p:grpSp>
        <p:nvGrpSpPr>
          <p:cNvPr id="10" name="Group 9">
            <a:extLst>
              <a:ext uri="{FF2B5EF4-FFF2-40B4-BE49-F238E27FC236}">
                <a16:creationId xmlns:a16="http://schemas.microsoft.com/office/drawing/2014/main" id="{3FF6EDAA-43F6-4281-9068-0A7FABB4658E}"/>
              </a:ext>
            </a:extLst>
          </p:cNvPr>
          <p:cNvGrpSpPr/>
          <p:nvPr/>
        </p:nvGrpSpPr>
        <p:grpSpPr>
          <a:xfrm>
            <a:off x="8073166" y="1782005"/>
            <a:ext cx="3173224" cy="895296"/>
            <a:chOff x="8073166" y="1701245"/>
            <a:chExt cx="3173224" cy="895296"/>
          </a:xfrm>
        </p:grpSpPr>
        <p:sp>
          <p:nvSpPr>
            <p:cNvPr id="11" name="Rectangle: Diagonal Corners Snipped 10">
              <a:extLst>
                <a:ext uri="{FF2B5EF4-FFF2-40B4-BE49-F238E27FC236}">
                  <a16:creationId xmlns:a16="http://schemas.microsoft.com/office/drawing/2014/main" id="{35A07E2B-B570-4D4A-9D97-A421BC82C7EE}"/>
                </a:ext>
              </a:extLst>
            </p:cNvPr>
            <p:cNvSpPr/>
            <p:nvPr/>
          </p:nvSpPr>
          <p:spPr>
            <a:xfrm>
              <a:off x="8073166" y="1701245"/>
              <a:ext cx="3173224" cy="895296"/>
            </a:xfrm>
            <a:prstGeom prst="snip2DiagRect">
              <a:avLst/>
            </a:prstGeom>
            <a:solidFill>
              <a:srgbClr val="FFD89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C4621C9-8171-4BA8-B2F3-6F3DDF1C7231}"/>
                </a:ext>
              </a:extLst>
            </p:cNvPr>
            <p:cNvSpPr txBox="1"/>
            <p:nvPr/>
          </p:nvSpPr>
          <p:spPr>
            <a:xfrm>
              <a:off x="8174769" y="1815643"/>
              <a:ext cx="2986560" cy="646331"/>
            </a:xfrm>
            <a:prstGeom prst="rect">
              <a:avLst/>
            </a:prstGeom>
            <a:noFill/>
            <a:ln>
              <a:noFill/>
            </a:ln>
          </p:spPr>
          <p:txBody>
            <a:bodyPr wrap="square" rtlCol="0">
              <a:spAutoFit/>
            </a:bodyPr>
            <a:lstStyle/>
            <a:p>
              <a:r>
                <a:rPr lang="en-US" dirty="0">
                  <a:latin typeface="Arial" panose="020B0604020202020204" pitchFamily="34" charset="0"/>
                  <a:cs typeface="Arial" panose="020B0604020202020204" pitchFamily="34" charset="0"/>
                </a:rPr>
                <a:t>≠</a:t>
              </a:r>
              <a:r>
                <a:rPr lang="en-US" dirty="0"/>
                <a:t> FSPM: 3D plant architecture emerges from plant processes</a:t>
              </a:r>
            </a:p>
          </p:txBody>
        </p:sp>
      </p:grpSp>
      <p:sp>
        <p:nvSpPr>
          <p:cNvPr id="16" name="Title 1">
            <a:extLst>
              <a:ext uri="{FF2B5EF4-FFF2-40B4-BE49-F238E27FC236}">
                <a16:creationId xmlns:a16="http://schemas.microsoft.com/office/drawing/2014/main" id="{C73BEDF6-6049-4548-AD92-6A3090618A54}"/>
              </a:ext>
            </a:extLst>
          </p:cNvPr>
          <p:cNvSpPr txBox="1">
            <a:spLocks/>
          </p:cNvSpPr>
          <p:nvPr/>
        </p:nvSpPr>
        <p:spPr>
          <a:xfrm>
            <a:off x="663937" y="170395"/>
            <a:ext cx="11095671"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err="1"/>
              <a:t>ArchiCrop</a:t>
            </a:r>
            <a:r>
              <a:rPr lang="en-US" sz="4000" dirty="0"/>
              <a:t>: </a:t>
            </a:r>
            <a:r>
              <a:rPr lang="en-US" sz="2800" dirty="0"/>
              <a:t>Constraint-driven 3D Parametric Plant Model for cereals</a:t>
            </a:r>
            <a:endParaRPr lang="en-US" sz="4000" dirty="0"/>
          </a:p>
        </p:txBody>
      </p:sp>
      <p:grpSp>
        <p:nvGrpSpPr>
          <p:cNvPr id="8" name="Group 7">
            <a:extLst>
              <a:ext uri="{FF2B5EF4-FFF2-40B4-BE49-F238E27FC236}">
                <a16:creationId xmlns:a16="http://schemas.microsoft.com/office/drawing/2014/main" id="{F6F565DE-A45D-4FB6-B408-AFCA83A35F97}"/>
              </a:ext>
            </a:extLst>
          </p:cNvPr>
          <p:cNvGrpSpPr/>
          <p:nvPr/>
        </p:nvGrpSpPr>
        <p:grpSpPr>
          <a:xfrm>
            <a:off x="8073166" y="3072114"/>
            <a:ext cx="2743200" cy="923330"/>
            <a:chOff x="8073166" y="3857542"/>
            <a:chExt cx="2743200" cy="923330"/>
          </a:xfrm>
        </p:grpSpPr>
        <p:sp>
          <p:nvSpPr>
            <p:cNvPr id="19" name="Rectangle: Diagonal Corners Snipped 18">
              <a:extLst>
                <a:ext uri="{FF2B5EF4-FFF2-40B4-BE49-F238E27FC236}">
                  <a16:creationId xmlns:a16="http://schemas.microsoft.com/office/drawing/2014/main" id="{1EDC361E-E186-42B9-BB02-4EAECE48AE4E}"/>
                </a:ext>
              </a:extLst>
            </p:cNvPr>
            <p:cNvSpPr/>
            <p:nvPr/>
          </p:nvSpPr>
          <p:spPr>
            <a:xfrm>
              <a:off x="8073166" y="3857542"/>
              <a:ext cx="2743200" cy="923330"/>
            </a:xfrm>
            <a:prstGeom prst="snip2DiagRect">
              <a:avLst/>
            </a:prstGeom>
            <a:solidFill>
              <a:srgbClr val="FFD89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6B67FDF9-78EC-40D7-898F-7493ED3051CE}"/>
                </a:ext>
              </a:extLst>
            </p:cNvPr>
            <p:cNvSpPr txBox="1"/>
            <p:nvPr/>
          </p:nvSpPr>
          <p:spPr>
            <a:xfrm>
              <a:off x="8174769" y="3999975"/>
              <a:ext cx="2597901"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 </a:t>
              </a:r>
              <a:r>
                <a:rPr lang="en-US" dirty="0">
                  <a:sym typeface="Wingdings" panose="05000000000000000000" pitchFamily="2" charset="2"/>
                </a:rPr>
                <a:t>Parametric model: do not react to environment</a:t>
              </a:r>
            </a:p>
          </p:txBody>
        </p:sp>
      </p:grpSp>
      <p:grpSp>
        <p:nvGrpSpPr>
          <p:cNvPr id="9" name="Group 8">
            <a:extLst>
              <a:ext uri="{FF2B5EF4-FFF2-40B4-BE49-F238E27FC236}">
                <a16:creationId xmlns:a16="http://schemas.microsoft.com/office/drawing/2014/main" id="{89D0594C-BF13-4552-AE5F-7ABC4825FB05}"/>
              </a:ext>
            </a:extLst>
          </p:cNvPr>
          <p:cNvGrpSpPr/>
          <p:nvPr/>
        </p:nvGrpSpPr>
        <p:grpSpPr>
          <a:xfrm>
            <a:off x="8073166" y="4345443"/>
            <a:ext cx="3173224" cy="800720"/>
            <a:chOff x="8073166" y="2887211"/>
            <a:chExt cx="3173224" cy="684087"/>
          </a:xfrm>
        </p:grpSpPr>
        <p:sp>
          <p:nvSpPr>
            <p:cNvPr id="14" name="Rectangle: Diagonal Corners Snipped 13">
              <a:extLst>
                <a:ext uri="{FF2B5EF4-FFF2-40B4-BE49-F238E27FC236}">
                  <a16:creationId xmlns:a16="http://schemas.microsoft.com/office/drawing/2014/main" id="{0240F8DD-1ECD-4567-8B0F-8B387BC2D185}"/>
                </a:ext>
              </a:extLst>
            </p:cNvPr>
            <p:cNvSpPr/>
            <p:nvPr/>
          </p:nvSpPr>
          <p:spPr>
            <a:xfrm>
              <a:off x="8073166" y="2887211"/>
              <a:ext cx="3173224" cy="641956"/>
            </a:xfrm>
            <a:prstGeom prst="snip2DiagRect">
              <a:avLst/>
            </a:prstGeom>
            <a:solidFill>
              <a:srgbClr val="FFD89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4FBFC02-A611-41EB-96C6-5CA0441CAD68}"/>
                </a:ext>
              </a:extLst>
            </p:cNvPr>
            <p:cNvSpPr txBox="1"/>
            <p:nvPr/>
          </p:nvSpPr>
          <p:spPr>
            <a:xfrm>
              <a:off x="8174768" y="2924967"/>
              <a:ext cx="2986561" cy="646331"/>
            </a:xfrm>
            <a:prstGeom prst="rect">
              <a:avLst/>
            </a:prstGeom>
            <a:noFill/>
            <a:ln>
              <a:noFill/>
            </a:ln>
          </p:spPr>
          <p:txBody>
            <a:bodyPr wrap="square" rtlCol="0">
              <a:spAutoFit/>
            </a:bodyPr>
            <a:lstStyle/>
            <a:p>
              <a:r>
                <a:rPr lang="en-US" dirty="0">
                  <a:latin typeface="Arial" panose="020B0604020202020204" pitchFamily="34" charset="0"/>
                  <a:cs typeface="Arial" panose="020B0604020202020204" pitchFamily="34" charset="0"/>
                </a:rPr>
                <a:t>≠</a:t>
              </a:r>
              <a:r>
                <a:rPr lang="en-US" dirty="0"/>
                <a:t> FSPM: n</a:t>
              </a:r>
              <a:r>
                <a:rPr lang="en-US" dirty="0">
                  <a:cs typeface="Arial" panose="020B0604020202020204" pitchFamily="34" charset="0"/>
                </a:rPr>
                <a:t>o need for lots of measures</a:t>
              </a:r>
              <a:endParaRPr lang="en-US" dirty="0"/>
            </a:p>
          </p:txBody>
        </p:sp>
      </p:grpSp>
    </p:spTree>
    <p:extLst>
      <p:ext uri="{BB962C8B-B14F-4D97-AF65-F5344CB8AC3E}">
        <p14:creationId xmlns:p14="http://schemas.microsoft.com/office/powerpoint/2010/main" val="25995532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 name="Group 60">
            <a:extLst>
              <a:ext uri="{FF2B5EF4-FFF2-40B4-BE49-F238E27FC236}">
                <a16:creationId xmlns:a16="http://schemas.microsoft.com/office/drawing/2014/main" id="{F8112BF4-01F0-4888-85F4-1108B60C3132}"/>
              </a:ext>
            </a:extLst>
          </p:cNvPr>
          <p:cNvGrpSpPr/>
          <p:nvPr/>
        </p:nvGrpSpPr>
        <p:grpSpPr>
          <a:xfrm>
            <a:off x="10633" y="1784340"/>
            <a:ext cx="7238374" cy="4354190"/>
            <a:chOff x="284338" y="1573509"/>
            <a:chExt cx="7687058" cy="4624092"/>
          </a:xfrm>
        </p:grpSpPr>
        <p:grpSp>
          <p:nvGrpSpPr>
            <p:cNvPr id="58" name="Group 57">
              <a:extLst>
                <a:ext uri="{FF2B5EF4-FFF2-40B4-BE49-F238E27FC236}">
                  <a16:creationId xmlns:a16="http://schemas.microsoft.com/office/drawing/2014/main" id="{9C7AB40C-38BA-40A1-9200-8DA864D79784}"/>
                </a:ext>
              </a:extLst>
            </p:cNvPr>
            <p:cNvGrpSpPr/>
            <p:nvPr/>
          </p:nvGrpSpPr>
          <p:grpSpPr>
            <a:xfrm>
              <a:off x="284338" y="1573509"/>
              <a:ext cx="7687058" cy="4624092"/>
              <a:chOff x="1322452" y="557508"/>
              <a:chExt cx="9547095" cy="5742983"/>
            </a:xfrm>
          </p:grpSpPr>
          <p:pic>
            <p:nvPicPr>
              <p:cNvPr id="56" name="Picture 55">
                <a:extLst>
                  <a:ext uri="{FF2B5EF4-FFF2-40B4-BE49-F238E27FC236}">
                    <a16:creationId xmlns:a16="http://schemas.microsoft.com/office/drawing/2014/main" id="{67FFC6DA-CD13-4141-97A6-9AC3F8EB90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2452" y="557508"/>
                <a:ext cx="9547095" cy="5742983"/>
              </a:xfrm>
              <a:prstGeom prst="rect">
                <a:avLst/>
              </a:prstGeom>
            </p:spPr>
          </p:pic>
          <p:sp>
            <p:nvSpPr>
              <p:cNvPr id="53" name="Arc 52">
                <a:extLst>
                  <a:ext uri="{FF2B5EF4-FFF2-40B4-BE49-F238E27FC236}">
                    <a16:creationId xmlns:a16="http://schemas.microsoft.com/office/drawing/2014/main" id="{B1DD5B7C-0C69-439A-BF46-9C40F91B33FA}"/>
                  </a:ext>
                </a:extLst>
              </p:cNvPr>
              <p:cNvSpPr/>
              <p:nvPr/>
            </p:nvSpPr>
            <p:spPr>
              <a:xfrm rot="1547670">
                <a:off x="3193839" y="1173367"/>
                <a:ext cx="711622" cy="705376"/>
              </a:xfrm>
              <a:prstGeom prst="arc">
                <a:avLst>
                  <a:gd name="adj1" fmla="val 10822091"/>
                  <a:gd name="adj2" fmla="val 0"/>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54" name="Arc 53">
                <a:extLst>
                  <a:ext uri="{FF2B5EF4-FFF2-40B4-BE49-F238E27FC236}">
                    <a16:creationId xmlns:a16="http://schemas.microsoft.com/office/drawing/2014/main" id="{7F2923D8-38EA-47CA-8D80-7508E12C2F1D}"/>
                  </a:ext>
                </a:extLst>
              </p:cNvPr>
              <p:cNvSpPr/>
              <p:nvPr/>
            </p:nvSpPr>
            <p:spPr>
              <a:xfrm rot="21405153">
                <a:off x="6964755" y="1196634"/>
                <a:ext cx="1497861" cy="1036037"/>
              </a:xfrm>
              <a:prstGeom prst="arc">
                <a:avLst>
                  <a:gd name="adj1" fmla="val 13046312"/>
                  <a:gd name="adj2" fmla="val 1815059"/>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57" name="Arc 56">
                <a:extLst>
                  <a:ext uri="{FF2B5EF4-FFF2-40B4-BE49-F238E27FC236}">
                    <a16:creationId xmlns:a16="http://schemas.microsoft.com/office/drawing/2014/main" id="{A45E4550-B420-4310-84AE-0D1E91CEC20F}"/>
                  </a:ext>
                </a:extLst>
              </p:cNvPr>
              <p:cNvSpPr/>
              <p:nvPr/>
            </p:nvSpPr>
            <p:spPr>
              <a:xfrm rot="18460393">
                <a:off x="6341019" y="2009234"/>
                <a:ext cx="711622" cy="705376"/>
              </a:xfrm>
              <a:prstGeom prst="arc">
                <a:avLst>
                  <a:gd name="adj1" fmla="val 18836553"/>
                  <a:gd name="adj2" fmla="val 0"/>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p:sp>
          <p:nvSpPr>
            <p:cNvPr id="63" name="TextBox 62">
              <a:extLst>
                <a:ext uri="{FF2B5EF4-FFF2-40B4-BE49-F238E27FC236}">
                  <a16:creationId xmlns:a16="http://schemas.microsoft.com/office/drawing/2014/main" id="{49BB9700-67E7-44CF-B282-F4D3FEB1836A}"/>
                </a:ext>
              </a:extLst>
            </p:cNvPr>
            <p:cNvSpPr txBox="1"/>
            <p:nvPr/>
          </p:nvSpPr>
          <p:spPr>
            <a:xfrm>
              <a:off x="4650999" y="3634636"/>
              <a:ext cx="1558767" cy="400110"/>
            </a:xfrm>
            <a:prstGeom prst="rect">
              <a:avLst/>
            </a:prstGeom>
            <a:noFill/>
          </p:spPr>
          <p:txBody>
            <a:bodyPr wrap="square" rtlCol="0">
              <a:spAutoFit/>
            </a:bodyPr>
            <a:lstStyle/>
            <a:p>
              <a:r>
                <a:rPr lang="en-US" sz="2000" b="1" dirty="0"/>
                <a:t>Internode</a:t>
              </a:r>
            </a:p>
          </p:txBody>
        </p:sp>
        <p:sp>
          <p:nvSpPr>
            <p:cNvPr id="64" name="TextBox 63">
              <a:extLst>
                <a:ext uri="{FF2B5EF4-FFF2-40B4-BE49-F238E27FC236}">
                  <a16:creationId xmlns:a16="http://schemas.microsoft.com/office/drawing/2014/main" id="{F87AC5A8-789F-4194-9CA3-128B861497D3}"/>
                </a:ext>
              </a:extLst>
            </p:cNvPr>
            <p:cNvSpPr txBox="1"/>
            <p:nvPr/>
          </p:nvSpPr>
          <p:spPr>
            <a:xfrm>
              <a:off x="5968994" y="2784283"/>
              <a:ext cx="770594" cy="400110"/>
            </a:xfrm>
            <a:prstGeom prst="rect">
              <a:avLst/>
            </a:prstGeom>
            <a:noFill/>
          </p:spPr>
          <p:txBody>
            <a:bodyPr wrap="square" rtlCol="0">
              <a:spAutoFit/>
            </a:bodyPr>
            <a:lstStyle/>
            <a:p>
              <a:r>
                <a:rPr lang="en-US" sz="2000" b="1" dirty="0"/>
                <a:t>Leaf</a:t>
              </a:r>
            </a:p>
          </p:txBody>
        </p:sp>
      </p:grpSp>
      <p:sp>
        <p:nvSpPr>
          <p:cNvPr id="5" name="TextBox 4">
            <a:extLst>
              <a:ext uri="{FF2B5EF4-FFF2-40B4-BE49-F238E27FC236}">
                <a16:creationId xmlns:a16="http://schemas.microsoft.com/office/drawing/2014/main" id="{AF56306C-141C-4FC9-9D3C-7874F45E2C95}"/>
              </a:ext>
            </a:extLst>
          </p:cNvPr>
          <p:cNvSpPr txBox="1"/>
          <p:nvPr/>
        </p:nvSpPr>
        <p:spPr>
          <a:xfrm>
            <a:off x="523294" y="6026732"/>
            <a:ext cx="5772575" cy="461665"/>
          </a:xfrm>
          <a:prstGeom prst="rect">
            <a:avLst/>
          </a:prstGeom>
          <a:noFill/>
        </p:spPr>
        <p:txBody>
          <a:bodyPr wrap="square" rtlCol="0">
            <a:spAutoFit/>
          </a:bodyPr>
          <a:lstStyle/>
          <a:p>
            <a:r>
              <a:rPr lang="en-US" sz="2400" b="1" dirty="0"/>
              <a:t>Architectural parameters of potential plant</a:t>
            </a:r>
          </a:p>
        </p:txBody>
      </p:sp>
      <p:sp>
        <p:nvSpPr>
          <p:cNvPr id="59" name="TextBox 58">
            <a:extLst>
              <a:ext uri="{FF2B5EF4-FFF2-40B4-BE49-F238E27FC236}">
                <a16:creationId xmlns:a16="http://schemas.microsoft.com/office/drawing/2014/main" id="{CD853A12-D3E8-4564-BA10-F3AD62F7A010}"/>
              </a:ext>
            </a:extLst>
          </p:cNvPr>
          <p:cNvSpPr txBox="1"/>
          <p:nvPr/>
        </p:nvSpPr>
        <p:spPr>
          <a:xfrm>
            <a:off x="7215599" y="6026731"/>
            <a:ext cx="3744023" cy="461665"/>
          </a:xfrm>
          <a:prstGeom prst="rect">
            <a:avLst/>
          </a:prstGeom>
          <a:noFill/>
        </p:spPr>
        <p:txBody>
          <a:bodyPr wrap="square" rtlCol="0">
            <a:spAutoFit/>
          </a:bodyPr>
          <a:lstStyle/>
          <a:p>
            <a:r>
              <a:rPr lang="en-US" sz="2400" b="1" dirty="0"/>
              <a:t>Developmental parameters</a:t>
            </a:r>
          </a:p>
        </p:txBody>
      </p:sp>
      <p:pic>
        <p:nvPicPr>
          <p:cNvPr id="1030" name="Picture 6">
            <a:extLst>
              <a:ext uri="{FF2B5EF4-FFF2-40B4-BE49-F238E27FC236}">
                <a16:creationId xmlns:a16="http://schemas.microsoft.com/office/drawing/2014/main" id="{D1766623-D4B8-497A-B975-F543CA9B222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6156" b="7118"/>
          <a:stretch/>
        </p:blipFill>
        <p:spPr bwMode="auto">
          <a:xfrm>
            <a:off x="6939593" y="2816912"/>
            <a:ext cx="4800115" cy="2015534"/>
          </a:xfrm>
          <a:prstGeom prst="rect">
            <a:avLst/>
          </a:prstGeom>
          <a:noFill/>
          <a:extLst>
            <a:ext uri="{909E8E84-426E-40DD-AFC4-6F175D3DCCD1}">
              <a14:hiddenFill xmlns:a14="http://schemas.microsoft.com/office/drawing/2010/main">
                <a:solidFill>
                  <a:srgbClr val="FFFFFF"/>
                </a:solidFill>
              </a14:hiddenFill>
            </a:ext>
          </a:extLst>
        </p:spPr>
      </p:pic>
      <p:sp>
        <p:nvSpPr>
          <p:cNvPr id="107" name="TextBox 106">
            <a:extLst>
              <a:ext uri="{FF2B5EF4-FFF2-40B4-BE49-F238E27FC236}">
                <a16:creationId xmlns:a16="http://schemas.microsoft.com/office/drawing/2014/main" id="{1A67419D-1184-4560-8EBE-E7221D41491E}"/>
              </a:ext>
            </a:extLst>
          </p:cNvPr>
          <p:cNvSpPr txBox="1"/>
          <p:nvPr/>
        </p:nvSpPr>
        <p:spPr>
          <a:xfrm>
            <a:off x="3082991" y="1553438"/>
            <a:ext cx="1467784" cy="400110"/>
          </a:xfrm>
          <a:prstGeom prst="rect">
            <a:avLst/>
          </a:prstGeom>
          <a:noFill/>
        </p:spPr>
        <p:txBody>
          <a:bodyPr wrap="square" rtlCol="0">
            <a:spAutoFit/>
          </a:bodyPr>
          <a:lstStyle/>
          <a:p>
            <a:r>
              <a:rPr lang="en-US" sz="2000" b="1" dirty="0" err="1"/>
              <a:t>Phytomer</a:t>
            </a:r>
            <a:endParaRPr lang="en-US" sz="2000" b="1" dirty="0"/>
          </a:p>
        </p:txBody>
      </p:sp>
      <p:sp>
        <p:nvSpPr>
          <p:cNvPr id="25" name="Title 1">
            <a:extLst>
              <a:ext uri="{FF2B5EF4-FFF2-40B4-BE49-F238E27FC236}">
                <a16:creationId xmlns:a16="http://schemas.microsoft.com/office/drawing/2014/main" id="{243A8CF8-B841-4366-82DA-187EFFCB28F8}"/>
              </a:ext>
            </a:extLst>
          </p:cNvPr>
          <p:cNvSpPr>
            <a:spLocks noGrp="1"/>
          </p:cNvSpPr>
          <p:nvPr>
            <p:ph type="title"/>
          </p:nvPr>
        </p:nvSpPr>
        <p:spPr>
          <a:xfrm>
            <a:off x="523294" y="138767"/>
            <a:ext cx="10981134" cy="1268735"/>
          </a:xfrm>
        </p:spPr>
        <p:txBody>
          <a:bodyPr>
            <a:normAutofit/>
          </a:bodyPr>
          <a:lstStyle/>
          <a:p>
            <a:r>
              <a:rPr lang="en-US" sz="4000" dirty="0"/>
              <a:t>Plant 3D architecture and development are defined by parameters</a:t>
            </a:r>
          </a:p>
        </p:txBody>
      </p:sp>
      <p:sp>
        <p:nvSpPr>
          <p:cNvPr id="27" name="TextBox 26">
            <a:extLst>
              <a:ext uri="{FF2B5EF4-FFF2-40B4-BE49-F238E27FC236}">
                <a16:creationId xmlns:a16="http://schemas.microsoft.com/office/drawing/2014/main" id="{FD33959B-6EAB-46CC-A6A0-ECE76551C7E8}"/>
              </a:ext>
            </a:extLst>
          </p:cNvPr>
          <p:cNvSpPr txBox="1"/>
          <p:nvPr/>
        </p:nvSpPr>
        <p:spPr>
          <a:xfrm>
            <a:off x="98980" y="2451887"/>
            <a:ext cx="1467784" cy="707886"/>
          </a:xfrm>
          <a:prstGeom prst="rect">
            <a:avLst/>
          </a:prstGeom>
          <a:noFill/>
        </p:spPr>
        <p:txBody>
          <a:bodyPr wrap="square" rtlCol="0">
            <a:spAutoFit/>
          </a:bodyPr>
          <a:lstStyle/>
          <a:p>
            <a:r>
              <a:rPr lang="en-US" sz="2000" b="1" dirty="0"/>
              <a:t>Plant</a:t>
            </a:r>
          </a:p>
          <a:p>
            <a:r>
              <a:rPr lang="en-US" sz="2000" b="1" dirty="0"/>
              <a:t>architecture</a:t>
            </a:r>
          </a:p>
        </p:txBody>
      </p:sp>
      <p:sp>
        <p:nvSpPr>
          <p:cNvPr id="2" name="Slide Number Placeholder 1">
            <a:extLst>
              <a:ext uri="{FF2B5EF4-FFF2-40B4-BE49-F238E27FC236}">
                <a16:creationId xmlns:a16="http://schemas.microsoft.com/office/drawing/2014/main" id="{049EC86E-C088-49B7-BEE8-AEB9195C7614}"/>
              </a:ext>
            </a:extLst>
          </p:cNvPr>
          <p:cNvSpPr>
            <a:spLocks noGrp="1"/>
          </p:cNvSpPr>
          <p:nvPr>
            <p:ph type="sldNum" sz="quarter" idx="12"/>
          </p:nvPr>
        </p:nvSpPr>
        <p:spPr/>
        <p:txBody>
          <a:bodyPr/>
          <a:lstStyle/>
          <a:p>
            <a:fld id="{27C6CCC6-2BE5-4E42-96A4-D1E8E81A3D8E}" type="slidenum">
              <a:rPr lang="fr-FR" smtClean="0"/>
              <a:t>14</a:t>
            </a:fld>
            <a:endParaRPr lang="fr-FR"/>
          </a:p>
        </p:txBody>
      </p:sp>
    </p:spTree>
    <p:extLst>
      <p:ext uri="{BB962C8B-B14F-4D97-AF65-F5344CB8AC3E}">
        <p14:creationId xmlns:p14="http://schemas.microsoft.com/office/powerpoint/2010/main" val="38960245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4" name="Group 63">
            <a:extLst>
              <a:ext uri="{FF2B5EF4-FFF2-40B4-BE49-F238E27FC236}">
                <a16:creationId xmlns:a16="http://schemas.microsoft.com/office/drawing/2014/main" id="{04561046-6708-4754-9C75-07E2BE4B8A95}"/>
              </a:ext>
            </a:extLst>
          </p:cNvPr>
          <p:cNvGrpSpPr/>
          <p:nvPr/>
        </p:nvGrpSpPr>
        <p:grpSpPr>
          <a:xfrm>
            <a:off x="345305" y="1904320"/>
            <a:ext cx="5908275" cy="4785839"/>
            <a:chOff x="330201" y="672982"/>
            <a:chExt cx="7251699" cy="5874044"/>
          </a:xfrm>
        </p:grpSpPr>
        <p:grpSp>
          <p:nvGrpSpPr>
            <p:cNvPr id="65" name="Group 64">
              <a:extLst>
                <a:ext uri="{FF2B5EF4-FFF2-40B4-BE49-F238E27FC236}">
                  <a16:creationId xmlns:a16="http://schemas.microsoft.com/office/drawing/2014/main" id="{174A0F44-71F7-421A-AE97-5ADB695E9786}"/>
                </a:ext>
              </a:extLst>
            </p:cNvPr>
            <p:cNvGrpSpPr/>
            <p:nvPr/>
          </p:nvGrpSpPr>
          <p:grpSpPr>
            <a:xfrm>
              <a:off x="330201" y="672982"/>
              <a:ext cx="7251699" cy="5512036"/>
              <a:chOff x="559294" y="97653"/>
              <a:chExt cx="8899133" cy="6764255"/>
            </a:xfrm>
          </p:grpSpPr>
          <p:pic>
            <p:nvPicPr>
              <p:cNvPr id="68" name="Picture 67">
                <a:extLst>
                  <a:ext uri="{FF2B5EF4-FFF2-40B4-BE49-F238E27FC236}">
                    <a16:creationId xmlns:a16="http://schemas.microsoft.com/office/drawing/2014/main" id="{65B5E80D-6311-4B42-9C2B-CD3E86BA3426}"/>
                  </a:ext>
                </a:extLst>
              </p:cNvPr>
              <p:cNvPicPr>
                <a:picLocks noChangeAspect="1"/>
              </p:cNvPicPr>
              <p:nvPr/>
            </p:nvPicPr>
            <p:blipFill rotWithShape="1">
              <a:blip r:embed="rId3">
                <a:extLst>
                  <a:ext uri="{28A0092B-C50C-407E-A947-70E740481C1C}">
                    <a14:useLocalDpi xmlns:a14="http://schemas.microsoft.com/office/drawing/2010/main" val="0"/>
                  </a:ext>
                </a:extLst>
              </a:blip>
              <a:srcRect t="1422" r="1793" b="1"/>
              <a:stretch/>
            </p:blipFill>
            <p:spPr>
              <a:xfrm>
                <a:off x="559294" y="97653"/>
                <a:ext cx="8637971" cy="6764255"/>
              </a:xfrm>
              <a:prstGeom prst="rect">
                <a:avLst/>
              </a:prstGeom>
            </p:spPr>
          </p:pic>
          <p:pic>
            <p:nvPicPr>
              <p:cNvPr id="69" name="Picture 68">
                <a:extLst>
                  <a:ext uri="{FF2B5EF4-FFF2-40B4-BE49-F238E27FC236}">
                    <a16:creationId xmlns:a16="http://schemas.microsoft.com/office/drawing/2014/main" id="{59324260-70E0-4043-BCD0-C3E98CE774AC}"/>
                  </a:ext>
                </a:extLst>
              </p:cNvPr>
              <p:cNvPicPr>
                <a:picLocks noChangeAspect="1"/>
              </p:cNvPicPr>
              <p:nvPr/>
            </p:nvPicPr>
            <p:blipFill rotWithShape="1">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b="7137"/>
              <a:stretch/>
            </p:blipFill>
            <p:spPr>
              <a:xfrm>
                <a:off x="7131955" y="1180731"/>
                <a:ext cx="2326472" cy="4643025"/>
              </a:xfrm>
              <a:prstGeom prst="rect">
                <a:avLst/>
              </a:prstGeom>
            </p:spPr>
          </p:pic>
          <p:pic>
            <p:nvPicPr>
              <p:cNvPr id="70" name="Picture 69">
                <a:extLst>
                  <a:ext uri="{FF2B5EF4-FFF2-40B4-BE49-F238E27FC236}">
                    <a16:creationId xmlns:a16="http://schemas.microsoft.com/office/drawing/2014/main" id="{3A925B9D-D6E8-4F45-93F7-61C7030C9472}"/>
                  </a:ext>
                </a:extLst>
              </p:cNvPr>
              <p:cNvPicPr>
                <a:picLocks noChangeAspect="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b="11429"/>
              <a:stretch/>
            </p:blipFill>
            <p:spPr>
              <a:xfrm>
                <a:off x="4061069" y="3863751"/>
                <a:ext cx="1400234" cy="1968881"/>
              </a:xfrm>
              <a:prstGeom prst="rect">
                <a:avLst/>
              </a:prstGeom>
            </p:spPr>
          </p:pic>
          <p:pic>
            <p:nvPicPr>
              <p:cNvPr id="71" name="Picture 70">
                <a:extLst>
                  <a:ext uri="{FF2B5EF4-FFF2-40B4-BE49-F238E27FC236}">
                    <a16:creationId xmlns:a16="http://schemas.microsoft.com/office/drawing/2014/main" id="{952CE4B9-6FC0-4C0C-8D77-FDF6D690FCD2}"/>
                  </a:ext>
                </a:extLst>
              </p:cNvPr>
              <p:cNvPicPr>
                <a:picLocks noChangeAspect="1"/>
              </p:cNvPicPr>
              <p:nvPr/>
            </p:nvPicPr>
            <p:blipFill rotWithShape="1">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b="15454"/>
              <a:stretch/>
            </p:blipFill>
            <p:spPr>
              <a:xfrm>
                <a:off x="2941929" y="5504155"/>
                <a:ext cx="335507" cy="310718"/>
              </a:xfrm>
              <a:prstGeom prst="rect">
                <a:avLst/>
              </a:prstGeom>
            </p:spPr>
          </p:pic>
          <p:cxnSp>
            <p:nvCxnSpPr>
              <p:cNvPr id="72" name="Straight Connector 71">
                <a:extLst>
                  <a:ext uri="{FF2B5EF4-FFF2-40B4-BE49-F238E27FC236}">
                    <a16:creationId xmlns:a16="http://schemas.microsoft.com/office/drawing/2014/main" id="{D6A0ABF4-5DCA-4D61-AAF7-1A1ABCD6F869}"/>
                  </a:ext>
                </a:extLst>
              </p:cNvPr>
              <p:cNvCxnSpPr>
                <a:cxnSpLocks/>
              </p:cNvCxnSpPr>
              <p:nvPr/>
            </p:nvCxnSpPr>
            <p:spPr>
              <a:xfrm flipH="1">
                <a:off x="5406499" y="2113645"/>
                <a:ext cx="1003179" cy="0"/>
              </a:xfrm>
              <a:prstGeom prst="line">
                <a:avLst/>
              </a:prstGeom>
              <a:ln w="38100">
                <a:solidFill>
                  <a:srgbClr val="F39200"/>
                </a:solidFill>
                <a:prstDash val="soli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908FA6C0-F210-4FF8-ABDA-9F893B1C815F}"/>
                  </a:ext>
                </a:extLst>
              </p:cNvPr>
              <p:cNvCxnSpPr>
                <a:cxnSpLocks/>
              </p:cNvCxnSpPr>
              <p:nvPr/>
            </p:nvCxnSpPr>
            <p:spPr>
              <a:xfrm flipV="1">
                <a:off x="5406499" y="2113645"/>
                <a:ext cx="0" cy="1651015"/>
              </a:xfrm>
              <a:prstGeom prst="line">
                <a:avLst/>
              </a:prstGeom>
              <a:ln w="38100">
                <a:solidFill>
                  <a:srgbClr val="F39200"/>
                </a:solidFill>
                <a:prstDash val="solid"/>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E8DBC39F-9BDF-40A8-98EB-29FEDC74DA6B}"/>
                  </a:ext>
                </a:extLst>
              </p:cNvPr>
              <p:cNvSpPr txBox="1"/>
              <p:nvPr/>
            </p:nvSpPr>
            <p:spPr>
              <a:xfrm>
                <a:off x="4508956" y="2619366"/>
                <a:ext cx="810305" cy="556294"/>
              </a:xfrm>
              <a:prstGeom prst="rect">
                <a:avLst/>
              </a:prstGeom>
              <a:noFill/>
            </p:spPr>
            <p:txBody>
              <a:bodyPr wrap="square" rtlCol="0">
                <a:spAutoFit/>
              </a:bodyPr>
              <a:lstStyle/>
              <a:p>
                <a:r>
                  <a:rPr lang="en-US" dirty="0" err="1">
                    <a:solidFill>
                      <a:srgbClr val="F39200"/>
                    </a:solidFill>
                  </a:rPr>
                  <a:t>dLA</a:t>
                </a:r>
                <a:endParaRPr lang="en-US" dirty="0">
                  <a:solidFill>
                    <a:srgbClr val="F39200"/>
                  </a:solidFill>
                </a:endParaRPr>
              </a:p>
            </p:txBody>
          </p:sp>
          <p:sp>
            <p:nvSpPr>
              <p:cNvPr id="75" name="TextBox 74">
                <a:extLst>
                  <a:ext uri="{FF2B5EF4-FFF2-40B4-BE49-F238E27FC236}">
                    <a16:creationId xmlns:a16="http://schemas.microsoft.com/office/drawing/2014/main" id="{11C52C7A-BA08-40AC-BD8C-862B8CEAAE74}"/>
                  </a:ext>
                </a:extLst>
              </p:cNvPr>
              <p:cNvSpPr txBox="1"/>
              <p:nvPr/>
            </p:nvSpPr>
            <p:spPr>
              <a:xfrm>
                <a:off x="5605643" y="1558141"/>
                <a:ext cx="1003178" cy="672900"/>
              </a:xfrm>
              <a:prstGeom prst="rect">
                <a:avLst/>
              </a:prstGeom>
              <a:noFill/>
            </p:spPr>
            <p:txBody>
              <a:bodyPr wrap="square" rtlCol="0">
                <a:spAutoFit/>
              </a:bodyPr>
              <a:lstStyle/>
              <a:p>
                <a:r>
                  <a:rPr lang="en-US" dirty="0">
                    <a:solidFill>
                      <a:srgbClr val="F39200"/>
                    </a:solidFill>
                  </a:rPr>
                  <a:t>dt</a:t>
                </a:r>
              </a:p>
            </p:txBody>
          </p:sp>
          <p:grpSp>
            <p:nvGrpSpPr>
              <p:cNvPr id="76" name="Group 75">
                <a:extLst>
                  <a:ext uri="{FF2B5EF4-FFF2-40B4-BE49-F238E27FC236}">
                    <a16:creationId xmlns:a16="http://schemas.microsoft.com/office/drawing/2014/main" id="{470D1A5D-C43C-4EB1-B634-6E19BFFB987F}"/>
                  </a:ext>
                </a:extLst>
              </p:cNvPr>
              <p:cNvGrpSpPr/>
              <p:nvPr/>
            </p:nvGrpSpPr>
            <p:grpSpPr>
              <a:xfrm>
                <a:off x="5433038" y="2330132"/>
                <a:ext cx="2237270" cy="3570468"/>
                <a:chOff x="6569380" y="2330132"/>
                <a:chExt cx="2237270" cy="3570468"/>
              </a:xfrm>
            </p:grpSpPr>
            <p:pic>
              <p:nvPicPr>
                <p:cNvPr id="77" name="Picture 76">
                  <a:extLst>
                    <a:ext uri="{FF2B5EF4-FFF2-40B4-BE49-F238E27FC236}">
                      <a16:creationId xmlns:a16="http://schemas.microsoft.com/office/drawing/2014/main" id="{B04D186A-F0D4-4E4E-BF7B-317561CD5CF6}"/>
                    </a:ext>
                  </a:extLst>
                </p:cNvPr>
                <p:cNvPicPr>
                  <a:picLocks noChangeAspect="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729568" y="3378161"/>
                  <a:ext cx="1729890" cy="2522439"/>
                </a:xfrm>
                <a:prstGeom prst="rect">
                  <a:avLst/>
                </a:prstGeom>
              </p:spPr>
            </p:pic>
            <p:pic>
              <p:nvPicPr>
                <p:cNvPr id="78" name="Picture 77">
                  <a:extLst>
                    <a:ext uri="{FF2B5EF4-FFF2-40B4-BE49-F238E27FC236}">
                      <a16:creationId xmlns:a16="http://schemas.microsoft.com/office/drawing/2014/main" id="{22D04C1D-CDFC-4A55-9D39-FA56986283D7}"/>
                    </a:ext>
                  </a:extLst>
                </p:cNvPr>
                <p:cNvPicPr>
                  <a:picLocks noChangeAspect="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569380" y="2330132"/>
                  <a:ext cx="2237270" cy="1434528"/>
                </a:xfrm>
                <a:prstGeom prst="rect">
                  <a:avLst/>
                </a:prstGeom>
              </p:spPr>
            </p:pic>
          </p:grpSp>
        </p:grpSp>
        <p:sp>
          <p:nvSpPr>
            <p:cNvPr id="66" name="TextBox 65">
              <a:extLst>
                <a:ext uri="{FF2B5EF4-FFF2-40B4-BE49-F238E27FC236}">
                  <a16:creationId xmlns:a16="http://schemas.microsoft.com/office/drawing/2014/main" id="{66131D9C-8CDB-4FA5-AA73-144893663CD9}"/>
                </a:ext>
              </a:extLst>
            </p:cNvPr>
            <p:cNvSpPr txBox="1"/>
            <p:nvPr/>
          </p:nvSpPr>
          <p:spPr>
            <a:xfrm>
              <a:off x="1810136" y="5716029"/>
              <a:ext cx="5029200" cy="830997"/>
            </a:xfrm>
            <a:prstGeom prst="rect">
              <a:avLst/>
            </a:prstGeom>
            <a:solidFill>
              <a:schemeClr val="bg1"/>
            </a:solidFill>
          </p:spPr>
          <p:txBody>
            <a:bodyPr wrap="square" rtlCol="0">
              <a:spAutoFit/>
            </a:bodyPr>
            <a:lstStyle/>
            <a:p>
              <a:pPr algn="ctr"/>
              <a:r>
                <a:rPr lang="fr-FR" sz="2400" dirty="0"/>
                <a:t>Thermal time (°</a:t>
              </a:r>
              <a:r>
                <a:rPr lang="fr-FR" sz="2400" dirty="0" err="1"/>
                <a:t>C.d</a:t>
              </a:r>
              <a:r>
                <a:rPr lang="fr-FR" sz="2400" dirty="0"/>
                <a:t>)</a:t>
              </a:r>
            </a:p>
            <a:p>
              <a:pPr algn="ctr"/>
              <a:endParaRPr lang="en-US" sz="2400" dirty="0"/>
            </a:p>
          </p:txBody>
        </p:sp>
        <p:sp>
          <p:nvSpPr>
            <p:cNvPr id="67" name="TextBox 66">
              <a:extLst>
                <a:ext uri="{FF2B5EF4-FFF2-40B4-BE49-F238E27FC236}">
                  <a16:creationId xmlns:a16="http://schemas.microsoft.com/office/drawing/2014/main" id="{07220A2F-8F07-4215-A2A1-F791D6DD8B5D}"/>
                </a:ext>
              </a:extLst>
            </p:cNvPr>
            <p:cNvSpPr txBox="1"/>
            <p:nvPr/>
          </p:nvSpPr>
          <p:spPr>
            <a:xfrm rot="16200000">
              <a:off x="-617084" y="2858528"/>
              <a:ext cx="2356236" cy="461665"/>
            </a:xfrm>
            <a:prstGeom prst="rect">
              <a:avLst/>
            </a:prstGeom>
            <a:solidFill>
              <a:schemeClr val="bg1"/>
            </a:solidFill>
          </p:spPr>
          <p:txBody>
            <a:bodyPr wrap="square" rtlCol="0">
              <a:spAutoFit/>
            </a:bodyPr>
            <a:lstStyle/>
            <a:p>
              <a:pPr algn="ctr"/>
              <a:r>
                <a:rPr lang="fr-FR" sz="2400" dirty="0"/>
                <a:t>LAI</a:t>
              </a:r>
            </a:p>
          </p:txBody>
        </p:sp>
      </p:grpSp>
      <p:sp>
        <p:nvSpPr>
          <p:cNvPr id="24" name="Content Placeholder 2">
            <a:extLst>
              <a:ext uri="{FF2B5EF4-FFF2-40B4-BE49-F238E27FC236}">
                <a16:creationId xmlns:a16="http://schemas.microsoft.com/office/drawing/2014/main" id="{1CC01442-1C65-4BE2-BEB8-747FAC9A0A71}"/>
              </a:ext>
            </a:extLst>
          </p:cNvPr>
          <p:cNvSpPr txBox="1">
            <a:spLocks/>
          </p:cNvSpPr>
          <p:nvPr/>
        </p:nvSpPr>
        <p:spPr>
          <a:xfrm>
            <a:off x="7217353" y="1591955"/>
            <a:ext cx="4333370" cy="61312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sz="2000" b="1" dirty="0" err="1"/>
              <a:t>Distribute</a:t>
            </a:r>
            <a:r>
              <a:rPr lang="fr-FR" sz="2000" b="1" dirty="0"/>
              <a:t> </a:t>
            </a:r>
            <a:r>
              <a:rPr lang="fr-FR" sz="2000" b="1" dirty="0" err="1"/>
              <a:t>constraint</a:t>
            </a:r>
            <a:r>
              <a:rPr lang="fr-FR" sz="2000" b="1" dirty="0"/>
              <a:t> </a:t>
            </a:r>
            <a:r>
              <a:rPr lang="fr-FR" sz="2000" i="1" dirty="0"/>
              <a:t>c</a:t>
            </a:r>
            <a:r>
              <a:rPr lang="fr-FR" sz="2000" dirty="0"/>
              <a:t> (LAI and </a:t>
            </a:r>
            <a:r>
              <a:rPr lang="fr-FR" sz="2000" dirty="0" err="1"/>
              <a:t>height</a:t>
            </a:r>
            <a:r>
              <a:rPr lang="fr-FR" sz="2000" dirty="0"/>
              <a:t>): </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79DDCEC5-0228-4A21-8EA1-445F6E20D82A}"/>
                  </a:ext>
                </a:extLst>
              </p:cNvPr>
              <p:cNvSpPr txBox="1"/>
              <p:nvPr/>
            </p:nvSpPr>
            <p:spPr>
              <a:xfrm>
                <a:off x="7404128" y="3661553"/>
                <a:ext cx="3867230" cy="237039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𝑐</m:t>
                          </m:r>
                        </m:num>
                        <m:den>
                          <m:r>
                            <a:rPr lang="en-US" i="1" smtClean="0">
                              <a:latin typeface="Cambria Math" panose="02040503050406030204" pitchFamily="18" charset="0"/>
                              <a:ea typeface="Cambria Math" panose="02040503050406030204" pitchFamily="18" charset="0"/>
                            </a:rPr>
                            <m:t>𝜕</m:t>
                          </m:r>
                          <m:r>
                            <a:rPr lang="fr-FR" b="0" i="1" smtClean="0">
                              <a:latin typeface="Cambria Math" panose="02040503050406030204" pitchFamily="18" charset="0"/>
                              <a:ea typeface="Cambria Math" panose="02040503050406030204" pitchFamily="18" charset="0"/>
                            </a:rPr>
                            <m:t>𝑡</m:t>
                          </m:r>
                        </m:den>
                      </m:f>
                      <m:r>
                        <m:rPr>
                          <m:nor/>
                        </m:rPr>
                        <a:rPr lang="fr-FR" b="0" i="0" smtClean="0"/>
                        <m:t> </m:t>
                      </m:r>
                      <m:r>
                        <m:rPr>
                          <m:nor/>
                        </m:rPr>
                        <a:rPr lang="en-US"/>
                        <m:t>= </m:t>
                      </m:r>
                      <m:nary>
                        <m:naryPr>
                          <m:chr m:val="∑"/>
                          <m:supHide m:val="on"/>
                          <m:ctrlPr>
                            <a:rPr lang="en-US" i="1" smtClean="0">
                              <a:latin typeface="Cambria Math" panose="02040503050406030204" pitchFamily="18" charset="0"/>
                            </a:rPr>
                          </m:ctrlPr>
                        </m:naryPr>
                        <m:sub>
                          <m:r>
                            <m:rPr>
                              <m:brk m:alnAt="7"/>
                            </m:rPr>
                            <a:rPr lang="en-US" b="0" i="1" smtClean="0">
                              <a:latin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m:t>
                          </m:r>
                          <m:r>
                            <a:rPr lang="fr-FR" b="0" i="1" smtClean="0">
                              <a:latin typeface="Cambria Math" panose="02040503050406030204" pitchFamily="18" charset="0"/>
                              <a:ea typeface="Cambria Math" panose="02040503050406030204" pitchFamily="18" charset="0"/>
                            </a:rPr>
                            <m:t>𝑃</m:t>
                          </m:r>
                        </m:sub>
                        <m:sup/>
                        <m:e>
                          <m:nary>
                            <m:naryPr>
                              <m:chr m:val="∑"/>
                              <m:supHide m:val="on"/>
                              <m:ctrlPr>
                                <a:rPr lang="en-US" i="1">
                                  <a:latin typeface="Cambria Math" panose="02040503050406030204" pitchFamily="18" charset="0"/>
                                </a:rPr>
                              </m:ctrlPr>
                            </m:naryPr>
                            <m:sub>
                              <m:r>
                                <m:rPr>
                                  <m:brk m:alnAt="23"/>
                                </m:rPr>
                                <a:rPr lang="en-US" i="1">
                                  <a:latin typeface="Cambria Math" panose="02040503050406030204" pitchFamily="18" charset="0"/>
                                </a:rPr>
                                <m:t>𝑗</m:t>
                              </m:r>
                              <m:r>
                                <a:rPr lang="fr-FR" i="1">
                                  <a:latin typeface="Cambria Math" panose="02040503050406030204" pitchFamily="18" charset="0"/>
                                  <a:ea typeface="Cambria Math" panose="02040503050406030204" pitchFamily="18" charset="0"/>
                                </a:rPr>
                                <m:t>∈</m:t>
                              </m:r>
                              <m:r>
                                <a:rPr lang="fr-FR" b="0" i="1" smtClean="0">
                                  <a:latin typeface="Cambria Math" panose="02040503050406030204" pitchFamily="18" charset="0"/>
                                  <a:ea typeface="Cambria Math" panose="02040503050406030204" pitchFamily="18" charset="0"/>
                                </a:rPr>
                                <m:t>𝐺</m:t>
                              </m:r>
                            </m:sub>
                            <m:sup/>
                            <m:e>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𝑐</m:t>
                                      </m:r>
                                    </m:e>
                                    <m:sub>
                                      <m: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𝑗</m:t>
                                      </m:r>
                                    </m:sub>
                                  </m:sSub>
                                  <m:r>
                                    <a:rPr lang="fr-FR" i="1">
                                      <a:latin typeface="Cambria Math" panose="02040503050406030204" pitchFamily="18" charset="0"/>
                                      <a:ea typeface="Cambria Math" panose="02040503050406030204" pitchFamily="18" charset="0"/>
                                    </a:rPr>
                                    <m:t>(</m:t>
                                  </m:r>
                                  <m:r>
                                    <a:rPr lang="fr-FR" i="1">
                                      <a:latin typeface="Cambria Math" panose="02040503050406030204" pitchFamily="18" charset="0"/>
                                      <a:ea typeface="Cambria Math" panose="02040503050406030204" pitchFamily="18" charset="0"/>
                                    </a:rPr>
                                    <m:t>𝑡</m:t>
                                  </m:r>
                                  <m:r>
                                    <a:rPr lang="fr-FR" i="1">
                                      <a:latin typeface="Cambria Math" panose="02040503050406030204" pitchFamily="18" charset="0"/>
                                      <a:ea typeface="Cambria Math" panose="02040503050406030204" pitchFamily="18" charset="0"/>
                                    </a:rPr>
                                    <m:t>)</m:t>
                                  </m:r>
                                </m:num>
                                <m:den>
                                  <m:r>
                                    <a:rPr lang="en-US" i="1">
                                      <a:latin typeface="Cambria Math" panose="02040503050406030204" pitchFamily="18" charset="0"/>
                                      <a:ea typeface="Cambria Math" panose="02040503050406030204" pitchFamily="18" charset="0"/>
                                    </a:rPr>
                                    <m:t>𝜕</m:t>
                                  </m:r>
                                  <m:r>
                                    <a:rPr lang="fr-FR" i="1">
                                      <a:latin typeface="Cambria Math" panose="02040503050406030204" pitchFamily="18" charset="0"/>
                                      <a:ea typeface="Cambria Math" panose="02040503050406030204" pitchFamily="18" charset="0"/>
                                    </a:rPr>
                                    <m:t>𝑡</m:t>
                                  </m:r>
                                </m:den>
                              </m:f>
                            </m:e>
                          </m:nary>
                        </m:e>
                      </m:nary>
                    </m:oMath>
                  </m:oMathPara>
                </a14:m>
                <a:endParaRPr lang="fr-FR" dirty="0"/>
              </a:p>
              <a:p>
                <a:endParaRPr lang="fr-FR" sz="1400" dirty="0"/>
              </a:p>
              <a:p>
                <a:endParaRPr lang="fr-FR" sz="1400" dirty="0"/>
              </a:p>
              <a:p>
                <a14:m>
                  <m:oMath xmlns:m="http://schemas.openxmlformats.org/officeDocument/2006/math">
                    <m:f>
                      <m:fPr>
                        <m:ctrlPr>
                          <a:rPr lang="en-US" sz="1600" i="1">
                            <a:latin typeface="Cambria Math" panose="02040503050406030204" pitchFamily="18" charset="0"/>
                          </a:rPr>
                        </m:ctrlPr>
                      </m:fPr>
                      <m:num>
                        <m:r>
                          <a:rPr lang="en-US" sz="1600" i="1">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𝑐</m:t>
                        </m:r>
                      </m:num>
                      <m:den>
                        <m:r>
                          <a:rPr lang="en-US" sz="1600" i="1">
                            <a:latin typeface="Cambria Math" panose="02040503050406030204" pitchFamily="18" charset="0"/>
                            <a:ea typeface="Cambria Math" panose="02040503050406030204" pitchFamily="18" charset="0"/>
                          </a:rPr>
                          <m:t>𝜕</m:t>
                        </m:r>
                        <m:r>
                          <a:rPr lang="fr-FR" sz="1600" i="1">
                            <a:latin typeface="Cambria Math" panose="02040503050406030204" pitchFamily="18" charset="0"/>
                            <a:ea typeface="Cambria Math" panose="02040503050406030204" pitchFamily="18" charset="0"/>
                          </a:rPr>
                          <m:t>𝑡</m:t>
                        </m:r>
                      </m:den>
                    </m:f>
                  </m:oMath>
                </a14:m>
                <a:r>
                  <a:rPr lang="fr-FR" sz="1600" dirty="0"/>
                  <a:t>: </a:t>
                </a:r>
                <a:r>
                  <a:rPr lang="fr-FR" sz="1600" dirty="0" err="1"/>
                  <a:t>growth</a:t>
                </a:r>
                <a:r>
                  <a:rPr lang="fr-FR" sz="1600" dirty="0"/>
                  <a:t> </a:t>
                </a:r>
                <a:r>
                  <a:rPr lang="fr-FR" sz="1600" dirty="0" err="1"/>
                  <a:t>increment</a:t>
                </a:r>
                <a:r>
                  <a:rPr lang="fr-FR" sz="1600" dirty="0"/>
                  <a:t> at </a:t>
                </a:r>
                <a:r>
                  <a:rPr lang="fr-FR" sz="1600" dirty="0" err="1"/>
                  <a:t>crop</a:t>
                </a:r>
                <a:r>
                  <a:rPr lang="fr-FR" sz="1600" dirty="0"/>
                  <a:t> </a:t>
                </a:r>
                <a:r>
                  <a:rPr lang="fr-FR" sz="1600" dirty="0" err="1"/>
                  <a:t>scale</a:t>
                </a:r>
                <a:r>
                  <a:rPr lang="fr-FR" sz="1600" dirty="0"/>
                  <a:t> </a:t>
                </a:r>
              </a:p>
              <a:p>
                <a14:m>
                  <m:oMath xmlns:m="http://schemas.openxmlformats.org/officeDocument/2006/math">
                    <m:f>
                      <m:fPr>
                        <m:ctrlPr>
                          <a:rPr lang="en-US" sz="1600" i="1">
                            <a:latin typeface="Cambria Math" panose="02040503050406030204" pitchFamily="18" charset="0"/>
                          </a:rPr>
                        </m:ctrlPr>
                      </m:fPr>
                      <m:num>
                        <m:r>
                          <a:rPr lang="en-US" sz="1600" i="1">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𝑐</m:t>
                            </m:r>
                          </m:e>
                          <m:sub>
                            <m:r>
                              <a:rPr lang="en-US" sz="1600" i="1">
                                <a:latin typeface="Cambria Math" panose="02040503050406030204" pitchFamily="18" charset="0"/>
                                <a:ea typeface="Cambria Math" panose="02040503050406030204" pitchFamily="18" charset="0"/>
                              </a:rPr>
                              <m:t>𝑖</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𝑗</m:t>
                            </m:r>
                          </m:sub>
                        </m:sSub>
                        <m:r>
                          <a:rPr lang="fr-FR" sz="1600" i="1">
                            <a:latin typeface="Cambria Math" panose="02040503050406030204" pitchFamily="18" charset="0"/>
                            <a:ea typeface="Cambria Math" panose="02040503050406030204" pitchFamily="18" charset="0"/>
                          </a:rPr>
                          <m:t>(</m:t>
                        </m:r>
                        <m:r>
                          <a:rPr lang="fr-FR" sz="1600" i="1">
                            <a:latin typeface="Cambria Math" panose="02040503050406030204" pitchFamily="18" charset="0"/>
                            <a:ea typeface="Cambria Math" panose="02040503050406030204" pitchFamily="18" charset="0"/>
                          </a:rPr>
                          <m:t>𝑡</m:t>
                        </m:r>
                        <m:r>
                          <a:rPr lang="fr-FR" sz="1600" i="1">
                            <a:latin typeface="Cambria Math" panose="02040503050406030204" pitchFamily="18" charset="0"/>
                            <a:ea typeface="Cambria Math" panose="02040503050406030204" pitchFamily="18" charset="0"/>
                          </a:rPr>
                          <m:t>)</m:t>
                        </m:r>
                      </m:num>
                      <m:den>
                        <m:r>
                          <a:rPr lang="en-US" sz="1600" i="1">
                            <a:latin typeface="Cambria Math" panose="02040503050406030204" pitchFamily="18" charset="0"/>
                            <a:ea typeface="Cambria Math" panose="02040503050406030204" pitchFamily="18" charset="0"/>
                          </a:rPr>
                          <m:t>𝜕</m:t>
                        </m:r>
                        <m:r>
                          <a:rPr lang="fr-FR" sz="1600" i="1">
                            <a:latin typeface="Cambria Math" panose="02040503050406030204" pitchFamily="18" charset="0"/>
                            <a:ea typeface="Cambria Math" panose="02040503050406030204" pitchFamily="18" charset="0"/>
                          </a:rPr>
                          <m:t>𝑡</m:t>
                        </m:r>
                      </m:den>
                    </m:f>
                  </m:oMath>
                </a14:m>
                <a:r>
                  <a:rPr lang="fr-FR" sz="1600" dirty="0"/>
                  <a:t>: </a:t>
                </a:r>
                <a:r>
                  <a:rPr lang="fr-FR" sz="1600" dirty="0" err="1"/>
                  <a:t>growth</a:t>
                </a:r>
                <a:r>
                  <a:rPr lang="fr-FR" sz="1600" dirty="0"/>
                  <a:t> </a:t>
                </a:r>
                <a:r>
                  <a:rPr lang="fr-FR" sz="1600" dirty="0" err="1"/>
                  <a:t>increment</a:t>
                </a:r>
                <a:r>
                  <a:rPr lang="fr-FR" sz="1600" dirty="0"/>
                  <a:t> for an </a:t>
                </a:r>
                <a:r>
                  <a:rPr lang="fr-FR" sz="1600" dirty="0" err="1"/>
                  <a:t>organ</a:t>
                </a:r>
                <a:endParaRPr lang="fr-FR" sz="1600" dirty="0"/>
              </a:p>
              <a:p>
                <a:r>
                  <a:rPr lang="fr-FR" sz="1600" dirty="0"/>
                  <a:t>P: set of plants of the </a:t>
                </a:r>
                <a:r>
                  <a:rPr lang="fr-FR" sz="1600" dirty="0" err="1"/>
                  <a:t>same</a:t>
                </a:r>
                <a:r>
                  <a:rPr lang="fr-FR" sz="1600" dirty="0"/>
                  <a:t> </a:t>
                </a:r>
                <a:r>
                  <a:rPr lang="fr-FR" sz="1600" dirty="0" err="1"/>
                  <a:t>species</a:t>
                </a:r>
                <a:r>
                  <a:rPr lang="fr-FR" sz="1600" dirty="0"/>
                  <a:t> in a </a:t>
                </a:r>
                <a:r>
                  <a:rPr lang="fr-FR" sz="1600" dirty="0" err="1"/>
                  <a:t>crop</a:t>
                </a:r>
                <a:endParaRPr lang="fr-FR" sz="1600" dirty="0"/>
              </a:p>
              <a:p>
                <a:r>
                  <a:rPr lang="fr-FR" sz="1600" dirty="0"/>
                  <a:t>G: set of </a:t>
                </a:r>
                <a:r>
                  <a:rPr lang="fr-FR" sz="1600" dirty="0" err="1"/>
                  <a:t>growing</a:t>
                </a:r>
                <a:r>
                  <a:rPr lang="fr-FR" sz="1600" dirty="0"/>
                  <a:t> </a:t>
                </a:r>
                <a:r>
                  <a:rPr lang="fr-FR" sz="1600" dirty="0" err="1"/>
                  <a:t>organs</a:t>
                </a:r>
                <a:r>
                  <a:rPr lang="fr-FR" sz="1600" dirty="0"/>
                  <a:t> in a plant</a:t>
                </a:r>
                <a:endParaRPr lang="en-US" sz="1600" dirty="0"/>
              </a:p>
            </p:txBody>
          </p:sp>
        </mc:Choice>
        <mc:Fallback xmlns="">
          <p:sp>
            <p:nvSpPr>
              <p:cNvPr id="25" name="TextBox 24">
                <a:extLst>
                  <a:ext uri="{FF2B5EF4-FFF2-40B4-BE49-F238E27FC236}">
                    <a16:creationId xmlns:a16="http://schemas.microsoft.com/office/drawing/2014/main" id="{79DDCEC5-0228-4A21-8EA1-445F6E20D82A}"/>
                  </a:ext>
                </a:extLst>
              </p:cNvPr>
              <p:cNvSpPr txBox="1">
                <a:spLocks noRot="1" noChangeAspect="1" noMove="1" noResize="1" noEditPoints="1" noAdjustHandles="1" noChangeArrowheads="1" noChangeShapeType="1" noTextEdit="1"/>
              </p:cNvSpPr>
              <p:nvPr/>
            </p:nvSpPr>
            <p:spPr>
              <a:xfrm>
                <a:off x="7404128" y="3661553"/>
                <a:ext cx="3867230" cy="2370392"/>
              </a:xfrm>
              <a:prstGeom prst="rect">
                <a:avLst/>
              </a:prstGeom>
              <a:blipFill>
                <a:blip r:embed="rId9"/>
                <a:stretch>
                  <a:fillRect l="-3312" b="-4381"/>
                </a:stretch>
              </a:blipFill>
            </p:spPr>
            <p:txBody>
              <a:bodyPr/>
              <a:lstStyle/>
              <a:p>
                <a:r>
                  <a:rPr lang="en-US">
                    <a:noFill/>
                  </a:rPr>
                  <a:t> </a:t>
                </a:r>
              </a:p>
            </p:txBody>
          </p:sp>
        </mc:Fallback>
      </mc:AlternateContent>
      <p:sp>
        <p:nvSpPr>
          <p:cNvPr id="26" name="TextBox 25">
            <a:extLst>
              <a:ext uri="{FF2B5EF4-FFF2-40B4-BE49-F238E27FC236}">
                <a16:creationId xmlns:a16="http://schemas.microsoft.com/office/drawing/2014/main" id="{EA186D5D-990D-4829-B851-28BF3A0C5BEA}"/>
              </a:ext>
            </a:extLst>
          </p:cNvPr>
          <p:cNvSpPr txBox="1"/>
          <p:nvPr/>
        </p:nvSpPr>
        <p:spPr>
          <a:xfrm>
            <a:off x="50338" y="6169708"/>
            <a:ext cx="1292774" cy="646331"/>
          </a:xfrm>
          <a:prstGeom prst="rect">
            <a:avLst/>
          </a:prstGeom>
          <a:noFill/>
        </p:spPr>
        <p:txBody>
          <a:bodyPr wrap="square" rtlCol="0">
            <a:spAutoFit/>
          </a:bodyPr>
          <a:lstStyle/>
          <a:p>
            <a:r>
              <a:rPr lang="en-US" dirty="0"/>
              <a:t>*LAI = Leaf Area Index</a:t>
            </a:r>
          </a:p>
        </p:txBody>
      </p:sp>
      <p:sp>
        <p:nvSpPr>
          <p:cNvPr id="27" name="TextBox 26">
            <a:extLst>
              <a:ext uri="{FF2B5EF4-FFF2-40B4-BE49-F238E27FC236}">
                <a16:creationId xmlns:a16="http://schemas.microsoft.com/office/drawing/2014/main" id="{AE36E73A-CDA8-4220-AD6D-AD6CA1535E90}"/>
              </a:ext>
            </a:extLst>
          </p:cNvPr>
          <p:cNvSpPr txBox="1"/>
          <p:nvPr/>
        </p:nvSpPr>
        <p:spPr>
          <a:xfrm>
            <a:off x="345305" y="3440811"/>
            <a:ext cx="212662" cy="369332"/>
          </a:xfrm>
          <a:prstGeom prst="rect">
            <a:avLst/>
          </a:prstGeom>
          <a:noFill/>
        </p:spPr>
        <p:txBody>
          <a:bodyPr wrap="square" rtlCol="0">
            <a:spAutoFit/>
          </a:bodyPr>
          <a:lstStyle/>
          <a:p>
            <a:r>
              <a:rPr lang="en-US" dirty="0"/>
              <a:t>*</a:t>
            </a:r>
          </a:p>
        </p:txBody>
      </p:sp>
      <p:sp>
        <p:nvSpPr>
          <p:cNvPr id="28" name="Title 1">
            <a:extLst>
              <a:ext uri="{FF2B5EF4-FFF2-40B4-BE49-F238E27FC236}">
                <a16:creationId xmlns:a16="http://schemas.microsoft.com/office/drawing/2014/main" id="{D5DC926C-93AC-4C83-B482-EF73F9D74A79}"/>
              </a:ext>
            </a:extLst>
          </p:cNvPr>
          <p:cNvSpPr txBox="1">
            <a:spLocks/>
          </p:cNvSpPr>
          <p:nvPr/>
        </p:nvSpPr>
        <p:spPr>
          <a:xfrm>
            <a:off x="523294" y="393959"/>
            <a:ext cx="10981134" cy="126873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en-US" dirty="0"/>
          </a:p>
        </p:txBody>
      </p:sp>
      <p:sp>
        <p:nvSpPr>
          <p:cNvPr id="30" name="Title 1">
            <a:extLst>
              <a:ext uri="{FF2B5EF4-FFF2-40B4-BE49-F238E27FC236}">
                <a16:creationId xmlns:a16="http://schemas.microsoft.com/office/drawing/2014/main" id="{04E1B219-4EC4-44E9-AA79-EB683D750E01}"/>
              </a:ext>
            </a:extLst>
          </p:cNvPr>
          <p:cNvSpPr txBox="1">
            <a:spLocks/>
          </p:cNvSpPr>
          <p:nvPr/>
        </p:nvSpPr>
        <p:spPr>
          <a:xfrm>
            <a:off x="523294" y="299194"/>
            <a:ext cx="11089549" cy="116055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fr-FR" sz="4000" dirty="0">
                <a:solidFill>
                  <a:prstClr val="black"/>
                </a:solidFill>
              </a:rPr>
              <a:t>Global </a:t>
            </a:r>
            <a:r>
              <a:rPr lang="fr-FR" sz="4000" dirty="0" err="1">
                <a:solidFill>
                  <a:prstClr val="black"/>
                </a:solidFill>
              </a:rPr>
              <a:t>growth</a:t>
            </a:r>
            <a:r>
              <a:rPr lang="fr-FR" sz="4000" dirty="0">
                <a:solidFill>
                  <a:prstClr val="black"/>
                </a:solidFill>
              </a:rPr>
              <a:t> </a:t>
            </a:r>
            <a:r>
              <a:rPr lang="fr-FR" sz="4000" dirty="0" err="1">
                <a:solidFill>
                  <a:prstClr val="black"/>
                </a:solidFill>
              </a:rPr>
              <a:t>is</a:t>
            </a:r>
            <a:r>
              <a:rPr lang="fr-FR" sz="4000" dirty="0">
                <a:solidFill>
                  <a:prstClr val="black"/>
                </a:solidFill>
              </a:rPr>
              <a:t> </a:t>
            </a:r>
            <a:r>
              <a:rPr lang="fr-FR" sz="4000" dirty="0" err="1">
                <a:solidFill>
                  <a:prstClr val="black"/>
                </a:solidFill>
              </a:rPr>
              <a:t>constrained</a:t>
            </a:r>
            <a:r>
              <a:rPr lang="fr-FR" sz="4000" dirty="0">
                <a:solidFill>
                  <a:prstClr val="black"/>
                </a:solidFill>
              </a:rPr>
              <a:t> </a:t>
            </a:r>
            <a:r>
              <a:rPr lang="fr-FR" sz="4000" dirty="0" err="1">
                <a:solidFill>
                  <a:prstClr val="black"/>
                </a:solidFill>
              </a:rPr>
              <a:t>from</a:t>
            </a:r>
            <a:r>
              <a:rPr lang="fr-FR" sz="4000" dirty="0">
                <a:solidFill>
                  <a:prstClr val="black"/>
                </a:solidFill>
              </a:rPr>
              <a:t> </a:t>
            </a:r>
            <a:r>
              <a:rPr lang="fr-FR" sz="4000" dirty="0" err="1">
                <a:solidFill>
                  <a:prstClr val="black"/>
                </a:solidFill>
              </a:rPr>
              <a:t>crop</a:t>
            </a:r>
            <a:r>
              <a:rPr lang="fr-FR" sz="4000" dirty="0">
                <a:solidFill>
                  <a:prstClr val="black"/>
                </a:solidFill>
              </a:rPr>
              <a:t> model </a:t>
            </a:r>
            <a:r>
              <a:rPr lang="fr-FR" sz="4000" dirty="0" err="1">
                <a:solidFill>
                  <a:prstClr val="black"/>
                </a:solidFill>
              </a:rPr>
              <a:t>dynamics</a:t>
            </a:r>
            <a:endParaRPr lang="en-US" sz="4000" dirty="0"/>
          </a:p>
        </p:txBody>
      </p:sp>
      <p:sp>
        <p:nvSpPr>
          <p:cNvPr id="3" name="Slide Number Placeholder 2">
            <a:extLst>
              <a:ext uri="{FF2B5EF4-FFF2-40B4-BE49-F238E27FC236}">
                <a16:creationId xmlns:a16="http://schemas.microsoft.com/office/drawing/2014/main" id="{F13FFF4A-2492-49D7-9553-BBBC18F41E89}"/>
              </a:ext>
            </a:extLst>
          </p:cNvPr>
          <p:cNvSpPr>
            <a:spLocks noGrp="1"/>
          </p:cNvSpPr>
          <p:nvPr>
            <p:ph type="sldNum" sz="quarter" idx="12"/>
          </p:nvPr>
        </p:nvSpPr>
        <p:spPr/>
        <p:txBody>
          <a:bodyPr/>
          <a:lstStyle/>
          <a:p>
            <a:fld id="{27C6CCC6-2BE5-4E42-96A4-D1E8E81A3D8E}" type="slidenum">
              <a:rPr lang="fr-FR" smtClean="0"/>
              <a:t>15</a:t>
            </a:fld>
            <a:endParaRPr lang="fr-FR"/>
          </a:p>
        </p:txBody>
      </p:sp>
      <p:sp>
        <p:nvSpPr>
          <p:cNvPr id="2" name="Rectangle 1">
            <a:extLst>
              <a:ext uri="{FF2B5EF4-FFF2-40B4-BE49-F238E27FC236}">
                <a16:creationId xmlns:a16="http://schemas.microsoft.com/office/drawing/2014/main" id="{4403B9D6-BD6F-412E-B1C0-BC530AF2D449}"/>
              </a:ext>
            </a:extLst>
          </p:cNvPr>
          <p:cNvSpPr/>
          <p:nvPr/>
        </p:nvSpPr>
        <p:spPr>
          <a:xfrm>
            <a:off x="7255462" y="2496620"/>
            <a:ext cx="1746385" cy="707886"/>
          </a:xfrm>
          <a:prstGeom prst="rect">
            <a:avLst/>
          </a:prstGeom>
        </p:spPr>
        <p:txBody>
          <a:bodyPr wrap="square">
            <a:spAutoFit/>
          </a:bodyPr>
          <a:lstStyle/>
          <a:p>
            <a:r>
              <a:rPr lang="fr-FR" sz="2000" dirty="0" err="1">
                <a:sym typeface="Wingdings" panose="05000000000000000000" pitchFamily="2" charset="2"/>
              </a:rPr>
              <a:t>among</a:t>
            </a:r>
            <a:r>
              <a:rPr lang="fr-FR" sz="2000" dirty="0">
                <a:sym typeface="Wingdings" panose="05000000000000000000" pitchFamily="2" charset="2"/>
              </a:rPr>
              <a:t> </a:t>
            </a:r>
            <a:r>
              <a:rPr lang="fr-FR" sz="2000" b="1" dirty="0">
                <a:sym typeface="Wingdings" panose="05000000000000000000" pitchFamily="2" charset="2"/>
              </a:rPr>
              <a:t>plants</a:t>
            </a:r>
            <a:r>
              <a:rPr lang="fr-FR" sz="2000" dirty="0">
                <a:sym typeface="Wingdings" panose="05000000000000000000" pitchFamily="2" charset="2"/>
              </a:rPr>
              <a:t> in a </a:t>
            </a:r>
            <a:r>
              <a:rPr lang="fr-FR" sz="2000" dirty="0" err="1">
                <a:sym typeface="Wingdings" panose="05000000000000000000" pitchFamily="2" charset="2"/>
              </a:rPr>
              <a:t>canopy</a:t>
            </a:r>
            <a:endParaRPr lang="fr-FR" sz="2000" dirty="0"/>
          </a:p>
        </p:txBody>
      </p:sp>
      <p:sp>
        <p:nvSpPr>
          <p:cNvPr id="4" name="Rectangle 3">
            <a:extLst>
              <a:ext uri="{FF2B5EF4-FFF2-40B4-BE49-F238E27FC236}">
                <a16:creationId xmlns:a16="http://schemas.microsoft.com/office/drawing/2014/main" id="{F574CDC2-60C4-4C74-8D51-2C7A282C06AA}"/>
              </a:ext>
            </a:extLst>
          </p:cNvPr>
          <p:cNvSpPr/>
          <p:nvPr/>
        </p:nvSpPr>
        <p:spPr>
          <a:xfrm>
            <a:off x="9712324" y="2496620"/>
            <a:ext cx="1957706" cy="707886"/>
          </a:xfrm>
          <a:prstGeom prst="rect">
            <a:avLst/>
          </a:prstGeom>
        </p:spPr>
        <p:txBody>
          <a:bodyPr wrap="square">
            <a:spAutoFit/>
          </a:bodyPr>
          <a:lstStyle/>
          <a:p>
            <a:r>
              <a:rPr lang="fr-FR" sz="2000" dirty="0" err="1">
                <a:sym typeface="Wingdings" panose="05000000000000000000" pitchFamily="2" charset="2"/>
              </a:rPr>
              <a:t>among</a:t>
            </a:r>
            <a:r>
              <a:rPr lang="fr-FR" sz="2000" dirty="0">
                <a:sym typeface="Wingdings" panose="05000000000000000000" pitchFamily="2" charset="2"/>
              </a:rPr>
              <a:t> </a:t>
            </a:r>
            <a:r>
              <a:rPr lang="fr-FR" sz="2000" dirty="0" err="1">
                <a:sym typeface="Wingdings" panose="05000000000000000000" pitchFamily="2" charset="2"/>
              </a:rPr>
              <a:t>growing</a:t>
            </a:r>
            <a:r>
              <a:rPr lang="fr-FR" sz="2000" dirty="0">
                <a:sym typeface="Wingdings" panose="05000000000000000000" pitchFamily="2" charset="2"/>
              </a:rPr>
              <a:t> </a:t>
            </a:r>
            <a:r>
              <a:rPr lang="fr-FR" sz="2000" b="1" dirty="0" err="1">
                <a:sym typeface="Wingdings" panose="05000000000000000000" pitchFamily="2" charset="2"/>
              </a:rPr>
              <a:t>organs</a:t>
            </a:r>
            <a:r>
              <a:rPr lang="fr-FR" sz="2000" dirty="0">
                <a:sym typeface="Wingdings" panose="05000000000000000000" pitchFamily="2" charset="2"/>
              </a:rPr>
              <a:t> in a plant</a:t>
            </a:r>
            <a:endParaRPr lang="en-US" sz="2000" dirty="0"/>
          </a:p>
        </p:txBody>
      </p:sp>
      <p:cxnSp>
        <p:nvCxnSpPr>
          <p:cNvPr id="7" name="Straight Arrow Connector 6">
            <a:extLst>
              <a:ext uri="{FF2B5EF4-FFF2-40B4-BE49-F238E27FC236}">
                <a16:creationId xmlns:a16="http://schemas.microsoft.com/office/drawing/2014/main" id="{AFE7748B-CE6A-447E-B9C8-AF020554196E}"/>
              </a:ext>
            </a:extLst>
          </p:cNvPr>
          <p:cNvCxnSpPr>
            <a:stCxn id="2" idx="2"/>
          </p:cNvCxnSpPr>
          <p:nvPr/>
        </p:nvCxnSpPr>
        <p:spPr>
          <a:xfrm>
            <a:off x="8128655" y="3204506"/>
            <a:ext cx="873192" cy="45704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9" name="Straight Arrow Connector 28">
            <a:extLst>
              <a:ext uri="{FF2B5EF4-FFF2-40B4-BE49-F238E27FC236}">
                <a16:creationId xmlns:a16="http://schemas.microsoft.com/office/drawing/2014/main" id="{D0158819-6098-4595-9879-1A3277121F0A}"/>
              </a:ext>
            </a:extLst>
          </p:cNvPr>
          <p:cNvCxnSpPr>
            <a:cxnSpLocks/>
            <a:stCxn id="4" idx="2"/>
          </p:cNvCxnSpPr>
          <p:nvPr/>
        </p:nvCxnSpPr>
        <p:spPr>
          <a:xfrm flipH="1">
            <a:off x="9384395" y="3204506"/>
            <a:ext cx="1306782" cy="45704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11" name="Group 10">
            <a:extLst>
              <a:ext uri="{FF2B5EF4-FFF2-40B4-BE49-F238E27FC236}">
                <a16:creationId xmlns:a16="http://schemas.microsoft.com/office/drawing/2014/main" id="{A80F5C3E-8ADD-471D-B8E1-A5D5921F95B3}"/>
              </a:ext>
            </a:extLst>
          </p:cNvPr>
          <p:cNvGrpSpPr/>
          <p:nvPr/>
        </p:nvGrpSpPr>
        <p:grpSpPr>
          <a:xfrm>
            <a:off x="3334112" y="979015"/>
            <a:ext cx="3812935" cy="2197966"/>
            <a:chOff x="2880402" y="1149839"/>
            <a:chExt cx="3812935" cy="2197966"/>
          </a:xfrm>
        </p:grpSpPr>
        <p:sp>
          <p:nvSpPr>
            <p:cNvPr id="34" name="Rectangle 33">
              <a:extLst>
                <a:ext uri="{FF2B5EF4-FFF2-40B4-BE49-F238E27FC236}">
                  <a16:creationId xmlns:a16="http://schemas.microsoft.com/office/drawing/2014/main" id="{6265425E-9733-4D82-BB75-D81DD49A17F8}"/>
                </a:ext>
              </a:extLst>
            </p:cNvPr>
            <p:cNvSpPr/>
            <p:nvPr/>
          </p:nvSpPr>
          <p:spPr>
            <a:xfrm>
              <a:off x="2898866" y="1391767"/>
              <a:ext cx="3658002" cy="776507"/>
            </a:xfrm>
            <a:prstGeom prst="rect">
              <a:avLst/>
            </a:prstGeom>
            <a:solidFill>
              <a:schemeClr val="bg1">
                <a:alpha val="50196"/>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pic>
          <p:nvPicPr>
            <p:cNvPr id="36" name="Picture 35">
              <a:extLst>
                <a:ext uri="{FF2B5EF4-FFF2-40B4-BE49-F238E27FC236}">
                  <a16:creationId xmlns:a16="http://schemas.microsoft.com/office/drawing/2014/main" id="{28B36356-0E09-4BC1-8484-C9DAD63263C8}"/>
                </a:ext>
              </a:extLst>
            </p:cNvPr>
            <p:cNvPicPr>
              <a:picLocks noChangeAspect="1"/>
            </p:cNvPicPr>
            <p:nvPr/>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904535" y="1654815"/>
              <a:ext cx="263877" cy="493592"/>
            </a:xfrm>
            <a:prstGeom prst="rect">
              <a:avLst/>
            </a:prstGeom>
          </p:spPr>
        </p:pic>
        <p:pic>
          <p:nvPicPr>
            <p:cNvPr id="37" name="Picture 36">
              <a:extLst>
                <a:ext uri="{FF2B5EF4-FFF2-40B4-BE49-F238E27FC236}">
                  <a16:creationId xmlns:a16="http://schemas.microsoft.com/office/drawing/2014/main" id="{F0C4528D-063E-4AB9-A78E-5DF6D8E77B43}"/>
                </a:ext>
              </a:extLst>
            </p:cNvPr>
            <p:cNvPicPr>
              <a:picLocks noChangeAspect="1"/>
            </p:cNvPicPr>
            <p:nvPr/>
          </p:nvPicPr>
          <p:blipFill>
            <a:blip r:embed="rId11"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063539" y="1411083"/>
              <a:ext cx="521664" cy="757191"/>
            </a:xfrm>
            <a:prstGeom prst="rect">
              <a:avLst/>
            </a:prstGeom>
          </p:spPr>
        </p:pic>
        <p:pic>
          <p:nvPicPr>
            <p:cNvPr id="38" name="Picture 37">
              <a:extLst>
                <a:ext uri="{FF2B5EF4-FFF2-40B4-BE49-F238E27FC236}">
                  <a16:creationId xmlns:a16="http://schemas.microsoft.com/office/drawing/2014/main" id="{8C839D66-EF4C-49DD-AB66-EEC1FF08BD7B}"/>
                </a:ext>
              </a:extLst>
            </p:cNvPr>
            <p:cNvPicPr>
              <a:picLocks noChangeAspect="1"/>
            </p:cNvPicPr>
            <p:nvPr/>
          </p:nvPicPr>
          <p:blipFill>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279898" y="1391767"/>
              <a:ext cx="839819" cy="825042"/>
            </a:xfrm>
            <a:prstGeom prst="rect">
              <a:avLst/>
            </a:prstGeom>
          </p:spPr>
        </p:pic>
        <p:pic>
          <p:nvPicPr>
            <p:cNvPr id="39" name="Picture 38">
              <a:extLst>
                <a:ext uri="{FF2B5EF4-FFF2-40B4-BE49-F238E27FC236}">
                  <a16:creationId xmlns:a16="http://schemas.microsoft.com/office/drawing/2014/main" id="{A936DB02-6DB6-4F0F-919B-727A11DC0943}"/>
                </a:ext>
              </a:extLst>
            </p:cNvPr>
            <p:cNvPicPr>
              <a:picLocks noChangeAspect="1"/>
            </p:cNvPicPr>
            <p:nvPr/>
          </p:nvPicPr>
          <p:blipFill>
            <a:blip r:embed="rId1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679392" y="1333278"/>
              <a:ext cx="1190126" cy="883628"/>
            </a:xfrm>
            <a:prstGeom prst="rect">
              <a:avLst/>
            </a:prstGeom>
          </p:spPr>
        </p:pic>
        <p:pic>
          <p:nvPicPr>
            <p:cNvPr id="40" name="Picture 39">
              <a:extLst>
                <a:ext uri="{FF2B5EF4-FFF2-40B4-BE49-F238E27FC236}">
                  <a16:creationId xmlns:a16="http://schemas.microsoft.com/office/drawing/2014/main" id="{2BA3601D-EC3F-46C4-B1B7-72F53214C1E6}"/>
                </a:ext>
              </a:extLst>
            </p:cNvPr>
            <p:cNvPicPr>
              <a:picLocks noChangeAspect="1"/>
            </p:cNvPicPr>
            <p:nvPr/>
          </p:nvPicPr>
          <p:blipFill>
            <a:blip r:embed="rId1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356614" y="1346567"/>
              <a:ext cx="1266299" cy="883627"/>
            </a:xfrm>
            <a:prstGeom prst="rect">
              <a:avLst/>
            </a:prstGeom>
          </p:spPr>
        </p:pic>
        <p:pic>
          <p:nvPicPr>
            <p:cNvPr id="41" name="Picture 40">
              <a:extLst>
                <a:ext uri="{FF2B5EF4-FFF2-40B4-BE49-F238E27FC236}">
                  <a16:creationId xmlns:a16="http://schemas.microsoft.com/office/drawing/2014/main" id="{11BD636D-FEF9-43C5-B503-9E6FA65E9C0C}"/>
                </a:ext>
              </a:extLst>
            </p:cNvPr>
            <p:cNvPicPr>
              <a:picLocks noChangeAspect="1"/>
            </p:cNvPicPr>
            <p:nvPr/>
          </p:nvPicPr>
          <p:blipFill>
            <a:blip r:embed="rId1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299925" y="1364070"/>
              <a:ext cx="1393412" cy="948294"/>
            </a:xfrm>
            <a:prstGeom prst="rect">
              <a:avLst/>
            </a:prstGeom>
          </p:spPr>
        </p:pic>
        <p:cxnSp>
          <p:nvCxnSpPr>
            <p:cNvPr id="42" name="Straight Connector 41">
              <a:extLst>
                <a:ext uri="{FF2B5EF4-FFF2-40B4-BE49-F238E27FC236}">
                  <a16:creationId xmlns:a16="http://schemas.microsoft.com/office/drawing/2014/main" id="{E520432C-A4A3-41C7-A0C6-F6334AE950A4}"/>
                </a:ext>
              </a:extLst>
            </p:cNvPr>
            <p:cNvCxnSpPr>
              <a:cxnSpLocks/>
            </p:cNvCxnSpPr>
            <p:nvPr/>
          </p:nvCxnSpPr>
          <p:spPr>
            <a:xfrm flipH="1" flipV="1">
              <a:off x="2898867" y="2169760"/>
              <a:ext cx="2090896" cy="1178045"/>
            </a:xfrm>
            <a:prstGeom prst="line">
              <a:avLst/>
            </a:prstGeom>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687EFB6-C8E7-4435-852B-B1B09DDE8592}"/>
                </a:ext>
              </a:extLst>
            </p:cNvPr>
            <p:cNvCxnSpPr>
              <a:cxnSpLocks/>
            </p:cNvCxnSpPr>
            <p:nvPr/>
          </p:nvCxnSpPr>
          <p:spPr>
            <a:xfrm flipH="1">
              <a:off x="5385261" y="2168274"/>
              <a:ext cx="1171610" cy="1099885"/>
            </a:xfrm>
            <a:prstGeom prst="line">
              <a:avLst/>
            </a:prstGeom>
          </p:spPr>
          <p:style>
            <a:lnRef idx="1">
              <a:schemeClr val="dk1"/>
            </a:lnRef>
            <a:fillRef idx="0">
              <a:schemeClr val="dk1"/>
            </a:fillRef>
            <a:effectRef idx="0">
              <a:schemeClr val="dk1"/>
            </a:effectRef>
            <a:fontRef idx="minor">
              <a:schemeClr val="tx1"/>
            </a:fontRef>
          </p:style>
        </p:cxnSp>
        <p:sp>
          <p:nvSpPr>
            <p:cNvPr id="44" name="TextBox 43">
              <a:extLst>
                <a:ext uri="{FF2B5EF4-FFF2-40B4-BE49-F238E27FC236}">
                  <a16:creationId xmlns:a16="http://schemas.microsoft.com/office/drawing/2014/main" id="{37945C85-0AC0-4ED8-87FE-B91F24286D16}"/>
                </a:ext>
              </a:extLst>
            </p:cNvPr>
            <p:cNvSpPr txBox="1"/>
            <p:nvPr/>
          </p:nvSpPr>
          <p:spPr>
            <a:xfrm>
              <a:off x="2880402" y="1149839"/>
              <a:ext cx="1124683" cy="232270"/>
            </a:xfrm>
            <a:prstGeom prst="rect">
              <a:avLst/>
            </a:prstGeom>
            <a:noFill/>
          </p:spPr>
          <p:txBody>
            <a:bodyPr wrap="square" rtlCol="0">
              <a:spAutoFit/>
            </a:bodyPr>
            <a:lstStyle/>
            <a:p>
              <a:r>
                <a:rPr lang="en-US" sz="1200" b="1" dirty="0"/>
                <a:t>Growing leaf</a:t>
              </a:r>
            </a:p>
          </p:txBody>
        </p:sp>
      </p:grpSp>
    </p:spTree>
    <p:extLst>
      <p:ext uri="{BB962C8B-B14F-4D97-AF65-F5344CB8AC3E}">
        <p14:creationId xmlns:p14="http://schemas.microsoft.com/office/powerpoint/2010/main" val="4130622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BFE71-EC29-4506-AB26-37E2A342EFF5}"/>
              </a:ext>
            </a:extLst>
          </p:cNvPr>
          <p:cNvSpPr>
            <a:spLocks noGrp="1"/>
          </p:cNvSpPr>
          <p:nvPr>
            <p:ph type="title"/>
          </p:nvPr>
        </p:nvSpPr>
        <p:spPr>
          <a:xfrm>
            <a:off x="838200" y="206702"/>
            <a:ext cx="10515600" cy="1027178"/>
          </a:xfrm>
        </p:spPr>
        <p:txBody>
          <a:bodyPr>
            <a:noAutofit/>
          </a:bodyPr>
          <a:lstStyle/>
          <a:p>
            <a:r>
              <a:rPr lang="fr-FR" sz="4000" dirty="0" err="1"/>
              <a:t>Different</a:t>
            </a:r>
            <a:r>
              <a:rPr lang="fr-FR" sz="4000" dirty="0"/>
              <a:t> </a:t>
            </a:r>
            <a:r>
              <a:rPr lang="fr-FR" sz="4000" dirty="0" err="1"/>
              <a:t>levels</a:t>
            </a:r>
            <a:r>
              <a:rPr lang="fr-FR" sz="4000" dirty="0"/>
              <a:t> of </a:t>
            </a:r>
            <a:r>
              <a:rPr lang="fr-FR" sz="4000" dirty="0" err="1"/>
              <a:t>heterogeneity</a:t>
            </a:r>
            <a:r>
              <a:rPr lang="fr-FR" sz="4000" dirty="0"/>
              <a:t> for an </a:t>
            </a:r>
            <a:r>
              <a:rPr lang="fr-FR" sz="4000" dirty="0" err="1"/>
              <a:t>intercrop</a:t>
            </a:r>
            <a:endParaRPr lang="en-US" sz="4000" dirty="0"/>
          </a:p>
        </p:txBody>
      </p:sp>
      <p:sp>
        <p:nvSpPr>
          <p:cNvPr id="3" name="Content Placeholder 2">
            <a:extLst>
              <a:ext uri="{FF2B5EF4-FFF2-40B4-BE49-F238E27FC236}">
                <a16:creationId xmlns:a16="http://schemas.microsoft.com/office/drawing/2014/main" id="{6C4C23FC-D5BF-49FE-B3E7-563A4EF968AB}"/>
              </a:ext>
            </a:extLst>
          </p:cNvPr>
          <p:cNvSpPr>
            <a:spLocks noGrp="1"/>
          </p:cNvSpPr>
          <p:nvPr>
            <p:ph idx="1"/>
          </p:nvPr>
        </p:nvSpPr>
        <p:spPr>
          <a:xfrm>
            <a:off x="945932" y="1411256"/>
            <a:ext cx="3187899" cy="2851026"/>
          </a:xfrm>
        </p:spPr>
        <p:txBody>
          <a:bodyPr>
            <a:normAutofit/>
          </a:bodyPr>
          <a:lstStyle/>
          <a:p>
            <a:pPr marL="0" indent="0">
              <a:buNone/>
            </a:pPr>
            <a:r>
              <a:rPr lang="fr-FR" b="1" dirty="0" err="1"/>
              <a:t>I</a:t>
            </a:r>
            <a:r>
              <a:rPr lang="fr-FR" b="1" dirty="0" err="1">
                <a:sym typeface="Wingdings" panose="05000000000000000000" pitchFamily="2" charset="2"/>
              </a:rPr>
              <a:t>nterspecific</a:t>
            </a:r>
            <a:r>
              <a:rPr lang="fr-FR" b="1" dirty="0">
                <a:sym typeface="Wingdings" panose="05000000000000000000" pitchFamily="2" charset="2"/>
              </a:rPr>
              <a:t> </a:t>
            </a:r>
            <a:r>
              <a:rPr lang="fr-FR" dirty="0" err="1">
                <a:sym typeface="Wingdings" panose="05000000000000000000" pitchFamily="2" charset="2"/>
              </a:rPr>
              <a:t>heterogeneity</a:t>
            </a:r>
            <a:endParaRPr lang="fr-FR" dirty="0">
              <a:sym typeface="Wingdings" panose="05000000000000000000" pitchFamily="2" charset="2"/>
            </a:endParaRPr>
          </a:p>
          <a:p>
            <a:pPr marL="0" indent="0">
              <a:buNone/>
            </a:pPr>
            <a:r>
              <a:rPr lang="fr-FR" dirty="0">
                <a:sym typeface="Wingdings" panose="05000000000000000000" pitchFamily="2" charset="2"/>
              </a:rPr>
              <a:t> </a:t>
            </a:r>
            <a:r>
              <a:rPr lang="fr-FR" dirty="0" err="1">
                <a:sym typeface="Wingdings" panose="05000000000000000000" pitchFamily="2" charset="2"/>
              </a:rPr>
              <a:t>Intercropping</a:t>
            </a:r>
            <a:r>
              <a:rPr lang="fr-FR" dirty="0">
                <a:sym typeface="Wingdings" panose="05000000000000000000" pitchFamily="2" charset="2"/>
              </a:rPr>
              <a:t> </a:t>
            </a:r>
            <a:r>
              <a:rPr lang="fr-FR" dirty="0" err="1">
                <a:sym typeface="Wingdings" panose="05000000000000000000" pitchFamily="2" charset="2"/>
              </a:rPr>
              <a:t>sowing</a:t>
            </a:r>
            <a:r>
              <a:rPr lang="fr-FR" dirty="0">
                <a:sym typeface="Wingdings" panose="05000000000000000000" pitchFamily="2" charset="2"/>
              </a:rPr>
              <a:t> pattern</a:t>
            </a:r>
            <a:endParaRPr lang="en-US" dirty="0"/>
          </a:p>
        </p:txBody>
      </p:sp>
      <p:sp>
        <p:nvSpPr>
          <p:cNvPr id="4" name="Rectangle 3">
            <a:extLst>
              <a:ext uri="{FF2B5EF4-FFF2-40B4-BE49-F238E27FC236}">
                <a16:creationId xmlns:a16="http://schemas.microsoft.com/office/drawing/2014/main" id="{0FCD8E0C-ED5A-44EA-A762-E60539567E54}"/>
              </a:ext>
            </a:extLst>
          </p:cNvPr>
          <p:cNvSpPr/>
          <p:nvPr/>
        </p:nvSpPr>
        <p:spPr>
          <a:xfrm flipH="1">
            <a:off x="531146" y="3503968"/>
            <a:ext cx="443877" cy="2097252"/>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4D9871E-68F8-4DB3-8DD8-87F5D0579FA8}"/>
              </a:ext>
            </a:extLst>
          </p:cNvPr>
          <p:cNvSpPr/>
          <p:nvPr/>
        </p:nvSpPr>
        <p:spPr>
          <a:xfrm flipH="1">
            <a:off x="966434" y="3503968"/>
            <a:ext cx="443877" cy="2097252"/>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189F1D1-A385-4222-939E-44A8AA5D7EE5}"/>
              </a:ext>
            </a:extLst>
          </p:cNvPr>
          <p:cNvSpPr/>
          <p:nvPr/>
        </p:nvSpPr>
        <p:spPr>
          <a:xfrm flipH="1">
            <a:off x="1388925" y="3503968"/>
            <a:ext cx="443877" cy="2097252"/>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EB746ED-0BAA-4F9B-86EB-6A23FE42AF23}"/>
              </a:ext>
            </a:extLst>
          </p:cNvPr>
          <p:cNvSpPr/>
          <p:nvPr/>
        </p:nvSpPr>
        <p:spPr>
          <a:xfrm flipH="1">
            <a:off x="1833726" y="3503968"/>
            <a:ext cx="443877" cy="2097252"/>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E96D122C-508B-41DF-8EAD-5383887EDBFF}"/>
              </a:ext>
            </a:extLst>
          </p:cNvPr>
          <p:cNvSpPr txBox="1">
            <a:spLocks/>
          </p:cNvSpPr>
          <p:nvPr/>
        </p:nvSpPr>
        <p:spPr>
          <a:xfrm>
            <a:off x="5411520" y="1411256"/>
            <a:ext cx="3095695" cy="41321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b="1" dirty="0" err="1">
                <a:sym typeface="Wingdings" panose="05000000000000000000" pitchFamily="2" charset="2"/>
              </a:rPr>
              <a:t>Intraspecific</a:t>
            </a:r>
            <a:r>
              <a:rPr lang="fr-FR" b="1" dirty="0">
                <a:sym typeface="Wingdings" panose="05000000000000000000" pitchFamily="2" charset="2"/>
              </a:rPr>
              <a:t> </a:t>
            </a:r>
            <a:r>
              <a:rPr lang="fr-FR" dirty="0" err="1">
                <a:sym typeface="Wingdings" panose="05000000000000000000" pitchFamily="2" charset="2"/>
              </a:rPr>
              <a:t>heterogeneity</a:t>
            </a:r>
            <a:endParaRPr lang="fr-FR" dirty="0">
              <a:sym typeface="Wingdings" panose="05000000000000000000" pitchFamily="2" charset="2"/>
            </a:endParaRPr>
          </a:p>
          <a:p>
            <a:pPr marL="0" indent="0">
              <a:buNone/>
            </a:pPr>
            <a:r>
              <a:rPr lang="fr-FR" dirty="0">
                <a:sym typeface="Wingdings" panose="05000000000000000000" pitchFamily="2" charset="2"/>
              </a:rPr>
              <a:t> </a:t>
            </a:r>
            <a:r>
              <a:rPr lang="fr-FR" dirty="0" err="1">
                <a:sym typeface="Wingdings" panose="05000000000000000000" pitchFamily="2" charset="2"/>
              </a:rPr>
              <a:t>Varietal</a:t>
            </a:r>
            <a:r>
              <a:rPr lang="fr-FR" dirty="0">
                <a:sym typeface="Wingdings" panose="05000000000000000000" pitchFamily="2" charset="2"/>
              </a:rPr>
              <a:t> </a:t>
            </a:r>
            <a:r>
              <a:rPr lang="fr-FR" dirty="0" err="1">
                <a:sym typeface="Wingdings" panose="05000000000000000000" pitchFamily="2" charset="2"/>
              </a:rPr>
              <a:t>variability</a:t>
            </a:r>
            <a:endParaRPr lang="fr-FR" dirty="0">
              <a:sym typeface="Wingdings" panose="05000000000000000000" pitchFamily="2" charset="2"/>
            </a:endParaRPr>
          </a:p>
        </p:txBody>
      </p:sp>
      <p:sp>
        <p:nvSpPr>
          <p:cNvPr id="13" name="Rectangle 12">
            <a:extLst>
              <a:ext uri="{FF2B5EF4-FFF2-40B4-BE49-F238E27FC236}">
                <a16:creationId xmlns:a16="http://schemas.microsoft.com/office/drawing/2014/main" id="{799389F9-3977-47A6-8B65-014951082EB2}"/>
              </a:ext>
            </a:extLst>
          </p:cNvPr>
          <p:cNvSpPr/>
          <p:nvPr/>
        </p:nvSpPr>
        <p:spPr>
          <a:xfrm flipH="1">
            <a:off x="2422762" y="3504278"/>
            <a:ext cx="443877" cy="2097252"/>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68018F0-57F8-4417-822A-F8E18802698E}"/>
              </a:ext>
            </a:extLst>
          </p:cNvPr>
          <p:cNvSpPr/>
          <p:nvPr/>
        </p:nvSpPr>
        <p:spPr>
          <a:xfrm flipH="1">
            <a:off x="2869195" y="3504278"/>
            <a:ext cx="443877" cy="2097252"/>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174CF50-E944-41B9-9D08-673723F583BB}"/>
              </a:ext>
            </a:extLst>
          </p:cNvPr>
          <p:cNvSpPr/>
          <p:nvPr/>
        </p:nvSpPr>
        <p:spPr>
          <a:xfrm flipH="1">
            <a:off x="3303478" y="3504278"/>
            <a:ext cx="443877" cy="2097252"/>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9D60275-43D7-4950-8DC8-A36BD92B5A41}"/>
              </a:ext>
            </a:extLst>
          </p:cNvPr>
          <p:cNvSpPr/>
          <p:nvPr/>
        </p:nvSpPr>
        <p:spPr>
          <a:xfrm flipH="1">
            <a:off x="3737638" y="3505661"/>
            <a:ext cx="443877" cy="2097252"/>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6CA15BD-95E6-42D1-B1F2-32B3A5C56B7D}"/>
              </a:ext>
            </a:extLst>
          </p:cNvPr>
          <p:cNvSpPr/>
          <p:nvPr/>
        </p:nvSpPr>
        <p:spPr>
          <a:xfrm flipH="1">
            <a:off x="2412251" y="4891765"/>
            <a:ext cx="443877" cy="699001"/>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92EBDB2-4C91-4D18-A62B-6DE612FEB3E3}"/>
              </a:ext>
            </a:extLst>
          </p:cNvPr>
          <p:cNvSpPr/>
          <p:nvPr/>
        </p:nvSpPr>
        <p:spPr>
          <a:xfrm flipH="1">
            <a:off x="2412251" y="4194212"/>
            <a:ext cx="443877" cy="699001"/>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747EE099-6B27-4649-BED4-973F15AAE608}"/>
              </a:ext>
            </a:extLst>
          </p:cNvPr>
          <p:cNvSpPr/>
          <p:nvPr/>
        </p:nvSpPr>
        <p:spPr>
          <a:xfrm flipH="1">
            <a:off x="3231390" y="4893239"/>
            <a:ext cx="443877" cy="699001"/>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6CB7EE6A-3DBE-4FEF-A5FB-6B0FA4620B93}"/>
              </a:ext>
            </a:extLst>
          </p:cNvPr>
          <p:cNvSpPr/>
          <p:nvPr/>
        </p:nvSpPr>
        <p:spPr>
          <a:xfrm flipH="1">
            <a:off x="3304960" y="4195687"/>
            <a:ext cx="443877" cy="699001"/>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BD62830-75AD-403D-8E21-D9F997E09E5B}"/>
              </a:ext>
            </a:extLst>
          </p:cNvPr>
          <p:cNvSpPr/>
          <p:nvPr/>
        </p:nvSpPr>
        <p:spPr>
          <a:xfrm flipH="1">
            <a:off x="2869195" y="4194214"/>
            <a:ext cx="443877" cy="699001"/>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BA057CD-A397-477E-AFC3-116A7D681B6D}"/>
              </a:ext>
            </a:extLst>
          </p:cNvPr>
          <p:cNvSpPr/>
          <p:nvPr/>
        </p:nvSpPr>
        <p:spPr>
          <a:xfrm flipH="1">
            <a:off x="2417252" y="4902273"/>
            <a:ext cx="443877" cy="699001"/>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78D1066-C62B-4ED5-96ED-FC6F2637FE1A}"/>
              </a:ext>
            </a:extLst>
          </p:cNvPr>
          <p:cNvSpPr/>
          <p:nvPr/>
        </p:nvSpPr>
        <p:spPr>
          <a:xfrm flipH="1">
            <a:off x="3739128" y="4194213"/>
            <a:ext cx="443877" cy="699001"/>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553ED22-F80C-43E8-8073-F3E10C8037CD}"/>
              </a:ext>
            </a:extLst>
          </p:cNvPr>
          <p:cNvSpPr/>
          <p:nvPr/>
        </p:nvSpPr>
        <p:spPr>
          <a:xfrm flipH="1">
            <a:off x="3320318" y="4902273"/>
            <a:ext cx="443877" cy="699001"/>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nvGrpSpPr>
          <p:cNvPr id="58" name="Group 57">
            <a:extLst>
              <a:ext uri="{FF2B5EF4-FFF2-40B4-BE49-F238E27FC236}">
                <a16:creationId xmlns:a16="http://schemas.microsoft.com/office/drawing/2014/main" id="{E291AF53-E1F9-4083-85F2-339A88037782}"/>
              </a:ext>
            </a:extLst>
          </p:cNvPr>
          <p:cNvGrpSpPr/>
          <p:nvPr/>
        </p:nvGrpSpPr>
        <p:grpSpPr>
          <a:xfrm>
            <a:off x="5189861" y="3430396"/>
            <a:ext cx="2725913" cy="2199233"/>
            <a:chOff x="4990353" y="3710866"/>
            <a:chExt cx="3468158" cy="2629443"/>
          </a:xfrm>
        </p:grpSpPr>
        <p:sp>
          <p:nvSpPr>
            <p:cNvPr id="9" name="Rectangle 8">
              <a:extLst>
                <a:ext uri="{FF2B5EF4-FFF2-40B4-BE49-F238E27FC236}">
                  <a16:creationId xmlns:a16="http://schemas.microsoft.com/office/drawing/2014/main" id="{8B925DA6-E92D-4ED0-9465-A2F8CC42D8FC}"/>
                </a:ext>
              </a:extLst>
            </p:cNvPr>
            <p:cNvSpPr/>
            <p:nvPr/>
          </p:nvSpPr>
          <p:spPr>
            <a:xfrm>
              <a:off x="4991665" y="3710866"/>
              <a:ext cx="861134" cy="2601034"/>
            </a:xfrm>
            <a:prstGeom prst="rect">
              <a:avLst/>
            </a:prstGeo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8100000" scaled="1"/>
              <a:tileRect/>
            </a:gra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59D6FB8-2364-4189-AF12-CE9CE60D5899}"/>
                </a:ext>
              </a:extLst>
            </p:cNvPr>
            <p:cNvSpPr/>
            <p:nvPr/>
          </p:nvSpPr>
          <p:spPr>
            <a:xfrm>
              <a:off x="5852799" y="3710866"/>
              <a:ext cx="861134" cy="2601034"/>
            </a:xfrm>
            <a:prstGeom prst="rect">
              <a:avLst/>
            </a:prstGeom>
            <a:gradFill flip="none" rotWithShape="1">
              <a:gsLst>
                <a:gs pos="0">
                  <a:srgbClr val="F39200">
                    <a:shade val="30000"/>
                    <a:satMod val="115000"/>
                  </a:srgbClr>
                </a:gs>
                <a:gs pos="50000">
                  <a:srgbClr val="F39200">
                    <a:shade val="67500"/>
                    <a:satMod val="115000"/>
                  </a:srgbClr>
                </a:gs>
                <a:gs pos="100000">
                  <a:srgbClr val="F39200">
                    <a:shade val="100000"/>
                    <a:satMod val="115000"/>
                  </a:srgbClr>
                </a:gs>
              </a:gsLst>
              <a:lin ang="5400000" scaled="1"/>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859B74D-03C7-495A-822B-BAE86BDD3FB9}"/>
                </a:ext>
              </a:extLst>
            </p:cNvPr>
            <p:cNvSpPr/>
            <p:nvPr/>
          </p:nvSpPr>
          <p:spPr>
            <a:xfrm>
              <a:off x="6713933" y="3710866"/>
              <a:ext cx="861134" cy="2601034"/>
            </a:xfrm>
            <a:prstGeom prst="rect">
              <a:avLst/>
            </a:prstGeo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path path="circle">
                <a:fillToRect l="50000" t="50000" r="50000" b="50000"/>
              </a:path>
              <a:tileRect/>
            </a:gra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21E039B-77C5-418A-A627-C44263B6DF1A}"/>
                </a:ext>
              </a:extLst>
            </p:cNvPr>
            <p:cNvSpPr/>
            <p:nvPr/>
          </p:nvSpPr>
          <p:spPr>
            <a:xfrm>
              <a:off x="7575067" y="3710866"/>
              <a:ext cx="861134" cy="2601034"/>
            </a:xfrm>
            <a:prstGeom prst="rect">
              <a:avLst/>
            </a:prstGeom>
            <a:gradFill flip="none" rotWithShape="1">
              <a:gsLst>
                <a:gs pos="0">
                  <a:srgbClr val="F39200">
                    <a:shade val="30000"/>
                    <a:satMod val="115000"/>
                  </a:srgbClr>
                </a:gs>
                <a:gs pos="50000">
                  <a:srgbClr val="F39200">
                    <a:shade val="67500"/>
                    <a:satMod val="115000"/>
                  </a:srgbClr>
                </a:gs>
                <a:gs pos="100000">
                  <a:srgbClr val="F39200">
                    <a:shade val="100000"/>
                    <a:satMod val="115000"/>
                  </a:srgbClr>
                </a:gs>
              </a:gsLst>
              <a:lin ang="13500000" scaled="1"/>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4458619E-56F5-43F6-B84B-B0E10B1CAC13}"/>
                </a:ext>
              </a:extLst>
            </p:cNvPr>
            <p:cNvSpPr/>
            <p:nvPr/>
          </p:nvSpPr>
          <p:spPr>
            <a:xfrm flipH="1">
              <a:off x="4990354" y="5612953"/>
              <a:ext cx="443877" cy="699001"/>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EE0E76D6-8CAB-466E-9B91-B590B5B4D2E6}"/>
                </a:ext>
              </a:extLst>
            </p:cNvPr>
            <p:cNvSpPr/>
            <p:nvPr/>
          </p:nvSpPr>
          <p:spPr>
            <a:xfrm flipH="1">
              <a:off x="5415932" y="5625538"/>
              <a:ext cx="443877" cy="699001"/>
            </a:xfrm>
            <a:prstGeom prst="rect">
              <a:avLst/>
            </a:prstGeom>
            <a:solidFill>
              <a:srgbClr val="00B050"/>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88B8294-2CFB-4CA4-9365-BF11A9160774}"/>
                </a:ext>
              </a:extLst>
            </p:cNvPr>
            <p:cNvSpPr/>
            <p:nvPr/>
          </p:nvSpPr>
          <p:spPr>
            <a:xfrm flipH="1">
              <a:off x="5399880" y="3721787"/>
              <a:ext cx="443877" cy="699001"/>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4DEEA983-1FFE-4D06-BA09-03BAE9400DF1}"/>
                </a:ext>
              </a:extLst>
            </p:cNvPr>
            <p:cNvSpPr/>
            <p:nvPr/>
          </p:nvSpPr>
          <p:spPr>
            <a:xfrm flipH="1">
              <a:off x="4997517" y="4414431"/>
              <a:ext cx="443877" cy="699001"/>
            </a:xfrm>
            <a:prstGeom prst="rect">
              <a:avLst/>
            </a:prstGeom>
            <a:solidFill>
              <a:srgbClr val="399758"/>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A43C75D-FEB5-486E-AAE2-6301B131C94A}"/>
                </a:ext>
              </a:extLst>
            </p:cNvPr>
            <p:cNvSpPr/>
            <p:nvPr/>
          </p:nvSpPr>
          <p:spPr>
            <a:xfrm flipH="1">
              <a:off x="5411521" y="4427070"/>
              <a:ext cx="443877" cy="699001"/>
            </a:xfrm>
            <a:prstGeom prst="rect">
              <a:avLst/>
            </a:prstGeom>
            <a:solidFill>
              <a:srgbClr val="24743A"/>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8A74C614-4E5B-4DC7-AF68-F67241A5D8C9}"/>
                </a:ext>
              </a:extLst>
            </p:cNvPr>
            <p:cNvSpPr/>
            <p:nvPr/>
          </p:nvSpPr>
          <p:spPr>
            <a:xfrm flipH="1">
              <a:off x="5005905" y="5071607"/>
              <a:ext cx="443877" cy="699001"/>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8F25FBC8-227D-46B2-AE38-BC2FBC3DBF2F}"/>
                </a:ext>
              </a:extLst>
            </p:cNvPr>
            <p:cNvSpPr/>
            <p:nvPr/>
          </p:nvSpPr>
          <p:spPr>
            <a:xfrm flipH="1">
              <a:off x="5423998" y="5113432"/>
              <a:ext cx="443877" cy="699001"/>
            </a:xfrm>
            <a:prstGeom prst="rect">
              <a:avLst/>
            </a:prstGeom>
            <a:solidFill>
              <a:schemeClr val="accent6">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83DB7384-1DEA-4ADE-887B-F71EB13D5F21}"/>
                </a:ext>
              </a:extLst>
            </p:cNvPr>
            <p:cNvSpPr/>
            <p:nvPr/>
          </p:nvSpPr>
          <p:spPr>
            <a:xfrm flipH="1">
              <a:off x="4990353" y="3731422"/>
              <a:ext cx="443877" cy="699001"/>
            </a:xfrm>
            <a:prstGeom prst="rect">
              <a:avLst/>
            </a:prstGeom>
            <a:solidFill>
              <a:schemeClr val="accent6">
                <a:lumMod val="75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6A65899F-D1F6-421C-A88E-7607D0AEC454}"/>
                </a:ext>
              </a:extLst>
            </p:cNvPr>
            <p:cNvSpPr/>
            <p:nvPr/>
          </p:nvSpPr>
          <p:spPr>
            <a:xfrm>
              <a:off x="6699593" y="3726636"/>
              <a:ext cx="861134" cy="2601034"/>
            </a:xfrm>
            <a:prstGeom prst="rect">
              <a:avLst/>
            </a:prstGeo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8100000" scaled="1"/>
              <a:tileRect/>
            </a:gra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5574DC8D-F01F-4FBB-BC6E-F21D432B545C}"/>
                </a:ext>
              </a:extLst>
            </p:cNvPr>
            <p:cNvSpPr/>
            <p:nvPr/>
          </p:nvSpPr>
          <p:spPr>
            <a:xfrm flipH="1">
              <a:off x="6698282" y="5628723"/>
              <a:ext cx="443877" cy="699001"/>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D6C0F730-F76C-48A3-8E1E-F1A7FF78B1B9}"/>
                </a:ext>
              </a:extLst>
            </p:cNvPr>
            <p:cNvSpPr/>
            <p:nvPr/>
          </p:nvSpPr>
          <p:spPr>
            <a:xfrm flipH="1">
              <a:off x="7123860" y="5641308"/>
              <a:ext cx="443877" cy="699001"/>
            </a:xfrm>
            <a:prstGeom prst="rect">
              <a:avLst/>
            </a:prstGeom>
            <a:solidFill>
              <a:srgbClr val="00B050"/>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59E2BC55-680D-4B2C-885E-8ADE2B0E8E7D}"/>
                </a:ext>
              </a:extLst>
            </p:cNvPr>
            <p:cNvSpPr/>
            <p:nvPr/>
          </p:nvSpPr>
          <p:spPr>
            <a:xfrm flipH="1">
              <a:off x="7107808" y="3737557"/>
              <a:ext cx="443877" cy="699001"/>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48FA89E6-FD47-44B1-84CF-E08D50FE1E93}"/>
                </a:ext>
              </a:extLst>
            </p:cNvPr>
            <p:cNvSpPr/>
            <p:nvPr/>
          </p:nvSpPr>
          <p:spPr>
            <a:xfrm flipH="1">
              <a:off x="6705445" y="4430201"/>
              <a:ext cx="443877" cy="699001"/>
            </a:xfrm>
            <a:prstGeom prst="rect">
              <a:avLst/>
            </a:prstGeom>
            <a:solidFill>
              <a:srgbClr val="399758"/>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6D6BADC3-B58D-429E-918A-1C7A428BEF3F}"/>
                </a:ext>
              </a:extLst>
            </p:cNvPr>
            <p:cNvSpPr/>
            <p:nvPr/>
          </p:nvSpPr>
          <p:spPr>
            <a:xfrm flipH="1">
              <a:off x="7119449" y="4442840"/>
              <a:ext cx="443877" cy="699001"/>
            </a:xfrm>
            <a:prstGeom prst="rect">
              <a:avLst/>
            </a:prstGeom>
            <a:solidFill>
              <a:srgbClr val="24743A"/>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1E454878-6708-46C7-8D63-423BB3D03CC9}"/>
                </a:ext>
              </a:extLst>
            </p:cNvPr>
            <p:cNvSpPr/>
            <p:nvPr/>
          </p:nvSpPr>
          <p:spPr>
            <a:xfrm flipH="1">
              <a:off x="6713833" y="5087377"/>
              <a:ext cx="443877" cy="699001"/>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7807EE1F-A4DD-44CA-9FA3-6AE4DF57AFC9}"/>
                </a:ext>
              </a:extLst>
            </p:cNvPr>
            <p:cNvSpPr/>
            <p:nvPr/>
          </p:nvSpPr>
          <p:spPr>
            <a:xfrm flipH="1">
              <a:off x="7131926" y="5129202"/>
              <a:ext cx="443877" cy="699001"/>
            </a:xfrm>
            <a:prstGeom prst="rect">
              <a:avLst/>
            </a:prstGeom>
            <a:solidFill>
              <a:schemeClr val="accent6">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07F4AAC9-BACA-41EC-9849-E98CBA788266}"/>
                </a:ext>
              </a:extLst>
            </p:cNvPr>
            <p:cNvSpPr/>
            <p:nvPr/>
          </p:nvSpPr>
          <p:spPr>
            <a:xfrm flipH="1">
              <a:off x="6698281" y="3747192"/>
              <a:ext cx="443877" cy="699001"/>
            </a:xfrm>
            <a:prstGeom prst="rect">
              <a:avLst/>
            </a:prstGeom>
            <a:solidFill>
              <a:schemeClr val="accent6">
                <a:lumMod val="75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7E92B02A-7FE6-4BCF-8522-A0976FD2B7C9}"/>
                </a:ext>
              </a:extLst>
            </p:cNvPr>
            <p:cNvSpPr/>
            <p:nvPr/>
          </p:nvSpPr>
          <p:spPr>
            <a:xfrm flipH="1">
              <a:off x="5854311" y="3712245"/>
              <a:ext cx="443877" cy="699001"/>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284C262D-AE7C-4FC2-B1B1-9809D983CEF9}"/>
                </a:ext>
              </a:extLst>
            </p:cNvPr>
            <p:cNvSpPr/>
            <p:nvPr/>
          </p:nvSpPr>
          <p:spPr>
            <a:xfrm flipH="1">
              <a:off x="6258415" y="4307082"/>
              <a:ext cx="443877" cy="699001"/>
            </a:xfrm>
            <a:prstGeom prst="rect">
              <a:avLst/>
            </a:prstGeom>
            <a:solidFill>
              <a:srgbClr val="FFC0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2C68631A-EB34-4910-94F2-9E3456F92378}"/>
                </a:ext>
              </a:extLst>
            </p:cNvPr>
            <p:cNvSpPr/>
            <p:nvPr/>
          </p:nvSpPr>
          <p:spPr>
            <a:xfrm flipH="1">
              <a:off x="6285686" y="4974994"/>
              <a:ext cx="443877" cy="699001"/>
            </a:xfrm>
            <a:prstGeom prst="rect">
              <a:avLst/>
            </a:prstGeom>
            <a:solidFill>
              <a:schemeClr val="accent2"/>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CA917354-10A6-4C45-9B55-899D66254678}"/>
                </a:ext>
              </a:extLst>
            </p:cNvPr>
            <p:cNvSpPr/>
            <p:nvPr/>
          </p:nvSpPr>
          <p:spPr>
            <a:xfrm flipH="1">
              <a:off x="5871548" y="4928427"/>
              <a:ext cx="443877" cy="699001"/>
            </a:xfrm>
            <a:prstGeom prst="rect">
              <a:avLst/>
            </a:prstGeom>
            <a:solidFill>
              <a:schemeClr val="accent2">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B72ACF26-2FBF-4F1F-90C4-10073F882CA8}"/>
                </a:ext>
              </a:extLst>
            </p:cNvPr>
            <p:cNvSpPr/>
            <p:nvPr/>
          </p:nvSpPr>
          <p:spPr>
            <a:xfrm flipH="1">
              <a:off x="6275554" y="5635671"/>
              <a:ext cx="443877" cy="699001"/>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387B81F4-F6FD-4765-B9E2-FF3630303966}"/>
                </a:ext>
              </a:extLst>
            </p:cNvPr>
            <p:cNvSpPr/>
            <p:nvPr/>
          </p:nvSpPr>
          <p:spPr>
            <a:xfrm flipH="1">
              <a:off x="5879616" y="5601081"/>
              <a:ext cx="443877" cy="699001"/>
            </a:xfrm>
            <a:prstGeom prst="rect">
              <a:avLst/>
            </a:prstGeom>
            <a:solidFill>
              <a:srgbClr val="FFC0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E5AAE0F8-003E-4902-B6BA-FA9EC2D9C2FF}"/>
                </a:ext>
              </a:extLst>
            </p:cNvPr>
            <p:cNvSpPr/>
            <p:nvPr/>
          </p:nvSpPr>
          <p:spPr>
            <a:xfrm>
              <a:off x="7581747" y="3716124"/>
              <a:ext cx="861134" cy="2601034"/>
            </a:xfrm>
            <a:prstGeom prst="rect">
              <a:avLst/>
            </a:prstGeom>
            <a:gradFill flip="none" rotWithShape="1">
              <a:gsLst>
                <a:gs pos="0">
                  <a:srgbClr val="F39200">
                    <a:shade val="30000"/>
                    <a:satMod val="115000"/>
                  </a:srgbClr>
                </a:gs>
                <a:gs pos="50000">
                  <a:srgbClr val="F39200">
                    <a:shade val="67500"/>
                    <a:satMod val="115000"/>
                  </a:srgbClr>
                </a:gs>
                <a:gs pos="100000">
                  <a:srgbClr val="F39200">
                    <a:shade val="100000"/>
                    <a:satMod val="115000"/>
                  </a:srgbClr>
                </a:gs>
              </a:gsLst>
              <a:lin ang="5400000" scaled="1"/>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6C72976E-852C-41E7-9E62-C51E9BFF857B}"/>
                </a:ext>
              </a:extLst>
            </p:cNvPr>
            <p:cNvSpPr/>
            <p:nvPr/>
          </p:nvSpPr>
          <p:spPr>
            <a:xfrm flipH="1">
              <a:off x="7583259" y="3717503"/>
              <a:ext cx="443877" cy="699001"/>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66A0B957-6A69-42D0-AC09-A87A58E26EAF}"/>
                </a:ext>
              </a:extLst>
            </p:cNvPr>
            <p:cNvSpPr/>
            <p:nvPr/>
          </p:nvSpPr>
          <p:spPr>
            <a:xfrm flipH="1">
              <a:off x="7987363" y="4312340"/>
              <a:ext cx="443877" cy="699001"/>
            </a:xfrm>
            <a:prstGeom prst="rect">
              <a:avLst/>
            </a:prstGeom>
            <a:solidFill>
              <a:srgbClr val="FFC0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17B9E32B-37E4-4E1D-993B-7766F1675869}"/>
                </a:ext>
              </a:extLst>
            </p:cNvPr>
            <p:cNvSpPr/>
            <p:nvPr/>
          </p:nvSpPr>
          <p:spPr>
            <a:xfrm flipH="1">
              <a:off x="8014634" y="4980252"/>
              <a:ext cx="443877" cy="699001"/>
            </a:xfrm>
            <a:prstGeom prst="rect">
              <a:avLst/>
            </a:prstGeom>
            <a:solidFill>
              <a:schemeClr val="accent2"/>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BD6EAA25-4636-4ED6-88B1-1392186FF10A}"/>
                </a:ext>
              </a:extLst>
            </p:cNvPr>
            <p:cNvSpPr/>
            <p:nvPr/>
          </p:nvSpPr>
          <p:spPr>
            <a:xfrm flipH="1">
              <a:off x="7600496" y="4933685"/>
              <a:ext cx="443877" cy="699001"/>
            </a:xfrm>
            <a:prstGeom prst="rect">
              <a:avLst/>
            </a:prstGeom>
            <a:solidFill>
              <a:schemeClr val="accent2">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0A3C5A82-EA90-4735-9F40-9B31E4938F44}"/>
                </a:ext>
              </a:extLst>
            </p:cNvPr>
            <p:cNvSpPr/>
            <p:nvPr/>
          </p:nvSpPr>
          <p:spPr>
            <a:xfrm flipH="1">
              <a:off x="8004502" y="5640929"/>
              <a:ext cx="443877" cy="699001"/>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35A0DC20-53A6-4EEB-8397-A0FBD3EA145E}"/>
                </a:ext>
              </a:extLst>
            </p:cNvPr>
            <p:cNvSpPr/>
            <p:nvPr/>
          </p:nvSpPr>
          <p:spPr>
            <a:xfrm flipH="1">
              <a:off x="7608564" y="5606339"/>
              <a:ext cx="443877" cy="699001"/>
            </a:xfrm>
            <a:prstGeom prst="rect">
              <a:avLst/>
            </a:prstGeom>
            <a:solidFill>
              <a:srgbClr val="FFC0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grpSp>
      <p:sp>
        <p:nvSpPr>
          <p:cNvPr id="57" name="Content Placeholder 2">
            <a:extLst>
              <a:ext uri="{FF2B5EF4-FFF2-40B4-BE49-F238E27FC236}">
                <a16:creationId xmlns:a16="http://schemas.microsoft.com/office/drawing/2014/main" id="{3D78C80E-9719-4E13-BCA0-496EE3704CB2}"/>
              </a:ext>
            </a:extLst>
          </p:cNvPr>
          <p:cNvSpPr txBox="1">
            <a:spLocks/>
          </p:cNvSpPr>
          <p:nvPr/>
        </p:nvSpPr>
        <p:spPr>
          <a:xfrm>
            <a:off x="9297335" y="1411256"/>
            <a:ext cx="2663437" cy="28510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b="1" dirty="0"/>
              <a:t>I</a:t>
            </a:r>
            <a:r>
              <a:rPr lang="fr-FR" b="1" dirty="0">
                <a:sym typeface="Wingdings" panose="05000000000000000000" pitchFamily="2" charset="2"/>
              </a:rPr>
              <a:t>nter-</a:t>
            </a:r>
            <a:r>
              <a:rPr lang="fr-FR" b="1" dirty="0" err="1">
                <a:sym typeface="Wingdings" panose="05000000000000000000" pitchFamily="2" charset="2"/>
              </a:rPr>
              <a:t>organs</a:t>
            </a:r>
            <a:r>
              <a:rPr lang="fr-FR" b="1" dirty="0">
                <a:sym typeface="Wingdings" panose="05000000000000000000" pitchFamily="2" charset="2"/>
              </a:rPr>
              <a:t> </a:t>
            </a:r>
            <a:r>
              <a:rPr lang="fr-FR" dirty="0" err="1">
                <a:sym typeface="Wingdings" panose="05000000000000000000" pitchFamily="2" charset="2"/>
              </a:rPr>
              <a:t>heterogeneity</a:t>
            </a:r>
            <a:endParaRPr lang="fr-FR" dirty="0">
              <a:sym typeface="Wingdings" panose="05000000000000000000" pitchFamily="2" charset="2"/>
            </a:endParaRPr>
          </a:p>
          <a:p>
            <a:pPr marL="0" indent="0">
              <a:buFont typeface="Arial" panose="020B0604020202020204" pitchFamily="34" charset="0"/>
              <a:buNone/>
            </a:pPr>
            <a:r>
              <a:rPr lang="fr-FR" dirty="0">
                <a:sym typeface="Wingdings" panose="05000000000000000000" pitchFamily="2" charset="2"/>
              </a:rPr>
              <a:t> Plant architecture</a:t>
            </a:r>
            <a:endParaRPr lang="en-US" dirty="0"/>
          </a:p>
        </p:txBody>
      </p:sp>
      <p:sp>
        <p:nvSpPr>
          <p:cNvPr id="64" name="Slide Number Placeholder 63">
            <a:extLst>
              <a:ext uri="{FF2B5EF4-FFF2-40B4-BE49-F238E27FC236}">
                <a16:creationId xmlns:a16="http://schemas.microsoft.com/office/drawing/2014/main" id="{08303FCC-F585-4ACB-B2AC-B102DAD52768}"/>
              </a:ext>
            </a:extLst>
          </p:cNvPr>
          <p:cNvSpPr>
            <a:spLocks noGrp="1"/>
          </p:cNvSpPr>
          <p:nvPr>
            <p:ph type="sldNum" sz="quarter" idx="12"/>
          </p:nvPr>
        </p:nvSpPr>
        <p:spPr/>
        <p:txBody>
          <a:bodyPr/>
          <a:lstStyle/>
          <a:p>
            <a:fld id="{27C6CCC6-2BE5-4E42-96A4-D1E8E81A3D8E}" type="slidenum">
              <a:rPr lang="fr-FR" smtClean="0"/>
              <a:t>16</a:t>
            </a:fld>
            <a:endParaRPr lang="fr-FR"/>
          </a:p>
        </p:txBody>
      </p:sp>
      <p:pic>
        <p:nvPicPr>
          <p:cNvPr id="59" name="Picture 58">
            <a:extLst>
              <a:ext uri="{FF2B5EF4-FFF2-40B4-BE49-F238E27FC236}">
                <a16:creationId xmlns:a16="http://schemas.microsoft.com/office/drawing/2014/main" id="{1BD5AD4B-76EB-4BB1-9622-EF7F57652AF9}"/>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541202" y="2874005"/>
            <a:ext cx="1737511" cy="3734124"/>
          </a:xfrm>
          <a:prstGeom prst="rect">
            <a:avLst/>
          </a:prstGeom>
        </p:spPr>
      </p:pic>
    </p:spTree>
    <p:extLst>
      <p:ext uri="{BB962C8B-B14F-4D97-AF65-F5344CB8AC3E}">
        <p14:creationId xmlns:p14="http://schemas.microsoft.com/office/powerpoint/2010/main" val="21211989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1DC49E-DCD3-4730-9D88-B42A66CE9156}"/>
              </a:ext>
            </a:extLst>
          </p:cNvPr>
          <p:cNvSpPr>
            <a:spLocks noGrp="1"/>
          </p:cNvSpPr>
          <p:nvPr>
            <p:ph idx="1"/>
          </p:nvPr>
        </p:nvSpPr>
        <p:spPr>
          <a:xfrm>
            <a:off x="838200" y="2120161"/>
            <a:ext cx="10515600" cy="3532999"/>
          </a:xfrm>
        </p:spPr>
        <p:txBody>
          <a:bodyPr>
            <a:normAutofit/>
          </a:bodyPr>
          <a:lstStyle/>
          <a:p>
            <a:pPr marL="0" indent="0">
              <a:buNone/>
            </a:pPr>
            <a:r>
              <a:rPr lang="en-US" sz="2400" dirty="0"/>
              <a:t>Examples of architectural traits to vary within species-specific ranges: </a:t>
            </a:r>
          </a:p>
          <a:p>
            <a:pPr lvl="1"/>
            <a:r>
              <a:rPr lang="en-US" dirty="0"/>
              <a:t>number of </a:t>
            </a:r>
            <a:r>
              <a:rPr lang="en-US" dirty="0" err="1"/>
              <a:t>phytomers</a:t>
            </a:r>
            <a:endParaRPr lang="en-US" dirty="0"/>
          </a:p>
          <a:p>
            <a:pPr lvl="1"/>
            <a:r>
              <a:rPr lang="en-US" dirty="0"/>
              <a:t>longest leaf length</a:t>
            </a:r>
          </a:p>
          <a:p>
            <a:pPr lvl="1"/>
            <a:r>
              <a:rPr lang="en-US" dirty="0"/>
              <a:t>leaf width-to-length ratio</a:t>
            </a:r>
          </a:p>
          <a:p>
            <a:pPr lvl="1"/>
            <a:r>
              <a:rPr lang="en-US" dirty="0"/>
              <a:t>phyllotaxy</a:t>
            </a:r>
          </a:p>
          <a:p>
            <a:pPr lvl="1"/>
            <a:r>
              <a:rPr lang="en-US" dirty="0"/>
              <a:t>insertion angle</a:t>
            </a:r>
          </a:p>
          <a:p>
            <a:pPr lvl="1"/>
            <a:r>
              <a:rPr lang="en-US" dirty="0"/>
              <a:t>leaf curvature </a:t>
            </a:r>
          </a:p>
          <a:p>
            <a:pPr marL="457200" lvl="1" indent="0">
              <a:buNone/>
            </a:pPr>
            <a:endParaRPr lang="fr-FR" dirty="0">
              <a:sym typeface="Wingdings" panose="05000000000000000000" pitchFamily="2" charset="2"/>
            </a:endParaRPr>
          </a:p>
        </p:txBody>
      </p:sp>
      <p:sp>
        <p:nvSpPr>
          <p:cNvPr id="2" name="Title 1">
            <a:extLst>
              <a:ext uri="{FF2B5EF4-FFF2-40B4-BE49-F238E27FC236}">
                <a16:creationId xmlns:a16="http://schemas.microsoft.com/office/drawing/2014/main" id="{8B39342E-9D37-4A45-9DD1-BD9DAF1ADDF6}"/>
              </a:ext>
            </a:extLst>
          </p:cNvPr>
          <p:cNvSpPr>
            <a:spLocks noGrp="1"/>
          </p:cNvSpPr>
          <p:nvPr>
            <p:ph type="title"/>
          </p:nvPr>
        </p:nvSpPr>
        <p:spPr/>
        <p:txBody>
          <a:bodyPr>
            <a:normAutofit/>
          </a:bodyPr>
          <a:lstStyle/>
          <a:p>
            <a:r>
              <a:rPr lang="en-US" sz="4000" dirty="0"/>
              <a:t>Result: Explore </a:t>
            </a:r>
            <a:r>
              <a:rPr lang="en-US" sz="4000" dirty="0" err="1"/>
              <a:t>morphospace</a:t>
            </a:r>
            <a:r>
              <a:rPr lang="en-US" sz="4000" dirty="0"/>
              <a:t> of species through growing cycle</a:t>
            </a:r>
          </a:p>
        </p:txBody>
      </p:sp>
      <p:cxnSp>
        <p:nvCxnSpPr>
          <p:cNvPr id="9" name="Straight Arrow Connector 8">
            <a:extLst>
              <a:ext uri="{FF2B5EF4-FFF2-40B4-BE49-F238E27FC236}">
                <a16:creationId xmlns:a16="http://schemas.microsoft.com/office/drawing/2014/main" id="{F8176F28-F2DC-44DA-8ED0-9C1E47842EEF}"/>
              </a:ext>
            </a:extLst>
          </p:cNvPr>
          <p:cNvCxnSpPr>
            <a:cxnSpLocks/>
          </p:cNvCxnSpPr>
          <p:nvPr/>
        </p:nvCxnSpPr>
        <p:spPr>
          <a:xfrm>
            <a:off x="4349026" y="6017913"/>
            <a:ext cx="6292393"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4" name="Slide Number Placeholder 3">
            <a:extLst>
              <a:ext uri="{FF2B5EF4-FFF2-40B4-BE49-F238E27FC236}">
                <a16:creationId xmlns:a16="http://schemas.microsoft.com/office/drawing/2014/main" id="{66CA5268-2940-47EB-8F0E-A3539C3EA135}"/>
              </a:ext>
            </a:extLst>
          </p:cNvPr>
          <p:cNvSpPr>
            <a:spLocks noGrp="1"/>
          </p:cNvSpPr>
          <p:nvPr>
            <p:ph type="sldNum" sz="quarter" idx="12"/>
          </p:nvPr>
        </p:nvSpPr>
        <p:spPr>
          <a:xfrm>
            <a:off x="8610600" y="6356350"/>
            <a:ext cx="2743200" cy="365125"/>
          </a:xfrm>
        </p:spPr>
        <p:txBody>
          <a:bodyPr/>
          <a:lstStyle/>
          <a:p>
            <a:fld id="{27C6CCC6-2BE5-4E42-96A4-D1E8E81A3D8E}" type="slidenum">
              <a:rPr lang="fr-FR" smtClean="0"/>
              <a:t>17</a:t>
            </a:fld>
            <a:endParaRPr lang="fr-FR"/>
          </a:p>
        </p:txBody>
      </p:sp>
      <p:pic>
        <p:nvPicPr>
          <p:cNvPr id="10" name="Picture 9">
            <a:extLst>
              <a:ext uri="{FF2B5EF4-FFF2-40B4-BE49-F238E27FC236}">
                <a16:creationId xmlns:a16="http://schemas.microsoft.com/office/drawing/2014/main" id="{5A75D217-48BD-4CBD-B746-D364C226E1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46910" y="3753289"/>
            <a:ext cx="1027491" cy="2198353"/>
          </a:xfrm>
          <a:prstGeom prst="rect">
            <a:avLst/>
          </a:prstGeom>
        </p:spPr>
      </p:pic>
      <p:pic>
        <p:nvPicPr>
          <p:cNvPr id="14" name="Picture 13">
            <a:extLst>
              <a:ext uri="{FF2B5EF4-FFF2-40B4-BE49-F238E27FC236}">
                <a16:creationId xmlns:a16="http://schemas.microsoft.com/office/drawing/2014/main" id="{B93AA8D3-72F3-4163-8596-8972B106365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85643" y="3753290"/>
            <a:ext cx="1164127" cy="2196820"/>
          </a:xfrm>
          <a:prstGeom prst="rect">
            <a:avLst/>
          </a:prstGeom>
        </p:spPr>
      </p:pic>
      <p:pic>
        <p:nvPicPr>
          <p:cNvPr id="16" name="Picture 15">
            <a:extLst>
              <a:ext uri="{FF2B5EF4-FFF2-40B4-BE49-F238E27FC236}">
                <a16:creationId xmlns:a16="http://schemas.microsoft.com/office/drawing/2014/main" id="{1CCEA71B-0552-42F9-B641-38E85EF7AA0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96161" y="3753289"/>
            <a:ext cx="1092342" cy="2196821"/>
          </a:xfrm>
          <a:prstGeom prst="rect">
            <a:avLst/>
          </a:prstGeom>
        </p:spPr>
      </p:pic>
      <p:pic>
        <p:nvPicPr>
          <p:cNvPr id="18" name="Picture 17">
            <a:extLst>
              <a:ext uri="{FF2B5EF4-FFF2-40B4-BE49-F238E27FC236}">
                <a16:creationId xmlns:a16="http://schemas.microsoft.com/office/drawing/2014/main" id="{DB886CD6-0465-48DA-937E-846A7A3B41A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59303" y="3753289"/>
            <a:ext cx="839718" cy="2197347"/>
          </a:xfrm>
          <a:prstGeom prst="rect">
            <a:avLst/>
          </a:prstGeom>
        </p:spPr>
      </p:pic>
      <p:sp>
        <p:nvSpPr>
          <p:cNvPr id="19" name="Rectangle 18">
            <a:extLst>
              <a:ext uri="{FF2B5EF4-FFF2-40B4-BE49-F238E27FC236}">
                <a16:creationId xmlns:a16="http://schemas.microsoft.com/office/drawing/2014/main" id="{3530275D-6D25-454D-A5A5-DB5117A5E3FA}"/>
              </a:ext>
            </a:extLst>
          </p:cNvPr>
          <p:cNvSpPr/>
          <p:nvPr/>
        </p:nvSpPr>
        <p:spPr>
          <a:xfrm>
            <a:off x="10641419" y="5648710"/>
            <a:ext cx="1132690" cy="646331"/>
          </a:xfrm>
          <a:prstGeom prst="rect">
            <a:avLst/>
          </a:prstGeom>
        </p:spPr>
        <p:txBody>
          <a:bodyPr wrap="square">
            <a:spAutoFit/>
          </a:bodyPr>
          <a:lstStyle/>
          <a:p>
            <a:r>
              <a:rPr lang="en-US" dirty="0"/>
              <a:t>leaf curvature </a:t>
            </a:r>
            <a:endParaRPr lang="fr-FR" dirty="0">
              <a:sym typeface="Wingdings" panose="05000000000000000000" pitchFamily="2" charset="2"/>
            </a:endParaRPr>
          </a:p>
        </p:txBody>
      </p:sp>
    </p:spTree>
    <p:extLst>
      <p:ext uri="{BB962C8B-B14F-4D97-AF65-F5344CB8AC3E}">
        <p14:creationId xmlns:p14="http://schemas.microsoft.com/office/powerpoint/2010/main" val="7661232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6B419-5093-45C1-8DAC-9441E378E7FA}"/>
              </a:ext>
            </a:extLst>
          </p:cNvPr>
          <p:cNvSpPr>
            <a:spLocks noGrp="1"/>
          </p:cNvSpPr>
          <p:nvPr>
            <p:ph type="title"/>
          </p:nvPr>
        </p:nvSpPr>
        <p:spPr>
          <a:xfrm>
            <a:off x="846667" y="216561"/>
            <a:ext cx="10795984" cy="804049"/>
          </a:xfrm>
        </p:spPr>
        <p:txBody>
          <a:bodyPr>
            <a:noAutofit/>
          </a:bodyPr>
          <a:lstStyle/>
          <a:p>
            <a:r>
              <a:rPr lang="fr-FR" sz="4000" dirty="0"/>
              <a:t>Workflow of simulations of </a:t>
            </a:r>
            <a:r>
              <a:rPr lang="fr-FR" sz="4000" dirty="0" err="1"/>
              <a:t>intercrops</a:t>
            </a:r>
            <a:r>
              <a:rPr lang="fr-FR" sz="4000" dirty="0"/>
              <a:t> </a:t>
            </a:r>
            <a:r>
              <a:rPr lang="fr-FR" sz="4000" dirty="0" err="1"/>
              <a:t>through</a:t>
            </a:r>
            <a:r>
              <a:rPr lang="fr-FR" sz="4000" dirty="0"/>
              <a:t> time</a:t>
            </a:r>
            <a:endParaRPr lang="en-US" sz="4000" dirty="0"/>
          </a:p>
        </p:txBody>
      </p:sp>
      <p:sp>
        <p:nvSpPr>
          <p:cNvPr id="4" name="Oval 3">
            <a:extLst>
              <a:ext uri="{FF2B5EF4-FFF2-40B4-BE49-F238E27FC236}">
                <a16:creationId xmlns:a16="http://schemas.microsoft.com/office/drawing/2014/main" id="{BF8D5E98-A9ED-4B1A-9C6F-B88D4E769A89}"/>
              </a:ext>
            </a:extLst>
          </p:cNvPr>
          <p:cNvSpPr/>
          <p:nvPr/>
        </p:nvSpPr>
        <p:spPr>
          <a:xfrm>
            <a:off x="2045127" y="1460923"/>
            <a:ext cx="1973063" cy="1200329"/>
          </a:xfrm>
          <a:prstGeom prst="ellipse">
            <a:avLst/>
          </a:prstGeom>
          <a:solidFill>
            <a:srgbClr val="F39200"/>
          </a:solidFill>
          <a:ln>
            <a:solidFill>
              <a:srgbClr val="F39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Simulation </a:t>
            </a:r>
          </a:p>
          <a:p>
            <a:pPr algn="ctr"/>
            <a:r>
              <a:rPr lang="fr-FR" dirty="0" err="1"/>
              <a:t>with</a:t>
            </a:r>
            <a:r>
              <a:rPr lang="fr-FR" dirty="0"/>
              <a:t> </a:t>
            </a:r>
            <a:r>
              <a:rPr lang="fr-FR" dirty="0" err="1"/>
              <a:t>crop</a:t>
            </a:r>
            <a:r>
              <a:rPr lang="fr-FR" dirty="0"/>
              <a:t> model</a:t>
            </a:r>
            <a:endParaRPr lang="en-US" dirty="0"/>
          </a:p>
        </p:txBody>
      </p:sp>
      <p:cxnSp>
        <p:nvCxnSpPr>
          <p:cNvPr id="56" name="Straight Arrow Connector 55">
            <a:extLst>
              <a:ext uri="{FF2B5EF4-FFF2-40B4-BE49-F238E27FC236}">
                <a16:creationId xmlns:a16="http://schemas.microsoft.com/office/drawing/2014/main" id="{A725A07B-B392-48E1-9B1B-615B5E5E3067}"/>
              </a:ext>
            </a:extLst>
          </p:cNvPr>
          <p:cNvCxnSpPr>
            <a:cxnSpLocks/>
            <a:stCxn id="4" idx="6"/>
            <a:endCxn id="225" idx="1"/>
          </p:cNvCxnSpPr>
          <p:nvPr/>
        </p:nvCxnSpPr>
        <p:spPr>
          <a:xfrm>
            <a:off x="4018190" y="2061088"/>
            <a:ext cx="657742" cy="1"/>
          </a:xfrm>
          <a:prstGeom prst="straightConnector1">
            <a:avLst/>
          </a:prstGeom>
          <a:ln>
            <a:solidFill>
              <a:srgbClr val="F39200"/>
            </a:solidFill>
            <a:tailEnd type="triangle"/>
          </a:ln>
        </p:spPr>
        <p:style>
          <a:lnRef idx="2">
            <a:schemeClr val="accent1"/>
          </a:lnRef>
          <a:fillRef idx="0">
            <a:schemeClr val="accent1"/>
          </a:fillRef>
          <a:effectRef idx="1">
            <a:schemeClr val="accent1"/>
          </a:effectRef>
          <a:fontRef idx="minor">
            <a:schemeClr val="tx1"/>
          </a:fontRef>
        </p:style>
      </p:cxnSp>
      <p:sp>
        <p:nvSpPr>
          <p:cNvPr id="64" name="TextBox 63">
            <a:extLst>
              <a:ext uri="{FF2B5EF4-FFF2-40B4-BE49-F238E27FC236}">
                <a16:creationId xmlns:a16="http://schemas.microsoft.com/office/drawing/2014/main" id="{90DD7BA7-D334-42DA-8798-DC47128D6220}"/>
              </a:ext>
            </a:extLst>
          </p:cNvPr>
          <p:cNvSpPr txBox="1"/>
          <p:nvPr/>
        </p:nvSpPr>
        <p:spPr>
          <a:xfrm>
            <a:off x="8759462" y="1183924"/>
            <a:ext cx="3165846" cy="1754326"/>
          </a:xfrm>
          <a:prstGeom prst="rect">
            <a:avLst/>
          </a:prstGeom>
          <a:ln>
            <a:solidFill>
              <a:srgbClr val="399758"/>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fr-FR" u="sng" dirty="0" err="1"/>
              <a:t>GxG</a:t>
            </a:r>
            <a:r>
              <a:rPr lang="fr-FR" u="sng" dirty="0"/>
              <a:t> </a:t>
            </a:r>
            <a:r>
              <a:rPr lang="fr-FR" u="sng" dirty="0" err="1"/>
              <a:t>experimental</a:t>
            </a:r>
            <a:r>
              <a:rPr lang="fr-FR" u="sng" dirty="0"/>
              <a:t> design :</a:t>
            </a:r>
          </a:p>
          <a:p>
            <a:pPr algn="ctr"/>
            <a:r>
              <a:rPr lang="fr-FR" dirty="0" err="1"/>
              <a:t>Morphospace</a:t>
            </a:r>
            <a:r>
              <a:rPr lang="fr-FR" dirty="0"/>
              <a:t> </a:t>
            </a:r>
            <a:r>
              <a:rPr lang="fr-FR" dirty="0" err="1"/>
              <a:t>species</a:t>
            </a:r>
            <a:r>
              <a:rPr lang="fr-FR" dirty="0"/>
              <a:t> 1</a:t>
            </a:r>
          </a:p>
          <a:p>
            <a:pPr algn="ctr"/>
            <a:r>
              <a:rPr lang="fr-FR" dirty="0"/>
              <a:t>x </a:t>
            </a:r>
          </a:p>
          <a:p>
            <a:pPr algn="ctr"/>
            <a:r>
              <a:rPr lang="fr-FR" dirty="0" err="1"/>
              <a:t>Morphospace</a:t>
            </a:r>
            <a:r>
              <a:rPr lang="fr-FR" dirty="0"/>
              <a:t> </a:t>
            </a:r>
            <a:r>
              <a:rPr lang="fr-FR" dirty="0" err="1"/>
              <a:t>species</a:t>
            </a:r>
            <a:r>
              <a:rPr lang="fr-FR" dirty="0"/>
              <a:t> 2</a:t>
            </a:r>
          </a:p>
          <a:p>
            <a:pPr algn="ctr"/>
            <a:r>
              <a:rPr lang="fr-FR" dirty="0"/>
              <a:t>x</a:t>
            </a:r>
          </a:p>
          <a:p>
            <a:pPr algn="ctr"/>
            <a:r>
              <a:rPr lang="fr-FR" dirty="0"/>
              <a:t> Spatial configurations</a:t>
            </a:r>
            <a:endParaRPr lang="en-US" dirty="0"/>
          </a:p>
        </p:txBody>
      </p:sp>
      <p:sp>
        <p:nvSpPr>
          <p:cNvPr id="92" name="Oval 91">
            <a:extLst>
              <a:ext uri="{FF2B5EF4-FFF2-40B4-BE49-F238E27FC236}">
                <a16:creationId xmlns:a16="http://schemas.microsoft.com/office/drawing/2014/main" id="{CB597C63-2200-4969-99FD-7D38A391A978}"/>
              </a:ext>
            </a:extLst>
          </p:cNvPr>
          <p:cNvSpPr/>
          <p:nvPr/>
        </p:nvSpPr>
        <p:spPr>
          <a:xfrm>
            <a:off x="6688581" y="1673990"/>
            <a:ext cx="1587139" cy="774197"/>
          </a:xfrm>
          <a:prstGeom prst="ellipse">
            <a:avLst/>
          </a:prstGeom>
          <a:solidFill>
            <a:srgbClr val="399758"/>
          </a:solidFill>
          <a:ln>
            <a:solidFill>
              <a:srgbClr val="399758"/>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dirty="0" err="1"/>
              <a:t>ArchiCrop</a:t>
            </a:r>
            <a:endParaRPr lang="en-US" dirty="0"/>
          </a:p>
        </p:txBody>
      </p:sp>
      <p:cxnSp>
        <p:nvCxnSpPr>
          <p:cNvPr id="121" name="Straight Arrow Connector 120">
            <a:extLst>
              <a:ext uri="{FF2B5EF4-FFF2-40B4-BE49-F238E27FC236}">
                <a16:creationId xmlns:a16="http://schemas.microsoft.com/office/drawing/2014/main" id="{DE54F91A-3F31-4C08-B255-6A909CF1983B}"/>
              </a:ext>
            </a:extLst>
          </p:cNvPr>
          <p:cNvCxnSpPr>
            <a:cxnSpLocks/>
            <a:stCxn id="225" idx="3"/>
            <a:endCxn id="92" idx="2"/>
          </p:cNvCxnSpPr>
          <p:nvPr/>
        </p:nvCxnSpPr>
        <p:spPr>
          <a:xfrm>
            <a:off x="6298496" y="2061089"/>
            <a:ext cx="390085" cy="0"/>
          </a:xfrm>
          <a:prstGeom prst="straightConnector1">
            <a:avLst/>
          </a:prstGeom>
          <a:ln w="19050">
            <a:solidFill>
              <a:srgbClr val="F39200"/>
            </a:solidFill>
            <a:tailEnd type="triangle"/>
          </a:ln>
        </p:spPr>
        <p:style>
          <a:lnRef idx="2">
            <a:schemeClr val="accent1"/>
          </a:lnRef>
          <a:fillRef idx="0">
            <a:schemeClr val="accent1"/>
          </a:fillRef>
          <a:effectRef idx="1">
            <a:schemeClr val="accent1"/>
          </a:effectRef>
          <a:fontRef idx="minor">
            <a:schemeClr val="tx1"/>
          </a:fontRef>
        </p:style>
      </p:cxnSp>
      <p:cxnSp>
        <p:nvCxnSpPr>
          <p:cNvPr id="144" name="Straight Arrow Connector 143">
            <a:extLst>
              <a:ext uri="{FF2B5EF4-FFF2-40B4-BE49-F238E27FC236}">
                <a16:creationId xmlns:a16="http://schemas.microsoft.com/office/drawing/2014/main" id="{1D6825E1-A317-49D2-B24E-592ADE65AAFF}"/>
              </a:ext>
            </a:extLst>
          </p:cNvPr>
          <p:cNvCxnSpPr>
            <a:cxnSpLocks/>
            <a:stCxn id="64" idx="1"/>
            <a:endCxn id="92" idx="6"/>
          </p:cNvCxnSpPr>
          <p:nvPr/>
        </p:nvCxnSpPr>
        <p:spPr>
          <a:xfrm flipH="1">
            <a:off x="8275720" y="2061087"/>
            <a:ext cx="483742" cy="2"/>
          </a:xfrm>
          <a:prstGeom prst="straightConnector1">
            <a:avLst/>
          </a:prstGeom>
          <a:ln>
            <a:solidFill>
              <a:srgbClr val="399758"/>
            </a:solidFill>
            <a:tailEnd type="triangle"/>
          </a:ln>
        </p:spPr>
        <p:style>
          <a:lnRef idx="2">
            <a:schemeClr val="accent2"/>
          </a:lnRef>
          <a:fillRef idx="0">
            <a:schemeClr val="accent2"/>
          </a:fillRef>
          <a:effectRef idx="1">
            <a:schemeClr val="accent2"/>
          </a:effectRef>
          <a:fontRef idx="minor">
            <a:schemeClr val="tx1"/>
          </a:fontRef>
        </p:style>
      </p:cxnSp>
      <p:sp>
        <p:nvSpPr>
          <p:cNvPr id="216" name="Slide Number Placeholder 215">
            <a:extLst>
              <a:ext uri="{FF2B5EF4-FFF2-40B4-BE49-F238E27FC236}">
                <a16:creationId xmlns:a16="http://schemas.microsoft.com/office/drawing/2014/main" id="{22635BB3-F18C-4F56-9652-2BBB1E754F7F}"/>
              </a:ext>
            </a:extLst>
          </p:cNvPr>
          <p:cNvSpPr>
            <a:spLocks noGrp="1"/>
          </p:cNvSpPr>
          <p:nvPr>
            <p:ph type="sldNum" sz="quarter" idx="12"/>
          </p:nvPr>
        </p:nvSpPr>
        <p:spPr/>
        <p:txBody>
          <a:bodyPr/>
          <a:lstStyle/>
          <a:p>
            <a:fld id="{27C6CCC6-2BE5-4E42-96A4-D1E8E81A3D8E}" type="slidenum">
              <a:rPr lang="fr-FR" smtClean="0"/>
              <a:t>18</a:t>
            </a:fld>
            <a:endParaRPr lang="fr-FR"/>
          </a:p>
        </p:txBody>
      </p:sp>
      <p:sp>
        <p:nvSpPr>
          <p:cNvPr id="225" name="Rectangle 224">
            <a:extLst>
              <a:ext uri="{FF2B5EF4-FFF2-40B4-BE49-F238E27FC236}">
                <a16:creationId xmlns:a16="http://schemas.microsoft.com/office/drawing/2014/main" id="{67F96804-BA90-4859-AE40-3D2391C4C00B}"/>
              </a:ext>
            </a:extLst>
          </p:cNvPr>
          <p:cNvSpPr/>
          <p:nvPr/>
        </p:nvSpPr>
        <p:spPr>
          <a:xfrm>
            <a:off x="4675932" y="1492891"/>
            <a:ext cx="1622564" cy="1136395"/>
          </a:xfrm>
          <a:prstGeom prst="rect">
            <a:avLst/>
          </a:prstGeom>
          <a:solidFill>
            <a:srgbClr val="F39200"/>
          </a:solidFill>
          <a:ln>
            <a:solidFill>
              <a:srgbClr val="F39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err="1"/>
              <a:t>Growth</a:t>
            </a:r>
            <a:r>
              <a:rPr lang="fr-FR" dirty="0"/>
              <a:t> </a:t>
            </a:r>
            <a:r>
              <a:rPr lang="fr-FR" dirty="0" err="1"/>
              <a:t>dynamics</a:t>
            </a:r>
            <a:endParaRPr lang="fr-FR" dirty="0"/>
          </a:p>
          <a:p>
            <a:pPr algn="ctr"/>
            <a:r>
              <a:rPr lang="fr-FR" dirty="0"/>
              <a:t>LAI(t), </a:t>
            </a:r>
            <a:r>
              <a:rPr lang="fr-FR" dirty="0" err="1"/>
              <a:t>height</a:t>
            </a:r>
            <a:r>
              <a:rPr lang="fr-FR" dirty="0"/>
              <a:t>(t)</a:t>
            </a:r>
            <a:endParaRPr lang="en-US" dirty="0"/>
          </a:p>
        </p:txBody>
      </p:sp>
      <p:pic>
        <p:nvPicPr>
          <p:cNvPr id="7" name="Picture 6">
            <a:extLst>
              <a:ext uri="{FF2B5EF4-FFF2-40B4-BE49-F238E27FC236}">
                <a16:creationId xmlns:a16="http://schemas.microsoft.com/office/drawing/2014/main" id="{B1C72EC1-E0E9-4E25-873C-3B0F039BFB5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73348" y="2661252"/>
            <a:ext cx="1027732" cy="804049"/>
          </a:xfrm>
          <a:prstGeom prst="rect">
            <a:avLst/>
          </a:prstGeom>
        </p:spPr>
      </p:pic>
      <p:pic>
        <p:nvPicPr>
          <p:cNvPr id="54" name="Picture 53">
            <a:extLst>
              <a:ext uri="{FF2B5EF4-FFF2-40B4-BE49-F238E27FC236}">
                <a16:creationId xmlns:a16="http://schemas.microsoft.com/office/drawing/2014/main" id="{E4DF114A-8F90-4E4B-84CF-9688162B6045}"/>
              </a:ext>
            </a:extLst>
          </p:cNvPr>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526199" y="1170900"/>
            <a:ext cx="870700" cy="670031"/>
          </a:xfrm>
          <a:prstGeom prst="rect">
            <a:avLst/>
          </a:prstGeom>
        </p:spPr>
      </p:pic>
      <p:pic>
        <p:nvPicPr>
          <p:cNvPr id="40" name="Picture 39">
            <a:extLst>
              <a:ext uri="{FF2B5EF4-FFF2-40B4-BE49-F238E27FC236}">
                <a16:creationId xmlns:a16="http://schemas.microsoft.com/office/drawing/2014/main" id="{6992F506-00A7-45E4-974F-188C2E356AF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55816" y="3963129"/>
            <a:ext cx="2354784" cy="2575783"/>
          </a:xfrm>
          <a:prstGeom prst="rect">
            <a:avLst/>
          </a:prstGeom>
        </p:spPr>
      </p:pic>
      <p:cxnSp>
        <p:nvCxnSpPr>
          <p:cNvPr id="84" name="Straight Arrow Connector 83">
            <a:extLst>
              <a:ext uri="{FF2B5EF4-FFF2-40B4-BE49-F238E27FC236}">
                <a16:creationId xmlns:a16="http://schemas.microsoft.com/office/drawing/2014/main" id="{01B9C1C0-3153-4D27-8144-9C630F7C6BB5}"/>
              </a:ext>
            </a:extLst>
          </p:cNvPr>
          <p:cNvCxnSpPr>
            <a:cxnSpLocks/>
            <a:stCxn id="92" idx="4"/>
          </p:cNvCxnSpPr>
          <p:nvPr/>
        </p:nvCxnSpPr>
        <p:spPr>
          <a:xfrm>
            <a:off x="7482151" y="2448187"/>
            <a:ext cx="0" cy="1156550"/>
          </a:xfrm>
          <a:prstGeom prst="straightConnector1">
            <a:avLst/>
          </a:prstGeom>
          <a:ln>
            <a:solidFill>
              <a:srgbClr val="399758"/>
            </a:solidFill>
            <a:tailEnd type="triangle"/>
          </a:ln>
        </p:spPr>
        <p:style>
          <a:lnRef idx="2">
            <a:schemeClr val="accent2"/>
          </a:lnRef>
          <a:fillRef idx="0">
            <a:schemeClr val="accent2"/>
          </a:fillRef>
          <a:effectRef idx="1">
            <a:schemeClr val="accent2"/>
          </a:effectRef>
          <a:fontRef idx="minor">
            <a:schemeClr val="tx1"/>
          </a:fontRef>
        </p:style>
      </p:cxnSp>
      <p:sp>
        <p:nvSpPr>
          <p:cNvPr id="97" name="TextBox 96">
            <a:extLst>
              <a:ext uri="{FF2B5EF4-FFF2-40B4-BE49-F238E27FC236}">
                <a16:creationId xmlns:a16="http://schemas.microsoft.com/office/drawing/2014/main" id="{60B162AF-81D8-4B23-B994-8A2940E4EE68}"/>
              </a:ext>
            </a:extLst>
          </p:cNvPr>
          <p:cNvSpPr txBox="1"/>
          <p:nvPr/>
        </p:nvSpPr>
        <p:spPr>
          <a:xfrm>
            <a:off x="221811" y="1599422"/>
            <a:ext cx="1426531" cy="923330"/>
          </a:xfrm>
          <a:prstGeom prst="rect">
            <a:avLst/>
          </a:prstGeom>
          <a:ln>
            <a:solidFill>
              <a:srgbClr val="F392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fr-FR" u="sng" dirty="0" err="1"/>
              <a:t>ExM</a:t>
            </a:r>
            <a:r>
              <a:rPr lang="fr-FR" u="sng" dirty="0"/>
              <a:t> </a:t>
            </a:r>
            <a:r>
              <a:rPr lang="fr-FR" u="sng" dirty="0" err="1"/>
              <a:t>experimental</a:t>
            </a:r>
            <a:r>
              <a:rPr lang="fr-FR" u="sng" dirty="0"/>
              <a:t> design</a:t>
            </a:r>
          </a:p>
        </p:txBody>
      </p:sp>
      <p:cxnSp>
        <p:nvCxnSpPr>
          <p:cNvPr id="112" name="Straight Arrow Connector 111">
            <a:extLst>
              <a:ext uri="{FF2B5EF4-FFF2-40B4-BE49-F238E27FC236}">
                <a16:creationId xmlns:a16="http://schemas.microsoft.com/office/drawing/2014/main" id="{C444704C-DB06-466B-9457-D5A78CF7150E}"/>
              </a:ext>
            </a:extLst>
          </p:cNvPr>
          <p:cNvCxnSpPr>
            <a:cxnSpLocks/>
            <a:stCxn id="97" idx="3"/>
            <a:endCxn id="4" idx="2"/>
          </p:cNvCxnSpPr>
          <p:nvPr/>
        </p:nvCxnSpPr>
        <p:spPr>
          <a:xfrm>
            <a:off x="1648342" y="2061087"/>
            <a:ext cx="396785" cy="1"/>
          </a:xfrm>
          <a:prstGeom prst="straightConnector1">
            <a:avLst/>
          </a:prstGeom>
          <a:ln>
            <a:solidFill>
              <a:srgbClr val="F39200"/>
            </a:solidFill>
            <a:tailEnd type="triangle"/>
          </a:ln>
        </p:spPr>
        <p:style>
          <a:lnRef idx="2">
            <a:schemeClr val="accent1"/>
          </a:lnRef>
          <a:fillRef idx="0">
            <a:schemeClr val="accent1"/>
          </a:fillRef>
          <a:effectRef idx="1">
            <a:schemeClr val="accent1"/>
          </a:effectRef>
          <a:fontRef idx="minor">
            <a:schemeClr val="tx1"/>
          </a:fontRef>
        </p:style>
      </p:cxnSp>
      <p:sp>
        <p:nvSpPr>
          <p:cNvPr id="125" name="TextBox 124">
            <a:extLst>
              <a:ext uri="{FF2B5EF4-FFF2-40B4-BE49-F238E27FC236}">
                <a16:creationId xmlns:a16="http://schemas.microsoft.com/office/drawing/2014/main" id="{AFD16733-3335-4CB1-8887-6E7E3C1E764F}"/>
              </a:ext>
            </a:extLst>
          </p:cNvPr>
          <p:cNvSpPr txBox="1"/>
          <p:nvPr/>
        </p:nvSpPr>
        <p:spPr>
          <a:xfrm>
            <a:off x="8914147" y="4492177"/>
            <a:ext cx="1428238" cy="1200329"/>
          </a:xfrm>
          <a:prstGeom prst="rect">
            <a:avLst/>
          </a:prstGeom>
          <a:noFill/>
        </p:spPr>
        <p:txBody>
          <a:bodyPr wrap="square" rtlCol="0">
            <a:spAutoFit/>
          </a:bodyPr>
          <a:lstStyle/>
          <a:p>
            <a:r>
              <a:rPr lang="en-US" dirty="0"/>
              <a:t>Generation of 3D scenes of intercrops through time</a:t>
            </a:r>
          </a:p>
        </p:txBody>
      </p:sp>
      <p:pic>
        <p:nvPicPr>
          <p:cNvPr id="127" name="Graphic 126">
            <a:extLst>
              <a:ext uri="{FF2B5EF4-FFF2-40B4-BE49-F238E27FC236}">
                <a16:creationId xmlns:a16="http://schemas.microsoft.com/office/drawing/2014/main" id="{91CA342E-D9F3-465D-9E40-2AFD6DFC5AE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225690" y="5776127"/>
            <a:ext cx="953848" cy="738463"/>
          </a:xfrm>
          <a:prstGeom prst="rect">
            <a:avLst/>
          </a:prstGeom>
        </p:spPr>
      </p:pic>
    </p:spTree>
    <p:extLst>
      <p:ext uri="{BB962C8B-B14F-4D97-AF65-F5344CB8AC3E}">
        <p14:creationId xmlns:p14="http://schemas.microsoft.com/office/powerpoint/2010/main" val="26522626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BF8D5E98-A9ED-4B1A-9C6F-B88D4E769A89}"/>
              </a:ext>
            </a:extLst>
          </p:cNvPr>
          <p:cNvSpPr/>
          <p:nvPr/>
        </p:nvSpPr>
        <p:spPr>
          <a:xfrm>
            <a:off x="2045127" y="1460923"/>
            <a:ext cx="1973063" cy="1200329"/>
          </a:xfrm>
          <a:prstGeom prst="ellipse">
            <a:avLst/>
          </a:prstGeom>
          <a:solidFill>
            <a:srgbClr val="F39200"/>
          </a:solidFill>
          <a:ln>
            <a:solidFill>
              <a:srgbClr val="F39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Simulation </a:t>
            </a:r>
          </a:p>
          <a:p>
            <a:pPr algn="ctr"/>
            <a:r>
              <a:rPr lang="fr-FR" dirty="0" err="1"/>
              <a:t>with</a:t>
            </a:r>
            <a:r>
              <a:rPr lang="fr-FR" dirty="0"/>
              <a:t> </a:t>
            </a:r>
            <a:r>
              <a:rPr lang="fr-FR" dirty="0" err="1"/>
              <a:t>crop</a:t>
            </a:r>
            <a:r>
              <a:rPr lang="fr-FR" dirty="0"/>
              <a:t> model</a:t>
            </a:r>
            <a:endParaRPr lang="en-US" dirty="0"/>
          </a:p>
        </p:txBody>
      </p:sp>
      <p:cxnSp>
        <p:nvCxnSpPr>
          <p:cNvPr id="56" name="Straight Arrow Connector 55">
            <a:extLst>
              <a:ext uri="{FF2B5EF4-FFF2-40B4-BE49-F238E27FC236}">
                <a16:creationId xmlns:a16="http://schemas.microsoft.com/office/drawing/2014/main" id="{A725A07B-B392-48E1-9B1B-615B5E5E3067}"/>
              </a:ext>
            </a:extLst>
          </p:cNvPr>
          <p:cNvCxnSpPr>
            <a:cxnSpLocks/>
            <a:stCxn id="4" idx="6"/>
            <a:endCxn id="225" idx="1"/>
          </p:cNvCxnSpPr>
          <p:nvPr/>
        </p:nvCxnSpPr>
        <p:spPr>
          <a:xfrm>
            <a:off x="4018190" y="2061088"/>
            <a:ext cx="657742" cy="1"/>
          </a:xfrm>
          <a:prstGeom prst="straightConnector1">
            <a:avLst/>
          </a:prstGeom>
          <a:ln>
            <a:solidFill>
              <a:srgbClr val="F39200"/>
            </a:solidFill>
            <a:tailEnd type="triangle"/>
          </a:ln>
        </p:spPr>
        <p:style>
          <a:lnRef idx="2">
            <a:schemeClr val="accent1"/>
          </a:lnRef>
          <a:fillRef idx="0">
            <a:schemeClr val="accent1"/>
          </a:fillRef>
          <a:effectRef idx="1">
            <a:schemeClr val="accent1"/>
          </a:effectRef>
          <a:fontRef idx="minor">
            <a:schemeClr val="tx1"/>
          </a:fontRef>
        </p:style>
      </p:cxnSp>
      <p:sp>
        <p:nvSpPr>
          <p:cNvPr id="64" name="TextBox 63">
            <a:extLst>
              <a:ext uri="{FF2B5EF4-FFF2-40B4-BE49-F238E27FC236}">
                <a16:creationId xmlns:a16="http://schemas.microsoft.com/office/drawing/2014/main" id="{90DD7BA7-D334-42DA-8798-DC47128D6220}"/>
              </a:ext>
            </a:extLst>
          </p:cNvPr>
          <p:cNvSpPr txBox="1"/>
          <p:nvPr/>
        </p:nvSpPr>
        <p:spPr>
          <a:xfrm>
            <a:off x="8759462" y="1183924"/>
            <a:ext cx="3165846" cy="1754326"/>
          </a:xfrm>
          <a:prstGeom prst="rect">
            <a:avLst/>
          </a:prstGeom>
          <a:ln>
            <a:solidFill>
              <a:srgbClr val="399758"/>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fr-FR" u="sng" dirty="0" err="1"/>
              <a:t>GxG</a:t>
            </a:r>
            <a:r>
              <a:rPr lang="fr-FR" u="sng" dirty="0"/>
              <a:t> </a:t>
            </a:r>
            <a:r>
              <a:rPr lang="fr-FR" u="sng" dirty="0" err="1"/>
              <a:t>experimental</a:t>
            </a:r>
            <a:r>
              <a:rPr lang="fr-FR" u="sng" dirty="0"/>
              <a:t> design :</a:t>
            </a:r>
          </a:p>
          <a:p>
            <a:pPr algn="ctr"/>
            <a:r>
              <a:rPr lang="fr-FR" dirty="0" err="1"/>
              <a:t>Morphospace</a:t>
            </a:r>
            <a:r>
              <a:rPr lang="fr-FR" dirty="0"/>
              <a:t> </a:t>
            </a:r>
            <a:r>
              <a:rPr lang="fr-FR" dirty="0" err="1"/>
              <a:t>species</a:t>
            </a:r>
            <a:r>
              <a:rPr lang="fr-FR" dirty="0"/>
              <a:t> 1</a:t>
            </a:r>
          </a:p>
          <a:p>
            <a:pPr algn="ctr"/>
            <a:r>
              <a:rPr lang="fr-FR" dirty="0"/>
              <a:t>x </a:t>
            </a:r>
          </a:p>
          <a:p>
            <a:pPr algn="ctr"/>
            <a:r>
              <a:rPr lang="fr-FR" dirty="0" err="1"/>
              <a:t>Morphospace</a:t>
            </a:r>
            <a:r>
              <a:rPr lang="fr-FR" dirty="0"/>
              <a:t> </a:t>
            </a:r>
            <a:r>
              <a:rPr lang="fr-FR" dirty="0" err="1"/>
              <a:t>species</a:t>
            </a:r>
            <a:r>
              <a:rPr lang="fr-FR" dirty="0"/>
              <a:t> 2</a:t>
            </a:r>
          </a:p>
          <a:p>
            <a:pPr algn="ctr"/>
            <a:r>
              <a:rPr lang="fr-FR" dirty="0"/>
              <a:t>x</a:t>
            </a:r>
          </a:p>
          <a:p>
            <a:pPr algn="ctr"/>
            <a:r>
              <a:rPr lang="fr-FR" dirty="0"/>
              <a:t> Spatial configurations</a:t>
            </a:r>
            <a:endParaRPr lang="en-US" dirty="0"/>
          </a:p>
        </p:txBody>
      </p:sp>
      <p:sp>
        <p:nvSpPr>
          <p:cNvPr id="92" name="Oval 91">
            <a:extLst>
              <a:ext uri="{FF2B5EF4-FFF2-40B4-BE49-F238E27FC236}">
                <a16:creationId xmlns:a16="http://schemas.microsoft.com/office/drawing/2014/main" id="{CB597C63-2200-4969-99FD-7D38A391A978}"/>
              </a:ext>
            </a:extLst>
          </p:cNvPr>
          <p:cNvSpPr/>
          <p:nvPr/>
        </p:nvSpPr>
        <p:spPr>
          <a:xfrm>
            <a:off x="6688581" y="1673990"/>
            <a:ext cx="1587139" cy="774197"/>
          </a:xfrm>
          <a:prstGeom prst="ellipse">
            <a:avLst/>
          </a:prstGeom>
          <a:solidFill>
            <a:srgbClr val="399758"/>
          </a:solidFill>
          <a:ln>
            <a:solidFill>
              <a:srgbClr val="399758"/>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dirty="0" err="1"/>
              <a:t>ArchiCrop</a:t>
            </a:r>
            <a:endParaRPr lang="en-US" dirty="0"/>
          </a:p>
        </p:txBody>
      </p:sp>
      <p:cxnSp>
        <p:nvCxnSpPr>
          <p:cNvPr id="121" name="Straight Arrow Connector 120">
            <a:extLst>
              <a:ext uri="{FF2B5EF4-FFF2-40B4-BE49-F238E27FC236}">
                <a16:creationId xmlns:a16="http://schemas.microsoft.com/office/drawing/2014/main" id="{DE54F91A-3F31-4C08-B255-6A909CF1983B}"/>
              </a:ext>
            </a:extLst>
          </p:cNvPr>
          <p:cNvCxnSpPr>
            <a:cxnSpLocks/>
            <a:stCxn id="225" idx="3"/>
            <a:endCxn id="92" idx="2"/>
          </p:cNvCxnSpPr>
          <p:nvPr/>
        </p:nvCxnSpPr>
        <p:spPr>
          <a:xfrm>
            <a:off x="6298496" y="2061089"/>
            <a:ext cx="390085" cy="0"/>
          </a:xfrm>
          <a:prstGeom prst="straightConnector1">
            <a:avLst/>
          </a:prstGeom>
          <a:ln w="19050">
            <a:solidFill>
              <a:srgbClr val="F39200"/>
            </a:solidFill>
            <a:tailEnd type="triangle"/>
          </a:ln>
        </p:spPr>
        <p:style>
          <a:lnRef idx="2">
            <a:schemeClr val="accent1"/>
          </a:lnRef>
          <a:fillRef idx="0">
            <a:schemeClr val="accent1"/>
          </a:fillRef>
          <a:effectRef idx="1">
            <a:schemeClr val="accent1"/>
          </a:effectRef>
          <a:fontRef idx="minor">
            <a:schemeClr val="tx1"/>
          </a:fontRef>
        </p:style>
      </p:cxnSp>
      <p:cxnSp>
        <p:nvCxnSpPr>
          <p:cNvPr id="144" name="Straight Arrow Connector 143">
            <a:extLst>
              <a:ext uri="{FF2B5EF4-FFF2-40B4-BE49-F238E27FC236}">
                <a16:creationId xmlns:a16="http://schemas.microsoft.com/office/drawing/2014/main" id="{1D6825E1-A317-49D2-B24E-592ADE65AAFF}"/>
              </a:ext>
            </a:extLst>
          </p:cNvPr>
          <p:cNvCxnSpPr>
            <a:cxnSpLocks/>
            <a:stCxn id="64" idx="1"/>
            <a:endCxn id="92" idx="6"/>
          </p:cNvCxnSpPr>
          <p:nvPr/>
        </p:nvCxnSpPr>
        <p:spPr>
          <a:xfrm flipH="1">
            <a:off x="8275720" y="2061087"/>
            <a:ext cx="483742" cy="2"/>
          </a:xfrm>
          <a:prstGeom prst="straightConnector1">
            <a:avLst/>
          </a:prstGeom>
          <a:ln>
            <a:solidFill>
              <a:srgbClr val="399758"/>
            </a:solidFill>
            <a:tailEnd type="triangle"/>
          </a:ln>
        </p:spPr>
        <p:style>
          <a:lnRef idx="2">
            <a:schemeClr val="accent2"/>
          </a:lnRef>
          <a:fillRef idx="0">
            <a:schemeClr val="accent2"/>
          </a:fillRef>
          <a:effectRef idx="1">
            <a:schemeClr val="accent2"/>
          </a:effectRef>
          <a:fontRef idx="minor">
            <a:schemeClr val="tx1"/>
          </a:fontRef>
        </p:style>
      </p:cxnSp>
      <p:cxnSp>
        <p:nvCxnSpPr>
          <p:cNvPr id="160" name="Straight Arrow Connector 159">
            <a:extLst>
              <a:ext uri="{FF2B5EF4-FFF2-40B4-BE49-F238E27FC236}">
                <a16:creationId xmlns:a16="http://schemas.microsoft.com/office/drawing/2014/main" id="{919C5013-02BF-41E9-BB1E-3424C33C7527}"/>
              </a:ext>
            </a:extLst>
          </p:cNvPr>
          <p:cNvCxnSpPr>
            <a:cxnSpLocks/>
            <a:stCxn id="40" idx="1"/>
            <a:endCxn id="43" idx="3"/>
          </p:cNvCxnSpPr>
          <p:nvPr/>
        </p:nvCxnSpPr>
        <p:spPr>
          <a:xfrm flipH="1" flipV="1">
            <a:off x="4892160" y="5239590"/>
            <a:ext cx="1363656" cy="11431"/>
          </a:xfrm>
          <a:prstGeom prst="straightConnector1">
            <a:avLst/>
          </a:prstGeom>
          <a:ln w="38100">
            <a:solidFill>
              <a:srgbClr val="FFC000"/>
            </a:solidFill>
            <a:tailEnd type="triangle"/>
          </a:ln>
        </p:spPr>
        <p:style>
          <a:lnRef idx="1">
            <a:schemeClr val="accent2"/>
          </a:lnRef>
          <a:fillRef idx="0">
            <a:schemeClr val="accent2"/>
          </a:fillRef>
          <a:effectRef idx="0">
            <a:schemeClr val="accent2"/>
          </a:effectRef>
          <a:fontRef idx="minor">
            <a:schemeClr val="tx1"/>
          </a:fontRef>
        </p:style>
      </p:cxnSp>
      <p:sp>
        <p:nvSpPr>
          <p:cNvPr id="216" name="Slide Number Placeholder 215">
            <a:extLst>
              <a:ext uri="{FF2B5EF4-FFF2-40B4-BE49-F238E27FC236}">
                <a16:creationId xmlns:a16="http://schemas.microsoft.com/office/drawing/2014/main" id="{22635BB3-F18C-4F56-9652-2BBB1E754F7F}"/>
              </a:ext>
            </a:extLst>
          </p:cNvPr>
          <p:cNvSpPr>
            <a:spLocks noGrp="1"/>
          </p:cNvSpPr>
          <p:nvPr>
            <p:ph type="sldNum" sz="quarter" idx="12"/>
          </p:nvPr>
        </p:nvSpPr>
        <p:spPr/>
        <p:txBody>
          <a:bodyPr/>
          <a:lstStyle/>
          <a:p>
            <a:fld id="{27C6CCC6-2BE5-4E42-96A4-D1E8E81A3D8E}" type="slidenum">
              <a:rPr lang="fr-FR" smtClean="0"/>
              <a:t>19</a:t>
            </a:fld>
            <a:endParaRPr lang="fr-FR"/>
          </a:p>
        </p:txBody>
      </p:sp>
      <p:sp>
        <p:nvSpPr>
          <p:cNvPr id="225" name="Rectangle 224">
            <a:extLst>
              <a:ext uri="{FF2B5EF4-FFF2-40B4-BE49-F238E27FC236}">
                <a16:creationId xmlns:a16="http://schemas.microsoft.com/office/drawing/2014/main" id="{67F96804-BA90-4859-AE40-3D2391C4C00B}"/>
              </a:ext>
            </a:extLst>
          </p:cNvPr>
          <p:cNvSpPr/>
          <p:nvPr/>
        </p:nvSpPr>
        <p:spPr>
          <a:xfrm>
            <a:off x="4675932" y="1492891"/>
            <a:ext cx="1622564" cy="1136395"/>
          </a:xfrm>
          <a:prstGeom prst="rect">
            <a:avLst/>
          </a:prstGeom>
          <a:solidFill>
            <a:srgbClr val="F39200"/>
          </a:solidFill>
          <a:ln>
            <a:solidFill>
              <a:srgbClr val="F39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err="1"/>
              <a:t>Growth</a:t>
            </a:r>
            <a:r>
              <a:rPr lang="fr-FR" dirty="0"/>
              <a:t> </a:t>
            </a:r>
            <a:r>
              <a:rPr lang="fr-FR" dirty="0" err="1"/>
              <a:t>dynamics</a:t>
            </a:r>
            <a:endParaRPr lang="fr-FR" dirty="0"/>
          </a:p>
          <a:p>
            <a:pPr algn="ctr"/>
            <a:r>
              <a:rPr lang="fr-FR" dirty="0"/>
              <a:t>LAI(t), </a:t>
            </a:r>
            <a:r>
              <a:rPr lang="fr-FR" dirty="0" err="1"/>
              <a:t>height</a:t>
            </a:r>
            <a:r>
              <a:rPr lang="fr-FR" dirty="0"/>
              <a:t>(t)</a:t>
            </a:r>
            <a:endParaRPr lang="en-US" dirty="0"/>
          </a:p>
        </p:txBody>
      </p:sp>
      <p:pic>
        <p:nvPicPr>
          <p:cNvPr id="7" name="Picture 6">
            <a:extLst>
              <a:ext uri="{FF2B5EF4-FFF2-40B4-BE49-F238E27FC236}">
                <a16:creationId xmlns:a16="http://schemas.microsoft.com/office/drawing/2014/main" id="{B1C72EC1-E0E9-4E25-873C-3B0F039BFB5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73348" y="2661252"/>
            <a:ext cx="1027732" cy="804049"/>
          </a:xfrm>
          <a:prstGeom prst="rect">
            <a:avLst/>
          </a:prstGeom>
        </p:spPr>
      </p:pic>
      <p:sp>
        <p:nvSpPr>
          <p:cNvPr id="28" name="TextBox 27">
            <a:extLst>
              <a:ext uri="{FF2B5EF4-FFF2-40B4-BE49-F238E27FC236}">
                <a16:creationId xmlns:a16="http://schemas.microsoft.com/office/drawing/2014/main" id="{EF4BE47E-4493-430D-8668-242A88BCBEC4}"/>
              </a:ext>
            </a:extLst>
          </p:cNvPr>
          <p:cNvSpPr txBox="1"/>
          <p:nvPr/>
        </p:nvSpPr>
        <p:spPr>
          <a:xfrm>
            <a:off x="963391" y="4335249"/>
            <a:ext cx="1428238" cy="1754326"/>
          </a:xfrm>
          <a:prstGeom prst="rect">
            <a:avLst/>
          </a:prstGeom>
          <a:noFill/>
        </p:spPr>
        <p:txBody>
          <a:bodyPr wrap="square" rtlCol="0">
            <a:spAutoFit/>
          </a:bodyPr>
          <a:lstStyle/>
          <a:p>
            <a:r>
              <a:rPr lang="en-US" dirty="0"/>
              <a:t>Computation of light interception at organ scale using </a:t>
            </a:r>
            <a:r>
              <a:rPr lang="en-US" dirty="0" err="1"/>
              <a:t>Caribu</a:t>
            </a:r>
            <a:endParaRPr lang="en-US" dirty="0"/>
          </a:p>
        </p:txBody>
      </p:sp>
      <p:pic>
        <p:nvPicPr>
          <p:cNvPr id="54" name="Picture 53">
            <a:extLst>
              <a:ext uri="{FF2B5EF4-FFF2-40B4-BE49-F238E27FC236}">
                <a16:creationId xmlns:a16="http://schemas.microsoft.com/office/drawing/2014/main" id="{E4DF114A-8F90-4E4B-84CF-9688162B6045}"/>
              </a:ext>
            </a:extLst>
          </p:cNvPr>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526199" y="1170900"/>
            <a:ext cx="870700" cy="670031"/>
          </a:xfrm>
          <a:prstGeom prst="rect">
            <a:avLst/>
          </a:prstGeom>
        </p:spPr>
      </p:pic>
      <p:pic>
        <p:nvPicPr>
          <p:cNvPr id="40" name="Picture 39">
            <a:extLst>
              <a:ext uri="{FF2B5EF4-FFF2-40B4-BE49-F238E27FC236}">
                <a16:creationId xmlns:a16="http://schemas.microsoft.com/office/drawing/2014/main" id="{6992F506-00A7-45E4-974F-188C2E356AF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55816" y="3963129"/>
            <a:ext cx="2354784" cy="2575783"/>
          </a:xfrm>
          <a:prstGeom prst="rect">
            <a:avLst/>
          </a:prstGeom>
        </p:spPr>
      </p:pic>
      <p:pic>
        <p:nvPicPr>
          <p:cNvPr id="43" name="Picture 42">
            <a:extLst>
              <a:ext uri="{FF2B5EF4-FFF2-40B4-BE49-F238E27FC236}">
                <a16:creationId xmlns:a16="http://schemas.microsoft.com/office/drawing/2014/main" id="{0A740BA8-7976-4CCB-9873-FF833851F73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37376" y="3940267"/>
            <a:ext cx="2354784" cy="2598645"/>
          </a:xfrm>
          <a:prstGeom prst="rect">
            <a:avLst/>
          </a:prstGeom>
        </p:spPr>
      </p:pic>
      <p:cxnSp>
        <p:nvCxnSpPr>
          <p:cNvPr id="84" name="Straight Arrow Connector 83">
            <a:extLst>
              <a:ext uri="{FF2B5EF4-FFF2-40B4-BE49-F238E27FC236}">
                <a16:creationId xmlns:a16="http://schemas.microsoft.com/office/drawing/2014/main" id="{01B9C1C0-3153-4D27-8144-9C630F7C6BB5}"/>
              </a:ext>
            </a:extLst>
          </p:cNvPr>
          <p:cNvCxnSpPr>
            <a:cxnSpLocks/>
            <a:stCxn id="92" idx="4"/>
          </p:cNvCxnSpPr>
          <p:nvPr/>
        </p:nvCxnSpPr>
        <p:spPr>
          <a:xfrm>
            <a:off x="7482151" y="2448187"/>
            <a:ext cx="0" cy="1156550"/>
          </a:xfrm>
          <a:prstGeom prst="straightConnector1">
            <a:avLst/>
          </a:prstGeom>
          <a:ln>
            <a:solidFill>
              <a:srgbClr val="399758"/>
            </a:solidFill>
            <a:tailEnd type="triangle"/>
          </a:ln>
        </p:spPr>
        <p:style>
          <a:lnRef idx="2">
            <a:schemeClr val="accent2"/>
          </a:lnRef>
          <a:fillRef idx="0">
            <a:schemeClr val="accent2"/>
          </a:fillRef>
          <a:effectRef idx="1">
            <a:schemeClr val="accent2"/>
          </a:effectRef>
          <a:fontRef idx="minor">
            <a:schemeClr val="tx1"/>
          </a:fontRef>
        </p:style>
      </p:cxnSp>
      <p:sp>
        <p:nvSpPr>
          <p:cNvPr id="97" name="TextBox 96">
            <a:extLst>
              <a:ext uri="{FF2B5EF4-FFF2-40B4-BE49-F238E27FC236}">
                <a16:creationId xmlns:a16="http://schemas.microsoft.com/office/drawing/2014/main" id="{60B162AF-81D8-4B23-B994-8A2940E4EE68}"/>
              </a:ext>
            </a:extLst>
          </p:cNvPr>
          <p:cNvSpPr txBox="1"/>
          <p:nvPr/>
        </p:nvSpPr>
        <p:spPr>
          <a:xfrm>
            <a:off x="221811" y="1599422"/>
            <a:ext cx="1426531" cy="923330"/>
          </a:xfrm>
          <a:prstGeom prst="rect">
            <a:avLst/>
          </a:prstGeom>
          <a:ln>
            <a:solidFill>
              <a:srgbClr val="F392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fr-FR" u="sng" dirty="0" err="1"/>
              <a:t>ExM</a:t>
            </a:r>
            <a:r>
              <a:rPr lang="fr-FR" u="sng" dirty="0"/>
              <a:t> </a:t>
            </a:r>
            <a:r>
              <a:rPr lang="fr-FR" u="sng" dirty="0" err="1"/>
              <a:t>experimental</a:t>
            </a:r>
            <a:r>
              <a:rPr lang="fr-FR" u="sng" dirty="0"/>
              <a:t> design</a:t>
            </a:r>
          </a:p>
        </p:txBody>
      </p:sp>
      <p:cxnSp>
        <p:nvCxnSpPr>
          <p:cNvPr id="112" name="Straight Arrow Connector 111">
            <a:extLst>
              <a:ext uri="{FF2B5EF4-FFF2-40B4-BE49-F238E27FC236}">
                <a16:creationId xmlns:a16="http://schemas.microsoft.com/office/drawing/2014/main" id="{C444704C-DB06-466B-9457-D5A78CF7150E}"/>
              </a:ext>
            </a:extLst>
          </p:cNvPr>
          <p:cNvCxnSpPr>
            <a:cxnSpLocks/>
            <a:stCxn id="97" idx="3"/>
            <a:endCxn id="4" idx="2"/>
          </p:cNvCxnSpPr>
          <p:nvPr/>
        </p:nvCxnSpPr>
        <p:spPr>
          <a:xfrm>
            <a:off x="1648342" y="2061087"/>
            <a:ext cx="396785" cy="1"/>
          </a:xfrm>
          <a:prstGeom prst="straightConnector1">
            <a:avLst/>
          </a:prstGeom>
          <a:ln>
            <a:solidFill>
              <a:srgbClr val="F39200"/>
            </a:solidFill>
            <a:tailEnd type="triangle"/>
          </a:ln>
        </p:spPr>
        <p:style>
          <a:lnRef idx="2">
            <a:schemeClr val="accent1"/>
          </a:lnRef>
          <a:fillRef idx="0">
            <a:schemeClr val="accent1"/>
          </a:fillRef>
          <a:effectRef idx="1">
            <a:schemeClr val="accent1"/>
          </a:effectRef>
          <a:fontRef idx="minor">
            <a:schemeClr val="tx1"/>
          </a:fontRef>
        </p:style>
      </p:cxnSp>
      <p:pic>
        <p:nvPicPr>
          <p:cNvPr id="22" name="Graphic 21">
            <a:extLst>
              <a:ext uri="{FF2B5EF4-FFF2-40B4-BE49-F238E27FC236}">
                <a16:creationId xmlns:a16="http://schemas.microsoft.com/office/drawing/2014/main" id="{E1EF665B-348B-41F5-A183-36E919F58A8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225690" y="5776127"/>
            <a:ext cx="953848" cy="738463"/>
          </a:xfrm>
          <a:prstGeom prst="rect">
            <a:avLst/>
          </a:prstGeom>
        </p:spPr>
      </p:pic>
      <p:sp>
        <p:nvSpPr>
          <p:cNvPr id="25" name="Title 1">
            <a:extLst>
              <a:ext uri="{FF2B5EF4-FFF2-40B4-BE49-F238E27FC236}">
                <a16:creationId xmlns:a16="http://schemas.microsoft.com/office/drawing/2014/main" id="{9C4BA10D-CF77-4EFD-AE03-53F2A554E2CD}"/>
              </a:ext>
            </a:extLst>
          </p:cNvPr>
          <p:cNvSpPr txBox="1">
            <a:spLocks/>
          </p:cNvSpPr>
          <p:nvPr/>
        </p:nvSpPr>
        <p:spPr>
          <a:xfrm>
            <a:off x="846667" y="216561"/>
            <a:ext cx="10795984" cy="8040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4000"/>
              <a:t>Workflow of simulations of intercrops through time</a:t>
            </a:r>
            <a:endParaRPr lang="en-US" sz="4000" dirty="0"/>
          </a:p>
        </p:txBody>
      </p:sp>
    </p:spTree>
    <p:extLst>
      <p:ext uri="{BB962C8B-B14F-4D97-AF65-F5344CB8AC3E}">
        <p14:creationId xmlns:p14="http://schemas.microsoft.com/office/powerpoint/2010/main" val="39406964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BF8D5E98-A9ED-4B1A-9C6F-B88D4E769A89}"/>
              </a:ext>
            </a:extLst>
          </p:cNvPr>
          <p:cNvSpPr/>
          <p:nvPr/>
        </p:nvSpPr>
        <p:spPr>
          <a:xfrm>
            <a:off x="2045127" y="1460923"/>
            <a:ext cx="1973063" cy="1200329"/>
          </a:xfrm>
          <a:prstGeom prst="ellipse">
            <a:avLst/>
          </a:prstGeom>
          <a:solidFill>
            <a:srgbClr val="F39200"/>
          </a:solidFill>
          <a:ln>
            <a:solidFill>
              <a:srgbClr val="F39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Simulation </a:t>
            </a:r>
          </a:p>
          <a:p>
            <a:pPr algn="ctr"/>
            <a:r>
              <a:rPr lang="fr-FR" dirty="0" err="1"/>
              <a:t>with</a:t>
            </a:r>
            <a:r>
              <a:rPr lang="fr-FR" dirty="0"/>
              <a:t> </a:t>
            </a:r>
            <a:r>
              <a:rPr lang="fr-FR" dirty="0" err="1"/>
              <a:t>crop</a:t>
            </a:r>
            <a:r>
              <a:rPr lang="fr-FR" dirty="0"/>
              <a:t> model</a:t>
            </a:r>
            <a:endParaRPr lang="en-US" dirty="0"/>
          </a:p>
        </p:txBody>
      </p:sp>
      <p:cxnSp>
        <p:nvCxnSpPr>
          <p:cNvPr id="56" name="Straight Arrow Connector 55">
            <a:extLst>
              <a:ext uri="{FF2B5EF4-FFF2-40B4-BE49-F238E27FC236}">
                <a16:creationId xmlns:a16="http://schemas.microsoft.com/office/drawing/2014/main" id="{A725A07B-B392-48E1-9B1B-615B5E5E3067}"/>
              </a:ext>
            </a:extLst>
          </p:cNvPr>
          <p:cNvCxnSpPr>
            <a:cxnSpLocks/>
            <a:stCxn id="4" idx="6"/>
            <a:endCxn id="225" idx="1"/>
          </p:cNvCxnSpPr>
          <p:nvPr/>
        </p:nvCxnSpPr>
        <p:spPr>
          <a:xfrm>
            <a:off x="4018190" y="2061088"/>
            <a:ext cx="657742" cy="1"/>
          </a:xfrm>
          <a:prstGeom prst="straightConnector1">
            <a:avLst/>
          </a:prstGeom>
          <a:ln>
            <a:solidFill>
              <a:srgbClr val="F39200"/>
            </a:solidFill>
            <a:tailEnd type="triangle"/>
          </a:ln>
        </p:spPr>
        <p:style>
          <a:lnRef idx="2">
            <a:schemeClr val="accent1"/>
          </a:lnRef>
          <a:fillRef idx="0">
            <a:schemeClr val="accent1"/>
          </a:fillRef>
          <a:effectRef idx="1">
            <a:schemeClr val="accent1"/>
          </a:effectRef>
          <a:fontRef idx="minor">
            <a:schemeClr val="tx1"/>
          </a:fontRef>
        </p:style>
      </p:cxnSp>
      <p:sp>
        <p:nvSpPr>
          <p:cNvPr id="64" name="TextBox 63">
            <a:extLst>
              <a:ext uri="{FF2B5EF4-FFF2-40B4-BE49-F238E27FC236}">
                <a16:creationId xmlns:a16="http://schemas.microsoft.com/office/drawing/2014/main" id="{90DD7BA7-D334-42DA-8798-DC47128D6220}"/>
              </a:ext>
            </a:extLst>
          </p:cNvPr>
          <p:cNvSpPr txBox="1"/>
          <p:nvPr/>
        </p:nvSpPr>
        <p:spPr>
          <a:xfrm>
            <a:off x="8759462" y="1183924"/>
            <a:ext cx="3165846" cy="1754326"/>
          </a:xfrm>
          <a:prstGeom prst="rect">
            <a:avLst/>
          </a:prstGeom>
          <a:ln>
            <a:solidFill>
              <a:srgbClr val="399758"/>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fr-FR" u="sng" dirty="0" err="1"/>
              <a:t>GxG</a:t>
            </a:r>
            <a:r>
              <a:rPr lang="fr-FR" u="sng" dirty="0"/>
              <a:t> </a:t>
            </a:r>
            <a:r>
              <a:rPr lang="fr-FR" u="sng" dirty="0" err="1"/>
              <a:t>experimental</a:t>
            </a:r>
            <a:r>
              <a:rPr lang="fr-FR" u="sng" dirty="0"/>
              <a:t> design :</a:t>
            </a:r>
          </a:p>
          <a:p>
            <a:pPr algn="ctr"/>
            <a:r>
              <a:rPr lang="fr-FR" dirty="0" err="1"/>
              <a:t>Morphospace</a:t>
            </a:r>
            <a:r>
              <a:rPr lang="fr-FR" dirty="0"/>
              <a:t> </a:t>
            </a:r>
            <a:r>
              <a:rPr lang="fr-FR" dirty="0" err="1"/>
              <a:t>species</a:t>
            </a:r>
            <a:r>
              <a:rPr lang="fr-FR" dirty="0"/>
              <a:t> 1</a:t>
            </a:r>
          </a:p>
          <a:p>
            <a:pPr algn="ctr"/>
            <a:r>
              <a:rPr lang="fr-FR" dirty="0"/>
              <a:t>x </a:t>
            </a:r>
          </a:p>
          <a:p>
            <a:pPr algn="ctr"/>
            <a:r>
              <a:rPr lang="fr-FR" dirty="0" err="1"/>
              <a:t>Morphospace</a:t>
            </a:r>
            <a:r>
              <a:rPr lang="fr-FR" dirty="0"/>
              <a:t> </a:t>
            </a:r>
            <a:r>
              <a:rPr lang="fr-FR" dirty="0" err="1"/>
              <a:t>species</a:t>
            </a:r>
            <a:r>
              <a:rPr lang="fr-FR" dirty="0"/>
              <a:t> 2</a:t>
            </a:r>
          </a:p>
          <a:p>
            <a:pPr algn="ctr"/>
            <a:r>
              <a:rPr lang="fr-FR" dirty="0"/>
              <a:t>x</a:t>
            </a:r>
          </a:p>
          <a:p>
            <a:pPr algn="ctr"/>
            <a:r>
              <a:rPr lang="fr-FR" dirty="0"/>
              <a:t> Spatial configurations</a:t>
            </a:r>
            <a:endParaRPr lang="en-US" dirty="0"/>
          </a:p>
        </p:txBody>
      </p:sp>
      <p:sp>
        <p:nvSpPr>
          <p:cNvPr id="92" name="Oval 91">
            <a:extLst>
              <a:ext uri="{FF2B5EF4-FFF2-40B4-BE49-F238E27FC236}">
                <a16:creationId xmlns:a16="http://schemas.microsoft.com/office/drawing/2014/main" id="{CB597C63-2200-4969-99FD-7D38A391A978}"/>
              </a:ext>
            </a:extLst>
          </p:cNvPr>
          <p:cNvSpPr/>
          <p:nvPr/>
        </p:nvSpPr>
        <p:spPr>
          <a:xfrm>
            <a:off x="6688581" y="1673990"/>
            <a:ext cx="1587139" cy="774197"/>
          </a:xfrm>
          <a:prstGeom prst="ellipse">
            <a:avLst/>
          </a:prstGeom>
          <a:solidFill>
            <a:srgbClr val="399758"/>
          </a:solidFill>
          <a:ln>
            <a:solidFill>
              <a:srgbClr val="399758"/>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dirty="0" err="1"/>
              <a:t>ArchiCrop</a:t>
            </a:r>
            <a:endParaRPr lang="en-US" dirty="0"/>
          </a:p>
        </p:txBody>
      </p:sp>
      <p:cxnSp>
        <p:nvCxnSpPr>
          <p:cNvPr id="121" name="Straight Arrow Connector 120">
            <a:extLst>
              <a:ext uri="{FF2B5EF4-FFF2-40B4-BE49-F238E27FC236}">
                <a16:creationId xmlns:a16="http://schemas.microsoft.com/office/drawing/2014/main" id="{DE54F91A-3F31-4C08-B255-6A909CF1983B}"/>
              </a:ext>
            </a:extLst>
          </p:cNvPr>
          <p:cNvCxnSpPr>
            <a:cxnSpLocks/>
            <a:stCxn id="225" idx="3"/>
            <a:endCxn id="92" idx="2"/>
          </p:cNvCxnSpPr>
          <p:nvPr/>
        </p:nvCxnSpPr>
        <p:spPr>
          <a:xfrm>
            <a:off x="6298496" y="2061089"/>
            <a:ext cx="390085" cy="0"/>
          </a:xfrm>
          <a:prstGeom prst="straightConnector1">
            <a:avLst/>
          </a:prstGeom>
          <a:ln w="19050">
            <a:solidFill>
              <a:srgbClr val="F39200"/>
            </a:solidFill>
            <a:tailEnd type="triangle"/>
          </a:ln>
        </p:spPr>
        <p:style>
          <a:lnRef idx="2">
            <a:schemeClr val="accent1"/>
          </a:lnRef>
          <a:fillRef idx="0">
            <a:schemeClr val="accent1"/>
          </a:fillRef>
          <a:effectRef idx="1">
            <a:schemeClr val="accent1"/>
          </a:effectRef>
          <a:fontRef idx="minor">
            <a:schemeClr val="tx1"/>
          </a:fontRef>
        </p:style>
      </p:cxnSp>
      <p:cxnSp>
        <p:nvCxnSpPr>
          <p:cNvPr id="144" name="Straight Arrow Connector 143">
            <a:extLst>
              <a:ext uri="{FF2B5EF4-FFF2-40B4-BE49-F238E27FC236}">
                <a16:creationId xmlns:a16="http://schemas.microsoft.com/office/drawing/2014/main" id="{1D6825E1-A317-49D2-B24E-592ADE65AAFF}"/>
              </a:ext>
            </a:extLst>
          </p:cNvPr>
          <p:cNvCxnSpPr>
            <a:cxnSpLocks/>
            <a:stCxn id="64" idx="1"/>
            <a:endCxn id="92" idx="6"/>
          </p:cNvCxnSpPr>
          <p:nvPr/>
        </p:nvCxnSpPr>
        <p:spPr>
          <a:xfrm flipH="1">
            <a:off x="8275720" y="2061087"/>
            <a:ext cx="483742" cy="2"/>
          </a:xfrm>
          <a:prstGeom prst="straightConnector1">
            <a:avLst/>
          </a:prstGeom>
          <a:ln>
            <a:solidFill>
              <a:srgbClr val="399758"/>
            </a:solidFill>
            <a:tailEnd type="triangle"/>
          </a:ln>
        </p:spPr>
        <p:style>
          <a:lnRef idx="2">
            <a:schemeClr val="accent2"/>
          </a:lnRef>
          <a:fillRef idx="0">
            <a:schemeClr val="accent2"/>
          </a:fillRef>
          <a:effectRef idx="1">
            <a:schemeClr val="accent2"/>
          </a:effectRef>
          <a:fontRef idx="minor">
            <a:schemeClr val="tx1"/>
          </a:fontRef>
        </p:style>
      </p:cxnSp>
      <p:cxnSp>
        <p:nvCxnSpPr>
          <p:cNvPr id="160" name="Straight Arrow Connector 159">
            <a:extLst>
              <a:ext uri="{FF2B5EF4-FFF2-40B4-BE49-F238E27FC236}">
                <a16:creationId xmlns:a16="http://schemas.microsoft.com/office/drawing/2014/main" id="{919C5013-02BF-41E9-BB1E-3424C33C7527}"/>
              </a:ext>
            </a:extLst>
          </p:cNvPr>
          <p:cNvCxnSpPr>
            <a:cxnSpLocks/>
            <a:stCxn id="40" idx="1"/>
            <a:endCxn id="43" idx="3"/>
          </p:cNvCxnSpPr>
          <p:nvPr/>
        </p:nvCxnSpPr>
        <p:spPr>
          <a:xfrm flipH="1" flipV="1">
            <a:off x="4892160" y="5239590"/>
            <a:ext cx="1363656" cy="11431"/>
          </a:xfrm>
          <a:prstGeom prst="straightConnector1">
            <a:avLst/>
          </a:prstGeom>
          <a:ln w="38100">
            <a:solidFill>
              <a:srgbClr val="FFC000"/>
            </a:solidFill>
            <a:tailEnd type="triangle"/>
          </a:ln>
        </p:spPr>
        <p:style>
          <a:lnRef idx="1">
            <a:schemeClr val="accent2"/>
          </a:lnRef>
          <a:fillRef idx="0">
            <a:schemeClr val="accent2"/>
          </a:fillRef>
          <a:effectRef idx="0">
            <a:schemeClr val="accent2"/>
          </a:effectRef>
          <a:fontRef idx="minor">
            <a:schemeClr val="tx1"/>
          </a:fontRef>
        </p:style>
      </p:cxnSp>
      <p:sp>
        <p:nvSpPr>
          <p:cNvPr id="216" name="Slide Number Placeholder 215">
            <a:extLst>
              <a:ext uri="{FF2B5EF4-FFF2-40B4-BE49-F238E27FC236}">
                <a16:creationId xmlns:a16="http://schemas.microsoft.com/office/drawing/2014/main" id="{22635BB3-F18C-4F56-9652-2BBB1E754F7F}"/>
              </a:ext>
            </a:extLst>
          </p:cNvPr>
          <p:cNvSpPr>
            <a:spLocks noGrp="1"/>
          </p:cNvSpPr>
          <p:nvPr>
            <p:ph type="sldNum" sz="quarter" idx="12"/>
          </p:nvPr>
        </p:nvSpPr>
        <p:spPr/>
        <p:txBody>
          <a:bodyPr/>
          <a:lstStyle/>
          <a:p>
            <a:fld id="{27C6CCC6-2BE5-4E42-96A4-D1E8E81A3D8E}" type="slidenum">
              <a:rPr lang="fr-FR" smtClean="0"/>
              <a:t>20</a:t>
            </a:fld>
            <a:endParaRPr lang="fr-FR"/>
          </a:p>
        </p:txBody>
      </p:sp>
      <p:sp>
        <p:nvSpPr>
          <p:cNvPr id="225" name="Rectangle 224">
            <a:extLst>
              <a:ext uri="{FF2B5EF4-FFF2-40B4-BE49-F238E27FC236}">
                <a16:creationId xmlns:a16="http://schemas.microsoft.com/office/drawing/2014/main" id="{67F96804-BA90-4859-AE40-3D2391C4C00B}"/>
              </a:ext>
            </a:extLst>
          </p:cNvPr>
          <p:cNvSpPr/>
          <p:nvPr/>
        </p:nvSpPr>
        <p:spPr>
          <a:xfrm>
            <a:off x="4675932" y="1492891"/>
            <a:ext cx="1622564" cy="1136395"/>
          </a:xfrm>
          <a:prstGeom prst="rect">
            <a:avLst/>
          </a:prstGeom>
          <a:solidFill>
            <a:srgbClr val="F39200"/>
          </a:solidFill>
          <a:ln>
            <a:solidFill>
              <a:srgbClr val="F39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err="1"/>
              <a:t>Growth</a:t>
            </a:r>
            <a:r>
              <a:rPr lang="fr-FR" dirty="0"/>
              <a:t> </a:t>
            </a:r>
            <a:r>
              <a:rPr lang="fr-FR" dirty="0" err="1"/>
              <a:t>dynamics</a:t>
            </a:r>
            <a:endParaRPr lang="fr-FR" dirty="0"/>
          </a:p>
          <a:p>
            <a:pPr algn="ctr"/>
            <a:r>
              <a:rPr lang="fr-FR" dirty="0"/>
              <a:t>LAI(t), </a:t>
            </a:r>
            <a:r>
              <a:rPr lang="fr-FR" dirty="0" err="1"/>
              <a:t>height</a:t>
            </a:r>
            <a:r>
              <a:rPr lang="fr-FR" dirty="0"/>
              <a:t>(t)</a:t>
            </a:r>
            <a:endParaRPr lang="en-US" dirty="0"/>
          </a:p>
        </p:txBody>
      </p:sp>
      <p:pic>
        <p:nvPicPr>
          <p:cNvPr id="7" name="Picture 6">
            <a:extLst>
              <a:ext uri="{FF2B5EF4-FFF2-40B4-BE49-F238E27FC236}">
                <a16:creationId xmlns:a16="http://schemas.microsoft.com/office/drawing/2014/main" id="{B1C72EC1-E0E9-4E25-873C-3B0F039BFB5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73348" y="2661252"/>
            <a:ext cx="1027732" cy="804049"/>
          </a:xfrm>
          <a:prstGeom prst="rect">
            <a:avLst/>
          </a:prstGeom>
        </p:spPr>
      </p:pic>
      <p:pic>
        <p:nvPicPr>
          <p:cNvPr id="54" name="Picture 53">
            <a:extLst>
              <a:ext uri="{FF2B5EF4-FFF2-40B4-BE49-F238E27FC236}">
                <a16:creationId xmlns:a16="http://schemas.microsoft.com/office/drawing/2014/main" id="{E4DF114A-8F90-4E4B-84CF-9688162B6045}"/>
              </a:ext>
            </a:extLst>
          </p:cNvPr>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526199" y="1170900"/>
            <a:ext cx="870700" cy="670031"/>
          </a:xfrm>
          <a:prstGeom prst="rect">
            <a:avLst/>
          </a:prstGeom>
        </p:spPr>
      </p:pic>
      <p:pic>
        <p:nvPicPr>
          <p:cNvPr id="40" name="Picture 39">
            <a:extLst>
              <a:ext uri="{FF2B5EF4-FFF2-40B4-BE49-F238E27FC236}">
                <a16:creationId xmlns:a16="http://schemas.microsoft.com/office/drawing/2014/main" id="{6992F506-00A7-45E4-974F-188C2E356AF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55816" y="3963129"/>
            <a:ext cx="2354784" cy="2575783"/>
          </a:xfrm>
          <a:prstGeom prst="rect">
            <a:avLst/>
          </a:prstGeom>
        </p:spPr>
      </p:pic>
      <p:pic>
        <p:nvPicPr>
          <p:cNvPr id="43" name="Picture 42">
            <a:extLst>
              <a:ext uri="{FF2B5EF4-FFF2-40B4-BE49-F238E27FC236}">
                <a16:creationId xmlns:a16="http://schemas.microsoft.com/office/drawing/2014/main" id="{0A740BA8-7976-4CCB-9873-FF833851F73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37376" y="3940267"/>
            <a:ext cx="2354784" cy="2598645"/>
          </a:xfrm>
          <a:prstGeom prst="rect">
            <a:avLst/>
          </a:prstGeom>
        </p:spPr>
      </p:pic>
      <p:cxnSp>
        <p:nvCxnSpPr>
          <p:cNvPr id="84" name="Straight Arrow Connector 83">
            <a:extLst>
              <a:ext uri="{FF2B5EF4-FFF2-40B4-BE49-F238E27FC236}">
                <a16:creationId xmlns:a16="http://schemas.microsoft.com/office/drawing/2014/main" id="{01B9C1C0-3153-4D27-8144-9C630F7C6BB5}"/>
              </a:ext>
            </a:extLst>
          </p:cNvPr>
          <p:cNvCxnSpPr>
            <a:cxnSpLocks/>
            <a:stCxn id="92" idx="4"/>
          </p:cNvCxnSpPr>
          <p:nvPr/>
        </p:nvCxnSpPr>
        <p:spPr>
          <a:xfrm>
            <a:off x="7482151" y="2448187"/>
            <a:ext cx="0" cy="1156550"/>
          </a:xfrm>
          <a:prstGeom prst="straightConnector1">
            <a:avLst/>
          </a:prstGeom>
          <a:ln>
            <a:solidFill>
              <a:srgbClr val="399758"/>
            </a:solidFill>
            <a:tailEnd type="triangle"/>
          </a:ln>
        </p:spPr>
        <p:style>
          <a:lnRef idx="2">
            <a:schemeClr val="accent2"/>
          </a:lnRef>
          <a:fillRef idx="0">
            <a:schemeClr val="accent2"/>
          </a:fillRef>
          <a:effectRef idx="1">
            <a:schemeClr val="accent2"/>
          </a:effectRef>
          <a:fontRef idx="minor">
            <a:schemeClr val="tx1"/>
          </a:fontRef>
        </p:style>
      </p:cxnSp>
      <p:sp>
        <p:nvSpPr>
          <p:cNvPr id="97" name="TextBox 96">
            <a:extLst>
              <a:ext uri="{FF2B5EF4-FFF2-40B4-BE49-F238E27FC236}">
                <a16:creationId xmlns:a16="http://schemas.microsoft.com/office/drawing/2014/main" id="{60B162AF-81D8-4B23-B994-8A2940E4EE68}"/>
              </a:ext>
            </a:extLst>
          </p:cNvPr>
          <p:cNvSpPr txBox="1"/>
          <p:nvPr/>
        </p:nvSpPr>
        <p:spPr>
          <a:xfrm>
            <a:off x="221811" y="1599422"/>
            <a:ext cx="1426531" cy="923330"/>
          </a:xfrm>
          <a:prstGeom prst="rect">
            <a:avLst/>
          </a:prstGeom>
          <a:ln>
            <a:solidFill>
              <a:srgbClr val="F392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fr-FR" u="sng" dirty="0" err="1"/>
              <a:t>ExM</a:t>
            </a:r>
            <a:r>
              <a:rPr lang="fr-FR" u="sng" dirty="0"/>
              <a:t> </a:t>
            </a:r>
            <a:r>
              <a:rPr lang="fr-FR" u="sng" dirty="0" err="1"/>
              <a:t>experimental</a:t>
            </a:r>
            <a:r>
              <a:rPr lang="fr-FR" u="sng" dirty="0"/>
              <a:t> design</a:t>
            </a:r>
          </a:p>
        </p:txBody>
      </p:sp>
      <p:cxnSp>
        <p:nvCxnSpPr>
          <p:cNvPr id="112" name="Straight Arrow Connector 111">
            <a:extLst>
              <a:ext uri="{FF2B5EF4-FFF2-40B4-BE49-F238E27FC236}">
                <a16:creationId xmlns:a16="http://schemas.microsoft.com/office/drawing/2014/main" id="{C444704C-DB06-466B-9457-D5A78CF7150E}"/>
              </a:ext>
            </a:extLst>
          </p:cNvPr>
          <p:cNvCxnSpPr>
            <a:cxnSpLocks/>
            <a:stCxn id="97" idx="3"/>
            <a:endCxn id="4" idx="2"/>
          </p:cNvCxnSpPr>
          <p:nvPr/>
        </p:nvCxnSpPr>
        <p:spPr>
          <a:xfrm>
            <a:off x="1648342" y="2061087"/>
            <a:ext cx="396785" cy="1"/>
          </a:xfrm>
          <a:prstGeom prst="straightConnector1">
            <a:avLst/>
          </a:prstGeom>
          <a:ln>
            <a:solidFill>
              <a:srgbClr val="F39200"/>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204847ED-7B98-4BB9-B187-54E1587F5255}"/>
              </a:ext>
            </a:extLst>
          </p:cNvPr>
          <p:cNvSpPr txBox="1"/>
          <p:nvPr/>
        </p:nvSpPr>
        <p:spPr>
          <a:xfrm>
            <a:off x="208103" y="2924951"/>
            <a:ext cx="2706890" cy="1477328"/>
          </a:xfrm>
          <a:prstGeom prst="rect">
            <a:avLst/>
          </a:prstGeom>
          <a:noFill/>
        </p:spPr>
        <p:txBody>
          <a:bodyPr wrap="square" rtlCol="0">
            <a:spAutoFit/>
          </a:bodyPr>
          <a:lstStyle/>
          <a:p>
            <a:r>
              <a:rPr lang="en-US" dirty="0"/>
              <a:t>Analysis of the uncertainty of the crop model associated to architecture parameters and spatial configuration</a:t>
            </a:r>
          </a:p>
        </p:txBody>
      </p:sp>
      <p:cxnSp>
        <p:nvCxnSpPr>
          <p:cNvPr id="5" name="Straight Arrow Connector 4">
            <a:extLst>
              <a:ext uri="{FF2B5EF4-FFF2-40B4-BE49-F238E27FC236}">
                <a16:creationId xmlns:a16="http://schemas.microsoft.com/office/drawing/2014/main" id="{7D52CD1C-7C60-4DBF-A7E8-07EC55D6D5A4}"/>
              </a:ext>
            </a:extLst>
          </p:cNvPr>
          <p:cNvCxnSpPr/>
          <p:nvPr/>
        </p:nvCxnSpPr>
        <p:spPr>
          <a:xfrm>
            <a:off x="3031658" y="2768794"/>
            <a:ext cx="76977" cy="1360351"/>
          </a:xfrm>
          <a:prstGeom prst="straightConnector1">
            <a:avLst/>
          </a:prstGeom>
          <a:ln w="38100">
            <a:solidFill>
              <a:schemeClr val="tx1"/>
            </a:solidFill>
            <a:headEnd type="triangle"/>
            <a:tailEnd type="triangle"/>
          </a:ln>
        </p:spPr>
        <p:style>
          <a:lnRef idx="2">
            <a:schemeClr val="dk1"/>
          </a:lnRef>
          <a:fillRef idx="0">
            <a:schemeClr val="dk1"/>
          </a:fillRef>
          <a:effectRef idx="1">
            <a:schemeClr val="dk1"/>
          </a:effectRef>
          <a:fontRef idx="minor">
            <a:schemeClr val="tx1"/>
          </a:fontRef>
        </p:style>
      </p:cxnSp>
      <p:pic>
        <p:nvPicPr>
          <p:cNvPr id="25" name="Graphic 24">
            <a:extLst>
              <a:ext uri="{FF2B5EF4-FFF2-40B4-BE49-F238E27FC236}">
                <a16:creationId xmlns:a16="http://schemas.microsoft.com/office/drawing/2014/main" id="{D59060B1-116D-42DE-BEAE-6F594C0A569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225690" y="5776127"/>
            <a:ext cx="953848" cy="738463"/>
          </a:xfrm>
          <a:prstGeom prst="rect">
            <a:avLst/>
          </a:prstGeom>
        </p:spPr>
      </p:pic>
      <p:sp>
        <p:nvSpPr>
          <p:cNvPr id="29" name="Title 1">
            <a:extLst>
              <a:ext uri="{FF2B5EF4-FFF2-40B4-BE49-F238E27FC236}">
                <a16:creationId xmlns:a16="http://schemas.microsoft.com/office/drawing/2014/main" id="{2A97DA16-C0FD-44B0-A086-9412F99E4311}"/>
              </a:ext>
            </a:extLst>
          </p:cNvPr>
          <p:cNvSpPr>
            <a:spLocks noGrp="1"/>
          </p:cNvSpPr>
          <p:nvPr>
            <p:ph type="title"/>
          </p:nvPr>
        </p:nvSpPr>
        <p:spPr>
          <a:xfrm>
            <a:off x="846667" y="216561"/>
            <a:ext cx="10795984" cy="804049"/>
          </a:xfrm>
        </p:spPr>
        <p:txBody>
          <a:bodyPr>
            <a:noAutofit/>
          </a:bodyPr>
          <a:lstStyle/>
          <a:p>
            <a:r>
              <a:rPr lang="fr-FR" sz="4000" dirty="0"/>
              <a:t>Workflow of simulations of </a:t>
            </a:r>
            <a:r>
              <a:rPr lang="fr-FR" sz="4000" dirty="0" err="1"/>
              <a:t>intercrops</a:t>
            </a:r>
            <a:r>
              <a:rPr lang="fr-FR" sz="4000" dirty="0"/>
              <a:t> </a:t>
            </a:r>
            <a:r>
              <a:rPr lang="fr-FR" sz="4000" dirty="0" err="1"/>
              <a:t>through</a:t>
            </a:r>
            <a:r>
              <a:rPr lang="fr-FR" sz="4000" dirty="0"/>
              <a:t> time</a:t>
            </a:r>
            <a:endParaRPr lang="en-US" sz="4000" dirty="0"/>
          </a:p>
        </p:txBody>
      </p:sp>
      <p:sp>
        <p:nvSpPr>
          <p:cNvPr id="23" name="TextBox 22">
            <a:extLst>
              <a:ext uri="{FF2B5EF4-FFF2-40B4-BE49-F238E27FC236}">
                <a16:creationId xmlns:a16="http://schemas.microsoft.com/office/drawing/2014/main" id="{4464F3E1-831D-4E9B-ABD8-9A6F9ACA860D}"/>
              </a:ext>
            </a:extLst>
          </p:cNvPr>
          <p:cNvSpPr txBox="1"/>
          <p:nvPr/>
        </p:nvSpPr>
        <p:spPr>
          <a:xfrm>
            <a:off x="3102700" y="2673743"/>
            <a:ext cx="1789460" cy="861774"/>
          </a:xfrm>
          <a:prstGeom prst="rect">
            <a:avLst/>
          </a:prstGeom>
          <a:noFill/>
        </p:spPr>
        <p:txBody>
          <a:bodyPr wrap="square" rtlCol="0">
            <a:spAutoFit/>
          </a:bodyPr>
          <a:lstStyle/>
          <a:p>
            <a:r>
              <a:rPr lang="en-US" sz="1600" dirty="0"/>
              <a:t>Light interception in STICS: </a:t>
            </a:r>
          </a:p>
          <a:p>
            <a:r>
              <a:rPr lang="en-US" sz="1600" dirty="0"/>
              <a:t>Beer-Lambert law</a:t>
            </a:r>
          </a:p>
        </p:txBody>
      </p:sp>
    </p:spTree>
    <p:extLst>
      <p:ext uri="{BB962C8B-B14F-4D97-AF65-F5344CB8AC3E}">
        <p14:creationId xmlns:p14="http://schemas.microsoft.com/office/powerpoint/2010/main" val="9913304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CBF3D-1E17-4F4F-8781-11F723C7F5FF}"/>
              </a:ext>
            </a:extLst>
          </p:cNvPr>
          <p:cNvSpPr>
            <a:spLocks noGrp="1"/>
          </p:cNvSpPr>
          <p:nvPr>
            <p:ph type="title"/>
          </p:nvPr>
        </p:nvSpPr>
        <p:spPr>
          <a:xfrm>
            <a:off x="724080" y="275917"/>
            <a:ext cx="10869750" cy="1325563"/>
          </a:xfrm>
        </p:spPr>
        <p:txBody>
          <a:bodyPr>
            <a:normAutofit/>
          </a:bodyPr>
          <a:lstStyle/>
          <a:p>
            <a:r>
              <a:rPr lang="en-US" sz="4000" dirty="0"/>
              <a:t>Preliminary result: light intercepted in sorghum monocrop</a:t>
            </a:r>
          </a:p>
        </p:txBody>
      </p:sp>
      <p:sp>
        <p:nvSpPr>
          <p:cNvPr id="4" name="Slide Number Placeholder 3">
            <a:extLst>
              <a:ext uri="{FF2B5EF4-FFF2-40B4-BE49-F238E27FC236}">
                <a16:creationId xmlns:a16="http://schemas.microsoft.com/office/drawing/2014/main" id="{5C428F43-7EEE-4605-AD21-4AE0AF44BA1E}"/>
              </a:ext>
            </a:extLst>
          </p:cNvPr>
          <p:cNvSpPr>
            <a:spLocks noGrp="1"/>
          </p:cNvSpPr>
          <p:nvPr>
            <p:ph type="sldNum" sz="quarter" idx="12"/>
          </p:nvPr>
        </p:nvSpPr>
        <p:spPr/>
        <p:txBody>
          <a:bodyPr/>
          <a:lstStyle/>
          <a:p>
            <a:fld id="{27C6CCC6-2BE5-4E42-96A4-D1E8E81A3D8E}" type="slidenum">
              <a:rPr lang="fr-FR" smtClean="0"/>
              <a:t>21</a:t>
            </a:fld>
            <a:endParaRPr lang="fr-FR"/>
          </a:p>
        </p:txBody>
      </p:sp>
      <p:pic>
        <p:nvPicPr>
          <p:cNvPr id="10" name="Content Placeholder 9">
            <a:extLst>
              <a:ext uri="{FF2B5EF4-FFF2-40B4-BE49-F238E27FC236}">
                <a16:creationId xmlns:a16="http://schemas.microsoft.com/office/drawing/2014/main" id="{5763B788-8956-42F9-9610-D654D8B62F9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627928" y="1519979"/>
            <a:ext cx="6278135" cy="4917872"/>
          </a:xfrm>
        </p:spPr>
      </p:pic>
      <p:pic>
        <p:nvPicPr>
          <p:cNvPr id="12" name="Picture 11">
            <a:extLst>
              <a:ext uri="{FF2B5EF4-FFF2-40B4-BE49-F238E27FC236}">
                <a16:creationId xmlns:a16="http://schemas.microsoft.com/office/drawing/2014/main" id="{1D083DCA-484A-432E-8A7E-2C0E0CB002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4282" y="3851910"/>
            <a:ext cx="3803415" cy="3096852"/>
          </a:xfrm>
          <a:prstGeom prst="rect">
            <a:avLst/>
          </a:prstGeom>
        </p:spPr>
      </p:pic>
      <p:sp>
        <p:nvSpPr>
          <p:cNvPr id="19" name="Content Placeholder 2">
            <a:extLst>
              <a:ext uri="{FF2B5EF4-FFF2-40B4-BE49-F238E27FC236}">
                <a16:creationId xmlns:a16="http://schemas.microsoft.com/office/drawing/2014/main" id="{A1F0BD19-53F2-411C-9C8D-EA975205EBEF}"/>
              </a:ext>
            </a:extLst>
          </p:cNvPr>
          <p:cNvSpPr txBox="1">
            <a:spLocks/>
          </p:cNvSpPr>
          <p:nvPr/>
        </p:nvSpPr>
        <p:spPr>
          <a:xfrm>
            <a:off x="724080" y="1811462"/>
            <a:ext cx="4903848" cy="412325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err="1"/>
              <a:t>Morphospace</a:t>
            </a:r>
            <a:r>
              <a:rPr lang="en-US" dirty="0"/>
              <a:t> sorghum:</a:t>
            </a:r>
          </a:p>
          <a:p>
            <a:r>
              <a:rPr lang="en-US" sz="2400" dirty="0"/>
              <a:t>Leaf insertion angle (°): [10, 30, 50] </a:t>
            </a:r>
            <a:r>
              <a:rPr lang="en-US" sz="1600" dirty="0"/>
              <a:t>(Truong et al., 2015)</a:t>
            </a:r>
          </a:p>
          <a:p>
            <a:r>
              <a:rPr lang="en-US" sz="2400" dirty="0"/>
              <a:t>Leaf curvature (°): [45, 90, 135] </a:t>
            </a:r>
          </a:p>
          <a:p>
            <a:r>
              <a:rPr lang="en-US" sz="2400" dirty="0" err="1"/>
              <a:t>Phyllotatic</a:t>
            </a:r>
            <a:r>
              <a:rPr lang="en-US" sz="2400" dirty="0"/>
              <a:t> angle deviation from 180</a:t>
            </a:r>
            <a:r>
              <a:rPr lang="fr-FR" sz="2400" dirty="0"/>
              <a:t>° (°)</a:t>
            </a:r>
            <a:r>
              <a:rPr lang="en-US" sz="2400" dirty="0"/>
              <a:t>: [5, 45] </a:t>
            </a:r>
            <a:r>
              <a:rPr lang="en-US" sz="1600" dirty="0"/>
              <a:t>(preprint Davis et al., 2024)</a:t>
            </a:r>
          </a:p>
          <a:p>
            <a:endParaRPr lang="en-US" sz="2400" dirty="0"/>
          </a:p>
          <a:p>
            <a:endParaRPr lang="en-US" dirty="0"/>
          </a:p>
        </p:txBody>
      </p:sp>
      <p:sp>
        <p:nvSpPr>
          <p:cNvPr id="20" name="TextBox 19">
            <a:extLst>
              <a:ext uri="{FF2B5EF4-FFF2-40B4-BE49-F238E27FC236}">
                <a16:creationId xmlns:a16="http://schemas.microsoft.com/office/drawing/2014/main" id="{3762A702-B147-4D78-AB4A-35A267E2E5F9}"/>
              </a:ext>
            </a:extLst>
          </p:cNvPr>
          <p:cNvSpPr txBox="1"/>
          <p:nvPr/>
        </p:nvSpPr>
        <p:spPr>
          <a:xfrm>
            <a:off x="171817" y="5798145"/>
            <a:ext cx="1428238" cy="923330"/>
          </a:xfrm>
          <a:prstGeom prst="rect">
            <a:avLst/>
          </a:prstGeom>
          <a:noFill/>
        </p:spPr>
        <p:txBody>
          <a:bodyPr wrap="square" rtlCol="0">
            <a:spAutoFit/>
          </a:bodyPr>
          <a:lstStyle/>
          <a:p>
            <a:r>
              <a:rPr lang="en-US" dirty="0"/>
              <a:t>3D scene of sorghum monocrop </a:t>
            </a:r>
          </a:p>
        </p:txBody>
      </p:sp>
    </p:spTree>
    <p:extLst>
      <p:ext uri="{BB962C8B-B14F-4D97-AF65-F5344CB8AC3E}">
        <p14:creationId xmlns:p14="http://schemas.microsoft.com/office/powerpoint/2010/main" val="25269872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9342E-9D37-4A45-9DD1-BD9DAF1ADDF6}"/>
              </a:ext>
            </a:extLst>
          </p:cNvPr>
          <p:cNvSpPr>
            <a:spLocks noGrp="1"/>
          </p:cNvSpPr>
          <p:nvPr>
            <p:ph type="title"/>
          </p:nvPr>
        </p:nvSpPr>
        <p:spPr/>
        <p:txBody>
          <a:bodyPr>
            <a:normAutofit/>
          </a:bodyPr>
          <a:lstStyle/>
          <a:p>
            <a:r>
              <a:rPr lang="en-US" sz="4000" dirty="0"/>
              <a:t>Future results for first article</a:t>
            </a:r>
          </a:p>
        </p:txBody>
      </p:sp>
      <p:sp>
        <p:nvSpPr>
          <p:cNvPr id="3" name="Content Placeholder 2">
            <a:extLst>
              <a:ext uri="{FF2B5EF4-FFF2-40B4-BE49-F238E27FC236}">
                <a16:creationId xmlns:a16="http://schemas.microsoft.com/office/drawing/2014/main" id="{F61DC49E-DCD3-4730-9D88-B42A66CE9156}"/>
              </a:ext>
            </a:extLst>
          </p:cNvPr>
          <p:cNvSpPr>
            <a:spLocks noGrp="1"/>
          </p:cNvSpPr>
          <p:nvPr>
            <p:ph idx="1"/>
          </p:nvPr>
        </p:nvSpPr>
        <p:spPr>
          <a:xfrm>
            <a:off x="838200" y="1541528"/>
            <a:ext cx="10515600" cy="4134443"/>
          </a:xfrm>
        </p:spPr>
        <p:txBody>
          <a:bodyPr>
            <a:normAutofit/>
          </a:bodyPr>
          <a:lstStyle/>
          <a:p>
            <a:pPr marL="0" indent="0">
              <a:buNone/>
            </a:pPr>
            <a:r>
              <a:rPr lang="fr-FR" dirty="0" err="1"/>
              <a:t>Monocrop</a:t>
            </a:r>
            <a:endParaRPr lang="fr-FR" dirty="0"/>
          </a:p>
          <a:p>
            <a:pPr lvl="1"/>
            <a:r>
              <a:rPr lang="en-US" dirty="0"/>
              <a:t>Differences in </a:t>
            </a:r>
            <a:r>
              <a:rPr lang="en-US" b="1" dirty="0"/>
              <a:t>light interception </a:t>
            </a:r>
            <a:r>
              <a:rPr lang="en-US" dirty="0"/>
              <a:t>through time given different architectural parameters </a:t>
            </a:r>
          </a:p>
          <a:p>
            <a:pPr lvl="1"/>
            <a:r>
              <a:rPr lang="en-US" dirty="0"/>
              <a:t>Differences in organ growth dynamics in case of </a:t>
            </a:r>
            <a:r>
              <a:rPr lang="en-US" b="1" dirty="0"/>
              <a:t>stresses</a:t>
            </a:r>
            <a:r>
              <a:rPr lang="en-US" dirty="0"/>
              <a:t> </a:t>
            </a:r>
          </a:p>
          <a:p>
            <a:pPr lvl="1"/>
            <a:endParaRPr lang="fr-FR" dirty="0"/>
          </a:p>
          <a:p>
            <a:pPr marL="0" indent="0">
              <a:buNone/>
            </a:pPr>
            <a:r>
              <a:rPr lang="fr-FR" dirty="0" err="1"/>
              <a:t>Cereals</a:t>
            </a:r>
            <a:r>
              <a:rPr lang="fr-FR" dirty="0"/>
              <a:t> </a:t>
            </a:r>
            <a:r>
              <a:rPr lang="fr-FR" dirty="0" err="1"/>
              <a:t>intercrop</a:t>
            </a:r>
            <a:endParaRPr lang="fr-FR" dirty="0"/>
          </a:p>
          <a:p>
            <a:pPr lvl="1"/>
            <a:r>
              <a:rPr lang="en-US" dirty="0"/>
              <a:t>Differences in </a:t>
            </a:r>
            <a:r>
              <a:rPr lang="en-US" b="1" dirty="0"/>
              <a:t>light interception </a:t>
            </a:r>
            <a:r>
              <a:rPr lang="en-US" dirty="0"/>
              <a:t>through time given different architectural parameters for both crops and spatial configurations</a:t>
            </a:r>
          </a:p>
          <a:p>
            <a:pPr lvl="1"/>
            <a:r>
              <a:rPr lang="en-US" dirty="0">
                <a:sym typeface="Wingdings" panose="05000000000000000000" pitchFamily="2" charset="2"/>
              </a:rPr>
              <a:t>Analysis of influential architectural traits</a:t>
            </a:r>
            <a:endParaRPr lang="en-US" dirty="0"/>
          </a:p>
          <a:p>
            <a:pPr marL="457200" lvl="1" indent="0">
              <a:buNone/>
            </a:pPr>
            <a:endParaRPr lang="en-US" dirty="0"/>
          </a:p>
        </p:txBody>
      </p:sp>
      <p:sp>
        <p:nvSpPr>
          <p:cNvPr id="4" name="Slide Number Placeholder 3">
            <a:extLst>
              <a:ext uri="{FF2B5EF4-FFF2-40B4-BE49-F238E27FC236}">
                <a16:creationId xmlns:a16="http://schemas.microsoft.com/office/drawing/2014/main" id="{F0261969-3CC4-48C4-8B72-2DDDCD24D622}"/>
              </a:ext>
            </a:extLst>
          </p:cNvPr>
          <p:cNvSpPr>
            <a:spLocks noGrp="1"/>
          </p:cNvSpPr>
          <p:nvPr>
            <p:ph type="sldNum" sz="quarter" idx="12"/>
          </p:nvPr>
        </p:nvSpPr>
        <p:spPr/>
        <p:txBody>
          <a:bodyPr/>
          <a:lstStyle/>
          <a:p>
            <a:fld id="{4D0921BC-FC9B-4B20-AD4C-0D7EEBC2A9A8}" type="slidenum">
              <a:rPr lang="en-US" smtClean="0"/>
              <a:t>22</a:t>
            </a:fld>
            <a:endParaRPr lang="en-US"/>
          </a:p>
        </p:txBody>
      </p:sp>
      <p:sp>
        <p:nvSpPr>
          <p:cNvPr id="10" name="Slide Number Placeholder 3">
            <a:extLst>
              <a:ext uri="{FF2B5EF4-FFF2-40B4-BE49-F238E27FC236}">
                <a16:creationId xmlns:a16="http://schemas.microsoft.com/office/drawing/2014/main" id="{90D42A07-0BDD-4E1F-BD07-9A4208A17D89}"/>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7C6CCC6-2BE5-4E42-96A4-D1E8E81A3D8E}" type="slidenum">
              <a:rPr lang="fr-FR" smtClean="0"/>
              <a:pPr/>
              <a:t>22</a:t>
            </a:fld>
            <a:endParaRPr lang="fr-FR"/>
          </a:p>
        </p:txBody>
      </p:sp>
    </p:spTree>
    <p:extLst>
      <p:ext uri="{BB962C8B-B14F-4D97-AF65-F5344CB8AC3E}">
        <p14:creationId xmlns:p14="http://schemas.microsoft.com/office/powerpoint/2010/main" val="23485417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E508B-7B6D-4A2C-A638-D68FF6B0A3F2}"/>
              </a:ext>
            </a:extLst>
          </p:cNvPr>
          <p:cNvSpPr>
            <a:spLocks noGrp="1"/>
          </p:cNvSpPr>
          <p:nvPr>
            <p:ph type="title"/>
          </p:nvPr>
        </p:nvSpPr>
        <p:spPr/>
        <p:txBody>
          <a:bodyPr/>
          <a:lstStyle/>
          <a:p>
            <a:r>
              <a:rPr lang="en-US" dirty="0"/>
              <a:t>Perspectives</a:t>
            </a:r>
          </a:p>
        </p:txBody>
      </p:sp>
      <p:sp>
        <p:nvSpPr>
          <p:cNvPr id="4" name="Slide Number Placeholder 3">
            <a:extLst>
              <a:ext uri="{FF2B5EF4-FFF2-40B4-BE49-F238E27FC236}">
                <a16:creationId xmlns:a16="http://schemas.microsoft.com/office/drawing/2014/main" id="{778D2267-07F0-4367-A27F-68C0446E9ACB}"/>
              </a:ext>
            </a:extLst>
          </p:cNvPr>
          <p:cNvSpPr>
            <a:spLocks noGrp="1"/>
          </p:cNvSpPr>
          <p:nvPr>
            <p:ph type="sldNum" sz="quarter" idx="12"/>
          </p:nvPr>
        </p:nvSpPr>
        <p:spPr/>
        <p:txBody>
          <a:bodyPr/>
          <a:lstStyle/>
          <a:p>
            <a:fld id="{27C6CCC6-2BE5-4E42-96A4-D1E8E81A3D8E}" type="slidenum">
              <a:rPr lang="fr-FR" smtClean="0"/>
              <a:t>23</a:t>
            </a:fld>
            <a:endParaRPr lang="fr-FR"/>
          </a:p>
        </p:txBody>
      </p:sp>
      <p:grpSp>
        <p:nvGrpSpPr>
          <p:cNvPr id="14" name="Group 13">
            <a:extLst>
              <a:ext uri="{FF2B5EF4-FFF2-40B4-BE49-F238E27FC236}">
                <a16:creationId xmlns:a16="http://schemas.microsoft.com/office/drawing/2014/main" id="{F5F08054-61ED-490D-A355-9240E948889F}"/>
              </a:ext>
            </a:extLst>
          </p:cNvPr>
          <p:cNvGrpSpPr/>
          <p:nvPr/>
        </p:nvGrpSpPr>
        <p:grpSpPr>
          <a:xfrm>
            <a:off x="1167809" y="3812696"/>
            <a:ext cx="9856381" cy="903767"/>
            <a:chOff x="1180214" y="4742121"/>
            <a:chExt cx="9856381" cy="903767"/>
          </a:xfrm>
        </p:grpSpPr>
        <p:sp>
          <p:nvSpPr>
            <p:cNvPr id="5" name="Arrow: Right 4">
              <a:extLst>
                <a:ext uri="{FF2B5EF4-FFF2-40B4-BE49-F238E27FC236}">
                  <a16:creationId xmlns:a16="http://schemas.microsoft.com/office/drawing/2014/main" id="{AFF22ED4-AF75-4773-B318-DF499A399A13}"/>
                </a:ext>
              </a:extLst>
            </p:cNvPr>
            <p:cNvSpPr/>
            <p:nvPr/>
          </p:nvSpPr>
          <p:spPr>
            <a:xfrm>
              <a:off x="1180214" y="4742121"/>
              <a:ext cx="9856381" cy="903767"/>
            </a:xfrm>
            <a:prstGeom prst="rightArrow">
              <a:avLst/>
            </a:prstGeom>
            <a:solidFill>
              <a:srgbClr val="399758"/>
            </a:solidFill>
            <a:ln>
              <a:solidFill>
                <a:srgbClr val="2474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CA059CC-826D-4105-880E-44202BF32652}"/>
                </a:ext>
              </a:extLst>
            </p:cNvPr>
            <p:cNvSpPr txBox="1"/>
            <p:nvPr/>
          </p:nvSpPr>
          <p:spPr>
            <a:xfrm>
              <a:off x="1339702" y="5009338"/>
              <a:ext cx="978196" cy="369332"/>
            </a:xfrm>
            <a:prstGeom prst="rect">
              <a:avLst/>
            </a:prstGeom>
            <a:noFill/>
          </p:spPr>
          <p:txBody>
            <a:bodyPr wrap="square" rtlCol="0">
              <a:spAutoFit/>
            </a:bodyPr>
            <a:lstStyle/>
            <a:p>
              <a:r>
                <a:rPr lang="en-US" dirty="0"/>
                <a:t>2024</a:t>
              </a:r>
            </a:p>
          </p:txBody>
        </p:sp>
        <p:sp>
          <p:nvSpPr>
            <p:cNvPr id="8" name="TextBox 7">
              <a:extLst>
                <a:ext uri="{FF2B5EF4-FFF2-40B4-BE49-F238E27FC236}">
                  <a16:creationId xmlns:a16="http://schemas.microsoft.com/office/drawing/2014/main" id="{C06AE40F-C462-443C-BCBF-2AB3E6CF48FE}"/>
                </a:ext>
              </a:extLst>
            </p:cNvPr>
            <p:cNvSpPr txBox="1"/>
            <p:nvPr/>
          </p:nvSpPr>
          <p:spPr>
            <a:xfrm>
              <a:off x="3919870" y="5009338"/>
              <a:ext cx="978196" cy="369332"/>
            </a:xfrm>
            <a:prstGeom prst="rect">
              <a:avLst/>
            </a:prstGeom>
            <a:noFill/>
          </p:spPr>
          <p:txBody>
            <a:bodyPr wrap="square" rtlCol="0">
              <a:spAutoFit/>
            </a:bodyPr>
            <a:lstStyle/>
            <a:p>
              <a:r>
                <a:rPr lang="en-US" dirty="0"/>
                <a:t>2025</a:t>
              </a:r>
            </a:p>
          </p:txBody>
        </p:sp>
        <p:sp>
          <p:nvSpPr>
            <p:cNvPr id="9" name="TextBox 8">
              <a:extLst>
                <a:ext uri="{FF2B5EF4-FFF2-40B4-BE49-F238E27FC236}">
                  <a16:creationId xmlns:a16="http://schemas.microsoft.com/office/drawing/2014/main" id="{3B356DB5-0BC8-4922-9382-EBD8EA94A3F3}"/>
                </a:ext>
              </a:extLst>
            </p:cNvPr>
            <p:cNvSpPr txBox="1"/>
            <p:nvPr/>
          </p:nvSpPr>
          <p:spPr>
            <a:xfrm>
              <a:off x="8121502" y="5009338"/>
              <a:ext cx="978196" cy="369332"/>
            </a:xfrm>
            <a:prstGeom prst="rect">
              <a:avLst/>
            </a:prstGeom>
            <a:noFill/>
          </p:spPr>
          <p:txBody>
            <a:bodyPr wrap="square" rtlCol="0">
              <a:spAutoFit/>
            </a:bodyPr>
            <a:lstStyle/>
            <a:p>
              <a:r>
                <a:rPr lang="en-US" dirty="0"/>
                <a:t>2026</a:t>
              </a:r>
            </a:p>
          </p:txBody>
        </p:sp>
        <p:cxnSp>
          <p:nvCxnSpPr>
            <p:cNvPr id="11" name="Straight Connector 10">
              <a:extLst>
                <a:ext uri="{FF2B5EF4-FFF2-40B4-BE49-F238E27FC236}">
                  <a16:creationId xmlns:a16="http://schemas.microsoft.com/office/drawing/2014/main" id="{AA69BF8D-A301-464F-822E-CEE61E24C078}"/>
                </a:ext>
              </a:extLst>
            </p:cNvPr>
            <p:cNvCxnSpPr>
              <a:cxnSpLocks/>
            </p:cNvCxnSpPr>
            <p:nvPr/>
          </p:nvCxnSpPr>
          <p:spPr>
            <a:xfrm>
              <a:off x="2211572" y="5009338"/>
              <a:ext cx="0" cy="369332"/>
            </a:xfrm>
            <a:prstGeom prst="line">
              <a:avLst/>
            </a:prstGeom>
          </p:spPr>
          <p:style>
            <a:lnRef idx="2">
              <a:schemeClr val="dk1"/>
            </a:lnRef>
            <a:fillRef idx="0">
              <a:schemeClr val="dk1"/>
            </a:fillRef>
            <a:effectRef idx="1">
              <a:schemeClr val="dk1"/>
            </a:effectRef>
            <a:fontRef idx="minor">
              <a:schemeClr val="tx1"/>
            </a:fontRef>
          </p:style>
        </p:cxnSp>
        <p:cxnSp>
          <p:nvCxnSpPr>
            <p:cNvPr id="13" name="Straight Connector 12">
              <a:extLst>
                <a:ext uri="{FF2B5EF4-FFF2-40B4-BE49-F238E27FC236}">
                  <a16:creationId xmlns:a16="http://schemas.microsoft.com/office/drawing/2014/main" id="{F996BD15-2FD6-4ACB-A97C-4247FAE3FC3B}"/>
                </a:ext>
              </a:extLst>
            </p:cNvPr>
            <p:cNvCxnSpPr>
              <a:cxnSpLocks/>
            </p:cNvCxnSpPr>
            <p:nvPr/>
          </p:nvCxnSpPr>
          <p:spPr>
            <a:xfrm>
              <a:off x="6425610" y="5009338"/>
              <a:ext cx="0" cy="369332"/>
            </a:xfrm>
            <a:prstGeom prst="line">
              <a:avLst/>
            </a:prstGeom>
          </p:spPr>
          <p:style>
            <a:lnRef idx="2">
              <a:schemeClr val="dk1"/>
            </a:lnRef>
            <a:fillRef idx="0">
              <a:schemeClr val="dk1"/>
            </a:fillRef>
            <a:effectRef idx="1">
              <a:schemeClr val="dk1"/>
            </a:effectRef>
            <a:fontRef idx="minor">
              <a:schemeClr val="tx1"/>
            </a:fontRef>
          </p:style>
        </p:cxnSp>
      </p:grpSp>
      <p:sp>
        <p:nvSpPr>
          <p:cNvPr id="15" name="Rectangle 14">
            <a:extLst>
              <a:ext uri="{FF2B5EF4-FFF2-40B4-BE49-F238E27FC236}">
                <a16:creationId xmlns:a16="http://schemas.microsoft.com/office/drawing/2014/main" id="{842B152E-0B2F-4FF1-82D9-6896E30E40E1}"/>
              </a:ext>
            </a:extLst>
          </p:cNvPr>
          <p:cNvSpPr/>
          <p:nvPr/>
        </p:nvSpPr>
        <p:spPr>
          <a:xfrm>
            <a:off x="401240" y="2176502"/>
            <a:ext cx="3230765" cy="1477328"/>
          </a:xfrm>
          <a:prstGeom prst="rect">
            <a:avLst/>
          </a:prstGeom>
        </p:spPr>
        <p:txBody>
          <a:bodyPr wrap="square">
            <a:spAutoFit/>
          </a:bodyPr>
          <a:lstStyle/>
          <a:p>
            <a:pPr marL="285750" indent="-285750">
              <a:buFont typeface="Arial" panose="020B0604020202020204" pitchFamily="34" charset="0"/>
              <a:buChar char="•"/>
            </a:pPr>
            <a:r>
              <a:rPr lang="en-US" dirty="0"/>
              <a:t>Extension of the cereal model to legumes (chapter 2)</a:t>
            </a:r>
          </a:p>
          <a:p>
            <a:pPr marL="285750" indent="-285750">
              <a:buFont typeface="Arial" panose="020B0604020202020204" pitchFamily="34" charset="0"/>
              <a:buChar char="•"/>
            </a:pPr>
            <a:r>
              <a:rPr lang="en-US" dirty="0"/>
              <a:t>Simulations of intercrops and uncertainty analyses for light interception (chapter 2)</a:t>
            </a:r>
          </a:p>
        </p:txBody>
      </p:sp>
      <p:sp>
        <p:nvSpPr>
          <p:cNvPr id="16" name="Rectangle 15">
            <a:extLst>
              <a:ext uri="{FF2B5EF4-FFF2-40B4-BE49-F238E27FC236}">
                <a16:creationId xmlns:a16="http://schemas.microsoft.com/office/drawing/2014/main" id="{5A23A999-FED4-47F3-BEBC-5520D0360580}"/>
              </a:ext>
            </a:extLst>
          </p:cNvPr>
          <p:cNvSpPr/>
          <p:nvPr/>
        </p:nvSpPr>
        <p:spPr>
          <a:xfrm>
            <a:off x="1903577" y="5037174"/>
            <a:ext cx="2186452" cy="646331"/>
          </a:xfrm>
          <a:prstGeom prst="rect">
            <a:avLst/>
          </a:prstGeom>
        </p:spPr>
        <p:txBody>
          <a:bodyPr wrap="square">
            <a:spAutoFit/>
          </a:bodyPr>
          <a:lstStyle/>
          <a:p>
            <a:r>
              <a:rPr lang="en-US" dirty="0"/>
              <a:t>First article on chapter 1 submitted</a:t>
            </a:r>
          </a:p>
        </p:txBody>
      </p:sp>
      <p:sp>
        <p:nvSpPr>
          <p:cNvPr id="17" name="Rectangle 16">
            <a:extLst>
              <a:ext uri="{FF2B5EF4-FFF2-40B4-BE49-F238E27FC236}">
                <a16:creationId xmlns:a16="http://schemas.microsoft.com/office/drawing/2014/main" id="{5133A781-F16B-4BA5-B517-213C2D1647EF}"/>
              </a:ext>
            </a:extLst>
          </p:cNvPr>
          <p:cNvSpPr/>
          <p:nvPr/>
        </p:nvSpPr>
        <p:spPr>
          <a:xfrm>
            <a:off x="4196942" y="1973278"/>
            <a:ext cx="2280200" cy="1754326"/>
          </a:xfrm>
          <a:prstGeom prst="rect">
            <a:avLst/>
          </a:prstGeom>
        </p:spPr>
        <p:txBody>
          <a:bodyPr wrap="square">
            <a:spAutoFit/>
          </a:bodyPr>
          <a:lstStyle/>
          <a:p>
            <a:r>
              <a:rPr lang="en-US" dirty="0"/>
              <a:t>Similar approach for roots, coupling with </a:t>
            </a:r>
            <a:r>
              <a:rPr lang="en-US" dirty="0" err="1"/>
              <a:t>ArchiSimple</a:t>
            </a:r>
            <a:r>
              <a:rPr lang="en-US" dirty="0"/>
              <a:t>, looking at processes like water and nitrogen uptake (chapter 1&amp;2)</a:t>
            </a:r>
          </a:p>
        </p:txBody>
      </p:sp>
      <p:cxnSp>
        <p:nvCxnSpPr>
          <p:cNvPr id="22" name="Straight Connector 21">
            <a:extLst>
              <a:ext uri="{FF2B5EF4-FFF2-40B4-BE49-F238E27FC236}">
                <a16:creationId xmlns:a16="http://schemas.microsoft.com/office/drawing/2014/main" id="{D5595CCC-9946-449B-8106-B2C4380CBA3A}"/>
              </a:ext>
            </a:extLst>
          </p:cNvPr>
          <p:cNvCxnSpPr>
            <a:cxnSpLocks/>
          </p:cNvCxnSpPr>
          <p:nvPr/>
        </p:nvCxnSpPr>
        <p:spPr>
          <a:xfrm flipV="1">
            <a:off x="3797568" y="1888185"/>
            <a:ext cx="21058" cy="2135334"/>
          </a:xfrm>
          <a:prstGeom prst="line">
            <a:avLst/>
          </a:prstGeom>
        </p:spPr>
        <p:style>
          <a:lnRef idx="2">
            <a:schemeClr val="dk1"/>
          </a:lnRef>
          <a:fillRef idx="0">
            <a:schemeClr val="dk1"/>
          </a:fillRef>
          <a:effectRef idx="1">
            <a:schemeClr val="dk1"/>
          </a:effectRef>
          <a:fontRef idx="minor">
            <a:schemeClr val="tx1"/>
          </a:fontRef>
        </p:style>
      </p:cxnSp>
      <p:cxnSp>
        <p:nvCxnSpPr>
          <p:cNvPr id="24" name="Straight Connector 23">
            <a:extLst>
              <a:ext uri="{FF2B5EF4-FFF2-40B4-BE49-F238E27FC236}">
                <a16:creationId xmlns:a16="http://schemas.microsoft.com/office/drawing/2014/main" id="{9E16F3E8-5922-4D34-947E-F2D595761158}"/>
              </a:ext>
            </a:extLst>
          </p:cNvPr>
          <p:cNvCxnSpPr>
            <a:cxnSpLocks/>
          </p:cNvCxnSpPr>
          <p:nvPr/>
        </p:nvCxnSpPr>
        <p:spPr>
          <a:xfrm flipV="1">
            <a:off x="2987629" y="4514200"/>
            <a:ext cx="1304" cy="522974"/>
          </a:xfrm>
          <a:prstGeom prst="line">
            <a:avLst/>
          </a:prstGeom>
        </p:spPr>
        <p:style>
          <a:lnRef idx="2">
            <a:schemeClr val="dk1"/>
          </a:lnRef>
          <a:fillRef idx="0">
            <a:schemeClr val="dk1"/>
          </a:fillRef>
          <a:effectRef idx="1">
            <a:schemeClr val="dk1"/>
          </a:effectRef>
          <a:fontRef idx="minor">
            <a:schemeClr val="tx1"/>
          </a:fontRef>
        </p:style>
      </p:cxnSp>
      <p:cxnSp>
        <p:nvCxnSpPr>
          <p:cNvPr id="29" name="Straight Connector 28">
            <a:extLst>
              <a:ext uri="{FF2B5EF4-FFF2-40B4-BE49-F238E27FC236}">
                <a16:creationId xmlns:a16="http://schemas.microsoft.com/office/drawing/2014/main" id="{6928A1DA-D9F6-4DDB-AAE7-0DDED2FAF076}"/>
              </a:ext>
            </a:extLst>
          </p:cNvPr>
          <p:cNvCxnSpPr>
            <a:cxnSpLocks/>
          </p:cNvCxnSpPr>
          <p:nvPr/>
        </p:nvCxnSpPr>
        <p:spPr>
          <a:xfrm flipV="1">
            <a:off x="6854959" y="1888185"/>
            <a:ext cx="3990" cy="2135337"/>
          </a:xfrm>
          <a:prstGeom prst="line">
            <a:avLst/>
          </a:prstGeom>
        </p:spPr>
        <p:style>
          <a:lnRef idx="2">
            <a:schemeClr val="dk1"/>
          </a:lnRef>
          <a:fillRef idx="0">
            <a:schemeClr val="dk1"/>
          </a:fillRef>
          <a:effectRef idx="1">
            <a:schemeClr val="dk1"/>
          </a:effectRef>
          <a:fontRef idx="minor">
            <a:schemeClr val="tx1"/>
          </a:fontRef>
        </p:style>
      </p:cxnSp>
      <p:sp>
        <p:nvSpPr>
          <p:cNvPr id="36" name="Rectangle 35">
            <a:extLst>
              <a:ext uri="{FF2B5EF4-FFF2-40B4-BE49-F238E27FC236}">
                <a16:creationId xmlns:a16="http://schemas.microsoft.com/office/drawing/2014/main" id="{E826820F-2F63-4854-9D2A-CFEB1DEBAA48}"/>
              </a:ext>
            </a:extLst>
          </p:cNvPr>
          <p:cNvSpPr/>
          <p:nvPr/>
        </p:nvSpPr>
        <p:spPr>
          <a:xfrm>
            <a:off x="7160870" y="2407245"/>
            <a:ext cx="2899459" cy="923330"/>
          </a:xfrm>
          <a:prstGeom prst="rect">
            <a:avLst/>
          </a:prstGeom>
        </p:spPr>
        <p:txBody>
          <a:bodyPr wrap="square">
            <a:spAutoFit/>
          </a:bodyPr>
          <a:lstStyle/>
          <a:p>
            <a:r>
              <a:rPr lang="en-US" dirty="0"/>
              <a:t>Propositions of new formalisms for STICS crop model (chapter 3)</a:t>
            </a:r>
          </a:p>
        </p:txBody>
      </p:sp>
      <p:sp>
        <p:nvSpPr>
          <p:cNvPr id="40" name="Rectangle 39">
            <a:extLst>
              <a:ext uri="{FF2B5EF4-FFF2-40B4-BE49-F238E27FC236}">
                <a16:creationId xmlns:a16="http://schemas.microsoft.com/office/drawing/2014/main" id="{A65835F2-4238-4ED2-A285-1271F460D4E3}"/>
              </a:ext>
            </a:extLst>
          </p:cNvPr>
          <p:cNvSpPr/>
          <p:nvPr/>
        </p:nvSpPr>
        <p:spPr>
          <a:xfrm>
            <a:off x="5765690" y="5037174"/>
            <a:ext cx="2186452" cy="646331"/>
          </a:xfrm>
          <a:prstGeom prst="rect">
            <a:avLst/>
          </a:prstGeom>
        </p:spPr>
        <p:txBody>
          <a:bodyPr wrap="square">
            <a:spAutoFit/>
          </a:bodyPr>
          <a:lstStyle/>
          <a:p>
            <a:r>
              <a:rPr lang="en-US" dirty="0"/>
              <a:t>Second article on chapter 2 submitted</a:t>
            </a:r>
          </a:p>
        </p:txBody>
      </p:sp>
      <p:cxnSp>
        <p:nvCxnSpPr>
          <p:cNvPr id="41" name="Straight Connector 40">
            <a:extLst>
              <a:ext uri="{FF2B5EF4-FFF2-40B4-BE49-F238E27FC236}">
                <a16:creationId xmlns:a16="http://schemas.microsoft.com/office/drawing/2014/main" id="{A2B78C25-2726-420F-961A-9D4298071D02}"/>
              </a:ext>
            </a:extLst>
          </p:cNvPr>
          <p:cNvCxnSpPr>
            <a:cxnSpLocks/>
          </p:cNvCxnSpPr>
          <p:nvPr/>
        </p:nvCxnSpPr>
        <p:spPr>
          <a:xfrm flipV="1">
            <a:off x="6857614" y="4514200"/>
            <a:ext cx="1304" cy="522974"/>
          </a:xfrm>
          <a:prstGeom prst="line">
            <a:avLst/>
          </a:prstGeom>
        </p:spPr>
        <p:style>
          <a:lnRef idx="2">
            <a:schemeClr val="dk1"/>
          </a:lnRef>
          <a:fillRef idx="0">
            <a:schemeClr val="dk1"/>
          </a:fillRef>
          <a:effectRef idx="1">
            <a:schemeClr val="dk1"/>
          </a:effectRef>
          <a:fontRef idx="minor">
            <a:schemeClr val="tx1"/>
          </a:fontRef>
        </p:style>
      </p:cxnSp>
      <p:sp>
        <p:nvSpPr>
          <p:cNvPr id="42" name="Rectangle 41">
            <a:extLst>
              <a:ext uri="{FF2B5EF4-FFF2-40B4-BE49-F238E27FC236}">
                <a16:creationId xmlns:a16="http://schemas.microsoft.com/office/drawing/2014/main" id="{AD81DFD5-A742-4C08-887D-EA66F080D21E}"/>
              </a:ext>
            </a:extLst>
          </p:cNvPr>
          <p:cNvSpPr/>
          <p:nvPr/>
        </p:nvSpPr>
        <p:spPr>
          <a:xfrm>
            <a:off x="8998398" y="5037174"/>
            <a:ext cx="2186452" cy="646331"/>
          </a:xfrm>
          <a:prstGeom prst="rect">
            <a:avLst/>
          </a:prstGeom>
        </p:spPr>
        <p:txBody>
          <a:bodyPr wrap="square">
            <a:spAutoFit/>
          </a:bodyPr>
          <a:lstStyle/>
          <a:p>
            <a:r>
              <a:rPr lang="en-US" dirty="0"/>
              <a:t>Thesis manuscript ready</a:t>
            </a:r>
          </a:p>
        </p:txBody>
      </p:sp>
      <p:cxnSp>
        <p:nvCxnSpPr>
          <p:cNvPr id="43" name="Straight Connector 42">
            <a:extLst>
              <a:ext uri="{FF2B5EF4-FFF2-40B4-BE49-F238E27FC236}">
                <a16:creationId xmlns:a16="http://schemas.microsoft.com/office/drawing/2014/main" id="{90A4FF16-B26E-48A4-890E-063709CC6211}"/>
              </a:ext>
            </a:extLst>
          </p:cNvPr>
          <p:cNvCxnSpPr>
            <a:cxnSpLocks/>
          </p:cNvCxnSpPr>
          <p:nvPr/>
        </p:nvCxnSpPr>
        <p:spPr>
          <a:xfrm flipV="1">
            <a:off x="10090320" y="4514200"/>
            <a:ext cx="1304" cy="522974"/>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76240151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6AAEAEC55338B4CBD1310BC20ECA43B" ma:contentTypeVersion="6" ma:contentTypeDescription="Crée un document." ma:contentTypeScope="" ma:versionID="f3bee9aad377d983e5ace40107548819">
  <xsd:schema xmlns:xsd="http://www.w3.org/2001/XMLSchema" xmlns:xs="http://www.w3.org/2001/XMLSchema" xmlns:p="http://schemas.microsoft.com/office/2006/metadata/properties" xmlns:ns2="5e11a331-0175-485c-b5bc-7baf3794bcc4" xmlns:ns3="6123b362-d884-4010-ad19-191a22b79bf5" targetNamespace="http://schemas.microsoft.com/office/2006/metadata/properties" ma:root="true" ma:fieldsID="da4ddf064b527fafbeea9bca5b83bae1" ns2:_="" ns3:_="">
    <xsd:import namespace="5e11a331-0175-485c-b5bc-7baf3794bcc4"/>
    <xsd:import namespace="6123b362-d884-4010-ad19-191a22b79bf5"/>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11a331-0175-485c-b5bc-7baf3794bcc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123b362-d884-4010-ad19-191a22b79bf5" elementFormDefault="qualified">
    <xsd:import namespace="http://schemas.microsoft.com/office/2006/documentManagement/types"/>
    <xsd:import namespace="http://schemas.microsoft.com/office/infopath/2007/PartnerControls"/>
    <xsd:element name="SharedWithUsers" ma:index="12"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51A9BF6-46C8-4A93-8A6C-1B6AB6A4872B}">
  <ds:schemaRefs>
    <ds:schemaRef ds:uri="http://schemas.microsoft.com/sharepoint/v3/contenttype/forms"/>
  </ds:schemaRefs>
</ds:datastoreItem>
</file>

<file path=customXml/itemProps2.xml><?xml version="1.0" encoding="utf-8"?>
<ds:datastoreItem xmlns:ds="http://schemas.openxmlformats.org/officeDocument/2006/customXml" ds:itemID="{3D367EEE-588A-43EA-B4CA-B1329416185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11a331-0175-485c-b5bc-7baf3794bcc4"/>
    <ds:schemaRef ds:uri="6123b362-d884-4010-ad19-191a22b79bf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36403</TotalTime>
  <Words>3414</Words>
  <Application>Microsoft Office PowerPoint</Application>
  <PresentationFormat>Widescreen</PresentationFormat>
  <Paragraphs>372</Paragraphs>
  <Slides>23</Slides>
  <Notes>23</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Aptos</vt:lpstr>
      <vt:lpstr>Aptos Display</vt:lpstr>
      <vt:lpstr>Arial</vt:lpstr>
      <vt:lpstr>Calibri</vt:lpstr>
      <vt:lpstr>Cambria Math</vt:lpstr>
      <vt:lpstr>Courier New,monospace</vt:lpstr>
      <vt:lpstr>Wingdings</vt:lpstr>
      <vt:lpstr>Thème Office</vt:lpstr>
      <vt:lpstr>Multiscale hybrid modeling framework  for intercrops :  the best of crop and plant models</vt:lpstr>
      <vt:lpstr>Intercropping</vt:lpstr>
      <vt:lpstr>Intercropping systems</vt:lpstr>
      <vt:lpstr>Crop models</vt:lpstr>
      <vt:lpstr>FSPM (Functional-Structural Plant Models) </vt:lpstr>
      <vt:lpstr>PowerPoint Presentation</vt:lpstr>
      <vt:lpstr>How to benefit from the best of both approaches for intercrops?</vt:lpstr>
      <vt:lpstr>My PhD : Multiscale hybrid modelling approach for intercrops </vt:lpstr>
      <vt:lpstr>My PhD : Multiscale hybrid modelling approach for intercrops </vt:lpstr>
      <vt:lpstr>My PhD : Multiscale hybrid modelling approach for intercrops </vt:lpstr>
      <vt:lpstr>My PhD : Multiscale hybrid modelling approach for intercrops </vt:lpstr>
      <vt:lpstr>PowerPoint Presentation</vt:lpstr>
      <vt:lpstr>PowerPoint Presentation</vt:lpstr>
      <vt:lpstr>Plant 3D architecture and development are defined by parameters</vt:lpstr>
      <vt:lpstr>PowerPoint Presentation</vt:lpstr>
      <vt:lpstr>Different levels of heterogeneity for an intercrop</vt:lpstr>
      <vt:lpstr>Result: Explore morphospace of species through growing cycle</vt:lpstr>
      <vt:lpstr>Workflow of simulations of intercrops through time</vt:lpstr>
      <vt:lpstr>PowerPoint Presentation</vt:lpstr>
      <vt:lpstr>Workflow of simulations of intercrops through time</vt:lpstr>
      <vt:lpstr>Preliminary result: light intercepted in sorghum monocrop</vt:lpstr>
      <vt:lpstr>Future results for first article</vt:lpstr>
      <vt:lpstr>Perspectives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braud</dc:creator>
  <cp:lastModifiedBy>Oriane BRAUD</cp:lastModifiedBy>
  <cp:revision>1304</cp:revision>
  <dcterms:created xsi:type="dcterms:W3CDTF">2024-06-25T09:40:25Z</dcterms:created>
  <dcterms:modified xsi:type="dcterms:W3CDTF">2024-11-21T16:14:27Z</dcterms:modified>
</cp:coreProperties>
</file>