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38"/>
  </p:notesMasterIdLst>
  <p:sldIdLst>
    <p:sldId id="256" r:id="rId4"/>
    <p:sldId id="259" r:id="rId5"/>
    <p:sldId id="262" r:id="rId6"/>
    <p:sldId id="295" r:id="rId7"/>
    <p:sldId id="297" r:id="rId8"/>
    <p:sldId id="260" r:id="rId9"/>
    <p:sldId id="298" r:id="rId10"/>
    <p:sldId id="324" r:id="rId11"/>
    <p:sldId id="299" r:id="rId12"/>
    <p:sldId id="274" r:id="rId13"/>
    <p:sldId id="283" r:id="rId14"/>
    <p:sldId id="317" r:id="rId15"/>
    <p:sldId id="318" r:id="rId16"/>
    <p:sldId id="319" r:id="rId17"/>
    <p:sldId id="320" r:id="rId18"/>
    <p:sldId id="307" r:id="rId19"/>
    <p:sldId id="314" r:id="rId20"/>
    <p:sldId id="315" r:id="rId21"/>
    <p:sldId id="272" r:id="rId22"/>
    <p:sldId id="300" r:id="rId23"/>
    <p:sldId id="303" r:id="rId24"/>
    <p:sldId id="257" r:id="rId25"/>
    <p:sldId id="301" r:id="rId26"/>
    <p:sldId id="290" r:id="rId27"/>
    <p:sldId id="266" r:id="rId28"/>
    <p:sldId id="322" r:id="rId29"/>
    <p:sldId id="270" r:id="rId30"/>
    <p:sldId id="312" r:id="rId31"/>
    <p:sldId id="311" r:id="rId32"/>
    <p:sldId id="269" r:id="rId33"/>
    <p:sldId id="316" r:id="rId34"/>
    <p:sldId id="321" r:id="rId35"/>
    <p:sldId id="323" r:id="rId36"/>
    <p:sldId id="309" r:id="rId3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89F"/>
    <a:srgbClr val="F39200"/>
    <a:srgbClr val="FFCC99"/>
    <a:srgbClr val="399758"/>
    <a:srgbClr val="24743A"/>
    <a:srgbClr val="AEAEAE"/>
    <a:srgbClr val="F1592A"/>
    <a:srgbClr val="F7941D"/>
    <a:srgbClr val="D07C00"/>
    <a:srgbClr val="C287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594" autoAdjust="0"/>
    <p:restoredTop sz="83686" autoAdjust="0"/>
  </p:normalViewPr>
  <p:slideViewPr>
    <p:cSldViewPr snapToGrid="0">
      <p:cViewPr varScale="1">
        <p:scale>
          <a:sx n="68" d="100"/>
          <a:sy n="68" d="100"/>
        </p:scale>
        <p:origin x="108"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presProps" Target="presProps.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customXml" Target="../customXml/item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1.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1C0664-3760-4B25-9F25-C7AAC42DAE60}" type="datetimeFigureOut">
              <a:rPr lang="en-US" smtClean="0"/>
              <a:t>11/18/2024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A0A799-F059-4133-8369-1F74AA1BF689}" type="slidenum">
              <a:rPr lang="en-US" smtClean="0"/>
              <a:t>‹#›</a:t>
            </a:fld>
            <a:endParaRPr lang="en-US"/>
          </a:p>
        </p:txBody>
      </p:sp>
    </p:spTree>
    <p:extLst>
      <p:ext uri="{BB962C8B-B14F-4D97-AF65-F5344CB8AC3E}">
        <p14:creationId xmlns:p14="http://schemas.microsoft.com/office/powerpoint/2010/main" val="1155295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Plantes annuelles parmi les légumineuses et les graminées</a:t>
            </a:r>
          </a:p>
          <a:p>
            <a:endParaRPr lang="fr-FR" dirty="0"/>
          </a:p>
          <a:p>
            <a:r>
              <a:rPr lang="en-US" dirty="0"/>
              <a:t>Climate change imply an increase of biotic and abiotic stresses. </a:t>
            </a:r>
          </a:p>
          <a:p>
            <a:r>
              <a:rPr lang="en-US" dirty="0"/>
              <a:t>Agroecology and introducing heterogeneity in crop systems is one lever to create more resilient agronomic systems, while reducing their environmental impacts (less inputs) …</a:t>
            </a:r>
          </a:p>
        </p:txBody>
      </p:sp>
      <p:sp>
        <p:nvSpPr>
          <p:cNvPr id="4" name="Slide Number Placeholder 3"/>
          <p:cNvSpPr>
            <a:spLocks noGrp="1"/>
          </p:cNvSpPr>
          <p:nvPr>
            <p:ph type="sldNum" sz="quarter" idx="5"/>
          </p:nvPr>
        </p:nvSpPr>
        <p:spPr/>
        <p:txBody>
          <a:bodyPr/>
          <a:lstStyle/>
          <a:p>
            <a:fld id="{A9A0A799-F059-4133-8369-1F74AA1BF689}" type="slidenum">
              <a:rPr lang="en-US" smtClean="0"/>
              <a:t>2</a:t>
            </a:fld>
            <a:endParaRPr lang="en-US"/>
          </a:p>
        </p:txBody>
      </p:sp>
    </p:spTree>
    <p:extLst>
      <p:ext uri="{BB962C8B-B14F-4D97-AF65-F5344CB8AC3E}">
        <p14:creationId xmlns:p14="http://schemas.microsoft.com/office/powerpoint/2010/main" val="16609012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Ensembles (</a:t>
            </a:r>
            <a:r>
              <a:rPr lang="en-US" dirty="0" err="1"/>
              <a:t>pluriels</a:t>
            </a:r>
            <a:r>
              <a:rPr lang="en-US" dirty="0"/>
              <a:t>)</a:t>
            </a:r>
          </a:p>
          <a:p>
            <a:r>
              <a:rPr lang="en-US" dirty="0"/>
              <a:t>Beaucoup </a:t>
            </a:r>
            <a:r>
              <a:rPr lang="en-US" dirty="0" err="1"/>
              <a:t>d’expe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3</a:t>
            </a:fld>
            <a:endParaRPr lang="en-US"/>
          </a:p>
        </p:txBody>
      </p:sp>
    </p:spTree>
    <p:extLst>
      <p:ext uri="{BB962C8B-B14F-4D97-AF65-F5344CB8AC3E}">
        <p14:creationId xmlns:p14="http://schemas.microsoft.com/office/powerpoint/2010/main" val="5631124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4</a:t>
            </a:fld>
            <a:endParaRPr lang="en-US"/>
          </a:p>
        </p:txBody>
      </p:sp>
    </p:spTree>
    <p:extLst>
      <p:ext uri="{BB962C8B-B14F-4D97-AF65-F5344CB8AC3E}">
        <p14:creationId xmlns:p14="http://schemas.microsoft.com/office/powerpoint/2010/main" val="34559080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Combinaison of </a:t>
            </a:r>
            <a:r>
              <a:rPr lang="fr-FR" dirty="0" err="1"/>
              <a:t>several</a:t>
            </a:r>
            <a:r>
              <a:rPr lang="fr-FR" dirty="0"/>
              <a:t> </a:t>
            </a:r>
            <a:r>
              <a:rPr lang="fr-FR" dirty="0" err="1"/>
              <a:t>factors</a:t>
            </a:r>
            <a:endParaRPr lang="fr-FR" dirty="0"/>
          </a:p>
          <a:p>
            <a:r>
              <a:rPr lang="fr-FR" dirty="0"/>
              <a:t>Transition : optimise </a:t>
            </a:r>
            <a:r>
              <a:rPr lang="fr-FR" dirty="0" err="1"/>
              <a:t>these</a:t>
            </a:r>
            <a:r>
              <a:rPr lang="fr-FR" dirty="0"/>
              <a:t> combinaisons </a:t>
            </a:r>
            <a:r>
              <a:rPr lang="fr-FR" dirty="0" err="1"/>
              <a:t>using</a:t>
            </a:r>
            <a:r>
              <a:rPr lang="fr-FR" dirty="0"/>
              <a:t> </a:t>
            </a:r>
            <a:r>
              <a:rPr lang="fr-FR" dirty="0" err="1"/>
              <a:t>models</a:t>
            </a:r>
            <a:r>
              <a:rPr lang="fr-FR" dirty="0"/>
              <a:t>, </a:t>
            </a:r>
            <a:r>
              <a:rPr lang="fr-FR" dirty="0" err="1"/>
              <a:t>before</a:t>
            </a:r>
            <a:r>
              <a:rPr lang="fr-FR" dirty="0"/>
              <a:t> </a:t>
            </a:r>
            <a:r>
              <a:rPr lang="fr-FR" dirty="0" err="1"/>
              <a:t>field</a:t>
            </a:r>
            <a:r>
              <a:rPr lang="fr-FR" dirty="0"/>
              <a:t> </a:t>
            </a:r>
            <a:r>
              <a:rPr lang="fr-FR" dirty="0" err="1"/>
              <a:t>experiments</a:t>
            </a:r>
            <a:r>
              <a:rPr lang="fr-FR" dirty="0"/>
              <a:t> (explore more </a:t>
            </a:r>
            <a:r>
              <a:rPr lang="fr-FR" dirty="0" err="1"/>
              <a:t>possibilities</a:t>
            </a:r>
            <a:r>
              <a:rPr lang="fr-FR" dirty="0"/>
              <a:t>)</a:t>
            </a:r>
          </a:p>
          <a:p>
            <a:endParaRPr lang="fr-FR" dirty="0"/>
          </a:p>
        </p:txBody>
      </p:sp>
      <p:sp>
        <p:nvSpPr>
          <p:cNvPr id="4" name="Slide Number Placeholder 3"/>
          <p:cNvSpPr>
            <a:spLocks noGrp="1"/>
          </p:cNvSpPr>
          <p:nvPr>
            <p:ph type="sldNum" sz="quarter" idx="5"/>
          </p:nvPr>
        </p:nvSpPr>
        <p:spPr/>
        <p:txBody>
          <a:bodyPr/>
          <a:lstStyle/>
          <a:p>
            <a:fld id="{A9A0A799-F059-4133-8369-1F74AA1BF689}" type="slidenum">
              <a:rPr lang="en-US" smtClean="0"/>
              <a:t>5</a:t>
            </a:fld>
            <a:endParaRPr lang="en-US"/>
          </a:p>
        </p:txBody>
      </p:sp>
    </p:spTree>
    <p:extLst>
      <p:ext uri="{BB962C8B-B14F-4D97-AF65-F5344CB8AC3E}">
        <p14:creationId xmlns:p14="http://schemas.microsoft.com/office/powerpoint/2010/main" val="3957706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Limits due to </a:t>
            </a:r>
            <a:r>
              <a:rPr lang="fr-FR" dirty="0" err="1"/>
              <a:t>scale</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integrate </a:t>
            </a:r>
            <a:r>
              <a:rPr lang="en-US" b="1" dirty="0"/>
              <a:t>environmental stresses</a:t>
            </a:r>
            <a:r>
              <a:rPr lang="en-US" dirty="0"/>
              <a:t>, as factors of reduction for processes of a potential averaged plant </a:t>
            </a:r>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7</a:t>
            </a:fld>
            <a:endParaRPr lang="en-US"/>
          </a:p>
        </p:txBody>
      </p:sp>
    </p:spTree>
    <p:extLst>
      <p:ext uri="{BB962C8B-B14F-4D97-AF65-F5344CB8AC3E}">
        <p14:creationId xmlns:p14="http://schemas.microsoft.com/office/powerpoint/2010/main" val="35410114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Limits due to </a:t>
            </a:r>
            <a:r>
              <a:rPr lang="fr-FR" dirty="0" err="1"/>
              <a:t>scale</a:t>
            </a:r>
            <a:endParaRPr lang="en-US" dirty="0"/>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9</a:t>
            </a:fld>
            <a:endParaRPr lang="en-US"/>
          </a:p>
        </p:txBody>
      </p:sp>
    </p:spTree>
    <p:extLst>
      <p:ext uri="{BB962C8B-B14F-4D97-AF65-F5344CB8AC3E}">
        <p14:creationId xmlns:p14="http://schemas.microsoft.com/office/powerpoint/2010/main" val="36175008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Complémentarité des modèles, </a:t>
            </a:r>
            <a:r>
              <a:rPr lang="fr-FR" dirty="0" err="1"/>
              <a:t>trade</a:t>
            </a:r>
            <a:r>
              <a:rPr lang="fr-FR" dirty="0"/>
              <a:t>-off robustesse et précision</a:t>
            </a:r>
          </a:p>
          <a:p>
            <a:r>
              <a:rPr lang="fr-FR" dirty="0"/>
              <a:t>Top-down </a:t>
            </a:r>
            <a:r>
              <a:rPr lang="fr-FR" dirty="0" err="1"/>
              <a:t>approach</a:t>
            </a:r>
            <a:endParaRPr lang="fr-FR" dirty="0"/>
          </a:p>
          <a:p>
            <a:endParaRPr lang="fr-FR" dirty="0"/>
          </a:p>
          <a:p>
            <a:r>
              <a:rPr lang="en-US" dirty="0"/>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endParaRPr lang="en-US" dirty="0"/>
          </a:p>
          <a:p>
            <a:r>
              <a:rPr lang="en-US" dirty="0"/>
              <a:t>State of the art:</a:t>
            </a:r>
          </a:p>
          <a:p>
            <a:r>
              <a:rPr lang="en-US" dirty="0" err="1"/>
              <a:t>Vezy</a:t>
            </a:r>
            <a:r>
              <a:rPr lang="en-US" dirty="0"/>
              <a:t> 2023: hybrid 2.5D formalism for light interception in STICS crop model</a:t>
            </a:r>
            <a:endParaRPr lang="fr-FR" dirty="0"/>
          </a:p>
          <a:p>
            <a:r>
              <a:rPr lang="fr-FR" dirty="0"/>
              <a:t>Feng et al., 2014: </a:t>
            </a:r>
          </a:p>
          <a:p>
            <a:r>
              <a:rPr lang="fr-FR" dirty="0" err="1"/>
              <a:t>GreenLab</a:t>
            </a:r>
            <a:endParaRPr lang="fr-FR" dirty="0"/>
          </a:p>
          <a:p>
            <a:r>
              <a:rPr lang="fr-FR" dirty="0" err="1"/>
              <a:t>Ecomeristem</a:t>
            </a:r>
            <a:endParaRPr lang="fr-FR" dirty="0"/>
          </a:p>
          <a:p>
            <a:r>
              <a:rPr lang="fr-FR" dirty="0"/>
              <a:t>Li et al., 2024: </a:t>
            </a:r>
          </a:p>
          <a:p>
            <a:endParaRPr lang="fr-FR" dirty="0"/>
          </a:p>
          <a:p>
            <a:r>
              <a:rPr lang="fr-FR" dirty="0" err="1"/>
              <a:t>Barillot</a:t>
            </a:r>
            <a:r>
              <a:rPr lang="fr-FR" dirty="0"/>
              <a:t> et al., 2011: </a:t>
            </a:r>
            <a:r>
              <a:rPr lang="fr-FR" dirty="0" err="1"/>
              <a:t>assessment</a:t>
            </a:r>
            <a:r>
              <a:rPr lang="fr-FR" dirty="0"/>
              <a:t> of </a:t>
            </a:r>
            <a:r>
              <a:rPr lang="en-US" dirty="0"/>
              <a:t>turbid medium approach for simulating light interception of intercrops</a:t>
            </a:r>
          </a:p>
          <a:p>
            <a:r>
              <a:rPr lang="en-US" dirty="0"/>
              <a:t>Ponce de Leon and Bailey, 2019: assessment of turbid medium approach for simulating light interception of heterogeneous and </a:t>
            </a:r>
            <a:r>
              <a:rPr lang="en-US" dirty="0" err="1"/>
              <a:t>anisotropous</a:t>
            </a:r>
            <a:r>
              <a:rPr lang="en-US" dirty="0"/>
              <a:t> canopies</a:t>
            </a:r>
          </a:p>
          <a:p>
            <a:endParaRPr lang="fr-FR" dirty="0"/>
          </a:p>
          <a:p>
            <a:r>
              <a:rPr lang="fr-FR" dirty="0"/>
              <a:t>B</a:t>
            </a:r>
            <a:r>
              <a:rPr lang="en-US" dirty="0" err="1"/>
              <a:t>ailey</a:t>
            </a:r>
            <a:r>
              <a:rPr lang="en-US" dirty="0"/>
              <a:t> et al., 2020: incorporate the effects of vegetation heterogeneity or “clumping” within crop models; the models were evaluated by comparing against simulated data generated by a three-dimensional leaf-resolving model in which the exact inputs are known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Incorporate effect of vegetation heterogeneity within crop models + </a:t>
            </a:r>
            <a:r>
              <a:rPr lang="en-US" i="1" dirty="0"/>
              <a:t>in silico </a:t>
            </a:r>
            <a:r>
              <a:rPr lang="en-US" dirty="0"/>
              <a:t>model evaluation </a:t>
            </a:r>
          </a:p>
          <a:p>
            <a:endParaRPr lang="en-US" dirty="0"/>
          </a:p>
          <a:p>
            <a:r>
              <a:rPr lang="fr-FR" dirty="0" err="1"/>
              <a:t>Barillot</a:t>
            </a:r>
            <a:r>
              <a:rPr lang="fr-FR" dirty="0"/>
              <a:t> et al., 2014 </a:t>
            </a:r>
            <a:r>
              <a:rPr lang="en-US" dirty="0"/>
              <a:t>(wheat/pea intercrop)</a:t>
            </a:r>
            <a:r>
              <a:rPr lang="fr-FR" dirty="0"/>
              <a:t>: </a:t>
            </a:r>
            <a:r>
              <a:rPr lang="en-US" dirty="0"/>
              <a:t>impact of </a:t>
            </a:r>
            <a:r>
              <a:rPr lang="en-US" dirty="0" err="1"/>
              <a:t>archi</a:t>
            </a:r>
            <a:r>
              <a:rPr lang="en-US" dirty="0"/>
              <a:t> variations on light interception</a:t>
            </a:r>
            <a:endParaRPr lang="fr-FR" dirty="0"/>
          </a:p>
          <a:p>
            <a:r>
              <a:rPr lang="fr-FR" dirty="0"/>
              <a:t>T</a:t>
            </a:r>
            <a:r>
              <a:rPr lang="en-US" dirty="0" err="1"/>
              <a:t>ruong</a:t>
            </a:r>
            <a:r>
              <a:rPr lang="en-US" dirty="0"/>
              <a:t> et al, 2015 (sorghum); </a:t>
            </a:r>
            <a:r>
              <a:rPr lang="en-US" dirty="0" err="1"/>
              <a:t>Barillot</a:t>
            </a:r>
            <a:r>
              <a:rPr lang="en-US" dirty="0"/>
              <a:t> et al., 2019 (wheat/pea intercrop) : impact of leaf angle on light interception</a:t>
            </a:r>
          </a:p>
          <a:p>
            <a:r>
              <a:rPr lang="fr-FR" dirty="0"/>
              <a:t>P</a:t>
            </a:r>
            <a:r>
              <a:rPr lang="en-US" dirty="0"/>
              <a:t>once de Leon and Bailey, 2024 : impact of leaf angle and density distribution on WUE</a:t>
            </a:r>
          </a:p>
          <a:p>
            <a:endParaRPr lang="en-US" dirty="0"/>
          </a:p>
          <a:p>
            <a:endParaRPr lang="en-US" dirty="0"/>
          </a:p>
          <a:p>
            <a:r>
              <a:rPr lang="en-US" dirty="0"/>
              <a:t>How to conceive a 3D cereal model with few architectural and developmental parameters and with a canopy-scale constrain on growth ?  </a:t>
            </a:r>
          </a:p>
          <a:p>
            <a:endParaRPr lang="en-US" dirty="0"/>
          </a:p>
          <a:p>
            <a:r>
              <a:rPr lang="en-US" dirty="0"/>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p:txBody>
      </p:sp>
      <p:sp>
        <p:nvSpPr>
          <p:cNvPr id="4" name="Slide Number Placeholder 3"/>
          <p:cNvSpPr>
            <a:spLocks noGrp="1"/>
          </p:cNvSpPr>
          <p:nvPr>
            <p:ph type="sldNum" sz="quarter" idx="5"/>
          </p:nvPr>
        </p:nvSpPr>
        <p:spPr/>
        <p:txBody>
          <a:bodyPr/>
          <a:lstStyle/>
          <a:p>
            <a:fld id="{A9A0A799-F059-4133-8369-1F74AA1BF689}" type="slidenum">
              <a:rPr lang="en-US" smtClean="0"/>
              <a:t>11</a:t>
            </a:fld>
            <a:endParaRPr lang="en-US"/>
          </a:p>
        </p:txBody>
      </p:sp>
    </p:spTree>
    <p:extLst>
      <p:ext uri="{BB962C8B-B14F-4D97-AF65-F5344CB8AC3E}">
        <p14:creationId xmlns:p14="http://schemas.microsoft.com/office/powerpoint/2010/main" val="29570652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Complémentarité des modèles, </a:t>
            </a:r>
            <a:r>
              <a:rPr lang="fr-FR" dirty="0" err="1"/>
              <a:t>trade</a:t>
            </a:r>
            <a:r>
              <a:rPr lang="fr-FR" dirty="0"/>
              <a:t>-off robustesse et précision</a:t>
            </a:r>
          </a:p>
          <a:p>
            <a:r>
              <a:rPr lang="fr-FR" dirty="0"/>
              <a:t>Top-down </a:t>
            </a:r>
            <a:r>
              <a:rPr lang="fr-FR" dirty="0" err="1"/>
              <a:t>approach</a:t>
            </a:r>
            <a:endParaRPr lang="fr-FR" dirty="0"/>
          </a:p>
          <a:p>
            <a:endParaRPr lang="fr-FR" dirty="0"/>
          </a:p>
          <a:p>
            <a:r>
              <a:rPr lang="en-US" dirty="0"/>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endParaRPr lang="en-US" dirty="0"/>
          </a:p>
          <a:p>
            <a:r>
              <a:rPr lang="en-US" dirty="0"/>
              <a:t>State of the art:</a:t>
            </a:r>
          </a:p>
          <a:p>
            <a:r>
              <a:rPr lang="en-US" dirty="0" err="1"/>
              <a:t>Vezy</a:t>
            </a:r>
            <a:r>
              <a:rPr lang="en-US" dirty="0"/>
              <a:t> 2023: hybrid 2.5D formalism for light interception in STICS crop model</a:t>
            </a:r>
            <a:endParaRPr lang="fr-FR" dirty="0"/>
          </a:p>
          <a:p>
            <a:r>
              <a:rPr lang="fr-FR" dirty="0"/>
              <a:t>Feng et al., 2014: </a:t>
            </a:r>
          </a:p>
          <a:p>
            <a:r>
              <a:rPr lang="fr-FR" dirty="0" err="1"/>
              <a:t>GreenLab</a:t>
            </a:r>
            <a:endParaRPr lang="fr-FR" dirty="0"/>
          </a:p>
          <a:p>
            <a:r>
              <a:rPr lang="fr-FR" dirty="0" err="1"/>
              <a:t>Ecomeristem</a:t>
            </a:r>
            <a:endParaRPr lang="fr-FR" dirty="0"/>
          </a:p>
          <a:p>
            <a:r>
              <a:rPr lang="fr-FR" dirty="0"/>
              <a:t>Li et al., 2024: </a:t>
            </a:r>
          </a:p>
          <a:p>
            <a:endParaRPr lang="fr-FR" dirty="0"/>
          </a:p>
          <a:p>
            <a:r>
              <a:rPr lang="fr-FR" dirty="0" err="1"/>
              <a:t>Barillot</a:t>
            </a:r>
            <a:r>
              <a:rPr lang="fr-FR" dirty="0"/>
              <a:t> et al., 2011: </a:t>
            </a:r>
            <a:r>
              <a:rPr lang="fr-FR" dirty="0" err="1"/>
              <a:t>assessment</a:t>
            </a:r>
            <a:r>
              <a:rPr lang="fr-FR" dirty="0"/>
              <a:t> of </a:t>
            </a:r>
            <a:r>
              <a:rPr lang="en-US" dirty="0"/>
              <a:t>turbid medium approach for simulating light interception of intercrops</a:t>
            </a:r>
          </a:p>
          <a:p>
            <a:r>
              <a:rPr lang="en-US" dirty="0"/>
              <a:t>Ponce de Leon and Bailey, 2019: assessment of turbid medium approach for simulating light interception of heterogeneous and </a:t>
            </a:r>
            <a:r>
              <a:rPr lang="en-US" dirty="0" err="1"/>
              <a:t>anisotropous</a:t>
            </a:r>
            <a:r>
              <a:rPr lang="en-US" dirty="0"/>
              <a:t> canopies</a:t>
            </a:r>
          </a:p>
          <a:p>
            <a:endParaRPr lang="fr-FR" dirty="0"/>
          </a:p>
          <a:p>
            <a:r>
              <a:rPr lang="fr-FR" dirty="0"/>
              <a:t>B</a:t>
            </a:r>
            <a:r>
              <a:rPr lang="en-US" dirty="0" err="1"/>
              <a:t>ailey</a:t>
            </a:r>
            <a:r>
              <a:rPr lang="en-US" dirty="0"/>
              <a:t> et al., 2020: incorporate the effects of vegetation heterogeneity or “clumping” within crop models; the models were evaluated by comparing against simulated data generated by a three-dimensional leaf-resolving model in which the exact inputs are known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Incorporate effect of vegetation heterogeneity within crop models + </a:t>
            </a:r>
            <a:r>
              <a:rPr lang="en-US" i="1" dirty="0"/>
              <a:t>in silico </a:t>
            </a:r>
            <a:r>
              <a:rPr lang="en-US" dirty="0"/>
              <a:t>model evaluation </a:t>
            </a:r>
          </a:p>
          <a:p>
            <a:endParaRPr lang="en-US" dirty="0"/>
          </a:p>
          <a:p>
            <a:r>
              <a:rPr lang="fr-FR" dirty="0" err="1"/>
              <a:t>Barillot</a:t>
            </a:r>
            <a:r>
              <a:rPr lang="fr-FR" dirty="0"/>
              <a:t> et al., 2014 </a:t>
            </a:r>
            <a:r>
              <a:rPr lang="en-US" dirty="0"/>
              <a:t>(wheat/pea intercrop)</a:t>
            </a:r>
            <a:r>
              <a:rPr lang="fr-FR" dirty="0"/>
              <a:t>: </a:t>
            </a:r>
            <a:r>
              <a:rPr lang="en-US" dirty="0"/>
              <a:t>impact of </a:t>
            </a:r>
            <a:r>
              <a:rPr lang="en-US" dirty="0" err="1"/>
              <a:t>archi</a:t>
            </a:r>
            <a:r>
              <a:rPr lang="en-US" dirty="0"/>
              <a:t> variations on light interception</a:t>
            </a:r>
            <a:endParaRPr lang="fr-FR" dirty="0"/>
          </a:p>
          <a:p>
            <a:r>
              <a:rPr lang="fr-FR" dirty="0"/>
              <a:t>T</a:t>
            </a:r>
            <a:r>
              <a:rPr lang="en-US" dirty="0" err="1"/>
              <a:t>ruong</a:t>
            </a:r>
            <a:r>
              <a:rPr lang="en-US" dirty="0"/>
              <a:t> et al, 2015 (sorghum); </a:t>
            </a:r>
            <a:r>
              <a:rPr lang="en-US" dirty="0" err="1"/>
              <a:t>Barillot</a:t>
            </a:r>
            <a:r>
              <a:rPr lang="en-US" dirty="0"/>
              <a:t> et al., 2019 (wheat/pea intercrop) : impact of leaf angle on light interception</a:t>
            </a:r>
          </a:p>
          <a:p>
            <a:r>
              <a:rPr lang="fr-FR" dirty="0"/>
              <a:t>P</a:t>
            </a:r>
            <a:r>
              <a:rPr lang="en-US" dirty="0"/>
              <a:t>once de Leon and Bailey, 2024 : impact of leaf angle and density distribution on WUE</a:t>
            </a:r>
          </a:p>
          <a:p>
            <a:endParaRPr lang="en-US" dirty="0"/>
          </a:p>
          <a:p>
            <a:endParaRPr lang="en-US" dirty="0"/>
          </a:p>
          <a:p>
            <a:r>
              <a:rPr lang="en-US" dirty="0"/>
              <a:t>How to conceive a 3D cereal model with few architectural and developmental parameters and with a canopy-scale constrain on growth ?  </a:t>
            </a:r>
          </a:p>
          <a:p>
            <a:endParaRPr lang="en-US" dirty="0"/>
          </a:p>
          <a:p>
            <a:r>
              <a:rPr lang="en-US" dirty="0"/>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p:txBody>
      </p:sp>
      <p:sp>
        <p:nvSpPr>
          <p:cNvPr id="4" name="Slide Number Placeholder 3"/>
          <p:cNvSpPr>
            <a:spLocks noGrp="1"/>
          </p:cNvSpPr>
          <p:nvPr>
            <p:ph type="sldNum" sz="quarter" idx="5"/>
          </p:nvPr>
        </p:nvSpPr>
        <p:spPr/>
        <p:txBody>
          <a:bodyPr/>
          <a:lstStyle/>
          <a:p>
            <a:fld id="{A9A0A799-F059-4133-8369-1F74AA1BF689}" type="slidenum">
              <a:rPr lang="en-US" smtClean="0"/>
              <a:t>12</a:t>
            </a:fld>
            <a:endParaRPr lang="en-US"/>
          </a:p>
        </p:txBody>
      </p:sp>
    </p:spTree>
    <p:extLst>
      <p:ext uri="{BB962C8B-B14F-4D97-AF65-F5344CB8AC3E}">
        <p14:creationId xmlns:p14="http://schemas.microsoft.com/office/powerpoint/2010/main" val="5366404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Complémentarité des modèles, </a:t>
            </a:r>
            <a:r>
              <a:rPr lang="fr-FR" dirty="0" err="1"/>
              <a:t>trade</a:t>
            </a:r>
            <a:r>
              <a:rPr lang="fr-FR" dirty="0"/>
              <a:t>-off robustesse et précision</a:t>
            </a:r>
          </a:p>
          <a:p>
            <a:r>
              <a:rPr lang="fr-FR" dirty="0"/>
              <a:t>Top-down </a:t>
            </a:r>
            <a:r>
              <a:rPr lang="fr-FR" dirty="0" err="1"/>
              <a:t>approach</a:t>
            </a:r>
            <a:endParaRPr lang="fr-FR" dirty="0"/>
          </a:p>
          <a:p>
            <a:endParaRPr lang="fr-FR" dirty="0"/>
          </a:p>
          <a:p>
            <a:r>
              <a:rPr lang="en-US" dirty="0"/>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endParaRPr lang="en-US" dirty="0"/>
          </a:p>
          <a:p>
            <a:r>
              <a:rPr lang="en-US" dirty="0"/>
              <a:t>State of the art:</a:t>
            </a:r>
          </a:p>
          <a:p>
            <a:r>
              <a:rPr lang="en-US" dirty="0" err="1"/>
              <a:t>Vezy</a:t>
            </a:r>
            <a:r>
              <a:rPr lang="en-US" dirty="0"/>
              <a:t> 2023: hybrid 2.5D formalism for light interception in STICS crop model</a:t>
            </a:r>
            <a:endParaRPr lang="fr-FR" dirty="0"/>
          </a:p>
          <a:p>
            <a:r>
              <a:rPr lang="fr-FR" dirty="0"/>
              <a:t>Feng et al., 2014: </a:t>
            </a:r>
          </a:p>
          <a:p>
            <a:r>
              <a:rPr lang="fr-FR" dirty="0" err="1"/>
              <a:t>GreenLab</a:t>
            </a:r>
            <a:endParaRPr lang="fr-FR" dirty="0"/>
          </a:p>
          <a:p>
            <a:r>
              <a:rPr lang="fr-FR" dirty="0" err="1"/>
              <a:t>Ecomeristem</a:t>
            </a:r>
            <a:endParaRPr lang="fr-FR" dirty="0"/>
          </a:p>
          <a:p>
            <a:r>
              <a:rPr lang="fr-FR" dirty="0"/>
              <a:t>Li et al., 2024: </a:t>
            </a:r>
          </a:p>
          <a:p>
            <a:endParaRPr lang="fr-FR" dirty="0"/>
          </a:p>
          <a:p>
            <a:r>
              <a:rPr lang="fr-FR" dirty="0" err="1"/>
              <a:t>Barillot</a:t>
            </a:r>
            <a:r>
              <a:rPr lang="fr-FR" dirty="0"/>
              <a:t> et al., 2011: </a:t>
            </a:r>
            <a:r>
              <a:rPr lang="fr-FR" dirty="0" err="1"/>
              <a:t>assessment</a:t>
            </a:r>
            <a:r>
              <a:rPr lang="fr-FR" dirty="0"/>
              <a:t> of </a:t>
            </a:r>
            <a:r>
              <a:rPr lang="en-US" dirty="0"/>
              <a:t>turbid medium approach for simulating light interception of intercrops</a:t>
            </a:r>
          </a:p>
          <a:p>
            <a:r>
              <a:rPr lang="en-US" dirty="0"/>
              <a:t>Ponce de Leon and Bailey, 2019: assessment of turbid medium approach for simulating light interception of heterogeneous and </a:t>
            </a:r>
            <a:r>
              <a:rPr lang="en-US" dirty="0" err="1"/>
              <a:t>anisotropous</a:t>
            </a:r>
            <a:r>
              <a:rPr lang="en-US" dirty="0"/>
              <a:t> canopies</a:t>
            </a:r>
          </a:p>
          <a:p>
            <a:endParaRPr lang="fr-FR" dirty="0"/>
          </a:p>
          <a:p>
            <a:r>
              <a:rPr lang="fr-FR" dirty="0"/>
              <a:t>B</a:t>
            </a:r>
            <a:r>
              <a:rPr lang="en-US" dirty="0" err="1"/>
              <a:t>ailey</a:t>
            </a:r>
            <a:r>
              <a:rPr lang="en-US" dirty="0"/>
              <a:t> et al., 2020: incorporate the effects of vegetation heterogeneity or “clumping” within crop models; the models were evaluated by comparing against simulated data generated by a three-dimensional leaf-resolving model in which the exact inputs are known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Incorporate effect of vegetation heterogeneity within crop models + </a:t>
            </a:r>
            <a:r>
              <a:rPr lang="en-US" i="1" dirty="0"/>
              <a:t>in silico </a:t>
            </a:r>
            <a:r>
              <a:rPr lang="en-US" dirty="0"/>
              <a:t>model evaluation </a:t>
            </a:r>
          </a:p>
          <a:p>
            <a:endParaRPr lang="en-US" dirty="0"/>
          </a:p>
          <a:p>
            <a:r>
              <a:rPr lang="fr-FR" dirty="0" err="1"/>
              <a:t>Barillot</a:t>
            </a:r>
            <a:r>
              <a:rPr lang="fr-FR" dirty="0"/>
              <a:t> et al., 2014 </a:t>
            </a:r>
            <a:r>
              <a:rPr lang="en-US" dirty="0"/>
              <a:t>(wheat/pea intercrop)</a:t>
            </a:r>
            <a:r>
              <a:rPr lang="fr-FR" dirty="0"/>
              <a:t>: </a:t>
            </a:r>
            <a:r>
              <a:rPr lang="en-US" dirty="0"/>
              <a:t>impact of </a:t>
            </a:r>
            <a:r>
              <a:rPr lang="en-US" dirty="0" err="1"/>
              <a:t>archi</a:t>
            </a:r>
            <a:r>
              <a:rPr lang="en-US" dirty="0"/>
              <a:t> variations on light interception</a:t>
            </a:r>
            <a:endParaRPr lang="fr-FR" dirty="0"/>
          </a:p>
          <a:p>
            <a:r>
              <a:rPr lang="fr-FR" dirty="0"/>
              <a:t>T</a:t>
            </a:r>
            <a:r>
              <a:rPr lang="en-US" dirty="0" err="1"/>
              <a:t>ruong</a:t>
            </a:r>
            <a:r>
              <a:rPr lang="en-US" dirty="0"/>
              <a:t> et al, 2015 (sorghum); </a:t>
            </a:r>
            <a:r>
              <a:rPr lang="en-US" dirty="0" err="1"/>
              <a:t>Barillot</a:t>
            </a:r>
            <a:r>
              <a:rPr lang="en-US" dirty="0"/>
              <a:t> et al., 2019 (wheat/pea intercrop) : impact of leaf angle on light interception</a:t>
            </a:r>
          </a:p>
          <a:p>
            <a:r>
              <a:rPr lang="fr-FR" dirty="0"/>
              <a:t>P</a:t>
            </a:r>
            <a:r>
              <a:rPr lang="en-US" dirty="0"/>
              <a:t>once de Leon and Bailey, 2024 : impact of leaf angle and density distribution on WUE</a:t>
            </a:r>
          </a:p>
          <a:p>
            <a:endParaRPr lang="en-US" dirty="0"/>
          </a:p>
          <a:p>
            <a:endParaRPr lang="en-US" dirty="0"/>
          </a:p>
          <a:p>
            <a:r>
              <a:rPr lang="en-US" dirty="0"/>
              <a:t>How to conceive a 3D cereal model with few architectural and developmental parameters and with a canopy-scale constrain on growth ?  </a:t>
            </a:r>
          </a:p>
          <a:p>
            <a:endParaRPr lang="en-US" dirty="0"/>
          </a:p>
          <a:p>
            <a:r>
              <a:rPr lang="en-US" dirty="0"/>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p:txBody>
      </p:sp>
      <p:sp>
        <p:nvSpPr>
          <p:cNvPr id="4" name="Slide Number Placeholder 3"/>
          <p:cNvSpPr>
            <a:spLocks noGrp="1"/>
          </p:cNvSpPr>
          <p:nvPr>
            <p:ph type="sldNum" sz="quarter" idx="5"/>
          </p:nvPr>
        </p:nvSpPr>
        <p:spPr/>
        <p:txBody>
          <a:bodyPr/>
          <a:lstStyle/>
          <a:p>
            <a:fld id="{A9A0A799-F059-4133-8369-1F74AA1BF689}" type="slidenum">
              <a:rPr lang="en-US" smtClean="0"/>
              <a:t>13</a:t>
            </a:fld>
            <a:endParaRPr lang="en-US"/>
          </a:p>
        </p:txBody>
      </p:sp>
    </p:spTree>
    <p:extLst>
      <p:ext uri="{BB962C8B-B14F-4D97-AF65-F5344CB8AC3E}">
        <p14:creationId xmlns:p14="http://schemas.microsoft.com/office/powerpoint/2010/main" val="11526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Complémentarité des modèles, </a:t>
            </a:r>
            <a:r>
              <a:rPr lang="fr-FR" dirty="0" err="1"/>
              <a:t>trade</a:t>
            </a:r>
            <a:r>
              <a:rPr lang="fr-FR" dirty="0"/>
              <a:t>-off robustesse et précision</a:t>
            </a:r>
          </a:p>
          <a:p>
            <a:r>
              <a:rPr lang="fr-FR" dirty="0"/>
              <a:t>Top-down </a:t>
            </a:r>
            <a:r>
              <a:rPr lang="fr-FR" dirty="0" err="1"/>
              <a:t>approach</a:t>
            </a:r>
            <a:endParaRPr lang="fr-FR" dirty="0"/>
          </a:p>
          <a:p>
            <a:endParaRPr lang="fr-FR" dirty="0"/>
          </a:p>
          <a:p>
            <a:r>
              <a:rPr lang="en-US" dirty="0"/>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endParaRPr lang="en-US" dirty="0"/>
          </a:p>
          <a:p>
            <a:r>
              <a:rPr lang="en-US" dirty="0"/>
              <a:t>State of the art:</a:t>
            </a:r>
          </a:p>
          <a:p>
            <a:r>
              <a:rPr lang="en-US" dirty="0" err="1"/>
              <a:t>Vezy</a:t>
            </a:r>
            <a:r>
              <a:rPr lang="en-US" dirty="0"/>
              <a:t> 2023: hybrid 2.5D formalism for light interception in STICS crop model</a:t>
            </a:r>
            <a:endParaRPr lang="fr-FR" dirty="0"/>
          </a:p>
          <a:p>
            <a:r>
              <a:rPr lang="fr-FR" dirty="0"/>
              <a:t>Feng et al., 2014: </a:t>
            </a:r>
          </a:p>
          <a:p>
            <a:r>
              <a:rPr lang="fr-FR" dirty="0" err="1"/>
              <a:t>GreenLab</a:t>
            </a:r>
            <a:endParaRPr lang="fr-FR" dirty="0"/>
          </a:p>
          <a:p>
            <a:r>
              <a:rPr lang="fr-FR" dirty="0" err="1"/>
              <a:t>Ecomeristem</a:t>
            </a:r>
            <a:endParaRPr lang="fr-FR" dirty="0"/>
          </a:p>
          <a:p>
            <a:r>
              <a:rPr lang="fr-FR" dirty="0"/>
              <a:t>Li et al., 2024: </a:t>
            </a:r>
          </a:p>
          <a:p>
            <a:endParaRPr lang="fr-FR" dirty="0"/>
          </a:p>
          <a:p>
            <a:r>
              <a:rPr lang="fr-FR" dirty="0" err="1"/>
              <a:t>Barillot</a:t>
            </a:r>
            <a:r>
              <a:rPr lang="fr-FR" dirty="0"/>
              <a:t> et al., 2011: </a:t>
            </a:r>
            <a:r>
              <a:rPr lang="fr-FR" dirty="0" err="1"/>
              <a:t>assessment</a:t>
            </a:r>
            <a:r>
              <a:rPr lang="fr-FR" dirty="0"/>
              <a:t> of </a:t>
            </a:r>
            <a:r>
              <a:rPr lang="en-US" dirty="0"/>
              <a:t>turbid medium approach for simulating light interception of intercrops</a:t>
            </a:r>
          </a:p>
          <a:p>
            <a:r>
              <a:rPr lang="en-US" dirty="0"/>
              <a:t>Ponce de Leon and Bailey, 2019: assessment of turbid medium approach for simulating light interception of heterogeneous and </a:t>
            </a:r>
            <a:r>
              <a:rPr lang="en-US" dirty="0" err="1"/>
              <a:t>anisotropous</a:t>
            </a:r>
            <a:r>
              <a:rPr lang="en-US" dirty="0"/>
              <a:t> canopies</a:t>
            </a:r>
          </a:p>
          <a:p>
            <a:endParaRPr lang="fr-FR" dirty="0"/>
          </a:p>
          <a:p>
            <a:r>
              <a:rPr lang="fr-FR" dirty="0"/>
              <a:t>B</a:t>
            </a:r>
            <a:r>
              <a:rPr lang="en-US" dirty="0" err="1"/>
              <a:t>ailey</a:t>
            </a:r>
            <a:r>
              <a:rPr lang="en-US" dirty="0"/>
              <a:t> et al., 2020: incorporate the effects of vegetation heterogeneity or “clumping” within crop models; the models were evaluated by comparing against simulated data generated by a three-dimensional leaf-resolving model in which the exact inputs are known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Incorporate effect of vegetation heterogeneity within crop models + </a:t>
            </a:r>
            <a:r>
              <a:rPr lang="en-US" i="1" dirty="0"/>
              <a:t>in silico </a:t>
            </a:r>
            <a:r>
              <a:rPr lang="en-US" dirty="0"/>
              <a:t>model evaluation </a:t>
            </a:r>
          </a:p>
          <a:p>
            <a:endParaRPr lang="en-US" dirty="0"/>
          </a:p>
          <a:p>
            <a:r>
              <a:rPr lang="fr-FR" dirty="0" err="1"/>
              <a:t>Barillot</a:t>
            </a:r>
            <a:r>
              <a:rPr lang="fr-FR" dirty="0"/>
              <a:t> et al., 2014 </a:t>
            </a:r>
            <a:r>
              <a:rPr lang="en-US" dirty="0"/>
              <a:t>(wheat/pea intercrop)</a:t>
            </a:r>
            <a:r>
              <a:rPr lang="fr-FR" dirty="0"/>
              <a:t>: </a:t>
            </a:r>
            <a:r>
              <a:rPr lang="en-US" dirty="0"/>
              <a:t>impact of </a:t>
            </a:r>
            <a:r>
              <a:rPr lang="en-US" dirty="0" err="1"/>
              <a:t>archi</a:t>
            </a:r>
            <a:r>
              <a:rPr lang="en-US" dirty="0"/>
              <a:t> variations on light interception</a:t>
            </a:r>
            <a:endParaRPr lang="fr-FR" dirty="0"/>
          </a:p>
          <a:p>
            <a:r>
              <a:rPr lang="fr-FR" dirty="0"/>
              <a:t>T</a:t>
            </a:r>
            <a:r>
              <a:rPr lang="en-US" dirty="0" err="1"/>
              <a:t>ruong</a:t>
            </a:r>
            <a:r>
              <a:rPr lang="en-US" dirty="0"/>
              <a:t> et al, 2015 (sorghum); </a:t>
            </a:r>
            <a:r>
              <a:rPr lang="en-US" dirty="0" err="1"/>
              <a:t>Barillot</a:t>
            </a:r>
            <a:r>
              <a:rPr lang="en-US" dirty="0"/>
              <a:t> et al., 2019 (wheat/pea intercrop) : impact of leaf angle on light interception</a:t>
            </a:r>
          </a:p>
          <a:p>
            <a:r>
              <a:rPr lang="fr-FR" dirty="0"/>
              <a:t>P</a:t>
            </a:r>
            <a:r>
              <a:rPr lang="en-US" dirty="0"/>
              <a:t>once de Leon and Bailey, 2024 : impact of leaf angle and density distribution on WUE</a:t>
            </a:r>
          </a:p>
          <a:p>
            <a:endParaRPr lang="en-US" dirty="0"/>
          </a:p>
          <a:p>
            <a:endParaRPr lang="en-US" dirty="0"/>
          </a:p>
          <a:p>
            <a:r>
              <a:rPr lang="en-US" dirty="0"/>
              <a:t>How to conceive a 3D cereal model with few architectural and developmental parameters and with a canopy-scale constrain on growth ?  </a:t>
            </a:r>
          </a:p>
          <a:p>
            <a:endParaRPr lang="en-US" dirty="0"/>
          </a:p>
          <a:p>
            <a:r>
              <a:rPr lang="en-US" dirty="0"/>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p:txBody>
      </p:sp>
      <p:sp>
        <p:nvSpPr>
          <p:cNvPr id="4" name="Slide Number Placeholder 3"/>
          <p:cNvSpPr>
            <a:spLocks noGrp="1"/>
          </p:cNvSpPr>
          <p:nvPr>
            <p:ph type="sldNum" sz="quarter" idx="5"/>
          </p:nvPr>
        </p:nvSpPr>
        <p:spPr/>
        <p:txBody>
          <a:bodyPr/>
          <a:lstStyle/>
          <a:p>
            <a:fld id="{A9A0A799-F059-4133-8369-1F74AA1BF689}" type="slidenum">
              <a:rPr lang="en-US" smtClean="0"/>
              <a:t>14</a:t>
            </a:fld>
            <a:endParaRPr lang="en-US"/>
          </a:p>
        </p:txBody>
      </p:sp>
    </p:spTree>
    <p:extLst>
      <p:ext uri="{BB962C8B-B14F-4D97-AF65-F5344CB8AC3E}">
        <p14:creationId xmlns:p14="http://schemas.microsoft.com/office/powerpoint/2010/main" val="38233785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Complémentarité des modèles, </a:t>
            </a:r>
            <a:r>
              <a:rPr lang="fr-FR" dirty="0" err="1"/>
              <a:t>trade</a:t>
            </a:r>
            <a:r>
              <a:rPr lang="fr-FR" dirty="0"/>
              <a:t>-off robustesse et précision</a:t>
            </a:r>
          </a:p>
          <a:p>
            <a:r>
              <a:rPr lang="fr-FR" dirty="0"/>
              <a:t>Top-down </a:t>
            </a:r>
            <a:r>
              <a:rPr lang="fr-FR" dirty="0" err="1"/>
              <a:t>approach</a:t>
            </a:r>
            <a:endParaRPr lang="fr-FR" dirty="0"/>
          </a:p>
          <a:p>
            <a:endParaRPr lang="fr-FR" dirty="0"/>
          </a:p>
          <a:p>
            <a:r>
              <a:rPr lang="en-US" dirty="0"/>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endParaRPr lang="en-US" dirty="0"/>
          </a:p>
          <a:p>
            <a:r>
              <a:rPr lang="en-US" dirty="0"/>
              <a:t>State of the art:</a:t>
            </a:r>
          </a:p>
          <a:p>
            <a:r>
              <a:rPr lang="en-US" dirty="0" err="1"/>
              <a:t>Vezy</a:t>
            </a:r>
            <a:r>
              <a:rPr lang="en-US" dirty="0"/>
              <a:t> 2023: hybrid 2.5D formalism for light interception in STICS crop model</a:t>
            </a:r>
            <a:endParaRPr lang="fr-FR" dirty="0"/>
          </a:p>
          <a:p>
            <a:r>
              <a:rPr lang="fr-FR" dirty="0"/>
              <a:t>Feng et al., 2014: </a:t>
            </a:r>
          </a:p>
          <a:p>
            <a:r>
              <a:rPr lang="fr-FR" dirty="0" err="1"/>
              <a:t>GreenLab</a:t>
            </a:r>
            <a:endParaRPr lang="fr-FR" dirty="0"/>
          </a:p>
          <a:p>
            <a:r>
              <a:rPr lang="fr-FR" dirty="0" err="1"/>
              <a:t>Ecomeristem</a:t>
            </a:r>
            <a:endParaRPr lang="fr-FR" dirty="0"/>
          </a:p>
          <a:p>
            <a:r>
              <a:rPr lang="fr-FR" dirty="0"/>
              <a:t>Li et al., 2024: </a:t>
            </a:r>
          </a:p>
          <a:p>
            <a:endParaRPr lang="fr-FR" dirty="0"/>
          </a:p>
          <a:p>
            <a:r>
              <a:rPr lang="fr-FR" dirty="0" err="1"/>
              <a:t>Barillot</a:t>
            </a:r>
            <a:r>
              <a:rPr lang="fr-FR" dirty="0"/>
              <a:t> et al., 2011: </a:t>
            </a:r>
            <a:r>
              <a:rPr lang="fr-FR" dirty="0" err="1"/>
              <a:t>assessment</a:t>
            </a:r>
            <a:r>
              <a:rPr lang="fr-FR" dirty="0"/>
              <a:t> of </a:t>
            </a:r>
            <a:r>
              <a:rPr lang="en-US" dirty="0"/>
              <a:t>turbid medium approach for simulating light interception of intercrops</a:t>
            </a:r>
          </a:p>
          <a:p>
            <a:r>
              <a:rPr lang="en-US" dirty="0"/>
              <a:t>Ponce de Leon and Bailey, 2019: assessment of turbid medium approach for simulating light interception of heterogeneous and </a:t>
            </a:r>
            <a:r>
              <a:rPr lang="en-US" dirty="0" err="1"/>
              <a:t>anisotropous</a:t>
            </a:r>
            <a:r>
              <a:rPr lang="en-US" dirty="0"/>
              <a:t> canopies</a:t>
            </a:r>
          </a:p>
          <a:p>
            <a:endParaRPr lang="fr-FR" dirty="0"/>
          </a:p>
          <a:p>
            <a:r>
              <a:rPr lang="fr-FR" dirty="0"/>
              <a:t>B</a:t>
            </a:r>
            <a:r>
              <a:rPr lang="en-US" dirty="0" err="1"/>
              <a:t>ailey</a:t>
            </a:r>
            <a:r>
              <a:rPr lang="en-US" dirty="0"/>
              <a:t> et al., 2020: incorporate the effects of vegetation heterogeneity or “clumping” within crop models; the models were evaluated by comparing against simulated data generated by a three-dimensional leaf-resolving model in which the exact inputs are known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Incorporate effect of vegetation heterogeneity within crop models + </a:t>
            </a:r>
            <a:r>
              <a:rPr lang="en-US" i="1" dirty="0"/>
              <a:t>in silico </a:t>
            </a:r>
            <a:r>
              <a:rPr lang="en-US" dirty="0"/>
              <a:t>model evaluation </a:t>
            </a:r>
          </a:p>
          <a:p>
            <a:endParaRPr lang="en-US" dirty="0"/>
          </a:p>
          <a:p>
            <a:r>
              <a:rPr lang="fr-FR" dirty="0" err="1"/>
              <a:t>Barillot</a:t>
            </a:r>
            <a:r>
              <a:rPr lang="fr-FR" dirty="0"/>
              <a:t> et al., 2014 </a:t>
            </a:r>
            <a:r>
              <a:rPr lang="en-US" dirty="0"/>
              <a:t>(wheat/pea intercrop)</a:t>
            </a:r>
            <a:r>
              <a:rPr lang="fr-FR" dirty="0"/>
              <a:t>: </a:t>
            </a:r>
            <a:r>
              <a:rPr lang="en-US" dirty="0"/>
              <a:t>impact of </a:t>
            </a:r>
            <a:r>
              <a:rPr lang="en-US" dirty="0" err="1"/>
              <a:t>archi</a:t>
            </a:r>
            <a:r>
              <a:rPr lang="en-US" dirty="0"/>
              <a:t> variations on light interception</a:t>
            </a:r>
            <a:endParaRPr lang="fr-FR" dirty="0"/>
          </a:p>
          <a:p>
            <a:r>
              <a:rPr lang="fr-FR" dirty="0"/>
              <a:t>T</a:t>
            </a:r>
            <a:r>
              <a:rPr lang="en-US" dirty="0" err="1"/>
              <a:t>ruong</a:t>
            </a:r>
            <a:r>
              <a:rPr lang="en-US" dirty="0"/>
              <a:t> et al, 2015 (sorghum); </a:t>
            </a:r>
            <a:r>
              <a:rPr lang="en-US" dirty="0" err="1"/>
              <a:t>Barillot</a:t>
            </a:r>
            <a:r>
              <a:rPr lang="en-US" dirty="0"/>
              <a:t> et al., 2019 (wheat/pea intercrop) : impact of leaf angle on light interception</a:t>
            </a:r>
          </a:p>
          <a:p>
            <a:r>
              <a:rPr lang="fr-FR" dirty="0"/>
              <a:t>P</a:t>
            </a:r>
            <a:r>
              <a:rPr lang="en-US" dirty="0"/>
              <a:t>once de Leon and Bailey, 2024 : impact of leaf angle and density distribution on WUE</a:t>
            </a:r>
          </a:p>
          <a:p>
            <a:endParaRPr lang="en-US" dirty="0"/>
          </a:p>
          <a:p>
            <a:endParaRPr lang="en-US" dirty="0"/>
          </a:p>
          <a:p>
            <a:r>
              <a:rPr lang="en-US" dirty="0"/>
              <a:t>How to conceive a 3D cereal model with few architectural and developmental parameters and with a canopy-scale constrain on growth ?  </a:t>
            </a:r>
          </a:p>
          <a:p>
            <a:endParaRPr lang="en-US" dirty="0"/>
          </a:p>
          <a:p>
            <a:r>
              <a:rPr lang="en-US" dirty="0"/>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p:txBody>
      </p:sp>
      <p:sp>
        <p:nvSpPr>
          <p:cNvPr id="4" name="Slide Number Placeholder 3"/>
          <p:cNvSpPr>
            <a:spLocks noGrp="1"/>
          </p:cNvSpPr>
          <p:nvPr>
            <p:ph type="sldNum" sz="quarter" idx="5"/>
          </p:nvPr>
        </p:nvSpPr>
        <p:spPr/>
        <p:txBody>
          <a:bodyPr/>
          <a:lstStyle/>
          <a:p>
            <a:fld id="{A9A0A799-F059-4133-8369-1F74AA1BF689}" type="slidenum">
              <a:rPr lang="en-US" smtClean="0"/>
              <a:t>15</a:t>
            </a:fld>
            <a:endParaRPr lang="en-US"/>
          </a:p>
        </p:txBody>
      </p:sp>
    </p:spTree>
    <p:extLst>
      <p:ext uri="{BB962C8B-B14F-4D97-AF65-F5344CB8AC3E}">
        <p14:creationId xmlns:p14="http://schemas.microsoft.com/office/powerpoint/2010/main" val="1095296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given process, for intercrops, what scale is the most relevant ?</a:t>
            </a:r>
          </a:p>
          <a:p>
            <a:r>
              <a:rPr lang="en-US" dirty="0"/>
              <a:t>C1: how to create an equivalent of a crop model simulation, but </a:t>
            </a:r>
            <a:r>
              <a:rPr lang="en-US" dirty="0" err="1"/>
              <a:t>architectured</a:t>
            </a:r>
            <a:r>
              <a:rPr lang="en-US" dirty="0"/>
              <a:t> ?</a:t>
            </a:r>
          </a:p>
          <a:p>
            <a:r>
              <a:rPr lang="en-US" dirty="0"/>
              <a:t>Peng 2020</a:t>
            </a:r>
          </a:p>
          <a:p>
            <a:endParaRPr lang="fr-FR" dirty="0"/>
          </a:p>
          <a:p>
            <a:r>
              <a:rPr lang="fr-FR" dirty="0"/>
              <a:t>M</a:t>
            </a:r>
            <a:r>
              <a:rPr lang="en-US" dirty="0"/>
              <a:t>ix with previous slide</a:t>
            </a:r>
          </a:p>
        </p:txBody>
      </p:sp>
      <p:sp>
        <p:nvSpPr>
          <p:cNvPr id="4" name="Slide Number Placeholder 3"/>
          <p:cNvSpPr>
            <a:spLocks noGrp="1"/>
          </p:cNvSpPr>
          <p:nvPr>
            <p:ph type="sldNum" sz="quarter" idx="5"/>
          </p:nvPr>
        </p:nvSpPr>
        <p:spPr/>
        <p:txBody>
          <a:bodyPr/>
          <a:lstStyle/>
          <a:p>
            <a:fld id="{A9A0A799-F059-4133-8369-1F74AA1BF689}" type="slidenum">
              <a:rPr lang="en-US" smtClean="0"/>
              <a:t>16</a:t>
            </a:fld>
            <a:endParaRPr lang="en-US"/>
          </a:p>
        </p:txBody>
      </p:sp>
    </p:spTree>
    <p:extLst>
      <p:ext uri="{BB962C8B-B14F-4D97-AF65-F5344CB8AC3E}">
        <p14:creationId xmlns:p14="http://schemas.microsoft.com/office/powerpoint/2010/main" val="26791895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given process, for intercrops, what scale is the most relevant ?</a:t>
            </a:r>
          </a:p>
          <a:p>
            <a:r>
              <a:rPr lang="en-US" dirty="0"/>
              <a:t>C1: how to create an equivalent of a crop model simulation, but </a:t>
            </a:r>
            <a:r>
              <a:rPr lang="en-US" dirty="0" err="1"/>
              <a:t>architectured</a:t>
            </a:r>
            <a:r>
              <a:rPr lang="en-US" dirty="0"/>
              <a:t> ?</a:t>
            </a:r>
          </a:p>
          <a:p>
            <a:r>
              <a:rPr lang="en-US" dirty="0"/>
              <a:t>Peng 2020</a:t>
            </a:r>
          </a:p>
          <a:p>
            <a:endParaRPr lang="fr-FR" dirty="0"/>
          </a:p>
          <a:p>
            <a:r>
              <a:rPr lang="fr-FR" dirty="0"/>
              <a:t>M</a:t>
            </a:r>
            <a:r>
              <a:rPr lang="en-US" dirty="0"/>
              <a:t>ix with previous slide</a:t>
            </a:r>
          </a:p>
        </p:txBody>
      </p:sp>
      <p:sp>
        <p:nvSpPr>
          <p:cNvPr id="4" name="Slide Number Placeholder 3"/>
          <p:cNvSpPr>
            <a:spLocks noGrp="1"/>
          </p:cNvSpPr>
          <p:nvPr>
            <p:ph type="sldNum" sz="quarter" idx="5"/>
          </p:nvPr>
        </p:nvSpPr>
        <p:spPr/>
        <p:txBody>
          <a:bodyPr/>
          <a:lstStyle/>
          <a:p>
            <a:fld id="{A9A0A799-F059-4133-8369-1F74AA1BF689}" type="slidenum">
              <a:rPr lang="en-US" smtClean="0"/>
              <a:t>17</a:t>
            </a:fld>
            <a:endParaRPr lang="en-US"/>
          </a:p>
        </p:txBody>
      </p:sp>
    </p:spTree>
    <p:extLst>
      <p:ext uri="{BB962C8B-B14F-4D97-AF65-F5344CB8AC3E}">
        <p14:creationId xmlns:p14="http://schemas.microsoft.com/office/powerpoint/2010/main" val="21240362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given process, for intercrops, what scale is the most relevant ?</a:t>
            </a:r>
          </a:p>
          <a:p>
            <a:r>
              <a:rPr lang="en-US" dirty="0"/>
              <a:t>C1: how to create an equivalent of a crop model simulation, but </a:t>
            </a:r>
            <a:r>
              <a:rPr lang="en-US" dirty="0" err="1"/>
              <a:t>architectured</a:t>
            </a:r>
            <a:r>
              <a:rPr lang="en-US" dirty="0"/>
              <a:t> ?</a:t>
            </a:r>
          </a:p>
          <a:p>
            <a:r>
              <a:rPr lang="en-US" dirty="0"/>
              <a:t>Peng 2020</a:t>
            </a:r>
          </a:p>
          <a:p>
            <a:endParaRPr lang="fr-FR" dirty="0"/>
          </a:p>
          <a:p>
            <a:r>
              <a:rPr lang="fr-FR" dirty="0"/>
              <a:t>M</a:t>
            </a:r>
            <a:r>
              <a:rPr lang="en-US" dirty="0"/>
              <a:t>ix with previous slide</a:t>
            </a:r>
          </a:p>
        </p:txBody>
      </p:sp>
      <p:sp>
        <p:nvSpPr>
          <p:cNvPr id="4" name="Slide Number Placeholder 3"/>
          <p:cNvSpPr>
            <a:spLocks noGrp="1"/>
          </p:cNvSpPr>
          <p:nvPr>
            <p:ph type="sldNum" sz="quarter" idx="5"/>
          </p:nvPr>
        </p:nvSpPr>
        <p:spPr/>
        <p:txBody>
          <a:bodyPr/>
          <a:lstStyle/>
          <a:p>
            <a:fld id="{A9A0A799-F059-4133-8369-1F74AA1BF689}" type="slidenum">
              <a:rPr lang="en-US" smtClean="0"/>
              <a:t>18</a:t>
            </a:fld>
            <a:endParaRPr lang="en-US"/>
          </a:p>
        </p:txBody>
      </p:sp>
    </p:spTree>
    <p:extLst>
      <p:ext uri="{BB962C8B-B14F-4D97-AF65-F5344CB8AC3E}">
        <p14:creationId xmlns:p14="http://schemas.microsoft.com/office/powerpoint/2010/main" val="13148818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19</a:t>
            </a:fld>
            <a:endParaRPr lang="en-US"/>
          </a:p>
        </p:txBody>
      </p:sp>
    </p:spTree>
    <p:extLst>
      <p:ext uri="{BB962C8B-B14F-4D97-AF65-F5344CB8AC3E}">
        <p14:creationId xmlns:p14="http://schemas.microsoft.com/office/powerpoint/2010/main" val="18710606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err="1"/>
              <a:t>Abichou</a:t>
            </a:r>
            <a:r>
              <a:rPr lang="en-US" dirty="0"/>
              <a:t> et al., 2018; Fournier</a:t>
            </a:r>
          </a:p>
          <a:p>
            <a:pPr marL="0" indent="0">
              <a:buNone/>
            </a:pPr>
            <a:endParaRPr lang="en-US" dirty="0"/>
          </a:p>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20</a:t>
            </a:fld>
            <a:endParaRPr lang="en-US"/>
          </a:p>
        </p:txBody>
      </p:sp>
    </p:spTree>
    <p:extLst>
      <p:ext uri="{BB962C8B-B14F-4D97-AF65-F5344CB8AC3E}">
        <p14:creationId xmlns:p14="http://schemas.microsoft.com/office/powerpoint/2010/main" val="18710606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err="1"/>
              <a:t>Abichou</a:t>
            </a:r>
            <a:r>
              <a:rPr lang="en-US" dirty="0"/>
              <a:t> et al., 2018; Fournier</a:t>
            </a:r>
          </a:p>
          <a:p>
            <a:pPr marL="0" indent="0">
              <a:buNone/>
            </a:pPr>
            <a:endParaRPr lang="en-US" dirty="0"/>
          </a:p>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21</a:t>
            </a:fld>
            <a:endParaRPr lang="en-US"/>
          </a:p>
        </p:txBody>
      </p:sp>
    </p:spTree>
    <p:extLst>
      <p:ext uri="{BB962C8B-B14F-4D97-AF65-F5344CB8AC3E}">
        <p14:creationId xmlns:p14="http://schemas.microsoft.com/office/powerpoint/2010/main" val="3084940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Cereal architecture is defined by parametric laws</a:t>
            </a:r>
            <a:endParaRPr lang="fr-FR" dirty="0"/>
          </a:p>
          <a:p>
            <a:r>
              <a:rPr lang="fr-FR" dirty="0" err="1"/>
              <a:t>Known</a:t>
            </a:r>
            <a:r>
              <a:rPr lang="fr-FR" dirty="0"/>
              <a:t> </a:t>
            </a:r>
            <a:r>
              <a:rPr lang="fr-FR" dirty="0" err="1"/>
              <a:t>from</a:t>
            </a:r>
            <a:r>
              <a:rPr lang="fr-FR" dirty="0"/>
              <a:t> </a:t>
            </a:r>
            <a:r>
              <a:rPr lang="fr-FR" dirty="0" err="1"/>
              <a:t>literature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22</a:t>
            </a:fld>
            <a:endParaRPr lang="en-US"/>
          </a:p>
        </p:txBody>
      </p:sp>
    </p:spTree>
    <p:extLst>
      <p:ext uri="{BB962C8B-B14F-4D97-AF65-F5344CB8AC3E}">
        <p14:creationId xmlns:p14="http://schemas.microsoft.com/office/powerpoint/2010/main" val="31424799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Stresses integrated in growth dynamics can impede the growth of potential plant</a:t>
            </a:r>
          </a:p>
        </p:txBody>
      </p:sp>
      <p:sp>
        <p:nvSpPr>
          <p:cNvPr id="4" name="Slide Number Placeholder 3"/>
          <p:cNvSpPr>
            <a:spLocks noGrp="1"/>
          </p:cNvSpPr>
          <p:nvPr>
            <p:ph type="sldNum" sz="quarter" idx="5"/>
          </p:nvPr>
        </p:nvSpPr>
        <p:spPr/>
        <p:txBody>
          <a:bodyPr/>
          <a:lstStyle/>
          <a:p>
            <a:fld id="{A9A0A799-F059-4133-8369-1F74AA1BF689}" type="slidenum">
              <a:rPr lang="en-US" smtClean="0"/>
              <a:t>23</a:t>
            </a:fld>
            <a:endParaRPr lang="en-US"/>
          </a:p>
        </p:txBody>
      </p:sp>
    </p:spTree>
    <p:extLst>
      <p:ext uri="{BB962C8B-B14F-4D97-AF65-F5344CB8AC3E}">
        <p14:creationId xmlns:p14="http://schemas.microsoft.com/office/powerpoint/2010/main" val="433239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variability : parametrized and emergent !</a:t>
            </a:r>
          </a:p>
          <a:p>
            <a:r>
              <a:rPr lang="en-US" sz="1200" dirty="0"/>
              <a:t>For instance, for a given simulation with a crop model, it is possible to obtain a large number of corresponding simulations on a finer scale, by varying these degrees of freedom within a given range of values for a given species. In other words, we can explore the architectural variability of a species by generating a set of morphotypes.</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24</a:t>
            </a:fld>
            <a:endParaRPr lang="en-US"/>
          </a:p>
        </p:txBody>
      </p:sp>
    </p:spTree>
    <p:extLst>
      <p:ext uri="{BB962C8B-B14F-4D97-AF65-F5344CB8AC3E}">
        <p14:creationId xmlns:p14="http://schemas.microsoft.com/office/powerpoint/2010/main" val="14292569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varying within species-specific range</a:t>
            </a:r>
          </a:p>
        </p:txBody>
      </p:sp>
      <p:sp>
        <p:nvSpPr>
          <p:cNvPr id="4" name="Slide Number Placeholder 3"/>
          <p:cNvSpPr>
            <a:spLocks noGrp="1"/>
          </p:cNvSpPr>
          <p:nvPr>
            <p:ph type="sldNum" sz="quarter" idx="5"/>
          </p:nvPr>
        </p:nvSpPr>
        <p:spPr/>
        <p:txBody>
          <a:bodyPr/>
          <a:lstStyle/>
          <a:p>
            <a:fld id="{A9A0A799-F059-4133-8369-1F74AA1BF689}" type="slidenum">
              <a:rPr lang="en-US" smtClean="0"/>
              <a:t>25</a:t>
            </a:fld>
            <a:endParaRPr lang="en-US"/>
          </a:p>
        </p:txBody>
      </p:sp>
    </p:spTree>
    <p:extLst>
      <p:ext uri="{BB962C8B-B14F-4D97-AF65-F5344CB8AC3E}">
        <p14:creationId xmlns:p14="http://schemas.microsoft.com/office/powerpoint/2010/main" val="13759121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Comparison with crop model outputs and analysis of the uncertainty associated to architecture parameters and spatial configuration</a:t>
            </a:r>
            <a:endParaRPr lang="en-US" dirty="0"/>
          </a:p>
          <a:p>
            <a:endParaRPr lang="en-US" dirty="0"/>
          </a:p>
          <a:p>
            <a:r>
              <a:rPr lang="en-US" dirty="0"/>
              <a:t>Allometries to restrain morphological space (to what extent)</a:t>
            </a:r>
          </a:p>
          <a:p>
            <a:r>
              <a:rPr lang="en-US" dirty="0"/>
              <a:t>Test crop model hypotheses</a:t>
            </a:r>
          </a:p>
          <a:p>
            <a:r>
              <a:rPr lang="en-US" dirty="0"/>
              <a:t>Which parameters (+1 slide)</a:t>
            </a:r>
          </a:p>
        </p:txBody>
      </p:sp>
      <p:sp>
        <p:nvSpPr>
          <p:cNvPr id="4" name="Slide Number Placeholder 3"/>
          <p:cNvSpPr>
            <a:spLocks noGrp="1"/>
          </p:cNvSpPr>
          <p:nvPr>
            <p:ph type="sldNum" sz="quarter" idx="5"/>
          </p:nvPr>
        </p:nvSpPr>
        <p:spPr/>
        <p:txBody>
          <a:bodyPr/>
          <a:lstStyle/>
          <a:p>
            <a:fld id="{A9A0A799-F059-4133-8369-1F74AA1BF689}" type="slidenum">
              <a:rPr lang="en-US" smtClean="0"/>
              <a:t>27</a:t>
            </a:fld>
            <a:endParaRPr lang="en-US"/>
          </a:p>
        </p:txBody>
      </p:sp>
    </p:spTree>
    <p:extLst>
      <p:ext uri="{BB962C8B-B14F-4D97-AF65-F5344CB8AC3E}">
        <p14:creationId xmlns:p14="http://schemas.microsoft.com/office/powerpoint/2010/main" val="4843451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Comparison with crop model outputs and analysis of the uncertainty associated to architecture parameters and spatial configuration</a:t>
            </a:r>
            <a:endParaRPr lang="en-US" dirty="0"/>
          </a:p>
          <a:p>
            <a:endParaRPr lang="en-US" dirty="0"/>
          </a:p>
          <a:p>
            <a:r>
              <a:rPr lang="en-US" dirty="0"/>
              <a:t>Allometries to restrain morphological space (to what extent)</a:t>
            </a:r>
          </a:p>
          <a:p>
            <a:r>
              <a:rPr lang="en-US" dirty="0"/>
              <a:t>Test crop model hypotheses</a:t>
            </a:r>
          </a:p>
          <a:p>
            <a:r>
              <a:rPr lang="en-US" dirty="0"/>
              <a:t>Which parameters (+1 slide)</a:t>
            </a:r>
          </a:p>
        </p:txBody>
      </p:sp>
      <p:sp>
        <p:nvSpPr>
          <p:cNvPr id="4" name="Slide Number Placeholder 3"/>
          <p:cNvSpPr>
            <a:spLocks noGrp="1"/>
          </p:cNvSpPr>
          <p:nvPr>
            <p:ph type="sldNum" sz="quarter" idx="5"/>
          </p:nvPr>
        </p:nvSpPr>
        <p:spPr/>
        <p:txBody>
          <a:bodyPr/>
          <a:lstStyle/>
          <a:p>
            <a:fld id="{A9A0A799-F059-4133-8369-1F74AA1BF689}" type="slidenum">
              <a:rPr lang="en-US" smtClean="0"/>
              <a:t>28</a:t>
            </a:fld>
            <a:endParaRPr lang="en-US"/>
          </a:p>
        </p:txBody>
      </p:sp>
    </p:spTree>
    <p:extLst>
      <p:ext uri="{BB962C8B-B14F-4D97-AF65-F5344CB8AC3E}">
        <p14:creationId xmlns:p14="http://schemas.microsoft.com/office/powerpoint/2010/main" val="42055525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Comparison with crop model outputs and analysis of the uncertainty associated to architecture parameters and spatial configuration</a:t>
            </a:r>
            <a:endParaRPr lang="en-US" dirty="0"/>
          </a:p>
          <a:p>
            <a:endParaRPr lang="en-US" dirty="0"/>
          </a:p>
          <a:p>
            <a:r>
              <a:rPr lang="en-US" dirty="0"/>
              <a:t>Allometries to restrain morphological space (to what extent)</a:t>
            </a:r>
          </a:p>
          <a:p>
            <a:r>
              <a:rPr lang="en-US" dirty="0"/>
              <a:t>Test crop model hypotheses</a:t>
            </a:r>
          </a:p>
          <a:p>
            <a:r>
              <a:rPr lang="en-US" dirty="0"/>
              <a:t>Which parameters (+1 slide)</a:t>
            </a:r>
          </a:p>
        </p:txBody>
      </p:sp>
      <p:sp>
        <p:nvSpPr>
          <p:cNvPr id="4" name="Slide Number Placeholder 3"/>
          <p:cNvSpPr>
            <a:spLocks noGrp="1"/>
          </p:cNvSpPr>
          <p:nvPr>
            <p:ph type="sldNum" sz="quarter" idx="5"/>
          </p:nvPr>
        </p:nvSpPr>
        <p:spPr/>
        <p:txBody>
          <a:bodyPr/>
          <a:lstStyle/>
          <a:p>
            <a:fld id="{A9A0A799-F059-4133-8369-1F74AA1BF689}" type="slidenum">
              <a:rPr lang="en-US" smtClean="0"/>
              <a:t>29</a:t>
            </a:fld>
            <a:endParaRPr lang="en-US"/>
          </a:p>
        </p:txBody>
      </p:sp>
    </p:spTree>
    <p:extLst>
      <p:ext uri="{BB962C8B-B14F-4D97-AF65-F5344CB8AC3E}">
        <p14:creationId xmlns:p14="http://schemas.microsoft.com/office/powerpoint/2010/main" val="38665572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plants grow too fast ?</a:t>
            </a:r>
          </a:p>
          <a:p>
            <a:r>
              <a:rPr lang="en-US" dirty="0"/>
              <a:t>Canopy closure early ?</a:t>
            </a:r>
          </a:p>
        </p:txBody>
      </p:sp>
      <p:sp>
        <p:nvSpPr>
          <p:cNvPr id="4" name="Slide Number Placeholder 3"/>
          <p:cNvSpPr>
            <a:spLocks noGrp="1"/>
          </p:cNvSpPr>
          <p:nvPr>
            <p:ph type="sldNum" sz="quarter" idx="5"/>
          </p:nvPr>
        </p:nvSpPr>
        <p:spPr/>
        <p:txBody>
          <a:bodyPr/>
          <a:lstStyle/>
          <a:p>
            <a:fld id="{A9A0A799-F059-4133-8369-1F74AA1BF689}" type="slidenum">
              <a:rPr lang="en-US" smtClean="0"/>
              <a:t>32</a:t>
            </a:fld>
            <a:endParaRPr lang="en-US"/>
          </a:p>
        </p:txBody>
      </p:sp>
    </p:spTree>
    <p:extLst>
      <p:ext uri="{BB962C8B-B14F-4D97-AF65-F5344CB8AC3E}">
        <p14:creationId xmlns:p14="http://schemas.microsoft.com/office/powerpoint/2010/main" val="19842908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p:cNvSpPr>
            <a:spLocks noGrp="1"/>
          </p:cNvSpPr>
          <p:nvPr>
            <p:ph type="dt" sz="half" idx="10"/>
          </p:nvPr>
        </p:nvSpPr>
        <p:spPr/>
        <p:txBody>
          <a:bodyPr/>
          <a:lstStyle/>
          <a:p>
            <a:fld id="{0C939681-64E9-4ED9-A4D7-2B0751918A9B}"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3104911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8811C267-FB5B-4DB2-8120-94FB1295D495}"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841795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Modifiez les styles du texte du masque</a:t>
            </a:r>
          </a:p>
        </p:txBody>
      </p:sp>
      <p:sp>
        <p:nvSpPr>
          <p:cNvPr id="4" name="Espace réservé de la date 3"/>
          <p:cNvSpPr>
            <a:spLocks noGrp="1"/>
          </p:cNvSpPr>
          <p:nvPr>
            <p:ph type="dt" sz="half" idx="10"/>
          </p:nvPr>
        </p:nvSpPr>
        <p:spPr/>
        <p:txBody>
          <a:bodyPr/>
          <a:lstStyle/>
          <a:p>
            <a:fld id="{8BEDAEE3-F550-4433-89BF-DB1C91B4E694}"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466923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875EFE55-6C38-4F83-92CA-E17D1080EAD0}" type="datetime1">
              <a:rPr lang="fr-FR" smtClean="0"/>
              <a:t>18/11/2024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74763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24B4F1F-1D19-4EA3-900F-F158BF65E775}" type="datetime1">
              <a:rPr lang="fr-FR" smtClean="0"/>
              <a:t>18/11/2024</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2611866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9347C87F-7D11-4D7B-B186-AEDF7BACC549}" type="datetime1">
              <a:rPr lang="fr-FR" smtClean="0"/>
              <a:t>18/11/2024</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395854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30B461FB-6D13-494D-89E1-4530981B7536}" type="datetime1">
              <a:rPr lang="fr-FR" smtClean="0"/>
              <a:t>18/11/2024</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4040201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D2CEF9DF-4A39-43ED-BE68-EB63D76CFF37}" type="datetime1">
              <a:rPr lang="fr-FR" smtClean="0"/>
              <a:t>18/11/2024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2706407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12BA0CB7-2A57-4841-B602-02CB78CDF575}" type="datetime1">
              <a:rPr lang="fr-FR" smtClean="0"/>
              <a:t>18/11/2024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1610903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188FBEE-F816-42FF-9376-FE7E35860987}"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4172787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174ABB49-665E-4EE2-8EBF-FE4A452697D3}"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19021775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2661C0-4019-4DF0-85FA-478C82BAF507}" type="datetime1">
              <a:rPr lang="fr-FR" smtClean="0"/>
              <a:t>18/11/2024</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C6CCC6-2BE5-4E42-96A4-D1E8E81A3D8E}" type="slidenum">
              <a:rPr lang="fr-FR" smtClean="0"/>
              <a:t>‹#›</a:t>
            </a:fld>
            <a:endParaRPr lang="fr-FR"/>
          </a:p>
        </p:txBody>
      </p:sp>
    </p:spTree>
    <p:extLst>
      <p:ext uri="{BB962C8B-B14F-4D97-AF65-F5344CB8AC3E}">
        <p14:creationId xmlns:p14="http://schemas.microsoft.com/office/powerpoint/2010/main" val="3071127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jpe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2.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2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9.sv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13.PNG"/><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5.png"/><Relationship Id="rId7"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13.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5.png"/><Relationship Id="rId7"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13.PNG"/><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descr="Une image contenant logo, symbole, Police, Emblème&#10;&#10;Description générée automatiquement">
            <a:extLst>
              <a:ext uri="{FF2B5EF4-FFF2-40B4-BE49-F238E27FC236}">
                <a16:creationId xmlns:a16="http://schemas.microsoft.com/office/drawing/2014/main" id="{0F1B57BE-99A8-48AD-010D-6FDB4CE832E8}"/>
              </a:ext>
            </a:extLst>
          </p:cNvPr>
          <p:cNvPicPr>
            <a:picLocks noChangeAspect="1"/>
          </p:cNvPicPr>
          <p:nvPr/>
        </p:nvPicPr>
        <p:blipFill>
          <a:blip r:embed="rId2"/>
          <a:stretch>
            <a:fillRect/>
          </a:stretch>
        </p:blipFill>
        <p:spPr>
          <a:xfrm>
            <a:off x="9082544" y="456175"/>
            <a:ext cx="1093934" cy="1067083"/>
          </a:xfrm>
          <a:prstGeom prst="rect">
            <a:avLst/>
          </a:prstGeom>
        </p:spPr>
      </p:pic>
      <p:pic>
        <p:nvPicPr>
          <p:cNvPr id="6" name="Image 5" descr="Une image contenant texte, carte de visite, Police, logo&#10;&#10;Description générée automatiquement">
            <a:extLst>
              <a:ext uri="{FF2B5EF4-FFF2-40B4-BE49-F238E27FC236}">
                <a16:creationId xmlns:a16="http://schemas.microsoft.com/office/drawing/2014/main" id="{B0D4802D-A0F6-21D4-F02E-232C0B454AF4}"/>
              </a:ext>
            </a:extLst>
          </p:cNvPr>
          <p:cNvPicPr>
            <a:picLocks noChangeAspect="1"/>
          </p:cNvPicPr>
          <p:nvPr/>
        </p:nvPicPr>
        <p:blipFill>
          <a:blip r:embed="rId3"/>
          <a:stretch>
            <a:fillRect/>
          </a:stretch>
        </p:blipFill>
        <p:spPr>
          <a:xfrm>
            <a:off x="3109457" y="322058"/>
            <a:ext cx="1607220" cy="594037"/>
          </a:xfrm>
          <a:prstGeom prst="rect">
            <a:avLst/>
          </a:prstGeom>
        </p:spPr>
      </p:pic>
      <p:pic>
        <p:nvPicPr>
          <p:cNvPr id="7" name="Image 6" descr="Une image contenant Graphique, Police, logo, graphisme&#10;&#10;Description générée automatiquement">
            <a:extLst>
              <a:ext uri="{FF2B5EF4-FFF2-40B4-BE49-F238E27FC236}">
                <a16:creationId xmlns:a16="http://schemas.microsoft.com/office/drawing/2014/main" id="{2C611E11-5370-269F-3DB1-E099559E6973}"/>
              </a:ext>
            </a:extLst>
          </p:cNvPr>
          <p:cNvPicPr>
            <a:picLocks noChangeAspect="1"/>
          </p:cNvPicPr>
          <p:nvPr/>
        </p:nvPicPr>
        <p:blipFill rotWithShape="1">
          <a:blip r:embed="rId4"/>
          <a:srcRect t="2513" b="13491"/>
          <a:stretch/>
        </p:blipFill>
        <p:spPr>
          <a:xfrm>
            <a:off x="1524000" y="710539"/>
            <a:ext cx="1116005" cy="680929"/>
          </a:xfrm>
          <a:prstGeom prst="rect">
            <a:avLst/>
          </a:prstGeom>
        </p:spPr>
      </p:pic>
      <p:pic>
        <p:nvPicPr>
          <p:cNvPr id="8" name="Image 7" descr="Une image contenant texte, Graphique, graphisme, Police&#10;&#10;Description générée automatiquement">
            <a:extLst>
              <a:ext uri="{FF2B5EF4-FFF2-40B4-BE49-F238E27FC236}">
                <a16:creationId xmlns:a16="http://schemas.microsoft.com/office/drawing/2014/main" id="{96F5D487-E42A-F7DE-BE10-EDFC98D09473}"/>
              </a:ext>
            </a:extLst>
          </p:cNvPr>
          <p:cNvPicPr>
            <a:picLocks noChangeAspect="1"/>
          </p:cNvPicPr>
          <p:nvPr/>
        </p:nvPicPr>
        <p:blipFill>
          <a:blip r:embed="rId5"/>
          <a:stretch>
            <a:fillRect/>
          </a:stretch>
        </p:blipFill>
        <p:spPr>
          <a:xfrm>
            <a:off x="252992" y="208448"/>
            <a:ext cx="1093933" cy="1390736"/>
          </a:xfrm>
          <a:prstGeom prst="rect">
            <a:avLst/>
          </a:prstGeom>
        </p:spPr>
      </p:pic>
      <p:pic>
        <p:nvPicPr>
          <p:cNvPr id="9" name="Image 8" descr="Une image contenant Police, conception&#10;&#10;Description générée automatiquement">
            <a:extLst>
              <a:ext uri="{FF2B5EF4-FFF2-40B4-BE49-F238E27FC236}">
                <a16:creationId xmlns:a16="http://schemas.microsoft.com/office/drawing/2014/main" id="{5F1243C7-D429-C54F-9B84-E9D41BDAA7F1}"/>
              </a:ext>
            </a:extLst>
          </p:cNvPr>
          <p:cNvPicPr>
            <a:picLocks noChangeAspect="1"/>
          </p:cNvPicPr>
          <p:nvPr/>
        </p:nvPicPr>
        <p:blipFill>
          <a:blip r:embed="rId6"/>
          <a:stretch>
            <a:fillRect/>
          </a:stretch>
        </p:blipFill>
        <p:spPr>
          <a:xfrm>
            <a:off x="3109457" y="1096647"/>
            <a:ext cx="1604321" cy="605305"/>
          </a:xfrm>
          <a:prstGeom prst="rect">
            <a:avLst/>
          </a:prstGeom>
        </p:spPr>
      </p:pic>
      <p:pic>
        <p:nvPicPr>
          <p:cNvPr id="11" name="Image 10" descr="Une image contenant Police, Graphique, logo, graphisme&#10;&#10;Description générée automatiquement">
            <a:extLst>
              <a:ext uri="{FF2B5EF4-FFF2-40B4-BE49-F238E27FC236}">
                <a16:creationId xmlns:a16="http://schemas.microsoft.com/office/drawing/2014/main" id="{A47608B0-681C-A56E-F79B-2FFE5460102D}"/>
              </a:ext>
            </a:extLst>
          </p:cNvPr>
          <p:cNvPicPr>
            <a:picLocks noChangeAspect="1"/>
          </p:cNvPicPr>
          <p:nvPr/>
        </p:nvPicPr>
        <p:blipFill>
          <a:blip r:embed="rId7"/>
          <a:stretch>
            <a:fillRect/>
          </a:stretch>
        </p:blipFill>
        <p:spPr>
          <a:xfrm>
            <a:off x="10176478" y="250769"/>
            <a:ext cx="1383093" cy="459770"/>
          </a:xfrm>
          <a:prstGeom prst="rect">
            <a:avLst/>
          </a:prstGeom>
        </p:spPr>
      </p:pic>
      <p:pic>
        <p:nvPicPr>
          <p:cNvPr id="12" name="Image 11" descr="Une image contenant Police, Graphique, logo, texte&#10;&#10;Description générée automatiquement">
            <a:extLst>
              <a:ext uri="{FF2B5EF4-FFF2-40B4-BE49-F238E27FC236}">
                <a16:creationId xmlns:a16="http://schemas.microsoft.com/office/drawing/2014/main" id="{2E1F5487-2075-59F9-6D9C-B0224E931D53}"/>
              </a:ext>
            </a:extLst>
          </p:cNvPr>
          <p:cNvPicPr>
            <a:picLocks noChangeAspect="1"/>
          </p:cNvPicPr>
          <p:nvPr/>
        </p:nvPicPr>
        <p:blipFill>
          <a:blip r:embed="rId8"/>
          <a:stretch>
            <a:fillRect/>
          </a:stretch>
        </p:blipFill>
        <p:spPr>
          <a:xfrm>
            <a:off x="10322973" y="989717"/>
            <a:ext cx="1093935" cy="646111"/>
          </a:xfrm>
          <a:prstGeom prst="rect">
            <a:avLst/>
          </a:prstGeom>
        </p:spPr>
      </p:pic>
      <p:sp>
        <p:nvSpPr>
          <p:cNvPr id="13" name="Slide Number Placeholder 12">
            <a:extLst>
              <a:ext uri="{FF2B5EF4-FFF2-40B4-BE49-F238E27FC236}">
                <a16:creationId xmlns:a16="http://schemas.microsoft.com/office/drawing/2014/main" id="{35E9855F-9014-4E80-8C9B-4990DDDC83AA}"/>
              </a:ext>
            </a:extLst>
          </p:cNvPr>
          <p:cNvSpPr>
            <a:spLocks noGrp="1"/>
          </p:cNvSpPr>
          <p:nvPr>
            <p:ph type="sldNum" sz="quarter" idx="12"/>
          </p:nvPr>
        </p:nvSpPr>
        <p:spPr/>
        <p:txBody>
          <a:bodyPr/>
          <a:lstStyle/>
          <a:p>
            <a:fld id="{27C6CCC6-2BE5-4E42-96A4-D1E8E81A3D8E}" type="slidenum">
              <a:rPr lang="fr-FR" smtClean="0"/>
              <a:t>1</a:t>
            </a:fld>
            <a:endParaRPr lang="fr-FR" dirty="0"/>
          </a:p>
        </p:txBody>
      </p:sp>
      <p:sp>
        <p:nvSpPr>
          <p:cNvPr id="14" name="Subtitle 2">
            <a:extLst>
              <a:ext uri="{FF2B5EF4-FFF2-40B4-BE49-F238E27FC236}">
                <a16:creationId xmlns:a16="http://schemas.microsoft.com/office/drawing/2014/main" id="{A1BA3DBA-6C16-4E88-92C7-4138DA237B8E}"/>
              </a:ext>
            </a:extLst>
          </p:cNvPr>
          <p:cNvSpPr txBox="1">
            <a:spLocks/>
          </p:cNvSpPr>
          <p:nvPr/>
        </p:nvSpPr>
        <p:spPr>
          <a:xfrm>
            <a:off x="7361010" y="5667088"/>
            <a:ext cx="2154314" cy="96816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Marc Jaeger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Myriam Adam</a:t>
            </a:r>
          </a:p>
        </p:txBody>
      </p:sp>
      <p:sp>
        <p:nvSpPr>
          <p:cNvPr id="15" name="Subtitle 2">
            <a:extLst>
              <a:ext uri="{FF2B5EF4-FFF2-40B4-BE49-F238E27FC236}">
                <a16:creationId xmlns:a16="http://schemas.microsoft.com/office/drawing/2014/main" id="{762FB373-E77D-43AB-A634-BF3086140BF2}"/>
              </a:ext>
            </a:extLst>
          </p:cNvPr>
          <p:cNvSpPr txBox="1">
            <a:spLocks/>
          </p:cNvSpPr>
          <p:nvPr/>
        </p:nvSpPr>
        <p:spPr>
          <a:xfrm>
            <a:off x="9350543" y="5438080"/>
            <a:ext cx="2503503" cy="1444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Christophe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Pradal</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Remi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Vezy</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Thomas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Arsouze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ubtitle 2">
            <a:extLst>
              <a:ext uri="{FF2B5EF4-FFF2-40B4-BE49-F238E27FC236}">
                <a16:creationId xmlns:a16="http://schemas.microsoft.com/office/drawing/2014/main" id="{49B05722-4E54-40CA-8F79-173593400762}"/>
              </a:ext>
            </a:extLst>
          </p:cNvPr>
          <p:cNvSpPr txBox="1">
            <a:spLocks/>
          </p:cNvSpPr>
          <p:nvPr/>
        </p:nvSpPr>
        <p:spPr>
          <a:xfrm>
            <a:off x="5292099" y="5860263"/>
            <a:ext cx="1441823"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Supervision</a:t>
            </a:r>
          </a:p>
        </p:txBody>
      </p:sp>
      <p:cxnSp>
        <p:nvCxnSpPr>
          <p:cNvPr id="19" name="Straight Connector 18">
            <a:extLst>
              <a:ext uri="{FF2B5EF4-FFF2-40B4-BE49-F238E27FC236}">
                <a16:creationId xmlns:a16="http://schemas.microsoft.com/office/drawing/2014/main" id="{2D1A87D7-C5FD-4508-B8AA-0BF51605773C}"/>
              </a:ext>
            </a:extLst>
          </p:cNvPr>
          <p:cNvCxnSpPr>
            <a:cxnSpLocks/>
          </p:cNvCxnSpPr>
          <p:nvPr/>
        </p:nvCxnSpPr>
        <p:spPr>
          <a:xfrm>
            <a:off x="7038359" y="5486402"/>
            <a:ext cx="0" cy="1088558"/>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
        <p:nvSpPr>
          <p:cNvPr id="20" name="Subtitle 2">
            <a:extLst>
              <a:ext uri="{FF2B5EF4-FFF2-40B4-BE49-F238E27FC236}">
                <a16:creationId xmlns:a16="http://schemas.microsoft.com/office/drawing/2014/main" id="{B501BA8B-2A82-46A0-B767-376AA5F5CD9C}"/>
              </a:ext>
            </a:extLst>
          </p:cNvPr>
          <p:cNvSpPr txBox="1">
            <a:spLocks/>
          </p:cNvSpPr>
          <p:nvPr/>
        </p:nvSpPr>
        <p:spPr>
          <a:xfrm>
            <a:off x="655658" y="5868676"/>
            <a:ext cx="1553862"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PhD Student</a:t>
            </a:r>
          </a:p>
        </p:txBody>
      </p:sp>
      <p:sp>
        <p:nvSpPr>
          <p:cNvPr id="21" name="Subtitle 2">
            <a:extLst>
              <a:ext uri="{FF2B5EF4-FFF2-40B4-BE49-F238E27FC236}">
                <a16:creationId xmlns:a16="http://schemas.microsoft.com/office/drawing/2014/main" id="{3905ABFD-9EE2-4414-8474-30540DDC8881}"/>
              </a:ext>
            </a:extLst>
          </p:cNvPr>
          <p:cNvSpPr txBox="1">
            <a:spLocks/>
          </p:cNvSpPr>
          <p:nvPr/>
        </p:nvSpPr>
        <p:spPr>
          <a:xfrm>
            <a:off x="2503644" y="5868676"/>
            <a:ext cx="1740833" cy="6964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Oriane</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Braud</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58C34DD0-0CC8-4CA8-9D32-601A4432A99C}"/>
              </a:ext>
            </a:extLst>
          </p:cNvPr>
          <p:cNvCxnSpPr>
            <a:cxnSpLocks/>
          </p:cNvCxnSpPr>
          <p:nvPr/>
        </p:nvCxnSpPr>
        <p:spPr>
          <a:xfrm>
            <a:off x="2325363" y="5806530"/>
            <a:ext cx="0" cy="471363"/>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670E44CE-6B91-4FE4-A410-66B0DF3F169E}"/>
              </a:ext>
            </a:extLst>
          </p:cNvPr>
          <p:cNvSpPr/>
          <p:nvPr/>
        </p:nvSpPr>
        <p:spPr>
          <a:xfrm>
            <a:off x="715373" y="2441528"/>
            <a:ext cx="10761251" cy="2298881"/>
          </a:xfrm>
          <a:prstGeom prst="rect">
            <a:avLst/>
          </a:prstGeom>
          <a:solidFill>
            <a:srgbClr val="FFFFFF">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p:cNvSpPr>
            <a:spLocks noGrp="1"/>
          </p:cNvSpPr>
          <p:nvPr>
            <p:ph type="ctrTitle"/>
          </p:nvPr>
        </p:nvSpPr>
        <p:spPr>
          <a:xfrm>
            <a:off x="0" y="2355301"/>
            <a:ext cx="12192000" cy="2194397"/>
          </a:xfrm>
          <a:solidFill>
            <a:srgbClr val="F7941D">
              <a:alpha val="60000"/>
            </a:srgbClr>
          </a:solidFill>
        </p:spPr>
        <p:txBody>
          <a:bodyPr>
            <a:normAutofit/>
          </a:bodyPr>
          <a:lstStyle/>
          <a:p>
            <a:r>
              <a:rPr lang="en-US" sz="5100" b="1" dirty="0"/>
              <a:t>Multiscale hybrid modeling framework </a:t>
            </a:r>
            <a:br>
              <a:rPr lang="en-US" sz="5100" b="1" dirty="0"/>
            </a:br>
            <a:r>
              <a:rPr lang="en-US" sz="5100" b="1" dirty="0"/>
              <a:t>for intercrops : </a:t>
            </a:r>
            <a:br>
              <a:rPr lang="en-US" sz="5100" b="1" dirty="0"/>
            </a:br>
            <a:r>
              <a:rPr lang="en-US" sz="4400" b="1" dirty="0"/>
              <a:t>the best of crop and plant models</a:t>
            </a:r>
            <a:endParaRPr lang="fr-FR" sz="5100" b="1" dirty="0"/>
          </a:p>
        </p:txBody>
      </p:sp>
      <p:pic>
        <p:nvPicPr>
          <p:cNvPr id="4" name="Graphic 3">
            <a:extLst>
              <a:ext uri="{FF2B5EF4-FFF2-40B4-BE49-F238E27FC236}">
                <a16:creationId xmlns:a16="http://schemas.microsoft.com/office/drawing/2014/main" id="{D907D704-FDE8-41E8-A4D1-F130C49BFF5E}"/>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042000" y="389965"/>
            <a:ext cx="1476375" cy="1143000"/>
          </a:xfrm>
          <a:prstGeom prst="rect">
            <a:avLst/>
          </a:prstGeom>
        </p:spPr>
      </p:pic>
      <p:sp>
        <p:nvSpPr>
          <p:cNvPr id="3" name="TextBox 2">
            <a:extLst>
              <a:ext uri="{FF2B5EF4-FFF2-40B4-BE49-F238E27FC236}">
                <a16:creationId xmlns:a16="http://schemas.microsoft.com/office/drawing/2014/main" id="{4447252D-8AEF-4FA8-83E4-19AE62EB6727}"/>
              </a:ext>
            </a:extLst>
          </p:cNvPr>
          <p:cNvSpPr txBox="1"/>
          <p:nvPr/>
        </p:nvSpPr>
        <p:spPr>
          <a:xfrm>
            <a:off x="4324886" y="4641970"/>
            <a:ext cx="3376247" cy="369332"/>
          </a:xfrm>
          <a:prstGeom prst="rect">
            <a:avLst/>
          </a:prstGeom>
          <a:noFill/>
        </p:spPr>
        <p:txBody>
          <a:bodyPr wrap="square" rtlCol="0">
            <a:spAutoFit/>
          </a:bodyPr>
          <a:lstStyle/>
          <a:p>
            <a:r>
              <a:rPr lang="en-US" dirty="0"/>
              <a:t>PhD in computer science, 2</a:t>
            </a:r>
            <a:r>
              <a:rPr lang="en-US" baseline="30000" dirty="0"/>
              <a:t>nd</a:t>
            </a:r>
            <a:r>
              <a:rPr lang="en-US" dirty="0"/>
              <a:t> year</a:t>
            </a:r>
          </a:p>
        </p:txBody>
      </p:sp>
    </p:spTree>
    <p:extLst>
      <p:ext uri="{BB962C8B-B14F-4D97-AF65-F5344CB8AC3E}">
        <p14:creationId xmlns:p14="http://schemas.microsoft.com/office/powerpoint/2010/main" val="3784089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0AFAAC-EA6C-45A9-9E03-C9C9F0193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 4" descr="Une image contenant plein air, agriculture, récolte, Culture commerciale&#10;&#10;Description générée automatiquement">
            <a:extLst>
              <a:ext uri="{FF2B5EF4-FFF2-40B4-BE49-F238E27FC236}">
                <a16:creationId xmlns:a16="http://schemas.microsoft.com/office/drawing/2014/main" id="{3786E0D1-E499-E045-7B99-26DBAEB36AB5}"/>
              </a:ext>
            </a:extLst>
          </p:cNvPr>
          <p:cNvPicPr>
            <a:picLocks noChangeAspect="1"/>
          </p:cNvPicPr>
          <p:nvPr/>
        </p:nvPicPr>
        <p:blipFill rotWithShape="1">
          <a:blip r:embed="rId3"/>
          <a:srcRect t="34" r="10050" b="-34"/>
          <a:stretch/>
        </p:blipFill>
        <p:spPr>
          <a:xfrm>
            <a:off x="3009075" y="0"/>
            <a:ext cx="9184645" cy="6861124"/>
          </a:xfrm>
          <a:prstGeom prst="rect">
            <a:avLst/>
          </a:prstGeom>
        </p:spPr>
      </p:pic>
      <p:sp useBgFill="1">
        <p:nvSpPr>
          <p:cNvPr id="11" name="Freeform: Shape 10">
            <a:extLst>
              <a:ext uri="{FF2B5EF4-FFF2-40B4-BE49-F238E27FC236}">
                <a16:creationId xmlns:a16="http://schemas.microsoft.com/office/drawing/2014/main" id="{83549E37-C86B-4401-90BD-D8BF83859F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1" cy="6858000"/>
          </a:xfrm>
          <a:custGeom>
            <a:avLst/>
            <a:gdLst>
              <a:gd name="connsiteX0" fmla="*/ 0 w 6096001"/>
              <a:gd name="connsiteY0" fmla="*/ 0 h 6858000"/>
              <a:gd name="connsiteX1" fmla="*/ 4883023 w 6096001"/>
              <a:gd name="connsiteY1" fmla="*/ 0 h 6858000"/>
              <a:gd name="connsiteX2" fmla="*/ 4946006 w 6096001"/>
              <a:gd name="connsiteY2" fmla="*/ 69271 h 6858000"/>
              <a:gd name="connsiteX3" fmla="*/ 6096001 w 6096001"/>
              <a:gd name="connsiteY3" fmla="*/ 3429000 h 6858000"/>
              <a:gd name="connsiteX4" fmla="*/ 4946006 w 6096001"/>
              <a:gd name="connsiteY4" fmla="*/ 6788730 h 6858000"/>
              <a:gd name="connsiteX5" fmla="*/ 4883023 w 6096001"/>
              <a:gd name="connsiteY5" fmla="*/ 6858000 h 6858000"/>
              <a:gd name="connsiteX6" fmla="*/ 0 w 609600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1" h="6858000">
                <a:moveTo>
                  <a:pt x="0" y="0"/>
                </a:moveTo>
                <a:lnTo>
                  <a:pt x="4883023" y="0"/>
                </a:lnTo>
                <a:lnTo>
                  <a:pt x="4946006" y="69271"/>
                </a:lnTo>
                <a:cubicBezTo>
                  <a:pt x="5656532" y="929100"/>
                  <a:pt x="6096001" y="2116944"/>
                  <a:pt x="6096001" y="3429000"/>
                </a:cubicBezTo>
                <a:cubicBezTo>
                  <a:pt x="6096001" y="4741056"/>
                  <a:pt x="5656532" y="5928900"/>
                  <a:pt x="4946006" y="6788730"/>
                </a:cubicBezTo>
                <a:lnTo>
                  <a:pt x="4883023" y="6858000"/>
                </a:lnTo>
                <a:lnTo>
                  <a:pt x="0" y="6858000"/>
                </a:lnTo>
                <a:close/>
              </a:path>
            </a:pathLst>
          </a:custGeom>
          <a:ln w="9525">
            <a:solidFill>
              <a:srgbClr val="EFEFEF"/>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id="{8A17784E-76D8-4521-A77D-0D2EBB9230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86857" cy="6858000"/>
          </a:xfrm>
          <a:custGeom>
            <a:avLst/>
            <a:gdLst>
              <a:gd name="connsiteX0" fmla="*/ 0 w 6086857"/>
              <a:gd name="connsiteY0" fmla="*/ 0 h 6858000"/>
              <a:gd name="connsiteX1" fmla="*/ 4873879 w 6086857"/>
              <a:gd name="connsiteY1" fmla="*/ 0 h 6858000"/>
              <a:gd name="connsiteX2" fmla="*/ 4936862 w 6086857"/>
              <a:gd name="connsiteY2" fmla="*/ 69271 h 6858000"/>
              <a:gd name="connsiteX3" fmla="*/ 6086857 w 6086857"/>
              <a:gd name="connsiteY3" fmla="*/ 3429000 h 6858000"/>
              <a:gd name="connsiteX4" fmla="*/ 4936862 w 6086857"/>
              <a:gd name="connsiteY4" fmla="*/ 6788730 h 6858000"/>
              <a:gd name="connsiteX5" fmla="*/ 4873879 w 6086857"/>
              <a:gd name="connsiteY5" fmla="*/ 6858000 h 6858000"/>
              <a:gd name="connsiteX6" fmla="*/ 0 w 608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6857" h="6858000">
                <a:moveTo>
                  <a:pt x="0" y="0"/>
                </a:moveTo>
                <a:lnTo>
                  <a:pt x="4873879" y="0"/>
                </a:lnTo>
                <a:lnTo>
                  <a:pt x="4936862" y="69271"/>
                </a:lnTo>
                <a:cubicBezTo>
                  <a:pt x="5647388" y="929100"/>
                  <a:pt x="6086857" y="2116944"/>
                  <a:pt x="6086857" y="3429000"/>
                </a:cubicBezTo>
                <a:cubicBezTo>
                  <a:pt x="6086857" y="4741056"/>
                  <a:pt x="5647388" y="5928900"/>
                  <a:pt x="4936862" y="6788730"/>
                </a:cubicBezTo>
                <a:lnTo>
                  <a:pt x="487387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re 1">
            <a:extLst>
              <a:ext uri="{FF2B5EF4-FFF2-40B4-BE49-F238E27FC236}">
                <a16:creationId xmlns:a16="http://schemas.microsoft.com/office/drawing/2014/main" id="{7DDB3797-4CC7-EDEE-FE39-54180F07BBDD}"/>
              </a:ext>
            </a:extLst>
          </p:cNvPr>
          <p:cNvSpPr>
            <a:spLocks noGrp="1"/>
          </p:cNvSpPr>
          <p:nvPr>
            <p:ph type="title"/>
          </p:nvPr>
        </p:nvSpPr>
        <p:spPr>
          <a:xfrm>
            <a:off x="374904" y="272618"/>
            <a:ext cx="4992624" cy="1243584"/>
          </a:xfrm>
        </p:spPr>
        <p:txBody>
          <a:bodyPr anchor="ctr">
            <a:normAutofit/>
          </a:bodyPr>
          <a:lstStyle/>
          <a:p>
            <a:r>
              <a:rPr lang="fr-FR" sz="4000" dirty="0" err="1"/>
              <a:t>Intercropping</a:t>
            </a:r>
            <a:endParaRPr lang="fr-FR" sz="4000" dirty="0"/>
          </a:p>
        </p:txBody>
      </p:sp>
      <p:sp>
        <p:nvSpPr>
          <p:cNvPr id="3" name="Espace réservé du contenu 2">
            <a:extLst>
              <a:ext uri="{FF2B5EF4-FFF2-40B4-BE49-F238E27FC236}">
                <a16:creationId xmlns:a16="http://schemas.microsoft.com/office/drawing/2014/main" id="{2F576957-2006-8C6B-72B0-A66981D2DBA4}"/>
              </a:ext>
            </a:extLst>
          </p:cNvPr>
          <p:cNvSpPr>
            <a:spLocks noGrp="1"/>
          </p:cNvSpPr>
          <p:nvPr>
            <p:ph idx="1"/>
          </p:nvPr>
        </p:nvSpPr>
        <p:spPr>
          <a:xfrm>
            <a:off x="373184" y="1423788"/>
            <a:ext cx="4875997" cy="1361942"/>
          </a:xfrm>
        </p:spPr>
        <p:txBody>
          <a:bodyPr vert="horz" lIns="91440" tIns="45720" rIns="91440" bIns="45720" rtlCol="0" anchor="t">
            <a:normAutofit/>
          </a:bodyPr>
          <a:lstStyle/>
          <a:p>
            <a:pPr marL="0" indent="0">
              <a:buNone/>
            </a:pPr>
            <a:r>
              <a:rPr lang="fr-FR" sz="2000" dirty="0"/>
              <a:t>= </a:t>
            </a:r>
            <a:r>
              <a:rPr lang="fr-FR" sz="2000" dirty="0" err="1"/>
              <a:t>agroecological</a:t>
            </a:r>
            <a:r>
              <a:rPr lang="fr-FR" sz="2000" dirty="0"/>
              <a:t> </a:t>
            </a:r>
            <a:r>
              <a:rPr lang="fr-FR" sz="2000" dirty="0" err="1"/>
              <a:t>pratice</a:t>
            </a:r>
            <a:r>
              <a:rPr lang="fr-FR" sz="2000" dirty="0"/>
              <a:t> </a:t>
            </a:r>
            <a:r>
              <a:rPr lang="fr-FR" sz="2000" dirty="0" err="1"/>
              <a:t>where</a:t>
            </a:r>
            <a:r>
              <a:rPr lang="fr-FR" sz="2000" dirty="0"/>
              <a:t> at least </a:t>
            </a:r>
            <a:r>
              <a:rPr lang="fr-FR" sz="2000" dirty="0" err="1"/>
              <a:t>two</a:t>
            </a:r>
            <a:r>
              <a:rPr lang="fr-FR" sz="2000" dirty="0"/>
              <a:t> </a:t>
            </a:r>
            <a:r>
              <a:rPr lang="fr-FR" sz="2000" dirty="0" err="1"/>
              <a:t>crop</a:t>
            </a:r>
            <a:r>
              <a:rPr lang="fr-FR" sz="2000" dirty="0"/>
              <a:t> </a:t>
            </a:r>
            <a:r>
              <a:rPr lang="fr-FR" sz="2000" dirty="0" err="1"/>
              <a:t>species</a:t>
            </a:r>
            <a:r>
              <a:rPr lang="fr-FR" sz="2000" dirty="0"/>
              <a:t> are </a:t>
            </a:r>
            <a:r>
              <a:rPr lang="fr-FR" sz="2000" dirty="0" err="1"/>
              <a:t>grown</a:t>
            </a:r>
            <a:r>
              <a:rPr lang="fr-FR" sz="2000" dirty="0"/>
              <a:t> </a:t>
            </a:r>
            <a:r>
              <a:rPr lang="fr-FR" sz="2000" dirty="0" err="1"/>
              <a:t>together</a:t>
            </a:r>
            <a:r>
              <a:rPr lang="fr-FR" sz="2000" dirty="0"/>
              <a:t> </a:t>
            </a:r>
          </a:p>
          <a:p>
            <a:pPr marL="0" indent="0">
              <a:buNone/>
            </a:pPr>
            <a:r>
              <a:rPr lang="fr-FR" sz="1200" dirty="0"/>
              <a:t>(</a:t>
            </a:r>
            <a:r>
              <a:rPr lang="fr-FR" sz="1200" dirty="0" err="1"/>
              <a:t>Vandermeer</a:t>
            </a:r>
            <a:r>
              <a:rPr lang="fr-FR" sz="1200" dirty="0"/>
              <a:t>, 1989)</a:t>
            </a:r>
          </a:p>
        </p:txBody>
      </p:sp>
      <p:sp>
        <p:nvSpPr>
          <p:cNvPr id="7" name="ZoneTexte 6">
            <a:extLst>
              <a:ext uri="{FF2B5EF4-FFF2-40B4-BE49-F238E27FC236}">
                <a16:creationId xmlns:a16="http://schemas.microsoft.com/office/drawing/2014/main" id="{539C11AB-2D6F-DBBE-7F83-17817FF0989D}"/>
              </a:ext>
            </a:extLst>
          </p:cNvPr>
          <p:cNvSpPr txBox="1"/>
          <p:nvPr/>
        </p:nvSpPr>
        <p:spPr>
          <a:xfrm>
            <a:off x="8763171" y="4131689"/>
            <a:ext cx="1473905" cy="646331"/>
          </a:xfrm>
          <a:prstGeom prst="rect">
            <a:avLst/>
          </a:prstGeom>
          <a:solidFill>
            <a:srgbClr val="AEAEAE">
              <a:alpha val="74902"/>
            </a:srgb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b="1" dirty="0"/>
              <a:t>CEREALS</a:t>
            </a:r>
          </a:p>
          <a:p>
            <a:r>
              <a:rPr lang="fr-FR" dirty="0"/>
              <a:t>e.g.: </a:t>
            </a:r>
            <a:r>
              <a:rPr lang="fr-FR" dirty="0" err="1"/>
              <a:t>sorghum</a:t>
            </a:r>
            <a:endParaRPr lang="fr-FR" dirty="0"/>
          </a:p>
        </p:txBody>
      </p:sp>
      <p:sp>
        <p:nvSpPr>
          <p:cNvPr id="8" name="ZoneTexte 7">
            <a:extLst>
              <a:ext uri="{FF2B5EF4-FFF2-40B4-BE49-F238E27FC236}">
                <a16:creationId xmlns:a16="http://schemas.microsoft.com/office/drawing/2014/main" id="{E217DA51-B5A8-AFAB-D602-DF8A424A8898}"/>
              </a:ext>
            </a:extLst>
          </p:cNvPr>
          <p:cNvSpPr txBox="1"/>
          <p:nvPr/>
        </p:nvSpPr>
        <p:spPr>
          <a:xfrm>
            <a:off x="6716995" y="4131689"/>
            <a:ext cx="1378792" cy="646331"/>
          </a:xfrm>
          <a:prstGeom prst="rect">
            <a:avLst/>
          </a:prstGeom>
          <a:solidFill>
            <a:srgbClr val="AEAEAE">
              <a:alpha val="74902"/>
            </a:srgb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b="1" dirty="0"/>
              <a:t>LEGUMES</a:t>
            </a:r>
          </a:p>
          <a:p>
            <a:r>
              <a:rPr lang="fr-FR" dirty="0"/>
              <a:t>e.g.: </a:t>
            </a:r>
            <a:r>
              <a:rPr lang="fr-FR" dirty="0" err="1"/>
              <a:t>cowpea</a:t>
            </a:r>
            <a:endParaRPr lang="fr-FR" dirty="0"/>
          </a:p>
        </p:txBody>
      </p:sp>
      <p:sp>
        <p:nvSpPr>
          <p:cNvPr id="4" name="Slide Number Placeholder 3">
            <a:extLst>
              <a:ext uri="{FF2B5EF4-FFF2-40B4-BE49-F238E27FC236}">
                <a16:creationId xmlns:a16="http://schemas.microsoft.com/office/drawing/2014/main" id="{BE6FE07A-B7DD-4BCA-A02A-FB967C727457}"/>
              </a:ext>
            </a:extLst>
          </p:cNvPr>
          <p:cNvSpPr>
            <a:spLocks noGrp="1"/>
          </p:cNvSpPr>
          <p:nvPr>
            <p:ph type="sldNum" sz="quarter" idx="12"/>
          </p:nvPr>
        </p:nvSpPr>
        <p:spPr/>
        <p:txBody>
          <a:bodyPr/>
          <a:lstStyle/>
          <a:p>
            <a:fld id="{27C6CCC6-2BE5-4E42-96A4-D1E8E81A3D8E}" type="slidenum">
              <a:rPr lang="fr-FR" smtClean="0"/>
              <a:t>2</a:t>
            </a:fld>
            <a:endParaRPr lang="fr-FR"/>
          </a:p>
        </p:txBody>
      </p:sp>
      <p:sp>
        <p:nvSpPr>
          <p:cNvPr id="6" name="TextBox 5">
            <a:extLst>
              <a:ext uri="{FF2B5EF4-FFF2-40B4-BE49-F238E27FC236}">
                <a16:creationId xmlns:a16="http://schemas.microsoft.com/office/drawing/2014/main" id="{B0131E4D-4574-4E1F-B022-5D79D8358D6D}"/>
              </a:ext>
            </a:extLst>
          </p:cNvPr>
          <p:cNvSpPr txBox="1"/>
          <p:nvPr/>
        </p:nvSpPr>
        <p:spPr>
          <a:xfrm>
            <a:off x="374904" y="5495065"/>
            <a:ext cx="4599161" cy="646331"/>
          </a:xfrm>
          <a:prstGeom prst="rect">
            <a:avLst/>
          </a:prstGeom>
          <a:noFill/>
        </p:spPr>
        <p:txBody>
          <a:bodyPr wrap="square" rtlCol="0">
            <a:spAutoFit/>
          </a:bodyPr>
          <a:lstStyle/>
          <a:p>
            <a:pPr lvl="0">
              <a:lnSpc>
                <a:spcPct val="90000"/>
              </a:lnSpc>
              <a:spcBef>
                <a:spcPts val="1000"/>
              </a:spcBef>
            </a:pPr>
            <a:r>
              <a:rPr lang="fr-FR" sz="2000" dirty="0">
                <a:solidFill>
                  <a:prstClr val="black"/>
                </a:solidFill>
              </a:rPr>
              <a:t>… </a:t>
            </a:r>
            <a:r>
              <a:rPr lang="fr-FR" sz="2000" dirty="0" err="1">
                <a:solidFill>
                  <a:prstClr val="black"/>
                </a:solidFill>
              </a:rPr>
              <a:t>only</a:t>
            </a:r>
            <a:r>
              <a:rPr lang="fr-FR" sz="2000" dirty="0">
                <a:solidFill>
                  <a:prstClr val="black"/>
                </a:solidFill>
              </a:rPr>
              <a:t> if </a:t>
            </a:r>
            <a:r>
              <a:rPr lang="fr-FR" sz="2000" dirty="0" err="1">
                <a:solidFill>
                  <a:prstClr val="black"/>
                </a:solidFill>
              </a:rPr>
              <a:t>intercropping</a:t>
            </a:r>
            <a:r>
              <a:rPr lang="fr-FR" sz="2000" dirty="0">
                <a:solidFill>
                  <a:prstClr val="black"/>
                </a:solidFill>
              </a:rPr>
              <a:t> </a:t>
            </a:r>
            <a:r>
              <a:rPr lang="fr-FR" sz="2000" dirty="0" err="1">
                <a:solidFill>
                  <a:prstClr val="black"/>
                </a:solidFill>
              </a:rPr>
              <a:t>systems</a:t>
            </a:r>
            <a:r>
              <a:rPr lang="fr-FR" sz="2000" dirty="0">
                <a:solidFill>
                  <a:prstClr val="black"/>
                </a:solidFill>
              </a:rPr>
              <a:t> are </a:t>
            </a:r>
            <a:r>
              <a:rPr lang="fr-FR" sz="2000" dirty="0" err="1">
                <a:solidFill>
                  <a:prstClr val="black"/>
                </a:solidFill>
              </a:rPr>
              <a:t>optimized</a:t>
            </a:r>
            <a:endParaRPr lang="fr-FR" sz="2800" dirty="0">
              <a:solidFill>
                <a:prstClr val="black"/>
              </a:solidFill>
            </a:endParaRPr>
          </a:p>
        </p:txBody>
      </p:sp>
      <p:sp>
        <p:nvSpPr>
          <p:cNvPr id="10" name="TextBox 9">
            <a:extLst>
              <a:ext uri="{FF2B5EF4-FFF2-40B4-BE49-F238E27FC236}">
                <a16:creationId xmlns:a16="http://schemas.microsoft.com/office/drawing/2014/main" id="{B1CE0F28-2DC4-4FEB-AAEF-720D45676D00}"/>
              </a:ext>
            </a:extLst>
          </p:cNvPr>
          <p:cNvSpPr txBox="1"/>
          <p:nvPr/>
        </p:nvSpPr>
        <p:spPr>
          <a:xfrm>
            <a:off x="374903" y="3163088"/>
            <a:ext cx="5111497" cy="1456809"/>
          </a:xfrm>
          <a:prstGeom prst="rect">
            <a:avLst/>
          </a:prstGeom>
          <a:noFill/>
        </p:spPr>
        <p:txBody>
          <a:bodyPr wrap="square" rtlCol="0">
            <a:spAutoFit/>
          </a:bodyPr>
          <a:lstStyle/>
          <a:p>
            <a:pPr lvl="0">
              <a:lnSpc>
                <a:spcPct val="90000"/>
              </a:lnSpc>
              <a:spcBef>
                <a:spcPts val="1000"/>
              </a:spcBef>
            </a:pPr>
            <a:r>
              <a:rPr lang="fr-FR" sz="2000" dirty="0" err="1">
                <a:solidFill>
                  <a:prstClr val="black"/>
                </a:solidFill>
              </a:rPr>
              <a:t>Potential</a:t>
            </a:r>
            <a:r>
              <a:rPr lang="fr-FR" sz="2000" dirty="0">
                <a:solidFill>
                  <a:prstClr val="black"/>
                </a:solidFill>
              </a:rPr>
              <a:t> </a:t>
            </a:r>
            <a:r>
              <a:rPr lang="fr-FR" sz="2000" dirty="0" err="1">
                <a:solidFill>
                  <a:prstClr val="black"/>
                </a:solidFill>
              </a:rPr>
              <a:t>benefits</a:t>
            </a:r>
            <a:r>
              <a:rPr lang="fr-FR" sz="2000" dirty="0">
                <a:solidFill>
                  <a:prstClr val="black"/>
                </a:solidFill>
              </a:rPr>
              <a:t> : </a:t>
            </a:r>
          </a:p>
          <a:p>
            <a:pPr marL="742950" lvl="1" indent="-285750">
              <a:lnSpc>
                <a:spcPct val="90000"/>
              </a:lnSpc>
              <a:spcBef>
                <a:spcPts val="500"/>
              </a:spcBef>
              <a:buFont typeface="Courier New,monospace" panose="020B0604020202020204" pitchFamily="34" charset="0"/>
              <a:buChar char="o"/>
            </a:pPr>
            <a:r>
              <a:rPr lang="fr-FR" sz="1600" dirty="0">
                <a:solidFill>
                  <a:prstClr val="black"/>
                </a:solidFill>
                <a:cs typeface="Arial"/>
              </a:rPr>
              <a:t>more </a:t>
            </a:r>
            <a:r>
              <a:rPr lang="fr-FR" sz="1600" dirty="0" err="1">
                <a:solidFill>
                  <a:prstClr val="black"/>
                </a:solidFill>
                <a:cs typeface="Arial"/>
              </a:rPr>
              <a:t>resilience</a:t>
            </a:r>
            <a:r>
              <a:rPr lang="fr-FR" sz="1600" dirty="0">
                <a:solidFill>
                  <a:prstClr val="black"/>
                </a:solidFill>
                <a:cs typeface="Arial"/>
              </a:rPr>
              <a:t> to stresses</a:t>
            </a:r>
            <a:endParaRPr lang="fr-FR" sz="1600" dirty="0">
              <a:solidFill>
                <a:prstClr val="black"/>
              </a:solidFill>
              <a:cs typeface="Arial"/>
              <a:sym typeface="Wingdings" panose="05000000000000000000" pitchFamily="2" charset="2"/>
            </a:endParaRPr>
          </a:p>
          <a:p>
            <a:pPr marL="742950" lvl="1" indent="-285750">
              <a:lnSpc>
                <a:spcPct val="90000"/>
              </a:lnSpc>
              <a:spcBef>
                <a:spcPts val="500"/>
              </a:spcBef>
              <a:buFont typeface="Courier New,monospace" panose="020B0604020202020204" pitchFamily="34" charset="0"/>
              <a:buChar char="o"/>
            </a:pPr>
            <a:r>
              <a:rPr lang="fr-FR" sz="1600" dirty="0" err="1">
                <a:solidFill>
                  <a:prstClr val="black"/>
                </a:solidFill>
                <a:cs typeface="Arial"/>
                <a:sym typeface="Wingdings" panose="05000000000000000000" pitchFamily="2" charset="2"/>
              </a:rPr>
              <a:t>reduction</a:t>
            </a:r>
            <a:r>
              <a:rPr lang="fr-FR" sz="1600" dirty="0">
                <a:solidFill>
                  <a:prstClr val="black"/>
                </a:solidFill>
                <a:cs typeface="Arial"/>
                <a:sym typeface="Wingdings" panose="05000000000000000000" pitchFamily="2" charset="2"/>
              </a:rPr>
              <a:t> of use of </a:t>
            </a:r>
            <a:r>
              <a:rPr lang="en-US" sz="1600" dirty="0">
                <a:solidFill>
                  <a:prstClr val="black"/>
                </a:solidFill>
                <a:cs typeface="Arial"/>
                <a:sym typeface="Wingdings" panose="05000000000000000000" pitchFamily="2" charset="2"/>
              </a:rPr>
              <a:t>fertilizers and pesticides</a:t>
            </a:r>
            <a:endParaRPr lang="en-US" sz="1600" dirty="0">
              <a:solidFill>
                <a:prstClr val="black"/>
              </a:solidFill>
              <a:cs typeface="Arial"/>
            </a:endParaRPr>
          </a:p>
          <a:p>
            <a:pPr marL="742950" lvl="1" indent="-285750">
              <a:lnSpc>
                <a:spcPct val="90000"/>
              </a:lnSpc>
              <a:spcBef>
                <a:spcPts val="500"/>
              </a:spcBef>
              <a:buFont typeface="Courier New,monospace" panose="020B0604020202020204" pitchFamily="34" charset="0"/>
              <a:buChar char="o"/>
            </a:pPr>
            <a:r>
              <a:rPr lang="fr-FR" sz="1600" dirty="0" err="1">
                <a:solidFill>
                  <a:prstClr val="black"/>
                </a:solidFill>
                <a:cs typeface="Arial"/>
              </a:rPr>
              <a:t>increased</a:t>
            </a:r>
            <a:r>
              <a:rPr lang="fr-FR" sz="1600" dirty="0">
                <a:solidFill>
                  <a:prstClr val="black"/>
                </a:solidFill>
                <a:cs typeface="Arial"/>
              </a:rPr>
              <a:t> </a:t>
            </a:r>
            <a:r>
              <a:rPr lang="fr-FR" sz="1600" dirty="0" err="1">
                <a:solidFill>
                  <a:prstClr val="black"/>
                </a:solidFill>
                <a:cs typeface="Arial"/>
              </a:rPr>
              <a:t>yield</a:t>
            </a:r>
            <a:r>
              <a:rPr lang="fr-FR" sz="1600" dirty="0">
                <a:solidFill>
                  <a:prstClr val="black"/>
                </a:solidFill>
                <a:cs typeface="Arial"/>
              </a:rPr>
              <a:t> </a:t>
            </a:r>
          </a:p>
          <a:p>
            <a:pPr lvl="1">
              <a:lnSpc>
                <a:spcPct val="90000"/>
              </a:lnSpc>
              <a:spcBef>
                <a:spcPts val="500"/>
              </a:spcBef>
            </a:pPr>
            <a:r>
              <a:rPr lang="fr-FR" sz="1200" dirty="0">
                <a:solidFill>
                  <a:prstClr val="black"/>
                </a:solidFill>
                <a:cs typeface="Arial"/>
              </a:rPr>
              <a:t>(Jensen et al., 2020, </a:t>
            </a:r>
            <a:r>
              <a:rPr lang="fr-FR" sz="1200" dirty="0" err="1">
                <a:solidFill>
                  <a:prstClr val="black"/>
                </a:solidFill>
                <a:cs typeface="Arial"/>
              </a:rPr>
              <a:t>Stomph</a:t>
            </a:r>
            <a:r>
              <a:rPr lang="fr-FR" sz="1200" dirty="0">
                <a:solidFill>
                  <a:prstClr val="black"/>
                </a:solidFill>
                <a:cs typeface="Arial"/>
              </a:rPr>
              <a:t> et al., 2020, </a:t>
            </a:r>
            <a:r>
              <a:rPr lang="fr-FR" sz="1200" dirty="0" err="1">
                <a:solidFill>
                  <a:prstClr val="black"/>
                </a:solidFill>
                <a:cs typeface="Arial"/>
              </a:rPr>
              <a:t>Gaudio</a:t>
            </a:r>
            <a:r>
              <a:rPr lang="fr-FR" sz="1200" dirty="0">
                <a:solidFill>
                  <a:prstClr val="black"/>
                </a:solidFill>
                <a:cs typeface="Arial"/>
              </a:rPr>
              <a:t> et al., 2021)</a:t>
            </a:r>
            <a:endParaRPr lang="fr-FR" sz="1200" dirty="0">
              <a:solidFill>
                <a:prstClr val="black"/>
              </a:solidFill>
            </a:endParaRPr>
          </a:p>
        </p:txBody>
      </p:sp>
    </p:spTree>
    <p:extLst>
      <p:ext uri="{BB962C8B-B14F-4D97-AF65-F5344CB8AC3E}">
        <p14:creationId xmlns:p14="http://schemas.microsoft.com/office/powerpoint/2010/main" val="1965073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DA0040-5BAE-5958-FC78-C71152A3A0F7}"/>
              </a:ext>
            </a:extLst>
          </p:cNvPr>
          <p:cNvSpPr>
            <a:spLocks noGrp="1"/>
          </p:cNvSpPr>
          <p:nvPr>
            <p:ph type="title"/>
          </p:nvPr>
        </p:nvSpPr>
        <p:spPr>
          <a:xfrm>
            <a:off x="381247" y="306861"/>
            <a:ext cx="10515600" cy="1325563"/>
          </a:xfrm>
        </p:spPr>
        <p:txBody>
          <a:bodyPr>
            <a:normAutofit/>
          </a:bodyPr>
          <a:lstStyle/>
          <a:p>
            <a:r>
              <a:rPr lang="fr-FR" sz="4000" dirty="0" err="1"/>
              <a:t>Intercropping</a:t>
            </a:r>
            <a:r>
              <a:rPr lang="fr-FR" sz="4000" dirty="0"/>
              <a:t> </a:t>
            </a:r>
            <a:r>
              <a:rPr lang="fr-FR" sz="4000" dirty="0" err="1"/>
              <a:t>systems</a:t>
            </a:r>
            <a:endParaRPr lang="fr-FR" sz="4000" dirty="0"/>
          </a:p>
        </p:txBody>
      </p:sp>
      <p:sp>
        <p:nvSpPr>
          <p:cNvPr id="3" name="Espace réservé du contenu 2">
            <a:extLst>
              <a:ext uri="{FF2B5EF4-FFF2-40B4-BE49-F238E27FC236}">
                <a16:creationId xmlns:a16="http://schemas.microsoft.com/office/drawing/2014/main" id="{B93B4046-E733-DB53-FDB9-9FBE0D561F5E}"/>
              </a:ext>
            </a:extLst>
          </p:cNvPr>
          <p:cNvSpPr>
            <a:spLocks noGrp="1"/>
          </p:cNvSpPr>
          <p:nvPr>
            <p:ph idx="1"/>
          </p:nvPr>
        </p:nvSpPr>
        <p:spPr>
          <a:xfrm>
            <a:off x="838200" y="1687080"/>
            <a:ext cx="10515600" cy="828326"/>
          </a:xfrm>
        </p:spPr>
        <p:txBody>
          <a:bodyPr vert="horz" lIns="91440" tIns="45720" rIns="91440" bIns="45720" rtlCol="0" anchor="t">
            <a:normAutofit/>
          </a:bodyPr>
          <a:lstStyle/>
          <a:p>
            <a:pPr marL="0" indent="0" algn="ctr">
              <a:buNone/>
            </a:pPr>
            <a:r>
              <a:rPr lang="fr-FR" sz="4400" b="1" dirty="0"/>
              <a:t>G     x     G     x     E     x     M</a:t>
            </a:r>
          </a:p>
        </p:txBody>
      </p:sp>
      <p:sp>
        <p:nvSpPr>
          <p:cNvPr id="9" name="Espace réservé du contenu 2">
            <a:extLst>
              <a:ext uri="{FF2B5EF4-FFF2-40B4-BE49-F238E27FC236}">
                <a16:creationId xmlns:a16="http://schemas.microsoft.com/office/drawing/2014/main" id="{3A6AC0EF-9D2C-7B34-EE6E-A14EF7F60F5D}"/>
              </a:ext>
            </a:extLst>
          </p:cNvPr>
          <p:cNvSpPr txBox="1">
            <a:spLocks/>
          </p:cNvSpPr>
          <p:nvPr/>
        </p:nvSpPr>
        <p:spPr>
          <a:xfrm>
            <a:off x="4619899" y="2788186"/>
            <a:ext cx="1253833" cy="723330"/>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b="1" dirty="0" err="1"/>
              <a:t>Genotype</a:t>
            </a:r>
            <a:r>
              <a:rPr lang="fr-FR" sz="2000" dirty="0"/>
              <a:t> </a:t>
            </a:r>
            <a:r>
              <a:rPr lang="fr-FR" sz="1900" dirty="0"/>
              <a:t>of a </a:t>
            </a:r>
            <a:r>
              <a:rPr lang="fr-FR" sz="1900" dirty="0" err="1"/>
              <a:t>cereal</a:t>
            </a:r>
            <a:endParaRPr lang="fr-FR" sz="1900" dirty="0"/>
          </a:p>
        </p:txBody>
      </p:sp>
      <p:sp>
        <p:nvSpPr>
          <p:cNvPr id="10" name="Espace réservé du contenu 2">
            <a:extLst>
              <a:ext uri="{FF2B5EF4-FFF2-40B4-BE49-F238E27FC236}">
                <a16:creationId xmlns:a16="http://schemas.microsoft.com/office/drawing/2014/main" id="{726360F6-ECD4-8ABB-63C7-CF65D3630BF0}"/>
              </a:ext>
            </a:extLst>
          </p:cNvPr>
          <p:cNvSpPr txBox="1">
            <a:spLocks/>
          </p:cNvSpPr>
          <p:nvPr/>
        </p:nvSpPr>
        <p:spPr>
          <a:xfrm>
            <a:off x="2554187" y="2789505"/>
            <a:ext cx="1395594" cy="8975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err="1"/>
              <a:t>Genotype</a:t>
            </a:r>
            <a:r>
              <a:rPr lang="fr-FR" sz="2000" dirty="0"/>
              <a:t> </a:t>
            </a:r>
            <a:r>
              <a:rPr lang="fr-FR" sz="1800" dirty="0"/>
              <a:t>of a </a:t>
            </a:r>
            <a:r>
              <a:rPr lang="fr-FR" sz="1800" dirty="0" err="1"/>
              <a:t>legume</a:t>
            </a:r>
            <a:endParaRPr lang="fr-FR" sz="1800" dirty="0"/>
          </a:p>
        </p:txBody>
      </p:sp>
      <p:sp>
        <p:nvSpPr>
          <p:cNvPr id="11" name="Espace réservé du contenu 2">
            <a:extLst>
              <a:ext uri="{FF2B5EF4-FFF2-40B4-BE49-F238E27FC236}">
                <a16:creationId xmlns:a16="http://schemas.microsoft.com/office/drawing/2014/main" id="{00B1E25A-F2CD-2BF1-B075-C508D718FF10}"/>
              </a:ext>
            </a:extLst>
          </p:cNvPr>
          <p:cNvSpPr txBox="1">
            <a:spLocks/>
          </p:cNvSpPr>
          <p:nvPr/>
        </p:nvSpPr>
        <p:spPr>
          <a:xfrm>
            <a:off x="8392888" y="2789505"/>
            <a:ext cx="1865647" cy="201585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Management</a:t>
            </a:r>
          </a:p>
          <a:p>
            <a:pPr marL="0" indent="0">
              <a:buNone/>
            </a:pPr>
            <a:r>
              <a:rPr lang="fr-FR" sz="1800" dirty="0" err="1"/>
              <a:t>Sowing</a:t>
            </a:r>
            <a:r>
              <a:rPr lang="fr-FR" sz="1800" dirty="0"/>
              <a:t> pattern </a:t>
            </a:r>
          </a:p>
          <a:p>
            <a:pPr marL="0" indent="0">
              <a:buNone/>
            </a:pPr>
            <a:r>
              <a:rPr lang="fr-FR" sz="1800" dirty="0">
                <a:ea typeface="+mn-lt"/>
                <a:cs typeface="+mn-lt"/>
              </a:rPr>
              <a:t>Inputs</a:t>
            </a:r>
            <a:endParaRPr lang="fr-FR" sz="1800" dirty="0"/>
          </a:p>
        </p:txBody>
      </p:sp>
      <p:sp>
        <p:nvSpPr>
          <p:cNvPr id="12" name="Espace réservé du contenu 2">
            <a:extLst>
              <a:ext uri="{FF2B5EF4-FFF2-40B4-BE49-F238E27FC236}">
                <a16:creationId xmlns:a16="http://schemas.microsoft.com/office/drawing/2014/main" id="{652312E1-D4E0-631C-4DE6-22B2AAFC037C}"/>
              </a:ext>
            </a:extLst>
          </p:cNvPr>
          <p:cNvSpPr txBox="1">
            <a:spLocks/>
          </p:cNvSpPr>
          <p:nvPr/>
        </p:nvSpPr>
        <p:spPr>
          <a:xfrm>
            <a:off x="6509092" y="2788186"/>
            <a:ext cx="2101508" cy="98666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Environnement</a:t>
            </a:r>
          </a:p>
          <a:p>
            <a:pPr marL="0" indent="0">
              <a:buNone/>
            </a:pPr>
            <a:r>
              <a:rPr lang="fr-FR" sz="1800" dirty="0" err="1"/>
              <a:t>Soil</a:t>
            </a:r>
            <a:r>
              <a:rPr lang="fr-FR" sz="1800" dirty="0"/>
              <a:t> &amp; </a:t>
            </a:r>
            <a:r>
              <a:rPr lang="fr-FR" sz="1800" dirty="0" err="1"/>
              <a:t>atmosphere</a:t>
            </a:r>
            <a:endParaRPr lang="fr-FR" sz="1800" dirty="0">
              <a:ea typeface="+mn-lt"/>
              <a:cs typeface="+mn-lt"/>
            </a:endParaRPr>
          </a:p>
        </p:txBody>
      </p:sp>
      <p:pic>
        <p:nvPicPr>
          <p:cNvPr id="28" name="Image 27" descr="Une image contenant Tige, légume, plante, fleur&#10;&#10;Description générée automatiquement">
            <a:extLst>
              <a:ext uri="{FF2B5EF4-FFF2-40B4-BE49-F238E27FC236}">
                <a16:creationId xmlns:a16="http://schemas.microsoft.com/office/drawing/2014/main" id="{EF6D3CAF-D295-0DB9-6DA7-6076C82D57D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5043378" y="2334737"/>
            <a:ext cx="2210683" cy="2206336"/>
          </a:xfrm>
          <a:prstGeom prst="rect">
            <a:avLst/>
          </a:prstGeom>
        </p:spPr>
      </p:pic>
      <p:pic>
        <p:nvPicPr>
          <p:cNvPr id="29" name="Image 28" descr="Une image contenant légume, Tige, plante&#10;&#10;Description générée automatiquement">
            <a:extLst>
              <a:ext uri="{FF2B5EF4-FFF2-40B4-BE49-F238E27FC236}">
                <a16:creationId xmlns:a16="http://schemas.microsoft.com/office/drawing/2014/main" id="{CB7300D5-D900-803B-C6E0-48400A502652}"/>
              </a:ext>
            </a:extLst>
          </p:cNvPr>
          <p:cNvPicPr>
            <a:picLocks noChangeAspect="1"/>
          </p:cNvPicPr>
          <p:nvPr/>
        </p:nvPicPr>
        <p:blipFill>
          <a:blip r:embed="rId5"/>
          <a:stretch>
            <a:fillRect/>
          </a:stretch>
        </p:blipFill>
        <p:spPr>
          <a:xfrm>
            <a:off x="1863158" y="2544288"/>
            <a:ext cx="687347" cy="1977243"/>
          </a:xfrm>
          <a:prstGeom prst="rect">
            <a:avLst/>
          </a:prstGeom>
        </p:spPr>
      </p:pic>
      <p:sp>
        <p:nvSpPr>
          <p:cNvPr id="18" name="Slide Number Placeholder 17">
            <a:extLst>
              <a:ext uri="{FF2B5EF4-FFF2-40B4-BE49-F238E27FC236}">
                <a16:creationId xmlns:a16="http://schemas.microsoft.com/office/drawing/2014/main" id="{E9FCEF18-CA2B-4401-AC1F-4DDBB77028D7}"/>
              </a:ext>
            </a:extLst>
          </p:cNvPr>
          <p:cNvSpPr>
            <a:spLocks noGrp="1"/>
          </p:cNvSpPr>
          <p:nvPr>
            <p:ph type="sldNum" sz="quarter" idx="12"/>
          </p:nvPr>
        </p:nvSpPr>
        <p:spPr/>
        <p:txBody>
          <a:bodyPr/>
          <a:lstStyle/>
          <a:p>
            <a:fld id="{27C6CCC6-2BE5-4E42-96A4-D1E8E81A3D8E}" type="slidenum">
              <a:rPr lang="fr-FR" smtClean="0"/>
              <a:t>3</a:t>
            </a:fld>
            <a:endParaRPr lang="fr-FR"/>
          </a:p>
        </p:txBody>
      </p:sp>
      <p:grpSp>
        <p:nvGrpSpPr>
          <p:cNvPr id="25" name="Group 24">
            <a:extLst>
              <a:ext uri="{FF2B5EF4-FFF2-40B4-BE49-F238E27FC236}">
                <a16:creationId xmlns:a16="http://schemas.microsoft.com/office/drawing/2014/main" id="{3D47B465-0C7D-4E4F-BE3E-58BAC8758E34}"/>
              </a:ext>
            </a:extLst>
          </p:cNvPr>
          <p:cNvGrpSpPr/>
          <p:nvPr/>
        </p:nvGrpSpPr>
        <p:grpSpPr>
          <a:xfrm>
            <a:off x="10258535" y="2917201"/>
            <a:ext cx="1662744" cy="828326"/>
            <a:chOff x="7753259" y="1690688"/>
            <a:chExt cx="3695945" cy="2098945"/>
          </a:xfrm>
        </p:grpSpPr>
        <p:sp>
          <p:nvSpPr>
            <p:cNvPr id="26" name="Rectangle 25">
              <a:extLst>
                <a:ext uri="{FF2B5EF4-FFF2-40B4-BE49-F238E27FC236}">
                  <a16:creationId xmlns:a16="http://schemas.microsoft.com/office/drawing/2014/main" id="{562A15CC-2169-47CC-B46E-39697059270E}"/>
                </a:ext>
              </a:extLst>
            </p:cNvPr>
            <p:cNvSpPr/>
            <p:nvPr/>
          </p:nvSpPr>
          <p:spPr>
            <a:xfrm flipH="1">
              <a:off x="7753259"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BFA03D6-8DAB-4BFD-AC0C-56194FDFE6C5}"/>
                </a:ext>
              </a:extLst>
            </p:cNvPr>
            <p:cNvSpPr/>
            <p:nvPr/>
          </p:nvSpPr>
          <p:spPr>
            <a:xfrm flipH="1">
              <a:off x="8199698"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8C7DBA4-6806-4A6E-8A59-EE7AAF10921A}"/>
                </a:ext>
              </a:extLst>
            </p:cNvPr>
            <p:cNvSpPr/>
            <p:nvPr/>
          </p:nvSpPr>
          <p:spPr>
            <a:xfrm flipH="1">
              <a:off x="8644491"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D8DD0F1-B30D-4F34-9C55-630C66019568}"/>
                </a:ext>
              </a:extLst>
            </p:cNvPr>
            <p:cNvSpPr/>
            <p:nvPr/>
          </p:nvSpPr>
          <p:spPr>
            <a:xfrm flipH="1">
              <a:off x="9089292"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29C2248-97F9-4650-8864-BD59FF37EDC0}"/>
                </a:ext>
              </a:extLst>
            </p:cNvPr>
            <p:cNvSpPr/>
            <p:nvPr/>
          </p:nvSpPr>
          <p:spPr>
            <a:xfrm flipH="1">
              <a:off x="9678328"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3C64C55-16B2-4AC4-9009-9F04794B15E7}"/>
                </a:ext>
              </a:extLst>
            </p:cNvPr>
            <p:cNvSpPr/>
            <p:nvPr/>
          </p:nvSpPr>
          <p:spPr>
            <a:xfrm flipH="1">
              <a:off x="10124761" y="169099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B2B5C0FA-4687-46E1-83F0-AF0C76182EDF}"/>
                </a:ext>
              </a:extLst>
            </p:cNvPr>
            <p:cNvSpPr/>
            <p:nvPr/>
          </p:nvSpPr>
          <p:spPr>
            <a:xfrm flipH="1">
              <a:off x="10559044"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D12387-BCD0-4195-9434-79D0AB21F218}"/>
                </a:ext>
              </a:extLst>
            </p:cNvPr>
            <p:cNvSpPr/>
            <p:nvPr/>
          </p:nvSpPr>
          <p:spPr>
            <a:xfrm flipH="1">
              <a:off x="11003837" y="169238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9EE308-8FBC-46B6-9028-27D860C286F4}"/>
                </a:ext>
              </a:extLst>
            </p:cNvPr>
            <p:cNvSpPr/>
            <p:nvPr/>
          </p:nvSpPr>
          <p:spPr>
            <a:xfrm flipH="1">
              <a:off x="9667817" y="307848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F922928-5682-454D-A7E2-01569111FF60}"/>
                </a:ext>
              </a:extLst>
            </p:cNvPr>
            <p:cNvSpPr/>
            <p:nvPr/>
          </p:nvSpPr>
          <p:spPr>
            <a:xfrm flipH="1">
              <a:off x="9667817" y="238093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7021F17-CD35-4310-A83F-F96028E1C329}"/>
                </a:ext>
              </a:extLst>
            </p:cNvPr>
            <p:cNvSpPr/>
            <p:nvPr/>
          </p:nvSpPr>
          <p:spPr>
            <a:xfrm flipH="1">
              <a:off x="10486956" y="307995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275509F-222F-46EB-8AC8-BAA106D8584D}"/>
                </a:ext>
              </a:extLst>
            </p:cNvPr>
            <p:cNvSpPr/>
            <p:nvPr/>
          </p:nvSpPr>
          <p:spPr>
            <a:xfrm flipH="1">
              <a:off x="10560526" y="238240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0FA3C79-E836-4AC6-A5CC-58143CEBA1D6}"/>
                </a:ext>
              </a:extLst>
            </p:cNvPr>
            <p:cNvSpPr/>
            <p:nvPr/>
          </p:nvSpPr>
          <p:spPr>
            <a:xfrm flipH="1">
              <a:off x="10124761" y="238093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7EA3F62-9ECB-480A-B053-6ACC3BE6D049}"/>
                </a:ext>
              </a:extLst>
            </p:cNvPr>
            <p:cNvSpPr/>
            <p:nvPr/>
          </p:nvSpPr>
          <p:spPr>
            <a:xfrm flipH="1">
              <a:off x="9672818"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D8E41F4-053C-4736-A8FA-24DDC3EE943A}"/>
                </a:ext>
              </a:extLst>
            </p:cNvPr>
            <p:cNvSpPr/>
            <p:nvPr/>
          </p:nvSpPr>
          <p:spPr>
            <a:xfrm flipH="1">
              <a:off x="11005327" y="238093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CB23D8C-5C62-4094-8C62-4D08D0F26AC1}"/>
                </a:ext>
              </a:extLst>
            </p:cNvPr>
            <p:cNvSpPr/>
            <p:nvPr/>
          </p:nvSpPr>
          <p:spPr>
            <a:xfrm flipH="1">
              <a:off x="10575884"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4371866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DA0040-5BAE-5958-FC78-C71152A3A0F7}"/>
              </a:ext>
            </a:extLst>
          </p:cNvPr>
          <p:cNvSpPr>
            <a:spLocks noGrp="1"/>
          </p:cNvSpPr>
          <p:nvPr>
            <p:ph type="title"/>
          </p:nvPr>
        </p:nvSpPr>
        <p:spPr>
          <a:xfrm>
            <a:off x="381247" y="306861"/>
            <a:ext cx="10515600" cy="1325563"/>
          </a:xfrm>
        </p:spPr>
        <p:txBody>
          <a:bodyPr>
            <a:normAutofit/>
          </a:bodyPr>
          <a:lstStyle/>
          <a:p>
            <a:r>
              <a:rPr lang="fr-FR" sz="4000" dirty="0" err="1"/>
              <a:t>Intercropping</a:t>
            </a:r>
            <a:r>
              <a:rPr lang="fr-FR" sz="4000" dirty="0"/>
              <a:t> </a:t>
            </a:r>
            <a:r>
              <a:rPr lang="fr-FR" sz="4000" dirty="0" err="1"/>
              <a:t>systems</a:t>
            </a:r>
            <a:endParaRPr lang="fr-FR" sz="4000" dirty="0"/>
          </a:p>
        </p:txBody>
      </p:sp>
      <p:sp>
        <p:nvSpPr>
          <p:cNvPr id="3" name="Espace réservé du contenu 2">
            <a:extLst>
              <a:ext uri="{FF2B5EF4-FFF2-40B4-BE49-F238E27FC236}">
                <a16:creationId xmlns:a16="http://schemas.microsoft.com/office/drawing/2014/main" id="{B93B4046-E733-DB53-FDB9-9FBE0D561F5E}"/>
              </a:ext>
            </a:extLst>
          </p:cNvPr>
          <p:cNvSpPr>
            <a:spLocks noGrp="1"/>
          </p:cNvSpPr>
          <p:nvPr>
            <p:ph idx="1"/>
          </p:nvPr>
        </p:nvSpPr>
        <p:spPr>
          <a:xfrm>
            <a:off x="838200" y="1687080"/>
            <a:ext cx="10515600" cy="828326"/>
          </a:xfrm>
        </p:spPr>
        <p:txBody>
          <a:bodyPr vert="horz" lIns="91440" tIns="45720" rIns="91440" bIns="45720" rtlCol="0" anchor="t">
            <a:normAutofit/>
          </a:bodyPr>
          <a:lstStyle/>
          <a:p>
            <a:pPr marL="0" indent="0" algn="ctr">
              <a:buNone/>
            </a:pPr>
            <a:r>
              <a:rPr lang="fr-FR" sz="4400" b="1" dirty="0"/>
              <a:t>G     x     G     x     E     x     M</a:t>
            </a:r>
          </a:p>
        </p:txBody>
      </p:sp>
      <p:sp>
        <p:nvSpPr>
          <p:cNvPr id="7" name="Espace réservé du contenu 2">
            <a:extLst>
              <a:ext uri="{FF2B5EF4-FFF2-40B4-BE49-F238E27FC236}">
                <a16:creationId xmlns:a16="http://schemas.microsoft.com/office/drawing/2014/main" id="{30194FFF-6566-A0FA-6B5B-EF7DD75F6F24}"/>
              </a:ext>
            </a:extLst>
          </p:cNvPr>
          <p:cNvSpPr txBox="1">
            <a:spLocks/>
          </p:cNvSpPr>
          <p:nvPr/>
        </p:nvSpPr>
        <p:spPr>
          <a:xfrm>
            <a:off x="2824495" y="5532851"/>
            <a:ext cx="2839383" cy="46029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dirty="0" err="1"/>
              <a:t>Interspecific</a:t>
            </a:r>
            <a:r>
              <a:rPr lang="fr-FR" sz="2000" dirty="0"/>
              <a:t> interactions</a:t>
            </a:r>
            <a:endParaRPr lang="fr-FR" sz="2000" dirty="0">
              <a:ea typeface="+mn-lt"/>
              <a:cs typeface="+mn-lt"/>
            </a:endParaRPr>
          </a:p>
        </p:txBody>
      </p:sp>
      <p:sp>
        <p:nvSpPr>
          <p:cNvPr id="9" name="Espace réservé du contenu 2">
            <a:extLst>
              <a:ext uri="{FF2B5EF4-FFF2-40B4-BE49-F238E27FC236}">
                <a16:creationId xmlns:a16="http://schemas.microsoft.com/office/drawing/2014/main" id="{3A6AC0EF-9D2C-7B34-EE6E-A14EF7F60F5D}"/>
              </a:ext>
            </a:extLst>
          </p:cNvPr>
          <p:cNvSpPr txBox="1">
            <a:spLocks/>
          </p:cNvSpPr>
          <p:nvPr/>
        </p:nvSpPr>
        <p:spPr>
          <a:xfrm>
            <a:off x="4621218" y="2785698"/>
            <a:ext cx="1253833" cy="723330"/>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b="1" dirty="0" err="1"/>
              <a:t>Genotype</a:t>
            </a:r>
            <a:r>
              <a:rPr lang="fr-FR" sz="2000" dirty="0"/>
              <a:t> </a:t>
            </a:r>
            <a:r>
              <a:rPr lang="fr-FR" sz="1900" dirty="0"/>
              <a:t>of a </a:t>
            </a:r>
            <a:r>
              <a:rPr lang="fr-FR" sz="1900" dirty="0" err="1"/>
              <a:t>cereal</a:t>
            </a:r>
            <a:endParaRPr lang="fr-FR" sz="1900" dirty="0"/>
          </a:p>
        </p:txBody>
      </p:sp>
      <p:sp>
        <p:nvSpPr>
          <p:cNvPr id="10" name="Espace réservé du contenu 2">
            <a:extLst>
              <a:ext uri="{FF2B5EF4-FFF2-40B4-BE49-F238E27FC236}">
                <a16:creationId xmlns:a16="http://schemas.microsoft.com/office/drawing/2014/main" id="{726360F6-ECD4-8ABB-63C7-CF65D3630BF0}"/>
              </a:ext>
            </a:extLst>
          </p:cNvPr>
          <p:cNvSpPr txBox="1">
            <a:spLocks/>
          </p:cNvSpPr>
          <p:nvPr/>
        </p:nvSpPr>
        <p:spPr>
          <a:xfrm>
            <a:off x="2554187" y="2789505"/>
            <a:ext cx="1395594" cy="8975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err="1"/>
              <a:t>Genotype</a:t>
            </a:r>
            <a:r>
              <a:rPr lang="fr-FR" sz="2000" dirty="0"/>
              <a:t> </a:t>
            </a:r>
            <a:r>
              <a:rPr lang="fr-FR" sz="1800" dirty="0"/>
              <a:t>of a </a:t>
            </a:r>
            <a:r>
              <a:rPr lang="fr-FR" sz="1800" dirty="0" err="1"/>
              <a:t>legume</a:t>
            </a:r>
            <a:endParaRPr lang="fr-FR" sz="1800" dirty="0"/>
          </a:p>
        </p:txBody>
      </p:sp>
      <p:sp>
        <p:nvSpPr>
          <p:cNvPr id="11" name="Espace réservé du contenu 2">
            <a:extLst>
              <a:ext uri="{FF2B5EF4-FFF2-40B4-BE49-F238E27FC236}">
                <a16:creationId xmlns:a16="http://schemas.microsoft.com/office/drawing/2014/main" id="{00B1E25A-F2CD-2BF1-B075-C508D718FF10}"/>
              </a:ext>
            </a:extLst>
          </p:cNvPr>
          <p:cNvSpPr txBox="1">
            <a:spLocks/>
          </p:cNvSpPr>
          <p:nvPr/>
        </p:nvSpPr>
        <p:spPr>
          <a:xfrm>
            <a:off x="8392888" y="2789505"/>
            <a:ext cx="1865647" cy="201585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Management</a:t>
            </a:r>
          </a:p>
          <a:p>
            <a:pPr marL="0" indent="0">
              <a:buNone/>
            </a:pPr>
            <a:r>
              <a:rPr lang="fr-FR" sz="1800" dirty="0" err="1"/>
              <a:t>Sowing</a:t>
            </a:r>
            <a:r>
              <a:rPr lang="fr-FR" sz="1800" dirty="0"/>
              <a:t> pattern </a:t>
            </a:r>
          </a:p>
          <a:p>
            <a:pPr marL="0" indent="0">
              <a:buNone/>
            </a:pPr>
            <a:r>
              <a:rPr lang="fr-FR" sz="1800" dirty="0">
                <a:ea typeface="+mn-lt"/>
                <a:cs typeface="+mn-lt"/>
              </a:rPr>
              <a:t>Inputs</a:t>
            </a:r>
            <a:endParaRPr lang="fr-FR" sz="1800" dirty="0"/>
          </a:p>
        </p:txBody>
      </p:sp>
      <p:sp>
        <p:nvSpPr>
          <p:cNvPr id="12" name="Espace réservé du contenu 2">
            <a:extLst>
              <a:ext uri="{FF2B5EF4-FFF2-40B4-BE49-F238E27FC236}">
                <a16:creationId xmlns:a16="http://schemas.microsoft.com/office/drawing/2014/main" id="{652312E1-D4E0-631C-4DE6-22B2AAFC037C}"/>
              </a:ext>
            </a:extLst>
          </p:cNvPr>
          <p:cNvSpPr txBox="1">
            <a:spLocks/>
          </p:cNvSpPr>
          <p:nvPr/>
        </p:nvSpPr>
        <p:spPr>
          <a:xfrm>
            <a:off x="6509092" y="2788186"/>
            <a:ext cx="2101508" cy="98666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Environnement</a:t>
            </a:r>
          </a:p>
          <a:p>
            <a:pPr marL="0" indent="0">
              <a:buNone/>
            </a:pPr>
            <a:r>
              <a:rPr lang="fr-FR" sz="1800" dirty="0" err="1"/>
              <a:t>Soil</a:t>
            </a:r>
            <a:r>
              <a:rPr lang="fr-FR" sz="1800" dirty="0"/>
              <a:t> &amp; </a:t>
            </a:r>
            <a:r>
              <a:rPr lang="fr-FR" sz="1800" dirty="0" err="1"/>
              <a:t>atmosphere</a:t>
            </a:r>
            <a:endParaRPr lang="fr-FR" sz="1800" dirty="0">
              <a:ea typeface="+mn-lt"/>
              <a:cs typeface="+mn-lt"/>
            </a:endParaRPr>
          </a:p>
        </p:txBody>
      </p:sp>
      <p:pic>
        <p:nvPicPr>
          <p:cNvPr id="28" name="Image 27" descr="Une image contenant Tige, légume, plante, fleur&#10;&#10;Description générée automatiquement">
            <a:extLst>
              <a:ext uri="{FF2B5EF4-FFF2-40B4-BE49-F238E27FC236}">
                <a16:creationId xmlns:a16="http://schemas.microsoft.com/office/drawing/2014/main" id="{EF6D3CAF-D295-0DB9-6DA7-6076C82D57D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5043378" y="2334737"/>
            <a:ext cx="2210683" cy="2206336"/>
          </a:xfrm>
          <a:prstGeom prst="rect">
            <a:avLst/>
          </a:prstGeom>
        </p:spPr>
      </p:pic>
      <p:pic>
        <p:nvPicPr>
          <p:cNvPr id="29" name="Image 28" descr="Une image contenant légume, Tige, plante&#10;&#10;Description générée automatiquement">
            <a:extLst>
              <a:ext uri="{FF2B5EF4-FFF2-40B4-BE49-F238E27FC236}">
                <a16:creationId xmlns:a16="http://schemas.microsoft.com/office/drawing/2014/main" id="{CB7300D5-D900-803B-C6E0-48400A502652}"/>
              </a:ext>
            </a:extLst>
          </p:cNvPr>
          <p:cNvPicPr>
            <a:picLocks noChangeAspect="1"/>
          </p:cNvPicPr>
          <p:nvPr/>
        </p:nvPicPr>
        <p:blipFill>
          <a:blip r:embed="rId5"/>
          <a:stretch>
            <a:fillRect/>
          </a:stretch>
        </p:blipFill>
        <p:spPr>
          <a:xfrm>
            <a:off x="1863158" y="2544288"/>
            <a:ext cx="687347" cy="1977243"/>
          </a:xfrm>
          <a:prstGeom prst="rect">
            <a:avLst/>
          </a:prstGeom>
        </p:spPr>
      </p:pic>
      <p:cxnSp>
        <p:nvCxnSpPr>
          <p:cNvPr id="30" name="Connecteur droit avec flèche 29">
            <a:extLst>
              <a:ext uri="{FF2B5EF4-FFF2-40B4-BE49-F238E27FC236}">
                <a16:creationId xmlns:a16="http://schemas.microsoft.com/office/drawing/2014/main" id="{7EFDC405-F40B-7684-67F0-86A272BB7A72}"/>
              </a:ext>
            </a:extLst>
          </p:cNvPr>
          <p:cNvCxnSpPr>
            <a:cxnSpLocks/>
          </p:cNvCxnSpPr>
          <p:nvPr/>
        </p:nvCxnSpPr>
        <p:spPr>
          <a:xfrm>
            <a:off x="4190884" y="3740733"/>
            <a:ext cx="0" cy="17203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9" name="Espace réservé du contenu 2">
            <a:extLst>
              <a:ext uri="{FF2B5EF4-FFF2-40B4-BE49-F238E27FC236}">
                <a16:creationId xmlns:a16="http://schemas.microsoft.com/office/drawing/2014/main" id="{C0D10E53-15F0-FAAD-3294-B03E775195DF}"/>
              </a:ext>
            </a:extLst>
          </p:cNvPr>
          <p:cNvSpPr txBox="1">
            <a:spLocks/>
          </p:cNvSpPr>
          <p:nvPr/>
        </p:nvSpPr>
        <p:spPr>
          <a:xfrm>
            <a:off x="7110939" y="5491221"/>
            <a:ext cx="2795801" cy="1120260"/>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dirty="0" err="1"/>
              <a:t>Heterogeneous</a:t>
            </a:r>
            <a:r>
              <a:rPr lang="fr-FR" sz="2000" dirty="0"/>
              <a:t> spatial and temporal distribution of </a:t>
            </a:r>
            <a:r>
              <a:rPr lang="fr-FR" sz="2000" dirty="0" err="1"/>
              <a:t>resources</a:t>
            </a:r>
            <a:endParaRPr lang="fr-FR" sz="2000" dirty="0"/>
          </a:p>
        </p:txBody>
      </p:sp>
      <p:cxnSp>
        <p:nvCxnSpPr>
          <p:cNvPr id="51" name="Connecteur droit avec flèche 50">
            <a:extLst>
              <a:ext uri="{FF2B5EF4-FFF2-40B4-BE49-F238E27FC236}">
                <a16:creationId xmlns:a16="http://schemas.microsoft.com/office/drawing/2014/main" id="{2E5D43D7-EFD6-029A-BCBF-B9BE6CD1F854}"/>
              </a:ext>
            </a:extLst>
          </p:cNvPr>
          <p:cNvCxnSpPr>
            <a:cxnSpLocks/>
          </p:cNvCxnSpPr>
          <p:nvPr/>
        </p:nvCxnSpPr>
        <p:spPr>
          <a:xfrm>
            <a:off x="8200537" y="3797433"/>
            <a:ext cx="0" cy="1623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Slide Number Placeholder 17">
            <a:extLst>
              <a:ext uri="{FF2B5EF4-FFF2-40B4-BE49-F238E27FC236}">
                <a16:creationId xmlns:a16="http://schemas.microsoft.com/office/drawing/2014/main" id="{E9FCEF18-CA2B-4401-AC1F-4DDBB77028D7}"/>
              </a:ext>
            </a:extLst>
          </p:cNvPr>
          <p:cNvSpPr>
            <a:spLocks noGrp="1"/>
          </p:cNvSpPr>
          <p:nvPr>
            <p:ph type="sldNum" sz="quarter" idx="12"/>
          </p:nvPr>
        </p:nvSpPr>
        <p:spPr/>
        <p:txBody>
          <a:bodyPr/>
          <a:lstStyle/>
          <a:p>
            <a:fld id="{27C6CCC6-2BE5-4E42-96A4-D1E8E81A3D8E}" type="slidenum">
              <a:rPr lang="fr-FR" smtClean="0"/>
              <a:t>4</a:t>
            </a:fld>
            <a:endParaRPr lang="fr-FR"/>
          </a:p>
        </p:txBody>
      </p:sp>
      <p:grpSp>
        <p:nvGrpSpPr>
          <p:cNvPr id="25" name="Group 24">
            <a:extLst>
              <a:ext uri="{FF2B5EF4-FFF2-40B4-BE49-F238E27FC236}">
                <a16:creationId xmlns:a16="http://schemas.microsoft.com/office/drawing/2014/main" id="{3D47B465-0C7D-4E4F-BE3E-58BAC8758E34}"/>
              </a:ext>
            </a:extLst>
          </p:cNvPr>
          <p:cNvGrpSpPr/>
          <p:nvPr/>
        </p:nvGrpSpPr>
        <p:grpSpPr>
          <a:xfrm>
            <a:off x="10258535" y="2917201"/>
            <a:ext cx="1662744" cy="828326"/>
            <a:chOff x="7753259" y="1690688"/>
            <a:chExt cx="3695945" cy="2098945"/>
          </a:xfrm>
        </p:grpSpPr>
        <p:sp>
          <p:nvSpPr>
            <p:cNvPr id="26" name="Rectangle 25">
              <a:extLst>
                <a:ext uri="{FF2B5EF4-FFF2-40B4-BE49-F238E27FC236}">
                  <a16:creationId xmlns:a16="http://schemas.microsoft.com/office/drawing/2014/main" id="{562A15CC-2169-47CC-B46E-39697059270E}"/>
                </a:ext>
              </a:extLst>
            </p:cNvPr>
            <p:cNvSpPr/>
            <p:nvPr/>
          </p:nvSpPr>
          <p:spPr>
            <a:xfrm flipH="1">
              <a:off x="7753259"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BFA03D6-8DAB-4BFD-AC0C-56194FDFE6C5}"/>
                </a:ext>
              </a:extLst>
            </p:cNvPr>
            <p:cNvSpPr/>
            <p:nvPr/>
          </p:nvSpPr>
          <p:spPr>
            <a:xfrm flipH="1">
              <a:off x="8199698"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8C7DBA4-6806-4A6E-8A59-EE7AAF10921A}"/>
                </a:ext>
              </a:extLst>
            </p:cNvPr>
            <p:cNvSpPr/>
            <p:nvPr/>
          </p:nvSpPr>
          <p:spPr>
            <a:xfrm flipH="1">
              <a:off x="8644491"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D8DD0F1-B30D-4F34-9C55-630C66019568}"/>
                </a:ext>
              </a:extLst>
            </p:cNvPr>
            <p:cNvSpPr/>
            <p:nvPr/>
          </p:nvSpPr>
          <p:spPr>
            <a:xfrm flipH="1">
              <a:off x="9089292"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29C2248-97F9-4650-8864-BD59FF37EDC0}"/>
                </a:ext>
              </a:extLst>
            </p:cNvPr>
            <p:cNvSpPr/>
            <p:nvPr/>
          </p:nvSpPr>
          <p:spPr>
            <a:xfrm flipH="1">
              <a:off x="9678328"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3C64C55-16B2-4AC4-9009-9F04794B15E7}"/>
                </a:ext>
              </a:extLst>
            </p:cNvPr>
            <p:cNvSpPr/>
            <p:nvPr/>
          </p:nvSpPr>
          <p:spPr>
            <a:xfrm flipH="1">
              <a:off x="10124761" y="169099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B2B5C0FA-4687-46E1-83F0-AF0C76182EDF}"/>
                </a:ext>
              </a:extLst>
            </p:cNvPr>
            <p:cNvSpPr/>
            <p:nvPr/>
          </p:nvSpPr>
          <p:spPr>
            <a:xfrm flipH="1">
              <a:off x="10559044"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D12387-BCD0-4195-9434-79D0AB21F218}"/>
                </a:ext>
              </a:extLst>
            </p:cNvPr>
            <p:cNvSpPr/>
            <p:nvPr/>
          </p:nvSpPr>
          <p:spPr>
            <a:xfrm flipH="1">
              <a:off x="11003837" y="169238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9EE308-8FBC-46B6-9028-27D860C286F4}"/>
                </a:ext>
              </a:extLst>
            </p:cNvPr>
            <p:cNvSpPr/>
            <p:nvPr/>
          </p:nvSpPr>
          <p:spPr>
            <a:xfrm flipH="1">
              <a:off x="9667817" y="307848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F922928-5682-454D-A7E2-01569111FF60}"/>
                </a:ext>
              </a:extLst>
            </p:cNvPr>
            <p:cNvSpPr/>
            <p:nvPr/>
          </p:nvSpPr>
          <p:spPr>
            <a:xfrm flipH="1">
              <a:off x="9667817" y="238093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7021F17-CD35-4310-A83F-F96028E1C329}"/>
                </a:ext>
              </a:extLst>
            </p:cNvPr>
            <p:cNvSpPr/>
            <p:nvPr/>
          </p:nvSpPr>
          <p:spPr>
            <a:xfrm flipH="1">
              <a:off x="10486956" y="307995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275509F-222F-46EB-8AC8-BAA106D8584D}"/>
                </a:ext>
              </a:extLst>
            </p:cNvPr>
            <p:cNvSpPr/>
            <p:nvPr/>
          </p:nvSpPr>
          <p:spPr>
            <a:xfrm flipH="1">
              <a:off x="10560526" y="238240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0FA3C79-E836-4AC6-A5CC-58143CEBA1D6}"/>
                </a:ext>
              </a:extLst>
            </p:cNvPr>
            <p:cNvSpPr/>
            <p:nvPr/>
          </p:nvSpPr>
          <p:spPr>
            <a:xfrm flipH="1">
              <a:off x="10124761" y="238093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7EA3F62-9ECB-480A-B053-6ACC3BE6D049}"/>
                </a:ext>
              </a:extLst>
            </p:cNvPr>
            <p:cNvSpPr/>
            <p:nvPr/>
          </p:nvSpPr>
          <p:spPr>
            <a:xfrm flipH="1">
              <a:off x="9672818"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D8E41F4-053C-4736-A8FA-24DDC3EE943A}"/>
                </a:ext>
              </a:extLst>
            </p:cNvPr>
            <p:cNvSpPr/>
            <p:nvPr/>
          </p:nvSpPr>
          <p:spPr>
            <a:xfrm flipH="1">
              <a:off x="11005327" y="238093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CB23D8C-5C62-4094-8C62-4D08D0F26AC1}"/>
                </a:ext>
              </a:extLst>
            </p:cNvPr>
            <p:cNvSpPr/>
            <p:nvPr/>
          </p:nvSpPr>
          <p:spPr>
            <a:xfrm flipH="1">
              <a:off x="10575884"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7061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DA0040-5BAE-5958-FC78-C71152A3A0F7}"/>
              </a:ext>
            </a:extLst>
          </p:cNvPr>
          <p:cNvSpPr>
            <a:spLocks noGrp="1"/>
          </p:cNvSpPr>
          <p:nvPr>
            <p:ph type="title"/>
          </p:nvPr>
        </p:nvSpPr>
        <p:spPr>
          <a:xfrm>
            <a:off x="381247" y="306861"/>
            <a:ext cx="10515600" cy="1325563"/>
          </a:xfrm>
        </p:spPr>
        <p:txBody>
          <a:bodyPr>
            <a:normAutofit/>
          </a:bodyPr>
          <a:lstStyle/>
          <a:p>
            <a:r>
              <a:rPr lang="fr-FR" sz="4000" dirty="0" err="1"/>
              <a:t>Intercropping</a:t>
            </a:r>
            <a:r>
              <a:rPr lang="fr-FR" sz="4000" dirty="0"/>
              <a:t> </a:t>
            </a:r>
            <a:r>
              <a:rPr lang="fr-FR" sz="4000" dirty="0" err="1"/>
              <a:t>systems</a:t>
            </a:r>
            <a:endParaRPr lang="fr-FR" sz="4000" dirty="0"/>
          </a:p>
        </p:txBody>
      </p:sp>
      <p:sp>
        <p:nvSpPr>
          <p:cNvPr id="3" name="Espace réservé du contenu 2">
            <a:extLst>
              <a:ext uri="{FF2B5EF4-FFF2-40B4-BE49-F238E27FC236}">
                <a16:creationId xmlns:a16="http://schemas.microsoft.com/office/drawing/2014/main" id="{B93B4046-E733-DB53-FDB9-9FBE0D561F5E}"/>
              </a:ext>
            </a:extLst>
          </p:cNvPr>
          <p:cNvSpPr>
            <a:spLocks noGrp="1"/>
          </p:cNvSpPr>
          <p:nvPr>
            <p:ph idx="1"/>
          </p:nvPr>
        </p:nvSpPr>
        <p:spPr>
          <a:xfrm>
            <a:off x="838200" y="1687080"/>
            <a:ext cx="10515600" cy="828326"/>
          </a:xfrm>
        </p:spPr>
        <p:txBody>
          <a:bodyPr vert="horz" lIns="91440" tIns="45720" rIns="91440" bIns="45720" rtlCol="0" anchor="t">
            <a:normAutofit/>
          </a:bodyPr>
          <a:lstStyle/>
          <a:p>
            <a:pPr marL="0" indent="0" algn="ctr">
              <a:buNone/>
            </a:pPr>
            <a:r>
              <a:rPr lang="fr-FR" sz="4400" b="1" dirty="0"/>
              <a:t>G     x     G     x     E     x     M</a:t>
            </a:r>
          </a:p>
        </p:txBody>
      </p:sp>
      <p:sp>
        <p:nvSpPr>
          <p:cNvPr id="9" name="Espace réservé du contenu 2">
            <a:extLst>
              <a:ext uri="{FF2B5EF4-FFF2-40B4-BE49-F238E27FC236}">
                <a16:creationId xmlns:a16="http://schemas.microsoft.com/office/drawing/2014/main" id="{3A6AC0EF-9D2C-7B34-EE6E-A14EF7F60F5D}"/>
              </a:ext>
            </a:extLst>
          </p:cNvPr>
          <p:cNvSpPr txBox="1">
            <a:spLocks/>
          </p:cNvSpPr>
          <p:nvPr/>
        </p:nvSpPr>
        <p:spPr>
          <a:xfrm>
            <a:off x="4621218" y="2785698"/>
            <a:ext cx="1253833" cy="723330"/>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b="1" dirty="0" err="1"/>
              <a:t>Genotype</a:t>
            </a:r>
            <a:r>
              <a:rPr lang="fr-FR" sz="2000" dirty="0"/>
              <a:t> </a:t>
            </a:r>
            <a:r>
              <a:rPr lang="fr-FR" sz="1900" dirty="0"/>
              <a:t>of a </a:t>
            </a:r>
            <a:r>
              <a:rPr lang="fr-FR" sz="1900" dirty="0" err="1"/>
              <a:t>cereal</a:t>
            </a:r>
            <a:endParaRPr lang="fr-FR" sz="1900" dirty="0"/>
          </a:p>
        </p:txBody>
      </p:sp>
      <p:sp>
        <p:nvSpPr>
          <p:cNvPr id="10" name="Espace réservé du contenu 2">
            <a:extLst>
              <a:ext uri="{FF2B5EF4-FFF2-40B4-BE49-F238E27FC236}">
                <a16:creationId xmlns:a16="http://schemas.microsoft.com/office/drawing/2014/main" id="{726360F6-ECD4-8ABB-63C7-CF65D3630BF0}"/>
              </a:ext>
            </a:extLst>
          </p:cNvPr>
          <p:cNvSpPr txBox="1">
            <a:spLocks/>
          </p:cNvSpPr>
          <p:nvPr/>
        </p:nvSpPr>
        <p:spPr>
          <a:xfrm>
            <a:off x="2554187" y="2789505"/>
            <a:ext cx="1395594" cy="8975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err="1"/>
              <a:t>Genotype</a:t>
            </a:r>
            <a:r>
              <a:rPr lang="fr-FR" sz="2000" dirty="0"/>
              <a:t> </a:t>
            </a:r>
            <a:r>
              <a:rPr lang="fr-FR" sz="1800" dirty="0"/>
              <a:t>of a </a:t>
            </a:r>
            <a:r>
              <a:rPr lang="fr-FR" sz="1800" dirty="0" err="1"/>
              <a:t>legume</a:t>
            </a:r>
            <a:endParaRPr lang="fr-FR" sz="1800" dirty="0"/>
          </a:p>
        </p:txBody>
      </p:sp>
      <p:sp>
        <p:nvSpPr>
          <p:cNvPr id="11" name="Espace réservé du contenu 2">
            <a:extLst>
              <a:ext uri="{FF2B5EF4-FFF2-40B4-BE49-F238E27FC236}">
                <a16:creationId xmlns:a16="http://schemas.microsoft.com/office/drawing/2014/main" id="{00B1E25A-F2CD-2BF1-B075-C508D718FF10}"/>
              </a:ext>
            </a:extLst>
          </p:cNvPr>
          <p:cNvSpPr txBox="1">
            <a:spLocks/>
          </p:cNvSpPr>
          <p:nvPr/>
        </p:nvSpPr>
        <p:spPr>
          <a:xfrm>
            <a:off x="8392888" y="2789505"/>
            <a:ext cx="1865647" cy="201585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Management</a:t>
            </a:r>
          </a:p>
          <a:p>
            <a:pPr marL="0" indent="0">
              <a:buNone/>
            </a:pPr>
            <a:r>
              <a:rPr lang="fr-FR" sz="1800" dirty="0" err="1"/>
              <a:t>Sowing</a:t>
            </a:r>
            <a:r>
              <a:rPr lang="fr-FR" sz="1800" dirty="0"/>
              <a:t> pattern </a:t>
            </a:r>
          </a:p>
          <a:p>
            <a:pPr marL="0" indent="0">
              <a:buNone/>
            </a:pPr>
            <a:r>
              <a:rPr lang="fr-FR" sz="1800" dirty="0">
                <a:ea typeface="+mn-lt"/>
                <a:cs typeface="+mn-lt"/>
              </a:rPr>
              <a:t>Inputs</a:t>
            </a:r>
            <a:endParaRPr lang="fr-FR" sz="1800" dirty="0"/>
          </a:p>
        </p:txBody>
      </p:sp>
      <p:sp>
        <p:nvSpPr>
          <p:cNvPr id="12" name="Espace réservé du contenu 2">
            <a:extLst>
              <a:ext uri="{FF2B5EF4-FFF2-40B4-BE49-F238E27FC236}">
                <a16:creationId xmlns:a16="http://schemas.microsoft.com/office/drawing/2014/main" id="{652312E1-D4E0-631C-4DE6-22B2AAFC037C}"/>
              </a:ext>
            </a:extLst>
          </p:cNvPr>
          <p:cNvSpPr txBox="1">
            <a:spLocks/>
          </p:cNvSpPr>
          <p:nvPr/>
        </p:nvSpPr>
        <p:spPr>
          <a:xfrm>
            <a:off x="6509092" y="2788186"/>
            <a:ext cx="2101508" cy="98666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Environnement</a:t>
            </a:r>
          </a:p>
          <a:p>
            <a:pPr marL="0" indent="0">
              <a:buNone/>
            </a:pPr>
            <a:r>
              <a:rPr lang="fr-FR" sz="1800" dirty="0" err="1"/>
              <a:t>Soil</a:t>
            </a:r>
            <a:r>
              <a:rPr lang="fr-FR" sz="1800" dirty="0"/>
              <a:t> &amp; </a:t>
            </a:r>
            <a:r>
              <a:rPr lang="fr-FR" sz="1800" dirty="0" err="1"/>
              <a:t>atmosphere</a:t>
            </a:r>
            <a:endParaRPr lang="fr-FR" sz="1800" dirty="0">
              <a:ea typeface="+mn-lt"/>
              <a:cs typeface="+mn-lt"/>
            </a:endParaRPr>
          </a:p>
        </p:txBody>
      </p:sp>
      <p:pic>
        <p:nvPicPr>
          <p:cNvPr id="28" name="Image 27" descr="Une image contenant Tige, légume, plante, fleur&#10;&#10;Description générée automatiquement">
            <a:extLst>
              <a:ext uri="{FF2B5EF4-FFF2-40B4-BE49-F238E27FC236}">
                <a16:creationId xmlns:a16="http://schemas.microsoft.com/office/drawing/2014/main" id="{EF6D3CAF-D295-0DB9-6DA7-6076C82D57D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5043378" y="2334737"/>
            <a:ext cx="2210683" cy="2206336"/>
          </a:xfrm>
          <a:prstGeom prst="rect">
            <a:avLst/>
          </a:prstGeom>
        </p:spPr>
      </p:pic>
      <p:pic>
        <p:nvPicPr>
          <p:cNvPr id="29" name="Image 28" descr="Une image contenant légume, Tige, plante&#10;&#10;Description générée automatiquement">
            <a:extLst>
              <a:ext uri="{FF2B5EF4-FFF2-40B4-BE49-F238E27FC236}">
                <a16:creationId xmlns:a16="http://schemas.microsoft.com/office/drawing/2014/main" id="{CB7300D5-D900-803B-C6E0-48400A502652}"/>
              </a:ext>
            </a:extLst>
          </p:cNvPr>
          <p:cNvPicPr>
            <a:picLocks noChangeAspect="1"/>
          </p:cNvPicPr>
          <p:nvPr/>
        </p:nvPicPr>
        <p:blipFill>
          <a:blip r:embed="rId5"/>
          <a:stretch>
            <a:fillRect/>
          </a:stretch>
        </p:blipFill>
        <p:spPr>
          <a:xfrm>
            <a:off x="1863158" y="2544288"/>
            <a:ext cx="687347" cy="1977243"/>
          </a:xfrm>
          <a:prstGeom prst="rect">
            <a:avLst/>
          </a:prstGeom>
        </p:spPr>
      </p:pic>
      <p:sp>
        <p:nvSpPr>
          <p:cNvPr id="18" name="Slide Number Placeholder 17">
            <a:extLst>
              <a:ext uri="{FF2B5EF4-FFF2-40B4-BE49-F238E27FC236}">
                <a16:creationId xmlns:a16="http://schemas.microsoft.com/office/drawing/2014/main" id="{E9FCEF18-CA2B-4401-AC1F-4DDBB77028D7}"/>
              </a:ext>
            </a:extLst>
          </p:cNvPr>
          <p:cNvSpPr>
            <a:spLocks noGrp="1"/>
          </p:cNvSpPr>
          <p:nvPr>
            <p:ph type="sldNum" sz="quarter" idx="12"/>
          </p:nvPr>
        </p:nvSpPr>
        <p:spPr/>
        <p:txBody>
          <a:bodyPr/>
          <a:lstStyle/>
          <a:p>
            <a:fld id="{27C6CCC6-2BE5-4E42-96A4-D1E8E81A3D8E}" type="slidenum">
              <a:rPr lang="fr-FR" smtClean="0"/>
              <a:t>5</a:t>
            </a:fld>
            <a:endParaRPr lang="fr-FR" dirty="0"/>
          </a:p>
        </p:txBody>
      </p:sp>
      <p:grpSp>
        <p:nvGrpSpPr>
          <p:cNvPr id="25" name="Group 24">
            <a:extLst>
              <a:ext uri="{FF2B5EF4-FFF2-40B4-BE49-F238E27FC236}">
                <a16:creationId xmlns:a16="http://schemas.microsoft.com/office/drawing/2014/main" id="{3D47B465-0C7D-4E4F-BE3E-58BAC8758E34}"/>
              </a:ext>
            </a:extLst>
          </p:cNvPr>
          <p:cNvGrpSpPr/>
          <p:nvPr/>
        </p:nvGrpSpPr>
        <p:grpSpPr>
          <a:xfrm>
            <a:off x="10258535" y="2917201"/>
            <a:ext cx="1662744" cy="828326"/>
            <a:chOff x="7753259" y="1690688"/>
            <a:chExt cx="3695945" cy="2098945"/>
          </a:xfrm>
        </p:grpSpPr>
        <p:sp>
          <p:nvSpPr>
            <p:cNvPr id="26" name="Rectangle 25">
              <a:extLst>
                <a:ext uri="{FF2B5EF4-FFF2-40B4-BE49-F238E27FC236}">
                  <a16:creationId xmlns:a16="http://schemas.microsoft.com/office/drawing/2014/main" id="{562A15CC-2169-47CC-B46E-39697059270E}"/>
                </a:ext>
              </a:extLst>
            </p:cNvPr>
            <p:cNvSpPr/>
            <p:nvPr/>
          </p:nvSpPr>
          <p:spPr>
            <a:xfrm flipH="1">
              <a:off x="7753259"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BFA03D6-8DAB-4BFD-AC0C-56194FDFE6C5}"/>
                </a:ext>
              </a:extLst>
            </p:cNvPr>
            <p:cNvSpPr/>
            <p:nvPr/>
          </p:nvSpPr>
          <p:spPr>
            <a:xfrm flipH="1">
              <a:off x="8199698"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8C7DBA4-6806-4A6E-8A59-EE7AAF10921A}"/>
                </a:ext>
              </a:extLst>
            </p:cNvPr>
            <p:cNvSpPr/>
            <p:nvPr/>
          </p:nvSpPr>
          <p:spPr>
            <a:xfrm flipH="1">
              <a:off x="8644491"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D8DD0F1-B30D-4F34-9C55-630C66019568}"/>
                </a:ext>
              </a:extLst>
            </p:cNvPr>
            <p:cNvSpPr/>
            <p:nvPr/>
          </p:nvSpPr>
          <p:spPr>
            <a:xfrm flipH="1">
              <a:off x="9089292"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29C2248-97F9-4650-8864-BD59FF37EDC0}"/>
                </a:ext>
              </a:extLst>
            </p:cNvPr>
            <p:cNvSpPr/>
            <p:nvPr/>
          </p:nvSpPr>
          <p:spPr>
            <a:xfrm flipH="1">
              <a:off x="9678328"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3C64C55-16B2-4AC4-9009-9F04794B15E7}"/>
                </a:ext>
              </a:extLst>
            </p:cNvPr>
            <p:cNvSpPr/>
            <p:nvPr/>
          </p:nvSpPr>
          <p:spPr>
            <a:xfrm flipH="1">
              <a:off x="10124761" y="169099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B2B5C0FA-4687-46E1-83F0-AF0C76182EDF}"/>
                </a:ext>
              </a:extLst>
            </p:cNvPr>
            <p:cNvSpPr/>
            <p:nvPr/>
          </p:nvSpPr>
          <p:spPr>
            <a:xfrm flipH="1">
              <a:off x="10559044"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D12387-BCD0-4195-9434-79D0AB21F218}"/>
                </a:ext>
              </a:extLst>
            </p:cNvPr>
            <p:cNvSpPr/>
            <p:nvPr/>
          </p:nvSpPr>
          <p:spPr>
            <a:xfrm flipH="1">
              <a:off x="11003837" y="169238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9EE308-8FBC-46B6-9028-27D860C286F4}"/>
                </a:ext>
              </a:extLst>
            </p:cNvPr>
            <p:cNvSpPr/>
            <p:nvPr/>
          </p:nvSpPr>
          <p:spPr>
            <a:xfrm flipH="1">
              <a:off x="9667817" y="307848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F922928-5682-454D-A7E2-01569111FF60}"/>
                </a:ext>
              </a:extLst>
            </p:cNvPr>
            <p:cNvSpPr/>
            <p:nvPr/>
          </p:nvSpPr>
          <p:spPr>
            <a:xfrm flipH="1">
              <a:off x="9667817" y="238093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7021F17-CD35-4310-A83F-F96028E1C329}"/>
                </a:ext>
              </a:extLst>
            </p:cNvPr>
            <p:cNvSpPr/>
            <p:nvPr/>
          </p:nvSpPr>
          <p:spPr>
            <a:xfrm flipH="1">
              <a:off x="10486956" y="307995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275509F-222F-46EB-8AC8-BAA106D8584D}"/>
                </a:ext>
              </a:extLst>
            </p:cNvPr>
            <p:cNvSpPr/>
            <p:nvPr/>
          </p:nvSpPr>
          <p:spPr>
            <a:xfrm flipH="1">
              <a:off x="10560526" y="238240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0FA3C79-E836-4AC6-A5CC-58143CEBA1D6}"/>
                </a:ext>
              </a:extLst>
            </p:cNvPr>
            <p:cNvSpPr/>
            <p:nvPr/>
          </p:nvSpPr>
          <p:spPr>
            <a:xfrm flipH="1">
              <a:off x="10124761" y="238093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7EA3F62-9ECB-480A-B053-6ACC3BE6D049}"/>
                </a:ext>
              </a:extLst>
            </p:cNvPr>
            <p:cNvSpPr/>
            <p:nvPr/>
          </p:nvSpPr>
          <p:spPr>
            <a:xfrm flipH="1">
              <a:off x="9672818"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D8E41F4-053C-4736-A8FA-24DDC3EE943A}"/>
                </a:ext>
              </a:extLst>
            </p:cNvPr>
            <p:cNvSpPr/>
            <p:nvPr/>
          </p:nvSpPr>
          <p:spPr>
            <a:xfrm flipH="1">
              <a:off x="11005327" y="238093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CB23D8C-5C62-4094-8C62-4D08D0F26AC1}"/>
                </a:ext>
              </a:extLst>
            </p:cNvPr>
            <p:cNvSpPr/>
            <p:nvPr/>
          </p:nvSpPr>
          <p:spPr>
            <a:xfrm flipH="1">
              <a:off x="10575884"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sp>
        <p:nvSpPr>
          <p:cNvPr id="5" name="TextBox 4">
            <a:extLst>
              <a:ext uri="{FF2B5EF4-FFF2-40B4-BE49-F238E27FC236}">
                <a16:creationId xmlns:a16="http://schemas.microsoft.com/office/drawing/2014/main" id="{AEA52C17-A984-4BBD-A010-30BB731F1D56}"/>
              </a:ext>
            </a:extLst>
          </p:cNvPr>
          <p:cNvSpPr txBox="1"/>
          <p:nvPr/>
        </p:nvSpPr>
        <p:spPr>
          <a:xfrm>
            <a:off x="1718290" y="5398902"/>
            <a:ext cx="8637822" cy="707886"/>
          </a:xfrm>
          <a:prstGeom prst="rect">
            <a:avLst/>
          </a:prstGeom>
          <a:noFill/>
        </p:spPr>
        <p:txBody>
          <a:bodyPr wrap="square" rtlCol="0">
            <a:spAutoFit/>
          </a:bodyPr>
          <a:lstStyle/>
          <a:p>
            <a:r>
              <a:rPr lang="en-US" sz="2000" b="1" dirty="0">
                <a:sym typeface="Wingdings" panose="05000000000000000000" pitchFamily="2" charset="2"/>
              </a:rPr>
              <a:t> Crop and FSP models </a:t>
            </a:r>
            <a:r>
              <a:rPr lang="en-US" sz="2000" dirty="0">
                <a:sym typeface="Wingdings" panose="05000000000000000000" pitchFamily="2" charset="2"/>
              </a:rPr>
              <a:t>are needed to</a:t>
            </a:r>
            <a:r>
              <a:rPr lang="en-US" sz="2000" b="1" dirty="0">
                <a:sym typeface="Wingdings" panose="05000000000000000000" pitchFamily="2" charset="2"/>
              </a:rPr>
              <a:t> explore the complexity </a:t>
            </a:r>
            <a:r>
              <a:rPr lang="en-US" sz="2000" dirty="0">
                <a:sym typeface="Wingdings" panose="05000000000000000000" pitchFamily="2" charset="2"/>
              </a:rPr>
              <a:t>of these systems</a:t>
            </a:r>
            <a:r>
              <a:rPr lang="en-US" sz="2000" b="1" dirty="0">
                <a:sym typeface="Wingdings" panose="05000000000000000000" pitchFamily="2" charset="2"/>
              </a:rPr>
              <a:t> at different scales.</a:t>
            </a:r>
            <a:endParaRPr lang="en-US" sz="2000" dirty="0"/>
          </a:p>
        </p:txBody>
      </p:sp>
    </p:spTree>
    <p:extLst>
      <p:ext uri="{BB962C8B-B14F-4D97-AF65-F5344CB8AC3E}">
        <p14:creationId xmlns:p14="http://schemas.microsoft.com/office/powerpoint/2010/main" val="2372159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p:txBody>
          <a:bodyPr/>
          <a:lstStyle/>
          <a:p>
            <a:r>
              <a:rPr lang="en-US" dirty="0"/>
              <a:t>1.Introduction</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p:txBody>
          <a:bodyPr>
            <a:normAutofit/>
          </a:bodyPr>
          <a:lstStyle/>
          <a:p>
            <a:pPr marL="0" indent="0">
              <a:buNone/>
            </a:pPr>
            <a:r>
              <a:rPr lang="en-US" dirty="0"/>
              <a:t>1.1. General introduction of the topic: </a:t>
            </a:r>
          </a:p>
          <a:p>
            <a:pPr marL="457200" lvl="1" indent="0">
              <a:buNone/>
            </a:pPr>
            <a:r>
              <a:rPr lang="en-US" dirty="0"/>
              <a:t>Climate change imply an increase of biotic and abiotic stresses. Agroecology and introducing </a:t>
            </a:r>
            <a:r>
              <a:rPr lang="en-US" b="1" dirty="0"/>
              <a:t>heterogeneity in cropping systems </a:t>
            </a:r>
            <a:r>
              <a:rPr lang="en-US" dirty="0"/>
              <a:t>is one lever to create more resilient agronomic systems, while reducing their environmental impacts (fewer inputs; </a:t>
            </a:r>
            <a:r>
              <a:rPr lang="da-DK" dirty="0"/>
              <a:t>Jensen et al., 2020; Stomph et al., 2020</a:t>
            </a:r>
            <a:r>
              <a:rPr lang="en-US" dirty="0"/>
              <a:t>). </a:t>
            </a:r>
          </a:p>
          <a:p>
            <a:pPr marL="457200" lvl="1" indent="0">
              <a:buNone/>
            </a:pPr>
            <a:r>
              <a:rPr lang="en-US" b="1" dirty="0"/>
              <a:t>Process-based crop models </a:t>
            </a:r>
            <a:r>
              <a:rPr lang="en-US" dirty="0"/>
              <a:t>as a common tool for decision support, for exploring more possibilities than field experiments, for predicting.</a:t>
            </a:r>
          </a:p>
          <a:p>
            <a:pPr marL="457200" lvl="1" indent="0">
              <a:buNone/>
            </a:pP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E99ED29B-F51C-49A3-8E32-9AA413AB6441}"/>
              </a:ext>
            </a:extLst>
          </p:cNvPr>
          <p:cNvSpPr>
            <a:spLocks noGrp="1"/>
          </p:cNvSpPr>
          <p:nvPr>
            <p:ph type="sldNum" sz="quarter" idx="12"/>
          </p:nvPr>
        </p:nvSpPr>
        <p:spPr/>
        <p:txBody>
          <a:bodyPr/>
          <a:lstStyle/>
          <a:p>
            <a:fld id="{4D0921BC-FC9B-4B20-AD4C-0D7EEBC2A9A8}" type="slidenum">
              <a:rPr lang="en-US" smtClean="0"/>
              <a:t>6</a:t>
            </a:fld>
            <a:endParaRPr lang="en-US"/>
          </a:p>
        </p:txBody>
      </p:sp>
    </p:spTree>
    <p:extLst>
      <p:ext uri="{BB962C8B-B14F-4D97-AF65-F5344CB8AC3E}">
        <p14:creationId xmlns:p14="http://schemas.microsoft.com/office/powerpoint/2010/main" val="11526933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09627" y="542497"/>
            <a:ext cx="9181151" cy="896121"/>
          </a:xfrm>
        </p:spPr>
        <p:txBody>
          <a:bodyPr>
            <a:normAutofit/>
          </a:bodyPr>
          <a:lstStyle/>
          <a:p>
            <a:r>
              <a:rPr lang="en-US" sz="4000" dirty="0"/>
              <a:t>Crop models</a:t>
            </a:r>
          </a:p>
        </p:txBody>
      </p:sp>
      <p:sp>
        <p:nvSpPr>
          <p:cNvPr id="8" name="Content Placeholder 6">
            <a:extLst>
              <a:ext uri="{FF2B5EF4-FFF2-40B4-BE49-F238E27FC236}">
                <a16:creationId xmlns:a16="http://schemas.microsoft.com/office/drawing/2014/main" id="{0A5D27B1-842E-4F22-A103-CB1C111AB39C}"/>
              </a:ext>
            </a:extLst>
          </p:cNvPr>
          <p:cNvSpPr txBox="1">
            <a:spLocks/>
          </p:cNvSpPr>
          <p:nvPr/>
        </p:nvSpPr>
        <p:spPr>
          <a:xfrm>
            <a:off x="609626" y="1199339"/>
            <a:ext cx="2984179" cy="1013321"/>
          </a:xfrm>
          <a:prstGeom prst="rect">
            <a:avLst/>
          </a:prstGeom>
          <a:ln w="28575">
            <a:noFill/>
          </a:ln>
        </p:spPr>
        <p:txBody>
          <a:bodyPr vert="horz" lIns="91440" tIns="45720" rIns="91440" bIns="45720" rtlCol="0" anchor="ctr"/>
          <a:lstStyle>
            <a:defPPr>
              <a:defRPr lang="fr-FR"/>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(Boote et al., 2013, Jones et al., 2017)</a:t>
            </a:r>
          </a:p>
          <a:p>
            <a:pPr algn="l"/>
            <a:r>
              <a:rPr lang="fr-FR" sz="1600" i="1" dirty="0">
                <a:solidFill>
                  <a:schemeClr val="tx1"/>
                </a:solidFill>
              </a:rPr>
              <a:t>e.g.: S</a:t>
            </a:r>
            <a:r>
              <a:rPr lang="en-US" sz="1600" i="1" dirty="0">
                <a:solidFill>
                  <a:schemeClr val="tx1"/>
                </a:solidFill>
              </a:rPr>
              <a:t>TICS </a:t>
            </a:r>
            <a:r>
              <a:rPr lang="en-US" sz="1400" i="1" dirty="0">
                <a:solidFill>
                  <a:schemeClr val="tx1"/>
                </a:solidFill>
              </a:rPr>
              <a:t>(</a:t>
            </a:r>
            <a:r>
              <a:rPr lang="en-US" sz="1400" i="1" dirty="0" err="1">
                <a:solidFill>
                  <a:schemeClr val="tx1"/>
                </a:solidFill>
              </a:rPr>
              <a:t>Vezy</a:t>
            </a:r>
            <a:r>
              <a:rPr lang="en-US" sz="1400" i="1" dirty="0">
                <a:solidFill>
                  <a:schemeClr val="tx1"/>
                </a:solidFill>
              </a:rPr>
              <a:t> et al., 2023)</a:t>
            </a:r>
            <a:r>
              <a:rPr lang="en-US" sz="1600" i="1" dirty="0">
                <a:solidFill>
                  <a:schemeClr val="tx1"/>
                </a:solidFill>
              </a:rPr>
              <a:t>, </a:t>
            </a:r>
            <a:r>
              <a:rPr lang="fr-FR" sz="1600" i="1" dirty="0">
                <a:solidFill>
                  <a:schemeClr val="tx1"/>
                </a:solidFill>
              </a:rPr>
              <a:t>A</a:t>
            </a:r>
            <a:r>
              <a:rPr lang="en-US" sz="1600" i="1" dirty="0">
                <a:solidFill>
                  <a:schemeClr val="tx1"/>
                </a:solidFill>
              </a:rPr>
              <a:t>PSIM </a:t>
            </a:r>
            <a:r>
              <a:rPr lang="en-US" sz="1400" i="1" dirty="0">
                <a:solidFill>
                  <a:schemeClr val="tx1"/>
                </a:solidFill>
              </a:rPr>
              <a:t>(</a:t>
            </a:r>
            <a:r>
              <a:rPr lang="fr-FR" sz="1400" i="1" dirty="0" err="1">
                <a:solidFill>
                  <a:schemeClr val="tx1"/>
                </a:solidFill>
              </a:rPr>
              <a:t>Githui</a:t>
            </a:r>
            <a:r>
              <a:rPr lang="fr-FR" sz="1400" i="1" dirty="0">
                <a:solidFill>
                  <a:schemeClr val="tx1"/>
                </a:solidFill>
              </a:rPr>
              <a:t> et al., 2023</a:t>
            </a:r>
            <a:r>
              <a:rPr lang="en-US" sz="1400" i="1" dirty="0">
                <a:solidFill>
                  <a:schemeClr val="tx1"/>
                </a:solidFill>
              </a:rPr>
              <a:t>)</a:t>
            </a:r>
          </a:p>
          <a:p>
            <a:endParaRPr lang="en-US" dirty="0"/>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7</a:t>
            </a:fld>
            <a:endParaRPr lang="fr-FR"/>
          </a:p>
        </p:txBody>
      </p:sp>
      <p:sp>
        <p:nvSpPr>
          <p:cNvPr id="3" name="Rectangle 2">
            <a:extLst>
              <a:ext uri="{FF2B5EF4-FFF2-40B4-BE49-F238E27FC236}">
                <a16:creationId xmlns:a16="http://schemas.microsoft.com/office/drawing/2014/main" id="{A7342D65-0316-45DA-9A79-F4B5A7F201C6}"/>
              </a:ext>
            </a:extLst>
          </p:cNvPr>
          <p:cNvSpPr/>
          <p:nvPr/>
        </p:nvSpPr>
        <p:spPr>
          <a:xfrm>
            <a:off x="5789368" y="1841258"/>
            <a:ext cx="5793005" cy="4524315"/>
          </a:xfrm>
          <a:prstGeom prst="rect">
            <a:avLst/>
          </a:prstGeom>
        </p:spPr>
        <p:txBody>
          <a:bodyPr wrap="square">
            <a:spAutoFit/>
          </a:bodyPr>
          <a:lstStyle/>
          <a:p>
            <a:r>
              <a:rPr lang="en-US" sz="2400" u="sng" dirty="0"/>
              <a:t>Objective:</a:t>
            </a:r>
            <a:r>
              <a:rPr lang="en-US" sz="2400" dirty="0"/>
              <a:t> prediction, decision-support tool</a:t>
            </a:r>
          </a:p>
          <a:p>
            <a:endParaRPr lang="en-US" sz="2400" dirty="0"/>
          </a:p>
          <a:p>
            <a:r>
              <a:rPr lang="en-US" sz="2400" u="sng" dirty="0"/>
              <a:t>Characteristics:</a:t>
            </a:r>
            <a:r>
              <a:rPr lang="en-US" sz="2400" dirty="0"/>
              <a:t> </a:t>
            </a:r>
            <a:endParaRPr lang="en-US" dirty="0"/>
          </a:p>
          <a:p>
            <a:pPr marL="285750" indent="-285750">
              <a:buFont typeface="Arial" panose="020B0604020202020204" pitchFamily="34" charset="0"/>
              <a:buChar char="•"/>
            </a:pPr>
            <a:r>
              <a:rPr lang="en-US" sz="2400" dirty="0"/>
              <a:t>crop scale (unit = m</a:t>
            </a:r>
            <a:r>
              <a:rPr lang="fr-FR" sz="2400" dirty="0"/>
              <a:t>² or</a:t>
            </a:r>
            <a:r>
              <a:rPr lang="en-US" sz="2400" dirty="0"/>
              <a:t> ha)</a:t>
            </a:r>
          </a:p>
          <a:p>
            <a:pPr marL="285750" indent="-285750">
              <a:buFont typeface="Arial" panose="020B0604020202020204" pitchFamily="34" charset="0"/>
              <a:buChar char="•"/>
            </a:pPr>
            <a:r>
              <a:rPr lang="en-US" sz="2400" dirty="0"/>
              <a:t>homogeneous hypotheses </a:t>
            </a:r>
          </a:p>
          <a:p>
            <a:pPr marL="285750" indent="-285750">
              <a:buFont typeface="Arial" panose="020B0604020202020204" pitchFamily="34" charset="0"/>
              <a:buChar char="•"/>
            </a:pPr>
            <a:r>
              <a:rPr lang="en-US" sz="2400" dirty="0"/>
              <a:t>simulate multiple</a:t>
            </a:r>
            <a:r>
              <a:rPr lang="en-US" sz="2400" b="1" dirty="0"/>
              <a:t> </a:t>
            </a:r>
            <a:r>
              <a:rPr lang="en-US" sz="2400" dirty="0"/>
              <a:t>processes through the whole development cycle</a:t>
            </a:r>
          </a:p>
          <a:p>
            <a:pPr marL="285750" indent="-285750">
              <a:buFont typeface="Arial" panose="020B0604020202020204" pitchFamily="34" charset="0"/>
              <a:buChar char="•"/>
            </a:pPr>
            <a:r>
              <a:rPr lang="en-US" sz="2400" dirty="0"/>
              <a:t>already calibrated for intercrops</a:t>
            </a:r>
          </a:p>
          <a:p>
            <a:pPr marL="285750" indent="-285750">
              <a:buFont typeface="Arial" panose="020B0604020202020204" pitchFamily="34" charset="0"/>
              <a:buChar char="•"/>
            </a:pPr>
            <a:endParaRPr lang="en-US" sz="2400" dirty="0"/>
          </a:p>
          <a:p>
            <a:r>
              <a:rPr lang="en-US" sz="2400" u="sng" dirty="0"/>
              <a:t>Limits:</a:t>
            </a:r>
            <a:r>
              <a:rPr lang="en-US" sz="2400" dirty="0"/>
              <a:t> </a:t>
            </a:r>
          </a:p>
          <a:p>
            <a:pPr marL="285750" indent="-285750">
              <a:buFont typeface="Arial" panose="020B0604020202020204" pitchFamily="34" charset="0"/>
              <a:buChar char="•"/>
            </a:pPr>
            <a:r>
              <a:rPr lang="en-US" sz="2400" dirty="0"/>
              <a:t>no heterogeneity </a:t>
            </a:r>
          </a:p>
          <a:p>
            <a:pPr marL="285750" indent="-285750">
              <a:buFont typeface="Arial" panose="020B0604020202020204" pitchFamily="34" charset="0"/>
              <a:buChar char="•"/>
            </a:pPr>
            <a:r>
              <a:rPr lang="fr-FR" sz="2400" dirty="0"/>
              <a:t>n</a:t>
            </a:r>
            <a:r>
              <a:rPr lang="en-US" sz="2400" dirty="0"/>
              <a:t>o explicit plant-plant interactions</a:t>
            </a:r>
          </a:p>
        </p:txBody>
      </p:sp>
      <p:grpSp>
        <p:nvGrpSpPr>
          <p:cNvPr id="14" name="Group 13">
            <a:extLst>
              <a:ext uri="{FF2B5EF4-FFF2-40B4-BE49-F238E27FC236}">
                <a16:creationId xmlns:a16="http://schemas.microsoft.com/office/drawing/2014/main" id="{6FA4931E-31D7-4EBE-B7CA-871AB3A9DE52}"/>
              </a:ext>
            </a:extLst>
          </p:cNvPr>
          <p:cNvGrpSpPr/>
          <p:nvPr/>
        </p:nvGrpSpPr>
        <p:grpSpPr>
          <a:xfrm>
            <a:off x="609627" y="3316611"/>
            <a:ext cx="4419573" cy="2508299"/>
            <a:chOff x="609627" y="3316611"/>
            <a:chExt cx="4419573" cy="2508299"/>
          </a:xfrm>
        </p:grpSpPr>
        <p:sp>
          <p:nvSpPr>
            <p:cNvPr id="15" name="Cube 14">
              <a:extLst>
                <a:ext uri="{FF2B5EF4-FFF2-40B4-BE49-F238E27FC236}">
                  <a16:creationId xmlns:a16="http://schemas.microsoft.com/office/drawing/2014/main" id="{F76E5637-B997-422A-8B21-5B40EEC7B660}"/>
                </a:ext>
              </a:extLst>
            </p:cNvPr>
            <p:cNvSpPr/>
            <p:nvPr/>
          </p:nvSpPr>
          <p:spPr>
            <a:xfrm>
              <a:off x="609627" y="3669906"/>
              <a:ext cx="4419573" cy="2155004"/>
            </a:xfrm>
            <a:prstGeom prst="cube">
              <a:avLst>
                <a:gd name="adj" fmla="val 82867"/>
              </a:avLst>
            </a:prstGeom>
            <a:solidFill>
              <a:srgbClr val="C28745">
                <a:alpha val="64706"/>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6" name="Cube 15">
              <a:extLst>
                <a:ext uri="{FF2B5EF4-FFF2-40B4-BE49-F238E27FC236}">
                  <a16:creationId xmlns:a16="http://schemas.microsoft.com/office/drawing/2014/main" id="{261B9085-48C5-495C-AE58-EF0C94904685}"/>
                </a:ext>
              </a:extLst>
            </p:cNvPr>
            <p:cNvSpPr/>
            <p:nvPr/>
          </p:nvSpPr>
          <p:spPr>
            <a:xfrm>
              <a:off x="609627" y="3316611"/>
              <a:ext cx="4419573" cy="2155004"/>
            </a:xfrm>
            <a:prstGeom prst="cube">
              <a:avLst>
                <a:gd name="adj" fmla="val 82867"/>
              </a:avLst>
            </a:prstGeom>
            <a:solidFill>
              <a:srgbClr val="399758">
                <a:alpha val="65098"/>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573763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p:txBody>
          <a:bodyPr/>
          <a:lstStyle/>
          <a:p>
            <a:r>
              <a:rPr lang="en-US" dirty="0"/>
              <a:t>1.Introduction</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p:txBody>
          <a:bodyPr>
            <a:normAutofit/>
          </a:bodyPr>
          <a:lstStyle/>
          <a:p>
            <a:pPr marL="0" indent="0">
              <a:buNone/>
            </a:pPr>
            <a:r>
              <a:rPr lang="en-US" dirty="0"/>
              <a:t>1.2. State of the art</a:t>
            </a:r>
          </a:p>
          <a:p>
            <a:pPr marL="457200" lvl="1" indent="0">
              <a:buNone/>
            </a:pPr>
            <a:r>
              <a:rPr lang="en-US" dirty="0"/>
              <a:t>Considering </a:t>
            </a:r>
            <a:r>
              <a:rPr lang="en-US" b="1" dirty="0"/>
              <a:t>plant architecture</a:t>
            </a:r>
            <a:r>
              <a:rPr lang="en-US" dirty="0"/>
              <a:t> enables the study of </a:t>
            </a:r>
            <a:r>
              <a:rPr lang="en-US" dirty="0" err="1"/>
              <a:t>spatio</a:t>
            </a:r>
            <a:r>
              <a:rPr lang="en-US" dirty="0"/>
              <a:t>-temporal plant-plant interactions in heterogeneous cropping systems, by showing how structural traits shape resource access, competitive dynamics, and niche complementarity over time (</a:t>
            </a:r>
            <a:r>
              <a:rPr lang="en-US" dirty="0" err="1"/>
              <a:t>Justes</a:t>
            </a:r>
            <a:r>
              <a:rPr lang="en-US" dirty="0"/>
              <a:t> et al., 2021, </a:t>
            </a:r>
            <a:r>
              <a:rPr lang="en-US" dirty="0" err="1"/>
              <a:t>Laurans</a:t>
            </a:r>
            <a:r>
              <a:rPr lang="en-US" dirty="0"/>
              <a:t> et al., 2024). </a:t>
            </a:r>
          </a:p>
          <a:p>
            <a:pPr marL="457200" lvl="1" indent="0">
              <a:buNone/>
            </a:pP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E99ED29B-F51C-49A3-8E32-9AA413AB6441}"/>
              </a:ext>
            </a:extLst>
          </p:cNvPr>
          <p:cNvSpPr>
            <a:spLocks noGrp="1"/>
          </p:cNvSpPr>
          <p:nvPr>
            <p:ph type="sldNum" sz="quarter" idx="12"/>
          </p:nvPr>
        </p:nvSpPr>
        <p:spPr/>
        <p:txBody>
          <a:bodyPr/>
          <a:lstStyle/>
          <a:p>
            <a:fld id="{4D0921BC-FC9B-4B20-AD4C-0D7EEBC2A9A8}" type="slidenum">
              <a:rPr lang="en-US" smtClean="0"/>
              <a:t>8</a:t>
            </a:fld>
            <a:endParaRPr lang="en-US"/>
          </a:p>
        </p:txBody>
      </p:sp>
    </p:spTree>
    <p:extLst>
      <p:ext uri="{BB962C8B-B14F-4D97-AF65-F5344CB8AC3E}">
        <p14:creationId xmlns:p14="http://schemas.microsoft.com/office/powerpoint/2010/main" val="39460395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4E5BF1B9-E58A-4670-B189-A966D63E03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35656" y="2723677"/>
            <a:ext cx="3038044" cy="3323168"/>
          </a:xfrm>
          <a:prstGeom prst="rect">
            <a:avLst/>
          </a:prstGeom>
        </p:spPr>
      </p:pic>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64848" y="311470"/>
            <a:ext cx="9181151" cy="896121"/>
          </a:xfrm>
        </p:spPr>
        <p:txBody>
          <a:bodyPr>
            <a:normAutofit/>
          </a:bodyPr>
          <a:lstStyle/>
          <a:p>
            <a:r>
              <a:rPr lang="fr-FR" sz="4000" dirty="0"/>
              <a:t>FSPM (</a:t>
            </a:r>
            <a:r>
              <a:rPr lang="fr-FR" sz="4000" dirty="0" err="1"/>
              <a:t>Functional</a:t>
            </a:r>
            <a:r>
              <a:rPr lang="fr-FR" sz="4000" dirty="0"/>
              <a:t>-Structural Plant </a:t>
            </a:r>
            <a:r>
              <a:rPr lang="fr-FR" sz="4000" dirty="0" err="1"/>
              <a:t>Models</a:t>
            </a:r>
            <a:r>
              <a:rPr lang="fr-FR" sz="4000" dirty="0"/>
              <a:t>) </a:t>
            </a:r>
          </a:p>
        </p:txBody>
      </p:sp>
      <p:sp>
        <p:nvSpPr>
          <p:cNvPr id="9" name="Content Placeholder 7">
            <a:extLst>
              <a:ext uri="{FF2B5EF4-FFF2-40B4-BE49-F238E27FC236}">
                <a16:creationId xmlns:a16="http://schemas.microsoft.com/office/drawing/2014/main" id="{3944096A-74EF-4E2D-9E5D-E63FEDC5CCB4}"/>
              </a:ext>
            </a:extLst>
          </p:cNvPr>
          <p:cNvSpPr txBox="1">
            <a:spLocks/>
          </p:cNvSpPr>
          <p:nvPr/>
        </p:nvSpPr>
        <p:spPr>
          <a:xfrm>
            <a:off x="664848" y="954075"/>
            <a:ext cx="4017852" cy="896121"/>
          </a:xfrm>
          <a:prstGeom prst="rect">
            <a:avLst/>
          </a:prstGeom>
          <a:ln w="28575">
            <a:noFill/>
          </a:ln>
        </p:spPr>
        <p:txBody>
          <a:bodyPr vert="horz" lIns="91440" tIns="45720" rIns="91440" bIns="45720" rtlCol="0" anchor="ctr">
            <a:normAutofit/>
          </a:bodyPr>
          <a:lstStyle>
            <a:defPPr>
              <a:defRPr lang="fr-FR"/>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a:t>
            </a:r>
            <a:r>
              <a:rPr lang="da-DK" sz="1400" dirty="0">
                <a:solidFill>
                  <a:schemeClr val="tx1"/>
                </a:solidFill>
              </a:rPr>
              <a:t>Evers et al., 2019 , </a:t>
            </a:r>
            <a:r>
              <a:rPr lang="fr-FR" sz="1400" dirty="0" err="1">
                <a:solidFill>
                  <a:schemeClr val="tx1"/>
                </a:solidFill>
              </a:rPr>
              <a:t>Louarn</a:t>
            </a:r>
            <a:r>
              <a:rPr lang="fr-FR" sz="1400" dirty="0">
                <a:solidFill>
                  <a:schemeClr val="tx1"/>
                </a:solidFill>
              </a:rPr>
              <a:t> and Song, 2020)</a:t>
            </a:r>
          </a:p>
          <a:p>
            <a:pPr algn="l"/>
            <a:r>
              <a:rPr lang="fr-FR" sz="1600" i="1" dirty="0">
                <a:solidFill>
                  <a:schemeClr val="tx1"/>
                </a:solidFill>
              </a:rPr>
              <a:t>e.g.: V</a:t>
            </a:r>
            <a:r>
              <a:rPr lang="en-US" sz="1600" i="1" dirty="0" err="1">
                <a:solidFill>
                  <a:schemeClr val="tx1"/>
                </a:solidFill>
              </a:rPr>
              <a:t>irtual</a:t>
            </a:r>
            <a:r>
              <a:rPr lang="en-US" sz="1600" i="1" dirty="0">
                <a:solidFill>
                  <a:schemeClr val="tx1"/>
                </a:solidFill>
              </a:rPr>
              <a:t> </a:t>
            </a:r>
            <a:r>
              <a:rPr lang="en-US" sz="1600" i="1" dirty="0" err="1">
                <a:solidFill>
                  <a:schemeClr val="tx1"/>
                </a:solidFill>
              </a:rPr>
              <a:t>GrassLand</a:t>
            </a:r>
            <a:r>
              <a:rPr lang="en-US" sz="1600" i="1" dirty="0">
                <a:solidFill>
                  <a:schemeClr val="tx1"/>
                </a:solidFill>
              </a:rPr>
              <a:t> </a:t>
            </a:r>
            <a:r>
              <a:rPr lang="en-US" sz="1400" i="1" dirty="0">
                <a:solidFill>
                  <a:schemeClr val="tx1"/>
                </a:solidFill>
              </a:rPr>
              <a:t>(</a:t>
            </a:r>
            <a:r>
              <a:rPr lang="en-US" sz="1400" i="1" dirty="0" err="1">
                <a:solidFill>
                  <a:schemeClr val="tx1"/>
                </a:solidFill>
              </a:rPr>
              <a:t>Louarn</a:t>
            </a:r>
            <a:r>
              <a:rPr lang="en-US" sz="1400" i="1" dirty="0">
                <a:solidFill>
                  <a:schemeClr val="tx1"/>
                </a:solidFill>
              </a:rPr>
              <a:t> et al., 2020), </a:t>
            </a:r>
          </a:p>
          <a:p>
            <a:pPr algn="l"/>
            <a:r>
              <a:rPr lang="en-US" sz="1600" i="1" dirty="0">
                <a:solidFill>
                  <a:schemeClr val="tx1"/>
                </a:solidFill>
              </a:rPr>
              <a:t>SIMBAL </a:t>
            </a:r>
            <a:r>
              <a:rPr lang="en-US" sz="1400" i="1" dirty="0">
                <a:solidFill>
                  <a:schemeClr val="tx1"/>
                </a:solidFill>
              </a:rPr>
              <a:t>(</a:t>
            </a:r>
            <a:r>
              <a:rPr lang="en-US" sz="1400" i="1" dirty="0" err="1">
                <a:solidFill>
                  <a:schemeClr val="tx1"/>
                </a:solidFill>
              </a:rPr>
              <a:t>Perthame</a:t>
            </a:r>
            <a:r>
              <a:rPr lang="en-US" sz="1400" i="1" dirty="0">
                <a:solidFill>
                  <a:schemeClr val="tx1"/>
                </a:solidFill>
              </a:rPr>
              <a:t> et al., 2023)</a:t>
            </a:r>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9</a:t>
            </a:fld>
            <a:endParaRPr lang="fr-FR"/>
          </a:p>
        </p:txBody>
      </p:sp>
      <p:sp>
        <p:nvSpPr>
          <p:cNvPr id="19" name="Rectangle 18">
            <a:extLst>
              <a:ext uri="{FF2B5EF4-FFF2-40B4-BE49-F238E27FC236}">
                <a16:creationId xmlns:a16="http://schemas.microsoft.com/office/drawing/2014/main" id="{65E17AAE-D403-4C0C-BA8C-9BB147F88A50}"/>
              </a:ext>
            </a:extLst>
          </p:cNvPr>
          <p:cNvSpPr/>
          <p:nvPr/>
        </p:nvSpPr>
        <p:spPr>
          <a:xfrm>
            <a:off x="664848" y="2256985"/>
            <a:ext cx="8854068" cy="4154984"/>
          </a:xfrm>
          <a:prstGeom prst="rect">
            <a:avLst/>
          </a:prstGeom>
        </p:spPr>
        <p:txBody>
          <a:bodyPr wrap="square">
            <a:spAutoFit/>
          </a:bodyPr>
          <a:lstStyle/>
          <a:p>
            <a:r>
              <a:rPr lang="en-US" sz="2400" u="sng" dirty="0"/>
              <a:t>Objective:</a:t>
            </a:r>
            <a:r>
              <a:rPr lang="en-US" sz="2400" dirty="0"/>
              <a:t> integration of knowledge at organ scale, plasticity studies </a:t>
            </a:r>
          </a:p>
          <a:p>
            <a:endParaRPr lang="en-US" sz="2400" dirty="0"/>
          </a:p>
          <a:p>
            <a:r>
              <a:rPr lang="en-US" sz="2400" u="sng" dirty="0"/>
              <a:t>Characteristics: </a:t>
            </a:r>
          </a:p>
          <a:p>
            <a:pPr marL="285750" indent="-285750">
              <a:buFont typeface="Arial" panose="020B0604020202020204" pitchFamily="34" charset="0"/>
              <a:buChar char="•"/>
            </a:pPr>
            <a:r>
              <a:rPr lang="en-US" sz="2400" dirty="0"/>
              <a:t>organ scale (unit = organ)</a:t>
            </a:r>
          </a:p>
          <a:p>
            <a:pPr marL="285750" indent="-285750">
              <a:buFont typeface="Arial" panose="020B0604020202020204" pitchFamily="34" charset="0"/>
              <a:buChar char="•"/>
            </a:pPr>
            <a:r>
              <a:rPr lang="en-US" sz="2400" dirty="0"/>
              <a:t>3D plant structure influence and emerges from plant processes</a:t>
            </a:r>
          </a:p>
          <a:p>
            <a:pPr marL="285750" indent="-285750">
              <a:buFont typeface="Arial" panose="020B0604020202020204" pitchFamily="34" charset="0"/>
              <a:buChar char="•"/>
            </a:pPr>
            <a:r>
              <a:rPr lang="en-US" sz="2400" dirty="0"/>
              <a:t>enable to represent heterogeneous crops</a:t>
            </a:r>
          </a:p>
          <a:p>
            <a:pPr marL="285750" indent="-285750">
              <a:buFont typeface="Arial" panose="020B0604020202020204" pitchFamily="34" charset="0"/>
              <a:buChar char="•"/>
            </a:pPr>
            <a:endParaRPr lang="fr-FR" sz="2400" dirty="0"/>
          </a:p>
          <a:p>
            <a:r>
              <a:rPr lang="fr-FR" sz="2400" u="sng" dirty="0"/>
              <a:t>Limits:</a:t>
            </a:r>
          </a:p>
          <a:p>
            <a:pPr marL="285750" indent="-285750">
              <a:buFont typeface="Arial" panose="020B0604020202020204" pitchFamily="34" charset="0"/>
              <a:buChar char="•"/>
            </a:pPr>
            <a:r>
              <a:rPr lang="fr-FR" sz="2400" dirty="0" err="1"/>
              <a:t>complexity</a:t>
            </a:r>
            <a:endParaRPr lang="fr-FR" sz="2400" dirty="0"/>
          </a:p>
          <a:p>
            <a:pPr marL="285750" indent="-285750">
              <a:buFont typeface="Arial" panose="020B0604020202020204" pitchFamily="34" charset="0"/>
              <a:buChar char="•"/>
            </a:pPr>
            <a:r>
              <a:rPr lang="fr-FR" sz="2400" dirty="0" err="1"/>
              <a:t>cannot</a:t>
            </a:r>
            <a:r>
              <a:rPr lang="fr-FR" sz="2400" dirty="0"/>
              <a:t> </a:t>
            </a:r>
            <a:r>
              <a:rPr lang="fr-FR" sz="2400" dirty="0" err="1"/>
              <a:t>always</a:t>
            </a:r>
            <a:r>
              <a:rPr lang="fr-FR" sz="2400" dirty="0"/>
              <a:t> </a:t>
            </a:r>
            <a:r>
              <a:rPr lang="fr-FR" sz="2400" dirty="0" err="1"/>
              <a:t>simulate</a:t>
            </a:r>
            <a:r>
              <a:rPr lang="fr-FR" sz="2400" dirty="0"/>
              <a:t> </a:t>
            </a:r>
            <a:r>
              <a:rPr lang="fr-FR" sz="2400" dirty="0" err="1"/>
              <a:t>whole</a:t>
            </a:r>
            <a:r>
              <a:rPr lang="fr-FR" sz="2400" dirty="0"/>
              <a:t> </a:t>
            </a:r>
            <a:r>
              <a:rPr lang="fr-FR" sz="2400" dirty="0" err="1"/>
              <a:t>development</a:t>
            </a:r>
            <a:r>
              <a:rPr lang="fr-FR" sz="2400" dirty="0"/>
              <a:t> cycle</a:t>
            </a:r>
          </a:p>
          <a:p>
            <a:pPr marL="285750" indent="-285750">
              <a:buFont typeface="Arial" panose="020B0604020202020204" pitchFamily="34" charset="0"/>
              <a:buChar char="•"/>
            </a:pPr>
            <a:r>
              <a:rPr lang="fr-FR" sz="2400" dirty="0" err="1">
                <a:sym typeface="Wingdings" panose="05000000000000000000" pitchFamily="2" charset="2"/>
              </a:rPr>
              <a:t>need</a:t>
            </a:r>
            <a:r>
              <a:rPr lang="fr-FR" sz="2400" dirty="0">
                <a:sym typeface="Wingdings" panose="05000000000000000000" pitchFamily="2" charset="2"/>
              </a:rPr>
              <a:t> lots of 3D </a:t>
            </a:r>
            <a:r>
              <a:rPr lang="fr-FR" sz="2400" dirty="0" err="1">
                <a:sym typeface="Wingdings" panose="05000000000000000000" pitchFamily="2" charset="2"/>
              </a:rPr>
              <a:t>measures</a:t>
            </a:r>
            <a:endParaRPr lang="en-US" sz="2400" dirty="0"/>
          </a:p>
        </p:txBody>
      </p:sp>
    </p:spTree>
    <p:extLst>
      <p:ext uri="{BB962C8B-B14F-4D97-AF65-F5344CB8AC3E}">
        <p14:creationId xmlns:p14="http://schemas.microsoft.com/office/powerpoint/2010/main" val="791221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838199" y="1582713"/>
            <a:ext cx="10515599" cy="5260538"/>
          </a:xfrm>
        </p:spPr>
        <p:txBody>
          <a:bodyPr>
            <a:normAutofit/>
          </a:bodyPr>
          <a:lstStyle/>
          <a:p>
            <a:pPr marL="0" indent="0">
              <a:buNone/>
            </a:pPr>
            <a:r>
              <a:rPr lang="en-US" dirty="0"/>
              <a:t>1.2.State of the art: </a:t>
            </a:r>
          </a:p>
          <a:p>
            <a:pPr lvl="1"/>
            <a:r>
              <a:rPr lang="en-US" dirty="0"/>
              <a:t>3D plant models</a:t>
            </a:r>
          </a:p>
          <a:p>
            <a:pPr lvl="1"/>
            <a:endParaRPr lang="en-US" dirty="0"/>
          </a:p>
          <a:p>
            <a:pPr lvl="2"/>
            <a:r>
              <a:rPr lang="en-US" dirty="0"/>
              <a:t>In the continuum of FSPMs: grammars, bottom-up (= system emerges from local laws, through simulation)</a:t>
            </a:r>
          </a:p>
          <a:p>
            <a:pPr marL="1371600" lvl="3" indent="0">
              <a:buNone/>
            </a:pPr>
            <a:r>
              <a:rPr lang="en-US" dirty="0"/>
              <a:t>ex: recursive and hierarchical algorithms: L-systems (</a:t>
            </a:r>
            <a:r>
              <a:rPr lang="en-US" dirty="0" err="1"/>
              <a:t>Lindenmayer</a:t>
            </a:r>
            <a:r>
              <a:rPr lang="en-US" dirty="0"/>
              <a:t>, </a:t>
            </a:r>
            <a:r>
              <a:rPr lang="en-US" dirty="0" err="1"/>
              <a:t>Prusinkiewicz</a:t>
            </a:r>
            <a:r>
              <a:rPr lang="en-US" dirty="0"/>
              <a:t>, </a:t>
            </a:r>
            <a:r>
              <a:rPr lang="en-US" dirty="0" err="1"/>
              <a:t>Boudon</a:t>
            </a:r>
            <a:r>
              <a:rPr lang="en-US" dirty="0"/>
              <a:t>), fractals (Oppenheimer, 1986) </a:t>
            </a:r>
          </a:p>
          <a:p>
            <a:pPr lvl="2"/>
            <a:endParaRPr lang="en-US" dirty="0"/>
          </a:p>
          <a:p>
            <a:pPr lvl="2"/>
            <a:r>
              <a:rPr lang="en-US" dirty="0"/>
              <a:t>In computer graphics: user-defined models, </a:t>
            </a:r>
            <a:r>
              <a:rPr lang="en-US" b="1" dirty="0"/>
              <a:t>easy to use for non-specialists</a:t>
            </a:r>
            <a:r>
              <a:rPr lang="en-US" dirty="0"/>
              <a:t>, but </a:t>
            </a:r>
          </a:p>
          <a:p>
            <a:pPr marL="1371600" lvl="3" indent="0">
              <a:buNone/>
            </a:pPr>
            <a:r>
              <a:rPr lang="en-US" dirty="0"/>
              <a:t>ex: </a:t>
            </a:r>
            <a:r>
              <a:rPr lang="en-US" b="1" dirty="0"/>
              <a:t>parametric</a:t>
            </a:r>
            <a:r>
              <a:rPr lang="en-US" dirty="0"/>
              <a:t> trees (Weber and Penn, 1995, Guo et al., 2018); </a:t>
            </a:r>
            <a:r>
              <a:rPr lang="en-US" dirty="0" err="1"/>
              <a:t>Xfrog</a:t>
            </a:r>
            <a:r>
              <a:rPr lang="en-US" dirty="0"/>
              <a:t> (</a:t>
            </a:r>
            <a:r>
              <a:rPr lang="en-US" dirty="0" err="1"/>
              <a:t>Deussen</a:t>
            </a:r>
            <a:r>
              <a:rPr lang="en-US" dirty="0"/>
              <a:t> and </a:t>
            </a:r>
            <a:r>
              <a:rPr lang="en-US" dirty="0" err="1"/>
              <a:t>Lintermann</a:t>
            </a:r>
            <a:r>
              <a:rPr lang="en-US" dirty="0"/>
              <a:t>, 2006); </a:t>
            </a:r>
            <a:r>
              <a:rPr lang="en-US" dirty="0" err="1"/>
              <a:t>TreeSketch</a:t>
            </a:r>
            <a:r>
              <a:rPr lang="en-US" dirty="0"/>
              <a:t> (</a:t>
            </a:r>
            <a:r>
              <a:rPr lang="en-US" dirty="0" err="1"/>
              <a:t>Longay</a:t>
            </a:r>
            <a:r>
              <a:rPr lang="en-US" dirty="0"/>
              <a:t> et al., 2012) </a:t>
            </a:r>
          </a:p>
          <a:p>
            <a:pPr lvl="3"/>
            <a:endParaRPr lang="en-US" dirty="0"/>
          </a:p>
        </p:txBody>
      </p:sp>
      <p:sp>
        <p:nvSpPr>
          <p:cNvPr id="5" name="Slide Number Placeholder 4">
            <a:extLst>
              <a:ext uri="{FF2B5EF4-FFF2-40B4-BE49-F238E27FC236}">
                <a16:creationId xmlns:a16="http://schemas.microsoft.com/office/drawing/2014/main" id="{3165ED3D-3230-49E3-8660-65D703D2BCE4}"/>
              </a:ext>
            </a:extLst>
          </p:cNvPr>
          <p:cNvSpPr>
            <a:spLocks noGrp="1"/>
          </p:cNvSpPr>
          <p:nvPr>
            <p:ph type="sldNum" sz="quarter" idx="12"/>
          </p:nvPr>
        </p:nvSpPr>
        <p:spPr/>
        <p:txBody>
          <a:bodyPr/>
          <a:lstStyle/>
          <a:p>
            <a:fld id="{4D0921BC-FC9B-4B20-AD4C-0D7EEBC2A9A8}" type="slidenum">
              <a:rPr lang="en-US" smtClean="0"/>
              <a:t>10</a:t>
            </a:fld>
            <a:endParaRPr lang="en-US"/>
          </a:p>
        </p:txBody>
      </p:sp>
      <p:sp>
        <p:nvSpPr>
          <p:cNvPr id="8" name="Title 1">
            <a:extLst>
              <a:ext uri="{FF2B5EF4-FFF2-40B4-BE49-F238E27FC236}">
                <a16:creationId xmlns:a16="http://schemas.microsoft.com/office/drawing/2014/main" id="{B82B70B0-6F28-4241-A580-5ACAC2536C2E}"/>
              </a:ext>
            </a:extLst>
          </p:cNvPr>
          <p:cNvSpPr txBox="1">
            <a:spLocks/>
          </p:cNvSpPr>
          <p:nvPr/>
        </p:nvSpPr>
        <p:spPr>
          <a:xfrm>
            <a:off x="838200" y="25715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Tree>
    <p:extLst>
      <p:ext uri="{BB962C8B-B14F-4D97-AF65-F5344CB8AC3E}">
        <p14:creationId xmlns:p14="http://schemas.microsoft.com/office/powerpoint/2010/main" val="31060902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B19D09E-F77F-4792-9293-E79FCCDB1E44}"/>
              </a:ext>
            </a:extLst>
          </p:cNvPr>
          <p:cNvSpPr/>
          <p:nvPr/>
        </p:nvSpPr>
        <p:spPr>
          <a:xfrm>
            <a:off x="547423" y="1368086"/>
            <a:ext cx="10718886" cy="830997"/>
          </a:xfrm>
          <a:prstGeom prst="rect">
            <a:avLst/>
          </a:prstGeom>
        </p:spPr>
        <p:txBody>
          <a:bodyPr wrap="square">
            <a:spAutoFit/>
          </a:bodyPr>
          <a:lstStyle/>
          <a:p>
            <a:pPr marL="285750" indent="-285750">
              <a:buFont typeface="Wingdings" panose="05000000000000000000" pitchFamily="2" charset="2"/>
              <a:buChar char="è"/>
            </a:pPr>
            <a:r>
              <a:rPr lang="fr-FR" sz="2400" dirty="0">
                <a:sym typeface="Wingdings" panose="05000000000000000000" pitchFamily="2" charset="2"/>
              </a:rPr>
              <a:t> Possible </a:t>
            </a:r>
            <a:r>
              <a:rPr lang="fr-FR" sz="2400" dirty="0" err="1">
                <a:sym typeface="Wingdings" panose="05000000000000000000" pitchFamily="2" charset="2"/>
              </a:rPr>
              <a:t>way</a:t>
            </a:r>
            <a:r>
              <a:rPr lang="fr-FR" sz="2400" dirty="0">
                <a:sym typeface="Wingdings" panose="05000000000000000000" pitchFamily="2" charset="2"/>
              </a:rPr>
              <a:t>: by </a:t>
            </a:r>
            <a:r>
              <a:rPr lang="fr-FR" sz="2400" b="1" dirty="0" err="1">
                <a:sym typeface="Wingdings" panose="05000000000000000000" pitchFamily="2" charset="2"/>
              </a:rPr>
              <a:t>adapting</a:t>
            </a:r>
            <a:r>
              <a:rPr lang="fr-FR" sz="2400" b="1" dirty="0">
                <a:sym typeface="Wingdings" panose="05000000000000000000" pitchFamily="2" charset="2"/>
              </a:rPr>
              <a:t> </a:t>
            </a:r>
            <a:r>
              <a:rPr lang="fr-FR" sz="2400" b="1" dirty="0" err="1">
                <a:sym typeface="Wingdings" panose="05000000000000000000" pitchFamily="2" charset="2"/>
              </a:rPr>
              <a:t>crop</a:t>
            </a:r>
            <a:r>
              <a:rPr lang="fr-FR" sz="2400" b="1" dirty="0">
                <a:sym typeface="Wingdings" panose="05000000000000000000" pitchFamily="2" charset="2"/>
              </a:rPr>
              <a:t> </a:t>
            </a:r>
            <a:r>
              <a:rPr lang="fr-FR" sz="2400" b="1" dirty="0" err="1">
                <a:sym typeface="Wingdings" panose="05000000000000000000" pitchFamily="2" charset="2"/>
              </a:rPr>
              <a:t>models</a:t>
            </a:r>
            <a:r>
              <a:rPr lang="fr-FR" sz="2400" dirty="0">
                <a:sym typeface="Wingdings" panose="05000000000000000000" pitchFamily="2" charset="2"/>
              </a:rPr>
              <a:t> for </a:t>
            </a:r>
            <a:r>
              <a:rPr lang="fr-FR" sz="2400" dirty="0" err="1">
                <a:sym typeface="Wingdings" panose="05000000000000000000" pitchFamily="2" charset="2"/>
              </a:rPr>
              <a:t>considering</a:t>
            </a:r>
            <a:r>
              <a:rPr lang="fr-FR" sz="2400" dirty="0">
                <a:sym typeface="Wingdings" panose="05000000000000000000" pitchFamily="2" charset="2"/>
              </a:rPr>
              <a:t> more </a:t>
            </a:r>
            <a:r>
              <a:rPr lang="fr-FR" sz="2400" b="1" dirty="0">
                <a:sym typeface="Wingdings" panose="05000000000000000000" pitchFamily="2" charset="2"/>
              </a:rPr>
              <a:t>architectural and spatial </a:t>
            </a:r>
            <a:r>
              <a:rPr lang="fr-FR" sz="2400" b="1" dirty="0" err="1">
                <a:sym typeface="Wingdings" panose="05000000000000000000" pitchFamily="2" charset="2"/>
              </a:rPr>
              <a:t>heterogeneity</a:t>
            </a:r>
            <a:r>
              <a:rPr lang="fr-FR" sz="2400" b="1" dirty="0">
                <a:sym typeface="Wingdings" panose="05000000000000000000" pitchFamily="2" charset="2"/>
              </a:rPr>
              <a:t> </a:t>
            </a:r>
            <a:r>
              <a:rPr lang="fr-FR" sz="2400" dirty="0">
                <a:sym typeface="Wingdings" panose="05000000000000000000" pitchFamily="2" charset="2"/>
              </a:rPr>
              <a:t>of </a:t>
            </a:r>
            <a:r>
              <a:rPr lang="fr-FR" sz="2400" dirty="0" err="1">
                <a:sym typeface="Wingdings" panose="05000000000000000000" pitchFamily="2" charset="2"/>
              </a:rPr>
              <a:t>intercrops</a:t>
            </a:r>
            <a:endParaRPr lang="fr-FR" sz="2400" dirty="0">
              <a:sym typeface="Wingdings" panose="05000000000000000000" pitchFamily="2" charset="2"/>
            </a:endParaRPr>
          </a:p>
        </p:txBody>
      </p:sp>
      <p:sp>
        <p:nvSpPr>
          <p:cNvPr id="2" name="Title 1">
            <a:extLst>
              <a:ext uri="{FF2B5EF4-FFF2-40B4-BE49-F238E27FC236}">
                <a16:creationId xmlns:a16="http://schemas.microsoft.com/office/drawing/2014/main" id="{CF996E95-F6C0-489B-A325-7883157E0BCF}"/>
              </a:ext>
            </a:extLst>
          </p:cNvPr>
          <p:cNvSpPr>
            <a:spLocks noGrp="1"/>
          </p:cNvSpPr>
          <p:nvPr>
            <p:ph type="title"/>
          </p:nvPr>
        </p:nvSpPr>
        <p:spPr>
          <a:xfrm>
            <a:off x="547423" y="136525"/>
            <a:ext cx="10515600" cy="1325563"/>
          </a:xfrm>
        </p:spPr>
        <p:txBody>
          <a:bodyPr>
            <a:normAutofit/>
          </a:bodyPr>
          <a:lstStyle/>
          <a:p>
            <a:r>
              <a:rPr lang="fr-FR" sz="3600" dirty="0">
                <a:sym typeface="Wingdings" panose="05000000000000000000" pitchFamily="2" charset="2"/>
              </a:rPr>
              <a:t>How to </a:t>
            </a:r>
            <a:r>
              <a:rPr lang="fr-FR" sz="3600" dirty="0" err="1">
                <a:sym typeface="Wingdings" panose="05000000000000000000" pitchFamily="2" charset="2"/>
              </a:rPr>
              <a:t>benefit</a:t>
            </a:r>
            <a:r>
              <a:rPr lang="fr-FR" sz="3600" dirty="0">
                <a:sym typeface="Wingdings" panose="05000000000000000000" pitchFamily="2" charset="2"/>
              </a:rPr>
              <a:t> </a:t>
            </a:r>
            <a:r>
              <a:rPr lang="fr-FR" sz="3600" dirty="0" err="1">
                <a:sym typeface="Wingdings" panose="05000000000000000000" pitchFamily="2" charset="2"/>
              </a:rPr>
              <a:t>from</a:t>
            </a:r>
            <a:r>
              <a:rPr lang="fr-FR" sz="3600" dirty="0">
                <a:sym typeface="Wingdings" panose="05000000000000000000" pitchFamily="2" charset="2"/>
              </a:rPr>
              <a:t> the best of </a:t>
            </a:r>
            <a:r>
              <a:rPr lang="fr-FR" sz="3600" dirty="0" err="1">
                <a:sym typeface="Wingdings" panose="05000000000000000000" pitchFamily="2" charset="2"/>
              </a:rPr>
              <a:t>both</a:t>
            </a:r>
            <a:r>
              <a:rPr lang="fr-FR" sz="3600" dirty="0">
                <a:sym typeface="Wingdings" panose="05000000000000000000" pitchFamily="2" charset="2"/>
              </a:rPr>
              <a:t> </a:t>
            </a:r>
            <a:r>
              <a:rPr lang="fr-FR" sz="3600" dirty="0" err="1">
                <a:sym typeface="Wingdings" panose="05000000000000000000" pitchFamily="2" charset="2"/>
              </a:rPr>
              <a:t>approaches</a:t>
            </a:r>
            <a:r>
              <a:rPr lang="fr-FR" sz="3600" dirty="0">
                <a:sym typeface="Wingdings" panose="05000000000000000000" pitchFamily="2" charset="2"/>
              </a:rPr>
              <a:t>?</a:t>
            </a:r>
            <a:endParaRPr lang="en-US" sz="3400" dirty="0"/>
          </a:p>
        </p:txBody>
      </p:sp>
      <p:sp>
        <p:nvSpPr>
          <p:cNvPr id="10" name="TextBox 9">
            <a:extLst>
              <a:ext uri="{FF2B5EF4-FFF2-40B4-BE49-F238E27FC236}">
                <a16:creationId xmlns:a16="http://schemas.microsoft.com/office/drawing/2014/main" id="{55FA22D2-B079-4D92-8652-2054AAB6232A}"/>
              </a:ext>
            </a:extLst>
          </p:cNvPr>
          <p:cNvSpPr txBox="1"/>
          <p:nvPr/>
        </p:nvSpPr>
        <p:spPr>
          <a:xfrm>
            <a:off x="5402832" y="1821616"/>
            <a:ext cx="3207768" cy="307777"/>
          </a:xfrm>
          <a:prstGeom prst="rect">
            <a:avLst/>
          </a:prstGeom>
          <a:noFill/>
        </p:spPr>
        <p:txBody>
          <a:bodyPr wrap="square" rtlCol="0">
            <a:spAutoFit/>
          </a:bodyPr>
          <a:lstStyle/>
          <a:p>
            <a:r>
              <a:rPr lang="fr-FR" sz="1400" dirty="0"/>
              <a:t>(</a:t>
            </a:r>
            <a:r>
              <a:rPr lang="fr-FR" sz="1400" dirty="0" err="1"/>
              <a:t>Gaudio</a:t>
            </a:r>
            <a:r>
              <a:rPr lang="fr-FR" sz="1400" dirty="0"/>
              <a:t> et al., 2019; </a:t>
            </a:r>
            <a:r>
              <a:rPr lang="fr-FR" sz="1400" dirty="0" err="1">
                <a:ea typeface="+mn-lt"/>
                <a:cs typeface="+mn-lt"/>
              </a:rPr>
              <a:t>Laurans</a:t>
            </a:r>
            <a:r>
              <a:rPr lang="fr-FR" sz="1400" dirty="0">
                <a:ea typeface="+mn-lt"/>
                <a:cs typeface="+mn-lt"/>
              </a:rPr>
              <a:t> et al., 2024</a:t>
            </a:r>
            <a:r>
              <a:rPr lang="fr-FR" sz="1400" dirty="0"/>
              <a:t>)</a:t>
            </a:r>
            <a:endParaRPr lang="en-US" sz="1400" dirty="0"/>
          </a:p>
        </p:txBody>
      </p:sp>
      <p:sp>
        <p:nvSpPr>
          <p:cNvPr id="11" name="Slide Number Placeholder 10">
            <a:extLst>
              <a:ext uri="{FF2B5EF4-FFF2-40B4-BE49-F238E27FC236}">
                <a16:creationId xmlns:a16="http://schemas.microsoft.com/office/drawing/2014/main" id="{252B2EDF-C232-4BB8-BCFF-E351BAD12D99}"/>
              </a:ext>
            </a:extLst>
          </p:cNvPr>
          <p:cNvSpPr>
            <a:spLocks noGrp="1"/>
          </p:cNvSpPr>
          <p:nvPr>
            <p:ph type="sldNum" sz="quarter" idx="12"/>
          </p:nvPr>
        </p:nvSpPr>
        <p:spPr/>
        <p:txBody>
          <a:bodyPr/>
          <a:lstStyle/>
          <a:p>
            <a:fld id="{27C6CCC6-2BE5-4E42-96A4-D1E8E81A3D8E}" type="slidenum">
              <a:rPr lang="fr-FR" smtClean="0"/>
              <a:t>11</a:t>
            </a:fld>
            <a:endParaRPr lang="fr-FR"/>
          </a:p>
        </p:txBody>
      </p:sp>
    </p:spTree>
    <p:extLst>
      <p:ext uri="{BB962C8B-B14F-4D97-AF65-F5344CB8AC3E}">
        <p14:creationId xmlns:p14="http://schemas.microsoft.com/office/powerpoint/2010/main" val="35321612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Diagonal Corners Snipped 3">
            <a:extLst>
              <a:ext uri="{FF2B5EF4-FFF2-40B4-BE49-F238E27FC236}">
                <a16:creationId xmlns:a16="http://schemas.microsoft.com/office/drawing/2014/main" id="{D8A134D3-7C03-4F97-9E52-EBA5B21452F6}"/>
              </a:ext>
            </a:extLst>
          </p:cNvPr>
          <p:cNvSpPr/>
          <p:nvPr/>
        </p:nvSpPr>
        <p:spPr>
          <a:xfrm>
            <a:off x="547423" y="2434848"/>
            <a:ext cx="3857923"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B19D09E-F77F-4792-9293-E79FCCDB1E44}"/>
              </a:ext>
            </a:extLst>
          </p:cNvPr>
          <p:cNvSpPr/>
          <p:nvPr/>
        </p:nvSpPr>
        <p:spPr>
          <a:xfrm>
            <a:off x="547423" y="1368086"/>
            <a:ext cx="10718886" cy="830997"/>
          </a:xfrm>
          <a:prstGeom prst="rect">
            <a:avLst/>
          </a:prstGeom>
        </p:spPr>
        <p:txBody>
          <a:bodyPr wrap="square">
            <a:spAutoFit/>
          </a:bodyPr>
          <a:lstStyle/>
          <a:p>
            <a:pPr marL="285750" indent="-285750">
              <a:buFont typeface="Wingdings" panose="05000000000000000000" pitchFamily="2" charset="2"/>
              <a:buChar char="è"/>
            </a:pPr>
            <a:r>
              <a:rPr lang="fr-FR" sz="2400" dirty="0">
                <a:sym typeface="Wingdings" panose="05000000000000000000" pitchFamily="2" charset="2"/>
              </a:rPr>
              <a:t> Possible </a:t>
            </a:r>
            <a:r>
              <a:rPr lang="fr-FR" sz="2400" dirty="0" err="1">
                <a:sym typeface="Wingdings" panose="05000000000000000000" pitchFamily="2" charset="2"/>
              </a:rPr>
              <a:t>way</a:t>
            </a:r>
            <a:r>
              <a:rPr lang="fr-FR" sz="2400" dirty="0">
                <a:sym typeface="Wingdings" panose="05000000000000000000" pitchFamily="2" charset="2"/>
              </a:rPr>
              <a:t>: by </a:t>
            </a:r>
            <a:r>
              <a:rPr lang="fr-FR" sz="2400" b="1" dirty="0" err="1">
                <a:sym typeface="Wingdings" panose="05000000000000000000" pitchFamily="2" charset="2"/>
              </a:rPr>
              <a:t>adapting</a:t>
            </a:r>
            <a:r>
              <a:rPr lang="fr-FR" sz="2400" b="1" dirty="0">
                <a:sym typeface="Wingdings" panose="05000000000000000000" pitchFamily="2" charset="2"/>
              </a:rPr>
              <a:t> </a:t>
            </a:r>
            <a:r>
              <a:rPr lang="fr-FR" sz="2400" b="1" dirty="0" err="1">
                <a:sym typeface="Wingdings" panose="05000000000000000000" pitchFamily="2" charset="2"/>
              </a:rPr>
              <a:t>crop</a:t>
            </a:r>
            <a:r>
              <a:rPr lang="fr-FR" sz="2400" b="1" dirty="0">
                <a:sym typeface="Wingdings" panose="05000000000000000000" pitchFamily="2" charset="2"/>
              </a:rPr>
              <a:t> </a:t>
            </a:r>
            <a:r>
              <a:rPr lang="fr-FR" sz="2400" b="1" dirty="0" err="1">
                <a:sym typeface="Wingdings" panose="05000000000000000000" pitchFamily="2" charset="2"/>
              </a:rPr>
              <a:t>models</a:t>
            </a:r>
            <a:r>
              <a:rPr lang="fr-FR" sz="2400" dirty="0">
                <a:sym typeface="Wingdings" panose="05000000000000000000" pitchFamily="2" charset="2"/>
              </a:rPr>
              <a:t> for </a:t>
            </a:r>
            <a:r>
              <a:rPr lang="fr-FR" sz="2400" dirty="0" err="1">
                <a:sym typeface="Wingdings" panose="05000000000000000000" pitchFamily="2" charset="2"/>
              </a:rPr>
              <a:t>considering</a:t>
            </a:r>
            <a:r>
              <a:rPr lang="fr-FR" sz="2400" dirty="0">
                <a:sym typeface="Wingdings" panose="05000000000000000000" pitchFamily="2" charset="2"/>
              </a:rPr>
              <a:t> more </a:t>
            </a:r>
            <a:r>
              <a:rPr lang="fr-FR" sz="2400" b="1" dirty="0">
                <a:sym typeface="Wingdings" panose="05000000000000000000" pitchFamily="2" charset="2"/>
              </a:rPr>
              <a:t>architectural and spatial </a:t>
            </a:r>
            <a:r>
              <a:rPr lang="fr-FR" sz="2400" b="1" dirty="0" err="1">
                <a:sym typeface="Wingdings" panose="05000000000000000000" pitchFamily="2" charset="2"/>
              </a:rPr>
              <a:t>heterogeneity</a:t>
            </a:r>
            <a:r>
              <a:rPr lang="fr-FR" sz="2400" b="1" dirty="0">
                <a:sym typeface="Wingdings" panose="05000000000000000000" pitchFamily="2" charset="2"/>
              </a:rPr>
              <a:t> </a:t>
            </a:r>
            <a:r>
              <a:rPr lang="fr-FR" sz="2400" dirty="0">
                <a:sym typeface="Wingdings" panose="05000000000000000000" pitchFamily="2" charset="2"/>
              </a:rPr>
              <a:t>of </a:t>
            </a:r>
            <a:r>
              <a:rPr lang="fr-FR" sz="2400" dirty="0" err="1">
                <a:sym typeface="Wingdings" panose="05000000000000000000" pitchFamily="2" charset="2"/>
              </a:rPr>
              <a:t>intercrops</a:t>
            </a:r>
            <a:endParaRPr lang="fr-FR" sz="2400" dirty="0">
              <a:sym typeface="Wingdings" panose="05000000000000000000" pitchFamily="2" charset="2"/>
            </a:endParaRPr>
          </a:p>
        </p:txBody>
      </p:sp>
      <p:sp>
        <p:nvSpPr>
          <p:cNvPr id="2" name="Title 1">
            <a:extLst>
              <a:ext uri="{FF2B5EF4-FFF2-40B4-BE49-F238E27FC236}">
                <a16:creationId xmlns:a16="http://schemas.microsoft.com/office/drawing/2014/main" id="{CF996E95-F6C0-489B-A325-7883157E0BCF}"/>
              </a:ext>
            </a:extLst>
          </p:cNvPr>
          <p:cNvSpPr>
            <a:spLocks noGrp="1"/>
          </p:cNvSpPr>
          <p:nvPr>
            <p:ph type="title"/>
          </p:nvPr>
        </p:nvSpPr>
        <p:spPr>
          <a:xfrm>
            <a:off x="547423" y="136525"/>
            <a:ext cx="10515600" cy="1325563"/>
          </a:xfrm>
        </p:spPr>
        <p:txBody>
          <a:bodyPr>
            <a:normAutofit/>
          </a:bodyPr>
          <a:lstStyle/>
          <a:p>
            <a:r>
              <a:rPr lang="fr-FR" sz="3600" dirty="0">
                <a:sym typeface="Wingdings" panose="05000000000000000000" pitchFamily="2" charset="2"/>
              </a:rPr>
              <a:t>How to </a:t>
            </a:r>
            <a:r>
              <a:rPr lang="fr-FR" sz="3600" dirty="0" err="1">
                <a:sym typeface="Wingdings" panose="05000000000000000000" pitchFamily="2" charset="2"/>
              </a:rPr>
              <a:t>benefit</a:t>
            </a:r>
            <a:r>
              <a:rPr lang="fr-FR" sz="3600" dirty="0">
                <a:sym typeface="Wingdings" panose="05000000000000000000" pitchFamily="2" charset="2"/>
              </a:rPr>
              <a:t> </a:t>
            </a:r>
            <a:r>
              <a:rPr lang="fr-FR" sz="3600" dirty="0" err="1">
                <a:sym typeface="Wingdings" panose="05000000000000000000" pitchFamily="2" charset="2"/>
              </a:rPr>
              <a:t>from</a:t>
            </a:r>
            <a:r>
              <a:rPr lang="fr-FR" sz="3600" dirty="0">
                <a:sym typeface="Wingdings" panose="05000000000000000000" pitchFamily="2" charset="2"/>
              </a:rPr>
              <a:t> the best of </a:t>
            </a:r>
            <a:r>
              <a:rPr lang="fr-FR" sz="3600" dirty="0" err="1">
                <a:sym typeface="Wingdings" panose="05000000000000000000" pitchFamily="2" charset="2"/>
              </a:rPr>
              <a:t>both</a:t>
            </a:r>
            <a:r>
              <a:rPr lang="fr-FR" sz="3600" dirty="0">
                <a:sym typeface="Wingdings" panose="05000000000000000000" pitchFamily="2" charset="2"/>
              </a:rPr>
              <a:t> </a:t>
            </a:r>
            <a:r>
              <a:rPr lang="fr-FR" sz="3600" dirty="0" err="1">
                <a:sym typeface="Wingdings" panose="05000000000000000000" pitchFamily="2" charset="2"/>
              </a:rPr>
              <a:t>approaches</a:t>
            </a:r>
            <a:r>
              <a:rPr lang="fr-FR" sz="3600" dirty="0">
                <a:sym typeface="Wingdings" panose="05000000000000000000" pitchFamily="2" charset="2"/>
              </a:rPr>
              <a:t>?</a:t>
            </a:r>
            <a:endParaRPr lang="en-US" sz="3400" dirty="0"/>
          </a:p>
        </p:txBody>
      </p:sp>
      <p:sp>
        <p:nvSpPr>
          <p:cNvPr id="10" name="TextBox 9">
            <a:extLst>
              <a:ext uri="{FF2B5EF4-FFF2-40B4-BE49-F238E27FC236}">
                <a16:creationId xmlns:a16="http://schemas.microsoft.com/office/drawing/2014/main" id="{55FA22D2-B079-4D92-8652-2054AAB6232A}"/>
              </a:ext>
            </a:extLst>
          </p:cNvPr>
          <p:cNvSpPr txBox="1"/>
          <p:nvPr/>
        </p:nvSpPr>
        <p:spPr>
          <a:xfrm>
            <a:off x="5402832" y="1821616"/>
            <a:ext cx="3207768" cy="307777"/>
          </a:xfrm>
          <a:prstGeom prst="rect">
            <a:avLst/>
          </a:prstGeom>
          <a:noFill/>
        </p:spPr>
        <p:txBody>
          <a:bodyPr wrap="square" rtlCol="0">
            <a:spAutoFit/>
          </a:bodyPr>
          <a:lstStyle/>
          <a:p>
            <a:r>
              <a:rPr lang="fr-FR" sz="1400" dirty="0"/>
              <a:t>(</a:t>
            </a:r>
            <a:r>
              <a:rPr lang="fr-FR" sz="1400" dirty="0" err="1"/>
              <a:t>Gaudio</a:t>
            </a:r>
            <a:r>
              <a:rPr lang="fr-FR" sz="1400" dirty="0"/>
              <a:t> et al., 2019; </a:t>
            </a:r>
            <a:r>
              <a:rPr lang="fr-FR" sz="1400" dirty="0" err="1">
                <a:ea typeface="+mn-lt"/>
                <a:cs typeface="+mn-lt"/>
              </a:rPr>
              <a:t>Laurans</a:t>
            </a:r>
            <a:r>
              <a:rPr lang="fr-FR" sz="1400" dirty="0">
                <a:ea typeface="+mn-lt"/>
                <a:cs typeface="+mn-lt"/>
              </a:rPr>
              <a:t> et al., 2024</a:t>
            </a:r>
            <a:r>
              <a:rPr lang="fr-FR" sz="1400" dirty="0"/>
              <a:t>)</a:t>
            </a:r>
            <a:endParaRPr lang="en-US" sz="1400" dirty="0"/>
          </a:p>
        </p:txBody>
      </p:sp>
      <p:sp>
        <p:nvSpPr>
          <p:cNvPr id="11" name="Slide Number Placeholder 10">
            <a:extLst>
              <a:ext uri="{FF2B5EF4-FFF2-40B4-BE49-F238E27FC236}">
                <a16:creationId xmlns:a16="http://schemas.microsoft.com/office/drawing/2014/main" id="{252B2EDF-C232-4BB8-BCFF-E351BAD12D99}"/>
              </a:ext>
            </a:extLst>
          </p:cNvPr>
          <p:cNvSpPr>
            <a:spLocks noGrp="1"/>
          </p:cNvSpPr>
          <p:nvPr>
            <p:ph type="sldNum" sz="quarter" idx="12"/>
          </p:nvPr>
        </p:nvSpPr>
        <p:spPr/>
        <p:txBody>
          <a:bodyPr/>
          <a:lstStyle/>
          <a:p>
            <a:fld id="{27C6CCC6-2BE5-4E42-96A4-D1E8E81A3D8E}" type="slidenum">
              <a:rPr lang="fr-FR" smtClean="0"/>
              <a:t>12</a:t>
            </a:fld>
            <a:endParaRPr lang="fr-FR"/>
          </a:p>
        </p:txBody>
      </p:sp>
      <p:sp>
        <p:nvSpPr>
          <p:cNvPr id="51" name="Rectangle 50">
            <a:extLst>
              <a:ext uri="{FF2B5EF4-FFF2-40B4-BE49-F238E27FC236}">
                <a16:creationId xmlns:a16="http://schemas.microsoft.com/office/drawing/2014/main" id="{D4FC1B4F-1B37-413D-A2DB-060D0A6D1E42}"/>
              </a:ext>
            </a:extLst>
          </p:cNvPr>
          <p:cNvSpPr/>
          <p:nvPr/>
        </p:nvSpPr>
        <p:spPr>
          <a:xfrm>
            <a:off x="697149" y="3754683"/>
            <a:ext cx="3566412" cy="1077218"/>
          </a:xfrm>
          <a:prstGeom prst="rect">
            <a:avLst/>
          </a:prstGeom>
        </p:spPr>
        <p:txBody>
          <a:bodyPr wrap="square">
            <a:spAutoFit/>
          </a:bodyPr>
          <a:lstStyle/>
          <a:p>
            <a:r>
              <a:rPr lang="en-US" dirty="0"/>
              <a:t>Evaluate turbid medium approach for simulating light interception </a:t>
            </a:r>
          </a:p>
          <a:p>
            <a:r>
              <a:rPr lang="en-US" sz="1400" dirty="0"/>
              <a:t>(</a:t>
            </a:r>
            <a:r>
              <a:rPr lang="fr-FR" sz="1400" dirty="0" err="1"/>
              <a:t>Barillot</a:t>
            </a:r>
            <a:r>
              <a:rPr lang="fr-FR" sz="1400" dirty="0"/>
              <a:t> et al., 2011; Feng et al., 2014; </a:t>
            </a:r>
            <a:r>
              <a:rPr lang="en-US" sz="1400" dirty="0"/>
              <a:t>Ponce de Leon and Bailey, 2019; Li et al., 2024)</a:t>
            </a:r>
            <a:endParaRPr lang="en-US" sz="1600" dirty="0"/>
          </a:p>
        </p:txBody>
      </p:sp>
      <p:sp>
        <p:nvSpPr>
          <p:cNvPr id="53" name="TextBox 52">
            <a:extLst>
              <a:ext uri="{FF2B5EF4-FFF2-40B4-BE49-F238E27FC236}">
                <a16:creationId xmlns:a16="http://schemas.microsoft.com/office/drawing/2014/main" id="{F63DF9AE-7D49-40AF-9CE8-29C8AD4C08AA}"/>
              </a:ext>
            </a:extLst>
          </p:cNvPr>
          <p:cNvSpPr txBox="1"/>
          <p:nvPr/>
        </p:nvSpPr>
        <p:spPr>
          <a:xfrm>
            <a:off x="697149" y="2562136"/>
            <a:ext cx="3708197" cy="1015663"/>
          </a:xfrm>
          <a:prstGeom prst="rect">
            <a:avLst/>
          </a:prstGeom>
          <a:noFill/>
        </p:spPr>
        <p:txBody>
          <a:bodyPr wrap="square" rtlCol="0">
            <a:spAutoFit/>
          </a:bodyPr>
          <a:lstStyle/>
          <a:p>
            <a:r>
              <a:rPr lang="en-US" sz="2000" b="1" dirty="0"/>
              <a:t>1. Evaluate performance of existing crop model formalisms for heterogeneous canopies</a:t>
            </a:r>
          </a:p>
        </p:txBody>
      </p:sp>
    </p:spTree>
    <p:extLst>
      <p:ext uri="{BB962C8B-B14F-4D97-AF65-F5344CB8AC3E}">
        <p14:creationId xmlns:p14="http://schemas.microsoft.com/office/powerpoint/2010/main" val="34964535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Diagonal Corners Snipped 15">
            <a:extLst>
              <a:ext uri="{FF2B5EF4-FFF2-40B4-BE49-F238E27FC236}">
                <a16:creationId xmlns:a16="http://schemas.microsoft.com/office/drawing/2014/main" id="{707F41A6-3159-46CD-83B5-02EAD5C66679}"/>
              </a:ext>
            </a:extLst>
          </p:cNvPr>
          <p:cNvSpPr/>
          <p:nvPr/>
        </p:nvSpPr>
        <p:spPr>
          <a:xfrm>
            <a:off x="4509988" y="2434848"/>
            <a:ext cx="3365454"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Diagonal Corners Snipped 3">
            <a:extLst>
              <a:ext uri="{FF2B5EF4-FFF2-40B4-BE49-F238E27FC236}">
                <a16:creationId xmlns:a16="http://schemas.microsoft.com/office/drawing/2014/main" id="{D8A134D3-7C03-4F97-9E52-EBA5B21452F6}"/>
              </a:ext>
            </a:extLst>
          </p:cNvPr>
          <p:cNvSpPr/>
          <p:nvPr/>
        </p:nvSpPr>
        <p:spPr>
          <a:xfrm>
            <a:off x="547423" y="2434848"/>
            <a:ext cx="3857923"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B19D09E-F77F-4792-9293-E79FCCDB1E44}"/>
              </a:ext>
            </a:extLst>
          </p:cNvPr>
          <p:cNvSpPr/>
          <p:nvPr/>
        </p:nvSpPr>
        <p:spPr>
          <a:xfrm>
            <a:off x="547423" y="1368086"/>
            <a:ext cx="10718886" cy="830997"/>
          </a:xfrm>
          <a:prstGeom prst="rect">
            <a:avLst/>
          </a:prstGeom>
        </p:spPr>
        <p:txBody>
          <a:bodyPr wrap="square">
            <a:spAutoFit/>
          </a:bodyPr>
          <a:lstStyle/>
          <a:p>
            <a:pPr marL="285750" indent="-285750">
              <a:buFont typeface="Wingdings" panose="05000000000000000000" pitchFamily="2" charset="2"/>
              <a:buChar char="è"/>
            </a:pPr>
            <a:r>
              <a:rPr lang="fr-FR" sz="2400" dirty="0">
                <a:sym typeface="Wingdings" panose="05000000000000000000" pitchFamily="2" charset="2"/>
              </a:rPr>
              <a:t> Possible </a:t>
            </a:r>
            <a:r>
              <a:rPr lang="fr-FR" sz="2400" dirty="0" err="1">
                <a:sym typeface="Wingdings" panose="05000000000000000000" pitchFamily="2" charset="2"/>
              </a:rPr>
              <a:t>way</a:t>
            </a:r>
            <a:r>
              <a:rPr lang="fr-FR" sz="2400" dirty="0">
                <a:sym typeface="Wingdings" panose="05000000000000000000" pitchFamily="2" charset="2"/>
              </a:rPr>
              <a:t>: by </a:t>
            </a:r>
            <a:r>
              <a:rPr lang="fr-FR" sz="2400" b="1" dirty="0" err="1">
                <a:sym typeface="Wingdings" panose="05000000000000000000" pitchFamily="2" charset="2"/>
              </a:rPr>
              <a:t>adapting</a:t>
            </a:r>
            <a:r>
              <a:rPr lang="fr-FR" sz="2400" b="1" dirty="0">
                <a:sym typeface="Wingdings" panose="05000000000000000000" pitchFamily="2" charset="2"/>
              </a:rPr>
              <a:t> </a:t>
            </a:r>
            <a:r>
              <a:rPr lang="fr-FR" sz="2400" b="1" dirty="0" err="1">
                <a:sym typeface="Wingdings" panose="05000000000000000000" pitchFamily="2" charset="2"/>
              </a:rPr>
              <a:t>crop</a:t>
            </a:r>
            <a:r>
              <a:rPr lang="fr-FR" sz="2400" b="1" dirty="0">
                <a:sym typeface="Wingdings" panose="05000000000000000000" pitchFamily="2" charset="2"/>
              </a:rPr>
              <a:t> </a:t>
            </a:r>
            <a:r>
              <a:rPr lang="fr-FR" sz="2400" b="1" dirty="0" err="1">
                <a:sym typeface="Wingdings" panose="05000000000000000000" pitchFamily="2" charset="2"/>
              </a:rPr>
              <a:t>models</a:t>
            </a:r>
            <a:r>
              <a:rPr lang="fr-FR" sz="2400" dirty="0">
                <a:sym typeface="Wingdings" panose="05000000000000000000" pitchFamily="2" charset="2"/>
              </a:rPr>
              <a:t> for </a:t>
            </a:r>
            <a:r>
              <a:rPr lang="fr-FR" sz="2400" dirty="0" err="1">
                <a:sym typeface="Wingdings" panose="05000000000000000000" pitchFamily="2" charset="2"/>
              </a:rPr>
              <a:t>considering</a:t>
            </a:r>
            <a:r>
              <a:rPr lang="fr-FR" sz="2400" dirty="0">
                <a:sym typeface="Wingdings" panose="05000000000000000000" pitchFamily="2" charset="2"/>
              </a:rPr>
              <a:t> more </a:t>
            </a:r>
            <a:r>
              <a:rPr lang="fr-FR" sz="2400" b="1" dirty="0">
                <a:sym typeface="Wingdings" panose="05000000000000000000" pitchFamily="2" charset="2"/>
              </a:rPr>
              <a:t>architectural and spatial </a:t>
            </a:r>
            <a:r>
              <a:rPr lang="fr-FR" sz="2400" b="1" dirty="0" err="1">
                <a:sym typeface="Wingdings" panose="05000000000000000000" pitchFamily="2" charset="2"/>
              </a:rPr>
              <a:t>heterogeneity</a:t>
            </a:r>
            <a:r>
              <a:rPr lang="fr-FR" sz="2400" b="1" dirty="0">
                <a:sym typeface="Wingdings" panose="05000000000000000000" pitchFamily="2" charset="2"/>
              </a:rPr>
              <a:t> </a:t>
            </a:r>
            <a:r>
              <a:rPr lang="fr-FR" sz="2400" dirty="0">
                <a:sym typeface="Wingdings" panose="05000000000000000000" pitchFamily="2" charset="2"/>
              </a:rPr>
              <a:t>of </a:t>
            </a:r>
            <a:r>
              <a:rPr lang="fr-FR" sz="2400" dirty="0" err="1">
                <a:sym typeface="Wingdings" panose="05000000000000000000" pitchFamily="2" charset="2"/>
              </a:rPr>
              <a:t>intercrops</a:t>
            </a:r>
            <a:endParaRPr lang="fr-FR" sz="2400" dirty="0">
              <a:sym typeface="Wingdings" panose="05000000000000000000" pitchFamily="2" charset="2"/>
            </a:endParaRPr>
          </a:p>
        </p:txBody>
      </p:sp>
      <p:sp>
        <p:nvSpPr>
          <p:cNvPr id="2" name="Title 1">
            <a:extLst>
              <a:ext uri="{FF2B5EF4-FFF2-40B4-BE49-F238E27FC236}">
                <a16:creationId xmlns:a16="http://schemas.microsoft.com/office/drawing/2014/main" id="{CF996E95-F6C0-489B-A325-7883157E0BCF}"/>
              </a:ext>
            </a:extLst>
          </p:cNvPr>
          <p:cNvSpPr>
            <a:spLocks noGrp="1"/>
          </p:cNvSpPr>
          <p:nvPr>
            <p:ph type="title"/>
          </p:nvPr>
        </p:nvSpPr>
        <p:spPr>
          <a:xfrm>
            <a:off x="547423" y="136525"/>
            <a:ext cx="10515600" cy="1325563"/>
          </a:xfrm>
        </p:spPr>
        <p:txBody>
          <a:bodyPr>
            <a:normAutofit/>
          </a:bodyPr>
          <a:lstStyle/>
          <a:p>
            <a:r>
              <a:rPr lang="fr-FR" sz="3600" dirty="0">
                <a:sym typeface="Wingdings" panose="05000000000000000000" pitchFamily="2" charset="2"/>
              </a:rPr>
              <a:t>How to </a:t>
            </a:r>
            <a:r>
              <a:rPr lang="fr-FR" sz="3600" dirty="0" err="1">
                <a:sym typeface="Wingdings" panose="05000000000000000000" pitchFamily="2" charset="2"/>
              </a:rPr>
              <a:t>benefit</a:t>
            </a:r>
            <a:r>
              <a:rPr lang="fr-FR" sz="3600" dirty="0">
                <a:sym typeface="Wingdings" panose="05000000000000000000" pitchFamily="2" charset="2"/>
              </a:rPr>
              <a:t> </a:t>
            </a:r>
            <a:r>
              <a:rPr lang="fr-FR" sz="3600" dirty="0" err="1">
                <a:sym typeface="Wingdings" panose="05000000000000000000" pitchFamily="2" charset="2"/>
              </a:rPr>
              <a:t>from</a:t>
            </a:r>
            <a:r>
              <a:rPr lang="fr-FR" sz="3600" dirty="0">
                <a:sym typeface="Wingdings" panose="05000000000000000000" pitchFamily="2" charset="2"/>
              </a:rPr>
              <a:t> the best of </a:t>
            </a:r>
            <a:r>
              <a:rPr lang="fr-FR" sz="3600" dirty="0" err="1">
                <a:sym typeface="Wingdings" panose="05000000000000000000" pitchFamily="2" charset="2"/>
              </a:rPr>
              <a:t>both</a:t>
            </a:r>
            <a:r>
              <a:rPr lang="fr-FR" sz="3600" dirty="0">
                <a:sym typeface="Wingdings" panose="05000000000000000000" pitchFamily="2" charset="2"/>
              </a:rPr>
              <a:t> </a:t>
            </a:r>
            <a:r>
              <a:rPr lang="fr-FR" sz="3600" dirty="0" err="1">
                <a:sym typeface="Wingdings" panose="05000000000000000000" pitchFamily="2" charset="2"/>
              </a:rPr>
              <a:t>approaches</a:t>
            </a:r>
            <a:r>
              <a:rPr lang="fr-FR" sz="3600" dirty="0">
                <a:sym typeface="Wingdings" panose="05000000000000000000" pitchFamily="2" charset="2"/>
              </a:rPr>
              <a:t>?</a:t>
            </a:r>
            <a:endParaRPr lang="en-US" sz="3400" dirty="0"/>
          </a:p>
        </p:txBody>
      </p:sp>
      <p:sp>
        <p:nvSpPr>
          <p:cNvPr id="10" name="TextBox 9">
            <a:extLst>
              <a:ext uri="{FF2B5EF4-FFF2-40B4-BE49-F238E27FC236}">
                <a16:creationId xmlns:a16="http://schemas.microsoft.com/office/drawing/2014/main" id="{55FA22D2-B079-4D92-8652-2054AAB6232A}"/>
              </a:ext>
            </a:extLst>
          </p:cNvPr>
          <p:cNvSpPr txBox="1"/>
          <p:nvPr/>
        </p:nvSpPr>
        <p:spPr>
          <a:xfrm>
            <a:off x="5402832" y="1821616"/>
            <a:ext cx="3207768" cy="307777"/>
          </a:xfrm>
          <a:prstGeom prst="rect">
            <a:avLst/>
          </a:prstGeom>
          <a:noFill/>
        </p:spPr>
        <p:txBody>
          <a:bodyPr wrap="square" rtlCol="0">
            <a:spAutoFit/>
          </a:bodyPr>
          <a:lstStyle/>
          <a:p>
            <a:r>
              <a:rPr lang="fr-FR" sz="1400" dirty="0"/>
              <a:t>(</a:t>
            </a:r>
            <a:r>
              <a:rPr lang="fr-FR" sz="1400" dirty="0" err="1"/>
              <a:t>Gaudio</a:t>
            </a:r>
            <a:r>
              <a:rPr lang="fr-FR" sz="1400" dirty="0"/>
              <a:t> et al., 2019; </a:t>
            </a:r>
            <a:r>
              <a:rPr lang="fr-FR" sz="1400" dirty="0" err="1">
                <a:ea typeface="+mn-lt"/>
                <a:cs typeface="+mn-lt"/>
              </a:rPr>
              <a:t>Laurans</a:t>
            </a:r>
            <a:r>
              <a:rPr lang="fr-FR" sz="1400" dirty="0">
                <a:ea typeface="+mn-lt"/>
                <a:cs typeface="+mn-lt"/>
              </a:rPr>
              <a:t> et al., 2024</a:t>
            </a:r>
            <a:r>
              <a:rPr lang="fr-FR" sz="1400" dirty="0"/>
              <a:t>)</a:t>
            </a:r>
            <a:endParaRPr lang="en-US" sz="1400" dirty="0"/>
          </a:p>
        </p:txBody>
      </p:sp>
      <p:sp>
        <p:nvSpPr>
          <p:cNvPr id="11" name="Slide Number Placeholder 10">
            <a:extLst>
              <a:ext uri="{FF2B5EF4-FFF2-40B4-BE49-F238E27FC236}">
                <a16:creationId xmlns:a16="http://schemas.microsoft.com/office/drawing/2014/main" id="{252B2EDF-C232-4BB8-BCFF-E351BAD12D99}"/>
              </a:ext>
            </a:extLst>
          </p:cNvPr>
          <p:cNvSpPr>
            <a:spLocks noGrp="1"/>
          </p:cNvSpPr>
          <p:nvPr>
            <p:ph type="sldNum" sz="quarter" idx="12"/>
          </p:nvPr>
        </p:nvSpPr>
        <p:spPr/>
        <p:txBody>
          <a:bodyPr/>
          <a:lstStyle/>
          <a:p>
            <a:fld id="{27C6CCC6-2BE5-4E42-96A4-D1E8E81A3D8E}" type="slidenum">
              <a:rPr lang="fr-FR" smtClean="0"/>
              <a:t>13</a:t>
            </a:fld>
            <a:endParaRPr lang="fr-FR"/>
          </a:p>
        </p:txBody>
      </p:sp>
      <p:sp>
        <p:nvSpPr>
          <p:cNvPr id="51" name="Rectangle 50">
            <a:extLst>
              <a:ext uri="{FF2B5EF4-FFF2-40B4-BE49-F238E27FC236}">
                <a16:creationId xmlns:a16="http://schemas.microsoft.com/office/drawing/2014/main" id="{D4FC1B4F-1B37-413D-A2DB-060D0A6D1E42}"/>
              </a:ext>
            </a:extLst>
          </p:cNvPr>
          <p:cNvSpPr/>
          <p:nvPr/>
        </p:nvSpPr>
        <p:spPr>
          <a:xfrm>
            <a:off x="697149" y="3754683"/>
            <a:ext cx="3566412" cy="1077218"/>
          </a:xfrm>
          <a:prstGeom prst="rect">
            <a:avLst/>
          </a:prstGeom>
        </p:spPr>
        <p:txBody>
          <a:bodyPr wrap="square">
            <a:spAutoFit/>
          </a:bodyPr>
          <a:lstStyle/>
          <a:p>
            <a:r>
              <a:rPr lang="en-US" dirty="0"/>
              <a:t>Evaluate turbid medium approach for simulating light interception </a:t>
            </a:r>
          </a:p>
          <a:p>
            <a:r>
              <a:rPr lang="en-US" sz="1400" dirty="0"/>
              <a:t>(</a:t>
            </a:r>
            <a:r>
              <a:rPr lang="fr-FR" sz="1400" dirty="0" err="1"/>
              <a:t>Barillot</a:t>
            </a:r>
            <a:r>
              <a:rPr lang="fr-FR" sz="1400" dirty="0"/>
              <a:t> et al., 2011; Feng et al., 2014; </a:t>
            </a:r>
            <a:r>
              <a:rPr lang="en-US" sz="1400" dirty="0"/>
              <a:t>Ponce de Leon and Bailey, 2019; Li et al., 2024)</a:t>
            </a:r>
            <a:endParaRPr lang="en-US" sz="1600" dirty="0"/>
          </a:p>
        </p:txBody>
      </p:sp>
      <p:sp>
        <p:nvSpPr>
          <p:cNvPr id="52" name="Rectangle 51">
            <a:extLst>
              <a:ext uri="{FF2B5EF4-FFF2-40B4-BE49-F238E27FC236}">
                <a16:creationId xmlns:a16="http://schemas.microsoft.com/office/drawing/2014/main" id="{663C0DE6-BE9C-4AB9-943B-5E9DA0CF9EFE}"/>
              </a:ext>
            </a:extLst>
          </p:cNvPr>
          <p:cNvSpPr/>
          <p:nvPr/>
        </p:nvSpPr>
        <p:spPr>
          <a:xfrm>
            <a:off x="4657065" y="3754682"/>
            <a:ext cx="3113568" cy="1077218"/>
          </a:xfrm>
          <a:prstGeom prst="rect">
            <a:avLst/>
          </a:prstGeom>
        </p:spPr>
        <p:txBody>
          <a:bodyPr wrap="square">
            <a:spAutoFit/>
          </a:bodyPr>
          <a:lstStyle/>
          <a:p>
            <a:r>
              <a:rPr lang="fr-FR" dirty="0"/>
              <a:t>I</a:t>
            </a:r>
            <a:r>
              <a:rPr lang="en-US" dirty="0" err="1"/>
              <a:t>mpact</a:t>
            </a:r>
            <a:r>
              <a:rPr lang="en-US" dirty="0"/>
              <a:t> of plant architectural variations on light interception</a:t>
            </a:r>
            <a:endParaRPr lang="fr-FR" dirty="0"/>
          </a:p>
          <a:p>
            <a:r>
              <a:rPr lang="fr-FR" sz="1400" dirty="0"/>
              <a:t>(</a:t>
            </a:r>
            <a:r>
              <a:rPr lang="fr-FR" sz="1400" dirty="0" err="1"/>
              <a:t>Barillot</a:t>
            </a:r>
            <a:r>
              <a:rPr lang="fr-FR" sz="1400" dirty="0"/>
              <a:t> et al., 2014; T</a:t>
            </a:r>
            <a:r>
              <a:rPr lang="en-US" sz="1400" dirty="0" err="1"/>
              <a:t>ruong</a:t>
            </a:r>
            <a:r>
              <a:rPr lang="en-US" sz="1400" dirty="0"/>
              <a:t> et al, 2015; </a:t>
            </a:r>
            <a:r>
              <a:rPr lang="en-US" sz="1400" dirty="0" err="1"/>
              <a:t>Barillot</a:t>
            </a:r>
            <a:r>
              <a:rPr lang="en-US" sz="1400" dirty="0"/>
              <a:t> et al., 2019)</a:t>
            </a:r>
          </a:p>
        </p:txBody>
      </p:sp>
      <p:sp>
        <p:nvSpPr>
          <p:cNvPr id="53" name="TextBox 52">
            <a:extLst>
              <a:ext uri="{FF2B5EF4-FFF2-40B4-BE49-F238E27FC236}">
                <a16:creationId xmlns:a16="http://schemas.microsoft.com/office/drawing/2014/main" id="{F63DF9AE-7D49-40AF-9CE8-29C8AD4C08AA}"/>
              </a:ext>
            </a:extLst>
          </p:cNvPr>
          <p:cNvSpPr txBox="1"/>
          <p:nvPr/>
        </p:nvSpPr>
        <p:spPr>
          <a:xfrm>
            <a:off x="697149" y="2562136"/>
            <a:ext cx="3708197" cy="1015663"/>
          </a:xfrm>
          <a:prstGeom prst="rect">
            <a:avLst/>
          </a:prstGeom>
          <a:noFill/>
        </p:spPr>
        <p:txBody>
          <a:bodyPr wrap="square" rtlCol="0">
            <a:spAutoFit/>
          </a:bodyPr>
          <a:lstStyle/>
          <a:p>
            <a:r>
              <a:rPr lang="en-US" sz="2000" b="1" dirty="0"/>
              <a:t>1. Evaluate performance of existing crop model formalisms for heterogeneous canopies</a:t>
            </a:r>
          </a:p>
        </p:txBody>
      </p:sp>
      <p:sp>
        <p:nvSpPr>
          <p:cNvPr id="54" name="TextBox 53">
            <a:extLst>
              <a:ext uri="{FF2B5EF4-FFF2-40B4-BE49-F238E27FC236}">
                <a16:creationId xmlns:a16="http://schemas.microsoft.com/office/drawing/2014/main" id="{5B296E1A-DE6E-41AC-832C-248CACC44DEC}"/>
              </a:ext>
            </a:extLst>
          </p:cNvPr>
          <p:cNvSpPr txBox="1"/>
          <p:nvPr/>
        </p:nvSpPr>
        <p:spPr>
          <a:xfrm>
            <a:off x="4657065" y="2562136"/>
            <a:ext cx="2828261" cy="1015663"/>
          </a:xfrm>
          <a:prstGeom prst="rect">
            <a:avLst/>
          </a:prstGeom>
          <a:noFill/>
        </p:spPr>
        <p:txBody>
          <a:bodyPr wrap="square" rtlCol="0">
            <a:spAutoFit/>
          </a:bodyPr>
          <a:lstStyle/>
          <a:p>
            <a:r>
              <a:rPr lang="en-US" sz="2000" b="1" dirty="0"/>
              <a:t>2. Identify architectural traits of interest for a given process</a:t>
            </a:r>
          </a:p>
        </p:txBody>
      </p:sp>
    </p:spTree>
    <p:extLst>
      <p:ext uri="{BB962C8B-B14F-4D97-AF65-F5344CB8AC3E}">
        <p14:creationId xmlns:p14="http://schemas.microsoft.com/office/powerpoint/2010/main" val="3594289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Diagonal Corners Snipped 16">
            <a:extLst>
              <a:ext uri="{FF2B5EF4-FFF2-40B4-BE49-F238E27FC236}">
                <a16:creationId xmlns:a16="http://schemas.microsoft.com/office/drawing/2014/main" id="{293670AD-7624-4B36-BD7D-46DED881E2B9}"/>
              </a:ext>
            </a:extLst>
          </p:cNvPr>
          <p:cNvSpPr/>
          <p:nvPr/>
        </p:nvSpPr>
        <p:spPr>
          <a:xfrm>
            <a:off x="7970971" y="2452348"/>
            <a:ext cx="3292630"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Diagonal Corners Snipped 15">
            <a:extLst>
              <a:ext uri="{FF2B5EF4-FFF2-40B4-BE49-F238E27FC236}">
                <a16:creationId xmlns:a16="http://schemas.microsoft.com/office/drawing/2014/main" id="{707F41A6-3159-46CD-83B5-02EAD5C66679}"/>
              </a:ext>
            </a:extLst>
          </p:cNvPr>
          <p:cNvSpPr/>
          <p:nvPr/>
        </p:nvSpPr>
        <p:spPr>
          <a:xfrm>
            <a:off x="4509988" y="2434848"/>
            <a:ext cx="3365454"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Diagonal Corners Snipped 3">
            <a:extLst>
              <a:ext uri="{FF2B5EF4-FFF2-40B4-BE49-F238E27FC236}">
                <a16:creationId xmlns:a16="http://schemas.microsoft.com/office/drawing/2014/main" id="{D8A134D3-7C03-4F97-9E52-EBA5B21452F6}"/>
              </a:ext>
            </a:extLst>
          </p:cNvPr>
          <p:cNvSpPr/>
          <p:nvPr/>
        </p:nvSpPr>
        <p:spPr>
          <a:xfrm>
            <a:off x="547423" y="2434848"/>
            <a:ext cx="3857923"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B19D09E-F77F-4792-9293-E79FCCDB1E44}"/>
              </a:ext>
            </a:extLst>
          </p:cNvPr>
          <p:cNvSpPr/>
          <p:nvPr/>
        </p:nvSpPr>
        <p:spPr>
          <a:xfrm>
            <a:off x="547423" y="1368086"/>
            <a:ext cx="10718886" cy="830997"/>
          </a:xfrm>
          <a:prstGeom prst="rect">
            <a:avLst/>
          </a:prstGeom>
        </p:spPr>
        <p:txBody>
          <a:bodyPr wrap="square">
            <a:spAutoFit/>
          </a:bodyPr>
          <a:lstStyle/>
          <a:p>
            <a:pPr marL="285750" indent="-285750">
              <a:buFont typeface="Wingdings" panose="05000000000000000000" pitchFamily="2" charset="2"/>
              <a:buChar char="è"/>
            </a:pPr>
            <a:r>
              <a:rPr lang="fr-FR" sz="2400" dirty="0">
                <a:sym typeface="Wingdings" panose="05000000000000000000" pitchFamily="2" charset="2"/>
              </a:rPr>
              <a:t> Possible </a:t>
            </a:r>
            <a:r>
              <a:rPr lang="fr-FR" sz="2400" dirty="0" err="1">
                <a:sym typeface="Wingdings" panose="05000000000000000000" pitchFamily="2" charset="2"/>
              </a:rPr>
              <a:t>way</a:t>
            </a:r>
            <a:r>
              <a:rPr lang="fr-FR" sz="2400" dirty="0">
                <a:sym typeface="Wingdings" panose="05000000000000000000" pitchFamily="2" charset="2"/>
              </a:rPr>
              <a:t>: by </a:t>
            </a:r>
            <a:r>
              <a:rPr lang="fr-FR" sz="2400" b="1" dirty="0" err="1">
                <a:sym typeface="Wingdings" panose="05000000000000000000" pitchFamily="2" charset="2"/>
              </a:rPr>
              <a:t>adapting</a:t>
            </a:r>
            <a:r>
              <a:rPr lang="fr-FR" sz="2400" b="1" dirty="0">
                <a:sym typeface="Wingdings" panose="05000000000000000000" pitchFamily="2" charset="2"/>
              </a:rPr>
              <a:t> </a:t>
            </a:r>
            <a:r>
              <a:rPr lang="fr-FR" sz="2400" b="1" dirty="0" err="1">
                <a:sym typeface="Wingdings" panose="05000000000000000000" pitchFamily="2" charset="2"/>
              </a:rPr>
              <a:t>crop</a:t>
            </a:r>
            <a:r>
              <a:rPr lang="fr-FR" sz="2400" b="1" dirty="0">
                <a:sym typeface="Wingdings" panose="05000000000000000000" pitchFamily="2" charset="2"/>
              </a:rPr>
              <a:t> </a:t>
            </a:r>
            <a:r>
              <a:rPr lang="fr-FR" sz="2400" b="1" dirty="0" err="1">
                <a:sym typeface="Wingdings" panose="05000000000000000000" pitchFamily="2" charset="2"/>
              </a:rPr>
              <a:t>models</a:t>
            </a:r>
            <a:r>
              <a:rPr lang="fr-FR" sz="2400" dirty="0">
                <a:sym typeface="Wingdings" panose="05000000000000000000" pitchFamily="2" charset="2"/>
              </a:rPr>
              <a:t> for </a:t>
            </a:r>
            <a:r>
              <a:rPr lang="fr-FR" sz="2400" dirty="0" err="1">
                <a:sym typeface="Wingdings" panose="05000000000000000000" pitchFamily="2" charset="2"/>
              </a:rPr>
              <a:t>considering</a:t>
            </a:r>
            <a:r>
              <a:rPr lang="fr-FR" sz="2400" dirty="0">
                <a:sym typeface="Wingdings" panose="05000000000000000000" pitchFamily="2" charset="2"/>
              </a:rPr>
              <a:t> more </a:t>
            </a:r>
            <a:r>
              <a:rPr lang="fr-FR" sz="2400" b="1" dirty="0">
                <a:sym typeface="Wingdings" panose="05000000000000000000" pitchFamily="2" charset="2"/>
              </a:rPr>
              <a:t>architectural and spatial </a:t>
            </a:r>
            <a:r>
              <a:rPr lang="fr-FR" sz="2400" b="1" dirty="0" err="1">
                <a:sym typeface="Wingdings" panose="05000000000000000000" pitchFamily="2" charset="2"/>
              </a:rPr>
              <a:t>heterogeneity</a:t>
            </a:r>
            <a:r>
              <a:rPr lang="fr-FR" sz="2400" b="1" dirty="0">
                <a:sym typeface="Wingdings" panose="05000000000000000000" pitchFamily="2" charset="2"/>
              </a:rPr>
              <a:t> </a:t>
            </a:r>
            <a:r>
              <a:rPr lang="fr-FR" sz="2400" dirty="0">
                <a:sym typeface="Wingdings" panose="05000000000000000000" pitchFamily="2" charset="2"/>
              </a:rPr>
              <a:t>of </a:t>
            </a:r>
            <a:r>
              <a:rPr lang="fr-FR" sz="2400" dirty="0" err="1">
                <a:sym typeface="Wingdings" panose="05000000000000000000" pitchFamily="2" charset="2"/>
              </a:rPr>
              <a:t>intercrops</a:t>
            </a:r>
            <a:endParaRPr lang="fr-FR" sz="2400" dirty="0">
              <a:sym typeface="Wingdings" panose="05000000000000000000" pitchFamily="2" charset="2"/>
            </a:endParaRPr>
          </a:p>
        </p:txBody>
      </p:sp>
      <p:sp>
        <p:nvSpPr>
          <p:cNvPr id="2" name="Title 1">
            <a:extLst>
              <a:ext uri="{FF2B5EF4-FFF2-40B4-BE49-F238E27FC236}">
                <a16:creationId xmlns:a16="http://schemas.microsoft.com/office/drawing/2014/main" id="{CF996E95-F6C0-489B-A325-7883157E0BCF}"/>
              </a:ext>
            </a:extLst>
          </p:cNvPr>
          <p:cNvSpPr>
            <a:spLocks noGrp="1"/>
          </p:cNvSpPr>
          <p:nvPr>
            <p:ph type="title"/>
          </p:nvPr>
        </p:nvSpPr>
        <p:spPr>
          <a:xfrm>
            <a:off x="547423" y="136525"/>
            <a:ext cx="10515600" cy="1325563"/>
          </a:xfrm>
        </p:spPr>
        <p:txBody>
          <a:bodyPr>
            <a:normAutofit/>
          </a:bodyPr>
          <a:lstStyle/>
          <a:p>
            <a:r>
              <a:rPr lang="fr-FR" sz="3600" dirty="0">
                <a:sym typeface="Wingdings" panose="05000000000000000000" pitchFamily="2" charset="2"/>
              </a:rPr>
              <a:t>How to </a:t>
            </a:r>
            <a:r>
              <a:rPr lang="fr-FR" sz="3600" dirty="0" err="1">
                <a:sym typeface="Wingdings" panose="05000000000000000000" pitchFamily="2" charset="2"/>
              </a:rPr>
              <a:t>benefit</a:t>
            </a:r>
            <a:r>
              <a:rPr lang="fr-FR" sz="3600" dirty="0">
                <a:sym typeface="Wingdings" panose="05000000000000000000" pitchFamily="2" charset="2"/>
              </a:rPr>
              <a:t> </a:t>
            </a:r>
            <a:r>
              <a:rPr lang="fr-FR" sz="3600" dirty="0" err="1">
                <a:sym typeface="Wingdings" panose="05000000000000000000" pitchFamily="2" charset="2"/>
              </a:rPr>
              <a:t>from</a:t>
            </a:r>
            <a:r>
              <a:rPr lang="fr-FR" sz="3600" dirty="0">
                <a:sym typeface="Wingdings" panose="05000000000000000000" pitchFamily="2" charset="2"/>
              </a:rPr>
              <a:t> the best of </a:t>
            </a:r>
            <a:r>
              <a:rPr lang="fr-FR" sz="3600" dirty="0" err="1">
                <a:sym typeface="Wingdings" panose="05000000000000000000" pitchFamily="2" charset="2"/>
              </a:rPr>
              <a:t>both</a:t>
            </a:r>
            <a:r>
              <a:rPr lang="fr-FR" sz="3600" dirty="0">
                <a:sym typeface="Wingdings" panose="05000000000000000000" pitchFamily="2" charset="2"/>
              </a:rPr>
              <a:t> </a:t>
            </a:r>
            <a:r>
              <a:rPr lang="fr-FR" sz="3600" dirty="0" err="1">
                <a:sym typeface="Wingdings" panose="05000000000000000000" pitchFamily="2" charset="2"/>
              </a:rPr>
              <a:t>approaches</a:t>
            </a:r>
            <a:r>
              <a:rPr lang="fr-FR" sz="3600" dirty="0">
                <a:sym typeface="Wingdings" panose="05000000000000000000" pitchFamily="2" charset="2"/>
              </a:rPr>
              <a:t>?</a:t>
            </a:r>
            <a:endParaRPr lang="en-US" sz="3400" dirty="0"/>
          </a:p>
        </p:txBody>
      </p:sp>
      <p:sp>
        <p:nvSpPr>
          <p:cNvPr id="10" name="TextBox 9">
            <a:extLst>
              <a:ext uri="{FF2B5EF4-FFF2-40B4-BE49-F238E27FC236}">
                <a16:creationId xmlns:a16="http://schemas.microsoft.com/office/drawing/2014/main" id="{55FA22D2-B079-4D92-8652-2054AAB6232A}"/>
              </a:ext>
            </a:extLst>
          </p:cNvPr>
          <p:cNvSpPr txBox="1"/>
          <p:nvPr/>
        </p:nvSpPr>
        <p:spPr>
          <a:xfrm>
            <a:off x="5402832" y="1821616"/>
            <a:ext cx="3207768" cy="307777"/>
          </a:xfrm>
          <a:prstGeom prst="rect">
            <a:avLst/>
          </a:prstGeom>
          <a:noFill/>
        </p:spPr>
        <p:txBody>
          <a:bodyPr wrap="square" rtlCol="0">
            <a:spAutoFit/>
          </a:bodyPr>
          <a:lstStyle/>
          <a:p>
            <a:r>
              <a:rPr lang="fr-FR" sz="1400" dirty="0"/>
              <a:t>(</a:t>
            </a:r>
            <a:r>
              <a:rPr lang="fr-FR" sz="1400" dirty="0" err="1"/>
              <a:t>Gaudio</a:t>
            </a:r>
            <a:r>
              <a:rPr lang="fr-FR" sz="1400" dirty="0"/>
              <a:t> et al., 2019; </a:t>
            </a:r>
            <a:r>
              <a:rPr lang="fr-FR" sz="1400" dirty="0" err="1">
                <a:ea typeface="+mn-lt"/>
                <a:cs typeface="+mn-lt"/>
              </a:rPr>
              <a:t>Laurans</a:t>
            </a:r>
            <a:r>
              <a:rPr lang="fr-FR" sz="1400" dirty="0">
                <a:ea typeface="+mn-lt"/>
                <a:cs typeface="+mn-lt"/>
              </a:rPr>
              <a:t> et al., 2024</a:t>
            </a:r>
            <a:r>
              <a:rPr lang="fr-FR" sz="1400" dirty="0"/>
              <a:t>)</a:t>
            </a:r>
            <a:endParaRPr lang="en-US" sz="1400" dirty="0"/>
          </a:p>
        </p:txBody>
      </p:sp>
      <p:sp>
        <p:nvSpPr>
          <p:cNvPr id="11" name="Slide Number Placeholder 10">
            <a:extLst>
              <a:ext uri="{FF2B5EF4-FFF2-40B4-BE49-F238E27FC236}">
                <a16:creationId xmlns:a16="http://schemas.microsoft.com/office/drawing/2014/main" id="{252B2EDF-C232-4BB8-BCFF-E351BAD12D99}"/>
              </a:ext>
            </a:extLst>
          </p:cNvPr>
          <p:cNvSpPr>
            <a:spLocks noGrp="1"/>
          </p:cNvSpPr>
          <p:nvPr>
            <p:ph type="sldNum" sz="quarter" idx="12"/>
          </p:nvPr>
        </p:nvSpPr>
        <p:spPr/>
        <p:txBody>
          <a:bodyPr/>
          <a:lstStyle/>
          <a:p>
            <a:fld id="{27C6CCC6-2BE5-4E42-96A4-D1E8E81A3D8E}" type="slidenum">
              <a:rPr lang="fr-FR" smtClean="0"/>
              <a:t>14</a:t>
            </a:fld>
            <a:endParaRPr lang="fr-FR"/>
          </a:p>
        </p:txBody>
      </p:sp>
      <p:sp>
        <p:nvSpPr>
          <p:cNvPr id="50" name="Rectangle 49">
            <a:extLst>
              <a:ext uri="{FF2B5EF4-FFF2-40B4-BE49-F238E27FC236}">
                <a16:creationId xmlns:a16="http://schemas.microsoft.com/office/drawing/2014/main" id="{927FDD9A-D2DA-4694-ABA6-485917682CF4}"/>
              </a:ext>
            </a:extLst>
          </p:cNvPr>
          <p:cNvSpPr/>
          <p:nvPr/>
        </p:nvSpPr>
        <p:spPr>
          <a:xfrm>
            <a:off x="8141099" y="3754682"/>
            <a:ext cx="3611703" cy="584775"/>
          </a:xfrm>
          <a:prstGeom prst="rect">
            <a:avLst/>
          </a:prstGeom>
        </p:spPr>
        <p:txBody>
          <a:bodyPr wrap="square">
            <a:spAutoFit/>
          </a:bodyPr>
          <a:lstStyle/>
          <a:p>
            <a:r>
              <a:rPr lang="en-US" dirty="0"/>
              <a:t>Hybrid 2.5D formalism in STICS </a:t>
            </a:r>
          </a:p>
          <a:p>
            <a:r>
              <a:rPr lang="en-US" sz="1400" dirty="0"/>
              <a:t>(</a:t>
            </a:r>
            <a:r>
              <a:rPr lang="en-US" sz="1400" dirty="0" err="1"/>
              <a:t>Vezy</a:t>
            </a:r>
            <a:r>
              <a:rPr lang="en-US" sz="1400" dirty="0"/>
              <a:t> et al., 2023)</a:t>
            </a:r>
            <a:endParaRPr lang="fr-FR" sz="1600" dirty="0"/>
          </a:p>
        </p:txBody>
      </p:sp>
      <p:sp>
        <p:nvSpPr>
          <p:cNvPr id="31" name="TextBox 30">
            <a:extLst>
              <a:ext uri="{FF2B5EF4-FFF2-40B4-BE49-F238E27FC236}">
                <a16:creationId xmlns:a16="http://schemas.microsoft.com/office/drawing/2014/main" id="{2D5C4A14-BC09-45FF-80BD-BB97089BA765}"/>
              </a:ext>
            </a:extLst>
          </p:cNvPr>
          <p:cNvSpPr txBox="1"/>
          <p:nvPr/>
        </p:nvSpPr>
        <p:spPr>
          <a:xfrm>
            <a:off x="8141099" y="4405234"/>
            <a:ext cx="3113568" cy="584775"/>
          </a:xfrm>
          <a:prstGeom prst="rect">
            <a:avLst/>
          </a:prstGeom>
          <a:noFill/>
        </p:spPr>
        <p:txBody>
          <a:bodyPr wrap="square" rtlCol="0">
            <a:spAutoFit/>
          </a:bodyPr>
          <a:lstStyle/>
          <a:p>
            <a:r>
              <a:rPr lang="en-US" dirty="0"/>
              <a:t>Incorporate effect of clumping</a:t>
            </a:r>
          </a:p>
          <a:p>
            <a:r>
              <a:rPr lang="en-US" sz="1400" dirty="0"/>
              <a:t>(</a:t>
            </a:r>
            <a:r>
              <a:rPr lang="fr-FR" sz="1400" dirty="0"/>
              <a:t>B</a:t>
            </a:r>
            <a:r>
              <a:rPr lang="en-US" sz="1400" dirty="0" err="1"/>
              <a:t>ailey</a:t>
            </a:r>
            <a:r>
              <a:rPr lang="en-US" sz="1400" dirty="0"/>
              <a:t> et al., 2020)</a:t>
            </a:r>
            <a:endParaRPr lang="en-US" sz="1600" dirty="0"/>
          </a:p>
        </p:txBody>
      </p:sp>
      <p:sp>
        <p:nvSpPr>
          <p:cNvPr id="51" name="Rectangle 50">
            <a:extLst>
              <a:ext uri="{FF2B5EF4-FFF2-40B4-BE49-F238E27FC236}">
                <a16:creationId xmlns:a16="http://schemas.microsoft.com/office/drawing/2014/main" id="{D4FC1B4F-1B37-413D-A2DB-060D0A6D1E42}"/>
              </a:ext>
            </a:extLst>
          </p:cNvPr>
          <p:cNvSpPr/>
          <p:nvPr/>
        </p:nvSpPr>
        <p:spPr>
          <a:xfrm>
            <a:off x="697149" y="3754683"/>
            <a:ext cx="3566412" cy="1077218"/>
          </a:xfrm>
          <a:prstGeom prst="rect">
            <a:avLst/>
          </a:prstGeom>
        </p:spPr>
        <p:txBody>
          <a:bodyPr wrap="square">
            <a:spAutoFit/>
          </a:bodyPr>
          <a:lstStyle/>
          <a:p>
            <a:r>
              <a:rPr lang="en-US" dirty="0"/>
              <a:t>Evaluate turbid medium approach for simulating light interception </a:t>
            </a:r>
          </a:p>
          <a:p>
            <a:r>
              <a:rPr lang="en-US" sz="1400" dirty="0"/>
              <a:t>(</a:t>
            </a:r>
            <a:r>
              <a:rPr lang="fr-FR" sz="1400" dirty="0" err="1"/>
              <a:t>Barillot</a:t>
            </a:r>
            <a:r>
              <a:rPr lang="fr-FR" sz="1400" dirty="0"/>
              <a:t> et al., 2011; Feng et al., 2014; </a:t>
            </a:r>
            <a:r>
              <a:rPr lang="en-US" sz="1400" dirty="0"/>
              <a:t>Ponce de Leon and Bailey, 2019; Li et al., 2024)</a:t>
            </a:r>
            <a:endParaRPr lang="en-US" sz="1600" dirty="0"/>
          </a:p>
        </p:txBody>
      </p:sp>
      <p:sp>
        <p:nvSpPr>
          <p:cNvPr id="52" name="Rectangle 51">
            <a:extLst>
              <a:ext uri="{FF2B5EF4-FFF2-40B4-BE49-F238E27FC236}">
                <a16:creationId xmlns:a16="http://schemas.microsoft.com/office/drawing/2014/main" id="{663C0DE6-BE9C-4AB9-943B-5E9DA0CF9EFE}"/>
              </a:ext>
            </a:extLst>
          </p:cNvPr>
          <p:cNvSpPr/>
          <p:nvPr/>
        </p:nvSpPr>
        <p:spPr>
          <a:xfrm>
            <a:off x="4657065" y="3754682"/>
            <a:ext cx="3113568" cy="1077218"/>
          </a:xfrm>
          <a:prstGeom prst="rect">
            <a:avLst/>
          </a:prstGeom>
        </p:spPr>
        <p:txBody>
          <a:bodyPr wrap="square">
            <a:spAutoFit/>
          </a:bodyPr>
          <a:lstStyle/>
          <a:p>
            <a:r>
              <a:rPr lang="fr-FR" dirty="0"/>
              <a:t>I</a:t>
            </a:r>
            <a:r>
              <a:rPr lang="en-US" dirty="0" err="1"/>
              <a:t>mpact</a:t>
            </a:r>
            <a:r>
              <a:rPr lang="en-US" dirty="0"/>
              <a:t> of plant architectural variations on light interception</a:t>
            </a:r>
            <a:endParaRPr lang="fr-FR" dirty="0"/>
          </a:p>
          <a:p>
            <a:r>
              <a:rPr lang="fr-FR" sz="1400" dirty="0"/>
              <a:t>(</a:t>
            </a:r>
            <a:r>
              <a:rPr lang="fr-FR" sz="1400" dirty="0" err="1"/>
              <a:t>Barillot</a:t>
            </a:r>
            <a:r>
              <a:rPr lang="fr-FR" sz="1400" dirty="0"/>
              <a:t> et al., 2014; T</a:t>
            </a:r>
            <a:r>
              <a:rPr lang="en-US" sz="1400" dirty="0" err="1"/>
              <a:t>ruong</a:t>
            </a:r>
            <a:r>
              <a:rPr lang="en-US" sz="1400" dirty="0"/>
              <a:t> et al, 2015; </a:t>
            </a:r>
            <a:r>
              <a:rPr lang="en-US" sz="1400" dirty="0" err="1"/>
              <a:t>Barillot</a:t>
            </a:r>
            <a:r>
              <a:rPr lang="en-US" sz="1400" dirty="0"/>
              <a:t> et al., 2019)</a:t>
            </a:r>
          </a:p>
        </p:txBody>
      </p:sp>
      <p:sp>
        <p:nvSpPr>
          <p:cNvPr id="53" name="TextBox 52">
            <a:extLst>
              <a:ext uri="{FF2B5EF4-FFF2-40B4-BE49-F238E27FC236}">
                <a16:creationId xmlns:a16="http://schemas.microsoft.com/office/drawing/2014/main" id="{F63DF9AE-7D49-40AF-9CE8-29C8AD4C08AA}"/>
              </a:ext>
            </a:extLst>
          </p:cNvPr>
          <p:cNvSpPr txBox="1"/>
          <p:nvPr/>
        </p:nvSpPr>
        <p:spPr>
          <a:xfrm>
            <a:off x="697149" y="2562136"/>
            <a:ext cx="3708197" cy="1015663"/>
          </a:xfrm>
          <a:prstGeom prst="rect">
            <a:avLst/>
          </a:prstGeom>
          <a:noFill/>
        </p:spPr>
        <p:txBody>
          <a:bodyPr wrap="square" rtlCol="0">
            <a:spAutoFit/>
          </a:bodyPr>
          <a:lstStyle/>
          <a:p>
            <a:r>
              <a:rPr lang="en-US" sz="2000" b="1" dirty="0"/>
              <a:t>1. Evaluate performance of existing crop model formalisms for heterogeneous canopies</a:t>
            </a:r>
          </a:p>
        </p:txBody>
      </p:sp>
      <p:sp>
        <p:nvSpPr>
          <p:cNvPr id="54" name="TextBox 53">
            <a:extLst>
              <a:ext uri="{FF2B5EF4-FFF2-40B4-BE49-F238E27FC236}">
                <a16:creationId xmlns:a16="http://schemas.microsoft.com/office/drawing/2014/main" id="{5B296E1A-DE6E-41AC-832C-248CACC44DEC}"/>
              </a:ext>
            </a:extLst>
          </p:cNvPr>
          <p:cNvSpPr txBox="1"/>
          <p:nvPr/>
        </p:nvSpPr>
        <p:spPr>
          <a:xfrm>
            <a:off x="4657065" y="2562136"/>
            <a:ext cx="2828261" cy="1015663"/>
          </a:xfrm>
          <a:prstGeom prst="rect">
            <a:avLst/>
          </a:prstGeom>
          <a:noFill/>
        </p:spPr>
        <p:txBody>
          <a:bodyPr wrap="square" rtlCol="0">
            <a:spAutoFit/>
          </a:bodyPr>
          <a:lstStyle/>
          <a:p>
            <a:r>
              <a:rPr lang="en-US" sz="2000" b="1" dirty="0"/>
              <a:t>2. Identify architectural traits of interest for a given process</a:t>
            </a:r>
          </a:p>
        </p:txBody>
      </p:sp>
      <p:sp>
        <p:nvSpPr>
          <p:cNvPr id="55" name="TextBox 54">
            <a:extLst>
              <a:ext uri="{FF2B5EF4-FFF2-40B4-BE49-F238E27FC236}">
                <a16:creationId xmlns:a16="http://schemas.microsoft.com/office/drawing/2014/main" id="{FA0DF061-EC3D-40C5-80C8-0CE5587D7A7E}"/>
              </a:ext>
            </a:extLst>
          </p:cNvPr>
          <p:cNvSpPr txBox="1"/>
          <p:nvPr/>
        </p:nvSpPr>
        <p:spPr>
          <a:xfrm>
            <a:off x="8141099" y="2566330"/>
            <a:ext cx="2828261" cy="707886"/>
          </a:xfrm>
          <a:prstGeom prst="rect">
            <a:avLst/>
          </a:prstGeom>
          <a:noFill/>
        </p:spPr>
        <p:txBody>
          <a:bodyPr wrap="square" rtlCol="0">
            <a:spAutoFit/>
          </a:bodyPr>
          <a:lstStyle/>
          <a:p>
            <a:r>
              <a:rPr lang="en-US" sz="2000" b="1" dirty="0"/>
              <a:t>3. Find new formalisms for crop models</a:t>
            </a:r>
          </a:p>
        </p:txBody>
      </p:sp>
    </p:spTree>
    <p:extLst>
      <p:ext uri="{BB962C8B-B14F-4D97-AF65-F5344CB8AC3E}">
        <p14:creationId xmlns:p14="http://schemas.microsoft.com/office/powerpoint/2010/main" val="4129925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Diagonal Corners Snipped 16">
            <a:extLst>
              <a:ext uri="{FF2B5EF4-FFF2-40B4-BE49-F238E27FC236}">
                <a16:creationId xmlns:a16="http://schemas.microsoft.com/office/drawing/2014/main" id="{293670AD-7624-4B36-BD7D-46DED881E2B9}"/>
              </a:ext>
            </a:extLst>
          </p:cNvPr>
          <p:cNvSpPr/>
          <p:nvPr/>
        </p:nvSpPr>
        <p:spPr>
          <a:xfrm>
            <a:off x="7970971" y="2452348"/>
            <a:ext cx="3292630"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Diagonal Corners Snipped 15">
            <a:extLst>
              <a:ext uri="{FF2B5EF4-FFF2-40B4-BE49-F238E27FC236}">
                <a16:creationId xmlns:a16="http://schemas.microsoft.com/office/drawing/2014/main" id="{707F41A6-3159-46CD-83B5-02EAD5C66679}"/>
              </a:ext>
            </a:extLst>
          </p:cNvPr>
          <p:cNvSpPr/>
          <p:nvPr/>
        </p:nvSpPr>
        <p:spPr>
          <a:xfrm>
            <a:off x="4509988" y="2434848"/>
            <a:ext cx="3365454"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Diagonal Corners Snipped 3">
            <a:extLst>
              <a:ext uri="{FF2B5EF4-FFF2-40B4-BE49-F238E27FC236}">
                <a16:creationId xmlns:a16="http://schemas.microsoft.com/office/drawing/2014/main" id="{D8A134D3-7C03-4F97-9E52-EBA5B21452F6}"/>
              </a:ext>
            </a:extLst>
          </p:cNvPr>
          <p:cNvSpPr/>
          <p:nvPr/>
        </p:nvSpPr>
        <p:spPr>
          <a:xfrm>
            <a:off x="547423" y="2434848"/>
            <a:ext cx="3857923"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B19D09E-F77F-4792-9293-E79FCCDB1E44}"/>
              </a:ext>
            </a:extLst>
          </p:cNvPr>
          <p:cNvSpPr/>
          <p:nvPr/>
        </p:nvSpPr>
        <p:spPr>
          <a:xfrm>
            <a:off x="547423" y="1368086"/>
            <a:ext cx="10718886" cy="830997"/>
          </a:xfrm>
          <a:prstGeom prst="rect">
            <a:avLst/>
          </a:prstGeom>
        </p:spPr>
        <p:txBody>
          <a:bodyPr wrap="square">
            <a:spAutoFit/>
          </a:bodyPr>
          <a:lstStyle/>
          <a:p>
            <a:pPr marL="285750" indent="-285750">
              <a:buFont typeface="Wingdings" panose="05000000000000000000" pitchFamily="2" charset="2"/>
              <a:buChar char="è"/>
            </a:pPr>
            <a:r>
              <a:rPr lang="fr-FR" sz="2400" dirty="0">
                <a:sym typeface="Wingdings" panose="05000000000000000000" pitchFamily="2" charset="2"/>
              </a:rPr>
              <a:t> Possible </a:t>
            </a:r>
            <a:r>
              <a:rPr lang="fr-FR" sz="2400" dirty="0" err="1">
                <a:sym typeface="Wingdings" panose="05000000000000000000" pitchFamily="2" charset="2"/>
              </a:rPr>
              <a:t>way</a:t>
            </a:r>
            <a:r>
              <a:rPr lang="fr-FR" sz="2400" dirty="0">
                <a:sym typeface="Wingdings" panose="05000000000000000000" pitchFamily="2" charset="2"/>
              </a:rPr>
              <a:t>: by </a:t>
            </a:r>
            <a:r>
              <a:rPr lang="fr-FR" sz="2400" b="1" dirty="0" err="1">
                <a:sym typeface="Wingdings" panose="05000000000000000000" pitchFamily="2" charset="2"/>
              </a:rPr>
              <a:t>adapting</a:t>
            </a:r>
            <a:r>
              <a:rPr lang="fr-FR" sz="2400" b="1" dirty="0">
                <a:sym typeface="Wingdings" panose="05000000000000000000" pitchFamily="2" charset="2"/>
              </a:rPr>
              <a:t> </a:t>
            </a:r>
            <a:r>
              <a:rPr lang="fr-FR" sz="2400" b="1" dirty="0" err="1">
                <a:sym typeface="Wingdings" panose="05000000000000000000" pitchFamily="2" charset="2"/>
              </a:rPr>
              <a:t>crop</a:t>
            </a:r>
            <a:r>
              <a:rPr lang="fr-FR" sz="2400" b="1" dirty="0">
                <a:sym typeface="Wingdings" panose="05000000000000000000" pitchFamily="2" charset="2"/>
              </a:rPr>
              <a:t> </a:t>
            </a:r>
            <a:r>
              <a:rPr lang="fr-FR" sz="2400" b="1" dirty="0" err="1">
                <a:sym typeface="Wingdings" panose="05000000000000000000" pitchFamily="2" charset="2"/>
              </a:rPr>
              <a:t>models</a:t>
            </a:r>
            <a:r>
              <a:rPr lang="fr-FR" sz="2400" dirty="0">
                <a:sym typeface="Wingdings" panose="05000000000000000000" pitchFamily="2" charset="2"/>
              </a:rPr>
              <a:t> for </a:t>
            </a:r>
            <a:r>
              <a:rPr lang="fr-FR" sz="2400" dirty="0" err="1">
                <a:sym typeface="Wingdings" panose="05000000000000000000" pitchFamily="2" charset="2"/>
              </a:rPr>
              <a:t>considering</a:t>
            </a:r>
            <a:r>
              <a:rPr lang="fr-FR" sz="2400" dirty="0">
                <a:sym typeface="Wingdings" panose="05000000000000000000" pitchFamily="2" charset="2"/>
              </a:rPr>
              <a:t> more </a:t>
            </a:r>
            <a:r>
              <a:rPr lang="fr-FR" sz="2400" b="1" dirty="0">
                <a:sym typeface="Wingdings" panose="05000000000000000000" pitchFamily="2" charset="2"/>
              </a:rPr>
              <a:t>architectural and spatial </a:t>
            </a:r>
            <a:r>
              <a:rPr lang="fr-FR" sz="2400" b="1" dirty="0" err="1">
                <a:sym typeface="Wingdings" panose="05000000000000000000" pitchFamily="2" charset="2"/>
              </a:rPr>
              <a:t>heterogeneity</a:t>
            </a:r>
            <a:r>
              <a:rPr lang="fr-FR" sz="2400" b="1" dirty="0">
                <a:sym typeface="Wingdings" panose="05000000000000000000" pitchFamily="2" charset="2"/>
              </a:rPr>
              <a:t> </a:t>
            </a:r>
            <a:r>
              <a:rPr lang="fr-FR" sz="2400" dirty="0">
                <a:sym typeface="Wingdings" panose="05000000000000000000" pitchFamily="2" charset="2"/>
              </a:rPr>
              <a:t>of </a:t>
            </a:r>
            <a:r>
              <a:rPr lang="fr-FR" sz="2400" dirty="0" err="1">
                <a:sym typeface="Wingdings" panose="05000000000000000000" pitchFamily="2" charset="2"/>
              </a:rPr>
              <a:t>intercrops</a:t>
            </a:r>
            <a:endParaRPr lang="fr-FR" sz="2400" dirty="0">
              <a:sym typeface="Wingdings" panose="05000000000000000000" pitchFamily="2" charset="2"/>
            </a:endParaRPr>
          </a:p>
        </p:txBody>
      </p:sp>
      <p:sp>
        <p:nvSpPr>
          <p:cNvPr id="2" name="Title 1">
            <a:extLst>
              <a:ext uri="{FF2B5EF4-FFF2-40B4-BE49-F238E27FC236}">
                <a16:creationId xmlns:a16="http://schemas.microsoft.com/office/drawing/2014/main" id="{CF996E95-F6C0-489B-A325-7883157E0BCF}"/>
              </a:ext>
            </a:extLst>
          </p:cNvPr>
          <p:cNvSpPr>
            <a:spLocks noGrp="1"/>
          </p:cNvSpPr>
          <p:nvPr>
            <p:ph type="title"/>
          </p:nvPr>
        </p:nvSpPr>
        <p:spPr>
          <a:xfrm>
            <a:off x="547423" y="136525"/>
            <a:ext cx="10515600" cy="1325563"/>
          </a:xfrm>
        </p:spPr>
        <p:txBody>
          <a:bodyPr>
            <a:normAutofit/>
          </a:bodyPr>
          <a:lstStyle/>
          <a:p>
            <a:r>
              <a:rPr lang="fr-FR" sz="3600" dirty="0">
                <a:sym typeface="Wingdings" panose="05000000000000000000" pitchFamily="2" charset="2"/>
              </a:rPr>
              <a:t>How to </a:t>
            </a:r>
            <a:r>
              <a:rPr lang="fr-FR" sz="3600" dirty="0" err="1">
                <a:sym typeface="Wingdings" panose="05000000000000000000" pitchFamily="2" charset="2"/>
              </a:rPr>
              <a:t>benefit</a:t>
            </a:r>
            <a:r>
              <a:rPr lang="fr-FR" sz="3600" dirty="0">
                <a:sym typeface="Wingdings" panose="05000000000000000000" pitchFamily="2" charset="2"/>
              </a:rPr>
              <a:t> </a:t>
            </a:r>
            <a:r>
              <a:rPr lang="fr-FR" sz="3600" dirty="0" err="1">
                <a:sym typeface="Wingdings" panose="05000000000000000000" pitchFamily="2" charset="2"/>
              </a:rPr>
              <a:t>from</a:t>
            </a:r>
            <a:r>
              <a:rPr lang="fr-FR" sz="3600" dirty="0">
                <a:sym typeface="Wingdings" panose="05000000000000000000" pitchFamily="2" charset="2"/>
              </a:rPr>
              <a:t> the best of </a:t>
            </a:r>
            <a:r>
              <a:rPr lang="fr-FR" sz="3600" dirty="0" err="1">
                <a:sym typeface="Wingdings" panose="05000000000000000000" pitchFamily="2" charset="2"/>
              </a:rPr>
              <a:t>both</a:t>
            </a:r>
            <a:r>
              <a:rPr lang="fr-FR" sz="3600" dirty="0">
                <a:sym typeface="Wingdings" panose="05000000000000000000" pitchFamily="2" charset="2"/>
              </a:rPr>
              <a:t> </a:t>
            </a:r>
            <a:r>
              <a:rPr lang="fr-FR" sz="3600" dirty="0" err="1">
                <a:sym typeface="Wingdings" panose="05000000000000000000" pitchFamily="2" charset="2"/>
              </a:rPr>
              <a:t>approaches</a:t>
            </a:r>
            <a:r>
              <a:rPr lang="fr-FR" sz="3600" dirty="0">
                <a:sym typeface="Wingdings" panose="05000000000000000000" pitchFamily="2" charset="2"/>
              </a:rPr>
              <a:t>?</a:t>
            </a:r>
            <a:endParaRPr lang="en-US" sz="3400" dirty="0"/>
          </a:p>
        </p:txBody>
      </p:sp>
      <p:sp>
        <p:nvSpPr>
          <p:cNvPr id="10" name="TextBox 9">
            <a:extLst>
              <a:ext uri="{FF2B5EF4-FFF2-40B4-BE49-F238E27FC236}">
                <a16:creationId xmlns:a16="http://schemas.microsoft.com/office/drawing/2014/main" id="{55FA22D2-B079-4D92-8652-2054AAB6232A}"/>
              </a:ext>
            </a:extLst>
          </p:cNvPr>
          <p:cNvSpPr txBox="1"/>
          <p:nvPr/>
        </p:nvSpPr>
        <p:spPr>
          <a:xfrm>
            <a:off x="5402832" y="1821616"/>
            <a:ext cx="3207768" cy="307777"/>
          </a:xfrm>
          <a:prstGeom prst="rect">
            <a:avLst/>
          </a:prstGeom>
          <a:noFill/>
        </p:spPr>
        <p:txBody>
          <a:bodyPr wrap="square" rtlCol="0">
            <a:spAutoFit/>
          </a:bodyPr>
          <a:lstStyle/>
          <a:p>
            <a:r>
              <a:rPr lang="fr-FR" sz="1400" dirty="0"/>
              <a:t>(</a:t>
            </a:r>
            <a:r>
              <a:rPr lang="fr-FR" sz="1400" dirty="0" err="1"/>
              <a:t>Gaudio</a:t>
            </a:r>
            <a:r>
              <a:rPr lang="fr-FR" sz="1400" dirty="0"/>
              <a:t> et al., 2019; </a:t>
            </a:r>
            <a:r>
              <a:rPr lang="fr-FR" sz="1400" dirty="0" err="1">
                <a:ea typeface="+mn-lt"/>
                <a:cs typeface="+mn-lt"/>
              </a:rPr>
              <a:t>Laurans</a:t>
            </a:r>
            <a:r>
              <a:rPr lang="fr-FR" sz="1400" dirty="0">
                <a:ea typeface="+mn-lt"/>
                <a:cs typeface="+mn-lt"/>
              </a:rPr>
              <a:t> et al., 2024</a:t>
            </a:r>
            <a:r>
              <a:rPr lang="fr-FR" sz="1400" dirty="0"/>
              <a:t>)</a:t>
            </a:r>
            <a:endParaRPr lang="en-US" sz="1400" dirty="0"/>
          </a:p>
        </p:txBody>
      </p:sp>
      <p:sp>
        <p:nvSpPr>
          <p:cNvPr id="11" name="Slide Number Placeholder 10">
            <a:extLst>
              <a:ext uri="{FF2B5EF4-FFF2-40B4-BE49-F238E27FC236}">
                <a16:creationId xmlns:a16="http://schemas.microsoft.com/office/drawing/2014/main" id="{252B2EDF-C232-4BB8-BCFF-E351BAD12D99}"/>
              </a:ext>
            </a:extLst>
          </p:cNvPr>
          <p:cNvSpPr>
            <a:spLocks noGrp="1"/>
          </p:cNvSpPr>
          <p:nvPr>
            <p:ph type="sldNum" sz="quarter" idx="12"/>
          </p:nvPr>
        </p:nvSpPr>
        <p:spPr/>
        <p:txBody>
          <a:bodyPr/>
          <a:lstStyle/>
          <a:p>
            <a:fld id="{27C6CCC6-2BE5-4E42-96A4-D1E8E81A3D8E}" type="slidenum">
              <a:rPr lang="fr-FR" smtClean="0"/>
              <a:t>15</a:t>
            </a:fld>
            <a:endParaRPr lang="fr-FR"/>
          </a:p>
        </p:txBody>
      </p:sp>
      <p:sp>
        <p:nvSpPr>
          <p:cNvPr id="50" name="Rectangle 49">
            <a:extLst>
              <a:ext uri="{FF2B5EF4-FFF2-40B4-BE49-F238E27FC236}">
                <a16:creationId xmlns:a16="http://schemas.microsoft.com/office/drawing/2014/main" id="{927FDD9A-D2DA-4694-ABA6-485917682CF4}"/>
              </a:ext>
            </a:extLst>
          </p:cNvPr>
          <p:cNvSpPr/>
          <p:nvPr/>
        </p:nvSpPr>
        <p:spPr>
          <a:xfrm>
            <a:off x="8141099" y="3754682"/>
            <a:ext cx="3611703" cy="584775"/>
          </a:xfrm>
          <a:prstGeom prst="rect">
            <a:avLst/>
          </a:prstGeom>
        </p:spPr>
        <p:txBody>
          <a:bodyPr wrap="square">
            <a:spAutoFit/>
          </a:bodyPr>
          <a:lstStyle/>
          <a:p>
            <a:r>
              <a:rPr lang="en-US" dirty="0"/>
              <a:t>Hybrid 2.5D formalism in STICS </a:t>
            </a:r>
          </a:p>
          <a:p>
            <a:r>
              <a:rPr lang="en-US" sz="1400" dirty="0"/>
              <a:t>(</a:t>
            </a:r>
            <a:r>
              <a:rPr lang="en-US" sz="1400" dirty="0" err="1"/>
              <a:t>Vezy</a:t>
            </a:r>
            <a:r>
              <a:rPr lang="en-US" sz="1400" dirty="0"/>
              <a:t> et al., 2023)</a:t>
            </a:r>
            <a:endParaRPr lang="fr-FR" sz="1600" dirty="0"/>
          </a:p>
        </p:txBody>
      </p:sp>
      <p:sp>
        <p:nvSpPr>
          <p:cNvPr id="31" name="TextBox 30">
            <a:extLst>
              <a:ext uri="{FF2B5EF4-FFF2-40B4-BE49-F238E27FC236}">
                <a16:creationId xmlns:a16="http://schemas.microsoft.com/office/drawing/2014/main" id="{2D5C4A14-BC09-45FF-80BD-BB97089BA765}"/>
              </a:ext>
            </a:extLst>
          </p:cNvPr>
          <p:cNvSpPr txBox="1"/>
          <p:nvPr/>
        </p:nvSpPr>
        <p:spPr>
          <a:xfrm>
            <a:off x="8141099" y="4405234"/>
            <a:ext cx="3113568" cy="584775"/>
          </a:xfrm>
          <a:prstGeom prst="rect">
            <a:avLst/>
          </a:prstGeom>
          <a:noFill/>
        </p:spPr>
        <p:txBody>
          <a:bodyPr wrap="square" rtlCol="0">
            <a:spAutoFit/>
          </a:bodyPr>
          <a:lstStyle/>
          <a:p>
            <a:r>
              <a:rPr lang="en-US" dirty="0"/>
              <a:t>Incorporate effect of clumping</a:t>
            </a:r>
          </a:p>
          <a:p>
            <a:r>
              <a:rPr lang="en-US" sz="1400" dirty="0"/>
              <a:t>(</a:t>
            </a:r>
            <a:r>
              <a:rPr lang="fr-FR" sz="1400" dirty="0"/>
              <a:t>B</a:t>
            </a:r>
            <a:r>
              <a:rPr lang="en-US" sz="1400" dirty="0" err="1"/>
              <a:t>ailey</a:t>
            </a:r>
            <a:r>
              <a:rPr lang="en-US" sz="1400" dirty="0"/>
              <a:t> et al., 2020)</a:t>
            </a:r>
            <a:endParaRPr lang="en-US" sz="1600" dirty="0"/>
          </a:p>
        </p:txBody>
      </p:sp>
      <p:sp>
        <p:nvSpPr>
          <p:cNvPr id="51" name="Rectangle 50">
            <a:extLst>
              <a:ext uri="{FF2B5EF4-FFF2-40B4-BE49-F238E27FC236}">
                <a16:creationId xmlns:a16="http://schemas.microsoft.com/office/drawing/2014/main" id="{D4FC1B4F-1B37-413D-A2DB-060D0A6D1E42}"/>
              </a:ext>
            </a:extLst>
          </p:cNvPr>
          <p:cNvSpPr/>
          <p:nvPr/>
        </p:nvSpPr>
        <p:spPr>
          <a:xfrm>
            <a:off x="697149" y="3754683"/>
            <a:ext cx="3566412" cy="1077218"/>
          </a:xfrm>
          <a:prstGeom prst="rect">
            <a:avLst/>
          </a:prstGeom>
        </p:spPr>
        <p:txBody>
          <a:bodyPr wrap="square">
            <a:spAutoFit/>
          </a:bodyPr>
          <a:lstStyle/>
          <a:p>
            <a:r>
              <a:rPr lang="en-US" dirty="0"/>
              <a:t>Evaluate turbid medium approach for simulating light interception </a:t>
            </a:r>
          </a:p>
          <a:p>
            <a:r>
              <a:rPr lang="en-US" sz="1400" dirty="0"/>
              <a:t>(</a:t>
            </a:r>
            <a:r>
              <a:rPr lang="fr-FR" sz="1400" dirty="0" err="1"/>
              <a:t>Barillot</a:t>
            </a:r>
            <a:r>
              <a:rPr lang="fr-FR" sz="1400" dirty="0"/>
              <a:t> et al., 2011; Feng et al., 2014; </a:t>
            </a:r>
            <a:r>
              <a:rPr lang="en-US" sz="1400" dirty="0"/>
              <a:t>Ponce de Leon and Bailey, 2019; Li et al., 2024)</a:t>
            </a:r>
            <a:endParaRPr lang="en-US" sz="1600" dirty="0"/>
          </a:p>
        </p:txBody>
      </p:sp>
      <p:sp>
        <p:nvSpPr>
          <p:cNvPr id="52" name="Rectangle 51">
            <a:extLst>
              <a:ext uri="{FF2B5EF4-FFF2-40B4-BE49-F238E27FC236}">
                <a16:creationId xmlns:a16="http://schemas.microsoft.com/office/drawing/2014/main" id="{663C0DE6-BE9C-4AB9-943B-5E9DA0CF9EFE}"/>
              </a:ext>
            </a:extLst>
          </p:cNvPr>
          <p:cNvSpPr/>
          <p:nvPr/>
        </p:nvSpPr>
        <p:spPr>
          <a:xfrm>
            <a:off x="4657065" y="3754682"/>
            <a:ext cx="3113568" cy="1077218"/>
          </a:xfrm>
          <a:prstGeom prst="rect">
            <a:avLst/>
          </a:prstGeom>
        </p:spPr>
        <p:txBody>
          <a:bodyPr wrap="square">
            <a:spAutoFit/>
          </a:bodyPr>
          <a:lstStyle/>
          <a:p>
            <a:r>
              <a:rPr lang="fr-FR" dirty="0"/>
              <a:t>I</a:t>
            </a:r>
            <a:r>
              <a:rPr lang="en-US" dirty="0" err="1"/>
              <a:t>mpact</a:t>
            </a:r>
            <a:r>
              <a:rPr lang="en-US" dirty="0"/>
              <a:t> of plant architectural variations on light interception</a:t>
            </a:r>
            <a:endParaRPr lang="fr-FR" dirty="0"/>
          </a:p>
          <a:p>
            <a:r>
              <a:rPr lang="fr-FR" sz="1400" dirty="0"/>
              <a:t>(</a:t>
            </a:r>
            <a:r>
              <a:rPr lang="fr-FR" sz="1400" dirty="0" err="1"/>
              <a:t>Barillot</a:t>
            </a:r>
            <a:r>
              <a:rPr lang="fr-FR" sz="1400" dirty="0"/>
              <a:t> et al., 2014; T</a:t>
            </a:r>
            <a:r>
              <a:rPr lang="en-US" sz="1400" dirty="0" err="1"/>
              <a:t>ruong</a:t>
            </a:r>
            <a:r>
              <a:rPr lang="en-US" sz="1400" dirty="0"/>
              <a:t> et al, 2015; </a:t>
            </a:r>
            <a:r>
              <a:rPr lang="en-US" sz="1400" dirty="0" err="1"/>
              <a:t>Barillot</a:t>
            </a:r>
            <a:r>
              <a:rPr lang="en-US" sz="1400" dirty="0"/>
              <a:t> et al., 2019, Perez et al., 2019)</a:t>
            </a:r>
          </a:p>
        </p:txBody>
      </p:sp>
      <p:sp>
        <p:nvSpPr>
          <p:cNvPr id="53" name="TextBox 52">
            <a:extLst>
              <a:ext uri="{FF2B5EF4-FFF2-40B4-BE49-F238E27FC236}">
                <a16:creationId xmlns:a16="http://schemas.microsoft.com/office/drawing/2014/main" id="{F63DF9AE-7D49-40AF-9CE8-29C8AD4C08AA}"/>
              </a:ext>
            </a:extLst>
          </p:cNvPr>
          <p:cNvSpPr txBox="1"/>
          <p:nvPr/>
        </p:nvSpPr>
        <p:spPr>
          <a:xfrm>
            <a:off x="697149" y="2562136"/>
            <a:ext cx="3708197" cy="1015663"/>
          </a:xfrm>
          <a:prstGeom prst="rect">
            <a:avLst/>
          </a:prstGeom>
          <a:noFill/>
        </p:spPr>
        <p:txBody>
          <a:bodyPr wrap="square" rtlCol="0">
            <a:spAutoFit/>
          </a:bodyPr>
          <a:lstStyle/>
          <a:p>
            <a:r>
              <a:rPr lang="en-US" sz="2000" b="1" dirty="0"/>
              <a:t>1. Evaluate performance of existing crop model formalisms for heterogeneous canopies</a:t>
            </a:r>
          </a:p>
        </p:txBody>
      </p:sp>
      <p:sp>
        <p:nvSpPr>
          <p:cNvPr id="54" name="TextBox 53">
            <a:extLst>
              <a:ext uri="{FF2B5EF4-FFF2-40B4-BE49-F238E27FC236}">
                <a16:creationId xmlns:a16="http://schemas.microsoft.com/office/drawing/2014/main" id="{5B296E1A-DE6E-41AC-832C-248CACC44DEC}"/>
              </a:ext>
            </a:extLst>
          </p:cNvPr>
          <p:cNvSpPr txBox="1"/>
          <p:nvPr/>
        </p:nvSpPr>
        <p:spPr>
          <a:xfrm>
            <a:off x="4657065" y="2562136"/>
            <a:ext cx="2828261" cy="1015663"/>
          </a:xfrm>
          <a:prstGeom prst="rect">
            <a:avLst/>
          </a:prstGeom>
          <a:noFill/>
        </p:spPr>
        <p:txBody>
          <a:bodyPr wrap="square" rtlCol="0">
            <a:spAutoFit/>
          </a:bodyPr>
          <a:lstStyle/>
          <a:p>
            <a:r>
              <a:rPr lang="en-US" sz="2000" b="1" dirty="0"/>
              <a:t>2. Identify architectural traits of interest for a given process</a:t>
            </a:r>
          </a:p>
        </p:txBody>
      </p:sp>
      <p:sp>
        <p:nvSpPr>
          <p:cNvPr id="55" name="TextBox 54">
            <a:extLst>
              <a:ext uri="{FF2B5EF4-FFF2-40B4-BE49-F238E27FC236}">
                <a16:creationId xmlns:a16="http://schemas.microsoft.com/office/drawing/2014/main" id="{FA0DF061-EC3D-40C5-80C8-0CE5587D7A7E}"/>
              </a:ext>
            </a:extLst>
          </p:cNvPr>
          <p:cNvSpPr txBox="1"/>
          <p:nvPr/>
        </p:nvSpPr>
        <p:spPr>
          <a:xfrm>
            <a:off x="8141099" y="2566330"/>
            <a:ext cx="2828261" cy="707886"/>
          </a:xfrm>
          <a:prstGeom prst="rect">
            <a:avLst/>
          </a:prstGeom>
          <a:noFill/>
        </p:spPr>
        <p:txBody>
          <a:bodyPr wrap="square" rtlCol="0">
            <a:spAutoFit/>
          </a:bodyPr>
          <a:lstStyle/>
          <a:p>
            <a:r>
              <a:rPr lang="en-US" sz="2000" b="1" dirty="0"/>
              <a:t>3. Find new formalisms for crop models</a:t>
            </a:r>
          </a:p>
        </p:txBody>
      </p:sp>
      <p:sp>
        <p:nvSpPr>
          <p:cNvPr id="3" name="TextBox 2">
            <a:extLst>
              <a:ext uri="{FF2B5EF4-FFF2-40B4-BE49-F238E27FC236}">
                <a16:creationId xmlns:a16="http://schemas.microsoft.com/office/drawing/2014/main" id="{723571EA-A9A0-4F50-8667-27087CB3AA41}"/>
              </a:ext>
            </a:extLst>
          </p:cNvPr>
          <p:cNvSpPr txBox="1"/>
          <p:nvPr/>
        </p:nvSpPr>
        <p:spPr>
          <a:xfrm>
            <a:off x="547423" y="5348651"/>
            <a:ext cx="10806377" cy="1384995"/>
          </a:xfrm>
          <a:prstGeom prst="rect">
            <a:avLst/>
          </a:prstGeom>
          <a:noFill/>
        </p:spPr>
        <p:txBody>
          <a:bodyPr wrap="square" rtlCol="0">
            <a:spAutoFit/>
          </a:bodyPr>
          <a:lstStyle/>
          <a:p>
            <a:r>
              <a:rPr lang="en-US" sz="2400" dirty="0">
                <a:sym typeface="Wingdings" panose="05000000000000000000" pitchFamily="2" charset="2"/>
              </a:rPr>
              <a:t> </a:t>
            </a:r>
            <a:r>
              <a:rPr lang="en-US" sz="2400" i="1" dirty="0">
                <a:sym typeface="Wingdings" panose="05000000000000000000" pitchFamily="2" charset="2"/>
              </a:rPr>
              <a:t>in silico</a:t>
            </a:r>
            <a:r>
              <a:rPr lang="en-US" sz="2400" dirty="0">
                <a:sym typeface="Wingdings" panose="05000000000000000000" pitchFamily="2" charset="2"/>
              </a:rPr>
              <a:t> </a:t>
            </a:r>
            <a:r>
              <a:rPr lang="en-US" sz="2400" b="1" dirty="0">
                <a:sym typeface="Wingdings" panose="05000000000000000000" pitchFamily="2" charset="2"/>
              </a:rPr>
              <a:t>hybrid multiscale </a:t>
            </a:r>
            <a:r>
              <a:rPr lang="en-US" sz="2400" dirty="0">
                <a:sym typeface="Wingdings" panose="05000000000000000000" pitchFamily="2" charset="2"/>
              </a:rPr>
              <a:t>approach for intercrops, for: </a:t>
            </a:r>
          </a:p>
          <a:p>
            <a:pPr marL="342900" indent="-342900">
              <a:buFont typeface="Arial" panose="020B0604020202020204" pitchFamily="34" charset="0"/>
              <a:buChar char="•"/>
            </a:pPr>
            <a:r>
              <a:rPr lang="en-US" sz="2000" dirty="0">
                <a:sym typeface="Wingdings" panose="05000000000000000000" pitchFamily="2" charset="2"/>
              </a:rPr>
              <a:t>quantifying the uncertainty linked to the non-consideration of plant architecture in intercrop models and identifying the most influential architectural traits</a:t>
            </a:r>
          </a:p>
          <a:p>
            <a:pPr marL="342900" indent="-342900">
              <a:buFont typeface="Arial" panose="020B0604020202020204" pitchFamily="34" charset="0"/>
              <a:buChar char="•"/>
            </a:pPr>
            <a:r>
              <a:rPr lang="en-US" sz="2000" dirty="0">
                <a:sym typeface="Wingdings" panose="05000000000000000000" pitchFamily="2" charset="2"/>
              </a:rPr>
              <a:t>helping finding ways to better consider architectural and spatial heterogeneity in intercrop models</a:t>
            </a:r>
          </a:p>
        </p:txBody>
      </p:sp>
    </p:spTree>
    <p:extLst>
      <p:ext uri="{BB962C8B-B14F-4D97-AF65-F5344CB8AC3E}">
        <p14:creationId xmlns:p14="http://schemas.microsoft.com/office/powerpoint/2010/main" val="4182418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2541726"/>
            <a:ext cx="3296102" cy="4082618"/>
          </a:xfrm>
        </p:spPr>
        <p:txBody>
          <a:bodyPr>
            <a:normAutofit lnSpcReduction="10000"/>
          </a:bodyPr>
          <a:lstStyle/>
          <a:p>
            <a:pPr marL="0" indent="0">
              <a:buNone/>
            </a:pPr>
            <a:r>
              <a:rPr lang="fr-FR" b="1" dirty="0" err="1"/>
              <a:t>Chapter</a:t>
            </a:r>
            <a:r>
              <a:rPr lang="fr-FR" b="1" dirty="0"/>
              <a:t> I </a:t>
            </a:r>
          </a:p>
          <a:p>
            <a:pPr marL="0" indent="0">
              <a:buNone/>
            </a:pPr>
            <a:r>
              <a:rPr lang="fr-FR" sz="2400" dirty="0" err="1"/>
              <a:t>ArchiCrop</a:t>
            </a:r>
            <a:r>
              <a:rPr lang="fr-FR" sz="2400" dirty="0"/>
              <a:t>, </a:t>
            </a:r>
            <a:br>
              <a:rPr lang="fr-FR" sz="2400" dirty="0"/>
            </a:br>
            <a:r>
              <a:rPr lang="fr-FR" sz="2400" dirty="0"/>
              <a:t>a 3D </a:t>
            </a:r>
            <a:r>
              <a:rPr lang="fr-FR" sz="2400" dirty="0" err="1"/>
              <a:t>dynamic</a:t>
            </a:r>
            <a:r>
              <a:rPr lang="fr-FR" sz="2400" dirty="0"/>
              <a:t> </a:t>
            </a:r>
            <a:r>
              <a:rPr lang="fr-FR" sz="2400" dirty="0" err="1"/>
              <a:t>parametric</a:t>
            </a:r>
            <a:r>
              <a:rPr lang="fr-FR" sz="2400" dirty="0"/>
              <a:t> model </a:t>
            </a:r>
          </a:p>
          <a:p>
            <a:pPr marL="0" indent="0">
              <a:buNone/>
            </a:pPr>
            <a:endParaRPr lang="fr-FR" sz="2400" dirty="0"/>
          </a:p>
          <a:p>
            <a:pPr marL="0" indent="0">
              <a:buNone/>
            </a:pPr>
            <a:r>
              <a:rPr lang="en-US" sz="2400" i="1" dirty="0"/>
              <a:t>How to conceive a </a:t>
            </a:r>
            <a:r>
              <a:rPr lang="en-US" sz="2400" b="1" i="1" dirty="0"/>
              <a:t>3D plant model</a:t>
            </a:r>
            <a:r>
              <a:rPr lang="en-US" sz="2400" i="1" dirty="0"/>
              <a:t> with </a:t>
            </a:r>
            <a:r>
              <a:rPr lang="en-US" sz="2400" b="1" i="1" dirty="0"/>
              <a:t>few architectural and developmental parameters </a:t>
            </a:r>
            <a:r>
              <a:rPr lang="en-US" sz="2400" i="1" dirty="0"/>
              <a:t>and with a canopy-scale </a:t>
            </a:r>
            <a:r>
              <a:rPr lang="en-US" sz="2400" b="1" i="1" dirty="0"/>
              <a:t>constraint on growth </a:t>
            </a:r>
            <a:r>
              <a:rPr lang="en-US" sz="2400" i="1" dirty="0"/>
              <a:t>? </a:t>
            </a:r>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For given processes, what in plant architecture should we consider in intercrop models?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16</a:t>
            </a:fld>
            <a:endParaRPr lang="fr-FR" dirty="0"/>
          </a:p>
        </p:txBody>
      </p:sp>
    </p:spTree>
    <p:extLst>
      <p:ext uri="{BB962C8B-B14F-4D97-AF65-F5344CB8AC3E}">
        <p14:creationId xmlns:p14="http://schemas.microsoft.com/office/powerpoint/2010/main" val="2932026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72EDD71F-B612-426D-B44A-87B585DE68DA}"/>
              </a:ext>
            </a:extLst>
          </p:cNvPr>
          <p:cNvSpPr/>
          <p:nvPr/>
        </p:nvSpPr>
        <p:spPr>
          <a:xfrm>
            <a:off x="4134303" y="2304661"/>
            <a:ext cx="3811370" cy="4319683"/>
          </a:xfrm>
          <a:prstGeom prst="roundRect">
            <a:avLst/>
          </a:prstGeom>
          <a:solidFill>
            <a:srgbClr val="F39200">
              <a:alpha val="69804"/>
            </a:srgbClr>
          </a:solidFill>
          <a:ln>
            <a:solidFill>
              <a:srgbClr val="F392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2541726"/>
            <a:ext cx="3296102" cy="4082618"/>
          </a:xfrm>
        </p:spPr>
        <p:txBody>
          <a:bodyPr>
            <a:normAutofit lnSpcReduction="10000"/>
          </a:bodyPr>
          <a:lstStyle/>
          <a:p>
            <a:pPr marL="0" indent="0">
              <a:buNone/>
            </a:pPr>
            <a:r>
              <a:rPr lang="fr-FR" b="1" dirty="0" err="1"/>
              <a:t>Chapter</a:t>
            </a:r>
            <a:r>
              <a:rPr lang="fr-FR" b="1" dirty="0"/>
              <a:t> I </a:t>
            </a:r>
          </a:p>
          <a:p>
            <a:pPr marL="0" indent="0">
              <a:buNone/>
            </a:pPr>
            <a:r>
              <a:rPr lang="fr-FR" sz="2400" dirty="0" err="1"/>
              <a:t>ArchiCrop</a:t>
            </a:r>
            <a:r>
              <a:rPr lang="fr-FR" sz="2400" dirty="0"/>
              <a:t>, </a:t>
            </a:r>
            <a:br>
              <a:rPr lang="fr-FR" sz="2400" dirty="0"/>
            </a:br>
            <a:r>
              <a:rPr lang="fr-FR" sz="2400" dirty="0"/>
              <a:t>a 3D </a:t>
            </a:r>
            <a:r>
              <a:rPr lang="fr-FR" sz="2400" dirty="0" err="1"/>
              <a:t>dynamic</a:t>
            </a:r>
            <a:r>
              <a:rPr lang="fr-FR" sz="2400" dirty="0"/>
              <a:t> </a:t>
            </a:r>
            <a:r>
              <a:rPr lang="fr-FR" sz="2400" dirty="0" err="1"/>
              <a:t>parametric</a:t>
            </a:r>
            <a:r>
              <a:rPr lang="fr-FR" sz="2400" dirty="0"/>
              <a:t> model </a:t>
            </a:r>
          </a:p>
          <a:p>
            <a:pPr marL="0" indent="0">
              <a:buNone/>
            </a:pPr>
            <a:endParaRPr lang="fr-FR" sz="2400" dirty="0"/>
          </a:p>
          <a:p>
            <a:pPr marL="0" indent="0">
              <a:buNone/>
            </a:pPr>
            <a:r>
              <a:rPr lang="en-US" sz="2400" i="1" dirty="0"/>
              <a:t>How to conceive a </a:t>
            </a:r>
            <a:r>
              <a:rPr lang="en-US" sz="2400" b="1" i="1" dirty="0"/>
              <a:t>3D plant model</a:t>
            </a:r>
            <a:r>
              <a:rPr lang="en-US" sz="2400" i="1" dirty="0"/>
              <a:t> with </a:t>
            </a:r>
            <a:r>
              <a:rPr lang="en-US" sz="2400" b="1" i="1" dirty="0"/>
              <a:t>few architectural and developmental parameters </a:t>
            </a:r>
            <a:r>
              <a:rPr lang="en-US" sz="2400" i="1" dirty="0"/>
              <a:t>and with a canopy-scale </a:t>
            </a:r>
            <a:r>
              <a:rPr lang="en-US" sz="2400" b="1" i="1" dirty="0"/>
              <a:t>constraint on growth </a:t>
            </a:r>
            <a:r>
              <a:rPr lang="en-US" sz="2400" i="1" dirty="0"/>
              <a:t>? </a:t>
            </a:r>
          </a:p>
        </p:txBody>
      </p:sp>
      <p:sp>
        <p:nvSpPr>
          <p:cNvPr id="6" name="Espace réservé du contenu 2">
            <a:extLst>
              <a:ext uri="{FF2B5EF4-FFF2-40B4-BE49-F238E27FC236}">
                <a16:creationId xmlns:a16="http://schemas.microsoft.com/office/drawing/2014/main" id="{6A1F6667-290D-49AD-9176-73ACA1C1F769}"/>
              </a:ext>
            </a:extLst>
          </p:cNvPr>
          <p:cNvSpPr txBox="1">
            <a:spLocks/>
          </p:cNvSpPr>
          <p:nvPr/>
        </p:nvSpPr>
        <p:spPr>
          <a:xfrm>
            <a:off x="4326563" y="2541726"/>
            <a:ext cx="3514495" cy="3814624"/>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t>Chapter</a:t>
            </a:r>
            <a:r>
              <a:rPr lang="fr-FR" b="1" dirty="0"/>
              <a:t> II </a:t>
            </a:r>
          </a:p>
          <a:p>
            <a:pPr marL="0" indent="0">
              <a:buNone/>
            </a:pPr>
            <a:r>
              <a:rPr lang="fr-FR" sz="2400" dirty="0" err="1"/>
              <a:t>Uncertainty</a:t>
            </a:r>
            <a:r>
              <a:rPr lang="fr-FR" sz="2400" dirty="0"/>
              <a:t> </a:t>
            </a:r>
            <a:r>
              <a:rPr lang="fr-FR" sz="2400" dirty="0" err="1"/>
              <a:t>analysis</a:t>
            </a:r>
            <a:r>
              <a:rPr lang="fr-FR" sz="2400" dirty="0"/>
              <a:t> of </a:t>
            </a:r>
            <a:r>
              <a:rPr lang="fr-FR" sz="2400" dirty="0" err="1"/>
              <a:t>intercrop</a:t>
            </a:r>
            <a:r>
              <a:rPr lang="fr-FR" sz="2400" dirty="0"/>
              <a:t> </a:t>
            </a:r>
            <a:r>
              <a:rPr lang="fr-FR" sz="2400" dirty="0" err="1"/>
              <a:t>models</a:t>
            </a:r>
            <a:r>
              <a:rPr lang="fr-FR" sz="2400" dirty="0"/>
              <a:t> </a:t>
            </a:r>
            <a:r>
              <a:rPr lang="fr-FR" sz="2400" dirty="0" err="1"/>
              <a:t>considering</a:t>
            </a:r>
            <a:r>
              <a:rPr lang="fr-FR" sz="2400" dirty="0"/>
              <a:t> architectural </a:t>
            </a:r>
            <a:r>
              <a:rPr lang="fr-FR" sz="2400" dirty="0" err="1"/>
              <a:t>parameters</a:t>
            </a:r>
            <a:endParaRPr lang="fr-FR" sz="2400" dirty="0"/>
          </a:p>
          <a:p>
            <a:pPr marL="0" indent="0">
              <a:buNone/>
            </a:pPr>
            <a:endParaRPr lang="fr-FR" sz="2400" dirty="0"/>
          </a:p>
          <a:p>
            <a:pPr marL="0" indent="0">
              <a:buNone/>
            </a:pPr>
            <a:r>
              <a:rPr lang="en-US" sz="2400" i="1" dirty="0"/>
              <a:t>Which </a:t>
            </a:r>
            <a:r>
              <a:rPr lang="en-US" sz="2400" b="1" i="1" dirty="0"/>
              <a:t>plant architectural traits</a:t>
            </a:r>
            <a:r>
              <a:rPr lang="en-US" sz="2400" i="1" dirty="0"/>
              <a:t> and </a:t>
            </a:r>
            <a:r>
              <a:rPr lang="en-US" sz="2400" b="1" i="1" dirty="0"/>
              <a:t>sowing pattern </a:t>
            </a:r>
            <a:r>
              <a:rPr lang="en-US" sz="2400" i="1" dirty="0"/>
              <a:t>bring most of the </a:t>
            </a:r>
            <a:r>
              <a:rPr lang="en-US" sz="2400" b="1" i="1" dirty="0"/>
              <a:t>uncertainty</a:t>
            </a:r>
            <a:r>
              <a:rPr lang="en-US" sz="2400" i="1" dirty="0"/>
              <a:t> and should be considered</a:t>
            </a:r>
            <a:r>
              <a:rPr lang="en-US" sz="2400" b="1" i="1" dirty="0"/>
              <a:t> </a:t>
            </a:r>
            <a:r>
              <a:rPr lang="en-US" sz="2400" i="1" dirty="0"/>
              <a:t>explicitly</a:t>
            </a:r>
            <a:r>
              <a:rPr lang="en-US" sz="2400" b="1" i="1" dirty="0"/>
              <a:t> </a:t>
            </a:r>
            <a:r>
              <a:rPr lang="en-US" sz="2400" i="1" dirty="0"/>
              <a:t>in</a:t>
            </a:r>
            <a:r>
              <a:rPr lang="en-US" sz="2400" b="1" i="1" dirty="0"/>
              <a:t> </a:t>
            </a:r>
            <a:r>
              <a:rPr lang="en-US" sz="2400" i="1" dirty="0"/>
              <a:t>crop models?</a:t>
            </a:r>
          </a:p>
          <a:p>
            <a:pPr marL="0" indent="0">
              <a:buNone/>
            </a:pPr>
            <a:endParaRPr lang="fr-FR" sz="2400" dirty="0"/>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For given processes, what in plant architecture should we consider in intercrop models?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17</a:t>
            </a:fld>
            <a:endParaRPr lang="fr-FR" dirty="0"/>
          </a:p>
        </p:txBody>
      </p:sp>
    </p:spTree>
    <p:extLst>
      <p:ext uri="{BB962C8B-B14F-4D97-AF65-F5344CB8AC3E}">
        <p14:creationId xmlns:p14="http://schemas.microsoft.com/office/powerpoint/2010/main" val="527100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54E23F65-F125-464F-A7F3-FBD4BB6F6317}"/>
              </a:ext>
            </a:extLst>
          </p:cNvPr>
          <p:cNvSpPr/>
          <p:nvPr/>
        </p:nvSpPr>
        <p:spPr>
          <a:xfrm>
            <a:off x="8072722" y="2304661"/>
            <a:ext cx="3811370" cy="4304065"/>
          </a:xfrm>
          <a:prstGeom prst="roundRect">
            <a:avLst/>
          </a:prstGeom>
          <a:solidFill>
            <a:srgbClr val="C28745">
              <a:alpha val="69804"/>
            </a:srgbClr>
          </a:solidFill>
          <a:ln>
            <a:solidFill>
              <a:srgbClr val="C28745"/>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72EDD71F-B612-426D-B44A-87B585DE68DA}"/>
              </a:ext>
            </a:extLst>
          </p:cNvPr>
          <p:cNvSpPr/>
          <p:nvPr/>
        </p:nvSpPr>
        <p:spPr>
          <a:xfrm>
            <a:off x="4134303" y="2304661"/>
            <a:ext cx="3811370" cy="4319683"/>
          </a:xfrm>
          <a:prstGeom prst="roundRect">
            <a:avLst/>
          </a:prstGeom>
          <a:solidFill>
            <a:srgbClr val="F39200">
              <a:alpha val="69804"/>
            </a:srgbClr>
          </a:solidFill>
          <a:ln>
            <a:solidFill>
              <a:srgbClr val="F392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2541726"/>
            <a:ext cx="3296102" cy="4082618"/>
          </a:xfrm>
        </p:spPr>
        <p:txBody>
          <a:bodyPr>
            <a:normAutofit lnSpcReduction="10000"/>
          </a:bodyPr>
          <a:lstStyle/>
          <a:p>
            <a:pPr marL="0" indent="0">
              <a:buNone/>
            </a:pPr>
            <a:r>
              <a:rPr lang="fr-FR" b="1" dirty="0" err="1"/>
              <a:t>Chapter</a:t>
            </a:r>
            <a:r>
              <a:rPr lang="fr-FR" b="1" dirty="0"/>
              <a:t> I </a:t>
            </a:r>
          </a:p>
          <a:p>
            <a:pPr marL="0" indent="0">
              <a:buNone/>
            </a:pPr>
            <a:r>
              <a:rPr lang="fr-FR" sz="2400" dirty="0" err="1"/>
              <a:t>ArchiCrop</a:t>
            </a:r>
            <a:r>
              <a:rPr lang="fr-FR" sz="2400" dirty="0"/>
              <a:t>, </a:t>
            </a:r>
            <a:br>
              <a:rPr lang="fr-FR" sz="2400" dirty="0"/>
            </a:br>
            <a:r>
              <a:rPr lang="fr-FR" sz="2400" dirty="0"/>
              <a:t>a 3D </a:t>
            </a:r>
            <a:r>
              <a:rPr lang="fr-FR" sz="2400" dirty="0" err="1"/>
              <a:t>dynamic</a:t>
            </a:r>
            <a:r>
              <a:rPr lang="fr-FR" sz="2400" dirty="0"/>
              <a:t> </a:t>
            </a:r>
            <a:r>
              <a:rPr lang="fr-FR" sz="2400" dirty="0" err="1"/>
              <a:t>parametric</a:t>
            </a:r>
            <a:r>
              <a:rPr lang="fr-FR" sz="2400" dirty="0"/>
              <a:t> model </a:t>
            </a:r>
          </a:p>
          <a:p>
            <a:pPr marL="0" indent="0">
              <a:buNone/>
            </a:pPr>
            <a:endParaRPr lang="fr-FR" sz="2400" dirty="0"/>
          </a:p>
          <a:p>
            <a:pPr marL="0" indent="0">
              <a:buNone/>
            </a:pPr>
            <a:r>
              <a:rPr lang="en-US" sz="2400" i="1" dirty="0"/>
              <a:t>How to conceive a </a:t>
            </a:r>
            <a:r>
              <a:rPr lang="en-US" sz="2400" b="1" i="1" dirty="0"/>
              <a:t>3D plant model</a:t>
            </a:r>
            <a:r>
              <a:rPr lang="en-US" sz="2400" i="1" dirty="0"/>
              <a:t> with </a:t>
            </a:r>
            <a:r>
              <a:rPr lang="en-US" sz="2400" b="1" i="1" dirty="0"/>
              <a:t>few architectural and developmental parameters </a:t>
            </a:r>
            <a:r>
              <a:rPr lang="en-US" sz="2400" i="1" dirty="0"/>
              <a:t>and with a canopy-scale </a:t>
            </a:r>
            <a:r>
              <a:rPr lang="en-US" sz="2400" b="1" i="1" dirty="0"/>
              <a:t>constraint on growth </a:t>
            </a:r>
            <a:r>
              <a:rPr lang="en-US" sz="2400" i="1" dirty="0"/>
              <a:t>? </a:t>
            </a:r>
          </a:p>
        </p:txBody>
      </p:sp>
      <p:sp>
        <p:nvSpPr>
          <p:cNvPr id="6" name="Espace réservé du contenu 2">
            <a:extLst>
              <a:ext uri="{FF2B5EF4-FFF2-40B4-BE49-F238E27FC236}">
                <a16:creationId xmlns:a16="http://schemas.microsoft.com/office/drawing/2014/main" id="{6A1F6667-290D-49AD-9176-73ACA1C1F769}"/>
              </a:ext>
            </a:extLst>
          </p:cNvPr>
          <p:cNvSpPr txBox="1">
            <a:spLocks/>
          </p:cNvSpPr>
          <p:nvPr/>
        </p:nvSpPr>
        <p:spPr>
          <a:xfrm>
            <a:off x="4326563" y="2541726"/>
            <a:ext cx="3514495" cy="3814624"/>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t>Chapter</a:t>
            </a:r>
            <a:r>
              <a:rPr lang="fr-FR" b="1" dirty="0"/>
              <a:t> II </a:t>
            </a:r>
          </a:p>
          <a:p>
            <a:pPr marL="0" indent="0">
              <a:buNone/>
            </a:pPr>
            <a:r>
              <a:rPr lang="fr-FR" sz="2400" dirty="0" err="1"/>
              <a:t>Uncertainty</a:t>
            </a:r>
            <a:r>
              <a:rPr lang="fr-FR" sz="2400" dirty="0"/>
              <a:t> </a:t>
            </a:r>
            <a:r>
              <a:rPr lang="fr-FR" sz="2400" dirty="0" err="1"/>
              <a:t>analysis</a:t>
            </a:r>
            <a:r>
              <a:rPr lang="fr-FR" sz="2400" dirty="0"/>
              <a:t> of </a:t>
            </a:r>
            <a:r>
              <a:rPr lang="fr-FR" sz="2400" dirty="0" err="1"/>
              <a:t>intercrop</a:t>
            </a:r>
            <a:r>
              <a:rPr lang="fr-FR" sz="2400" dirty="0"/>
              <a:t> </a:t>
            </a:r>
            <a:r>
              <a:rPr lang="fr-FR" sz="2400" dirty="0" err="1"/>
              <a:t>models</a:t>
            </a:r>
            <a:r>
              <a:rPr lang="fr-FR" sz="2400" dirty="0"/>
              <a:t> </a:t>
            </a:r>
            <a:r>
              <a:rPr lang="fr-FR" sz="2400" dirty="0" err="1"/>
              <a:t>considering</a:t>
            </a:r>
            <a:r>
              <a:rPr lang="fr-FR" sz="2400" dirty="0"/>
              <a:t> architectural </a:t>
            </a:r>
            <a:r>
              <a:rPr lang="fr-FR" sz="2400" dirty="0" err="1"/>
              <a:t>parameters</a:t>
            </a:r>
            <a:endParaRPr lang="fr-FR" sz="2400" dirty="0"/>
          </a:p>
          <a:p>
            <a:pPr marL="0" indent="0">
              <a:buNone/>
            </a:pPr>
            <a:endParaRPr lang="fr-FR" sz="2400" dirty="0"/>
          </a:p>
          <a:p>
            <a:pPr marL="0" indent="0">
              <a:buNone/>
            </a:pPr>
            <a:r>
              <a:rPr lang="en-US" sz="2400" i="1" dirty="0"/>
              <a:t>Which </a:t>
            </a:r>
            <a:r>
              <a:rPr lang="en-US" sz="2400" b="1" i="1" dirty="0"/>
              <a:t>plant architectural traits</a:t>
            </a:r>
            <a:r>
              <a:rPr lang="en-US" sz="2400" i="1" dirty="0"/>
              <a:t> and </a:t>
            </a:r>
            <a:r>
              <a:rPr lang="en-US" sz="2400" b="1" i="1" dirty="0"/>
              <a:t>sowing pattern </a:t>
            </a:r>
            <a:r>
              <a:rPr lang="en-US" sz="2400" i="1" dirty="0"/>
              <a:t>bring most of the </a:t>
            </a:r>
            <a:r>
              <a:rPr lang="en-US" sz="2400" b="1" i="1" dirty="0"/>
              <a:t>uncertainty</a:t>
            </a:r>
            <a:r>
              <a:rPr lang="en-US" sz="2400" i="1" dirty="0"/>
              <a:t> and should be considered</a:t>
            </a:r>
            <a:r>
              <a:rPr lang="en-US" sz="2400" b="1" i="1" dirty="0"/>
              <a:t> </a:t>
            </a:r>
            <a:r>
              <a:rPr lang="en-US" sz="2400" i="1" dirty="0"/>
              <a:t>explicitly</a:t>
            </a:r>
            <a:r>
              <a:rPr lang="en-US" sz="2400" b="1" i="1" dirty="0"/>
              <a:t> </a:t>
            </a:r>
            <a:r>
              <a:rPr lang="en-US" sz="2400" i="1" dirty="0"/>
              <a:t>in</a:t>
            </a:r>
            <a:r>
              <a:rPr lang="en-US" sz="2400" b="1" i="1" dirty="0"/>
              <a:t> </a:t>
            </a:r>
            <a:r>
              <a:rPr lang="en-US" sz="2400" i="1" dirty="0"/>
              <a:t>crop models?</a:t>
            </a:r>
          </a:p>
          <a:p>
            <a:pPr marL="0" indent="0">
              <a:buNone/>
            </a:pPr>
            <a:endParaRPr lang="fr-FR" sz="2400" dirty="0"/>
          </a:p>
        </p:txBody>
      </p:sp>
      <p:sp>
        <p:nvSpPr>
          <p:cNvPr id="7" name="Espace réservé du contenu 2">
            <a:extLst>
              <a:ext uri="{FF2B5EF4-FFF2-40B4-BE49-F238E27FC236}">
                <a16:creationId xmlns:a16="http://schemas.microsoft.com/office/drawing/2014/main" id="{13CA4DC9-2347-420C-BEAC-087797A0488F}"/>
              </a:ext>
            </a:extLst>
          </p:cNvPr>
          <p:cNvSpPr txBox="1">
            <a:spLocks/>
          </p:cNvSpPr>
          <p:nvPr/>
        </p:nvSpPr>
        <p:spPr>
          <a:xfrm>
            <a:off x="8274962" y="2541726"/>
            <a:ext cx="3406890" cy="39874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t>Chapter</a:t>
            </a:r>
            <a:r>
              <a:rPr lang="fr-FR" b="1" dirty="0"/>
              <a:t> III </a:t>
            </a:r>
          </a:p>
          <a:p>
            <a:pPr marL="0" indent="0">
              <a:buNone/>
            </a:pPr>
            <a:r>
              <a:rPr lang="fr-FR" sz="2400" dirty="0"/>
              <a:t>Proposition of multi-</a:t>
            </a:r>
            <a:r>
              <a:rPr lang="fr-FR" sz="2400" dirty="0" err="1"/>
              <a:t>scale</a:t>
            </a:r>
            <a:r>
              <a:rPr lang="fr-FR" sz="2400" dirty="0"/>
              <a:t> </a:t>
            </a:r>
            <a:r>
              <a:rPr lang="fr-FR" sz="2400" dirty="0" err="1"/>
              <a:t>modelling</a:t>
            </a:r>
            <a:r>
              <a:rPr lang="fr-FR" sz="2400" dirty="0"/>
              <a:t> </a:t>
            </a:r>
            <a:r>
              <a:rPr lang="fr-FR" sz="2400" dirty="0" err="1"/>
              <a:t>approaches</a:t>
            </a:r>
            <a:endParaRPr lang="fr-FR" sz="2400" dirty="0"/>
          </a:p>
          <a:p>
            <a:pPr marL="0" indent="0">
              <a:buNone/>
            </a:pPr>
            <a:endParaRPr lang="fr-FR" sz="2400" dirty="0"/>
          </a:p>
          <a:p>
            <a:pPr marL="0" indent="0">
              <a:buNone/>
            </a:pPr>
            <a:r>
              <a:rPr lang="fr-FR" sz="2400" i="1" dirty="0"/>
              <a:t>How to </a:t>
            </a:r>
            <a:r>
              <a:rPr lang="fr-FR" sz="2400" b="1" i="1" dirty="0" err="1"/>
              <a:t>consider</a:t>
            </a:r>
            <a:r>
              <a:rPr lang="fr-FR" sz="2400" b="1" i="1" dirty="0"/>
              <a:t> </a:t>
            </a:r>
            <a:r>
              <a:rPr lang="fr-FR" sz="2400" b="1" i="1" dirty="0" err="1"/>
              <a:t>explicitly</a:t>
            </a:r>
            <a:r>
              <a:rPr lang="fr-FR" sz="2400" b="1" i="1" dirty="0"/>
              <a:t> </a:t>
            </a:r>
            <a:r>
              <a:rPr lang="fr-FR" sz="2400" i="1" dirty="0" err="1"/>
              <a:t>identified</a:t>
            </a:r>
            <a:r>
              <a:rPr lang="fr-FR" sz="2400" i="1" dirty="0"/>
              <a:t> </a:t>
            </a:r>
            <a:r>
              <a:rPr lang="fr-FR" sz="2400" i="1" dirty="0" err="1"/>
              <a:t>parameters</a:t>
            </a:r>
            <a:r>
              <a:rPr lang="fr-FR" sz="2400" i="1" dirty="0"/>
              <a:t> in </a:t>
            </a:r>
            <a:r>
              <a:rPr lang="fr-FR" sz="2400" b="1" i="1" dirty="0" err="1"/>
              <a:t>crop</a:t>
            </a:r>
            <a:r>
              <a:rPr lang="fr-FR" sz="2400" b="1" i="1" dirty="0"/>
              <a:t> </a:t>
            </a:r>
            <a:r>
              <a:rPr lang="fr-FR" sz="2400" b="1" i="1" dirty="0" err="1"/>
              <a:t>models</a:t>
            </a:r>
            <a:r>
              <a:rPr lang="fr-FR" sz="2400" i="1" dirty="0"/>
              <a:t> in </a:t>
            </a:r>
            <a:r>
              <a:rPr lang="fr-FR" sz="2400" i="1" dirty="0" err="1"/>
              <a:t>order</a:t>
            </a:r>
            <a:r>
              <a:rPr lang="fr-FR" sz="2400" i="1" dirty="0"/>
              <a:t> to </a:t>
            </a:r>
            <a:r>
              <a:rPr lang="fr-FR" sz="2400" i="1" dirty="0" err="1"/>
              <a:t>improve</a:t>
            </a:r>
            <a:r>
              <a:rPr lang="fr-FR" sz="2400" i="1" dirty="0"/>
              <a:t> </a:t>
            </a:r>
            <a:r>
              <a:rPr lang="fr-FR" sz="2400" i="1" dirty="0" err="1"/>
              <a:t>their</a:t>
            </a:r>
            <a:r>
              <a:rPr lang="fr-FR" sz="2400" i="1" dirty="0"/>
              <a:t> </a:t>
            </a:r>
            <a:r>
              <a:rPr lang="fr-FR" sz="2400" i="1" dirty="0" err="1"/>
              <a:t>accuracy</a:t>
            </a:r>
            <a:r>
              <a:rPr lang="fr-FR" sz="2400" i="1" dirty="0"/>
              <a:t>?</a:t>
            </a:r>
            <a:endParaRPr lang="fr-FR" sz="2400" dirty="0"/>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For given processes, what in plant architecture should we consider in intercrop models?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18</a:t>
            </a:fld>
            <a:endParaRPr lang="fr-FR" dirty="0"/>
          </a:p>
        </p:txBody>
      </p:sp>
    </p:spTree>
    <p:extLst>
      <p:ext uri="{BB962C8B-B14F-4D97-AF65-F5344CB8AC3E}">
        <p14:creationId xmlns:p14="http://schemas.microsoft.com/office/powerpoint/2010/main" val="38624491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Diagonal Corners Snipped 12">
            <a:extLst>
              <a:ext uri="{FF2B5EF4-FFF2-40B4-BE49-F238E27FC236}">
                <a16:creationId xmlns:a16="http://schemas.microsoft.com/office/drawing/2014/main" id="{DA61EBFD-78FC-4C55-95D9-8ABB5C343957}"/>
              </a:ext>
            </a:extLst>
          </p:cNvPr>
          <p:cNvSpPr/>
          <p:nvPr/>
        </p:nvSpPr>
        <p:spPr>
          <a:xfrm>
            <a:off x="7448702" y="4447066"/>
            <a:ext cx="2743200" cy="923330"/>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a:xfrm>
            <a:off x="663937" y="170395"/>
            <a:ext cx="11095671" cy="1325563"/>
          </a:xfrm>
        </p:spPr>
        <p:txBody>
          <a:bodyPr>
            <a:normAutofit/>
          </a:bodyPr>
          <a:lstStyle/>
          <a:p>
            <a:r>
              <a:rPr lang="en-US" sz="4000" dirty="0" err="1"/>
              <a:t>ArchiCrop</a:t>
            </a:r>
            <a:r>
              <a:rPr lang="en-US" sz="4000" dirty="0"/>
              <a:t>: Constraint-driven Plant Model for cereals</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495957"/>
            <a:ext cx="6431521" cy="5225517"/>
          </a:xfrm>
        </p:spPr>
        <p:txBody>
          <a:bodyPr>
            <a:normAutofit lnSpcReduction="10000"/>
          </a:bodyPr>
          <a:lstStyle/>
          <a:p>
            <a:r>
              <a:rPr lang="en-US" sz="2400" dirty="0"/>
              <a:t>Plant </a:t>
            </a:r>
            <a:r>
              <a:rPr lang="en-US" sz="2400" b="1" dirty="0"/>
              <a:t>3D architecture </a:t>
            </a:r>
            <a:r>
              <a:rPr lang="en-US" sz="2400" dirty="0"/>
              <a:t>and </a:t>
            </a:r>
            <a:r>
              <a:rPr lang="en-US" sz="2400" b="1" dirty="0"/>
              <a:t>development</a:t>
            </a:r>
            <a:r>
              <a:rPr lang="en-US" sz="2400" dirty="0"/>
              <a:t> are defined by </a:t>
            </a:r>
            <a:r>
              <a:rPr lang="en-US" sz="2400" b="1" dirty="0"/>
              <a:t>parameters</a:t>
            </a:r>
            <a:r>
              <a:rPr lang="en-US" sz="2400" dirty="0"/>
              <a:t>.</a:t>
            </a:r>
          </a:p>
          <a:p>
            <a:endParaRPr lang="en-US" sz="2400" dirty="0"/>
          </a:p>
          <a:p>
            <a:r>
              <a:rPr lang="en-US" sz="2400" dirty="0"/>
              <a:t>Known </a:t>
            </a:r>
            <a:r>
              <a:rPr lang="en-US" sz="2400" b="1" dirty="0"/>
              <a:t>allometric laws </a:t>
            </a:r>
            <a:r>
              <a:rPr lang="en-US" sz="2400" dirty="0"/>
              <a:t>for potential plant </a:t>
            </a:r>
            <a:r>
              <a:rPr lang="en-US" sz="2400" dirty="0">
                <a:sym typeface="Wingdings" panose="05000000000000000000" pitchFamily="2" charset="2"/>
              </a:rPr>
              <a:t> Few parameters </a:t>
            </a:r>
            <a:endParaRPr lang="en-US" sz="2400" dirty="0"/>
          </a:p>
          <a:p>
            <a:endParaRPr lang="en-US" sz="2400" dirty="0"/>
          </a:p>
          <a:p>
            <a:pPr marL="0" indent="0">
              <a:buNone/>
            </a:pPr>
            <a:r>
              <a:rPr lang="en-US" sz="2400" dirty="0">
                <a:sym typeface="Wingdings" panose="05000000000000000000" pitchFamily="2" charset="2"/>
              </a:rPr>
              <a:t> </a:t>
            </a:r>
            <a:r>
              <a:rPr lang="en-US" sz="2400" dirty="0"/>
              <a:t>Explore morphological space</a:t>
            </a:r>
          </a:p>
          <a:p>
            <a:endParaRPr lang="en-US" sz="2400" dirty="0"/>
          </a:p>
          <a:p>
            <a:r>
              <a:rPr lang="fr-FR" sz="2400" b="1" dirty="0">
                <a:solidFill>
                  <a:prstClr val="black"/>
                </a:solidFill>
              </a:rPr>
              <a:t>Global </a:t>
            </a:r>
            <a:r>
              <a:rPr lang="fr-FR" sz="2400" b="1" dirty="0" err="1">
                <a:solidFill>
                  <a:prstClr val="black"/>
                </a:solidFill>
              </a:rPr>
              <a:t>growth</a:t>
            </a:r>
            <a:r>
              <a:rPr lang="fr-FR" sz="2400" dirty="0">
                <a:solidFill>
                  <a:prstClr val="black"/>
                </a:solidFill>
              </a:rPr>
              <a:t> </a:t>
            </a:r>
            <a:r>
              <a:rPr lang="fr-FR" sz="2400" dirty="0" err="1">
                <a:solidFill>
                  <a:prstClr val="black"/>
                </a:solidFill>
              </a:rPr>
              <a:t>is</a:t>
            </a:r>
            <a:r>
              <a:rPr lang="fr-FR" sz="2400" dirty="0">
                <a:solidFill>
                  <a:prstClr val="black"/>
                </a:solidFill>
              </a:rPr>
              <a:t> </a:t>
            </a:r>
            <a:r>
              <a:rPr lang="fr-FR" sz="2400" dirty="0" err="1">
                <a:solidFill>
                  <a:prstClr val="black"/>
                </a:solidFill>
              </a:rPr>
              <a:t>constrained</a:t>
            </a:r>
            <a:r>
              <a:rPr lang="fr-FR" sz="2400" dirty="0">
                <a:solidFill>
                  <a:prstClr val="black"/>
                </a:solidFill>
              </a:rPr>
              <a:t> </a:t>
            </a:r>
            <a:r>
              <a:rPr lang="fr-FR" sz="2400" dirty="0" err="1">
                <a:solidFill>
                  <a:prstClr val="black"/>
                </a:solidFill>
              </a:rPr>
              <a:t>from</a:t>
            </a:r>
            <a:r>
              <a:rPr lang="fr-FR" sz="2400" dirty="0">
                <a:solidFill>
                  <a:prstClr val="black"/>
                </a:solidFill>
              </a:rPr>
              <a:t> </a:t>
            </a:r>
            <a:r>
              <a:rPr lang="fr-FR" sz="2400" b="1" dirty="0" err="1">
                <a:solidFill>
                  <a:prstClr val="black"/>
                </a:solidFill>
              </a:rPr>
              <a:t>crop</a:t>
            </a:r>
            <a:r>
              <a:rPr lang="fr-FR" sz="2400" b="1" dirty="0">
                <a:solidFill>
                  <a:prstClr val="black"/>
                </a:solidFill>
              </a:rPr>
              <a:t> model </a:t>
            </a:r>
            <a:r>
              <a:rPr lang="fr-FR" sz="2400" b="1" dirty="0" err="1">
                <a:solidFill>
                  <a:prstClr val="black"/>
                </a:solidFill>
              </a:rPr>
              <a:t>dynamics</a:t>
            </a:r>
            <a:endParaRPr lang="en-US" sz="2400" dirty="0"/>
          </a:p>
          <a:p>
            <a:endParaRPr lang="en-US" sz="2400" dirty="0"/>
          </a:p>
          <a:p>
            <a:pPr>
              <a:buFont typeface="Wingdings" panose="05000000000000000000" pitchFamily="2" charset="2"/>
              <a:buChar char="è"/>
            </a:pPr>
            <a:r>
              <a:rPr lang="en-US" sz="2400" dirty="0">
                <a:sym typeface="Wingdings" panose="05000000000000000000" pitchFamily="2" charset="2"/>
              </a:rPr>
              <a:t> Differential growth for each organ</a:t>
            </a:r>
          </a:p>
          <a:p>
            <a:pPr>
              <a:buFont typeface="Wingdings" panose="05000000000000000000" pitchFamily="2" charset="2"/>
              <a:buChar char="è"/>
            </a:pPr>
            <a:r>
              <a:rPr lang="en-US" sz="2400" dirty="0"/>
              <a:t> Reaction to stresses</a:t>
            </a:r>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19</a:t>
            </a:fld>
            <a:endParaRPr lang="fr-FR"/>
          </a:p>
        </p:txBody>
      </p:sp>
      <p:sp>
        <p:nvSpPr>
          <p:cNvPr id="4" name="TextBox 3">
            <a:extLst>
              <a:ext uri="{FF2B5EF4-FFF2-40B4-BE49-F238E27FC236}">
                <a16:creationId xmlns:a16="http://schemas.microsoft.com/office/drawing/2014/main" id="{2347E33B-A72B-472C-A295-981D6BDE7A32}"/>
              </a:ext>
            </a:extLst>
          </p:cNvPr>
          <p:cNvSpPr txBox="1"/>
          <p:nvPr/>
        </p:nvSpPr>
        <p:spPr>
          <a:xfrm>
            <a:off x="7550305" y="4589499"/>
            <a:ext cx="2597901"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 </a:t>
            </a:r>
            <a:r>
              <a:rPr lang="en-US" dirty="0">
                <a:sym typeface="Wingdings" panose="05000000000000000000" pitchFamily="2" charset="2"/>
              </a:rPr>
              <a:t>Parametric model: do not react to environment</a:t>
            </a:r>
          </a:p>
        </p:txBody>
      </p:sp>
      <p:sp>
        <p:nvSpPr>
          <p:cNvPr id="11" name="Rectangle: Diagonal Corners Snipped 10">
            <a:extLst>
              <a:ext uri="{FF2B5EF4-FFF2-40B4-BE49-F238E27FC236}">
                <a16:creationId xmlns:a16="http://schemas.microsoft.com/office/drawing/2014/main" id="{35A07E2B-B570-4D4A-9D97-A421BC82C7EE}"/>
              </a:ext>
            </a:extLst>
          </p:cNvPr>
          <p:cNvSpPr/>
          <p:nvPr/>
        </p:nvSpPr>
        <p:spPr>
          <a:xfrm>
            <a:off x="7448702" y="1286540"/>
            <a:ext cx="3173224" cy="895296"/>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C4621C9-8171-4BA8-B2F3-6F3DDF1C7231}"/>
              </a:ext>
            </a:extLst>
          </p:cNvPr>
          <p:cNvSpPr txBox="1"/>
          <p:nvPr/>
        </p:nvSpPr>
        <p:spPr>
          <a:xfrm>
            <a:off x="7550305" y="1400938"/>
            <a:ext cx="2986560" cy="646331"/>
          </a:xfrm>
          <a:prstGeom prst="rect">
            <a:avLst/>
          </a:prstGeom>
          <a:noFill/>
          <a:ln>
            <a:no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3D plant architecture emerges from plant processes</a:t>
            </a:r>
          </a:p>
        </p:txBody>
      </p:sp>
      <p:sp>
        <p:nvSpPr>
          <p:cNvPr id="14" name="Rectangle: Diagonal Corners Snipped 13">
            <a:extLst>
              <a:ext uri="{FF2B5EF4-FFF2-40B4-BE49-F238E27FC236}">
                <a16:creationId xmlns:a16="http://schemas.microsoft.com/office/drawing/2014/main" id="{0240F8DD-1ECD-4567-8B0F-8B387BC2D185}"/>
              </a:ext>
            </a:extLst>
          </p:cNvPr>
          <p:cNvSpPr/>
          <p:nvPr/>
        </p:nvSpPr>
        <p:spPr>
          <a:xfrm>
            <a:off x="7448702" y="2573220"/>
            <a:ext cx="1938680" cy="811123"/>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E08CA43-730E-4FF0-A88F-7DE85EC142CA}"/>
              </a:ext>
            </a:extLst>
          </p:cNvPr>
          <p:cNvSpPr txBox="1"/>
          <p:nvPr/>
        </p:nvSpPr>
        <p:spPr>
          <a:xfrm>
            <a:off x="7550304" y="2664370"/>
            <a:ext cx="1757929" cy="646331"/>
          </a:xfrm>
          <a:prstGeom prst="rect">
            <a:avLst/>
          </a:prstGeom>
          <a:noFill/>
          <a:ln>
            <a:noFill/>
          </a:ln>
        </p:spPr>
        <p:txBody>
          <a:bodyPr wrap="square" rtlCol="0">
            <a:spAutoFit/>
          </a:bodyPr>
          <a:lstStyle/>
          <a:p>
            <a:r>
              <a:rPr lang="en-US" dirty="0">
                <a:cs typeface="Arial" panose="020B0604020202020204" pitchFamily="34" charset="0"/>
              </a:rPr>
              <a:t>No need for lots of measures</a:t>
            </a:r>
            <a:endParaRPr lang="en-US" dirty="0"/>
          </a:p>
        </p:txBody>
      </p:sp>
    </p:spTree>
    <p:extLst>
      <p:ext uri="{BB962C8B-B14F-4D97-AF65-F5344CB8AC3E}">
        <p14:creationId xmlns:p14="http://schemas.microsoft.com/office/powerpoint/2010/main" val="14700090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400938"/>
            <a:ext cx="10247860" cy="5320536"/>
          </a:xfrm>
        </p:spPr>
        <p:txBody>
          <a:bodyPr>
            <a:normAutofit/>
          </a:bodyPr>
          <a:lstStyle/>
          <a:p>
            <a:pPr marL="0" indent="0">
              <a:buNone/>
            </a:pPr>
            <a:r>
              <a:rPr lang="en-US" sz="2400" dirty="0"/>
              <a:t>2.1. My hybrid multiscale approach: </a:t>
            </a:r>
          </a:p>
          <a:p>
            <a:pPr marL="0" indent="0">
              <a:buNone/>
            </a:pPr>
            <a:r>
              <a:rPr lang="en-US" sz="2400" dirty="0"/>
              <a:t>Constraint-driven Plant Model for cereals</a:t>
            </a:r>
          </a:p>
          <a:p>
            <a:r>
              <a:rPr lang="en-US" sz="2000" dirty="0"/>
              <a:t>Individual-based approach (inherits from FSPMs) </a:t>
            </a:r>
            <a:r>
              <a:rPr lang="en-US" sz="2000" dirty="0">
                <a:sym typeface="Wingdings" panose="05000000000000000000" pitchFamily="2" charset="2"/>
              </a:rPr>
              <a:t> build stands as replications of individuals</a:t>
            </a:r>
            <a:endParaRPr lang="en-US" sz="2000" dirty="0"/>
          </a:p>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en-US" sz="2000" dirty="0"/>
          </a:p>
          <a:p>
            <a:pPr marL="0" indent="0">
              <a:buNone/>
            </a:pPr>
            <a:r>
              <a:rPr lang="en-US" sz="2000" dirty="0">
                <a:sym typeface="Wingdings" panose="05000000000000000000" pitchFamily="2" charset="2"/>
              </a:rPr>
              <a:t> </a:t>
            </a:r>
            <a:r>
              <a:rPr lang="en-US" sz="2000" dirty="0"/>
              <a:t>Explore morphological space of degrees of freedom</a:t>
            </a:r>
          </a:p>
          <a:p>
            <a:pPr>
              <a:buFont typeface="Wingdings" panose="05000000000000000000" pitchFamily="2" charset="2"/>
              <a:buChar char="è"/>
            </a:pPr>
            <a:r>
              <a:rPr lang="en-US" sz="2000" dirty="0">
                <a:sym typeface="Wingdings" panose="05000000000000000000" pitchFamily="2" charset="2"/>
              </a:rPr>
              <a:t> Differential growth for each organ</a:t>
            </a:r>
          </a:p>
          <a:p>
            <a:pPr>
              <a:buFont typeface="Wingdings" panose="05000000000000000000" pitchFamily="2" charset="2"/>
              <a:buChar char="è"/>
            </a:pPr>
            <a:r>
              <a:rPr lang="en-US" sz="2000" dirty="0"/>
              <a:t> Reaction to stresses</a:t>
            </a:r>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20</a:t>
            </a:fld>
            <a:endParaRPr lang="fr-FR"/>
          </a:p>
        </p:txBody>
      </p:sp>
      <p:sp>
        <p:nvSpPr>
          <p:cNvPr id="16" name="Title 1">
            <a:extLst>
              <a:ext uri="{FF2B5EF4-FFF2-40B4-BE49-F238E27FC236}">
                <a16:creationId xmlns:a16="http://schemas.microsoft.com/office/drawing/2014/main" id="{F1A6D283-44DF-4BAB-9012-81B43F6BC3CE}"/>
              </a:ext>
            </a:extLst>
          </p:cNvPr>
          <p:cNvSpPr txBox="1">
            <a:spLocks/>
          </p:cNvSpPr>
          <p:nvPr/>
        </p:nvSpPr>
        <p:spPr>
          <a:xfrm>
            <a:off x="838200" y="14286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2.Model</a:t>
            </a:r>
            <a:endParaRPr lang="en-US" dirty="0"/>
          </a:p>
        </p:txBody>
      </p:sp>
    </p:spTree>
    <p:extLst>
      <p:ext uri="{BB962C8B-B14F-4D97-AF65-F5344CB8AC3E}">
        <p14:creationId xmlns:p14="http://schemas.microsoft.com/office/powerpoint/2010/main" val="11595393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Diagonal Corners Snipped 12">
            <a:extLst>
              <a:ext uri="{FF2B5EF4-FFF2-40B4-BE49-F238E27FC236}">
                <a16:creationId xmlns:a16="http://schemas.microsoft.com/office/drawing/2014/main" id="{DA61EBFD-78FC-4C55-95D9-8ABB5C343957}"/>
              </a:ext>
            </a:extLst>
          </p:cNvPr>
          <p:cNvSpPr/>
          <p:nvPr/>
        </p:nvSpPr>
        <p:spPr>
          <a:xfrm>
            <a:off x="7448702" y="4361934"/>
            <a:ext cx="2743200" cy="923330"/>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411696"/>
            <a:ext cx="6431521" cy="5320536"/>
          </a:xfrm>
        </p:spPr>
        <p:txBody>
          <a:bodyPr>
            <a:normAutofit/>
          </a:bodyPr>
          <a:lstStyle/>
          <a:p>
            <a:pPr marL="0" indent="0">
              <a:buNone/>
            </a:pPr>
            <a:r>
              <a:rPr lang="en-US" sz="2400" dirty="0"/>
              <a:t>4.1. Positioning of my hybrid multiscale approach: </a:t>
            </a:r>
          </a:p>
          <a:p>
            <a:pPr marL="0" indent="0">
              <a:buNone/>
            </a:pPr>
            <a:r>
              <a:rPr lang="en-US" sz="2400" dirty="0"/>
              <a:t>Constraint-driven Plant Model for cereals</a:t>
            </a:r>
          </a:p>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endParaRPr lang="en-US" sz="2000" dirty="0"/>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en-US" sz="2000" dirty="0"/>
          </a:p>
          <a:p>
            <a:pPr marL="0" indent="0">
              <a:buNone/>
            </a:pP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en-US" sz="2000" dirty="0"/>
          </a:p>
          <a:p>
            <a:pPr marL="0" indent="0">
              <a:buNone/>
            </a:pPr>
            <a:r>
              <a:rPr lang="en-US" sz="2000" dirty="0">
                <a:sym typeface="Wingdings" panose="05000000000000000000" pitchFamily="2" charset="2"/>
              </a:rPr>
              <a:t> </a:t>
            </a:r>
            <a:r>
              <a:rPr lang="en-US" sz="2000" dirty="0"/>
              <a:t>Explore morphological space of degrees of freedom</a:t>
            </a:r>
          </a:p>
          <a:p>
            <a:pPr>
              <a:buFont typeface="Wingdings" panose="05000000000000000000" pitchFamily="2" charset="2"/>
              <a:buChar char="è"/>
            </a:pPr>
            <a:r>
              <a:rPr lang="en-US" sz="2000" dirty="0">
                <a:sym typeface="Wingdings" panose="05000000000000000000" pitchFamily="2" charset="2"/>
              </a:rPr>
              <a:t> Differential growth for each organ</a:t>
            </a:r>
          </a:p>
          <a:p>
            <a:pPr>
              <a:buFont typeface="Wingdings" panose="05000000000000000000" pitchFamily="2" charset="2"/>
              <a:buChar char="è"/>
            </a:pPr>
            <a:r>
              <a:rPr lang="en-US" sz="2000" dirty="0"/>
              <a:t> Reaction to stresses</a:t>
            </a:r>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21</a:t>
            </a:fld>
            <a:endParaRPr lang="fr-FR"/>
          </a:p>
        </p:txBody>
      </p:sp>
      <p:sp>
        <p:nvSpPr>
          <p:cNvPr id="4" name="TextBox 3">
            <a:extLst>
              <a:ext uri="{FF2B5EF4-FFF2-40B4-BE49-F238E27FC236}">
                <a16:creationId xmlns:a16="http://schemas.microsoft.com/office/drawing/2014/main" id="{2347E33B-A72B-472C-A295-981D6BDE7A32}"/>
              </a:ext>
            </a:extLst>
          </p:cNvPr>
          <p:cNvSpPr txBox="1"/>
          <p:nvPr/>
        </p:nvSpPr>
        <p:spPr>
          <a:xfrm>
            <a:off x="7550305" y="4504367"/>
            <a:ext cx="2597901"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 </a:t>
            </a:r>
            <a:r>
              <a:rPr lang="en-US" dirty="0">
                <a:sym typeface="Wingdings" panose="05000000000000000000" pitchFamily="2" charset="2"/>
              </a:rPr>
              <a:t>Parametric model: do not react to environment</a:t>
            </a:r>
          </a:p>
        </p:txBody>
      </p:sp>
      <p:sp>
        <p:nvSpPr>
          <p:cNvPr id="11" name="Rectangle: Diagonal Corners Snipped 10">
            <a:extLst>
              <a:ext uri="{FF2B5EF4-FFF2-40B4-BE49-F238E27FC236}">
                <a16:creationId xmlns:a16="http://schemas.microsoft.com/office/drawing/2014/main" id="{35A07E2B-B570-4D4A-9D97-A421BC82C7EE}"/>
              </a:ext>
            </a:extLst>
          </p:cNvPr>
          <p:cNvSpPr/>
          <p:nvPr/>
        </p:nvSpPr>
        <p:spPr>
          <a:xfrm>
            <a:off x="7448702" y="2074353"/>
            <a:ext cx="3173224" cy="895296"/>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C4621C9-8171-4BA8-B2F3-6F3DDF1C7231}"/>
              </a:ext>
            </a:extLst>
          </p:cNvPr>
          <p:cNvSpPr txBox="1"/>
          <p:nvPr/>
        </p:nvSpPr>
        <p:spPr>
          <a:xfrm>
            <a:off x="7550305" y="2188751"/>
            <a:ext cx="2986560" cy="646331"/>
          </a:xfrm>
          <a:prstGeom prst="rect">
            <a:avLst/>
          </a:prstGeom>
          <a:noFill/>
          <a:ln>
            <a:no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3D plant architecture emerges from plant processes</a:t>
            </a:r>
          </a:p>
        </p:txBody>
      </p:sp>
      <p:sp>
        <p:nvSpPr>
          <p:cNvPr id="14" name="Rectangle: Diagonal Corners Snipped 13">
            <a:extLst>
              <a:ext uri="{FF2B5EF4-FFF2-40B4-BE49-F238E27FC236}">
                <a16:creationId xmlns:a16="http://schemas.microsoft.com/office/drawing/2014/main" id="{0240F8DD-1ECD-4567-8B0F-8B387BC2D185}"/>
              </a:ext>
            </a:extLst>
          </p:cNvPr>
          <p:cNvSpPr/>
          <p:nvPr/>
        </p:nvSpPr>
        <p:spPr>
          <a:xfrm>
            <a:off x="7448702" y="3285727"/>
            <a:ext cx="1938680" cy="811123"/>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E08CA43-730E-4FF0-A88F-7DE85EC142CA}"/>
              </a:ext>
            </a:extLst>
          </p:cNvPr>
          <p:cNvSpPr txBox="1"/>
          <p:nvPr/>
        </p:nvSpPr>
        <p:spPr>
          <a:xfrm>
            <a:off x="7550304" y="3376877"/>
            <a:ext cx="1757929" cy="646331"/>
          </a:xfrm>
          <a:prstGeom prst="rect">
            <a:avLst/>
          </a:prstGeom>
          <a:noFill/>
          <a:ln>
            <a:noFill/>
          </a:ln>
        </p:spPr>
        <p:txBody>
          <a:bodyPr wrap="square" rtlCol="0">
            <a:spAutoFit/>
          </a:bodyPr>
          <a:lstStyle/>
          <a:p>
            <a:r>
              <a:rPr lang="en-US" dirty="0">
                <a:cs typeface="Arial" panose="020B0604020202020204" pitchFamily="34" charset="0"/>
              </a:rPr>
              <a:t>No need for lots of measures</a:t>
            </a:r>
            <a:endParaRPr lang="en-US" dirty="0"/>
          </a:p>
        </p:txBody>
      </p:sp>
      <p:sp>
        <p:nvSpPr>
          <p:cNvPr id="12" name="Title 1">
            <a:extLst>
              <a:ext uri="{FF2B5EF4-FFF2-40B4-BE49-F238E27FC236}">
                <a16:creationId xmlns:a16="http://schemas.microsoft.com/office/drawing/2014/main" id="{DE985EC3-5698-4F0C-9AB0-C131A715B5CA}"/>
              </a:ext>
            </a:extLst>
          </p:cNvPr>
          <p:cNvSpPr>
            <a:spLocks noGrp="1"/>
          </p:cNvSpPr>
          <p:nvPr>
            <p:ph type="title"/>
          </p:nvPr>
        </p:nvSpPr>
        <p:spPr>
          <a:xfrm>
            <a:off x="838200" y="365125"/>
            <a:ext cx="10515600" cy="1325563"/>
          </a:xfrm>
        </p:spPr>
        <p:txBody>
          <a:bodyPr/>
          <a:lstStyle/>
          <a:p>
            <a:r>
              <a:rPr lang="en-US" dirty="0"/>
              <a:t>4.Discussion</a:t>
            </a:r>
          </a:p>
        </p:txBody>
      </p:sp>
    </p:spTree>
    <p:extLst>
      <p:ext uri="{BB962C8B-B14F-4D97-AF65-F5344CB8AC3E}">
        <p14:creationId xmlns:p14="http://schemas.microsoft.com/office/powerpoint/2010/main" val="1352465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F8112BF4-01F0-4888-85F4-1108B60C3132}"/>
              </a:ext>
            </a:extLst>
          </p:cNvPr>
          <p:cNvGrpSpPr/>
          <p:nvPr/>
        </p:nvGrpSpPr>
        <p:grpSpPr>
          <a:xfrm>
            <a:off x="10633" y="1784340"/>
            <a:ext cx="7238374" cy="4354190"/>
            <a:chOff x="284338" y="1573509"/>
            <a:chExt cx="7687058" cy="4624092"/>
          </a:xfrm>
        </p:grpSpPr>
        <p:grpSp>
          <p:nvGrpSpPr>
            <p:cNvPr id="58" name="Group 57">
              <a:extLst>
                <a:ext uri="{FF2B5EF4-FFF2-40B4-BE49-F238E27FC236}">
                  <a16:creationId xmlns:a16="http://schemas.microsoft.com/office/drawing/2014/main" id="{9C7AB40C-38BA-40A1-9200-8DA864D79784}"/>
                </a:ext>
              </a:extLst>
            </p:cNvPr>
            <p:cNvGrpSpPr/>
            <p:nvPr/>
          </p:nvGrpSpPr>
          <p:grpSpPr>
            <a:xfrm>
              <a:off x="284338" y="1573509"/>
              <a:ext cx="7687058" cy="4624092"/>
              <a:chOff x="1322452" y="557508"/>
              <a:chExt cx="9547095" cy="5742983"/>
            </a:xfrm>
          </p:grpSpPr>
          <p:pic>
            <p:nvPicPr>
              <p:cNvPr id="56" name="Picture 55">
                <a:extLst>
                  <a:ext uri="{FF2B5EF4-FFF2-40B4-BE49-F238E27FC236}">
                    <a16:creationId xmlns:a16="http://schemas.microsoft.com/office/drawing/2014/main" id="{67FFC6DA-CD13-4141-97A6-9AC3F8EB90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2452" y="557508"/>
                <a:ext cx="9547095" cy="5742983"/>
              </a:xfrm>
              <a:prstGeom prst="rect">
                <a:avLst/>
              </a:prstGeom>
            </p:spPr>
          </p:pic>
          <p:sp>
            <p:nvSpPr>
              <p:cNvPr id="53" name="Arc 52">
                <a:extLst>
                  <a:ext uri="{FF2B5EF4-FFF2-40B4-BE49-F238E27FC236}">
                    <a16:creationId xmlns:a16="http://schemas.microsoft.com/office/drawing/2014/main" id="{B1DD5B7C-0C69-439A-BF46-9C40F91B33FA}"/>
                  </a:ext>
                </a:extLst>
              </p:cNvPr>
              <p:cNvSpPr/>
              <p:nvPr/>
            </p:nvSpPr>
            <p:spPr>
              <a:xfrm rot="1547670">
                <a:off x="3193839" y="1173367"/>
                <a:ext cx="711622" cy="705376"/>
              </a:xfrm>
              <a:prstGeom prst="arc">
                <a:avLst>
                  <a:gd name="adj1" fmla="val 10822091"/>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4" name="Arc 53">
                <a:extLst>
                  <a:ext uri="{FF2B5EF4-FFF2-40B4-BE49-F238E27FC236}">
                    <a16:creationId xmlns:a16="http://schemas.microsoft.com/office/drawing/2014/main" id="{7F2923D8-38EA-47CA-8D80-7508E12C2F1D}"/>
                  </a:ext>
                </a:extLst>
              </p:cNvPr>
              <p:cNvSpPr/>
              <p:nvPr/>
            </p:nvSpPr>
            <p:spPr>
              <a:xfrm rot="21405153">
                <a:off x="6964755" y="1196634"/>
                <a:ext cx="1497861" cy="1036037"/>
              </a:xfrm>
              <a:prstGeom prst="arc">
                <a:avLst>
                  <a:gd name="adj1" fmla="val 13046312"/>
                  <a:gd name="adj2" fmla="val 1815059"/>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7" name="Arc 56">
                <a:extLst>
                  <a:ext uri="{FF2B5EF4-FFF2-40B4-BE49-F238E27FC236}">
                    <a16:creationId xmlns:a16="http://schemas.microsoft.com/office/drawing/2014/main" id="{A45E4550-B420-4310-84AE-0D1E91CEC20F}"/>
                  </a:ext>
                </a:extLst>
              </p:cNvPr>
              <p:cNvSpPr/>
              <p:nvPr/>
            </p:nvSpPr>
            <p:spPr>
              <a:xfrm rot="18460393">
                <a:off x="6341019" y="2009234"/>
                <a:ext cx="711622" cy="705376"/>
              </a:xfrm>
              <a:prstGeom prst="arc">
                <a:avLst>
                  <a:gd name="adj1" fmla="val 18836553"/>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grpSp>
        <p:sp>
          <p:nvSpPr>
            <p:cNvPr id="63" name="TextBox 62">
              <a:extLst>
                <a:ext uri="{FF2B5EF4-FFF2-40B4-BE49-F238E27FC236}">
                  <a16:creationId xmlns:a16="http://schemas.microsoft.com/office/drawing/2014/main" id="{49BB9700-67E7-44CF-B282-F4D3FEB1836A}"/>
                </a:ext>
              </a:extLst>
            </p:cNvPr>
            <p:cNvSpPr txBox="1"/>
            <p:nvPr/>
          </p:nvSpPr>
          <p:spPr>
            <a:xfrm>
              <a:off x="4650999" y="3634636"/>
              <a:ext cx="1558767" cy="400110"/>
            </a:xfrm>
            <a:prstGeom prst="rect">
              <a:avLst/>
            </a:prstGeom>
            <a:noFill/>
          </p:spPr>
          <p:txBody>
            <a:bodyPr wrap="square" rtlCol="0">
              <a:spAutoFit/>
            </a:bodyPr>
            <a:lstStyle/>
            <a:p>
              <a:r>
                <a:rPr lang="en-US" sz="2000" b="1" dirty="0"/>
                <a:t>Internode</a:t>
              </a:r>
            </a:p>
          </p:txBody>
        </p:sp>
        <p:sp>
          <p:nvSpPr>
            <p:cNvPr id="64" name="TextBox 63">
              <a:extLst>
                <a:ext uri="{FF2B5EF4-FFF2-40B4-BE49-F238E27FC236}">
                  <a16:creationId xmlns:a16="http://schemas.microsoft.com/office/drawing/2014/main" id="{F87AC5A8-789F-4194-9CA3-128B861497D3}"/>
                </a:ext>
              </a:extLst>
            </p:cNvPr>
            <p:cNvSpPr txBox="1"/>
            <p:nvPr/>
          </p:nvSpPr>
          <p:spPr>
            <a:xfrm>
              <a:off x="5968994" y="2784283"/>
              <a:ext cx="770594" cy="400110"/>
            </a:xfrm>
            <a:prstGeom prst="rect">
              <a:avLst/>
            </a:prstGeom>
            <a:noFill/>
          </p:spPr>
          <p:txBody>
            <a:bodyPr wrap="square" rtlCol="0">
              <a:spAutoFit/>
            </a:bodyPr>
            <a:lstStyle/>
            <a:p>
              <a:r>
                <a:rPr lang="en-US" sz="2000" b="1" dirty="0"/>
                <a:t>Leaf</a:t>
              </a:r>
            </a:p>
          </p:txBody>
        </p:sp>
      </p:grpSp>
      <p:sp>
        <p:nvSpPr>
          <p:cNvPr id="5" name="TextBox 4">
            <a:extLst>
              <a:ext uri="{FF2B5EF4-FFF2-40B4-BE49-F238E27FC236}">
                <a16:creationId xmlns:a16="http://schemas.microsoft.com/office/drawing/2014/main" id="{AF56306C-141C-4FC9-9D3C-7874F45E2C95}"/>
              </a:ext>
            </a:extLst>
          </p:cNvPr>
          <p:cNvSpPr txBox="1"/>
          <p:nvPr/>
        </p:nvSpPr>
        <p:spPr>
          <a:xfrm>
            <a:off x="1919941" y="6026732"/>
            <a:ext cx="3577788" cy="461665"/>
          </a:xfrm>
          <a:prstGeom prst="rect">
            <a:avLst/>
          </a:prstGeom>
          <a:noFill/>
        </p:spPr>
        <p:txBody>
          <a:bodyPr wrap="square" rtlCol="0">
            <a:spAutoFit/>
          </a:bodyPr>
          <a:lstStyle/>
          <a:p>
            <a:r>
              <a:rPr lang="en-US" sz="2400" b="1" dirty="0"/>
              <a:t>Geometrical parameters</a:t>
            </a:r>
          </a:p>
        </p:txBody>
      </p:sp>
      <p:sp>
        <p:nvSpPr>
          <p:cNvPr id="59" name="TextBox 58">
            <a:extLst>
              <a:ext uri="{FF2B5EF4-FFF2-40B4-BE49-F238E27FC236}">
                <a16:creationId xmlns:a16="http://schemas.microsoft.com/office/drawing/2014/main" id="{CD853A12-D3E8-4564-BA10-F3AD62F7A010}"/>
              </a:ext>
            </a:extLst>
          </p:cNvPr>
          <p:cNvSpPr txBox="1"/>
          <p:nvPr/>
        </p:nvSpPr>
        <p:spPr>
          <a:xfrm>
            <a:off x="7215599" y="6026731"/>
            <a:ext cx="3744023" cy="461665"/>
          </a:xfrm>
          <a:prstGeom prst="rect">
            <a:avLst/>
          </a:prstGeom>
          <a:noFill/>
        </p:spPr>
        <p:txBody>
          <a:bodyPr wrap="square" rtlCol="0">
            <a:spAutoFit/>
          </a:bodyPr>
          <a:lstStyle/>
          <a:p>
            <a:r>
              <a:rPr lang="en-US" sz="2400" b="1" dirty="0"/>
              <a:t>Developmental parameters</a:t>
            </a:r>
          </a:p>
        </p:txBody>
      </p:sp>
      <p:grpSp>
        <p:nvGrpSpPr>
          <p:cNvPr id="102" name="Group 101">
            <a:extLst>
              <a:ext uri="{FF2B5EF4-FFF2-40B4-BE49-F238E27FC236}">
                <a16:creationId xmlns:a16="http://schemas.microsoft.com/office/drawing/2014/main" id="{8B7FDA25-F044-427F-BB53-98AFAE5554D2}"/>
              </a:ext>
            </a:extLst>
          </p:cNvPr>
          <p:cNvGrpSpPr/>
          <p:nvPr/>
        </p:nvGrpSpPr>
        <p:grpSpPr>
          <a:xfrm>
            <a:off x="6576785" y="1568134"/>
            <a:ext cx="5530323" cy="3953855"/>
            <a:chOff x="6566152" y="1897752"/>
            <a:chExt cx="5530323" cy="3953855"/>
          </a:xfrm>
        </p:grpSpPr>
        <p:sp>
          <p:nvSpPr>
            <p:cNvPr id="100" name="Rectangle 99">
              <a:extLst>
                <a:ext uri="{FF2B5EF4-FFF2-40B4-BE49-F238E27FC236}">
                  <a16:creationId xmlns:a16="http://schemas.microsoft.com/office/drawing/2014/main" id="{31A70A81-10B2-44F2-A72E-5217DD97395F}"/>
                </a:ext>
              </a:extLst>
            </p:cNvPr>
            <p:cNvSpPr/>
            <p:nvPr/>
          </p:nvSpPr>
          <p:spPr>
            <a:xfrm>
              <a:off x="6590034" y="2248693"/>
              <a:ext cx="5308401" cy="1126847"/>
            </a:xfrm>
            <a:prstGeom prst="rect">
              <a:avLst/>
            </a:prstGeom>
            <a:solidFill>
              <a:schemeClr val="bg1">
                <a:alpha val="50196"/>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1030" name="Picture 6">
              <a:extLst>
                <a:ext uri="{FF2B5EF4-FFF2-40B4-BE49-F238E27FC236}">
                  <a16:creationId xmlns:a16="http://schemas.microsoft.com/office/drawing/2014/main" id="{D1766623-D4B8-497A-B975-F543CA9B222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6156" b="7118"/>
            <a:stretch/>
          </p:blipFill>
          <p:spPr bwMode="auto">
            <a:xfrm>
              <a:off x="6928960" y="3836073"/>
              <a:ext cx="4800115" cy="2015534"/>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64">
              <a:extLst>
                <a:ext uri="{FF2B5EF4-FFF2-40B4-BE49-F238E27FC236}">
                  <a16:creationId xmlns:a16="http://schemas.microsoft.com/office/drawing/2014/main" id="{53A313EA-10B4-40D4-B8F4-7A38F20DA1FB}"/>
                </a:ext>
              </a:extLst>
            </p:cNvPr>
            <p:cNvPicPr>
              <a:picLocks noChangeAspect="1"/>
            </p:cNvPicPr>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98260" y="2630421"/>
              <a:ext cx="382932" cy="716289"/>
            </a:xfrm>
            <a:prstGeom prst="rect">
              <a:avLst/>
            </a:prstGeom>
          </p:spPr>
        </p:pic>
        <p:pic>
          <p:nvPicPr>
            <p:cNvPr id="83" name="Picture 82">
              <a:extLst>
                <a:ext uri="{FF2B5EF4-FFF2-40B4-BE49-F238E27FC236}">
                  <a16:creationId xmlns:a16="http://schemas.microsoft.com/office/drawing/2014/main" id="{7286BDC8-88C7-4E73-9638-A5151D0A18BD}"/>
                </a:ext>
              </a:extLst>
            </p:cNvPr>
            <p:cNvPicPr>
              <a:picLocks noChangeAspect="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829003" y="2276724"/>
              <a:ext cx="757025" cy="1098816"/>
            </a:xfrm>
            <a:prstGeom prst="rect">
              <a:avLst/>
            </a:prstGeom>
          </p:spPr>
        </p:pic>
        <p:pic>
          <p:nvPicPr>
            <p:cNvPr id="85" name="Picture 84">
              <a:extLst>
                <a:ext uri="{FF2B5EF4-FFF2-40B4-BE49-F238E27FC236}">
                  <a16:creationId xmlns:a16="http://schemas.microsoft.com/office/drawing/2014/main" id="{26DDF8B0-7521-425F-8143-F41F6D0D3F78}"/>
                </a:ext>
              </a:extLst>
            </p:cNvPr>
            <p:cNvPicPr>
              <a:picLocks noChangeAspect="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142978" y="2248693"/>
              <a:ext cx="1218724" cy="1197280"/>
            </a:xfrm>
            <a:prstGeom prst="rect">
              <a:avLst/>
            </a:prstGeom>
          </p:spPr>
        </p:pic>
        <p:pic>
          <p:nvPicPr>
            <p:cNvPr id="87" name="Picture 86">
              <a:extLst>
                <a:ext uri="{FF2B5EF4-FFF2-40B4-BE49-F238E27FC236}">
                  <a16:creationId xmlns:a16="http://schemas.microsoft.com/office/drawing/2014/main" id="{EF5BA700-E977-46A0-B38C-6D68882F81CF}"/>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722714" y="2163815"/>
              <a:ext cx="1727081" cy="1282298"/>
            </a:xfrm>
            <a:prstGeom prst="rect">
              <a:avLst/>
            </a:prstGeom>
          </p:spPr>
        </p:pic>
        <p:pic>
          <p:nvPicPr>
            <p:cNvPr id="89" name="Picture 88">
              <a:extLst>
                <a:ext uri="{FF2B5EF4-FFF2-40B4-BE49-F238E27FC236}">
                  <a16:creationId xmlns:a16="http://schemas.microsoft.com/office/drawing/2014/main" id="{47197680-28B6-4425-AC7F-15A29B7BD4FF}"/>
                </a:ext>
              </a:extLst>
            </p:cNvPr>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705481" y="2183099"/>
              <a:ext cx="1837622" cy="1282297"/>
            </a:xfrm>
            <a:prstGeom prst="rect">
              <a:avLst/>
            </a:prstGeom>
          </p:spPr>
        </p:pic>
        <p:pic>
          <p:nvPicPr>
            <p:cNvPr id="91" name="Picture 90">
              <a:extLst>
                <a:ext uri="{FF2B5EF4-FFF2-40B4-BE49-F238E27FC236}">
                  <a16:creationId xmlns:a16="http://schemas.microsoft.com/office/drawing/2014/main" id="{14D10203-22C9-4DE6-A207-7D0ED26F49D5}"/>
                </a:ext>
              </a:extLst>
            </p:cNvPr>
            <p:cNvPicPr>
              <a:picLocks noChangeAspect="1"/>
            </p:cNvPicPr>
            <p:nvPr/>
          </p:nvPicPr>
          <p:blipFill>
            <a:blip r:embed="rId10">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074391" y="2208499"/>
              <a:ext cx="2022084" cy="1376140"/>
            </a:xfrm>
            <a:prstGeom prst="rect">
              <a:avLst/>
            </a:prstGeom>
          </p:spPr>
        </p:pic>
        <p:cxnSp>
          <p:nvCxnSpPr>
            <p:cNvPr id="93" name="Straight Connector 92">
              <a:extLst>
                <a:ext uri="{FF2B5EF4-FFF2-40B4-BE49-F238E27FC236}">
                  <a16:creationId xmlns:a16="http://schemas.microsoft.com/office/drawing/2014/main" id="{647F4BB9-DE09-4CCE-A357-F34C89E7F1FD}"/>
                </a:ext>
              </a:extLst>
            </p:cNvPr>
            <p:cNvCxnSpPr>
              <a:cxnSpLocks/>
            </p:cNvCxnSpPr>
            <p:nvPr/>
          </p:nvCxnSpPr>
          <p:spPr>
            <a:xfrm flipH="1" flipV="1">
              <a:off x="6590034" y="3377693"/>
              <a:ext cx="3126059" cy="801656"/>
            </a:xfrm>
            <a:prstGeom prst="line">
              <a:avLst/>
            </a:prstGeom>
          </p:spPr>
          <p:style>
            <a:lnRef idx="1">
              <a:schemeClr val="dk1"/>
            </a:lnRef>
            <a:fillRef idx="0">
              <a:schemeClr val="dk1"/>
            </a:fillRef>
            <a:effectRef idx="0">
              <a:schemeClr val="dk1"/>
            </a:effectRef>
            <a:fontRef idx="minor">
              <a:schemeClr val="tx1"/>
            </a:fontRef>
          </p:style>
        </p:cxnSp>
        <p:cxnSp>
          <p:nvCxnSpPr>
            <p:cNvPr id="98" name="Straight Connector 97">
              <a:extLst>
                <a:ext uri="{FF2B5EF4-FFF2-40B4-BE49-F238E27FC236}">
                  <a16:creationId xmlns:a16="http://schemas.microsoft.com/office/drawing/2014/main" id="{C9357EC1-4117-483B-B299-47E8B37A8444}"/>
                </a:ext>
              </a:extLst>
            </p:cNvPr>
            <p:cNvCxnSpPr>
              <a:cxnSpLocks/>
            </p:cNvCxnSpPr>
            <p:nvPr/>
          </p:nvCxnSpPr>
          <p:spPr>
            <a:xfrm flipH="1">
              <a:off x="11050321" y="3375540"/>
              <a:ext cx="848114" cy="770857"/>
            </a:xfrm>
            <a:prstGeom prst="line">
              <a:avLst/>
            </a:prstGeom>
          </p:spPr>
          <p:style>
            <a:lnRef idx="1">
              <a:schemeClr val="dk1"/>
            </a:lnRef>
            <a:fillRef idx="0">
              <a:schemeClr val="dk1"/>
            </a:fillRef>
            <a:effectRef idx="0">
              <a:schemeClr val="dk1"/>
            </a:effectRef>
            <a:fontRef idx="minor">
              <a:schemeClr val="tx1"/>
            </a:fontRef>
          </p:style>
        </p:cxnSp>
        <p:sp>
          <p:nvSpPr>
            <p:cNvPr id="105" name="TextBox 104">
              <a:extLst>
                <a:ext uri="{FF2B5EF4-FFF2-40B4-BE49-F238E27FC236}">
                  <a16:creationId xmlns:a16="http://schemas.microsoft.com/office/drawing/2014/main" id="{DA4FDC0A-A2EB-41B3-A158-A97862ED4708}"/>
                </a:ext>
              </a:extLst>
            </p:cNvPr>
            <p:cNvSpPr txBox="1"/>
            <p:nvPr/>
          </p:nvSpPr>
          <p:spPr>
            <a:xfrm>
              <a:off x="6566152" y="1897752"/>
              <a:ext cx="1632111" cy="400110"/>
            </a:xfrm>
            <a:prstGeom prst="rect">
              <a:avLst/>
            </a:prstGeom>
            <a:noFill/>
          </p:spPr>
          <p:txBody>
            <a:bodyPr wrap="square" rtlCol="0">
              <a:spAutoFit/>
            </a:bodyPr>
            <a:lstStyle/>
            <a:p>
              <a:r>
                <a:rPr lang="en-US" sz="2000" b="1" dirty="0"/>
                <a:t>Growing leaf</a:t>
              </a:r>
            </a:p>
          </p:txBody>
        </p:sp>
      </p:grpSp>
      <p:sp>
        <p:nvSpPr>
          <p:cNvPr id="107" name="TextBox 106">
            <a:extLst>
              <a:ext uri="{FF2B5EF4-FFF2-40B4-BE49-F238E27FC236}">
                <a16:creationId xmlns:a16="http://schemas.microsoft.com/office/drawing/2014/main" id="{1A67419D-1184-4560-8EBE-E7221D41491E}"/>
              </a:ext>
            </a:extLst>
          </p:cNvPr>
          <p:cNvSpPr txBox="1"/>
          <p:nvPr/>
        </p:nvSpPr>
        <p:spPr>
          <a:xfrm>
            <a:off x="3082991" y="1553438"/>
            <a:ext cx="1467784" cy="400110"/>
          </a:xfrm>
          <a:prstGeom prst="rect">
            <a:avLst/>
          </a:prstGeom>
          <a:noFill/>
        </p:spPr>
        <p:txBody>
          <a:bodyPr wrap="square" rtlCol="0">
            <a:spAutoFit/>
          </a:bodyPr>
          <a:lstStyle/>
          <a:p>
            <a:r>
              <a:rPr lang="en-US" sz="2000" b="1" dirty="0" err="1"/>
              <a:t>Phytomer</a:t>
            </a:r>
            <a:endParaRPr lang="en-US" sz="2000" b="1" dirty="0"/>
          </a:p>
        </p:txBody>
      </p:sp>
      <p:sp>
        <p:nvSpPr>
          <p:cNvPr id="25" name="Title 1">
            <a:extLst>
              <a:ext uri="{FF2B5EF4-FFF2-40B4-BE49-F238E27FC236}">
                <a16:creationId xmlns:a16="http://schemas.microsoft.com/office/drawing/2014/main" id="{243A8CF8-B841-4366-82DA-187EFFCB28F8}"/>
              </a:ext>
            </a:extLst>
          </p:cNvPr>
          <p:cNvSpPr>
            <a:spLocks noGrp="1"/>
          </p:cNvSpPr>
          <p:nvPr>
            <p:ph type="title"/>
          </p:nvPr>
        </p:nvSpPr>
        <p:spPr>
          <a:xfrm>
            <a:off x="523294" y="138767"/>
            <a:ext cx="10981134" cy="1268735"/>
          </a:xfrm>
        </p:spPr>
        <p:txBody>
          <a:bodyPr>
            <a:normAutofit fontScale="90000"/>
          </a:bodyPr>
          <a:lstStyle/>
          <a:p>
            <a:r>
              <a:rPr lang="en-US" dirty="0"/>
              <a:t>Potential plant architecture and development are defined by parameters.</a:t>
            </a:r>
          </a:p>
        </p:txBody>
      </p:sp>
      <p:sp>
        <p:nvSpPr>
          <p:cNvPr id="27" name="TextBox 26">
            <a:extLst>
              <a:ext uri="{FF2B5EF4-FFF2-40B4-BE49-F238E27FC236}">
                <a16:creationId xmlns:a16="http://schemas.microsoft.com/office/drawing/2014/main" id="{FD33959B-6EAB-46CC-A6A0-ECE76551C7E8}"/>
              </a:ext>
            </a:extLst>
          </p:cNvPr>
          <p:cNvSpPr txBox="1"/>
          <p:nvPr/>
        </p:nvSpPr>
        <p:spPr>
          <a:xfrm>
            <a:off x="98980" y="2451887"/>
            <a:ext cx="1467784" cy="707886"/>
          </a:xfrm>
          <a:prstGeom prst="rect">
            <a:avLst/>
          </a:prstGeom>
          <a:noFill/>
        </p:spPr>
        <p:txBody>
          <a:bodyPr wrap="square" rtlCol="0">
            <a:spAutoFit/>
          </a:bodyPr>
          <a:lstStyle/>
          <a:p>
            <a:r>
              <a:rPr lang="en-US" sz="2000" b="1" dirty="0"/>
              <a:t>Plant</a:t>
            </a:r>
          </a:p>
          <a:p>
            <a:r>
              <a:rPr lang="en-US" sz="2000" b="1" dirty="0"/>
              <a:t>architecture</a:t>
            </a:r>
          </a:p>
        </p:txBody>
      </p:sp>
      <p:sp>
        <p:nvSpPr>
          <p:cNvPr id="2" name="Slide Number Placeholder 1">
            <a:extLst>
              <a:ext uri="{FF2B5EF4-FFF2-40B4-BE49-F238E27FC236}">
                <a16:creationId xmlns:a16="http://schemas.microsoft.com/office/drawing/2014/main" id="{049EC86E-C088-49B7-BEE8-AEB9195C7614}"/>
              </a:ext>
            </a:extLst>
          </p:cNvPr>
          <p:cNvSpPr>
            <a:spLocks noGrp="1"/>
          </p:cNvSpPr>
          <p:nvPr>
            <p:ph type="sldNum" sz="quarter" idx="12"/>
          </p:nvPr>
        </p:nvSpPr>
        <p:spPr/>
        <p:txBody>
          <a:bodyPr/>
          <a:lstStyle/>
          <a:p>
            <a:fld id="{27C6CCC6-2BE5-4E42-96A4-D1E8E81A3D8E}" type="slidenum">
              <a:rPr lang="fr-FR" smtClean="0"/>
              <a:t>22</a:t>
            </a:fld>
            <a:endParaRPr lang="fr-FR"/>
          </a:p>
        </p:txBody>
      </p:sp>
    </p:spTree>
    <p:extLst>
      <p:ext uri="{BB962C8B-B14F-4D97-AF65-F5344CB8AC3E}">
        <p14:creationId xmlns:p14="http://schemas.microsoft.com/office/powerpoint/2010/main" val="38960245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 name="Group 63">
            <a:extLst>
              <a:ext uri="{FF2B5EF4-FFF2-40B4-BE49-F238E27FC236}">
                <a16:creationId xmlns:a16="http://schemas.microsoft.com/office/drawing/2014/main" id="{04561046-6708-4754-9C75-07E2BE4B8A95}"/>
              </a:ext>
            </a:extLst>
          </p:cNvPr>
          <p:cNvGrpSpPr/>
          <p:nvPr/>
        </p:nvGrpSpPr>
        <p:grpSpPr>
          <a:xfrm>
            <a:off x="345305" y="1733688"/>
            <a:ext cx="5908275" cy="4785839"/>
            <a:chOff x="330201" y="672982"/>
            <a:chExt cx="7251699" cy="5874044"/>
          </a:xfrm>
        </p:grpSpPr>
        <p:grpSp>
          <p:nvGrpSpPr>
            <p:cNvPr id="65" name="Group 64">
              <a:extLst>
                <a:ext uri="{FF2B5EF4-FFF2-40B4-BE49-F238E27FC236}">
                  <a16:creationId xmlns:a16="http://schemas.microsoft.com/office/drawing/2014/main" id="{174A0F44-71F7-421A-AE97-5ADB695E9786}"/>
                </a:ext>
              </a:extLst>
            </p:cNvPr>
            <p:cNvGrpSpPr/>
            <p:nvPr/>
          </p:nvGrpSpPr>
          <p:grpSpPr>
            <a:xfrm>
              <a:off x="330201" y="672982"/>
              <a:ext cx="7251699" cy="5512036"/>
              <a:chOff x="559294" y="97653"/>
              <a:chExt cx="8899133" cy="6764255"/>
            </a:xfrm>
          </p:grpSpPr>
          <p:pic>
            <p:nvPicPr>
              <p:cNvPr id="68" name="Picture 67">
                <a:extLst>
                  <a:ext uri="{FF2B5EF4-FFF2-40B4-BE49-F238E27FC236}">
                    <a16:creationId xmlns:a16="http://schemas.microsoft.com/office/drawing/2014/main" id="{65B5E80D-6311-4B42-9C2B-CD3E86BA3426}"/>
                  </a:ext>
                </a:extLst>
              </p:cNvPr>
              <p:cNvPicPr>
                <a:picLocks noChangeAspect="1"/>
              </p:cNvPicPr>
              <p:nvPr/>
            </p:nvPicPr>
            <p:blipFill rotWithShape="1">
              <a:blip r:embed="rId3">
                <a:extLst>
                  <a:ext uri="{28A0092B-C50C-407E-A947-70E740481C1C}">
                    <a14:useLocalDpi xmlns:a14="http://schemas.microsoft.com/office/drawing/2010/main" val="0"/>
                  </a:ext>
                </a:extLst>
              </a:blip>
              <a:srcRect t="1422" r="1793" b="1"/>
              <a:stretch/>
            </p:blipFill>
            <p:spPr>
              <a:xfrm>
                <a:off x="559294" y="97653"/>
                <a:ext cx="8637971" cy="6764255"/>
              </a:xfrm>
              <a:prstGeom prst="rect">
                <a:avLst/>
              </a:prstGeom>
            </p:spPr>
          </p:pic>
          <p:pic>
            <p:nvPicPr>
              <p:cNvPr id="69" name="Picture 68">
                <a:extLst>
                  <a:ext uri="{FF2B5EF4-FFF2-40B4-BE49-F238E27FC236}">
                    <a16:creationId xmlns:a16="http://schemas.microsoft.com/office/drawing/2014/main" id="{59324260-70E0-4043-BCD0-C3E98CE774AC}"/>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b="7137"/>
              <a:stretch/>
            </p:blipFill>
            <p:spPr>
              <a:xfrm>
                <a:off x="7131955" y="1180731"/>
                <a:ext cx="2326472" cy="4643025"/>
              </a:xfrm>
              <a:prstGeom prst="rect">
                <a:avLst/>
              </a:prstGeom>
            </p:spPr>
          </p:pic>
          <p:pic>
            <p:nvPicPr>
              <p:cNvPr id="70" name="Picture 69">
                <a:extLst>
                  <a:ext uri="{FF2B5EF4-FFF2-40B4-BE49-F238E27FC236}">
                    <a16:creationId xmlns:a16="http://schemas.microsoft.com/office/drawing/2014/main" id="{3A925B9D-D6E8-4F45-93F7-61C7030C9472}"/>
                  </a:ext>
                </a:extLst>
              </p:cNvPr>
              <p:cNvPicPr>
                <a:picLocks noChangeAspect="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b="11429"/>
              <a:stretch/>
            </p:blipFill>
            <p:spPr>
              <a:xfrm>
                <a:off x="4061069" y="3863751"/>
                <a:ext cx="1400234" cy="1968881"/>
              </a:xfrm>
              <a:prstGeom prst="rect">
                <a:avLst/>
              </a:prstGeom>
            </p:spPr>
          </p:pic>
          <p:pic>
            <p:nvPicPr>
              <p:cNvPr id="71" name="Picture 70">
                <a:extLst>
                  <a:ext uri="{FF2B5EF4-FFF2-40B4-BE49-F238E27FC236}">
                    <a16:creationId xmlns:a16="http://schemas.microsoft.com/office/drawing/2014/main" id="{952CE4B9-6FC0-4C0C-8D77-FDF6D690FCD2}"/>
                  </a:ext>
                </a:extLst>
              </p:cNvPr>
              <p:cNvPicPr>
                <a:picLocks noChangeAspect="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b="15454"/>
              <a:stretch/>
            </p:blipFill>
            <p:spPr>
              <a:xfrm>
                <a:off x="2941929" y="5504155"/>
                <a:ext cx="335507" cy="310718"/>
              </a:xfrm>
              <a:prstGeom prst="rect">
                <a:avLst/>
              </a:prstGeom>
            </p:spPr>
          </p:pic>
          <p:cxnSp>
            <p:nvCxnSpPr>
              <p:cNvPr id="72" name="Straight Connector 71">
                <a:extLst>
                  <a:ext uri="{FF2B5EF4-FFF2-40B4-BE49-F238E27FC236}">
                    <a16:creationId xmlns:a16="http://schemas.microsoft.com/office/drawing/2014/main" id="{D6A0ABF4-5DCA-4D61-AAF7-1A1ABCD6F869}"/>
                  </a:ext>
                </a:extLst>
              </p:cNvPr>
              <p:cNvCxnSpPr>
                <a:cxnSpLocks/>
              </p:cNvCxnSpPr>
              <p:nvPr/>
            </p:nvCxnSpPr>
            <p:spPr>
              <a:xfrm flipH="1">
                <a:off x="5406499" y="2113645"/>
                <a:ext cx="1003179" cy="0"/>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908FA6C0-F210-4FF8-ABDA-9F893B1C815F}"/>
                  </a:ext>
                </a:extLst>
              </p:cNvPr>
              <p:cNvCxnSpPr>
                <a:cxnSpLocks/>
              </p:cNvCxnSpPr>
              <p:nvPr/>
            </p:nvCxnSpPr>
            <p:spPr>
              <a:xfrm flipV="1">
                <a:off x="5406499" y="2113645"/>
                <a:ext cx="0" cy="1651015"/>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E8DBC39F-9BDF-40A8-98EB-29FEDC74DA6B}"/>
                  </a:ext>
                </a:extLst>
              </p:cNvPr>
              <p:cNvSpPr txBox="1"/>
              <p:nvPr/>
            </p:nvSpPr>
            <p:spPr>
              <a:xfrm>
                <a:off x="4508956" y="2619366"/>
                <a:ext cx="810305" cy="556294"/>
              </a:xfrm>
              <a:prstGeom prst="rect">
                <a:avLst/>
              </a:prstGeom>
              <a:noFill/>
            </p:spPr>
            <p:txBody>
              <a:bodyPr wrap="square" rtlCol="0">
                <a:spAutoFit/>
              </a:bodyPr>
              <a:lstStyle/>
              <a:p>
                <a:r>
                  <a:rPr lang="en-US" dirty="0" err="1">
                    <a:solidFill>
                      <a:srgbClr val="F39200"/>
                    </a:solidFill>
                  </a:rPr>
                  <a:t>dLA</a:t>
                </a:r>
                <a:endParaRPr lang="en-US" dirty="0">
                  <a:solidFill>
                    <a:srgbClr val="F39200"/>
                  </a:solidFill>
                </a:endParaRPr>
              </a:p>
            </p:txBody>
          </p:sp>
          <p:sp>
            <p:nvSpPr>
              <p:cNvPr id="75" name="TextBox 74">
                <a:extLst>
                  <a:ext uri="{FF2B5EF4-FFF2-40B4-BE49-F238E27FC236}">
                    <a16:creationId xmlns:a16="http://schemas.microsoft.com/office/drawing/2014/main" id="{11C52C7A-BA08-40AC-BD8C-862B8CEAAE74}"/>
                  </a:ext>
                </a:extLst>
              </p:cNvPr>
              <p:cNvSpPr txBox="1"/>
              <p:nvPr/>
            </p:nvSpPr>
            <p:spPr>
              <a:xfrm>
                <a:off x="5605643" y="1558141"/>
                <a:ext cx="1003178" cy="672900"/>
              </a:xfrm>
              <a:prstGeom prst="rect">
                <a:avLst/>
              </a:prstGeom>
              <a:noFill/>
            </p:spPr>
            <p:txBody>
              <a:bodyPr wrap="square" rtlCol="0">
                <a:spAutoFit/>
              </a:bodyPr>
              <a:lstStyle/>
              <a:p>
                <a:r>
                  <a:rPr lang="en-US" dirty="0">
                    <a:solidFill>
                      <a:srgbClr val="F39200"/>
                    </a:solidFill>
                  </a:rPr>
                  <a:t>dt</a:t>
                </a:r>
              </a:p>
            </p:txBody>
          </p:sp>
          <p:grpSp>
            <p:nvGrpSpPr>
              <p:cNvPr id="76" name="Group 75">
                <a:extLst>
                  <a:ext uri="{FF2B5EF4-FFF2-40B4-BE49-F238E27FC236}">
                    <a16:creationId xmlns:a16="http://schemas.microsoft.com/office/drawing/2014/main" id="{470D1A5D-C43C-4EB1-B634-6E19BFFB987F}"/>
                  </a:ext>
                </a:extLst>
              </p:cNvPr>
              <p:cNvGrpSpPr/>
              <p:nvPr/>
            </p:nvGrpSpPr>
            <p:grpSpPr>
              <a:xfrm>
                <a:off x="5433038" y="2330132"/>
                <a:ext cx="2237270" cy="3570468"/>
                <a:chOff x="6569380" y="2330132"/>
                <a:chExt cx="2237270" cy="3570468"/>
              </a:xfrm>
            </p:grpSpPr>
            <p:pic>
              <p:nvPicPr>
                <p:cNvPr id="77" name="Picture 76">
                  <a:extLst>
                    <a:ext uri="{FF2B5EF4-FFF2-40B4-BE49-F238E27FC236}">
                      <a16:creationId xmlns:a16="http://schemas.microsoft.com/office/drawing/2014/main" id="{B04D186A-F0D4-4E4E-BF7B-317561CD5CF6}"/>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729568" y="3378161"/>
                  <a:ext cx="1729890" cy="2522439"/>
                </a:xfrm>
                <a:prstGeom prst="rect">
                  <a:avLst/>
                </a:prstGeom>
              </p:spPr>
            </p:pic>
            <p:pic>
              <p:nvPicPr>
                <p:cNvPr id="78" name="Picture 77">
                  <a:extLst>
                    <a:ext uri="{FF2B5EF4-FFF2-40B4-BE49-F238E27FC236}">
                      <a16:creationId xmlns:a16="http://schemas.microsoft.com/office/drawing/2014/main" id="{22D04C1D-CDFC-4A55-9D39-FA56986283D7}"/>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69380" y="2330132"/>
                  <a:ext cx="2237270" cy="1434528"/>
                </a:xfrm>
                <a:prstGeom prst="rect">
                  <a:avLst/>
                </a:prstGeom>
              </p:spPr>
            </p:pic>
          </p:grpSp>
        </p:grpSp>
        <p:sp>
          <p:nvSpPr>
            <p:cNvPr id="66" name="TextBox 65">
              <a:extLst>
                <a:ext uri="{FF2B5EF4-FFF2-40B4-BE49-F238E27FC236}">
                  <a16:creationId xmlns:a16="http://schemas.microsoft.com/office/drawing/2014/main" id="{66131D9C-8CDB-4FA5-AA73-144893663CD9}"/>
                </a:ext>
              </a:extLst>
            </p:cNvPr>
            <p:cNvSpPr txBox="1"/>
            <p:nvPr/>
          </p:nvSpPr>
          <p:spPr>
            <a:xfrm>
              <a:off x="1810136" y="5716029"/>
              <a:ext cx="5029200" cy="830997"/>
            </a:xfrm>
            <a:prstGeom prst="rect">
              <a:avLst/>
            </a:prstGeom>
            <a:solidFill>
              <a:schemeClr val="bg1"/>
            </a:solidFill>
          </p:spPr>
          <p:txBody>
            <a:bodyPr wrap="square" rtlCol="0">
              <a:spAutoFit/>
            </a:bodyPr>
            <a:lstStyle/>
            <a:p>
              <a:pPr algn="ctr"/>
              <a:r>
                <a:rPr lang="fr-FR" sz="2400" dirty="0"/>
                <a:t>Thermal time (°</a:t>
              </a:r>
              <a:r>
                <a:rPr lang="fr-FR" sz="2400" dirty="0" err="1"/>
                <a:t>C.d</a:t>
              </a:r>
              <a:r>
                <a:rPr lang="fr-FR" sz="2400" dirty="0"/>
                <a:t>)</a:t>
              </a:r>
            </a:p>
            <a:p>
              <a:pPr algn="ctr"/>
              <a:endParaRPr lang="en-US" sz="2400" dirty="0"/>
            </a:p>
          </p:txBody>
        </p:sp>
        <p:sp>
          <p:nvSpPr>
            <p:cNvPr id="67" name="TextBox 66">
              <a:extLst>
                <a:ext uri="{FF2B5EF4-FFF2-40B4-BE49-F238E27FC236}">
                  <a16:creationId xmlns:a16="http://schemas.microsoft.com/office/drawing/2014/main" id="{07220A2F-8F07-4215-A2A1-F791D6DD8B5D}"/>
                </a:ext>
              </a:extLst>
            </p:cNvPr>
            <p:cNvSpPr txBox="1"/>
            <p:nvPr/>
          </p:nvSpPr>
          <p:spPr>
            <a:xfrm rot="16200000">
              <a:off x="-617084" y="2858528"/>
              <a:ext cx="2356236" cy="461665"/>
            </a:xfrm>
            <a:prstGeom prst="rect">
              <a:avLst/>
            </a:prstGeom>
            <a:solidFill>
              <a:schemeClr val="bg1"/>
            </a:solidFill>
          </p:spPr>
          <p:txBody>
            <a:bodyPr wrap="square" rtlCol="0">
              <a:spAutoFit/>
            </a:bodyPr>
            <a:lstStyle/>
            <a:p>
              <a:pPr algn="ctr"/>
              <a:r>
                <a:rPr lang="fr-FR" sz="2400" dirty="0"/>
                <a:t>LAI</a:t>
              </a:r>
            </a:p>
          </p:txBody>
        </p:sp>
      </p:grpSp>
      <p:sp>
        <p:nvSpPr>
          <p:cNvPr id="24" name="Content Placeholder 2">
            <a:extLst>
              <a:ext uri="{FF2B5EF4-FFF2-40B4-BE49-F238E27FC236}">
                <a16:creationId xmlns:a16="http://schemas.microsoft.com/office/drawing/2014/main" id="{1CC01442-1C65-4BE2-BEB8-747FAC9A0A71}"/>
              </a:ext>
            </a:extLst>
          </p:cNvPr>
          <p:cNvSpPr txBox="1">
            <a:spLocks/>
          </p:cNvSpPr>
          <p:nvPr/>
        </p:nvSpPr>
        <p:spPr>
          <a:xfrm>
            <a:off x="7407245" y="1755229"/>
            <a:ext cx="4333370" cy="218804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2000" dirty="0"/>
              <a:t>How to </a:t>
            </a:r>
            <a:r>
              <a:rPr lang="fr-FR" sz="2000" b="1" dirty="0" err="1"/>
              <a:t>distribute</a:t>
            </a:r>
            <a:r>
              <a:rPr lang="fr-FR" sz="2000" b="1" dirty="0"/>
              <a:t> a </a:t>
            </a:r>
            <a:r>
              <a:rPr lang="fr-FR" sz="2000" b="1" dirty="0" err="1"/>
              <a:t>constraint</a:t>
            </a:r>
            <a:r>
              <a:rPr lang="fr-FR" sz="2000" b="1" dirty="0"/>
              <a:t> </a:t>
            </a:r>
            <a:r>
              <a:rPr lang="fr-FR" sz="2000" b="1" i="1" dirty="0"/>
              <a:t>c</a:t>
            </a:r>
            <a:r>
              <a:rPr lang="fr-FR" sz="2000" dirty="0"/>
              <a:t> (LA and </a:t>
            </a:r>
            <a:r>
              <a:rPr lang="fr-FR" sz="2000" dirty="0" err="1"/>
              <a:t>height</a:t>
            </a:r>
            <a:r>
              <a:rPr lang="fr-FR" sz="2000" dirty="0"/>
              <a:t>) </a:t>
            </a:r>
            <a:r>
              <a:rPr lang="fr-FR" sz="2000" dirty="0" err="1"/>
              <a:t>among</a:t>
            </a:r>
            <a:r>
              <a:rPr lang="fr-FR" sz="2000" dirty="0"/>
              <a:t> </a:t>
            </a:r>
            <a:r>
              <a:rPr lang="fr-FR" sz="2000" i="1" dirty="0"/>
              <a:t>n</a:t>
            </a:r>
            <a:r>
              <a:rPr lang="fr-FR" sz="2000" dirty="0"/>
              <a:t> </a:t>
            </a:r>
            <a:r>
              <a:rPr lang="fr-FR" sz="2000" dirty="0" err="1"/>
              <a:t>growing</a:t>
            </a:r>
            <a:r>
              <a:rPr lang="fr-FR" sz="2000" dirty="0"/>
              <a:t> </a:t>
            </a:r>
            <a:r>
              <a:rPr lang="fr-FR" sz="2000" dirty="0" err="1"/>
              <a:t>elements</a:t>
            </a:r>
            <a:r>
              <a:rPr lang="fr-FR" sz="2000" dirty="0"/>
              <a:t> ? </a:t>
            </a:r>
          </a:p>
          <a:p>
            <a:r>
              <a:rPr lang="fr-FR" sz="2000" dirty="0">
                <a:sym typeface="Wingdings" panose="05000000000000000000" pitchFamily="2" charset="2"/>
              </a:rPr>
              <a:t> </a:t>
            </a:r>
            <a:r>
              <a:rPr lang="fr-FR" sz="2000" b="1" dirty="0" err="1">
                <a:sym typeface="Wingdings" panose="05000000000000000000" pitchFamily="2" charset="2"/>
              </a:rPr>
              <a:t>among</a:t>
            </a:r>
            <a:r>
              <a:rPr lang="fr-FR" sz="2000" b="1" dirty="0">
                <a:sym typeface="Wingdings" panose="05000000000000000000" pitchFamily="2" charset="2"/>
              </a:rPr>
              <a:t> plants</a:t>
            </a:r>
            <a:r>
              <a:rPr lang="fr-FR" sz="2000" dirty="0">
                <a:sym typeface="Wingdings" panose="05000000000000000000" pitchFamily="2" charset="2"/>
              </a:rPr>
              <a:t> in a </a:t>
            </a:r>
            <a:r>
              <a:rPr lang="fr-FR" sz="2000" dirty="0" err="1">
                <a:sym typeface="Wingdings" panose="05000000000000000000" pitchFamily="2" charset="2"/>
              </a:rPr>
              <a:t>canopy</a:t>
            </a:r>
            <a:r>
              <a:rPr lang="fr-FR" sz="2000" dirty="0">
                <a:sym typeface="Wingdings" panose="05000000000000000000" pitchFamily="2" charset="2"/>
              </a:rPr>
              <a:t> and </a:t>
            </a:r>
            <a:r>
              <a:rPr lang="fr-FR" sz="2000" b="1" dirty="0" err="1">
                <a:sym typeface="Wingdings" panose="05000000000000000000" pitchFamily="2" charset="2"/>
              </a:rPr>
              <a:t>among</a:t>
            </a:r>
            <a:r>
              <a:rPr lang="fr-FR" sz="2000" b="1" dirty="0">
                <a:sym typeface="Wingdings" panose="05000000000000000000" pitchFamily="2" charset="2"/>
              </a:rPr>
              <a:t> </a:t>
            </a:r>
            <a:r>
              <a:rPr lang="fr-FR" sz="2000" b="1" dirty="0" err="1">
                <a:sym typeface="Wingdings" panose="05000000000000000000" pitchFamily="2" charset="2"/>
              </a:rPr>
              <a:t>organs</a:t>
            </a:r>
            <a:r>
              <a:rPr lang="fr-FR" sz="2000" b="1" dirty="0">
                <a:sym typeface="Wingdings" panose="05000000000000000000" pitchFamily="2" charset="2"/>
              </a:rPr>
              <a:t> </a:t>
            </a:r>
            <a:r>
              <a:rPr lang="fr-FR" sz="2000" dirty="0" err="1">
                <a:sym typeface="Wingdings" panose="05000000000000000000" pitchFamily="2" charset="2"/>
              </a:rPr>
              <a:t>within</a:t>
            </a:r>
            <a:r>
              <a:rPr lang="fr-FR" sz="2000" dirty="0">
                <a:sym typeface="Wingdings" panose="05000000000000000000" pitchFamily="2" charset="2"/>
              </a:rPr>
              <a:t> a plant</a:t>
            </a:r>
            <a:endParaRPr lang="fr-FR" sz="2000"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9DDCEC5-0228-4A21-8EA1-445F6E20D82A}"/>
                  </a:ext>
                </a:extLst>
              </p:cNvPr>
              <p:cNvSpPr txBox="1"/>
              <p:nvPr/>
            </p:nvSpPr>
            <p:spPr>
              <a:xfrm>
                <a:off x="7736191" y="4019273"/>
                <a:ext cx="3867230" cy="215494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m:t>
                          </m:r>
                        </m:num>
                        <m:den>
                          <m:r>
                            <a:rPr lang="en-US" i="1" smtClean="0">
                              <a:latin typeface="Cambria Math" panose="02040503050406030204" pitchFamily="18" charset="0"/>
                              <a:ea typeface="Cambria Math" panose="02040503050406030204" pitchFamily="18" charset="0"/>
                            </a:rPr>
                            <m:t>𝜕</m:t>
                          </m:r>
                          <m:r>
                            <a:rPr lang="fr-FR" b="0" i="1" smtClean="0">
                              <a:latin typeface="Cambria Math" panose="02040503050406030204" pitchFamily="18" charset="0"/>
                              <a:ea typeface="Cambria Math" panose="02040503050406030204" pitchFamily="18" charset="0"/>
                            </a:rPr>
                            <m:t>𝑡</m:t>
                          </m:r>
                        </m:den>
                      </m:f>
                      <m:r>
                        <m:rPr>
                          <m:nor/>
                        </m:rPr>
                        <a:rPr lang="fr-FR" b="0" i="0" smtClean="0"/>
                        <m:t> </m:t>
                      </m:r>
                      <m:r>
                        <m:rPr>
                          <m:nor/>
                        </m:rPr>
                        <a:rPr lang="en-US"/>
                        <m:t>= </m:t>
                      </m:r>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𝐺</m:t>
                          </m:r>
                        </m:sub>
                        <m:sup/>
                        <m:e>
                          <m:nary>
                            <m:naryPr>
                              <m:chr m:val="∑"/>
                              <m:supHide m:val="on"/>
                              <m:ctrlPr>
                                <a:rPr lang="en-US" i="1">
                                  <a:latin typeface="Cambria Math" panose="02040503050406030204" pitchFamily="18" charset="0"/>
                                </a:rPr>
                              </m:ctrlPr>
                            </m:naryPr>
                            <m:sub>
                              <m:r>
                                <m:rPr>
                                  <m:brk m:alnAt="23"/>
                                </m:rPr>
                                <a:rPr lang="en-US" i="1">
                                  <a:latin typeface="Cambria Math" panose="02040503050406030204" pitchFamily="18" charset="0"/>
                                </a:rPr>
                                <m:t>𝑗</m:t>
                              </m:r>
                              <m:r>
                                <a:rPr lang="fr-FR"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sub>
                            <m:sup/>
                            <m:e>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𝑐</m:t>
                                      </m:r>
                                    </m:e>
                                    <m:sub>
                                      <m: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𝑗</m:t>
                                      </m:r>
                                    </m:sub>
                                  </m:sSub>
                                  <m:r>
                                    <a:rPr lang="fr-FR" i="1">
                                      <a:latin typeface="Cambria Math" panose="02040503050406030204" pitchFamily="18" charset="0"/>
                                      <a:ea typeface="Cambria Math" panose="02040503050406030204" pitchFamily="18" charset="0"/>
                                    </a:rPr>
                                    <m:t>(</m:t>
                                  </m:r>
                                  <m:r>
                                    <a:rPr lang="fr-FR" i="1">
                                      <a:latin typeface="Cambria Math" panose="02040503050406030204" pitchFamily="18" charset="0"/>
                                      <a:ea typeface="Cambria Math" panose="02040503050406030204" pitchFamily="18" charset="0"/>
                                    </a:rPr>
                                    <m:t>𝑡</m:t>
                                  </m:r>
                                  <m:r>
                                    <a:rPr lang="fr-FR"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m:t>
                                  </m:r>
                                  <m:r>
                                    <a:rPr lang="fr-FR" i="1">
                                      <a:latin typeface="Cambria Math" panose="02040503050406030204" pitchFamily="18" charset="0"/>
                                      <a:ea typeface="Cambria Math" panose="02040503050406030204" pitchFamily="18" charset="0"/>
                                    </a:rPr>
                                    <m:t>𝑡</m:t>
                                  </m:r>
                                </m:den>
                              </m:f>
                            </m:e>
                          </m:nary>
                        </m:e>
                      </m:nary>
                    </m:oMath>
                  </m:oMathPara>
                </a14:m>
                <a:endParaRPr lang="fr-FR" dirty="0"/>
              </a:p>
              <a:p>
                <a:endParaRPr lang="fr-FR" sz="1400" dirty="0"/>
              </a:p>
              <a:p>
                <a14:m>
                  <m:oMath xmlns:m="http://schemas.openxmlformats.org/officeDocument/2006/math">
                    <m:f>
                      <m:fPr>
                        <m:ctrlPr>
                          <a:rPr lang="en-US" sz="1600" i="1">
                            <a:latin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𝑐</m:t>
                        </m:r>
                      </m:num>
                      <m:den>
                        <m:r>
                          <a:rPr lang="en-US"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den>
                    </m:f>
                  </m:oMath>
                </a14:m>
                <a:r>
                  <a:rPr lang="fr-FR" sz="1600" dirty="0"/>
                  <a:t>: </a:t>
                </a:r>
                <a:r>
                  <a:rPr lang="fr-FR" sz="1600" dirty="0" err="1"/>
                  <a:t>growth</a:t>
                </a:r>
                <a:r>
                  <a:rPr lang="fr-FR" sz="1600" dirty="0"/>
                  <a:t> </a:t>
                </a:r>
                <a:r>
                  <a:rPr lang="fr-FR" sz="1600" dirty="0" err="1"/>
                  <a:t>increment</a:t>
                </a:r>
                <a:r>
                  <a:rPr lang="fr-FR" sz="1600" dirty="0"/>
                  <a:t> at </a:t>
                </a:r>
                <a:r>
                  <a:rPr lang="fr-FR" sz="1600" dirty="0" err="1"/>
                  <a:t>crop</a:t>
                </a:r>
                <a:r>
                  <a:rPr lang="fr-FR" sz="1600" dirty="0"/>
                  <a:t> </a:t>
                </a:r>
                <a:r>
                  <a:rPr lang="fr-FR" sz="1600" dirty="0" err="1"/>
                  <a:t>scale</a:t>
                </a:r>
                <a:r>
                  <a:rPr lang="fr-FR" sz="1600" dirty="0"/>
                  <a:t> </a:t>
                </a:r>
              </a:p>
              <a:p>
                <a14:m>
                  <m:oMath xmlns:m="http://schemas.openxmlformats.org/officeDocument/2006/math">
                    <m:f>
                      <m:fPr>
                        <m:ctrlPr>
                          <a:rPr lang="en-US" sz="1600" i="1">
                            <a:latin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𝑐</m:t>
                            </m:r>
                          </m:e>
                          <m:sub>
                            <m:r>
                              <a:rPr lang="en-US" sz="1600" i="1">
                                <a:latin typeface="Cambria Math" panose="02040503050406030204" pitchFamily="18" charset="0"/>
                                <a:ea typeface="Cambria Math" panose="02040503050406030204" pitchFamily="18" charset="0"/>
                              </a:rPr>
                              <m:t>𝑖</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𝑗</m:t>
                            </m:r>
                          </m:sub>
                        </m:sSub>
                        <m:r>
                          <a:rPr lang="fr-FR"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r>
                          <a:rPr lang="fr-FR" sz="1600" i="1">
                            <a:latin typeface="Cambria Math" panose="02040503050406030204" pitchFamily="18" charset="0"/>
                            <a:ea typeface="Cambria Math" panose="02040503050406030204" pitchFamily="18" charset="0"/>
                          </a:rPr>
                          <m:t>)</m:t>
                        </m:r>
                      </m:num>
                      <m:den>
                        <m:r>
                          <a:rPr lang="en-US"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den>
                    </m:f>
                  </m:oMath>
                </a14:m>
                <a:r>
                  <a:rPr lang="fr-FR" sz="1600" dirty="0"/>
                  <a:t>: </a:t>
                </a:r>
                <a:r>
                  <a:rPr lang="fr-FR" sz="1600" dirty="0" err="1"/>
                  <a:t>growth</a:t>
                </a:r>
                <a:r>
                  <a:rPr lang="fr-FR" sz="1600" dirty="0"/>
                  <a:t> </a:t>
                </a:r>
                <a:r>
                  <a:rPr lang="fr-FR" sz="1600" dirty="0" err="1"/>
                  <a:t>increment</a:t>
                </a:r>
                <a:r>
                  <a:rPr lang="fr-FR" sz="1600" dirty="0"/>
                  <a:t> for an </a:t>
                </a:r>
                <a:r>
                  <a:rPr lang="fr-FR" sz="1600" dirty="0" err="1"/>
                  <a:t>organ</a:t>
                </a:r>
                <a:endParaRPr lang="fr-FR" sz="1600" dirty="0"/>
              </a:p>
              <a:p>
                <a:r>
                  <a:rPr lang="fr-FR" sz="1600" dirty="0"/>
                  <a:t>P: set of plants of the </a:t>
                </a:r>
                <a:r>
                  <a:rPr lang="fr-FR" sz="1600" dirty="0" err="1"/>
                  <a:t>same</a:t>
                </a:r>
                <a:r>
                  <a:rPr lang="fr-FR" sz="1600" dirty="0"/>
                  <a:t> </a:t>
                </a:r>
                <a:r>
                  <a:rPr lang="fr-FR" sz="1600" dirty="0" err="1"/>
                  <a:t>species</a:t>
                </a:r>
                <a:r>
                  <a:rPr lang="fr-FR" sz="1600" dirty="0"/>
                  <a:t> in a </a:t>
                </a:r>
                <a:r>
                  <a:rPr lang="fr-FR" sz="1600" dirty="0" err="1"/>
                  <a:t>crop</a:t>
                </a:r>
                <a:endParaRPr lang="fr-FR" sz="1600" dirty="0"/>
              </a:p>
              <a:p>
                <a:r>
                  <a:rPr lang="fr-FR" sz="1600" dirty="0"/>
                  <a:t>G: set of </a:t>
                </a:r>
                <a:r>
                  <a:rPr lang="fr-FR" sz="1600" dirty="0" err="1"/>
                  <a:t>growing</a:t>
                </a:r>
                <a:r>
                  <a:rPr lang="fr-FR" sz="1600" dirty="0"/>
                  <a:t> </a:t>
                </a:r>
                <a:r>
                  <a:rPr lang="fr-FR" sz="1600" dirty="0" err="1"/>
                  <a:t>organs</a:t>
                </a:r>
                <a:r>
                  <a:rPr lang="fr-FR" sz="1600" dirty="0"/>
                  <a:t> in a plant</a:t>
                </a:r>
                <a:endParaRPr lang="en-US" sz="1600" dirty="0"/>
              </a:p>
            </p:txBody>
          </p:sp>
        </mc:Choice>
        <mc:Fallback xmlns="">
          <p:sp>
            <p:nvSpPr>
              <p:cNvPr id="25" name="TextBox 24">
                <a:extLst>
                  <a:ext uri="{FF2B5EF4-FFF2-40B4-BE49-F238E27FC236}">
                    <a16:creationId xmlns:a16="http://schemas.microsoft.com/office/drawing/2014/main" id="{79DDCEC5-0228-4A21-8EA1-445F6E20D82A}"/>
                  </a:ext>
                </a:extLst>
              </p:cNvPr>
              <p:cNvSpPr txBox="1">
                <a:spLocks noRot="1" noChangeAspect="1" noMove="1" noResize="1" noEditPoints="1" noAdjustHandles="1" noChangeArrowheads="1" noChangeShapeType="1" noTextEdit="1"/>
              </p:cNvSpPr>
              <p:nvPr/>
            </p:nvSpPr>
            <p:spPr>
              <a:xfrm>
                <a:off x="7736191" y="4019273"/>
                <a:ext cx="3867230" cy="2154949"/>
              </a:xfrm>
              <a:prstGeom prst="rect">
                <a:avLst/>
              </a:prstGeom>
              <a:blipFill>
                <a:blip r:embed="rId9"/>
                <a:stretch>
                  <a:fillRect l="-3155" b="-480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EA186D5D-990D-4829-B851-28BF3A0C5BEA}"/>
              </a:ext>
            </a:extLst>
          </p:cNvPr>
          <p:cNvSpPr txBox="1"/>
          <p:nvPr/>
        </p:nvSpPr>
        <p:spPr>
          <a:xfrm>
            <a:off x="50338" y="6169708"/>
            <a:ext cx="1292774" cy="646331"/>
          </a:xfrm>
          <a:prstGeom prst="rect">
            <a:avLst/>
          </a:prstGeom>
          <a:noFill/>
        </p:spPr>
        <p:txBody>
          <a:bodyPr wrap="square" rtlCol="0">
            <a:spAutoFit/>
          </a:bodyPr>
          <a:lstStyle/>
          <a:p>
            <a:r>
              <a:rPr lang="en-US" dirty="0"/>
              <a:t>*LAI = Leaf Area Index</a:t>
            </a:r>
          </a:p>
        </p:txBody>
      </p:sp>
      <p:sp>
        <p:nvSpPr>
          <p:cNvPr id="27" name="TextBox 26">
            <a:extLst>
              <a:ext uri="{FF2B5EF4-FFF2-40B4-BE49-F238E27FC236}">
                <a16:creationId xmlns:a16="http://schemas.microsoft.com/office/drawing/2014/main" id="{AE36E73A-CDA8-4220-AD6D-AD6CA1535E90}"/>
              </a:ext>
            </a:extLst>
          </p:cNvPr>
          <p:cNvSpPr txBox="1"/>
          <p:nvPr/>
        </p:nvSpPr>
        <p:spPr>
          <a:xfrm>
            <a:off x="345305" y="3292221"/>
            <a:ext cx="212662" cy="369332"/>
          </a:xfrm>
          <a:prstGeom prst="rect">
            <a:avLst/>
          </a:prstGeom>
          <a:noFill/>
        </p:spPr>
        <p:txBody>
          <a:bodyPr wrap="square" rtlCol="0">
            <a:spAutoFit/>
          </a:bodyPr>
          <a:lstStyle/>
          <a:p>
            <a:r>
              <a:rPr lang="en-US" dirty="0"/>
              <a:t>*</a:t>
            </a:r>
          </a:p>
        </p:txBody>
      </p:sp>
      <p:sp>
        <p:nvSpPr>
          <p:cNvPr id="28" name="Title 1">
            <a:extLst>
              <a:ext uri="{FF2B5EF4-FFF2-40B4-BE49-F238E27FC236}">
                <a16:creationId xmlns:a16="http://schemas.microsoft.com/office/drawing/2014/main" id="{D5DC926C-93AC-4C83-B482-EF73F9D74A79}"/>
              </a:ext>
            </a:extLst>
          </p:cNvPr>
          <p:cNvSpPr txBox="1">
            <a:spLocks/>
          </p:cNvSpPr>
          <p:nvPr/>
        </p:nvSpPr>
        <p:spPr>
          <a:xfrm>
            <a:off x="523294" y="393959"/>
            <a:ext cx="10981134" cy="126873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endParaRPr lang="en-US" dirty="0"/>
          </a:p>
        </p:txBody>
      </p:sp>
      <p:sp>
        <p:nvSpPr>
          <p:cNvPr id="30" name="Title 1">
            <a:extLst>
              <a:ext uri="{FF2B5EF4-FFF2-40B4-BE49-F238E27FC236}">
                <a16:creationId xmlns:a16="http://schemas.microsoft.com/office/drawing/2014/main" id="{04E1B219-4EC4-44E9-AA79-EB683D750E01}"/>
              </a:ext>
            </a:extLst>
          </p:cNvPr>
          <p:cNvSpPr txBox="1">
            <a:spLocks/>
          </p:cNvSpPr>
          <p:nvPr/>
        </p:nvSpPr>
        <p:spPr>
          <a:xfrm>
            <a:off x="523294" y="299194"/>
            <a:ext cx="11089549" cy="11605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dirty="0"/>
              <a:t>Organ growth is constrained by canopy-scale dynamics generated by crop model.</a:t>
            </a:r>
          </a:p>
        </p:txBody>
      </p:sp>
      <p:sp>
        <p:nvSpPr>
          <p:cNvPr id="3" name="Slide Number Placeholder 2">
            <a:extLst>
              <a:ext uri="{FF2B5EF4-FFF2-40B4-BE49-F238E27FC236}">
                <a16:creationId xmlns:a16="http://schemas.microsoft.com/office/drawing/2014/main" id="{F13FFF4A-2492-49D7-9553-BBBC18F41E89}"/>
              </a:ext>
            </a:extLst>
          </p:cNvPr>
          <p:cNvSpPr>
            <a:spLocks noGrp="1"/>
          </p:cNvSpPr>
          <p:nvPr>
            <p:ph type="sldNum" sz="quarter" idx="12"/>
          </p:nvPr>
        </p:nvSpPr>
        <p:spPr/>
        <p:txBody>
          <a:bodyPr/>
          <a:lstStyle/>
          <a:p>
            <a:fld id="{27C6CCC6-2BE5-4E42-96A4-D1E8E81A3D8E}" type="slidenum">
              <a:rPr lang="fr-FR" smtClean="0"/>
              <a:t>23</a:t>
            </a:fld>
            <a:endParaRPr lang="fr-FR"/>
          </a:p>
        </p:txBody>
      </p:sp>
    </p:spTree>
    <p:extLst>
      <p:ext uri="{BB962C8B-B14F-4D97-AF65-F5344CB8AC3E}">
        <p14:creationId xmlns:p14="http://schemas.microsoft.com/office/powerpoint/2010/main" val="4130622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BFE71-EC29-4506-AB26-37E2A342EFF5}"/>
              </a:ext>
            </a:extLst>
          </p:cNvPr>
          <p:cNvSpPr>
            <a:spLocks noGrp="1"/>
          </p:cNvSpPr>
          <p:nvPr>
            <p:ph type="title"/>
          </p:nvPr>
        </p:nvSpPr>
        <p:spPr>
          <a:xfrm>
            <a:off x="838200" y="206702"/>
            <a:ext cx="10515600" cy="1027178"/>
          </a:xfrm>
        </p:spPr>
        <p:txBody>
          <a:bodyPr>
            <a:noAutofit/>
          </a:bodyPr>
          <a:lstStyle/>
          <a:p>
            <a:r>
              <a:rPr lang="fr-FR" sz="4000" dirty="0" err="1"/>
              <a:t>Different</a:t>
            </a:r>
            <a:r>
              <a:rPr lang="fr-FR" sz="4000" dirty="0"/>
              <a:t> </a:t>
            </a:r>
            <a:r>
              <a:rPr lang="fr-FR" sz="4000" dirty="0" err="1"/>
              <a:t>scales</a:t>
            </a:r>
            <a:r>
              <a:rPr lang="fr-FR" sz="4000" dirty="0"/>
              <a:t> of </a:t>
            </a:r>
            <a:r>
              <a:rPr lang="fr-FR" sz="4000" dirty="0" err="1"/>
              <a:t>heterogeneity</a:t>
            </a:r>
            <a:r>
              <a:rPr lang="fr-FR" sz="4000" dirty="0"/>
              <a:t> for an </a:t>
            </a:r>
            <a:r>
              <a:rPr lang="fr-FR" sz="4000" dirty="0" err="1"/>
              <a:t>intercrop</a:t>
            </a:r>
            <a:endParaRPr lang="en-US" sz="4000" dirty="0"/>
          </a:p>
        </p:txBody>
      </p:sp>
      <p:sp>
        <p:nvSpPr>
          <p:cNvPr id="3" name="Content Placeholder 2">
            <a:extLst>
              <a:ext uri="{FF2B5EF4-FFF2-40B4-BE49-F238E27FC236}">
                <a16:creationId xmlns:a16="http://schemas.microsoft.com/office/drawing/2014/main" id="{6C4C23FC-D5BF-49FE-B3E7-563A4EF968AB}"/>
              </a:ext>
            </a:extLst>
          </p:cNvPr>
          <p:cNvSpPr>
            <a:spLocks noGrp="1"/>
          </p:cNvSpPr>
          <p:nvPr>
            <p:ph idx="1"/>
          </p:nvPr>
        </p:nvSpPr>
        <p:spPr>
          <a:xfrm>
            <a:off x="945932" y="1411256"/>
            <a:ext cx="3187899" cy="2851026"/>
          </a:xfrm>
        </p:spPr>
        <p:txBody>
          <a:bodyPr>
            <a:normAutofit/>
          </a:bodyPr>
          <a:lstStyle/>
          <a:p>
            <a:pPr marL="0" indent="0">
              <a:buNone/>
            </a:pPr>
            <a:r>
              <a:rPr lang="fr-FR" b="1" dirty="0" err="1"/>
              <a:t>I</a:t>
            </a:r>
            <a:r>
              <a:rPr lang="fr-FR" b="1" dirty="0" err="1">
                <a:sym typeface="Wingdings" panose="05000000000000000000" pitchFamily="2" charset="2"/>
              </a:rPr>
              <a:t>nterspecific</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None/>
            </a:pPr>
            <a:r>
              <a:rPr lang="fr-FR" dirty="0">
                <a:sym typeface="Wingdings" panose="05000000000000000000" pitchFamily="2" charset="2"/>
              </a:rPr>
              <a:t> </a:t>
            </a:r>
            <a:r>
              <a:rPr lang="fr-FR" dirty="0" err="1">
                <a:sym typeface="Wingdings" panose="05000000000000000000" pitchFamily="2" charset="2"/>
              </a:rPr>
              <a:t>Intercropping</a:t>
            </a:r>
            <a:r>
              <a:rPr lang="fr-FR" dirty="0">
                <a:sym typeface="Wingdings" panose="05000000000000000000" pitchFamily="2" charset="2"/>
              </a:rPr>
              <a:t> </a:t>
            </a:r>
            <a:r>
              <a:rPr lang="fr-FR" dirty="0" err="1">
                <a:sym typeface="Wingdings" panose="05000000000000000000" pitchFamily="2" charset="2"/>
              </a:rPr>
              <a:t>sowing</a:t>
            </a:r>
            <a:r>
              <a:rPr lang="fr-FR" dirty="0">
                <a:sym typeface="Wingdings" panose="05000000000000000000" pitchFamily="2" charset="2"/>
              </a:rPr>
              <a:t> pattern</a:t>
            </a:r>
            <a:endParaRPr lang="en-US" dirty="0"/>
          </a:p>
        </p:txBody>
      </p:sp>
      <p:sp>
        <p:nvSpPr>
          <p:cNvPr id="4" name="Rectangle 3">
            <a:extLst>
              <a:ext uri="{FF2B5EF4-FFF2-40B4-BE49-F238E27FC236}">
                <a16:creationId xmlns:a16="http://schemas.microsoft.com/office/drawing/2014/main" id="{0FCD8E0C-ED5A-44EA-A762-E60539567E54}"/>
              </a:ext>
            </a:extLst>
          </p:cNvPr>
          <p:cNvSpPr/>
          <p:nvPr/>
        </p:nvSpPr>
        <p:spPr>
          <a:xfrm flipH="1">
            <a:off x="531146" y="350396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4D9871E-68F8-4DB3-8DD8-87F5D0579FA8}"/>
              </a:ext>
            </a:extLst>
          </p:cNvPr>
          <p:cNvSpPr/>
          <p:nvPr/>
        </p:nvSpPr>
        <p:spPr>
          <a:xfrm flipH="1">
            <a:off x="966434" y="350396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189F1D1-A385-4222-939E-44A8AA5D7EE5}"/>
              </a:ext>
            </a:extLst>
          </p:cNvPr>
          <p:cNvSpPr/>
          <p:nvPr/>
        </p:nvSpPr>
        <p:spPr>
          <a:xfrm flipH="1">
            <a:off x="1388925" y="350396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EB746ED-0BAA-4F9B-86EB-6A23FE42AF23}"/>
              </a:ext>
            </a:extLst>
          </p:cNvPr>
          <p:cNvSpPr/>
          <p:nvPr/>
        </p:nvSpPr>
        <p:spPr>
          <a:xfrm flipH="1">
            <a:off x="1833726" y="350396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E96D122C-508B-41DF-8EAD-5383887EDBFF}"/>
              </a:ext>
            </a:extLst>
          </p:cNvPr>
          <p:cNvSpPr txBox="1">
            <a:spLocks/>
          </p:cNvSpPr>
          <p:nvPr/>
        </p:nvSpPr>
        <p:spPr>
          <a:xfrm>
            <a:off x="5411520" y="1411256"/>
            <a:ext cx="3095695" cy="4132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sym typeface="Wingdings" panose="05000000000000000000" pitchFamily="2" charset="2"/>
              </a:rPr>
              <a:t>Intraspecific</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None/>
            </a:pPr>
            <a:r>
              <a:rPr lang="fr-FR" dirty="0">
                <a:sym typeface="Wingdings" panose="05000000000000000000" pitchFamily="2" charset="2"/>
              </a:rPr>
              <a:t> </a:t>
            </a:r>
            <a:r>
              <a:rPr lang="fr-FR" dirty="0" err="1">
                <a:sym typeface="Wingdings" panose="05000000000000000000" pitchFamily="2" charset="2"/>
              </a:rPr>
              <a:t>Varietal</a:t>
            </a:r>
            <a:r>
              <a:rPr lang="fr-FR" dirty="0">
                <a:sym typeface="Wingdings" panose="05000000000000000000" pitchFamily="2" charset="2"/>
              </a:rPr>
              <a:t> </a:t>
            </a:r>
            <a:r>
              <a:rPr lang="fr-FR" dirty="0" err="1">
                <a:sym typeface="Wingdings" panose="05000000000000000000" pitchFamily="2" charset="2"/>
              </a:rPr>
              <a:t>variability</a:t>
            </a:r>
            <a:endParaRPr lang="fr-FR" dirty="0">
              <a:sym typeface="Wingdings" panose="05000000000000000000" pitchFamily="2" charset="2"/>
            </a:endParaRPr>
          </a:p>
        </p:txBody>
      </p:sp>
      <p:sp>
        <p:nvSpPr>
          <p:cNvPr id="13" name="Rectangle 12">
            <a:extLst>
              <a:ext uri="{FF2B5EF4-FFF2-40B4-BE49-F238E27FC236}">
                <a16:creationId xmlns:a16="http://schemas.microsoft.com/office/drawing/2014/main" id="{799389F9-3977-47A6-8B65-014951082EB2}"/>
              </a:ext>
            </a:extLst>
          </p:cNvPr>
          <p:cNvSpPr/>
          <p:nvPr/>
        </p:nvSpPr>
        <p:spPr>
          <a:xfrm flipH="1">
            <a:off x="2422762" y="350427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68018F0-57F8-4417-822A-F8E18802698E}"/>
              </a:ext>
            </a:extLst>
          </p:cNvPr>
          <p:cNvSpPr/>
          <p:nvPr/>
        </p:nvSpPr>
        <p:spPr>
          <a:xfrm flipH="1">
            <a:off x="2869195" y="350427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74CF50-E944-41B9-9D08-673723F583BB}"/>
              </a:ext>
            </a:extLst>
          </p:cNvPr>
          <p:cNvSpPr/>
          <p:nvPr/>
        </p:nvSpPr>
        <p:spPr>
          <a:xfrm flipH="1">
            <a:off x="3303478" y="350427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9D60275-43D7-4950-8DC8-A36BD92B5A41}"/>
              </a:ext>
            </a:extLst>
          </p:cNvPr>
          <p:cNvSpPr/>
          <p:nvPr/>
        </p:nvSpPr>
        <p:spPr>
          <a:xfrm flipH="1">
            <a:off x="3737638" y="350566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6CA15BD-95E6-42D1-B1F2-32B3A5C56B7D}"/>
              </a:ext>
            </a:extLst>
          </p:cNvPr>
          <p:cNvSpPr/>
          <p:nvPr/>
        </p:nvSpPr>
        <p:spPr>
          <a:xfrm flipH="1">
            <a:off x="2412251" y="489176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92EBDB2-4C91-4D18-A62B-6DE612FEB3E3}"/>
              </a:ext>
            </a:extLst>
          </p:cNvPr>
          <p:cNvSpPr/>
          <p:nvPr/>
        </p:nvSpPr>
        <p:spPr>
          <a:xfrm flipH="1">
            <a:off x="2412251" y="419421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47EE099-6B27-4649-BED4-973F15AAE608}"/>
              </a:ext>
            </a:extLst>
          </p:cNvPr>
          <p:cNvSpPr/>
          <p:nvPr/>
        </p:nvSpPr>
        <p:spPr>
          <a:xfrm flipH="1">
            <a:off x="3231390" y="489323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CB7EE6A-3DBE-4FEF-A5FB-6B0FA4620B93}"/>
              </a:ext>
            </a:extLst>
          </p:cNvPr>
          <p:cNvSpPr/>
          <p:nvPr/>
        </p:nvSpPr>
        <p:spPr>
          <a:xfrm flipH="1">
            <a:off x="3304960" y="419568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BD62830-75AD-403D-8E21-D9F997E09E5B}"/>
              </a:ext>
            </a:extLst>
          </p:cNvPr>
          <p:cNvSpPr/>
          <p:nvPr/>
        </p:nvSpPr>
        <p:spPr>
          <a:xfrm flipH="1">
            <a:off x="2869195" y="419421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DBA057CD-A397-477E-AFC3-116A7D681B6D}"/>
              </a:ext>
            </a:extLst>
          </p:cNvPr>
          <p:cNvSpPr/>
          <p:nvPr/>
        </p:nvSpPr>
        <p:spPr>
          <a:xfrm flipH="1">
            <a:off x="2417252" y="490227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478D1066-C62B-4ED5-96ED-FC6F2637FE1A}"/>
              </a:ext>
            </a:extLst>
          </p:cNvPr>
          <p:cNvSpPr/>
          <p:nvPr/>
        </p:nvSpPr>
        <p:spPr>
          <a:xfrm flipH="1">
            <a:off x="3739128" y="419421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5553ED22-F80C-43E8-8073-F3E10C8037CD}"/>
              </a:ext>
            </a:extLst>
          </p:cNvPr>
          <p:cNvSpPr/>
          <p:nvPr/>
        </p:nvSpPr>
        <p:spPr>
          <a:xfrm flipH="1">
            <a:off x="3320318" y="490227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E291AF53-E1F9-4083-85F2-339A88037782}"/>
              </a:ext>
            </a:extLst>
          </p:cNvPr>
          <p:cNvGrpSpPr/>
          <p:nvPr/>
        </p:nvGrpSpPr>
        <p:grpSpPr>
          <a:xfrm>
            <a:off x="5189861" y="3430396"/>
            <a:ext cx="2725913" cy="2199233"/>
            <a:chOff x="4990353" y="3710866"/>
            <a:chExt cx="3468158" cy="2629443"/>
          </a:xfrm>
        </p:grpSpPr>
        <p:sp>
          <p:nvSpPr>
            <p:cNvPr id="9" name="Rectangle 8">
              <a:extLst>
                <a:ext uri="{FF2B5EF4-FFF2-40B4-BE49-F238E27FC236}">
                  <a16:creationId xmlns:a16="http://schemas.microsoft.com/office/drawing/2014/main" id="{8B925DA6-E92D-4ED0-9465-A2F8CC42D8FC}"/>
                </a:ext>
              </a:extLst>
            </p:cNvPr>
            <p:cNvSpPr/>
            <p:nvPr/>
          </p:nvSpPr>
          <p:spPr>
            <a:xfrm>
              <a:off x="4991665" y="371086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8100000" scaled="1"/>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9D6FB8-2364-4189-AF12-CE9CE60D5899}"/>
                </a:ext>
              </a:extLst>
            </p:cNvPr>
            <p:cNvSpPr/>
            <p:nvPr/>
          </p:nvSpPr>
          <p:spPr>
            <a:xfrm>
              <a:off x="5852799" y="3710866"/>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54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859B74D-03C7-495A-822B-BAE86BDD3FB9}"/>
                </a:ext>
              </a:extLst>
            </p:cNvPr>
            <p:cNvSpPr/>
            <p:nvPr/>
          </p:nvSpPr>
          <p:spPr>
            <a:xfrm>
              <a:off x="6713933" y="371086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path path="circle">
                <a:fillToRect l="50000" t="50000" r="50000" b="50000"/>
              </a:path>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21E039B-77C5-418A-A627-C44263B6DF1A}"/>
                </a:ext>
              </a:extLst>
            </p:cNvPr>
            <p:cNvSpPr/>
            <p:nvPr/>
          </p:nvSpPr>
          <p:spPr>
            <a:xfrm>
              <a:off x="7575067" y="3710866"/>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135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458619E-56F5-43F6-B84B-B0E10B1CAC13}"/>
                </a:ext>
              </a:extLst>
            </p:cNvPr>
            <p:cNvSpPr/>
            <p:nvPr/>
          </p:nvSpPr>
          <p:spPr>
            <a:xfrm flipH="1">
              <a:off x="4990354" y="561295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E0E76D6-8CAB-466E-9B91-B590B5B4D2E6}"/>
                </a:ext>
              </a:extLst>
            </p:cNvPr>
            <p:cNvSpPr/>
            <p:nvPr/>
          </p:nvSpPr>
          <p:spPr>
            <a:xfrm flipH="1">
              <a:off x="5415932" y="5625538"/>
              <a:ext cx="443877" cy="699001"/>
            </a:xfrm>
            <a:prstGeom prst="rect">
              <a:avLst/>
            </a:prstGeom>
            <a:solidFill>
              <a:srgbClr val="00B050"/>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8B8294-2CFB-4CA4-9365-BF11A9160774}"/>
                </a:ext>
              </a:extLst>
            </p:cNvPr>
            <p:cNvSpPr/>
            <p:nvPr/>
          </p:nvSpPr>
          <p:spPr>
            <a:xfrm flipH="1">
              <a:off x="5399880" y="3721787"/>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4DEEA983-1FFE-4D06-BA09-03BAE9400DF1}"/>
                </a:ext>
              </a:extLst>
            </p:cNvPr>
            <p:cNvSpPr/>
            <p:nvPr/>
          </p:nvSpPr>
          <p:spPr>
            <a:xfrm flipH="1">
              <a:off x="4997517" y="4414431"/>
              <a:ext cx="443877" cy="699001"/>
            </a:xfrm>
            <a:prstGeom prst="rect">
              <a:avLst/>
            </a:prstGeom>
            <a:solidFill>
              <a:srgbClr val="399758"/>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A43C75D-FEB5-486E-AAE2-6301B131C94A}"/>
                </a:ext>
              </a:extLst>
            </p:cNvPr>
            <p:cNvSpPr/>
            <p:nvPr/>
          </p:nvSpPr>
          <p:spPr>
            <a:xfrm flipH="1">
              <a:off x="5411521" y="4427070"/>
              <a:ext cx="443877" cy="699001"/>
            </a:xfrm>
            <a:prstGeom prst="rect">
              <a:avLst/>
            </a:prstGeom>
            <a:solidFill>
              <a:srgbClr val="24743A"/>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8A74C614-4E5B-4DC7-AF68-F67241A5D8C9}"/>
                </a:ext>
              </a:extLst>
            </p:cNvPr>
            <p:cNvSpPr/>
            <p:nvPr/>
          </p:nvSpPr>
          <p:spPr>
            <a:xfrm flipH="1">
              <a:off x="5005905" y="5071607"/>
              <a:ext cx="443877" cy="699001"/>
            </a:xfrm>
            <a:prstGeom prst="rect">
              <a:avLst/>
            </a:prstGeom>
            <a:solidFill>
              <a:schemeClr val="accent3">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F25FBC8-227D-46B2-AE38-BC2FBC3DBF2F}"/>
                </a:ext>
              </a:extLst>
            </p:cNvPr>
            <p:cNvSpPr/>
            <p:nvPr/>
          </p:nvSpPr>
          <p:spPr>
            <a:xfrm flipH="1">
              <a:off x="5423998" y="5113432"/>
              <a:ext cx="443877" cy="699001"/>
            </a:xfrm>
            <a:prstGeom prst="rect">
              <a:avLst/>
            </a:prstGeom>
            <a:solidFill>
              <a:schemeClr val="accent6">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3DB7384-1DEA-4ADE-887B-F71EB13D5F21}"/>
                </a:ext>
              </a:extLst>
            </p:cNvPr>
            <p:cNvSpPr/>
            <p:nvPr/>
          </p:nvSpPr>
          <p:spPr>
            <a:xfrm flipH="1">
              <a:off x="4990353" y="3731422"/>
              <a:ext cx="443877" cy="699001"/>
            </a:xfrm>
            <a:prstGeom prst="rect">
              <a:avLst/>
            </a:prstGeom>
            <a:solidFill>
              <a:schemeClr val="accent6">
                <a:lumMod val="7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A65899F-D1F6-421C-A88E-7607D0AEC454}"/>
                </a:ext>
              </a:extLst>
            </p:cNvPr>
            <p:cNvSpPr/>
            <p:nvPr/>
          </p:nvSpPr>
          <p:spPr>
            <a:xfrm>
              <a:off x="6699593" y="372663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8100000" scaled="1"/>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574DC8D-F01F-4FBB-BC6E-F21D432B545C}"/>
                </a:ext>
              </a:extLst>
            </p:cNvPr>
            <p:cNvSpPr/>
            <p:nvPr/>
          </p:nvSpPr>
          <p:spPr>
            <a:xfrm flipH="1">
              <a:off x="6698282" y="562872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6C0F730-F76C-48A3-8E1E-F1A7FF78B1B9}"/>
                </a:ext>
              </a:extLst>
            </p:cNvPr>
            <p:cNvSpPr/>
            <p:nvPr/>
          </p:nvSpPr>
          <p:spPr>
            <a:xfrm flipH="1">
              <a:off x="7123860" y="5641308"/>
              <a:ext cx="443877" cy="699001"/>
            </a:xfrm>
            <a:prstGeom prst="rect">
              <a:avLst/>
            </a:prstGeom>
            <a:solidFill>
              <a:srgbClr val="00B050"/>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59E2BC55-680D-4B2C-885E-8ADE2B0E8E7D}"/>
                </a:ext>
              </a:extLst>
            </p:cNvPr>
            <p:cNvSpPr/>
            <p:nvPr/>
          </p:nvSpPr>
          <p:spPr>
            <a:xfrm flipH="1">
              <a:off x="7107808" y="3737557"/>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8FA89E6-FD47-44B1-84CF-E08D50FE1E93}"/>
                </a:ext>
              </a:extLst>
            </p:cNvPr>
            <p:cNvSpPr/>
            <p:nvPr/>
          </p:nvSpPr>
          <p:spPr>
            <a:xfrm flipH="1">
              <a:off x="6705445" y="4430201"/>
              <a:ext cx="443877" cy="699001"/>
            </a:xfrm>
            <a:prstGeom prst="rect">
              <a:avLst/>
            </a:prstGeom>
            <a:solidFill>
              <a:srgbClr val="399758"/>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6D6BADC3-B58D-429E-918A-1C7A428BEF3F}"/>
                </a:ext>
              </a:extLst>
            </p:cNvPr>
            <p:cNvSpPr/>
            <p:nvPr/>
          </p:nvSpPr>
          <p:spPr>
            <a:xfrm flipH="1">
              <a:off x="7119449" y="4442840"/>
              <a:ext cx="443877" cy="699001"/>
            </a:xfrm>
            <a:prstGeom prst="rect">
              <a:avLst/>
            </a:prstGeom>
            <a:solidFill>
              <a:srgbClr val="24743A"/>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E454878-6708-46C7-8D63-423BB3D03CC9}"/>
                </a:ext>
              </a:extLst>
            </p:cNvPr>
            <p:cNvSpPr/>
            <p:nvPr/>
          </p:nvSpPr>
          <p:spPr>
            <a:xfrm flipH="1">
              <a:off x="6713833" y="5087377"/>
              <a:ext cx="443877" cy="699001"/>
            </a:xfrm>
            <a:prstGeom prst="rect">
              <a:avLst/>
            </a:prstGeom>
            <a:solidFill>
              <a:schemeClr val="accent3">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807EE1F-A4DD-44CA-9FA3-6AE4DF57AFC9}"/>
                </a:ext>
              </a:extLst>
            </p:cNvPr>
            <p:cNvSpPr/>
            <p:nvPr/>
          </p:nvSpPr>
          <p:spPr>
            <a:xfrm flipH="1">
              <a:off x="7131926" y="5129202"/>
              <a:ext cx="443877" cy="699001"/>
            </a:xfrm>
            <a:prstGeom prst="rect">
              <a:avLst/>
            </a:prstGeom>
            <a:solidFill>
              <a:schemeClr val="accent6">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F4AAC9-BACA-41EC-9849-E98CBA788266}"/>
                </a:ext>
              </a:extLst>
            </p:cNvPr>
            <p:cNvSpPr/>
            <p:nvPr/>
          </p:nvSpPr>
          <p:spPr>
            <a:xfrm flipH="1">
              <a:off x="6698281" y="3747192"/>
              <a:ext cx="443877" cy="699001"/>
            </a:xfrm>
            <a:prstGeom prst="rect">
              <a:avLst/>
            </a:prstGeom>
            <a:solidFill>
              <a:schemeClr val="accent6">
                <a:lumMod val="7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92B02A-7FE6-4BCF-8522-A0976FD2B7C9}"/>
                </a:ext>
              </a:extLst>
            </p:cNvPr>
            <p:cNvSpPr/>
            <p:nvPr/>
          </p:nvSpPr>
          <p:spPr>
            <a:xfrm flipH="1">
              <a:off x="5854311" y="371224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284C262D-AE7C-4FC2-B1B1-9809D983CEF9}"/>
                </a:ext>
              </a:extLst>
            </p:cNvPr>
            <p:cNvSpPr/>
            <p:nvPr/>
          </p:nvSpPr>
          <p:spPr>
            <a:xfrm flipH="1">
              <a:off x="6258415" y="4307082"/>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68631A-EB34-4910-94F2-9E3456F92378}"/>
                </a:ext>
              </a:extLst>
            </p:cNvPr>
            <p:cNvSpPr/>
            <p:nvPr/>
          </p:nvSpPr>
          <p:spPr>
            <a:xfrm flipH="1">
              <a:off x="6285686" y="4974994"/>
              <a:ext cx="443877" cy="699001"/>
            </a:xfrm>
            <a:prstGeom prst="rect">
              <a:avLst/>
            </a:prstGeom>
            <a:solidFill>
              <a:schemeClr val="accent2"/>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A917354-10A6-4C45-9B55-899D66254678}"/>
                </a:ext>
              </a:extLst>
            </p:cNvPr>
            <p:cNvSpPr/>
            <p:nvPr/>
          </p:nvSpPr>
          <p:spPr>
            <a:xfrm flipH="1">
              <a:off x="5871548" y="4928427"/>
              <a:ext cx="443877" cy="699001"/>
            </a:xfrm>
            <a:prstGeom prst="rect">
              <a:avLst/>
            </a:prstGeom>
            <a:solidFill>
              <a:schemeClr val="accent2">
                <a:lumMod val="75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72ACF26-2FBF-4F1F-90C4-10073F882CA8}"/>
                </a:ext>
              </a:extLst>
            </p:cNvPr>
            <p:cNvSpPr/>
            <p:nvPr/>
          </p:nvSpPr>
          <p:spPr>
            <a:xfrm flipH="1">
              <a:off x="6275554" y="5635671"/>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87B81F4-F6FD-4765-B9E2-FF3630303966}"/>
                </a:ext>
              </a:extLst>
            </p:cNvPr>
            <p:cNvSpPr/>
            <p:nvPr/>
          </p:nvSpPr>
          <p:spPr>
            <a:xfrm flipH="1">
              <a:off x="5879616" y="5601081"/>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5AAE0F8-003E-4902-B6BA-FA9EC2D9C2FF}"/>
                </a:ext>
              </a:extLst>
            </p:cNvPr>
            <p:cNvSpPr/>
            <p:nvPr/>
          </p:nvSpPr>
          <p:spPr>
            <a:xfrm>
              <a:off x="7581747" y="3716124"/>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54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C72976E-852C-41E7-9E62-C51E9BFF857B}"/>
                </a:ext>
              </a:extLst>
            </p:cNvPr>
            <p:cNvSpPr/>
            <p:nvPr/>
          </p:nvSpPr>
          <p:spPr>
            <a:xfrm flipH="1">
              <a:off x="7583259" y="3717503"/>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66A0B957-6A69-42D0-AC09-A87A58E26EAF}"/>
                </a:ext>
              </a:extLst>
            </p:cNvPr>
            <p:cNvSpPr/>
            <p:nvPr/>
          </p:nvSpPr>
          <p:spPr>
            <a:xfrm flipH="1">
              <a:off x="7987363" y="4312340"/>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17B9E32B-37E4-4E1D-993B-7766F1675869}"/>
                </a:ext>
              </a:extLst>
            </p:cNvPr>
            <p:cNvSpPr/>
            <p:nvPr/>
          </p:nvSpPr>
          <p:spPr>
            <a:xfrm flipH="1">
              <a:off x="8014634" y="4980252"/>
              <a:ext cx="443877" cy="699001"/>
            </a:xfrm>
            <a:prstGeom prst="rect">
              <a:avLst/>
            </a:prstGeom>
            <a:solidFill>
              <a:schemeClr val="accent2"/>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D6EAA25-4636-4ED6-88B1-1392186FF10A}"/>
                </a:ext>
              </a:extLst>
            </p:cNvPr>
            <p:cNvSpPr/>
            <p:nvPr/>
          </p:nvSpPr>
          <p:spPr>
            <a:xfrm flipH="1">
              <a:off x="7600496" y="4933685"/>
              <a:ext cx="443877" cy="699001"/>
            </a:xfrm>
            <a:prstGeom prst="rect">
              <a:avLst/>
            </a:prstGeom>
            <a:solidFill>
              <a:schemeClr val="accent2">
                <a:lumMod val="75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A3C5A82-EA90-4735-9F40-9B31E4938F44}"/>
                </a:ext>
              </a:extLst>
            </p:cNvPr>
            <p:cNvSpPr/>
            <p:nvPr/>
          </p:nvSpPr>
          <p:spPr>
            <a:xfrm flipH="1">
              <a:off x="8004502" y="564092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A0DC20-53A6-4EEB-8397-A0FBD3EA145E}"/>
                </a:ext>
              </a:extLst>
            </p:cNvPr>
            <p:cNvSpPr/>
            <p:nvPr/>
          </p:nvSpPr>
          <p:spPr>
            <a:xfrm flipH="1">
              <a:off x="7608564" y="5606339"/>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grpSp>
      <p:sp>
        <p:nvSpPr>
          <p:cNvPr id="57" name="Content Placeholder 2">
            <a:extLst>
              <a:ext uri="{FF2B5EF4-FFF2-40B4-BE49-F238E27FC236}">
                <a16:creationId xmlns:a16="http://schemas.microsoft.com/office/drawing/2014/main" id="{3D78C80E-9719-4E13-BCA0-496EE3704CB2}"/>
              </a:ext>
            </a:extLst>
          </p:cNvPr>
          <p:cNvSpPr txBox="1">
            <a:spLocks/>
          </p:cNvSpPr>
          <p:nvPr/>
        </p:nvSpPr>
        <p:spPr>
          <a:xfrm>
            <a:off x="9297335" y="1411256"/>
            <a:ext cx="2663437" cy="285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b="1" dirty="0"/>
              <a:t>I</a:t>
            </a:r>
            <a:r>
              <a:rPr lang="fr-FR" b="1" dirty="0">
                <a:sym typeface="Wingdings" panose="05000000000000000000" pitchFamily="2" charset="2"/>
              </a:rPr>
              <a:t>nter-</a:t>
            </a:r>
            <a:r>
              <a:rPr lang="fr-FR" b="1" dirty="0" err="1">
                <a:sym typeface="Wingdings" panose="05000000000000000000" pitchFamily="2" charset="2"/>
              </a:rPr>
              <a:t>organs</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Font typeface="Arial" panose="020B0604020202020204" pitchFamily="34" charset="0"/>
              <a:buNone/>
            </a:pPr>
            <a:r>
              <a:rPr lang="fr-FR" dirty="0">
                <a:sym typeface="Wingdings" panose="05000000000000000000" pitchFamily="2" charset="2"/>
              </a:rPr>
              <a:t> Plant architecture</a:t>
            </a:r>
            <a:endParaRPr lang="en-US" dirty="0"/>
          </a:p>
        </p:txBody>
      </p:sp>
      <p:sp>
        <p:nvSpPr>
          <p:cNvPr id="64" name="Slide Number Placeholder 63">
            <a:extLst>
              <a:ext uri="{FF2B5EF4-FFF2-40B4-BE49-F238E27FC236}">
                <a16:creationId xmlns:a16="http://schemas.microsoft.com/office/drawing/2014/main" id="{08303FCC-F585-4ACB-B2AC-B102DAD52768}"/>
              </a:ext>
            </a:extLst>
          </p:cNvPr>
          <p:cNvSpPr>
            <a:spLocks noGrp="1"/>
          </p:cNvSpPr>
          <p:nvPr>
            <p:ph type="sldNum" sz="quarter" idx="12"/>
          </p:nvPr>
        </p:nvSpPr>
        <p:spPr/>
        <p:txBody>
          <a:bodyPr/>
          <a:lstStyle/>
          <a:p>
            <a:fld id="{27C6CCC6-2BE5-4E42-96A4-D1E8E81A3D8E}" type="slidenum">
              <a:rPr lang="fr-FR" smtClean="0"/>
              <a:t>24</a:t>
            </a:fld>
            <a:endParaRPr lang="fr-FR"/>
          </a:p>
        </p:txBody>
      </p:sp>
      <p:sp>
        <p:nvSpPr>
          <p:cNvPr id="61" name="Title 1">
            <a:extLst>
              <a:ext uri="{FF2B5EF4-FFF2-40B4-BE49-F238E27FC236}">
                <a16:creationId xmlns:a16="http://schemas.microsoft.com/office/drawing/2014/main" id="{983FE060-59B4-460E-901F-970A261B3C07}"/>
              </a:ext>
            </a:extLst>
          </p:cNvPr>
          <p:cNvSpPr txBox="1">
            <a:spLocks/>
          </p:cNvSpPr>
          <p:nvPr/>
        </p:nvSpPr>
        <p:spPr>
          <a:xfrm>
            <a:off x="843664" y="6013881"/>
            <a:ext cx="10515600" cy="55099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3200" dirty="0">
                <a:sym typeface="Wingdings" panose="05000000000000000000" pitchFamily="2" charset="2"/>
              </a:rPr>
              <a:t> </a:t>
            </a:r>
            <a:r>
              <a:rPr lang="en-US" sz="3200" b="1" dirty="0"/>
              <a:t>degrees of freedom</a:t>
            </a:r>
            <a:r>
              <a:rPr lang="en-US" sz="3200" dirty="0"/>
              <a:t> compared to crop model</a:t>
            </a:r>
          </a:p>
        </p:txBody>
      </p:sp>
      <p:pic>
        <p:nvPicPr>
          <p:cNvPr id="59" name="Picture 58">
            <a:extLst>
              <a:ext uri="{FF2B5EF4-FFF2-40B4-BE49-F238E27FC236}">
                <a16:creationId xmlns:a16="http://schemas.microsoft.com/office/drawing/2014/main" id="{1BD5AD4B-76EB-4BB1-9622-EF7F57652AF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541202" y="2874005"/>
            <a:ext cx="1737511" cy="3734124"/>
          </a:xfrm>
          <a:prstGeom prst="rect">
            <a:avLst/>
          </a:prstGeom>
        </p:spPr>
      </p:pic>
    </p:spTree>
    <p:extLst>
      <p:ext uri="{BB962C8B-B14F-4D97-AF65-F5344CB8AC3E}">
        <p14:creationId xmlns:p14="http://schemas.microsoft.com/office/powerpoint/2010/main" val="21211989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777261"/>
            <a:ext cx="10515600" cy="3532999"/>
          </a:xfrm>
        </p:spPr>
        <p:txBody>
          <a:bodyPr>
            <a:normAutofit/>
          </a:bodyPr>
          <a:lstStyle/>
          <a:p>
            <a:pPr marL="0" indent="0">
              <a:buNone/>
            </a:pPr>
            <a:r>
              <a:rPr lang="en-US" dirty="0"/>
              <a:t>Examples of architectural degrees of freedom: </a:t>
            </a:r>
          </a:p>
          <a:p>
            <a:pPr lvl="1"/>
            <a:r>
              <a:rPr lang="en-US" dirty="0"/>
              <a:t>number of </a:t>
            </a:r>
            <a:r>
              <a:rPr lang="en-US" dirty="0" err="1"/>
              <a:t>phytomers</a:t>
            </a:r>
            <a:endParaRPr lang="en-US" dirty="0"/>
          </a:p>
          <a:p>
            <a:pPr lvl="1"/>
            <a:r>
              <a:rPr lang="en-US" dirty="0"/>
              <a:t>longest leaf length</a:t>
            </a:r>
          </a:p>
          <a:p>
            <a:pPr lvl="1"/>
            <a:r>
              <a:rPr lang="en-US" dirty="0"/>
              <a:t>leaf width-to-length ratio</a:t>
            </a:r>
          </a:p>
          <a:p>
            <a:pPr lvl="1"/>
            <a:r>
              <a:rPr lang="en-US" dirty="0"/>
              <a:t>internode lengths</a:t>
            </a:r>
          </a:p>
          <a:p>
            <a:pPr lvl="1"/>
            <a:r>
              <a:rPr lang="en-US" dirty="0"/>
              <a:t>insertion angle</a:t>
            </a:r>
          </a:p>
          <a:p>
            <a:pPr lvl="1"/>
            <a:r>
              <a:rPr lang="en-US" dirty="0"/>
              <a:t>leaf curvature </a:t>
            </a:r>
          </a:p>
          <a:p>
            <a:pPr marL="457200" lvl="1" indent="0">
              <a:buNone/>
            </a:pPr>
            <a:endParaRPr lang="fr-FR" dirty="0">
              <a:sym typeface="Wingdings" panose="05000000000000000000" pitchFamily="2" charset="2"/>
            </a:endParaRPr>
          </a:p>
        </p:txBody>
      </p:sp>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normAutofit/>
          </a:bodyPr>
          <a:lstStyle/>
          <a:p>
            <a:r>
              <a:rPr lang="en-US" sz="4000" dirty="0"/>
              <a:t>Create </a:t>
            </a:r>
            <a:r>
              <a:rPr lang="en-US" sz="4000" dirty="0" err="1"/>
              <a:t>morphospace</a:t>
            </a:r>
            <a:r>
              <a:rPr lang="en-US" sz="4000" dirty="0"/>
              <a:t> of potential plants</a:t>
            </a:r>
          </a:p>
        </p:txBody>
      </p:sp>
      <p:cxnSp>
        <p:nvCxnSpPr>
          <p:cNvPr id="9" name="Straight Arrow Connector 8">
            <a:extLst>
              <a:ext uri="{FF2B5EF4-FFF2-40B4-BE49-F238E27FC236}">
                <a16:creationId xmlns:a16="http://schemas.microsoft.com/office/drawing/2014/main" id="{F8176F28-F2DC-44DA-8ED0-9C1E47842EEF}"/>
              </a:ext>
            </a:extLst>
          </p:cNvPr>
          <p:cNvCxnSpPr>
            <a:cxnSpLocks/>
          </p:cNvCxnSpPr>
          <p:nvPr/>
        </p:nvCxnSpPr>
        <p:spPr>
          <a:xfrm>
            <a:off x="4349026" y="6017913"/>
            <a:ext cx="62923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66CA5268-2940-47EB-8F0E-A3539C3EA135}"/>
              </a:ext>
            </a:extLst>
          </p:cNvPr>
          <p:cNvSpPr>
            <a:spLocks noGrp="1"/>
          </p:cNvSpPr>
          <p:nvPr>
            <p:ph type="sldNum" sz="quarter" idx="12"/>
          </p:nvPr>
        </p:nvSpPr>
        <p:spPr>
          <a:xfrm>
            <a:off x="8610600" y="6356350"/>
            <a:ext cx="2743200" cy="365125"/>
          </a:xfrm>
        </p:spPr>
        <p:txBody>
          <a:bodyPr/>
          <a:lstStyle/>
          <a:p>
            <a:fld id="{27C6CCC6-2BE5-4E42-96A4-D1E8E81A3D8E}" type="slidenum">
              <a:rPr lang="fr-FR" smtClean="0"/>
              <a:t>25</a:t>
            </a:fld>
            <a:endParaRPr lang="fr-FR"/>
          </a:p>
        </p:txBody>
      </p:sp>
      <p:pic>
        <p:nvPicPr>
          <p:cNvPr id="10" name="Picture 9">
            <a:extLst>
              <a:ext uri="{FF2B5EF4-FFF2-40B4-BE49-F238E27FC236}">
                <a16:creationId xmlns:a16="http://schemas.microsoft.com/office/drawing/2014/main" id="{5A75D217-48BD-4CBD-B746-D364C226E1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46910" y="3753289"/>
            <a:ext cx="1027491" cy="2198353"/>
          </a:xfrm>
          <a:prstGeom prst="rect">
            <a:avLst/>
          </a:prstGeom>
        </p:spPr>
      </p:pic>
      <p:pic>
        <p:nvPicPr>
          <p:cNvPr id="14" name="Picture 13">
            <a:extLst>
              <a:ext uri="{FF2B5EF4-FFF2-40B4-BE49-F238E27FC236}">
                <a16:creationId xmlns:a16="http://schemas.microsoft.com/office/drawing/2014/main" id="{B93AA8D3-72F3-4163-8596-8972B10636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85643" y="3753290"/>
            <a:ext cx="1164127" cy="2196820"/>
          </a:xfrm>
          <a:prstGeom prst="rect">
            <a:avLst/>
          </a:prstGeom>
        </p:spPr>
      </p:pic>
      <p:pic>
        <p:nvPicPr>
          <p:cNvPr id="16" name="Picture 15">
            <a:extLst>
              <a:ext uri="{FF2B5EF4-FFF2-40B4-BE49-F238E27FC236}">
                <a16:creationId xmlns:a16="http://schemas.microsoft.com/office/drawing/2014/main" id="{1CCEA71B-0552-42F9-B641-38E85EF7AA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96161" y="3753289"/>
            <a:ext cx="1092342" cy="2196821"/>
          </a:xfrm>
          <a:prstGeom prst="rect">
            <a:avLst/>
          </a:prstGeom>
        </p:spPr>
      </p:pic>
      <p:pic>
        <p:nvPicPr>
          <p:cNvPr id="18" name="Picture 17">
            <a:extLst>
              <a:ext uri="{FF2B5EF4-FFF2-40B4-BE49-F238E27FC236}">
                <a16:creationId xmlns:a16="http://schemas.microsoft.com/office/drawing/2014/main" id="{DB886CD6-0465-48DA-937E-846A7A3B41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59303" y="3753289"/>
            <a:ext cx="839718" cy="2197347"/>
          </a:xfrm>
          <a:prstGeom prst="rect">
            <a:avLst/>
          </a:prstGeom>
        </p:spPr>
      </p:pic>
      <p:sp>
        <p:nvSpPr>
          <p:cNvPr id="19" name="Rectangle 18">
            <a:extLst>
              <a:ext uri="{FF2B5EF4-FFF2-40B4-BE49-F238E27FC236}">
                <a16:creationId xmlns:a16="http://schemas.microsoft.com/office/drawing/2014/main" id="{3530275D-6D25-454D-A5A5-DB5117A5E3FA}"/>
              </a:ext>
            </a:extLst>
          </p:cNvPr>
          <p:cNvSpPr/>
          <p:nvPr/>
        </p:nvSpPr>
        <p:spPr>
          <a:xfrm>
            <a:off x="10641419" y="5648710"/>
            <a:ext cx="1132690" cy="646331"/>
          </a:xfrm>
          <a:prstGeom prst="rect">
            <a:avLst/>
          </a:prstGeom>
        </p:spPr>
        <p:txBody>
          <a:bodyPr wrap="square">
            <a:spAutoFit/>
          </a:bodyPr>
          <a:lstStyle/>
          <a:p>
            <a:r>
              <a:rPr lang="en-US" dirty="0"/>
              <a:t>leaf curvature </a:t>
            </a:r>
            <a:endParaRPr lang="fr-FR" dirty="0">
              <a:sym typeface="Wingdings" panose="05000000000000000000" pitchFamily="2" charset="2"/>
            </a:endParaRPr>
          </a:p>
        </p:txBody>
      </p:sp>
    </p:spTree>
    <p:extLst>
      <p:ext uri="{BB962C8B-B14F-4D97-AF65-F5344CB8AC3E}">
        <p14:creationId xmlns:p14="http://schemas.microsoft.com/office/powerpoint/2010/main" val="7661232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500811"/>
            <a:ext cx="7071804" cy="4500492"/>
          </a:xfrm>
        </p:spPr>
        <p:txBody>
          <a:bodyPr>
            <a:normAutofit/>
          </a:bodyPr>
          <a:lstStyle/>
          <a:p>
            <a:pPr marL="0" indent="0">
              <a:buNone/>
            </a:pPr>
            <a:r>
              <a:rPr lang="fr-FR" dirty="0"/>
              <a:t>3.1.Generate </a:t>
            </a:r>
            <a:r>
              <a:rPr lang="fr-FR" dirty="0" err="1"/>
              <a:t>various</a:t>
            </a:r>
            <a:r>
              <a:rPr lang="fr-FR" dirty="0"/>
              <a:t> </a:t>
            </a:r>
            <a:r>
              <a:rPr lang="fr-FR" dirty="0" err="1"/>
              <a:t>species</a:t>
            </a:r>
            <a:r>
              <a:rPr lang="fr-FR" dirty="0"/>
              <a:t> and </a:t>
            </a:r>
            <a:r>
              <a:rPr lang="fr-FR" dirty="0" err="1"/>
              <a:t>varieties</a:t>
            </a:r>
            <a:endParaRPr lang="fr-FR" dirty="0"/>
          </a:p>
          <a:p>
            <a:pPr lvl="1"/>
            <a:r>
              <a:rPr lang="en-US" dirty="0"/>
              <a:t>Reproduce pictures with model for different species (sorghum, maize, wheat and rice ?)</a:t>
            </a:r>
          </a:p>
          <a:p>
            <a:pPr marL="0" indent="0">
              <a:buNone/>
            </a:pPr>
            <a:endParaRPr lang="en-US" dirty="0"/>
          </a:p>
          <a:p>
            <a:pPr lvl="1"/>
            <a:r>
              <a:rPr lang="en-US" dirty="0" err="1"/>
              <a:t>Morphospaces</a:t>
            </a:r>
            <a:r>
              <a:rPr lang="en-US" dirty="0"/>
              <a:t> (2D) according to degrees of freedom within species-specific ranges: </a:t>
            </a:r>
          </a:p>
          <a:p>
            <a:pPr lvl="3"/>
            <a:r>
              <a:rPr lang="en-US" dirty="0"/>
              <a:t>number of </a:t>
            </a:r>
            <a:r>
              <a:rPr lang="en-US" dirty="0" err="1"/>
              <a:t>phytomers</a:t>
            </a:r>
            <a:endParaRPr lang="en-US" dirty="0"/>
          </a:p>
          <a:p>
            <a:pPr lvl="3"/>
            <a:r>
              <a:rPr lang="en-US" dirty="0"/>
              <a:t>longest leaf length</a:t>
            </a:r>
          </a:p>
          <a:p>
            <a:pPr lvl="3"/>
            <a:r>
              <a:rPr lang="en-US" dirty="0"/>
              <a:t>leaf width-to-length ratio</a:t>
            </a:r>
          </a:p>
          <a:p>
            <a:pPr lvl="3"/>
            <a:r>
              <a:rPr lang="en-US" dirty="0"/>
              <a:t>phyllotaxy</a:t>
            </a:r>
          </a:p>
          <a:p>
            <a:pPr lvl="3"/>
            <a:r>
              <a:rPr lang="en-US" dirty="0"/>
              <a:t>insertion angle</a:t>
            </a:r>
          </a:p>
          <a:p>
            <a:pPr lvl="3"/>
            <a:r>
              <a:rPr lang="en-US" dirty="0"/>
              <a:t>leaf curvature </a:t>
            </a:r>
          </a:p>
        </p:txBody>
      </p:sp>
      <p:pic>
        <p:nvPicPr>
          <p:cNvPr id="5" name="Picture 4">
            <a:extLst>
              <a:ext uri="{FF2B5EF4-FFF2-40B4-BE49-F238E27FC236}">
                <a16:creationId xmlns:a16="http://schemas.microsoft.com/office/drawing/2014/main" id="{6044783E-DD78-4992-A91C-C08A4B53DBDA}"/>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1330228">
            <a:off x="6911393" y="877250"/>
            <a:ext cx="2803496" cy="1880650"/>
          </a:xfrm>
          <a:prstGeom prst="rect">
            <a:avLst/>
          </a:prstGeom>
        </p:spPr>
      </p:pic>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pic>
        <p:nvPicPr>
          <p:cNvPr id="7" name="Picture 6">
            <a:extLst>
              <a:ext uri="{FF2B5EF4-FFF2-40B4-BE49-F238E27FC236}">
                <a16:creationId xmlns:a16="http://schemas.microsoft.com/office/drawing/2014/main" id="{D7B2FD08-D790-4493-A6BB-B13A987881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14889" y="954970"/>
            <a:ext cx="2059220" cy="1571381"/>
          </a:xfrm>
          <a:prstGeom prst="rect">
            <a:avLst/>
          </a:prstGeom>
        </p:spPr>
      </p:pic>
      <p:cxnSp>
        <p:nvCxnSpPr>
          <p:cNvPr id="10" name="Straight Arrow Connector 9">
            <a:extLst>
              <a:ext uri="{FF2B5EF4-FFF2-40B4-BE49-F238E27FC236}">
                <a16:creationId xmlns:a16="http://schemas.microsoft.com/office/drawing/2014/main" id="{E2570DA1-4013-4EF7-86F5-E933D9A8840F}"/>
              </a:ext>
            </a:extLst>
          </p:cNvPr>
          <p:cNvCxnSpPr>
            <a:cxnSpLocks/>
          </p:cNvCxnSpPr>
          <p:nvPr/>
        </p:nvCxnSpPr>
        <p:spPr>
          <a:xfrm>
            <a:off x="4526580" y="6435166"/>
            <a:ext cx="62923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pic>
        <p:nvPicPr>
          <p:cNvPr id="12" name="Picture 11">
            <a:extLst>
              <a:ext uri="{FF2B5EF4-FFF2-40B4-BE49-F238E27FC236}">
                <a16:creationId xmlns:a16="http://schemas.microsoft.com/office/drawing/2014/main" id="{130D5E08-3B3C-4A35-9005-93D89A4D870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24464" y="4170542"/>
            <a:ext cx="1027491" cy="2198353"/>
          </a:xfrm>
          <a:prstGeom prst="rect">
            <a:avLst/>
          </a:prstGeom>
        </p:spPr>
      </p:pic>
      <p:pic>
        <p:nvPicPr>
          <p:cNvPr id="14" name="Picture 13">
            <a:extLst>
              <a:ext uri="{FF2B5EF4-FFF2-40B4-BE49-F238E27FC236}">
                <a16:creationId xmlns:a16="http://schemas.microsoft.com/office/drawing/2014/main" id="{9DC278EC-FB85-4CA2-947A-2750DF99B4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63197" y="4170543"/>
            <a:ext cx="1164127" cy="2196820"/>
          </a:xfrm>
          <a:prstGeom prst="rect">
            <a:avLst/>
          </a:prstGeom>
        </p:spPr>
      </p:pic>
      <p:pic>
        <p:nvPicPr>
          <p:cNvPr id="15" name="Picture 14">
            <a:extLst>
              <a:ext uri="{FF2B5EF4-FFF2-40B4-BE49-F238E27FC236}">
                <a16:creationId xmlns:a16="http://schemas.microsoft.com/office/drawing/2014/main" id="{F0149E6D-1EE8-46D8-8BC2-5B8E497D82F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3715" y="4170542"/>
            <a:ext cx="1092342" cy="2196821"/>
          </a:xfrm>
          <a:prstGeom prst="rect">
            <a:avLst/>
          </a:prstGeom>
        </p:spPr>
      </p:pic>
      <p:pic>
        <p:nvPicPr>
          <p:cNvPr id="16" name="Picture 15">
            <a:extLst>
              <a:ext uri="{FF2B5EF4-FFF2-40B4-BE49-F238E27FC236}">
                <a16:creationId xmlns:a16="http://schemas.microsoft.com/office/drawing/2014/main" id="{888725DF-63B1-4583-AC8B-E15CD49950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36857" y="4170542"/>
            <a:ext cx="839718" cy="2197347"/>
          </a:xfrm>
          <a:prstGeom prst="rect">
            <a:avLst/>
          </a:prstGeom>
        </p:spPr>
      </p:pic>
      <p:sp>
        <p:nvSpPr>
          <p:cNvPr id="17" name="Rectangle 16">
            <a:extLst>
              <a:ext uri="{FF2B5EF4-FFF2-40B4-BE49-F238E27FC236}">
                <a16:creationId xmlns:a16="http://schemas.microsoft.com/office/drawing/2014/main" id="{B574E829-9F74-4F5A-ABC2-96745855D3BA}"/>
              </a:ext>
            </a:extLst>
          </p:cNvPr>
          <p:cNvSpPr/>
          <p:nvPr/>
        </p:nvSpPr>
        <p:spPr>
          <a:xfrm>
            <a:off x="10818973" y="6065963"/>
            <a:ext cx="1132690" cy="646331"/>
          </a:xfrm>
          <a:prstGeom prst="rect">
            <a:avLst/>
          </a:prstGeom>
        </p:spPr>
        <p:txBody>
          <a:bodyPr wrap="square">
            <a:spAutoFit/>
          </a:bodyPr>
          <a:lstStyle/>
          <a:p>
            <a:r>
              <a:rPr lang="en-US" dirty="0"/>
              <a:t>leaf curvature </a:t>
            </a:r>
            <a:endParaRPr lang="fr-FR" dirty="0">
              <a:sym typeface="Wingdings" panose="05000000000000000000" pitchFamily="2" charset="2"/>
            </a:endParaRPr>
          </a:p>
        </p:txBody>
      </p:sp>
      <p:sp>
        <p:nvSpPr>
          <p:cNvPr id="4" name="Slide Number Placeholder 3">
            <a:extLst>
              <a:ext uri="{FF2B5EF4-FFF2-40B4-BE49-F238E27FC236}">
                <a16:creationId xmlns:a16="http://schemas.microsoft.com/office/drawing/2014/main" id="{A19A93FB-01F5-4DAC-92D7-A01DFEF89808}"/>
              </a:ext>
            </a:extLst>
          </p:cNvPr>
          <p:cNvSpPr>
            <a:spLocks noGrp="1"/>
          </p:cNvSpPr>
          <p:nvPr>
            <p:ph type="sldNum" sz="quarter" idx="12"/>
          </p:nvPr>
        </p:nvSpPr>
        <p:spPr/>
        <p:txBody>
          <a:bodyPr/>
          <a:lstStyle/>
          <a:p>
            <a:fld id="{4D0921BC-FC9B-4B20-AD4C-0D7EEBC2A9A8}" type="slidenum">
              <a:rPr lang="en-US" smtClean="0"/>
              <a:t>26</a:t>
            </a:fld>
            <a:endParaRPr lang="en-US"/>
          </a:p>
        </p:txBody>
      </p:sp>
      <p:sp>
        <p:nvSpPr>
          <p:cNvPr id="6" name="TextBox 5">
            <a:extLst>
              <a:ext uri="{FF2B5EF4-FFF2-40B4-BE49-F238E27FC236}">
                <a16:creationId xmlns:a16="http://schemas.microsoft.com/office/drawing/2014/main" id="{F99D672A-B1D4-4AAD-827E-30D92A835951}"/>
              </a:ext>
            </a:extLst>
          </p:cNvPr>
          <p:cNvSpPr txBox="1"/>
          <p:nvPr/>
        </p:nvSpPr>
        <p:spPr>
          <a:xfrm>
            <a:off x="9784291" y="2635624"/>
            <a:ext cx="1833968" cy="646331"/>
          </a:xfrm>
          <a:prstGeom prst="rect">
            <a:avLst/>
          </a:prstGeom>
          <a:noFill/>
        </p:spPr>
        <p:txBody>
          <a:bodyPr wrap="square" rtlCol="0">
            <a:spAutoFit/>
          </a:bodyPr>
          <a:lstStyle/>
          <a:p>
            <a:r>
              <a:rPr lang="en-US" dirty="0"/>
              <a:t>Picture of plant in field</a:t>
            </a:r>
          </a:p>
        </p:txBody>
      </p:sp>
      <p:sp>
        <p:nvSpPr>
          <p:cNvPr id="8" name="TextBox 7">
            <a:extLst>
              <a:ext uri="{FF2B5EF4-FFF2-40B4-BE49-F238E27FC236}">
                <a16:creationId xmlns:a16="http://schemas.microsoft.com/office/drawing/2014/main" id="{C218D8FA-9784-489F-A1AF-61874909A229}"/>
              </a:ext>
            </a:extLst>
          </p:cNvPr>
          <p:cNvSpPr txBox="1"/>
          <p:nvPr/>
        </p:nvSpPr>
        <p:spPr>
          <a:xfrm>
            <a:off x="1409252" y="5819887"/>
            <a:ext cx="2783658" cy="646331"/>
          </a:xfrm>
          <a:prstGeom prst="rect">
            <a:avLst/>
          </a:prstGeom>
          <a:noFill/>
        </p:spPr>
        <p:txBody>
          <a:bodyPr wrap="square" rtlCol="0">
            <a:spAutoFit/>
          </a:bodyPr>
          <a:lstStyle/>
          <a:p>
            <a:r>
              <a:rPr lang="en-US" dirty="0"/>
              <a:t>Generate all combinations and see what we keep</a:t>
            </a:r>
          </a:p>
        </p:txBody>
      </p:sp>
    </p:spTree>
    <p:extLst>
      <p:ext uri="{BB962C8B-B14F-4D97-AF65-F5344CB8AC3E}">
        <p14:creationId xmlns:p14="http://schemas.microsoft.com/office/powerpoint/2010/main" val="20452488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6B419-5093-45C1-8DAC-9441E378E7FA}"/>
              </a:ext>
            </a:extLst>
          </p:cNvPr>
          <p:cNvSpPr>
            <a:spLocks noGrp="1"/>
          </p:cNvSpPr>
          <p:nvPr>
            <p:ph type="title"/>
          </p:nvPr>
        </p:nvSpPr>
        <p:spPr>
          <a:xfrm>
            <a:off x="846667" y="216561"/>
            <a:ext cx="10795984" cy="804049"/>
          </a:xfrm>
        </p:spPr>
        <p:txBody>
          <a:bodyPr>
            <a:noAutofit/>
          </a:bodyPr>
          <a:lstStyle/>
          <a:p>
            <a:r>
              <a:rPr lang="fr-FR" sz="4000" dirty="0"/>
              <a:t>Workflow of simulations of </a:t>
            </a:r>
            <a:r>
              <a:rPr lang="fr-FR" sz="4000" dirty="0" err="1"/>
              <a:t>intercrops</a:t>
            </a:r>
            <a:r>
              <a:rPr lang="fr-FR" sz="4000" dirty="0"/>
              <a:t> </a:t>
            </a:r>
            <a:r>
              <a:rPr lang="fr-FR" sz="4000" dirty="0" err="1"/>
              <a:t>through</a:t>
            </a:r>
            <a:r>
              <a:rPr lang="fr-FR" sz="4000" dirty="0"/>
              <a:t> time</a:t>
            </a:r>
            <a:endParaRPr lang="en-US" sz="4000" dirty="0"/>
          </a:p>
        </p:txBody>
      </p:sp>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1 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27</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BECEF344-8394-4A3A-B4AF-83EB72E1AE3D}"/>
              </a:ext>
            </a:extLst>
          </p:cNvPr>
          <p:cNvSpPr txBox="1"/>
          <p:nvPr/>
        </p:nvSpPr>
        <p:spPr>
          <a:xfrm>
            <a:off x="1677510" y="1691755"/>
            <a:ext cx="499730" cy="369332"/>
          </a:xfrm>
          <a:prstGeom prst="rect">
            <a:avLst/>
          </a:prstGeom>
          <a:noFill/>
        </p:spPr>
        <p:txBody>
          <a:bodyPr wrap="square" rtlCol="0">
            <a:spAutoFit/>
          </a:bodyPr>
          <a:lstStyle/>
          <a:p>
            <a:r>
              <a:rPr lang="en-US" dirty="0"/>
              <a:t>x</a:t>
            </a:r>
          </a:p>
        </p:txBody>
      </p:sp>
      <p:sp>
        <p:nvSpPr>
          <p:cNvPr id="125" name="TextBox 124">
            <a:extLst>
              <a:ext uri="{FF2B5EF4-FFF2-40B4-BE49-F238E27FC236}">
                <a16:creationId xmlns:a16="http://schemas.microsoft.com/office/drawing/2014/main" id="{AFD16733-3335-4CB1-8887-6E7E3C1E764F}"/>
              </a:ext>
            </a:extLst>
          </p:cNvPr>
          <p:cNvSpPr txBox="1"/>
          <p:nvPr/>
        </p:nvSpPr>
        <p:spPr>
          <a:xfrm>
            <a:off x="8914147" y="4492177"/>
            <a:ext cx="1428238" cy="1200329"/>
          </a:xfrm>
          <a:prstGeom prst="rect">
            <a:avLst/>
          </a:prstGeom>
          <a:noFill/>
        </p:spPr>
        <p:txBody>
          <a:bodyPr wrap="square" rtlCol="0">
            <a:spAutoFit/>
          </a:bodyPr>
          <a:lstStyle/>
          <a:p>
            <a:r>
              <a:rPr lang="en-US" dirty="0"/>
              <a:t>Generation of 3D scenes of intercrops through time</a:t>
            </a:r>
          </a:p>
        </p:txBody>
      </p:sp>
      <p:pic>
        <p:nvPicPr>
          <p:cNvPr id="127" name="Graphic 126">
            <a:extLst>
              <a:ext uri="{FF2B5EF4-FFF2-40B4-BE49-F238E27FC236}">
                <a16:creationId xmlns:a16="http://schemas.microsoft.com/office/drawing/2014/main" id="{91CA342E-D9F3-465D-9E40-2AFD6DFC5AE3}"/>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225690" y="5776127"/>
            <a:ext cx="953848" cy="738463"/>
          </a:xfrm>
          <a:prstGeom prst="rect">
            <a:avLst/>
          </a:prstGeom>
        </p:spPr>
      </p:pic>
    </p:spTree>
    <p:extLst>
      <p:ext uri="{BB962C8B-B14F-4D97-AF65-F5344CB8AC3E}">
        <p14:creationId xmlns:p14="http://schemas.microsoft.com/office/powerpoint/2010/main" val="16198590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1 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cxnSp>
        <p:nvCxnSpPr>
          <p:cNvPr id="160" name="Straight Arrow Connector 159">
            <a:extLst>
              <a:ext uri="{FF2B5EF4-FFF2-40B4-BE49-F238E27FC236}">
                <a16:creationId xmlns:a16="http://schemas.microsoft.com/office/drawing/2014/main" id="{919C5013-02BF-41E9-BB1E-3424C33C7527}"/>
              </a:ext>
            </a:extLst>
          </p:cNvPr>
          <p:cNvCxnSpPr>
            <a:cxnSpLocks/>
            <a:stCxn id="40" idx="1"/>
            <a:endCxn id="43" idx="3"/>
          </p:cNvCxnSpPr>
          <p:nvPr/>
        </p:nvCxnSpPr>
        <p:spPr>
          <a:xfrm flipH="1" flipV="1">
            <a:off x="4892160" y="5239590"/>
            <a:ext cx="1363656" cy="11431"/>
          </a:xfrm>
          <a:prstGeom prst="straightConnector1">
            <a:avLst/>
          </a:prstGeom>
          <a:ln w="38100">
            <a:solidFill>
              <a:srgbClr val="FFC000"/>
            </a:solidFill>
            <a:tailEnd type="triangle"/>
          </a:ln>
        </p:spPr>
        <p:style>
          <a:lnRef idx="1">
            <a:schemeClr val="accent2"/>
          </a:lnRef>
          <a:fillRef idx="0">
            <a:schemeClr val="accent2"/>
          </a:fillRef>
          <a:effectRef idx="0">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28</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sp>
        <p:nvSpPr>
          <p:cNvPr id="28" name="TextBox 27">
            <a:extLst>
              <a:ext uri="{FF2B5EF4-FFF2-40B4-BE49-F238E27FC236}">
                <a16:creationId xmlns:a16="http://schemas.microsoft.com/office/drawing/2014/main" id="{EF4BE47E-4493-430D-8668-242A88BCBEC4}"/>
              </a:ext>
            </a:extLst>
          </p:cNvPr>
          <p:cNvSpPr txBox="1"/>
          <p:nvPr/>
        </p:nvSpPr>
        <p:spPr>
          <a:xfrm>
            <a:off x="963391" y="4335249"/>
            <a:ext cx="1428238" cy="1477328"/>
          </a:xfrm>
          <a:prstGeom prst="rect">
            <a:avLst/>
          </a:prstGeom>
          <a:noFill/>
        </p:spPr>
        <p:txBody>
          <a:bodyPr wrap="square" rtlCol="0">
            <a:spAutoFit/>
          </a:bodyPr>
          <a:lstStyle/>
          <a:p>
            <a:r>
              <a:rPr lang="en-US" dirty="0"/>
              <a:t>Computation of light interception at organ scale</a:t>
            </a:r>
          </a:p>
        </p:txBody>
      </p:sp>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pic>
        <p:nvPicPr>
          <p:cNvPr id="43" name="Picture 42">
            <a:extLst>
              <a:ext uri="{FF2B5EF4-FFF2-40B4-BE49-F238E27FC236}">
                <a16:creationId xmlns:a16="http://schemas.microsoft.com/office/drawing/2014/main" id="{0A740BA8-7976-4CCB-9873-FF833851F7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37376" y="3940267"/>
            <a:ext cx="2354784" cy="2598645"/>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BECEF344-8394-4A3A-B4AF-83EB72E1AE3D}"/>
              </a:ext>
            </a:extLst>
          </p:cNvPr>
          <p:cNvSpPr txBox="1"/>
          <p:nvPr/>
        </p:nvSpPr>
        <p:spPr>
          <a:xfrm>
            <a:off x="1677510" y="1691755"/>
            <a:ext cx="499730" cy="369332"/>
          </a:xfrm>
          <a:prstGeom prst="rect">
            <a:avLst/>
          </a:prstGeom>
          <a:noFill/>
        </p:spPr>
        <p:txBody>
          <a:bodyPr wrap="square" rtlCol="0">
            <a:spAutoFit/>
          </a:bodyPr>
          <a:lstStyle/>
          <a:p>
            <a:r>
              <a:rPr lang="en-US" dirty="0"/>
              <a:t>x</a:t>
            </a:r>
          </a:p>
        </p:txBody>
      </p:sp>
      <p:pic>
        <p:nvPicPr>
          <p:cNvPr id="22" name="Graphic 21">
            <a:extLst>
              <a:ext uri="{FF2B5EF4-FFF2-40B4-BE49-F238E27FC236}">
                <a16:creationId xmlns:a16="http://schemas.microsoft.com/office/drawing/2014/main" id="{E1EF665B-348B-41F5-A183-36E919F58A8B}"/>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225690" y="5776127"/>
            <a:ext cx="953848" cy="738463"/>
          </a:xfrm>
          <a:prstGeom prst="rect">
            <a:avLst/>
          </a:prstGeom>
        </p:spPr>
      </p:pic>
      <p:sp>
        <p:nvSpPr>
          <p:cNvPr id="25" name="Title 1">
            <a:extLst>
              <a:ext uri="{FF2B5EF4-FFF2-40B4-BE49-F238E27FC236}">
                <a16:creationId xmlns:a16="http://schemas.microsoft.com/office/drawing/2014/main" id="{9C4BA10D-CF77-4EFD-AE03-53F2A554E2CD}"/>
              </a:ext>
            </a:extLst>
          </p:cNvPr>
          <p:cNvSpPr txBox="1">
            <a:spLocks/>
          </p:cNvSpPr>
          <p:nvPr/>
        </p:nvSpPr>
        <p:spPr>
          <a:xfrm>
            <a:off x="846667" y="216561"/>
            <a:ext cx="10795984" cy="8040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4000"/>
              <a:t>Workflow of simulations of intercrops through time</a:t>
            </a:r>
            <a:endParaRPr lang="en-US" sz="4000" dirty="0"/>
          </a:p>
        </p:txBody>
      </p:sp>
    </p:spTree>
    <p:extLst>
      <p:ext uri="{BB962C8B-B14F-4D97-AF65-F5344CB8AC3E}">
        <p14:creationId xmlns:p14="http://schemas.microsoft.com/office/powerpoint/2010/main" val="39406964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1 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cxnSp>
        <p:nvCxnSpPr>
          <p:cNvPr id="160" name="Straight Arrow Connector 159">
            <a:extLst>
              <a:ext uri="{FF2B5EF4-FFF2-40B4-BE49-F238E27FC236}">
                <a16:creationId xmlns:a16="http://schemas.microsoft.com/office/drawing/2014/main" id="{919C5013-02BF-41E9-BB1E-3424C33C7527}"/>
              </a:ext>
            </a:extLst>
          </p:cNvPr>
          <p:cNvCxnSpPr>
            <a:cxnSpLocks/>
            <a:stCxn id="40" idx="1"/>
            <a:endCxn id="43" idx="3"/>
          </p:cNvCxnSpPr>
          <p:nvPr/>
        </p:nvCxnSpPr>
        <p:spPr>
          <a:xfrm flipH="1" flipV="1">
            <a:off x="4892160" y="5239590"/>
            <a:ext cx="1363656" cy="11431"/>
          </a:xfrm>
          <a:prstGeom prst="straightConnector1">
            <a:avLst/>
          </a:prstGeom>
          <a:ln w="38100">
            <a:solidFill>
              <a:srgbClr val="FFC000"/>
            </a:solidFill>
            <a:tailEnd type="triangle"/>
          </a:ln>
        </p:spPr>
        <p:style>
          <a:lnRef idx="1">
            <a:schemeClr val="accent2"/>
          </a:lnRef>
          <a:fillRef idx="0">
            <a:schemeClr val="accent2"/>
          </a:fillRef>
          <a:effectRef idx="0">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29</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pic>
        <p:nvPicPr>
          <p:cNvPr id="43" name="Picture 42">
            <a:extLst>
              <a:ext uri="{FF2B5EF4-FFF2-40B4-BE49-F238E27FC236}">
                <a16:creationId xmlns:a16="http://schemas.microsoft.com/office/drawing/2014/main" id="{0A740BA8-7976-4CCB-9873-FF833851F7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37376" y="3940267"/>
            <a:ext cx="2354784" cy="2598645"/>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BECEF344-8394-4A3A-B4AF-83EB72E1AE3D}"/>
              </a:ext>
            </a:extLst>
          </p:cNvPr>
          <p:cNvSpPr txBox="1"/>
          <p:nvPr/>
        </p:nvSpPr>
        <p:spPr>
          <a:xfrm>
            <a:off x="1677510" y="1691755"/>
            <a:ext cx="499730" cy="369332"/>
          </a:xfrm>
          <a:prstGeom prst="rect">
            <a:avLst/>
          </a:prstGeom>
          <a:noFill/>
        </p:spPr>
        <p:txBody>
          <a:bodyPr wrap="square" rtlCol="0">
            <a:spAutoFit/>
          </a:bodyPr>
          <a:lstStyle/>
          <a:p>
            <a:r>
              <a:rPr lang="en-US" dirty="0"/>
              <a:t>x</a:t>
            </a:r>
          </a:p>
        </p:txBody>
      </p:sp>
      <p:sp>
        <p:nvSpPr>
          <p:cNvPr id="22" name="TextBox 21">
            <a:extLst>
              <a:ext uri="{FF2B5EF4-FFF2-40B4-BE49-F238E27FC236}">
                <a16:creationId xmlns:a16="http://schemas.microsoft.com/office/drawing/2014/main" id="{204847ED-7B98-4BB9-B187-54E1587F5255}"/>
              </a:ext>
            </a:extLst>
          </p:cNvPr>
          <p:cNvSpPr txBox="1"/>
          <p:nvPr/>
        </p:nvSpPr>
        <p:spPr>
          <a:xfrm>
            <a:off x="208103" y="2924951"/>
            <a:ext cx="2706890" cy="1477328"/>
          </a:xfrm>
          <a:prstGeom prst="rect">
            <a:avLst/>
          </a:prstGeom>
          <a:noFill/>
        </p:spPr>
        <p:txBody>
          <a:bodyPr wrap="square" rtlCol="0">
            <a:spAutoFit/>
          </a:bodyPr>
          <a:lstStyle/>
          <a:p>
            <a:r>
              <a:rPr lang="en-US" dirty="0"/>
              <a:t>Analysis of the uncertainty of the crop model associated to architecture parameters and spatial configuration</a:t>
            </a:r>
          </a:p>
        </p:txBody>
      </p:sp>
      <p:cxnSp>
        <p:nvCxnSpPr>
          <p:cNvPr id="5" name="Straight Arrow Connector 4">
            <a:extLst>
              <a:ext uri="{FF2B5EF4-FFF2-40B4-BE49-F238E27FC236}">
                <a16:creationId xmlns:a16="http://schemas.microsoft.com/office/drawing/2014/main" id="{7D52CD1C-7C60-4DBF-A7E8-07EC55D6D5A4}"/>
              </a:ext>
            </a:extLst>
          </p:cNvPr>
          <p:cNvCxnSpPr/>
          <p:nvPr/>
        </p:nvCxnSpPr>
        <p:spPr>
          <a:xfrm>
            <a:off x="3031658" y="2768794"/>
            <a:ext cx="76977" cy="1360351"/>
          </a:xfrm>
          <a:prstGeom prst="straightConnector1">
            <a:avLst/>
          </a:prstGeom>
          <a:ln w="38100">
            <a:solidFill>
              <a:schemeClr val="tx1"/>
            </a:solidFill>
            <a:headEnd type="triangle"/>
            <a:tailEnd type="triangle"/>
          </a:ln>
        </p:spPr>
        <p:style>
          <a:lnRef idx="2">
            <a:schemeClr val="dk1"/>
          </a:lnRef>
          <a:fillRef idx="0">
            <a:schemeClr val="dk1"/>
          </a:fillRef>
          <a:effectRef idx="1">
            <a:schemeClr val="dk1"/>
          </a:effectRef>
          <a:fontRef idx="minor">
            <a:schemeClr val="tx1"/>
          </a:fontRef>
        </p:style>
      </p:cxnSp>
      <p:pic>
        <p:nvPicPr>
          <p:cNvPr id="25" name="Graphic 24">
            <a:extLst>
              <a:ext uri="{FF2B5EF4-FFF2-40B4-BE49-F238E27FC236}">
                <a16:creationId xmlns:a16="http://schemas.microsoft.com/office/drawing/2014/main" id="{D59060B1-116D-42DE-BEAE-6F594C0A569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225690" y="5776127"/>
            <a:ext cx="953848" cy="738463"/>
          </a:xfrm>
          <a:prstGeom prst="rect">
            <a:avLst/>
          </a:prstGeom>
        </p:spPr>
      </p:pic>
      <p:sp>
        <p:nvSpPr>
          <p:cNvPr id="29" name="Title 1">
            <a:extLst>
              <a:ext uri="{FF2B5EF4-FFF2-40B4-BE49-F238E27FC236}">
                <a16:creationId xmlns:a16="http://schemas.microsoft.com/office/drawing/2014/main" id="{2A97DA16-C0FD-44B0-A086-9412F99E4311}"/>
              </a:ext>
            </a:extLst>
          </p:cNvPr>
          <p:cNvSpPr>
            <a:spLocks noGrp="1"/>
          </p:cNvSpPr>
          <p:nvPr>
            <p:ph type="title"/>
          </p:nvPr>
        </p:nvSpPr>
        <p:spPr>
          <a:xfrm>
            <a:off x="846667" y="216561"/>
            <a:ext cx="10795984" cy="804049"/>
          </a:xfrm>
        </p:spPr>
        <p:txBody>
          <a:bodyPr>
            <a:noAutofit/>
          </a:bodyPr>
          <a:lstStyle/>
          <a:p>
            <a:r>
              <a:rPr lang="fr-FR" sz="4000" dirty="0"/>
              <a:t>Workflow of simulations of </a:t>
            </a:r>
            <a:r>
              <a:rPr lang="fr-FR" sz="4000" dirty="0" err="1"/>
              <a:t>intercrops</a:t>
            </a:r>
            <a:r>
              <a:rPr lang="fr-FR" sz="4000" dirty="0"/>
              <a:t> </a:t>
            </a:r>
            <a:r>
              <a:rPr lang="fr-FR" sz="4000" dirty="0" err="1"/>
              <a:t>through</a:t>
            </a:r>
            <a:r>
              <a:rPr lang="fr-FR" sz="4000" dirty="0"/>
              <a:t> time</a:t>
            </a:r>
            <a:endParaRPr lang="en-US" sz="4000" dirty="0"/>
          </a:p>
        </p:txBody>
      </p:sp>
    </p:spTree>
    <p:extLst>
      <p:ext uri="{BB962C8B-B14F-4D97-AF65-F5344CB8AC3E}">
        <p14:creationId xmlns:p14="http://schemas.microsoft.com/office/powerpoint/2010/main" val="9913304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FDB8D1D2-15D8-436B-AAF9-640D44E48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128" y="3246479"/>
            <a:ext cx="3364919" cy="2739816"/>
          </a:xfrm>
          <a:prstGeom prst="rect">
            <a:avLst/>
          </a:prstGeom>
        </p:spPr>
      </p:pic>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1" y="1551504"/>
            <a:ext cx="9209442" cy="2226908"/>
          </a:xfrm>
        </p:spPr>
        <p:txBody>
          <a:bodyPr>
            <a:normAutofit lnSpcReduction="10000"/>
          </a:bodyPr>
          <a:lstStyle/>
          <a:p>
            <a:pPr marL="0" indent="0">
              <a:buNone/>
            </a:pPr>
            <a:r>
              <a:rPr lang="fr-FR" dirty="0"/>
              <a:t>3.2.A </a:t>
            </a:r>
            <a:r>
              <a:rPr lang="fr-FR" dirty="0" err="1"/>
              <a:t>monocrop</a:t>
            </a:r>
            <a:r>
              <a:rPr lang="fr-FR" dirty="0"/>
              <a:t> </a:t>
            </a:r>
            <a:r>
              <a:rPr lang="fr-FR" dirty="0" err="1"/>
              <a:t>through</a:t>
            </a:r>
            <a:r>
              <a:rPr lang="fr-FR" dirty="0"/>
              <a:t> time </a:t>
            </a:r>
          </a:p>
          <a:p>
            <a:pPr lvl="1"/>
            <a:r>
              <a:rPr lang="en-US" dirty="0"/>
              <a:t>Growth constrained with STICS simulation outputs </a:t>
            </a:r>
          </a:p>
          <a:p>
            <a:pPr lvl="1"/>
            <a:r>
              <a:rPr lang="en-US" dirty="0"/>
              <a:t>See differences in </a:t>
            </a:r>
            <a:r>
              <a:rPr lang="en-US" b="1" dirty="0"/>
              <a:t>light interception </a:t>
            </a:r>
            <a:r>
              <a:rPr lang="en-US" dirty="0"/>
              <a:t>through time given different architectural parameters (1 LAI </a:t>
            </a:r>
            <a:r>
              <a:rPr lang="en-US" dirty="0">
                <a:sym typeface="Wingdings" panose="05000000000000000000" pitchFamily="2" charset="2"/>
              </a:rPr>
              <a:t> many morphotypes)</a:t>
            </a:r>
            <a:endParaRPr lang="en-US" dirty="0"/>
          </a:p>
          <a:p>
            <a:pPr lvl="1"/>
            <a:r>
              <a:rPr lang="en-US" dirty="0"/>
              <a:t>See differences in organ growth dynamics in case of </a:t>
            </a:r>
            <a:r>
              <a:rPr lang="en-US" b="1" dirty="0"/>
              <a:t>stresses</a:t>
            </a:r>
            <a:r>
              <a:rPr lang="en-US" dirty="0"/>
              <a:t> (compare with and without stress) </a:t>
            </a:r>
            <a:endParaRPr lang="en-US" b="1" dirty="0"/>
          </a:p>
        </p:txBody>
      </p:sp>
      <p:sp>
        <p:nvSpPr>
          <p:cNvPr id="19" name="Slide Number Placeholder 18">
            <a:extLst>
              <a:ext uri="{FF2B5EF4-FFF2-40B4-BE49-F238E27FC236}">
                <a16:creationId xmlns:a16="http://schemas.microsoft.com/office/drawing/2014/main" id="{45A5971B-26F0-4BDA-8FE0-1F51B7FF1E37}"/>
              </a:ext>
            </a:extLst>
          </p:cNvPr>
          <p:cNvSpPr>
            <a:spLocks noGrp="1"/>
          </p:cNvSpPr>
          <p:nvPr>
            <p:ph type="sldNum" sz="quarter" idx="12"/>
          </p:nvPr>
        </p:nvSpPr>
        <p:spPr/>
        <p:txBody>
          <a:bodyPr/>
          <a:lstStyle/>
          <a:p>
            <a:fld id="{4D0921BC-FC9B-4B20-AD4C-0D7EEBC2A9A8}" type="slidenum">
              <a:rPr lang="en-US" smtClean="0"/>
              <a:t>30</a:t>
            </a:fld>
            <a:endParaRPr lang="en-US"/>
          </a:p>
        </p:txBody>
      </p:sp>
      <p:sp>
        <p:nvSpPr>
          <p:cNvPr id="20" name="Rectangle 19">
            <a:extLst>
              <a:ext uri="{FF2B5EF4-FFF2-40B4-BE49-F238E27FC236}">
                <a16:creationId xmlns:a16="http://schemas.microsoft.com/office/drawing/2014/main" id="{B7142CD2-2A2E-48D1-B997-5FD83ABEB690}"/>
              </a:ext>
            </a:extLst>
          </p:cNvPr>
          <p:cNvSpPr/>
          <p:nvPr/>
        </p:nvSpPr>
        <p:spPr>
          <a:xfrm>
            <a:off x="8682361" y="5555166"/>
            <a:ext cx="2974084" cy="646331"/>
          </a:xfrm>
          <a:prstGeom prst="rect">
            <a:avLst/>
          </a:prstGeom>
        </p:spPr>
        <p:txBody>
          <a:bodyPr wrap="none">
            <a:spAutoFit/>
          </a:bodyPr>
          <a:lstStyle/>
          <a:p>
            <a:r>
              <a:rPr lang="en-US" dirty="0"/>
              <a:t>leaf or internode length = f (t)</a:t>
            </a:r>
          </a:p>
          <a:p>
            <a:r>
              <a:rPr lang="en-US" dirty="0"/>
              <a:t>with and without stress </a:t>
            </a:r>
          </a:p>
        </p:txBody>
      </p:sp>
      <p:cxnSp>
        <p:nvCxnSpPr>
          <p:cNvPr id="22" name="Straight Arrow Connector 21">
            <a:extLst>
              <a:ext uri="{FF2B5EF4-FFF2-40B4-BE49-F238E27FC236}">
                <a16:creationId xmlns:a16="http://schemas.microsoft.com/office/drawing/2014/main" id="{7F9F255A-E0DF-45B4-9ABB-7CEF5951820B}"/>
              </a:ext>
            </a:extLst>
          </p:cNvPr>
          <p:cNvCxnSpPr/>
          <p:nvPr/>
        </p:nvCxnSpPr>
        <p:spPr>
          <a:xfrm>
            <a:off x="8682361" y="5140170"/>
            <a:ext cx="267143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1C038C4D-C4FA-446A-B752-9316A2E7F0CD}"/>
              </a:ext>
            </a:extLst>
          </p:cNvPr>
          <p:cNvCxnSpPr>
            <a:cxnSpLocks/>
          </p:cNvCxnSpPr>
          <p:nvPr/>
        </p:nvCxnSpPr>
        <p:spPr>
          <a:xfrm flipV="1">
            <a:off x="8834761" y="3894420"/>
            <a:ext cx="0" cy="13981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Connector: Curved 25">
            <a:extLst>
              <a:ext uri="{FF2B5EF4-FFF2-40B4-BE49-F238E27FC236}">
                <a16:creationId xmlns:a16="http://schemas.microsoft.com/office/drawing/2014/main" id="{03D904F4-2609-45DE-A6A3-988B089D2F8A}"/>
              </a:ext>
            </a:extLst>
          </p:cNvPr>
          <p:cNvCxnSpPr/>
          <p:nvPr/>
        </p:nvCxnSpPr>
        <p:spPr>
          <a:xfrm flipV="1">
            <a:off x="8834761" y="4092605"/>
            <a:ext cx="2217938" cy="1047565"/>
          </a:xfrm>
          <a:prstGeom prst="curvedConnector3">
            <a:avLst/>
          </a:prstGeom>
        </p:spPr>
        <p:style>
          <a:lnRef idx="1">
            <a:schemeClr val="accent6"/>
          </a:lnRef>
          <a:fillRef idx="0">
            <a:schemeClr val="accent6"/>
          </a:fillRef>
          <a:effectRef idx="0">
            <a:schemeClr val="accent6"/>
          </a:effectRef>
          <a:fontRef idx="minor">
            <a:schemeClr val="tx1"/>
          </a:fontRef>
        </p:style>
      </p:cxnSp>
      <p:pic>
        <p:nvPicPr>
          <p:cNvPr id="33" name="Content Placeholder 9">
            <a:extLst>
              <a:ext uri="{FF2B5EF4-FFF2-40B4-BE49-F238E27FC236}">
                <a16:creationId xmlns:a16="http://schemas.microsoft.com/office/drawing/2014/main" id="{824FF01B-8BA4-4249-8147-B6BEA335A6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24942" y="3702815"/>
            <a:ext cx="4041630" cy="3165943"/>
          </a:xfrm>
          <a:prstGeom prst="rect">
            <a:avLst/>
          </a:prstGeom>
        </p:spPr>
      </p:pic>
      <p:sp>
        <p:nvSpPr>
          <p:cNvPr id="34" name="TextBox 33">
            <a:extLst>
              <a:ext uri="{FF2B5EF4-FFF2-40B4-BE49-F238E27FC236}">
                <a16:creationId xmlns:a16="http://schemas.microsoft.com/office/drawing/2014/main" id="{27C8A129-14E4-46D8-A7EC-757A08FA8A14}"/>
              </a:ext>
            </a:extLst>
          </p:cNvPr>
          <p:cNvSpPr txBox="1"/>
          <p:nvPr/>
        </p:nvSpPr>
        <p:spPr>
          <a:xfrm>
            <a:off x="502128" y="5739832"/>
            <a:ext cx="3615384" cy="923330"/>
          </a:xfrm>
          <a:prstGeom prst="rect">
            <a:avLst/>
          </a:prstGeom>
          <a:noFill/>
        </p:spPr>
        <p:txBody>
          <a:bodyPr wrap="square" rtlCol="0">
            <a:spAutoFit/>
          </a:bodyPr>
          <a:lstStyle/>
          <a:p>
            <a:r>
              <a:rPr lang="en-US" dirty="0"/>
              <a:t>Whole crop </a:t>
            </a:r>
            <a:r>
              <a:rPr lang="en-US" u="sng" dirty="0"/>
              <a:t>through time</a:t>
            </a:r>
            <a:r>
              <a:rPr lang="en-US" dirty="0"/>
              <a:t>, for both visualizing light interception and effects of stresses on canopy</a:t>
            </a:r>
            <a:endParaRPr lang="en-US" u="sng" dirty="0"/>
          </a:p>
        </p:txBody>
      </p:sp>
      <p:sp>
        <p:nvSpPr>
          <p:cNvPr id="35" name="TextBox 34">
            <a:extLst>
              <a:ext uri="{FF2B5EF4-FFF2-40B4-BE49-F238E27FC236}">
                <a16:creationId xmlns:a16="http://schemas.microsoft.com/office/drawing/2014/main" id="{B0593F67-A04E-49F1-8F72-ED72A14BDDC6}"/>
              </a:ext>
            </a:extLst>
          </p:cNvPr>
          <p:cNvSpPr txBox="1"/>
          <p:nvPr/>
        </p:nvSpPr>
        <p:spPr>
          <a:xfrm>
            <a:off x="9907793" y="1668273"/>
            <a:ext cx="1782079" cy="2308324"/>
          </a:xfrm>
          <a:prstGeom prst="rect">
            <a:avLst/>
          </a:prstGeom>
          <a:noFill/>
        </p:spPr>
        <p:txBody>
          <a:bodyPr wrap="square" rtlCol="0">
            <a:spAutoFit/>
          </a:bodyPr>
          <a:lstStyle/>
          <a:p>
            <a:r>
              <a:rPr lang="en-US" dirty="0"/>
              <a:t>Be careful, some stresses may lead to plant mortality, so some plant might have to die to stick to STICS density</a:t>
            </a:r>
          </a:p>
        </p:txBody>
      </p:sp>
    </p:spTree>
    <p:extLst>
      <p:ext uri="{BB962C8B-B14F-4D97-AF65-F5344CB8AC3E}">
        <p14:creationId xmlns:p14="http://schemas.microsoft.com/office/powerpoint/2010/main" val="281278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FF0DA4F6-D2A5-4EA4-ACC9-E3485C7F820F}"/>
              </a:ext>
            </a:extLst>
          </p:cNvPr>
          <p:cNvGrpSpPr/>
          <p:nvPr/>
        </p:nvGrpSpPr>
        <p:grpSpPr>
          <a:xfrm>
            <a:off x="6219934" y="1913892"/>
            <a:ext cx="7014056" cy="4219253"/>
            <a:chOff x="5782965" y="1822773"/>
            <a:chExt cx="7238374" cy="4354190"/>
          </a:xfrm>
        </p:grpSpPr>
        <p:grpSp>
          <p:nvGrpSpPr>
            <p:cNvPr id="29" name="Group 28">
              <a:extLst>
                <a:ext uri="{FF2B5EF4-FFF2-40B4-BE49-F238E27FC236}">
                  <a16:creationId xmlns:a16="http://schemas.microsoft.com/office/drawing/2014/main" id="{42AD0B41-1F95-462C-8F31-ACB1A0C07C03}"/>
                </a:ext>
              </a:extLst>
            </p:cNvPr>
            <p:cNvGrpSpPr/>
            <p:nvPr/>
          </p:nvGrpSpPr>
          <p:grpSpPr>
            <a:xfrm>
              <a:off x="5782965" y="1822773"/>
              <a:ext cx="7238374" cy="4354190"/>
              <a:chOff x="5782965" y="1822773"/>
              <a:chExt cx="7238374" cy="4354190"/>
            </a:xfrm>
          </p:grpSpPr>
          <p:grpSp>
            <p:nvGrpSpPr>
              <p:cNvPr id="28" name="Group 27">
                <a:extLst>
                  <a:ext uri="{FF2B5EF4-FFF2-40B4-BE49-F238E27FC236}">
                    <a16:creationId xmlns:a16="http://schemas.microsoft.com/office/drawing/2014/main" id="{E1830BFD-5D8B-4207-8ACA-95AC12DAFC3E}"/>
                  </a:ext>
                </a:extLst>
              </p:cNvPr>
              <p:cNvGrpSpPr/>
              <p:nvPr/>
            </p:nvGrpSpPr>
            <p:grpSpPr>
              <a:xfrm>
                <a:off x="5782965" y="1822773"/>
                <a:ext cx="7238374" cy="4354190"/>
                <a:chOff x="5984984" y="1822773"/>
                <a:chExt cx="7238374" cy="4354190"/>
              </a:xfrm>
            </p:grpSpPr>
            <p:grpSp>
              <p:nvGrpSpPr>
                <p:cNvPr id="21" name="Group 20">
                  <a:extLst>
                    <a:ext uri="{FF2B5EF4-FFF2-40B4-BE49-F238E27FC236}">
                      <a16:creationId xmlns:a16="http://schemas.microsoft.com/office/drawing/2014/main" id="{A4D36630-A949-432A-BE49-05C923552A7F}"/>
                    </a:ext>
                  </a:extLst>
                </p:cNvPr>
                <p:cNvGrpSpPr/>
                <p:nvPr/>
              </p:nvGrpSpPr>
              <p:grpSpPr>
                <a:xfrm>
                  <a:off x="5984984" y="1822773"/>
                  <a:ext cx="7238374" cy="4354190"/>
                  <a:chOff x="5984984" y="1822773"/>
                  <a:chExt cx="7238374" cy="4354190"/>
                </a:xfrm>
              </p:grpSpPr>
              <p:grpSp>
                <p:nvGrpSpPr>
                  <p:cNvPr id="18" name="Group 17">
                    <a:extLst>
                      <a:ext uri="{FF2B5EF4-FFF2-40B4-BE49-F238E27FC236}">
                        <a16:creationId xmlns:a16="http://schemas.microsoft.com/office/drawing/2014/main" id="{B2D9F56B-7F1F-4E80-8D11-81CEDCCE449E}"/>
                      </a:ext>
                    </a:extLst>
                  </p:cNvPr>
                  <p:cNvGrpSpPr/>
                  <p:nvPr/>
                </p:nvGrpSpPr>
                <p:grpSpPr>
                  <a:xfrm>
                    <a:off x="5984984" y="1822773"/>
                    <a:ext cx="7238374" cy="4354190"/>
                    <a:chOff x="5984984" y="1822773"/>
                    <a:chExt cx="7238374" cy="4354190"/>
                  </a:xfrm>
                </p:grpSpPr>
                <p:grpSp>
                  <p:nvGrpSpPr>
                    <p:cNvPr id="16" name="Group 15">
                      <a:extLst>
                        <a:ext uri="{FF2B5EF4-FFF2-40B4-BE49-F238E27FC236}">
                          <a16:creationId xmlns:a16="http://schemas.microsoft.com/office/drawing/2014/main" id="{63866B1C-D8AB-4712-AB0D-A573AC2D5A13}"/>
                        </a:ext>
                      </a:extLst>
                    </p:cNvPr>
                    <p:cNvGrpSpPr/>
                    <p:nvPr/>
                  </p:nvGrpSpPr>
                  <p:grpSpPr>
                    <a:xfrm>
                      <a:off x="5984984" y="1822773"/>
                      <a:ext cx="7238374" cy="4354190"/>
                      <a:chOff x="5984984" y="1822773"/>
                      <a:chExt cx="7238374" cy="4354190"/>
                    </a:xfrm>
                  </p:grpSpPr>
                  <p:grpSp>
                    <p:nvGrpSpPr>
                      <p:cNvPr id="14" name="Group 13">
                        <a:extLst>
                          <a:ext uri="{FF2B5EF4-FFF2-40B4-BE49-F238E27FC236}">
                            <a16:creationId xmlns:a16="http://schemas.microsoft.com/office/drawing/2014/main" id="{777ACEF0-29CB-4C1D-A54C-DF0A515FB29B}"/>
                          </a:ext>
                        </a:extLst>
                      </p:cNvPr>
                      <p:cNvGrpSpPr/>
                      <p:nvPr/>
                    </p:nvGrpSpPr>
                    <p:grpSpPr>
                      <a:xfrm>
                        <a:off x="5984984" y="1822773"/>
                        <a:ext cx="7238374" cy="4354190"/>
                        <a:chOff x="5421458" y="1825625"/>
                        <a:chExt cx="7238374" cy="4354190"/>
                      </a:xfrm>
                    </p:grpSpPr>
                    <p:grpSp>
                      <p:nvGrpSpPr>
                        <p:cNvPr id="6" name="Group 5">
                          <a:extLst>
                            <a:ext uri="{FF2B5EF4-FFF2-40B4-BE49-F238E27FC236}">
                              <a16:creationId xmlns:a16="http://schemas.microsoft.com/office/drawing/2014/main" id="{4D991218-76A6-4CC6-8B92-86661948D4BC}"/>
                            </a:ext>
                          </a:extLst>
                        </p:cNvPr>
                        <p:cNvGrpSpPr/>
                        <p:nvPr/>
                      </p:nvGrpSpPr>
                      <p:grpSpPr>
                        <a:xfrm>
                          <a:off x="5421458" y="1825625"/>
                          <a:ext cx="7238374" cy="4354190"/>
                          <a:chOff x="1322452" y="557508"/>
                          <a:chExt cx="9547095" cy="5742983"/>
                        </a:xfrm>
                      </p:grpSpPr>
                      <p:pic>
                        <p:nvPicPr>
                          <p:cNvPr id="9" name="Picture 8">
                            <a:extLst>
                              <a:ext uri="{FF2B5EF4-FFF2-40B4-BE49-F238E27FC236}">
                                <a16:creationId xmlns:a16="http://schemas.microsoft.com/office/drawing/2014/main" id="{964C3FE2-AD6F-4849-99CB-5AEA7D1DBD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2452" y="557508"/>
                            <a:ext cx="9547095" cy="5742983"/>
                          </a:xfrm>
                          <a:prstGeom prst="rect">
                            <a:avLst/>
                          </a:prstGeom>
                        </p:spPr>
                      </p:pic>
                      <p:sp>
                        <p:nvSpPr>
                          <p:cNvPr id="10" name="Arc 9">
                            <a:extLst>
                              <a:ext uri="{FF2B5EF4-FFF2-40B4-BE49-F238E27FC236}">
                                <a16:creationId xmlns:a16="http://schemas.microsoft.com/office/drawing/2014/main" id="{6F0EC83B-0B43-4BBD-B819-8418C15C9E90}"/>
                              </a:ext>
                            </a:extLst>
                          </p:cNvPr>
                          <p:cNvSpPr/>
                          <p:nvPr/>
                        </p:nvSpPr>
                        <p:spPr>
                          <a:xfrm rot="1547670">
                            <a:off x="3193839" y="1173367"/>
                            <a:ext cx="711622" cy="705376"/>
                          </a:xfrm>
                          <a:prstGeom prst="arc">
                            <a:avLst>
                              <a:gd name="adj1" fmla="val 10822091"/>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1" name="Arc 10">
                            <a:extLst>
                              <a:ext uri="{FF2B5EF4-FFF2-40B4-BE49-F238E27FC236}">
                                <a16:creationId xmlns:a16="http://schemas.microsoft.com/office/drawing/2014/main" id="{20FDCDD2-6EAE-4285-8C4F-E14FF19CAD1E}"/>
                              </a:ext>
                            </a:extLst>
                          </p:cNvPr>
                          <p:cNvSpPr/>
                          <p:nvPr/>
                        </p:nvSpPr>
                        <p:spPr>
                          <a:xfrm rot="21405153">
                            <a:off x="6964755" y="1196634"/>
                            <a:ext cx="1497861" cy="1036037"/>
                          </a:xfrm>
                          <a:prstGeom prst="arc">
                            <a:avLst>
                              <a:gd name="adj1" fmla="val 13046312"/>
                              <a:gd name="adj2" fmla="val 1815059"/>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2" name="Arc 11">
                            <a:extLst>
                              <a:ext uri="{FF2B5EF4-FFF2-40B4-BE49-F238E27FC236}">
                                <a16:creationId xmlns:a16="http://schemas.microsoft.com/office/drawing/2014/main" id="{8A8CE6DF-A997-478D-A12D-9C40EAFC383E}"/>
                              </a:ext>
                            </a:extLst>
                          </p:cNvPr>
                          <p:cNvSpPr/>
                          <p:nvPr/>
                        </p:nvSpPr>
                        <p:spPr>
                          <a:xfrm rot="18460393">
                            <a:off x="6341019" y="2009234"/>
                            <a:ext cx="711622" cy="705376"/>
                          </a:xfrm>
                          <a:prstGeom prst="arc">
                            <a:avLst>
                              <a:gd name="adj1" fmla="val 18836553"/>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5E7E3969-B076-43DC-BBC2-433CA225B03A}"/>
                            </a:ext>
                          </a:extLst>
                        </p:cNvPr>
                        <p:cNvSpPr/>
                        <p:nvPr/>
                      </p:nvSpPr>
                      <p:spPr>
                        <a:xfrm>
                          <a:off x="8378456" y="4925726"/>
                          <a:ext cx="3902149" cy="12512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B3D4D7DD-17E8-4128-8AE6-A21A7634E0C8}"/>
                          </a:ext>
                        </a:extLst>
                      </p:cNvPr>
                      <p:cNvSpPr/>
                      <p:nvPr/>
                    </p:nvSpPr>
                    <p:spPr>
                      <a:xfrm>
                        <a:off x="10767592" y="2835155"/>
                        <a:ext cx="45719" cy="203784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 name="Rectangle 16">
                      <a:extLst>
                        <a:ext uri="{FF2B5EF4-FFF2-40B4-BE49-F238E27FC236}">
                          <a16:creationId xmlns:a16="http://schemas.microsoft.com/office/drawing/2014/main" id="{922C8122-A225-4191-8BBB-3C0BD80DA606}"/>
                        </a:ext>
                      </a:extLst>
                    </p:cNvPr>
                    <p:cNvSpPr/>
                    <p:nvPr/>
                  </p:nvSpPr>
                  <p:spPr>
                    <a:xfrm>
                      <a:off x="6096000" y="3622921"/>
                      <a:ext cx="753040" cy="7538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9" name="Rectangle 18">
                    <a:extLst>
                      <a:ext uri="{FF2B5EF4-FFF2-40B4-BE49-F238E27FC236}">
                        <a16:creationId xmlns:a16="http://schemas.microsoft.com/office/drawing/2014/main" id="{A769953F-05BE-4794-84A0-E95DD75ABD63}"/>
                      </a:ext>
                    </a:extLst>
                  </p:cNvPr>
                  <p:cNvSpPr/>
                  <p:nvPr/>
                </p:nvSpPr>
                <p:spPr>
                  <a:xfrm>
                    <a:off x="9142696" y="3397797"/>
                    <a:ext cx="699885" cy="97901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4FD27A0D-635E-4EFA-99F9-3C7B41576F0B}"/>
                      </a:ext>
                    </a:extLst>
                  </p:cNvPr>
                  <p:cNvSpPr/>
                  <p:nvPr/>
                </p:nvSpPr>
                <p:spPr>
                  <a:xfrm>
                    <a:off x="9552082" y="4355548"/>
                    <a:ext cx="699885" cy="49919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5" name="Rectangle 24">
                  <a:extLst>
                    <a:ext uri="{FF2B5EF4-FFF2-40B4-BE49-F238E27FC236}">
                      <a16:creationId xmlns:a16="http://schemas.microsoft.com/office/drawing/2014/main" id="{E911F44A-1293-41F4-A4AE-41FF3F1FFF32}"/>
                    </a:ext>
                  </a:extLst>
                </p:cNvPr>
                <p:cNvSpPr/>
                <p:nvPr/>
              </p:nvSpPr>
              <p:spPr>
                <a:xfrm>
                  <a:off x="6248401" y="3040912"/>
                  <a:ext cx="699885" cy="183208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ED97B1AF-461B-42EA-BF37-0EE7489A1644}"/>
                    </a:ext>
                  </a:extLst>
                </p:cNvPr>
                <p:cNvSpPr/>
                <p:nvPr/>
              </p:nvSpPr>
              <p:spPr>
                <a:xfrm rot="20480857">
                  <a:off x="6587710" y="4297327"/>
                  <a:ext cx="699885" cy="183208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8E4CE295-2ACA-476A-935A-27DBCE3A4DB4}"/>
                    </a:ext>
                  </a:extLst>
                </p:cNvPr>
                <p:cNvSpPr/>
                <p:nvPr/>
              </p:nvSpPr>
              <p:spPr>
                <a:xfrm rot="1751531">
                  <a:off x="6411922" y="2809117"/>
                  <a:ext cx="699885" cy="97087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2" name="Rectangle 21">
                <a:extLst>
                  <a:ext uri="{FF2B5EF4-FFF2-40B4-BE49-F238E27FC236}">
                    <a16:creationId xmlns:a16="http://schemas.microsoft.com/office/drawing/2014/main" id="{07C1E70B-8376-4F42-A8BF-097240AF3F16}"/>
                  </a:ext>
                </a:extLst>
              </p:cNvPr>
              <p:cNvSpPr/>
              <p:nvPr/>
            </p:nvSpPr>
            <p:spPr>
              <a:xfrm>
                <a:off x="6111096" y="3040912"/>
                <a:ext cx="699885" cy="183208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0" name="Rectangle 29">
              <a:extLst>
                <a:ext uri="{FF2B5EF4-FFF2-40B4-BE49-F238E27FC236}">
                  <a16:creationId xmlns:a16="http://schemas.microsoft.com/office/drawing/2014/main" id="{6AC85EED-C43F-4B13-BE46-0DA1388079BF}"/>
                </a:ext>
              </a:extLst>
            </p:cNvPr>
            <p:cNvSpPr/>
            <p:nvPr/>
          </p:nvSpPr>
          <p:spPr>
            <a:xfrm rot="20480857">
              <a:off x="6330248" y="4327452"/>
              <a:ext cx="699885" cy="183208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393C9967-99E6-4262-A655-7C36D63BC950}"/>
                </a:ext>
              </a:extLst>
            </p:cNvPr>
            <p:cNvSpPr/>
            <p:nvPr/>
          </p:nvSpPr>
          <p:spPr>
            <a:xfrm rot="1751531">
              <a:off x="6336332" y="2762735"/>
              <a:ext cx="699885" cy="97087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 name="Title 1">
            <a:extLst>
              <a:ext uri="{FF2B5EF4-FFF2-40B4-BE49-F238E27FC236}">
                <a16:creationId xmlns:a16="http://schemas.microsoft.com/office/drawing/2014/main" id="{B35B8E3E-50B7-4346-9B2F-D5A183059AAF}"/>
              </a:ext>
            </a:extLst>
          </p:cNvPr>
          <p:cNvSpPr>
            <a:spLocks noGrp="1"/>
          </p:cNvSpPr>
          <p:nvPr>
            <p:ph type="title"/>
          </p:nvPr>
        </p:nvSpPr>
        <p:spPr/>
        <p:txBody>
          <a:bodyPr/>
          <a:lstStyle/>
          <a:p>
            <a:r>
              <a:rPr lang="en-US" dirty="0"/>
              <a:t>Simulations of a sorghum monocrop</a:t>
            </a:r>
          </a:p>
        </p:txBody>
      </p:sp>
      <p:sp>
        <p:nvSpPr>
          <p:cNvPr id="3" name="Content Placeholder 2">
            <a:extLst>
              <a:ext uri="{FF2B5EF4-FFF2-40B4-BE49-F238E27FC236}">
                <a16:creationId xmlns:a16="http://schemas.microsoft.com/office/drawing/2014/main" id="{03FC4495-EC85-4344-B392-8462C880E657}"/>
              </a:ext>
            </a:extLst>
          </p:cNvPr>
          <p:cNvSpPr>
            <a:spLocks noGrp="1"/>
          </p:cNvSpPr>
          <p:nvPr>
            <p:ph idx="1"/>
          </p:nvPr>
        </p:nvSpPr>
        <p:spPr>
          <a:xfrm>
            <a:off x="838200" y="2053705"/>
            <a:ext cx="6426528" cy="4123257"/>
          </a:xfrm>
        </p:spPr>
        <p:txBody>
          <a:bodyPr/>
          <a:lstStyle/>
          <a:p>
            <a:r>
              <a:rPr lang="en-US" dirty="0"/>
              <a:t>Management:</a:t>
            </a:r>
          </a:p>
          <a:p>
            <a:pPr lvl="1"/>
            <a:r>
              <a:rPr lang="en-US" dirty="0"/>
              <a:t>Density: [10, 20]</a:t>
            </a:r>
          </a:p>
          <a:p>
            <a:pPr marL="457200" lvl="1" indent="0">
              <a:buNone/>
            </a:pPr>
            <a:endParaRPr lang="en-US" dirty="0"/>
          </a:p>
          <a:p>
            <a:pPr marL="457200" lvl="1" indent="0">
              <a:buNone/>
            </a:pPr>
            <a:endParaRPr lang="en-US" dirty="0"/>
          </a:p>
          <a:p>
            <a:r>
              <a:rPr lang="en-US" dirty="0" err="1"/>
              <a:t>Morphospace</a:t>
            </a:r>
            <a:r>
              <a:rPr lang="en-US" dirty="0"/>
              <a:t> sorghum:</a:t>
            </a:r>
          </a:p>
          <a:p>
            <a:pPr lvl="1"/>
            <a:r>
              <a:rPr lang="en-US" dirty="0"/>
              <a:t>Leaf insertion angle: [10, 30, 50] </a:t>
            </a:r>
            <a:r>
              <a:rPr lang="en-US" sz="1400" dirty="0"/>
              <a:t>(Truong et al., 2015)</a:t>
            </a:r>
          </a:p>
          <a:p>
            <a:pPr lvl="1"/>
            <a:r>
              <a:rPr lang="en-US" dirty="0"/>
              <a:t>Leaf curvature: [45, 90, 135] </a:t>
            </a:r>
          </a:p>
          <a:p>
            <a:pPr lvl="1"/>
            <a:r>
              <a:rPr lang="en-US" dirty="0" err="1"/>
              <a:t>Phyllotatic</a:t>
            </a:r>
            <a:r>
              <a:rPr lang="en-US" dirty="0"/>
              <a:t> angle deviation from 180</a:t>
            </a:r>
            <a:r>
              <a:rPr lang="fr-FR" dirty="0"/>
              <a:t>°</a:t>
            </a:r>
            <a:r>
              <a:rPr lang="en-US" dirty="0"/>
              <a:t>: [5, 45] </a:t>
            </a:r>
            <a:r>
              <a:rPr lang="en-US" sz="1400" dirty="0"/>
              <a:t>(preprint Davis et al., 2024)</a:t>
            </a:r>
          </a:p>
          <a:p>
            <a:pPr lvl="1"/>
            <a:endParaRPr lang="en-US" dirty="0"/>
          </a:p>
          <a:p>
            <a:endParaRPr lang="en-US" dirty="0"/>
          </a:p>
        </p:txBody>
      </p:sp>
      <p:sp>
        <p:nvSpPr>
          <p:cNvPr id="4" name="Slide Number Placeholder 3">
            <a:extLst>
              <a:ext uri="{FF2B5EF4-FFF2-40B4-BE49-F238E27FC236}">
                <a16:creationId xmlns:a16="http://schemas.microsoft.com/office/drawing/2014/main" id="{7EC875E9-32E7-4D59-96CA-BBC3977C06E8}"/>
              </a:ext>
            </a:extLst>
          </p:cNvPr>
          <p:cNvSpPr>
            <a:spLocks noGrp="1"/>
          </p:cNvSpPr>
          <p:nvPr>
            <p:ph type="sldNum" sz="quarter" idx="12"/>
          </p:nvPr>
        </p:nvSpPr>
        <p:spPr/>
        <p:txBody>
          <a:bodyPr/>
          <a:lstStyle/>
          <a:p>
            <a:fld id="{27C6CCC6-2BE5-4E42-96A4-D1E8E81A3D8E}" type="slidenum">
              <a:rPr lang="fr-FR" smtClean="0"/>
              <a:t>31</a:t>
            </a:fld>
            <a:endParaRPr lang="fr-FR"/>
          </a:p>
        </p:txBody>
      </p:sp>
    </p:spTree>
    <p:extLst>
      <p:ext uri="{BB962C8B-B14F-4D97-AF65-F5344CB8AC3E}">
        <p14:creationId xmlns:p14="http://schemas.microsoft.com/office/powerpoint/2010/main" val="26684875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CBF3D-1E17-4F4F-8781-11F723C7F5FF}"/>
              </a:ext>
            </a:extLst>
          </p:cNvPr>
          <p:cNvSpPr>
            <a:spLocks noGrp="1"/>
          </p:cNvSpPr>
          <p:nvPr>
            <p:ph type="title"/>
          </p:nvPr>
        </p:nvSpPr>
        <p:spPr>
          <a:xfrm>
            <a:off x="838200" y="275917"/>
            <a:ext cx="10515600" cy="1325563"/>
          </a:xfrm>
        </p:spPr>
        <p:txBody>
          <a:bodyPr/>
          <a:lstStyle/>
          <a:p>
            <a:r>
              <a:rPr lang="en-US" dirty="0"/>
              <a:t>Preliminary results: PAR intercepted in sorghum monocrop</a:t>
            </a:r>
          </a:p>
        </p:txBody>
      </p:sp>
      <p:sp>
        <p:nvSpPr>
          <p:cNvPr id="4" name="Slide Number Placeholder 3">
            <a:extLst>
              <a:ext uri="{FF2B5EF4-FFF2-40B4-BE49-F238E27FC236}">
                <a16:creationId xmlns:a16="http://schemas.microsoft.com/office/drawing/2014/main" id="{5C428F43-7EEE-4605-AD21-4AE0AF44BA1E}"/>
              </a:ext>
            </a:extLst>
          </p:cNvPr>
          <p:cNvSpPr>
            <a:spLocks noGrp="1"/>
          </p:cNvSpPr>
          <p:nvPr>
            <p:ph type="sldNum" sz="quarter" idx="12"/>
          </p:nvPr>
        </p:nvSpPr>
        <p:spPr/>
        <p:txBody>
          <a:bodyPr/>
          <a:lstStyle/>
          <a:p>
            <a:fld id="{27C6CCC6-2BE5-4E42-96A4-D1E8E81A3D8E}" type="slidenum">
              <a:rPr lang="fr-FR" smtClean="0"/>
              <a:t>32</a:t>
            </a:fld>
            <a:endParaRPr lang="fr-FR"/>
          </a:p>
        </p:txBody>
      </p:sp>
      <p:pic>
        <p:nvPicPr>
          <p:cNvPr id="10" name="Content Placeholder 9">
            <a:extLst>
              <a:ext uri="{FF2B5EF4-FFF2-40B4-BE49-F238E27FC236}">
                <a16:creationId xmlns:a16="http://schemas.microsoft.com/office/drawing/2014/main" id="{5763B788-8956-42F9-9610-D654D8B62F9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956932" y="1494234"/>
            <a:ext cx="6278135" cy="4917872"/>
          </a:xfrm>
        </p:spPr>
      </p:pic>
      <p:sp>
        <p:nvSpPr>
          <p:cNvPr id="11" name="TextBox 10">
            <a:extLst>
              <a:ext uri="{FF2B5EF4-FFF2-40B4-BE49-F238E27FC236}">
                <a16:creationId xmlns:a16="http://schemas.microsoft.com/office/drawing/2014/main" id="{50BA28D9-8C75-4C9A-8D2D-468E5DC51FCD}"/>
              </a:ext>
            </a:extLst>
          </p:cNvPr>
          <p:cNvSpPr txBox="1"/>
          <p:nvPr/>
        </p:nvSpPr>
        <p:spPr>
          <a:xfrm>
            <a:off x="5798630" y="6391685"/>
            <a:ext cx="1449662" cy="369332"/>
          </a:xfrm>
          <a:prstGeom prst="rect">
            <a:avLst/>
          </a:prstGeom>
          <a:noFill/>
        </p:spPr>
        <p:txBody>
          <a:bodyPr wrap="square" rtlCol="0">
            <a:spAutoFit/>
          </a:bodyPr>
          <a:lstStyle/>
          <a:p>
            <a:r>
              <a:rPr lang="en-US" dirty="0"/>
              <a:t>Density = 10</a:t>
            </a:r>
          </a:p>
        </p:txBody>
      </p:sp>
      <p:cxnSp>
        <p:nvCxnSpPr>
          <p:cNvPr id="14" name="Straight Arrow Connector 13">
            <a:extLst>
              <a:ext uri="{FF2B5EF4-FFF2-40B4-BE49-F238E27FC236}">
                <a16:creationId xmlns:a16="http://schemas.microsoft.com/office/drawing/2014/main" id="{67A414C8-BFBA-4A7F-BD14-9C7A252A9E2F}"/>
              </a:ext>
            </a:extLst>
          </p:cNvPr>
          <p:cNvCxnSpPr/>
          <p:nvPr/>
        </p:nvCxnSpPr>
        <p:spPr>
          <a:xfrm>
            <a:off x="9489688" y="2553629"/>
            <a:ext cx="0" cy="2698595"/>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2C4D47FB-A779-4C01-878A-95502E3049D7}"/>
              </a:ext>
            </a:extLst>
          </p:cNvPr>
          <p:cNvSpPr txBox="1"/>
          <p:nvPr/>
        </p:nvSpPr>
        <p:spPr>
          <a:xfrm>
            <a:off x="9868829" y="3429000"/>
            <a:ext cx="1728438" cy="646331"/>
          </a:xfrm>
          <a:prstGeom prst="rect">
            <a:avLst/>
          </a:prstGeom>
          <a:noFill/>
        </p:spPr>
        <p:txBody>
          <a:bodyPr wrap="square" rtlCol="0">
            <a:spAutoFit/>
          </a:bodyPr>
          <a:lstStyle/>
          <a:p>
            <a:r>
              <a:rPr lang="en-US" dirty="0"/>
              <a:t>~ 15 MJ/m</a:t>
            </a:r>
            <a:r>
              <a:rPr lang="fr-FR" dirty="0"/>
              <a:t>² at the </a:t>
            </a:r>
            <a:r>
              <a:rPr lang="fr-FR" dirty="0" err="1"/>
              <a:t>largest</a:t>
            </a:r>
            <a:endParaRPr lang="en-US" dirty="0"/>
          </a:p>
        </p:txBody>
      </p:sp>
      <p:sp>
        <p:nvSpPr>
          <p:cNvPr id="16" name="Oval 15">
            <a:extLst>
              <a:ext uri="{FF2B5EF4-FFF2-40B4-BE49-F238E27FC236}">
                <a16:creationId xmlns:a16="http://schemas.microsoft.com/office/drawing/2014/main" id="{261C881A-16BF-4198-962E-82B9FC8F7CA3}"/>
              </a:ext>
            </a:extLst>
          </p:cNvPr>
          <p:cNvSpPr/>
          <p:nvPr/>
        </p:nvSpPr>
        <p:spPr>
          <a:xfrm>
            <a:off x="3902927" y="2988527"/>
            <a:ext cx="2085278" cy="35043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D292ABD-0662-4EC9-A6A6-7B33B7C8DBCD}"/>
              </a:ext>
            </a:extLst>
          </p:cNvPr>
          <p:cNvSpPr txBox="1"/>
          <p:nvPr/>
        </p:nvSpPr>
        <p:spPr>
          <a:xfrm>
            <a:off x="4103648" y="2981519"/>
            <a:ext cx="490653" cy="369332"/>
          </a:xfrm>
          <a:prstGeom prst="rect">
            <a:avLst/>
          </a:prstGeom>
          <a:noFill/>
        </p:spPr>
        <p:txBody>
          <a:bodyPr wrap="square" rtlCol="0">
            <a:spAutoFit/>
          </a:bodyPr>
          <a:lstStyle/>
          <a:p>
            <a:r>
              <a:rPr lang="en-US" dirty="0"/>
              <a:t>?*</a:t>
            </a:r>
          </a:p>
        </p:txBody>
      </p:sp>
      <p:sp>
        <p:nvSpPr>
          <p:cNvPr id="18" name="TextBox 17">
            <a:extLst>
              <a:ext uri="{FF2B5EF4-FFF2-40B4-BE49-F238E27FC236}">
                <a16:creationId xmlns:a16="http://schemas.microsoft.com/office/drawing/2014/main" id="{832CDE79-248A-4B91-9A80-0DCD64807181}"/>
              </a:ext>
            </a:extLst>
          </p:cNvPr>
          <p:cNvSpPr txBox="1"/>
          <p:nvPr/>
        </p:nvSpPr>
        <p:spPr>
          <a:xfrm>
            <a:off x="228602" y="1951672"/>
            <a:ext cx="2456984" cy="4247317"/>
          </a:xfrm>
          <a:prstGeom prst="rect">
            <a:avLst/>
          </a:prstGeom>
          <a:noFill/>
        </p:spPr>
        <p:txBody>
          <a:bodyPr wrap="square" rtlCol="0">
            <a:spAutoFit/>
          </a:bodyPr>
          <a:lstStyle/>
          <a:p>
            <a:r>
              <a:rPr lang="en-US" dirty="0"/>
              <a:t>*Pbs: </a:t>
            </a:r>
          </a:p>
          <a:p>
            <a:pPr marL="285750" indent="-285750">
              <a:buFontTx/>
              <a:buChar char="-"/>
            </a:pPr>
            <a:r>
              <a:rPr lang="en-US" dirty="0"/>
              <a:t>I might refine the implementation of the beginning of growth</a:t>
            </a:r>
          </a:p>
          <a:p>
            <a:pPr marL="285750" indent="-285750">
              <a:buFontTx/>
              <a:buChar char="-"/>
            </a:pPr>
            <a:r>
              <a:rPr lang="en-US" dirty="0"/>
              <a:t>I must consider </a:t>
            </a:r>
            <a:r>
              <a:rPr lang="en-US" dirty="0" err="1"/>
              <a:t>Eabs</a:t>
            </a:r>
            <a:r>
              <a:rPr lang="en-US" dirty="0"/>
              <a:t> and not </a:t>
            </a:r>
            <a:r>
              <a:rPr lang="en-US" dirty="0" err="1"/>
              <a:t>Ei</a:t>
            </a:r>
            <a:endParaRPr lang="en-US" dirty="0"/>
          </a:p>
          <a:p>
            <a:pPr marL="285750" indent="-285750">
              <a:buFontTx/>
              <a:buChar char="-"/>
            </a:pPr>
            <a:r>
              <a:rPr lang="en-US" dirty="0"/>
              <a:t>Plot LAI to better understand</a:t>
            </a:r>
          </a:p>
          <a:p>
            <a:pPr marL="285750" indent="-285750">
              <a:buFontTx/>
              <a:buChar char="-"/>
            </a:pPr>
            <a:r>
              <a:rPr lang="en-US" dirty="0"/>
              <a:t>Plot individual curves for each set of parameters</a:t>
            </a:r>
          </a:p>
          <a:p>
            <a:pPr marL="285750" indent="-285750">
              <a:buFontTx/>
              <a:buChar char="-"/>
            </a:pPr>
            <a:r>
              <a:rPr lang="en-US" dirty="0"/>
              <a:t>Plot incoming PAR and PAR intercepted as % of incoming PAR</a:t>
            </a:r>
          </a:p>
        </p:txBody>
      </p:sp>
    </p:spTree>
    <p:extLst>
      <p:ext uri="{BB962C8B-B14F-4D97-AF65-F5344CB8AC3E}">
        <p14:creationId xmlns:p14="http://schemas.microsoft.com/office/powerpoint/2010/main" val="25269872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541528"/>
            <a:ext cx="10515600" cy="2609973"/>
          </a:xfrm>
        </p:spPr>
        <p:txBody>
          <a:bodyPr>
            <a:normAutofit/>
          </a:bodyPr>
          <a:lstStyle/>
          <a:p>
            <a:pPr marL="0" indent="0">
              <a:buNone/>
            </a:pPr>
            <a:r>
              <a:rPr lang="fr-FR" dirty="0"/>
              <a:t>3.3.An </a:t>
            </a:r>
            <a:r>
              <a:rPr lang="fr-FR" dirty="0" err="1"/>
              <a:t>intercrop</a:t>
            </a:r>
            <a:r>
              <a:rPr lang="fr-FR" dirty="0"/>
              <a:t> </a:t>
            </a:r>
            <a:r>
              <a:rPr lang="fr-FR" dirty="0" err="1"/>
              <a:t>through</a:t>
            </a:r>
            <a:r>
              <a:rPr lang="fr-FR" dirty="0"/>
              <a:t> time</a:t>
            </a:r>
          </a:p>
          <a:p>
            <a:pPr lvl="1"/>
            <a:r>
              <a:rPr lang="en-US" dirty="0"/>
              <a:t>Growth constrained with STICS simulation outputs </a:t>
            </a:r>
          </a:p>
          <a:p>
            <a:pPr lvl="1"/>
            <a:r>
              <a:rPr lang="en-US" dirty="0"/>
              <a:t>Show the differences in </a:t>
            </a:r>
            <a:r>
              <a:rPr lang="en-US" b="1" dirty="0"/>
              <a:t>light interception </a:t>
            </a:r>
            <a:r>
              <a:rPr lang="en-US" dirty="0"/>
              <a:t>through time given different architectural parameters for both crops and sowing patterns (comment on border effect, </a:t>
            </a:r>
            <a:r>
              <a:rPr lang="en-US" dirty="0" err="1"/>
              <a:t>etc</a:t>
            </a:r>
            <a:r>
              <a:rPr lang="en-US" dirty="0"/>
              <a:t>) </a:t>
            </a:r>
          </a:p>
          <a:p>
            <a:pPr lvl="1"/>
            <a:r>
              <a:rPr lang="en-US" dirty="0">
                <a:sym typeface="Wingdings" panose="05000000000000000000" pitchFamily="2" charset="2"/>
              </a:rPr>
              <a:t>Analysis of influential </a:t>
            </a:r>
            <a:r>
              <a:rPr lang="en-US" dirty="0" err="1">
                <a:sym typeface="Wingdings" panose="05000000000000000000" pitchFamily="2" charset="2"/>
              </a:rPr>
              <a:t>archi</a:t>
            </a:r>
            <a:r>
              <a:rPr lang="en-US" dirty="0">
                <a:sym typeface="Wingdings" panose="05000000000000000000" pitchFamily="2" charset="2"/>
              </a:rPr>
              <a:t> traits</a:t>
            </a:r>
            <a:endParaRPr lang="en-US" dirty="0"/>
          </a:p>
          <a:p>
            <a:pPr marL="457200" lvl="1" indent="0">
              <a:buNone/>
            </a:pPr>
            <a:endParaRPr lang="en-US" dirty="0"/>
          </a:p>
        </p:txBody>
      </p:sp>
      <p:pic>
        <p:nvPicPr>
          <p:cNvPr id="11" name="Picture 10">
            <a:extLst>
              <a:ext uri="{FF2B5EF4-FFF2-40B4-BE49-F238E27FC236}">
                <a16:creationId xmlns:a16="http://schemas.microsoft.com/office/drawing/2014/main" id="{7C5C3D71-14A0-4F80-825A-364BD0FB5312}"/>
              </a:ext>
            </a:extLst>
          </p:cNvPr>
          <p:cNvPicPr>
            <a:picLocks noChangeAspect="1"/>
          </p:cNvPicPr>
          <p:nvPr/>
        </p:nvPicPr>
        <p:blipFill rotWithShape="1">
          <a:blip r:embed="rId2">
            <a:extLst>
              <a:ext uri="{28A0092B-C50C-407E-A947-70E740481C1C}">
                <a14:useLocalDpi xmlns:a14="http://schemas.microsoft.com/office/drawing/2010/main" val="0"/>
              </a:ext>
            </a:extLst>
          </a:blip>
          <a:srcRect l="10251" t="20329" r="14120" b="15619"/>
          <a:stretch/>
        </p:blipFill>
        <p:spPr>
          <a:xfrm>
            <a:off x="1878937" y="3861386"/>
            <a:ext cx="4217063" cy="2609973"/>
          </a:xfrm>
          <a:prstGeom prst="rect">
            <a:avLst/>
          </a:prstGeom>
        </p:spPr>
      </p:pic>
      <p:sp>
        <p:nvSpPr>
          <p:cNvPr id="4" name="Slide Number Placeholder 3">
            <a:extLst>
              <a:ext uri="{FF2B5EF4-FFF2-40B4-BE49-F238E27FC236}">
                <a16:creationId xmlns:a16="http://schemas.microsoft.com/office/drawing/2014/main" id="{F0261969-3CC4-48C4-8B72-2DDDCD24D622}"/>
              </a:ext>
            </a:extLst>
          </p:cNvPr>
          <p:cNvSpPr>
            <a:spLocks noGrp="1"/>
          </p:cNvSpPr>
          <p:nvPr>
            <p:ph type="sldNum" sz="quarter" idx="12"/>
          </p:nvPr>
        </p:nvSpPr>
        <p:spPr/>
        <p:txBody>
          <a:bodyPr/>
          <a:lstStyle/>
          <a:p>
            <a:fld id="{4D0921BC-FC9B-4B20-AD4C-0D7EEBC2A9A8}" type="slidenum">
              <a:rPr lang="en-US" smtClean="0"/>
              <a:t>33</a:t>
            </a:fld>
            <a:endParaRPr lang="en-US"/>
          </a:p>
        </p:txBody>
      </p:sp>
      <p:sp>
        <p:nvSpPr>
          <p:cNvPr id="10" name="Slide Number Placeholder 3">
            <a:extLst>
              <a:ext uri="{FF2B5EF4-FFF2-40B4-BE49-F238E27FC236}">
                <a16:creationId xmlns:a16="http://schemas.microsoft.com/office/drawing/2014/main" id="{90D42A07-0BDD-4E1F-BD07-9A4208A17D89}"/>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7C6CCC6-2BE5-4E42-96A4-D1E8E81A3D8E}" type="slidenum">
              <a:rPr lang="fr-FR" smtClean="0"/>
              <a:pPr/>
              <a:t>33</a:t>
            </a:fld>
            <a:endParaRPr lang="fr-FR"/>
          </a:p>
        </p:txBody>
      </p:sp>
      <p:pic>
        <p:nvPicPr>
          <p:cNvPr id="19" name="Content Placeholder 9">
            <a:extLst>
              <a:ext uri="{FF2B5EF4-FFF2-40B4-BE49-F238E27FC236}">
                <a16:creationId xmlns:a16="http://schemas.microsoft.com/office/drawing/2014/main" id="{61075855-7749-476F-91AE-2EB6B44DD7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48655" y="3499270"/>
            <a:ext cx="4041630" cy="3165943"/>
          </a:xfrm>
          <a:prstGeom prst="rect">
            <a:avLst/>
          </a:prstGeom>
        </p:spPr>
      </p:pic>
      <p:sp>
        <p:nvSpPr>
          <p:cNvPr id="6" name="TextBox 5">
            <a:extLst>
              <a:ext uri="{FF2B5EF4-FFF2-40B4-BE49-F238E27FC236}">
                <a16:creationId xmlns:a16="http://schemas.microsoft.com/office/drawing/2014/main" id="{F069044A-498D-48CC-8818-CDDAD01ACDCD}"/>
              </a:ext>
            </a:extLst>
          </p:cNvPr>
          <p:cNvSpPr txBox="1"/>
          <p:nvPr/>
        </p:nvSpPr>
        <p:spPr>
          <a:xfrm>
            <a:off x="134383" y="5507915"/>
            <a:ext cx="3216537" cy="1200329"/>
          </a:xfrm>
          <a:prstGeom prst="rect">
            <a:avLst/>
          </a:prstGeom>
          <a:noFill/>
        </p:spPr>
        <p:txBody>
          <a:bodyPr wrap="square" rtlCol="0">
            <a:spAutoFit/>
          </a:bodyPr>
          <a:lstStyle/>
          <a:p>
            <a:r>
              <a:rPr lang="en-US" dirty="0"/>
              <a:t>Visualization of light interception for different architectural parameters for both crops and sowing patterns</a:t>
            </a:r>
          </a:p>
        </p:txBody>
      </p:sp>
    </p:spTree>
    <p:extLst>
      <p:ext uri="{BB962C8B-B14F-4D97-AF65-F5344CB8AC3E}">
        <p14:creationId xmlns:p14="http://schemas.microsoft.com/office/powerpoint/2010/main" val="23485417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E508B-7B6D-4A2C-A638-D68FF6B0A3F2}"/>
              </a:ext>
            </a:extLst>
          </p:cNvPr>
          <p:cNvSpPr>
            <a:spLocks noGrp="1"/>
          </p:cNvSpPr>
          <p:nvPr>
            <p:ph type="title"/>
          </p:nvPr>
        </p:nvSpPr>
        <p:spPr/>
        <p:txBody>
          <a:bodyPr/>
          <a:lstStyle/>
          <a:p>
            <a:r>
              <a:rPr lang="en-US" dirty="0"/>
              <a:t>Perspectives</a:t>
            </a:r>
          </a:p>
        </p:txBody>
      </p:sp>
      <p:sp>
        <p:nvSpPr>
          <p:cNvPr id="4" name="Slide Number Placeholder 3">
            <a:extLst>
              <a:ext uri="{FF2B5EF4-FFF2-40B4-BE49-F238E27FC236}">
                <a16:creationId xmlns:a16="http://schemas.microsoft.com/office/drawing/2014/main" id="{778D2267-07F0-4367-A27F-68C0446E9ACB}"/>
              </a:ext>
            </a:extLst>
          </p:cNvPr>
          <p:cNvSpPr>
            <a:spLocks noGrp="1"/>
          </p:cNvSpPr>
          <p:nvPr>
            <p:ph type="sldNum" sz="quarter" idx="12"/>
          </p:nvPr>
        </p:nvSpPr>
        <p:spPr/>
        <p:txBody>
          <a:bodyPr/>
          <a:lstStyle/>
          <a:p>
            <a:fld id="{27C6CCC6-2BE5-4E42-96A4-D1E8E81A3D8E}" type="slidenum">
              <a:rPr lang="fr-FR" smtClean="0"/>
              <a:t>34</a:t>
            </a:fld>
            <a:endParaRPr lang="fr-FR"/>
          </a:p>
        </p:txBody>
      </p:sp>
      <p:grpSp>
        <p:nvGrpSpPr>
          <p:cNvPr id="14" name="Group 13">
            <a:extLst>
              <a:ext uri="{FF2B5EF4-FFF2-40B4-BE49-F238E27FC236}">
                <a16:creationId xmlns:a16="http://schemas.microsoft.com/office/drawing/2014/main" id="{F5F08054-61ED-490D-A355-9240E948889F}"/>
              </a:ext>
            </a:extLst>
          </p:cNvPr>
          <p:cNvGrpSpPr/>
          <p:nvPr/>
        </p:nvGrpSpPr>
        <p:grpSpPr>
          <a:xfrm>
            <a:off x="1167809" y="3812696"/>
            <a:ext cx="9856381" cy="903767"/>
            <a:chOff x="1180214" y="4742121"/>
            <a:chExt cx="9856381" cy="903767"/>
          </a:xfrm>
        </p:grpSpPr>
        <p:sp>
          <p:nvSpPr>
            <p:cNvPr id="5" name="Arrow: Right 4">
              <a:extLst>
                <a:ext uri="{FF2B5EF4-FFF2-40B4-BE49-F238E27FC236}">
                  <a16:creationId xmlns:a16="http://schemas.microsoft.com/office/drawing/2014/main" id="{AFF22ED4-AF75-4773-B318-DF499A399A13}"/>
                </a:ext>
              </a:extLst>
            </p:cNvPr>
            <p:cNvSpPr/>
            <p:nvPr/>
          </p:nvSpPr>
          <p:spPr>
            <a:xfrm>
              <a:off x="1180214" y="4742121"/>
              <a:ext cx="9856381" cy="903767"/>
            </a:xfrm>
            <a:prstGeom prst="rightArrow">
              <a:avLst/>
            </a:prstGeom>
            <a:solidFill>
              <a:srgbClr val="399758"/>
            </a:solidFill>
            <a:ln>
              <a:solidFill>
                <a:srgbClr val="24743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A059CC-826D-4105-880E-44202BF32652}"/>
                </a:ext>
              </a:extLst>
            </p:cNvPr>
            <p:cNvSpPr txBox="1"/>
            <p:nvPr/>
          </p:nvSpPr>
          <p:spPr>
            <a:xfrm>
              <a:off x="1339702" y="5009338"/>
              <a:ext cx="978196" cy="369332"/>
            </a:xfrm>
            <a:prstGeom prst="rect">
              <a:avLst/>
            </a:prstGeom>
            <a:noFill/>
          </p:spPr>
          <p:txBody>
            <a:bodyPr wrap="square" rtlCol="0">
              <a:spAutoFit/>
            </a:bodyPr>
            <a:lstStyle/>
            <a:p>
              <a:r>
                <a:rPr lang="en-US" dirty="0"/>
                <a:t>2024</a:t>
              </a:r>
            </a:p>
          </p:txBody>
        </p:sp>
        <p:sp>
          <p:nvSpPr>
            <p:cNvPr id="8" name="TextBox 7">
              <a:extLst>
                <a:ext uri="{FF2B5EF4-FFF2-40B4-BE49-F238E27FC236}">
                  <a16:creationId xmlns:a16="http://schemas.microsoft.com/office/drawing/2014/main" id="{C06AE40F-C462-443C-BCBF-2AB3E6CF48FE}"/>
                </a:ext>
              </a:extLst>
            </p:cNvPr>
            <p:cNvSpPr txBox="1"/>
            <p:nvPr/>
          </p:nvSpPr>
          <p:spPr>
            <a:xfrm>
              <a:off x="3919870" y="5009338"/>
              <a:ext cx="978196" cy="369332"/>
            </a:xfrm>
            <a:prstGeom prst="rect">
              <a:avLst/>
            </a:prstGeom>
            <a:noFill/>
          </p:spPr>
          <p:txBody>
            <a:bodyPr wrap="square" rtlCol="0">
              <a:spAutoFit/>
            </a:bodyPr>
            <a:lstStyle/>
            <a:p>
              <a:r>
                <a:rPr lang="en-US" dirty="0"/>
                <a:t>2025</a:t>
              </a:r>
            </a:p>
          </p:txBody>
        </p:sp>
        <p:sp>
          <p:nvSpPr>
            <p:cNvPr id="9" name="TextBox 8">
              <a:extLst>
                <a:ext uri="{FF2B5EF4-FFF2-40B4-BE49-F238E27FC236}">
                  <a16:creationId xmlns:a16="http://schemas.microsoft.com/office/drawing/2014/main" id="{3B356DB5-0BC8-4922-9382-EBD8EA94A3F3}"/>
                </a:ext>
              </a:extLst>
            </p:cNvPr>
            <p:cNvSpPr txBox="1"/>
            <p:nvPr/>
          </p:nvSpPr>
          <p:spPr>
            <a:xfrm>
              <a:off x="8121502" y="5009338"/>
              <a:ext cx="978196" cy="369332"/>
            </a:xfrm>
            <a:prstGeom prst="rect">
              <a:avLst/>
            </a:prstGeom>
            <a:noFill/>
          </p:spPr>
          <p:txBody>
            <a:bodyPr wrap="square" rtlCol="0">
              <a:spAutoFit/>
            </a:bodyPr>
            <a:lstStyle/>
            <a:p>
              <a:r>
                <a:rPr lang="en-US" dirty="0"/>
                <a:t>2026</a:t>
              </a:r>
            </a:p>
          </p:txBody>
        </p:sp>
        <p:cxnSp>
          <p:nvCxnSpPr>
            <p:cNvPr id="11" name="Straight Connector 10">
              <a:extLst>
                <a:ext uri="{FF2B5EF4-FFF2-40B4-BE49-F238E27FC236}">
                  <a16:creationId xmlns:a16="http://schemas.microsoft.com/office/drawing/2014/main" id="{AA69BF8D-A301-464F-822E-CEE61E24C078}"/>
                </a:ext>
              </a:extLst>
            </p:cNvPr>
            <p:cNvCxnSpPr>
              <a:cxnSpLocks/>
            </p:cNvCxnSpPr>
            <p:nvPr/>
          </p:nvCxnSpPr>
          <p:spPr>
            <a:xfrm>
              <a:off x="2211572" y="5009338"/>
              <a:ext cx="0" cy="369332"/>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F996BD15-2FD6-4ACB-A97C-4247FAE3FC3B}"/>
                </a:ext>
              </a:extLst>
            </p:cNvPr>
            <p:cNvCxnSpPr>
              <a:cxnSpLocks/>
            </p:cNvCxnSpPr>
            <p:nvPr/>
          </p:nvCxnSpPr>
          <p:spPr>
            <a:xfrm>
              <a:off x="6425610" y="5009338"/>
              <a:ext cx="0" cy="369332"/>
            </a:xfrm>
            <a:prstGeom prst="line">
              <a:avLst/>
            </a:prstGeom>
          </p:spPr>
          <p:style>
            <a:lnRef idx="2">
              <a:schemeClr val="dk1"/>
            </a:lnRef>
            <a:fillRef idx="0">
              <a:schemeClr val="dk1"/>
            </a:fillRef>
            <a:effectRef idx="1">
              <a:schemeClr val="dk1"/>
            </a:effectRef>
            <a:fontRef idx="minor">
              <a:schemeClr val="tx1"/>
            </a:fontRef>
          </p:style>
        </p:cxnSp>
      </p:grpSp>
      <p:sp>
        <p:nvSpPr>
          <p:cNvPr id="15" name="Rectangle 14">
            <a:extLst>
              <a:ext uri="{FF2B5EF4-FFF2-40B4-BE49-F238E27FC236}">
                <a16:creationId xmlns:a16="http://schemas.microsoft.com/office/drawing/2014/main" id="{842B152E-0B2F-4FF1-82D9-6896E30E40E1}"/>
              </a:ext>
            </a:extLst>
          </p:cNvPr>
          <p:cNvSpPr/>
          <p:nvPr/>
        </p:nvSpPr>
        <p:spPr>
          <a:xfrm>
            <a:off x="231688" y="1637981"/>
            <a:ext cx="2605901" cy="2308324"/>
          </a:xfrm>
          <a:prstGeom prst="rect">
            <a:avLst/>
          </a:prstGeom>
        </p:spPr>
        <p:txBody>
          <a:bodyPr wrap="square">
            <a:spAutoFit/>
          </a:bodyPr>
          <a:lstStyle/>
          <a:p>
            <a:pPr marL="285750" indent="-285750">
              <a:buFont typeface="Arial" panose="020B0604020202020204" pitchFamily="34" charset="0"/>
              <a:buChar char="•"/>
            </a:pPr>
            <a:r>
              <a:rPr lang="en-US" dirty="0"/>
              <a:t>Extension of the cereal model to legumes (chapter 1)</a:t>
            </a:r>
          </a:p>
          <a:p>
            <a:pPr marL="285750" indent="-285750">
              <a:buFont typeface="Arial" panose="020B0604020202020204" pitchFamily="34" charset="0"/>
              <a:buChar char="•"/>
            </a:pPr>
            <a:r>
              <a:rPr lang="en-US" dirty="0"/>
              <a:t>Simulations of intercrops and uncertainty analyses for light interception (chapter 2)</a:t>
            </a:r>
          </a:p>
        </p:txBody>
      </p:sp>
      <p:sp>
        <p:nvSpPr>
          <p:cNvPr id="16" name="Rectangle 15">
            <a:extLst>
              <a:ext uri="{FF2B5EF4-FFF2-40B4-BE49-F238E27FC236}">
                <a16:creationId xmlns:a16="http://schemas.microsoft.com/office/drawing/2014/main" id="{5A23A999-FED4-47F3-BEBC-5520D0360580}"/>
              </a:ext>
            </a:extLst>
          </p:cNvPr>
          <p:cNvSpPr/>
          <p:nvPr/>
        </p:nvSpPr>
        <p:spPr>
          <a:xfrm>
            <a:off x="1534638" y="5037174"/>
            <a:ext cx="2186452" cy="646331"/>
          </a:xfrm>
          <a:prstGeom prst="rect">
            <a:avLst/>
          </a:prstGeom>
        </p:spPr>
        <p:txBody>
          <a:bodyPr wrap="square">
            <a:spAutoFit/>
          </a:bodyPr>
          <a:lstStyle/>
          <a:p>
            <a:r>
              <a:rPr lang="en-US" dirty="0"/>
              <a:t>First article on chapter 1 submitted</a:t>
            </a:r>
          </a:p>
        </p:txBody>
      </p:sp>
      <p:sp>
        <p:nvSpPr>
          <p:cNvPr id="17" name="Rectangle 16">
            <a:extLst>
              <a:ext uri="{FF2B5EF4-FFF2-40B4-BE49-F238E27FC236}">
                <a16:creationId xmlns:a16="http://schemas.microsoft.com/office/drawing/2014/main" id="{5133A781-F16B-4BA5-B517-213C2D1647EF}"/>
              </a:ext>
            </a:extLst>
          </p:cNvPr>
          <p:cNvSpPr/>
          <p:nvPr/>
        </p:nvSpPr>
        <p:spPr>
          <a:xfrm>
            <a:off x="3399525" y="2176502"/>
            <a:ext cx="2899459" cy="1200329"/>
          </a:xfrm>
          <a:prstGeom prst="rect">
            <a:avLst/>
          </a:prstGeom>
        </p:spPr>
        <p:txBody>
          <a:bodyPr wrap="square">
            <a:spAutoFit/>
          </a:bodyPr>
          <a:lstStyle/>
          <a:p>
            <a:r>
              <a:rPr lang="en-US" dirty="0"/>
              <a:t>Similar approach for roots, looking at processes like water and nitrogen uptake (chapter 1&amp;2)</a:t>
            </a:r>
          </a:p>
        </p:txBody>
      </p:sp>
      <p:cxnSp>
        <p:nvCxnSpPr>
          <p:cNvPr id="22" name="Straight Connector 21">
            <a:extLst>
              <a:ext uri="{FF2B5EF4-FFF2-40B4-BE49-F238E27FC236}">
                <a16:creationId xmlns:a16="http://schemas.microsoft.com/office/drawing/2014/main" id="{D5595CCC-9946-449B-8106-B2C4380CBA3A}"/>
              </a:ext>
            </a:extLst>
          </p:cNvPr>
          <p:cNvCxnSpPr>
            <a:cxnSpLocks/>
          </p:cNvCxnSpPr>
          <p:nvPr/>
        </p:nvCxnSpPr>
        <p:spPr>
          <a:xfrm flipV="1">
            <a:off x="3108028" y="1888185"/>
            <a:ext cx="21058" cy="2135334"/>
          </a:xfrm>
          <a:prstGeom prst="line">
            <a:avLst/>
          </a:prstGeom>
        </p:spPr>
        <p:style>
          <a:lnRef idx="2">
            <a:schemeClr val="dk1"/>
          </a:lnRef>
          <a:fillRef idx="0">
            <a:schemeClr val="dk1"/>
          </a:fillRef>
          <a:effectRef idx="1">
            <a:schemeClr val="dk1"/>
          </a:effectRef>
          <a:fontRef idx="minor">
            <a:schemeClr val="tx1"/>
          </a:fontRef>
        </p:style>
      </p:cxnSp>
      <p:cxnSp>
        <p:nvCxnSpPr>
          <p:cNvPr id="24" name="Straight Connector 23">
            <a:extLst>
              <a:ext uri="{FF2B5EF4-FFF2-40B4-BE49-F238E27FC236}">
                <a16:creationId xmlns:a16="http://schemas.microsoft.com/office/drawing/2014/main" id="{9E16F3E8-5922-4D34-947E-F2D595761158}"/>
              </a:ext>
            </a:extLst>
          </p:cNvPr>
          <p:cNvCxnSpPr>
            <a:cxnSpLocks/>
            <a:stCxn id="16" idx="0"/>
          </p:cNvCxnSpPr>
          <p:nvPr/>
        </p:nvCxnSpPr>
        <p:spPr>
          <a:xfrm flipV="1">
            <a:off x="2627864" y="4514200"/>
            <a:ext cx="1304" cy="522974"/>
          </a:xfrm>
          <a:prstGeom prst="line">
            <a:avLst/>
          </a:prstGeom>
        </p:spPr>
        <p:style>
          <a:lnRef idx="2">
            <a:schemeClr val="dk1"/>
          </a:lnRef>
          <a:fillRef idx="0">
            <a:schemeClr val="dk1"/>
          </a:fillRef>
          <a:effectRef idx="1">
            <a:schemeClr val="dk1"/>
          </a:effectRef>
          <a:fontRef idx="minor">
            <a:schemeClr val="tx1"/>
          </a:fontRef>
        </p:style>
      </p:cxnSp>
      <p:cxnSp>
        <p:nvCxnSpPr>
          <p:cNvPr id="29" name="Straight Connector 28">
            <a:extLst>
              <a:ext uri="{FF2B5EF4-FFF2-40B4-BE49-F238E27FC236}">
                <a16:creationId xmlns:a16="http://schemas.microsoft.com/office/drawing/2014/main" id="{6928A1DA-D9F6-4DDB-AAE7-0DDED2FAF076}"/>
              </a:ext>
            </a:extLst>
          </p:cNvPr>
          <p:cNvCxnSpPr>
            <a:cxnSpLocks/>
          </p:cNvCxnSpPr>
          <p:nvPr/>
        </p:nvCxnSpPr>
        <p:spPr>
          <a:xfrm flipV="1">
            <a:off x="6409215" y="1888184"/>
            <a:ext cx="3990" cy="2135337"/>
          </a:xfrm>
          <a:prstGeom prst="line">
            <a:avLst/>
          </a:prstGeom>
        </p:spPr>
        <p:style>
          <a:lnRef idx="2">
            <a:schemeClr val="dk1"/>
          </a:lnRef>
          <a:fillRef idx="0">
            <a:schemeClr val="dk1"/>
          </a:fillRef>
          <a:effectRef idx="1">
            <a:schemeClr val="dk1"/>
          </a:effectRef>
          <a:fontRef idx="minor">
            <a:schemeClr val="tx1"/>
          </a:fontRef>
        </p:style>
      </p:cxnSp>
      <p:sp>
        <p:nvSpPr>
          <p:cNvPr id="36" name="Rectangle 35">
            <a:extLst>
              <a:ext uri="{FF2B5EF4-FFF2-40B4-BE49-F238E27FC236}">
                <a16:creationId xmlns:a16="http://schemas.microsoft.com/office/drawing/2014/main" id="{E826820F-2F63-4854-9D2A-CFEB1DEBAA48}"/>
              </a:ext>
            </a:extLst>
          </p:cNvPr>
          <p:cNvSpPr/>
          <p:nvPr/>
        </p:nvSpPr>
        <p:spPr>
          <a:xfrm>
            <a:off x="6920762" y="2241668"/>
            <a:ext cx="2899459" cy="923330"/>
          </a:xfrm>
          <a:prstGeom prst="rect">
            <a:avLst/>
          </a:prstGeom>
        </p:spPr>
        <p:txBody>
          <a:bodyPr wrap="square">
            <a:spAutoFit/>
          </a:bodyPr>
          <a:lstStyle/>
          <a:p>
            <a:r>
              <a:rPr lang="en-US" dirty="0"/>
              <a:t>Propositions of new formalisms for STICS crop model (chapter 3)</a:t>
            </a:r>
          </a:p>
        </p:txBody>
      </p:sp>
      <p:sp>
        <p:nvSpPr>
          <p:cNvPr id="40" name="Rectangle 39">
            <a:extLst>
              <a:ext uri="{FF2B5EF4-FFF2-40B4-BE49-F238E27FC236}">
                <a16:creationId xmlns:a16="http://schemas.microsoft.com/office/drawing/2014/main" id="{A65835F2-4238-4ED2-A285-1271F460D4E3}"/>
              </a:ext>
            </a:extLst>
          </p:cNvPr>
          <p:cNvSpPr/>
          <p:nvPr/>
        </p:nvSpPr>
        <p:spPr>
          <a:xfrm>
            <a:off x="5315989" y="5037174"/>
            <a:ext cx="2186452" cy="646331"/>
          </a:xfrm>
          <a:prstGeom prst="rect">
            <a:avLst/>
          </a:prstGeom>
        </p:spPr>
        <p:txBody>
          <a:bodyPr wrap="square">
            <a:spAutoFit/>
          </a:bodyPr>
          <a:lstStyle/>
          <a:p>
            <a:r>
              <a:rPr lang="en-US" dirty="0"/>
              <a:t>Second article on chapter 2 submitted</a:t>
            </a:r>
          </a:p>
        </p:txBody>
      </p:sp>
      <p:cxnSp>
        <p:nvCxnSpPr>
          <p:cNvPr id="41" name="Straight Connector 40">
            <a:extLst>
              <a:ext uri="{FF2B5EF4-FFF2-40B4-BE49-F238E27FC236}">
                <a16:creationId xmlns:a16="http://schemas.microsoft.com/office/drawing/2014/main" id="{A2B78C25-2726-420F-961A-9D4298071D02}"/>
              </a:ext>
            </a:extLst>
          </p:cNvPr>
          <p:cNvCxnSpPr>
            <a:cxnSpLocks/>
          </p:cNvCxnSpPr>
          <p:nvPr/>
        </p:nvCxnSpPr>
        <p:spPr>
          <a:xfrm flipV="1">
            <a:off x="6407911" y="4514200"/>
            <a:ext cx="1304" cy="522974"/>
          </a:xfrm>
          <a:prstGeom prst="line">
            <a:avLst/>
          </a:prstGeom>
        </p:spPr>
        <p:style>
          <a:lnRef idx="2">
            <a:schemeClr val="dk1"/>
          </a:lnRef>
          <a:fillRef idx="0">
            <a:schemeClr val="dk1"/>
          </a:fillRef>
          <a:effectRef idx="1">
            <a:schemeClr val="dk1"/>
          </a:effectRef>
          <a:fontRef idx="minor">
            <a:schemeClr val="tx1"/>
          </a:fontRef>
        </p:style>
      </p:cxnSp>
      <p:sp>
        <p:nvSpPr>
          <p:cNvPr id="42" name="Rectangle 41">
            <a:extLst>
              <a:ext uri="{FF2B5EF4-FFF2-40B4-BE49-F238E27FC236}">
                <a16:creationId xmlns:a16="http://schemas.microsoft.com/office/drawing/2014/main" id="{AD81DFD5-A742-4C08-887D-EA66F080D21E}"/>
              </a:ext>
            </a:extLst>
          </p:cNvPr>
          <p:cNvSpPr/>
          <p:nvPr/>
        </p:nvSpPr>
        <p:spPr>
          <a:xfrm>
            <a:off x="8998398" y="5037174"/>
            <a:ext cx="2186452" cy="646331"/>
          </a:xfrm>
          <a:prstGeom prst="rect">
            <a:avLst/>
          </a:prstGeom>
        </p:spPr>
        <p:txBody>
          <a:bodyPr wrap="square">
            <a:spAutoFit/>
          </a:bodyPr>
          <a:lstStyle/>
          <a:p>
            <a:r>
              <a:rPr lang="en-US" dirty="0"/>
              <a:t>Thesis manuscript ready</a:t>
            </a:r>
          </a:p>
        </p:txBody>
      </p:sp>
      <p:cxnSp>
        <p:nvCxnSpPr>
          <p:cNvPr id="43" name="Straight Connector 42">
            <a:extLst>
              <a:ext uri="{FF2B5EF4-FFF2-40B4-BE49-F238E27FC236}">
                <a16:creationId xmlns:a16="http://schemas.microsoft.com/office/drawing/2014/main" id="{90A4FF16-B26E-48A4-890E-063709CC6211}"/>
              </a:ext>
            </a:extLst>
          </p:cNvPr>
          <p:cNvCxnSpPr>
            <a:cxnSpLocks/>
          </p:cNvCxnSpPr>
          <p:nvPr/>
        </p:nvCxnSpPr>
        <p:spPr>
          <a:xfrm flipV="1">
            <a:off x="10090320" y="4514200"/>
            <a:ext cx="1304" cy="522974"/>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76240151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6AAEAEC55338B4CBD1310BC20ECA43B" ma:contentTypeVersion="6" ma:contentTypeDescription="Crée un document." ma:contentTypeScope="" ma:versionID="f3bee9aad377d983e5ace40107548819">
  <xsd:schema xmlns:xsd="http://www.w3.org/2001/XMLSchema" xmlns:xs="http://www.w3.org/2001/XMLSchema" xmlns:p="http://schemas.microsoft.com/office/2006/metadata/properties" xmlns:ns2="5e11a331-0175-485c-b5bc-7baf3794bcc4" xmlns:ns3="6123b362-d884-4010-ad19-191a22b79bf5" targetNamespace="http://schemas.microsoft.com/office/2006/metadata/properties" ma:root="true" ma:fieldsID="da4ddf064b527fafbeea9bca5b83bae1" ns2:_="" ns3:_="">
    <xsd:import namespace="5e11a331-0175-485c-b5bc-7baf3794bcc4"/>
    <xsd:import namespace="6123b362-d884-4010-ad19-191a22b79bf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e11a331-0175-485c-b5bc-7baf3794bcc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123b362-d884-4010-ad19-191a22b79bf5" elementFormDefault="qualified">
    <xsd:import namespace="http://schemas.microsoft.com/office/2006/documentManagement/types"/>
    <xsd:import namespace="http://schemas.microsoft.com/office/infopath/2007/PartnerControls"/>
    <xsd:element name="SharedWithUsers" ma:index="12"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D367EEE-588A-43EA-B4CA-B132941618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e11a331-0175-485c-b5bc-7baf3794bcc4"/>
    <ds:schemaRef ds:uri="6123b362-d884-4010-ad19-191a22b79bf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51A9BF6-46C8-4A93-8A6C-1B6AB6A4872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31807</TotalTime>
  <Words>4964</Words>
  <Application>Microsoft Office PowerPoint</Application>
  <PresentationFormat>Widescreen</PresentationFormat>
  <Paragraphs>620</Paragraphs>
  <Slides>34</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Aptos Display</vt:lpstr>
      <vt:lpstr>Arial</vt:lpstr>
      <vt:lpstr>Calibri</vt:lpstr>
      <vt:lpstr>Cambria Math</vt:lpstr>
      <vt:lpstr>Courier New,monospace</vt:lpstr>
      <vt:lpstr>Wingdings</vt:lpstr>
      <vt:lpstr>Thème Office</vt:lpstr>
      <vt:lpstr>Multiscale hybrid modeling framework  for intercrops :  the best of crop and plant models</vt:lpstr>
      <vt:lpstr>Intercropping</vt:lpstr>
      <vt:lpstr>Intercropping systems</vt:lpstr>
      <vt:lpstr>Intercropping systems</vt:lpstr>
      <vt:lpstr>Intercropping systems</vt:lpstr>
      <vt:lpstr>1.Introduction</vt:lpstr>
      <vt:lpstr>Crop models</vt:lpstr>
      <vt:lpstr>1.Introduction</vt:lpstr>
      <vt:lpstr>FSPM (Functional-Structural Plant Models) </vt:lpstr>
      <vt:lpstr>PowerPoint Presentation</vt:lpstr>
      <vt:lpstr>How to benefit from the best of both approaches?</vt:lpstr>
      <vt:lpstr>How to benefit from the best of both approaches?</vt:lpstr>
      <vt:lpstr>How to benefit from the best of both approaches?</vt:lpstr>
      <vt:lpstr>How to benefit from the best of both approaches?</vt:lpstr>
      <vt:lpstr>How to benefit from the best of both approaches?</vt:lpstr>
      <vt:lpstr>My PhD : Multiscale hybrid modelling for intercrops </vt:lpstr>
      <vt:lpstr>My PhD : Multiscale hybrid modelling for intercrops </vt:lpstr>
      <vt:lpstr>My PhD : Multiscale hybrid modelling for intercrops </vt:lpstr>
      <vt:lpstr>ArchiCrop: Constraint-driven Plant Model for cereals</vt:lpstr>
      <vt:lpstr>PowerPoint Presentation</vt:lpstr>
      <vt:lpstr>4.Discussion</vt:lpstr>
      <vt:lpstr>Potential plant architecture and development are defined by parameters.</vt:lpstr>
      <vt:lpstr>PowerPoint Presentation</vt:lpstr>
      <vt:lpstr>Different scales of heterogeneity for an intercrop</vt:lpstr>
      <vt:lpstr>Create morphospace of potential plants</vt:lpstr>
      <vt:lpstr>3.Results</vt:lpstr>
      <vt:lpstr>Workflow of simulations of intercrops through time</vt:lpstr>
      <vt:lpstr>PowerPoint Presentation</vt:lpstr>
      <vt:lpstr>Workflow of simulations of intercrops through time</vt:lpstr>
      <vt:lpstr>3.Results</vt:lpstr>
      <vt:lpstr>Simulations of a sorghum monocrop</vt:lpstr>
      <vt:lpstr>Preliminary results: PAR intercepted in sorghum monocrop</vt:lpstr>
      <vt:lpstr>3.Results</vt:lpstr>
      <vt:lpstr>Perspectives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braud</dc:creator>
  <cp:lastModifiedBy>Oriane BRAUD</cp:lastModifiedBy>
  <cp:revision>1167</cp:revision>
  <dcterms:created xsi:type="dcterms:W3CDTF">2024-06-25T09:40:25Z</dcterms:created>
  <dcterms:modified xsi:type="dcterms:W3CDTF">2024-11-18T10:14:10Z</dcterms:modified>
</cp:coreProperties>
</file>