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9"/>
  </p:notesMasterIdLst>
  <p:sldIdLst>
    <p:sldId id="256" r:id="rId4"/>
    <p:sldId id="259" r:id="rId5"/>
    <p:sldId id="262" r:id="rId6"/>
    <p:sldId id="260" r:id="rId7"/>
    <p:sldId id="263" r:id="rId8"/>
    <p:sldId id="283" r:id="rId9"/>
    <p:sldId id="288" r:id="rId10"/>
    <p:sldId id="267" r:id="rId11"/>
    <p:sldId id="261" r:id="rId12"/>
    <p:sldId id="277" r:id="rId13"/>
    <p:sldId id="290" r:id="rId14"/>
    <p:sldId id="276" r:id="rId15"/>
    <p:sldId id="293" r:id="rId16"/>
    <p:sldId id="270" r:id="rId17"/>
    <p:sldId id="294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24743A"/>
    <a:srgbClr val="399758"/>
    <a:srgbClr val="F39200"/>
    <a:srgbClr val="FFC000"/>
    <a:srgbClr val="D1D1D1"/>
    <a:srgbClr val="000000"/>
    <a:srgbClr val="C28745"/>
    <a:srgbClr val="FFFFFF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94" autoAdjust="0"/>
    <p:restoredTop sz="84932" autoAdjust="0"/>
  </p:normalViewPr>
  <p:slideViewPr>
    <p:cSldViewPr snapToGrid="0">
      <p:cViewPr varScale="1">
        <p:scale>
          <a:sx n="73" d="100"/>
          <a:sy n="73" d="100"/>
        </p:scale>
        <p:origin x="2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1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C0664-3760-4B25-9F25-C7AAC42DAE6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0A799-F059-4133-8369-1F74AA1BF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95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Plantes annuelles parmi les légumineuses et les graminées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A799-F059-4133-8369-1F74AA1BF6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01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Combinaison de plusieurs facteurs</a:t>
            </a:r>
          </a:p>
          <a:p>
            <a:r>
              <a:rPr lang="fr-FR" dirty="0"/>
              <a:t>Transition : optimiser ces combinaisons à l’aide de modèles, première étape avant l’expé en champs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A799-F059-4133-8369-1F74AA1BF6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12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A799-F059-4133-8369-1F74AA1BF6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75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Complémentarité des modèles, </a:t>
            </a:r>
            <a:r>
              <a:rPr lang="fr-FR" dirty="0" err="1"/>
              <a:t>trade</a:t>
            </a:r>
            <a:r>
              <a:rPr lang="fr-FR" dirty="0"/>
              <a:t>-off robustesse et précision</a:t>
            </a:r>
          </a:p>
          <a:p>
            <a:r>
              <a:rPr lang="fr-FR" dirty="0" err="1"/>
              <a:t>Outro</a:t>
            </a:r>
            <a:r>
              <a:rPr lang="fr-FR" dirty="0"/>
              <a:t> : besoin d’approches intermédiaires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A799-F059-4133-8369-1F74AA1BF6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065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A799-F059-4133-8369-1F74AA1BF6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17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given process, for intercrops, what scale is the most relevant ?</a:t>
            </a:r>
          </a:p>
          <a:p>
            <a:r>
              <a:rPr lang="en-US" dirty="0"/>
              <a:t>C1: how to create an equivalent of a crop model simulation, but </a:t>
            </a:r>
            <a:r>
              <a:rPr lang="en-US" dirty="0" err="1"/>
              <a:t>architectured</a:t>
            </a:r>
            <a:r>
              <a:rPr lang="en-US" dirty="0"/>
              <a:t> ?</a:t>
            </a:r>
          </a:p>
          <a:p>
            <a:r>
              <a:rPr lang="en-US" dirty="0"/>
              <a:t>Peng 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A799-F059-4133-8369-1F74AA1BF6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292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TOP-DOWN APPROACH, from global to local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Few parameters </a:t>
            </a:r>
            <a:r>
              <a:rPr lang="en-US" dirty="0">
                <a:sym typeface="Wingdings" panose="05000000000000000000" pitchFamily="2" charset="2"/>
              </a:rPr>
              <a:t> easily </a:t>
            </a:r>
            <a:r>
              <a:rPr lang="en-US" dirty="0" err="1">
                <a:sym typeface="Wingdings" panose="05000000000000000000" pitchFamily="2" charset="2"/>
              </a:rPr>
              <a:t>parametrible</a:t>
            </a:r>
            <a:r>
              <a:rPr lang="en-US" dirty="0">
                <a:sym typeface="Wingdings" panose="05000000000000000000" pitchFamily="2" charset="2"/>
              </a:rPr>
              <a:t>, generic model for Gramineae and Fabaceae if possible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A799-F059-4133-8369-1F74AA1BF6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51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 variability : parametrized and emergent 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A799-F059-4133-8369-1F74AA1BF6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56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dirty="0"/>
              <a:t>Or input </a:t>
            </a:r>
            <a:r>
              <a:rPr lang="fr-FR" sz="1200" dirty="0" err="1"/>
              <a:t>from</a:t>
            </a:r>
            <a:r>
              <a:rPr lang="fr-FR" sz="1200" dirty="0"/>
              <a:t> </a:t>
            </a:r>
            <a:r>
              <a:rPr lang="fr-FR" sz="1200" dirty="0" err="1"/>
              <a:t>phenotyping</a:t>
            </a:r>
            <a:r>
              <a:rPr lang="fr-FR" sz="1200" dirty="0"/>
              <a:t> </a:t>
            </a:r>
          </a:p>
          <a:p>
            <a:r>
              <a:rPr lang="fr-FR" sz="1200" dirty="0"/>
              <a:t>And </a:t>
            </a:r>
            <a:r>
              <a:rPr lang="fr-FR" sz="1200" dirty="0" err="1"/>
              <a:t>known</a:t>
            </a:r>
            <a:r>
              <a:rPr lang="fr-FR" sz="1200" dirty="0"/>
              <a:t> </a:t>
            </a:r>
            <a:r>
              <a:rPr lang="fr-FR" sz="1200" dirty="0" err="1"/>
              <a:t>plasticity</a:t>
            </a:r>
            <a:r>
              <a:rPr lang="fr-FR" sz="1200" dirty="0"/>
              <a:t> </a:t>
            </a:r>
            <a:r>
              <a:rPr lang="fr-FR" sz="1200" dirty="0" err="1"/>
              <a:t>behaviours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A799-F059-4133-8369-1F74AA1BF6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144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fr-FR" sz="2200" dirty="0"/>
              <a:t>H0: </a:t>
            </a:r>
            <a:r>
              <a:rPr lang="fr-FR" sz="2200" dirty="0" err="1"/>
              <a:t>Development</a:t>
            </a:r>
            <a:r>
              <a:rPr lang="fr-FR" sz="2200" dirty="0"/>
              <a:t> </a:t>
            </a:r>
            <a:r>
              <a:rPr lang="fr-FR" sz="2200" dirty="0" err="1"/>
              <a:t>is</a:t>
            </a:r>
            <a:r>
              <a:rPr lang="fr-FR" sz="2200" dirty="0"/>
              <a:t> </a:t>
            </a:r>
            <a:r>
              <a:rPr lang="fr-FR" sz="2200" dirty="0" err="1"/>
              <a:t>fixed</a:t>
            </a:r>
            <a:r>
              <a:rPr lang="fr-FR" sz="2200" dirty="0"/>
              <a:t>, no </a:t>
            </a:r>
            <a:r>
              <a:rPr lang="fr-FR" sz="2200" dirty="0" err="1"/>
              <a:t>defined</a:t>
            </a:r>
            <a:r>
              <a:rPr lang="fr-FR" sz="2200" dirty="0"/>
              <a:t> final structure.</a:t>
            </a:r>
          </a:p>
          <a:p>
            <a:pPr lvl="1"/>
            <a:r>
              <a:rPr lang="fr-FR" sz="2200" dirty="0"/>
              <a:t>H1: Final structure </a:t>
            </a:r>
            <a:r>
              <a:rPr lang="fr-FR" sz="2200" dirty="0" err="1"/>
              <a:t>is</a:t>
            </a:r>
            <a:r>
              <a:rPr lang="fr-FR" sz="2200" dirty="0"/>
              <a:t> </a:t>
            </a:r>
            <a:r>
              <a:rPr lang="fr-FR" sz="2200" dirty="0" err="1"/>
              <a:t>fixed</a:t>
            </a:r>
            <a:r>
              <a:rPr lang="fr-FR" sz="2200" dirty="0"/>
              <a:t>, </a:t>
            </a:r>
            <a:r>
              <a:rPr lang="fr-FR" sz="2200" dirty="0" err="1"/>
              <a:t>development</a:t>
            </a:r>
            <a:r>
              <a:rPr lang="fr-FR" sz="2200" dirty="0"/>
              <a:t> </a:t>
            </a:r>
            <a:r>
              <a:rPr lang="fr-FR" sz="2200" dirty="0" err="1"/>
              <a:t>adapts</a:t>
            </a:r>
            <a:r>
              <a:rPr lang="fr-FR" sz="2200" dirty="0"/>
              <a:t> to </a:t>
            </a:r>
            <a:r>
              <a:rPr lang="fr-FR" sz="2200" dirty="0" err="1"/>
              <a:t>reach</a:t>
            </a:r>
            <a:r>
              <a:rPr lang="fr-FR" sz="2200" dirty="0"/>
              <a:t> </a:t>
            </a:r>
            <a:r>
              <a:rPr lang="fr-FR" sz="2200" dirty="0" err="1"/>
              <a:t>it</a:t>
            </a:r>
            <a:r>
              <a:rPr lang="fr-FR" sz="22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A799-F059-4133-8369-1F74AA1BF6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74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Allometries to restrain morphological space (to what extent)</a:t>
            </a:r>
          </a:p>
          <a:p>
            <a:r>
              <a:rPr lang="en-US" dirty="0"/>
              <a:t>Test crop model hypotheses</a:t>
            </a:r>
          </a:p>
          <a:p>
            <a:r>
              <a:rPr lang="en-US" dirty="0"/>
              <a:t>Which parameters (+</a:t>
            </a:r>
            <a:r>
              <a:rPr lang="en-US"/>
              <a:t>1 slide)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A799-F059-4133-8369-1F74AA1BF6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45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Parsimony</a:t>
            </a:r>
          </a:p>
          <a:p>
            <a:r>
              <a:rPr lang="en-US" dirty="0"/>
              <a:t>Equifinality</a:t>
            </a:r>
          </a:p>
          <a:p>
            <a:r>
              <a:rPr lang="en-US" dirty="0"/>
              <a:t>Reductionist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A799-F059-4133-8369-1F74AA1BF6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32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B643-CACC-40F3-9403-B333B69517AF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D22C-C5F3-4EB4-AD23-095FE6640F1A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48C44-5BD5-4B37-8821-001F6CD259CA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5258-FA08-43F1-97FA-CC369F952911}" type="datetime1">
              <a:rPr lang="fr-FR" smtClean="0"/>
              <a:t>17/09/2024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AC4DC-1F42-40D9-A18C-804B51C5EF88}" type="datetime1">
              <a:rPr lang="fr-FR" smtClean="0"/>
              <a:t>17/09/2024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DB46-7183-4DCD-99BB-3BDEF11A3977}" type="datetime1">
              <a:rPr lang="fr-FR" smtClean="0"/>
              <a:t>17/09/2024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607D-F8AE-49B4-9E2F-5A3CFF35C55D}" type="datetime1">
              <a:rPr lang="fr-FR" smtClean="0"/>
              <a:t>17/09/2024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700AE-26C0-4FF5-AA8E-5139691A9184}" type="datetime1">
              <a:rPr lang="fr-FR" smtClean="0"/>
              <a:t>17/09/2024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32F17-59B6-45CE-A455-5A66C4AE753C}" type="datetime1">
              <a:rPr lang="fr-FR" smtClean="0"/>
              <a:t>17/09/2024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0B710-FBFF-484D-AA3D-241807315875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684A-4CA6-4041-88FC-23F129870949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A9C553-FF1A-433C-B9CF-AEADF5D348B4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4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10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48AEF42A-8F59-4DD0-9CD1-0FE8D12D88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65" b="29265"/>
          <a:stretch/>
        </p:blipFill>
        <p:spPr>
          <a:xfrm>
            <a:off x="0" y="1816380"/>
            <a:ext cx="12192000" cy="3508655"/>
          </a:xfrm>
          <a:prstGeom prst="rect">
            <a:avLst/>
          </a:prstGeom>
          <a:solidFill>
            <a:schemeClr val="bg1">
              <a:alpha val="15000"/>
            </a:schemeClr>
          </a:solidFill>
        </p:spPr>
      </p:pic>
      <p:pic>
        <p:nvPicPr>
          <p:cNvPr id="10" name="Image 9" descr="Une image contenant logo, symbole, Police, Emblème&#10;&#10;Description générée automatiquement">
            <a:extLst>
              <a:ext uri="{FF2B5EF4-FFF2-40B4-BE49-F238E27FC236}">
                <a16:creationId xmlns:a16="http://schemas.microsoft.com/office/drawing/2014/main" id="{0F1B57BE-99A8-48AD-010D-6FDB4CE83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2544" y="456175"/>
            <a:ext cx="1093934" cy="1067083"/>
          </a:xfrm>
          <a:prstGeom prst="rect">
            <a:avLst/>
          </a:prstGeom>
        </p:spPr>
      </p:pic>
      <p:pic>
        <p:nvPicPr>
          <p:cNvPr id="6" name="Image 5" descr="Une image contenant texte, carte de visite, Police, logo&#10;&#10;Description générée automatiquement">
            <a:extLst>
              <a:ext uri="{FF2B5EF4-FFF2-40B4-BE49-F238E27FC236}">
                <a16:creationId xmlns:a16="http://schemas.microsoft.com/office/drawing/2014/main" id="{B0D4802D-A0F6-21D4-F02E-232C0B454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457" y="322058"/>
            <a:ext cx="1607220" cy="594037"/>
          </a:xfrm>
          <a:prstGeom prst="rect">
            <a:avLst/>
          </a:prstGeom>
        </p:spPr>
      </p:pic>
      <p:pic>
        <p:nvPicPr>
          <p:cNvPr id="7" name="Image 6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2C611E11-5370-269F-3DB1-E099559E697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513" b="13491"/>
          <a:stretch/>
        </p:blipFill>
        <p:spPr>
          <a:xfrm>
            <a:off x="1524000" y="710539"/>
            <a:ext cx="1116005" cy="680929"/>
          </a:xfrm>
          <a:prstGeom prst="rect">
            <a:avLst/>
          </a:prstGeom>
        </p:spPr>
      </p:pic>
      <p:pic>
        <p:nvPicPr>
          <p:cNvPr id="8" name="Image 7" descr="Une image contenant texte, Graphique, graphisme, Police&#10;&#10;Description générée automatiquement">
            <a:extLst>
              <a:ext uri="{FF2B5EF4-FFF2-40B4-BE49-F238E27FC236}">
                <a16:creationId xmlns:a16="http://schemas.microsoft.com/office/drawing/2014/main" id="{96F5D487-E42A-F7DE-BE10-EDFC98D09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992" y="208448"/>
            <a:ext cx="1093933" cy="1390736"/>
          </a:xfrm>
          <a:prstGeom prst="rect">
            <a:avLst/>
          </a:prstGeom>
        </p:spPr>
      </p:pic>
      <p:pic>
        <p:nvPicPr>
          <p:cNvPr id="9" name="Image 8" descr="Une image contenant Police, conception&#10;&#10;Description générée automatiquement">
            <a:extLst>
              <a:ext uri="{FF2B5EF4-FFF2-40B4-BE49-F238E27FC236}">
                <a16:creationId xmlns:a16="http://schemas.microsoft.com/office/drawing/2014/main" id="{5F1243C7-D429-C54F-9B84-E9D41BDAA7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9457" y="1096647"/>
            <a:ext cx="1604321" cy="605305"/>
          </a:xfrm>
          <a:prstGeom prst="rect">
            <a:avLst/>
          </a:prstGeom>
        </p:spPr>
      </p:pic>
      <p:pic>
        <p:nvPicPr>
          <p:cNvPr id="11" name="Image 10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A47608B0-681C-A56E-F79B-2FFE546010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6478" y="250769"/>
            <a:ext cx="1383093" cy="459770"/>
          </a:xfrm>
          <a:prstGeom prst="rect">
            <a:avLst/>
          </a:prstGeom>
        </p:spPr>
      </p:pic>
      <p:pic>
        <p:nvPicPr>
          <p:cNvPr id="12" name="Image 11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2E1F5487-2075-59F9-6D9C-B0224E931D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2973" y="989717"/>
            <a:ext cx="1093935" cy="646111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5E9855F-9014-4E80-8C9B-4990DDDC8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</a:t>
            </a:fld>
            <a:endParaRPr lang="fr-FR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A1BA3DBA-6C16-4E88-92C7-4138DA237B8E}"/>
              </a:ext>
            </a:extLst>
          </p:cNvPr>
          <p:cNvSpPr txBox="1">
            <a:spLocks/>
          </p:cNvSpPr>
          <p:nvPr/>
        </p:nvSpPr>
        <p:spPr>
          <a:xfrm>
            <a:off x="7361010" y="5667088"/>
            <a:ext cx="2154314" cy="968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 Jaeger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Myriam Adam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62FB373-E77D-43AB-A634-BF3086140BF2}"/>
              </a:ext>
            </a:extLst>
          </p:cNvPr>
          <p:cNvSpPr txBox="1">
            <a:spLocks/>
          </p:cNvSpPr>
          <p:nvPr/>
        </p:nvSpPr>
        <p:spPr>
          <a:xfrm>
            <a:off x="9350543" y="5438080"/>
            <a:ext cx="2503503" cy="1444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Christophe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Pradal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Remi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Vezy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Thomas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Arsouze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9B05722-4E54-40CA-8F79-173593400762}"/>
              </a:ext>
            </a:extLst>
          </p:cNvPr>
          <p:cNvSpPr txBox="1">
            <a:spLocks/>
          </p:cNvSpPr>
          <p:nvPr/>
        </p:nvSpPr>
        <p:spPr>
          <a:xfrm>
            <a:off x="5292099" y="5860263"/>
            <a:ext cx="1441823" cy="44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Supervision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1A87D7-C5FD-4508-B8AA-0BF51605773C}"/>
              </a:ext>
            </a:extLst>
          </p:cNvPr>
          <p:cNvCxnSpPr>
            <a:cxnSpLocks/>
          </p:cNvCxnSpPr>
          <p:nvPr/>
        </p:nvCxnSpPr>
        <p:spPr>
          <a:xfrm>
            <a:off x="7038359" y="5486402"/>
            <a:ext cx="0" cy="108855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ubtitle 2">
            <a:extLst>
              <a:ext uri="{FF2B5EF4-FFF2-40B4-BE49-F238E27FC236}">
                <a16:creationId xmlns:a16="http://schemas.microsoft.com/office/drawing/2014/main" id="{B501BA8B-2A82-46A0-B767-376AA5F5CD9C}"/>
              </a:ext>
            </a:extLst>
          </p:cNvPr>
          <p:cNvSpPr txBox="1">
            <a:spLocks/>
          </p:cNvSpPr>
          <p:nvPr/>
        </p:nvSpPr>
        <p:spPr>
          <a:xfrm>
            <a:off x="655658" y="5868676"/>
            <a:ext cx="1553862" cy="44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PhD Student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3F4ACA-B964-4ED3-ABB3-8432D3051B22}"/>
              </a:ext>
            </a:extLst>
          </p:cNvPr>
          <p:cNvSpPr/>
          <p:nvPr/>
        </p:nvSpPr>
        <p:spPr>
          <a:xfrm>
            <a:off x="-1" y="1815069"/>
            <a:ext cx="12192000" cy="3522599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3905ABFD-9EE2-4414-8474-30540DDC8881}"/>
              </a:ext>
            </a:extLst>
          </p:cNvPr>
          <p:cNvSpPr txBox="1">
            <a:spLocks/>
          </p:cNvSpPr>
          <p:nvPr/>
        </p:nvSpPr>
        <p:spPr>
          <a:xfrm>
            <a:off x="2503644" y="5868676"/>
            <a:ext cx="1740833" cy="69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Oriane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Braud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8C34DD0-0CC8-4CA8-9D32-601A4432A99C}"/>
              </a:ext>
            </a:extLst>
          </p:cNvPr>
          <p:cNvCxnSpPr>
            <a:cxnSpLocks/>
          </p:cNvCxnSpPr>
          <p:nvPr/>
        </p:nvCxnSpPr>
        <p:spPr>
          <a:xfrm>
            <a:off x="2325363" y="5806530"/>
            <a:ext cx="0" cy="47136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70E44CE-6B91-4FE4-A410-66B0DF3F169E}"/>
              </a:ext>
            </a:extLst>
          </p:cNvPr>
          <p:cNvSpPr/>
          <p:nvPr/>
        </p:nvSpPr>
        <p:spPr>
          <a:xfrm>
            <a:off x="715373" y="2441528"/>
            <a:ext cx="10761251" cy="2298881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9410" y="2094677"/>
            <a:ext cx="11053179" cy="2595418"/>
          </a:xfrm>
        </p:spPr>
        <p:txBody>
          <a:bodyPr>
            <a:normAutofit/>
          </a:bodyPr>
          <a:lstStyle/>
          <a:p>
            <a:r>
              <a:rPr lang="fr-FR" sz="5100" b="1" dirty="0" err="1"/>
              <a:t>Architecturing</a:t>
            </a:r>
            <a:r>
              <a:rPr lang="fr-FR" sz="5100" b="1" dirty="0"/>
              <a:t> </a:t>
            </a:r>
            <a:r>
              <a:rPr lang="fr-FR" sz="5100" b="1" dirty="0" err="1"/>
              <a:t>crop</a:t>
            </a:r>
            <a:r>
              <a:rPr lang="fr-FR" sz="5100" b="1" dirty="0"/>
              <a:t> </a:t>
            </a:r>
            <a:r>
              <a:rPr lang="fr-FR" sz="5100" b="1" dirty="0" err="1"/>
              <a:t>models</a:t>
            </a:r>
            <a:r>
              <a:rPr lang="fr-FR" sz="5100" b="1" dirty="0"/>
              <a:t> </a:t>
            </a:r>
            <a:br>
              <a:rPr lang="fr-FR" sz="5100" b="1" dirty="0"/>
            </a:br>
            <a:r>
              <a:rPr lang="fr-FR" sz="5100" b="1" dirty="0"/>
              <a:t>for </a:t>
            </a:r>
            <a:r>
              <a:rPr lang="fr-FR" sz="5100" b="1" dirty="0" err="1"/>
              <a:t>intercrops</a:t>
            </a:r>
            <a:r>
              <a:rPr lang="fr-FR" sz="5100" b="1" dirty="0"/>
              <a:t> </a:t>
            </a:r>
            <a:br>
              <a:rPr lang="fr-FR" sz="5100" b="1" dirty="0"/>
            </a:br>
            <a:r>
              <a:rPr lang="fr-FR" sz="5100" b="1" dirty="0" err="1"/>
              <a:t>using</a:t>
            </a:r>
            <a:r>
              <a:rPr lang="fr-FR" sz="5100" b="1" dirty="0"/>
              <a:t> a </a:t>
            </a:r>
            <a:r>
              <a:rPr lang="fr-FR" sz="5100" b="1" dirty="0" err="1"/>
              <a:t>multiscale</a:t>
            </a:r>
            <a:r>
              <a:rPr lang="fr-FR" sz="5100" b="1" dirty="0"/>
              <a:t> </a:t>
            </a:r>
            <a:r>
              <a:rPr lang="fr-FR" sz="5100" b="1" dirty="0" err="1"/>
              <a:t>modelling</a:t>
            </a:r>
            <a:r>
              <a:rPr lang="fr-FR" sz="5100" b="1" dirty="0"/>
              <a:t> </a:t>
            </a:r>
            <a:r>
              <a:rPr lang="fr-FR" sz="5100" b="1" dirty="0" err="1"/>
              <a:t>approach</a:t>
            </a:r>
            <a:endParaRPr lang="fr-FR" sz="5100" b="1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907D704-FDE8-41E8-A4D1-F130C49BFF5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42000" y="389965"/>
            <a:ext cx="147637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plein air, agriculture, récolte, Culture commerciale&#10;&#10;Description générée automatiquement">
            <a:extLst>
              <a:ext uri="{FF2B5EF4-FFF2-40B4-BE49-F238E27FC236}">
                <a16:creationId xmlns:a16="http://schemas.microsoft.com/office/drawing/2014/main" id="{3786E0D1-E499-E045-7B99-26DBAEB36A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" r="10050" b="-34"/>
          <a:stretch/>
        </p:blipFill>
        <p:spPr>
          <a:xfrm>
            <a:off x="3009075" y="0"/>
            <a:ext cx="9184645" cy="6861124"/>
          </a:xfrm>
          <a:prstGeom prst="rect">
            <a:avLst/>
          </a:pr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857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DB3797-4CC7-EDEE-FE39-54180F07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272618"/>
            <a:ext cx="4992624" cy="1243584"/>
          </a:xfrm>
        </p:spPr>
        <p:txBody>
          <a:bodyPr anchor="ctr">
            <a:normAutofit/>
          </a:bodyPr>
          <a:lstStyle/>
          <a:p>
            <a:r>
              <a:rPr lang="fr-FR" sz="3400" dirty="0" err="1"/>
              <a:t>Context</a:t>
            </a:r>
            <a:endParaRPr lang="fr-FR" sz="34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76957-2006-8C6B-72B0-A66981D2D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487" y="1622405"/>
            <a:ext cx="5498698" cy="10483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000" b="1" dirty="0" err="1"/>
              <a:t>Intercropping</a:t>
            </a:r>
            <a:r>
              <a:rPr lang="fr-FR" sz="2000" b="1" dirty="0"/>
              <a:t> </a:t>
            </a:r>
            <a:r>
              <a:rPr lang="fr-FR" sz="2000" dirty="0"/>
              <a:t>= </a:t>
            </a:r>
            <a:r>
              <a:rPr lang="fr-FR" sz="2000" dirty="0" err="1"/>
              <a:t>cropping</a:t>
            </a:r>
            <a:r>
              <a:rPr lang="fr-FR" sz="2000" dirty="0"/>
              <a:t> system </a:t>
            </a:r>
            <a:r>
              <a:rPr lang="fr-FR" sz="2000" dirty="0" err="1"/>
              <a:t>where</a:t>
            </a:r>
            <a:r>
              <a:rPr lang="fr-FR" sz="2000" dirty="0"/>
              <a:t> at least </a:t>
            </a:r>
            <a:r>
              <a:rPr lang="fr-FR" sz="2000" dirty="0" err="1"/>
              <a:t>two</a:t>
            </a:r>
            <a:r>
              <a:rPr lang="fr-FR" sz="2000" dirty="0"/>
              <a:t> </a:t>
            </a:r>
            <a:r>
              <a:rPr lang="fr-FR" sz="2000" dirty="0" err="1"/>
              <a:t>crop</a:t>
            </a:r>
            <a:r>
              <a:rPr lang="fr-FR" sz="2000" dirty="0"/>
              <a:t> </a:t>
            </a:r>
            <a:r>
              <a:rPr lang="fr-FR" sz="2000" dirty="0" err="1"/>
              <a:t>species</a:t>
            </a:r>
            <a:r>
              <a:rPr lang="fr-FR" sz="2000" dirty="0"/>
              <a:t> </a:t>
            </a:r>
            <a:r>
              <a:rPr lang="fr-FR" sz="2000" dirty="0" err="1"/>
              <a:t>grow</a:t>
            </a:r>
            <a:r>
              <a:rPr lang="fr-FR" sz="2000" dirty="0"/>
              <a:t> </a:t>
            </a:r>
            <a:r>
              <a:rPr lang="fr-FR" sz="2000" dirty="0" err="1"/>
              <a:t>together</a:t>
            </a:r>
            <a:r>
              <a:rPr lang="fr-FR" sz="2000" dirty="0"/>
              <a:t> for a </a:t>
            </a:r>
            <a:r>
              <a:rPr lang="fr-FR" sz="2000" dirty="0" err="1"/>
              <a:t>significant</a:t>
            </a:r>
            <a:r>
              <a:rPr lang="fr-FR" sz="2000" dirty="0"/>
              <a:t> portion of </a:t>
            </a:r>
            <a:r>
              <a:rPr lang="fr-FR" sz="2000" dirty="0" err="1"/>
              <a:t>their</a:t>
            </a:r>
            <a:r>
              <a:rPr lang="fr-FR" sz="2000" dirty="0"/>
              <a:t> </a:t>
            </a:r>
            <a:r>
              <a:rPr lang="fr-FR" sz="2000" dirty="0" err="1"/>
              <a:t>growth</a:t>
            </a:r>
            <a:r>
              <a:rPr lang="fr-FR" sz="2000" dirty="0"/>
              <a:t> cycle </a:t>
            </a:r>
            <a:r>
              <a:rPr lang="fr-FR" sz="1200" dirty="0"/>
              <a:t>(</a:t>
            </a:r>
            <a:r>
              <a:rPr lang="fr-FR" sz="1200" dirty="0" err="1"/>
              <a:t>Vandermeer</a:t>
            </a:r>
            <a:r>
              <a:rPr lang="fr-FR" sz="1200" dirty="0"/>
              <a:t>, 1989)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39C11AB-2D6F-DBBE-7F83-17817FF0989D}"/>
              </a:ext>
            </a:extLst>
          </p:cNvPr>
          <p:cNvSpPr txBox="1"/>
          <p:nvPr/>
        </p:nvSpPr>
        <p:spPr>
          <a:xfrm>
            <a:off x="8763171" y="4131689"/>
            <a:ext cx="1473905" cy="646331"/>
          </a:xfrm>
          <a:prstGeom prst="rect">
            <a:avLst/>
          </a:prstGeom>
          <a:solidFill>
            <a:srgbClr val="AEAEAE">
              <a:alpha val="60000"/>
            </a:srgb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b="1" dirty="0"/>
              <a:t>GRASSES</a:t>
            </a:r>
          </a:p>
          <a:p>
            <a:r>
              <a:rPr lang="fr-FR" dirty="0"/>
              <a:t>e.g.: </a:t>
            </a:r>
            <a:r>
              <a:rPr lang="fr-FR" dirty="0" err="1"/>
              <a:t>sorghum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217DA51-B5A8-AFAB-D602-DF8A424A8898}"/>
              </a:ext>
            </a:extLst>
          </p:cNvPr>
          <p:cNvSpPr txBox="1"/>
          <p:nvPr/>
        </p:nvSpPr>
        <p:spPr>
          <a:xfrm>
            <a:off x="6716995" y="4131689"/>
            <a:ext cx="1378792" cy="646331"/>
          </a:xfrm>
          <a:prstGeom prst="rect">
            <a:avLst/>
          </a:prstGeom>
          <a:solidFill>
            <a:srgbClr val="AEAEAE">
              <a:alpha val="60000"/>
            </a:srgb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b="1" dirty="0"/>
              <a:t>LEGUMES</a:t>
            </a:r>
          </a:p>
          <a:p>
            <a:r>
              <a:rPr lang="fr-FR" dirty="0"/>
              <a:t>e.g.: </a:t>
            </a:r>
            <a:r>
              <a:rPr lang="fr-FR" dirty="0" err="1"/>
              <a:t>cowpea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FE07A-B7DD-4BCA-A02A-FB967C727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</a:t>
            </a:fld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31E4D-4574-4E1F-B022-5D79D8358D6D}"/>
              </a:ext>
            </a:extLst>
          </p:cNvPr>
          <p:cNvSpPr txBox="1"/>
          <p:nvPr/>
        </p:nvSpPr>
        <p:spPr>
          <a:xfrm>
            <a:off x="374904" y="5537597"/>
            <a:ext cx="459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fr-FR" sz="2000" dirty="0">
                <a:solidFill>
                  <a:prstClr val="black"/>
                </a:solidFill>
              </a:rPr>
              <a:t>… </a:t>
            </a:r>
            <a:r>
              <a:rPr lang="fr-FR" sz="2000" dirty="0" err="1">
                <a:solidFill>
                  <a:prstClr val="black"/>
                </a:solidFill>
              </a:rPr>
              <a:t>only</a:t>
            </a:r>
            <a:r>
              <a:rPr lang="fr-FR" sz="2000" dirty="0">
                <a:solidFill>
                  <a:prstClr val="black"/>
                </a:solidFill>
              </a:rPr>
              <a:t> if </a:t>
            </a:r>
            <a:r>
              <a:rPr lang="fr-FR" sz="2000" dirty="0" err="1">
                <a:solidFill>
                  <a:prstClr val="black"/>
                </a:solidFill>
              </a:rPr>
              <a:t>intercropping</a:t>
            </a:r>
            <a:r>
              <a:rPr lang="fr-FR" sz="2000" dirty="0">
                <a:solidFill>
                  <a:prstClr val="black"/>
                </a:solidFill>
              </a:rPr>
              <a:t> </a:t>
            </a:r>
            <a:r>
              <a:rPr lang="fr-FR" sz="2000" dirty="0" err="1">
                <a:solidFill>
                  <a:prstClr val="black"/>
                </a:solidFill>
              </a:rPr>
              <a:t>systems</a:t>
            </a:r>
            <a:r>
              <a:rPr lang="fr-FR" sz="2000" dirty="0">
                <a:solidFill>
                  <a:prstClr val="black"/>
                </a:solidFill>
              </a:rPr>
              <a:t> are </a:t>
            </a:r>
            <a:r>
              <a:rPr lang="fr-FR" sz="2000" dirty="0" err="1">
                <a:solidFill>
                  <a:prstClr val="black"/>
                </a:solidFill>
              </a:rPr>
              <a:t>optimized</a:t>
            </a:r>
            <a:endParaRPr lang="fr-FR" sz="2800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CE0F28-2DC4-4FEB-AAEF-720D45676D00}"/>
              </a:ext>
            </a:extLst>
          </p:cNvPr>
          <p:cNvSpPr txBox="1"/>
          <p:nvPr/>
        </p:nvSpPr>
        <p:spPr>
          <a:xfrm>
            <a:off x="374905" y="3203564"/>
            <a:ext cx="4992624" cy="1742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fr-FR" sz="2000" dirty="0" err="1">
                <a:solidFill>
                  <a:prstClr val="black"/>
                </a:solidFill>
              </a:rPr>
              <a:t>Potential</a:t>
            </a:r>
            <a:r>
              <a:rPr lang="fr-FR" sz="2000" dirty="0">
                <a:solidFill>
                  <a:prstClr val="black"/>
                </a:solidFill>
              </a:rPr>
              <a:t> </a:t>
            </a:r>
            <a:r>
              <a:rPr lang="fr-FR" sz="2000" dirty="0" err="1">
                <a:solidFill>
                  <a:prstClr val="black"/>
                </a:solidFill>
              </a:rPr>
              <a:t>benefits</a:t>
            </a:r>
            <a:r>
              <a:rPr lang="fr-FR" sz="2000" dirty="0">
                <a:solidFill>
                  <a:prstClr val="black"/>
                </a:solidFill>
              </a:rPr>
              <a:t> : 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 panose="020B0604020202020204" pitchFamily="34" charset="0"/>
              <a:buChar char="o"/>
            </a:pPr>
            <a:r>
              <a:rPr lang="fr-FR" sz="1600" dirty="0" err="1">
                <a:solidFill>
                  <a:prstClr val="black"/>
                </a:solidFill>
                <a:latin typeface="Arial"/>
                <a:cs typeface="Arial"/>
              </a:rPr>
              <a:t>improved</a:t>
            </a:r>
            <a:r>
              <a:rPr lang="fr-FR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fr-FR" sz="1600" dirty="0" err="1">
                <a:solidFill>
                  <a:prstClr val="black"/>
                </a:solidFill>
                <a:latin typeface="Arial"/>
                <a:cs typeface="Arial"/>
              </a:rPr>
              <a:t>resource</a:t>
            </a:r>
            <a:r>
              <a:rPr lang="fr-FR" sz="1600" dirty="0">
                <a:solidFill>
                  <a:prstClr val="black"/>
                </a:solidFill>
                <a:latin typeface="Arial"/>
                <a:cs typeface="Arial"/>
              </a:rPr>
              <a:t> sharing and </a:t>
            </a:r>
            <a:r>
              <a:rPr lang="fr-FR" sz="1600" dirty="0" err="1">
                <a:solidFill>
                  <a:prstClr val="black"/>
                </a:solidFill>
                <a:latin typeface="Arial"/>
                <a:cs typeface="Arial"/>
              </a:rPr>
              <a:t>soil</a:t>
            </a:r>
            <a:r>
              <a:rPr lang="fr-FR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fr-FR" sz="1600" dirty="0" err="1">
                <a:solidFill>
                  <a:prstClr val="black"/>
                </a:solidFill>
                <a:latin typeface="Arial"/>
                <a:cs typeface="Arial"/>
              </a:rPr>
              <a:t>quality</a:t>
            </a:r>
            <a:r>
              <a:rPr lang="fr-FR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endParaRPr lang="en-US" sz="1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 panose="020B0604020202020204" pitchFamily="34" charset="0"/>
              <a:buChar char="o"/>
            </a:pPr>
            <a:r>
              <a:rPr lang="fr-FR" sz="1600" dirty="0" err="1">
                <a:solidFill>
                  <a:prstClr val="black"/>
                </a:solidFill>
                <a:latin typeface="Arial"/>
                <a:cs typeface="Arial"/>
              </a:rPr>
              <a:t>reduction</a:t>
            </a:r>
            <a:r>
              <a:rPr lang="fr-FR" sz="1600" dirty="0">
                <a:solidFill>
                  <a:prstClr val="black"/>
                </a:solidFill>
                <a:latin typeface="Arial"/>
                <a:cs typeface="Arial"/>
              </a:rPr>
              <a:t> of </a:t>
            </a:r>
            <a:r>
              <a:rPr lang="fr-FR" sz="1600" dirty="0" err="1">
                <a:solidFill>
                  <a:prstClr val="black"/>
                </a:solidFill>
                <a:latin typeface="Arial"/>
                <a:cs typeface="Arial"/>
              </a:rPr>
              <a:t>diseases</a:t>
            </a:r>
            <a:r>
              <a:rPr lang="fr-FR" sz="1600" dirty="0">
                <a:solidFill>
                  <a:prstClr val="black"/>
                </a:solidFill>
                <a:latin typeface="Arial"/>
                <a:cs typeface="Arial"/>
              </a:rPr>
              <a:t> and </a:t>
            </a:r>
            <a:r>
              <a:rPr lang="fr-FR" sz="1600" dirty="0" err="1">
                <a:solidFill>
                  <a:prstClr val="black"/>
                </a:solidFill>
                <a:latin typeface="Arial"/>
                <a:cs typeface="Arial"/>
              </a:rPr>
              <a:t>pests</a:t>
            </a:r>
            <a:endParaRPr lang="fr-FR" sz="1600" dirty="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</a:pPr>
            <a:r>
              <a:rPr lang="fr-FR" sz="1600" dirty="0">
                <a:solidFill>
                  <a:prstClr val="black"/>
                </a:solidFill>
                <a:latin typeface="Arial"/>
                <a:cs typeface="Arial"/>
                <a:sym typeface="Wingdings" panose="05000000000000000000" pitchFamily="2" charset="2"/>
              </a:rPr>
              <a:t> </a:t>
            </a:r>
            <a:r>
              <a:rPr lang="fr-FR" sz="1600" dirty="0" err="1">
                <a:solidFill>
                  <a:prstClr val="black"/>
                </a:solidFill>
                <a:latin typeface="Arial"/>
                <a:cs typeface="Arial"/>
                <a:sym typeface="Wingdings" panose="05000000000000000000" pitchFamily="2" charset="2"/>
              </a:rPr>
              <a:t>reduction</a:t>
            </a:r>
            <a:r>
              <a:rPr lang="fr-FR" sz="1600" dirty="0">
                <a:solidFill>
                  <a:prstClr val="black"/>
                </a:solidFill>
                <a:latin typeface="Arial"/>
                <a:cs typeface="Arial"/>
                <a:sym typeface="Wingdings" panose="05000000000000000000" pitchFamily="2" charset="2"/>
              </a:rPr>
              <a:t> of inputs</a:t>
            </a:r>
            <a:r>
              <a:rPr lang="fr-FR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 panose="020B0604020202020204" pitchFamily="34" charset="0"/>
              <a:buChar char="o"/>
            </a:pPr>
            <a:r>
              <a:rPr lang="fr-FR" sz="1600" dirty="0" err="1">
                <a:solidFill>
                  <a:prstClr val="black"/>
                </a:solidFill>
                <a:latin typeface="Arial"/>
                <a:cs typeface="Arial"/>
              </a:rPr>
              <a:t>increased</a:t>
            </a:r>
            <a:r>
              <a:rPr lang="fr-FR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fr-FR" sz="1600" dirty="0" err="1">
                <a:solidFill>
                  <a:prstClr val="black"/>
                </a:solidFill>
                <a:latin typeface="Arial"/>
                <a:cs typeface="Arial"/>
              </a:rPr>
              <a:t>yield</a:t>
            </a:r>
            <a:r>
              <a:rPr lang="fr-FR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</a:p>
          <a:p>
            <a:pPr lvl="1">
              <a:lnSpc>
                <a:spcPct val="90000"/>
              </a:lnSpc>
              <a:spcBef>
                <a:spcPts val="500"/>
              </a:spcBef>
            </a:pPr>
            <a:r>
              <a:rPr lang="fr-FR" sz="1200" dirty="0">
                <a:solidFill>
                  <a:prstClr val="black"/>
                </a:solidFill>
                <a:latin typeface="Arial"/>
                <a:cs typeface="Arial"/>
              </a:rPr>
              <a:t>(Jensen et al., 2020, </a:t>
            </a:r>
            <a:r>
              <a:rPr lang="fr-FR" sz="1200" dirty="0" err="1">
                <a:solidFill>
                  <a:prstClr val="black"/>
                </a:solidFill>
                <a:latin typeface="Arial"/>
                <a:cs typeface="Arial"/>
              </a:rPr>
              <a:t>Stomph</a:t>
            </a:r>
            <a:r>
              <a:rPr lang="fr-FR" sz="1200" dirty="0">
                <a:solidFill>
                  <a:prstClr val="black"/>
                </a:solidFill>
                <a:latin typeface="Arial"/>
                <a:cs typeface="Arial"/>
              </a:rPr>
              <a:t> et al., 2020, </a:t>
            </a:r>
            <a:r>
              <a:rPr lang="fr-FR" sz="1200" dirty="0" err="1">
                <a:solidFill>
                  <a:prstClr val="black"/>
                </a:solidFill>
                <a:latin typeface="Arial"/>
                <a:cs typeface="Arial"/>
              </a:rPr>
              <a:t>Gaudio</a:t>
            </a:r>
            <a:r>
              <a:rPr lang="fr-FR" sz="1200" dirty="0">
                <a:solidFill>
                  <a:prstClr val="black"/>
                </a:solidFill>
                <a:latin typeface="Arial"/>
                <a:cs typeface="Arial"/>
              </a:rPr>
              <a:t> et al., 2021)</a:t>
            </a:r>
            <a:endParaRPr lang="fr-FR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073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DA0040-5BAE-5958-FC78-C71152A3A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7" y="306861"/>
            <a:ext cx="10515600" cy="1325563"/>
          </a:xfrm>
        </p:spPr>
        <p:txBody>
          <a:bodyPr>
            <a:normAutofit/>
          </a:bodyPr>
          <a:lstStyle/>
          <a:p>
            <a:r>
              <a:rPr lang="fr-FR" sz="3400" dirty="0" err="1"/>
              <a:t>Intercropping</a:t>
            </a:r>
            <a:r>
              <a:rPr lang="fr-FR" sz="3400" dirty="0"/>
              <a:t> </a:t>
            </a:r>
            <a:r>
              <a:rPr lang="fr-FR" sz="3400" dirty="0" err="1"/>
              <a:t>systems</a:t>
            </a:r>
            <a:endParaRPr lang="fr-FR" sz="34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3B4046-E733-DB53-FDB9-9FBE0D561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080"/>
            <a:ext cx="10515600" cy="8283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fr-FR" sz="4400" b="1" dirty="0"/>
              <a:t>G     x     G     x     E     x     M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30194FFF-6566-A0FA-6B5B-EF7DD75F6F24}"/>
              </a:ext>
            </a:extLst>
          </p:cNvPr>
          <p:cNvSpPr txBox="1">
            <a:spLocks/>
          </p:cNvSpPr>
          <p:nvPr/>
        </p:nvSpPr>
        <p:spPr>
          <a:xfrm>
            <a:off x="3857301" y="5538502"/>
            <a:ext cx="2668979" cy="13049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 err="1"/>
              <a:t>Plant-plant</a:t>
            </a:r>
            <a:r>
              <a:rPr lang="fr-FR" sz="1800" dirty="0"/>
              <a:t> interactions for </a:t>
            </a:r>
            <a:r>
              <a:rPr lang="fr-FR" sz="1800" dirty="0" err="1"/>
              <a:t>resources</a:t>
            </a:r>
            <a:r>
              <a:rPr lang="fr-FR" sz="1800" dirty="0"/>
              <a:t> acquisitions </a:t>
            </a:r>
            <a:r>
              <a:rPr lang="fr-FR" sz="1800" dirty="0">
                <a:ea typeface="+mn-lt"/>
                <a:cs typeface="+mn-lt"/>
              </a:rPr>
              <a:t> </a:t>
            </a:r>
          </a:p>
          <a:p>
            <a:pPr marL="0" indent="0">
              <a:buNone/>
            </a:pPr>
            <a:r>
              <a:rPr lang="fr-FR" sz="1200" dirty="0">
                <a:ea typeface="+mn-lt"/>
                <a:cs typeface="+mn-lt"/>
              </a:rPr>
              <a:t>(Justes et al., 2021)</a:t>
            </a:r>
            <a:endParaRPr lang="fr-FR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3A6AC0EF-9D2C-7B34-EE6E-A14EF7F60F5D}"/>
              </a:ext>
            </a:extLst>
          </p:cNvPr>
          <p:cNvSpPr txBox="1">
            <a:spLocks/>
          </p:cNvSpPr>
          <p:nvPr/>
        </p:nvSpPr>
        <p:spPr>
          <a:xfrm>
            <a:off x="4632369" y="2841453"/>
            <a:ext cx="1253833" cy="7233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200" b="1" dirty="0" err="1"/>
              <a:t>Genotype</a:t>
            </a:r>
            <a:r>
              <a:rPr lang="fr-FR" sz="2000" dirty="0"/>
              <a:t> </a:t>
            </a:r>
            <a:r>
              <a:rPr lang="fr-FR" sz="1900" dirty="0"/>
              <a:t>of a </a:t>
            </a:r>
            <a:r>
              <a:rPr lang="fr-FR" sz="1900" dirty="0" err="1"/>
              <a:t>grass</a:t>
            </a:r>
            <a:endParaRPr lang="fr-FR" sz="1900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726360F6-ECD4-8ABB-63C7-CF65D3630BF0}"/>
              </a:ext>
            </a:extLst>
          </p:cNvPr>
          <p:cNvSpPr txBox="1">
            <a:spLocks/>
          </p:cNvSpPr>
          <p:nvPr/>
        </p:nvSpPr>
        <p:spPr>
          <a:xfrm>
            <a:off x="2554187" y="2789505"/>
            <a:ext cx="1395594" cy="8975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b="1" dirty="0" err="1"/>
              <a:t>Genotype</a:t>
            </a:r>
            <a:r>
              <a:rPr lang="fr-FR" sz="2000" dirty="0"/>
              <a:t> </a:t>
            </a:r>
            <a:r>
              <a:rPr lang="fr-FR" sz="1800" dirty="0"/>
              <a:t>of a </a:t>
            </a:r>
            <a:r>
              <a:rPr lang="fr-FR" sz="1800" dirty="0" err="1"/>
              <a:t>legume</a:t>
            </a:r>
            <a:endParaRPr lang="fr-FR" sz="1800" dirty="0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00B1E25A-F2CD-2BF1-B075-C508D718FF10}"/>
              </a:ext>
            </a:extLst>
          </p:cNvPr>
          <p:cNvSpPr txBox="1">
            <a:spLocks/>
          </p:cNvSpPr>
          <p:nvPr/>
        </p:nvSpPr>
        <p:spPr>
          <a:xfrm>
            <a:off x="8392888" y="2789505"/>
            <a:ext cx="1865647" cy="20158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b="1" dirty="0"/>
              <a:t>Management</a:t>
            </a:r>
          </a:p>
          <a:p>
            <a:pPr marL="0" indent="0">
              <a:buNone/>
            </a:pPr>
            <a:r>
              <a:rPr lang="fr-FR" sz="1800" dirty="0" err="1"/>
              <a:t>Sowing</a:t>
            </a:r>
            <a:r>
              <a:rPr lang="fr-FR" sz="1800" dirty="0"/>
              <a:t> pattern </a:t>
            </a:r>
          </a:p>
          <a:p>
            <a:pPr marL="0" indent="0">
              <a:buNone/>
            </a:pPr>
            <a:r>
              <a:rPr lang="fr-FR" sz="1800" dirty="0">
                <a:ea typeface="+mn-lt"/>
                <a:cs typeface="+mn-lt"/>
              </a:rPr>
              <a:t>Inputs</a:t>
            </a:r>
            <a:endParaRPr lang="fr-FR" sz="1800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652312E1-D4E0-631C-4DE6-22B2AAFC037C}"/>
              </a:ext>
            </a:extLst>
          </p:cNvPr>
          <p:cNvSpPr txBox="1">
            <a:spLocks/>
          </p:cNvSpPr>
          <p:nvPr/>
        </p:nvSpPr>
        <p:spPr>
          <a:xfrm>
            <a:off x="6509092" y="2788186"/>
            <a:ext cx="2101508" cy="9866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b="1" dirty="0"/>
              <a:t>Environnement</a:t>
            </a:r>
          </a:p>
          <a:p>
            <a:pPr marL="0" indent="0">
              <a:buNone/>
            </a:pPr>
            <a:r>
              <a:rPr lang="fr-FR" sz="1800" dirty="0" err="1"/>
              <a:t>Soil</a:t>
            </a:r>
            <a:r>
              <a:rPr lang="fr-FR" sz="1800" dirty="0"/>
              <a:t> &amp; </a:t>
            </a:r>
            <a:r>
              <a:rPr lang="fr-FR" sz="1800" dirty="0" err="1"/>
              <a:t>atmosphere</a:t>
            </a:r>
            <a:endParaRPr lang="fr-FR" sz="1800" dirty="0">
              <a:ea typeface="+mn-lt"/>
              <a:cs typeface="+mn-lt"/>
            </a:endParaRP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5A699D5-31DB-DE10-D896-929A03714A75}"/>
              </a:ext>
            </a:extLst>
          </p:cNvPr>
          <p:cNvGrpSpPr/>
          <p:nvPr/>
        </p:nvGrpSpPr>
        <p:grpSpPr>
          <a:xfrm>
            <a:off x="7956468" y="236467"/>
            <a:ext cx="4126676" cy="1554635"/>
            <a:chOff x="7758546" y="3808961"/>
            <a:chExt cx="4126676" cy="1554635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3714C3E2-9814-E29C-4E69-65C0359E35EB}"/>
                </a:ext>
              </a:extLst>
            </p:cNvPr>
            <p:cNvGrpSpPr/>
            <p:nvPr/>
          </p:nvGrpSpPr>
          <p:grpSpPr>
            <a:xfrm>
              <a:off x="7758546" y="3808961"/>
              <a:ext cx="4126676" cy="1275711"/>
              <a:chOff x="7758546" y="1216182"/>
              <a:chExt cx="4126676" cy="1275711"/>
            </a:xfrm>
          </p:grpSpPr>
          <p:pic>
            <p:nvPicPr>
              <p:cNvPr id="13" name="Image 12" descr="Une image contenant texte, capture d’écran, diagramme, Parallèle&#10;&#10;Description générée automatiquement">
                <a:extLst>
                  <a:ext uri="{FF2B5EF4-FFF2-40B4-BE49-F238E27FC236}">
                    <a16:creationId xmlns:a16="http://schemas.microsoft.com/office/drawing/2014/main" id="{F988238D-F086-2024-5F01-F68480542EC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56294"/>
              <a:stretch/>
            </p:blipFill>
            <p:spPr>
              <a:xfrm>
                <a:off x="7758546" y="1216182"/>
                <a:ext cx="4126676" cy="1021663"/>
              </a:xfrm>
              <a:prstGeom prst="rect">
                <a:avLst/>
              </a:prstGeom>
            </p:spPr>
          </p:pic>
          <p:pic>
            <p:nvPicPr>
              <p:cNvPr id="14" name="Image 13" descr="Une image contenant texte, capture d’écran, diagramme, Parallèle&#10;&#10;Description générée automatiquement">
                <a:extLst>
                  <a:ext uri="{FF2B5EF4-FFF2-40B4-BE49-F238E27FC236}">
                    <a16:creationId xmlns:a16="http://schemas.microsoft.com/office/drawing/2014/main" id="{D0430FF8-82BB-3246-A474-0ED8727EC6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88186" b="422"/>
              <a:stretch/>
            </p:blipFill>
            <p:spPr>
              <a:xfrm>
                <a:off x="7758546" y="2225585"/>
                <a:ext cx="4126676" cy="266308"/>
              </a:xfrm>
              <a:prstGeom prst="rect">
                <a:avLst/>
              </a:prstGeom>
            </p:spPr>
          </p:pic>
        </p:grp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B114B738-5CED-09B8-ACAA-F3BCDA6A9E94}"/>
                </a:ext>
              </a:extLst>
            </p:cNvPr>
            <p:cNvSpPr txBox="1"/>
            <p:nvPr/>
          </p:nvSpPr>
          <p:spPr>
            <a:xfrm>
              <a:off x="9490361" y="5086597"/>
              <a:ext cx="2187040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1200" err="1"/>
                <a:t>Adapted</a:t>
              </a:r>
              <a:r>
                <a:rPr lang="fr-FR" sz="1200" dirty="0"/>
                <a:t> </a:t>
              </a:r>
              <a:r>
                <a:rPr lang="fr-FR" sz="1200" err="1"/>
                <a:t>from</a:t>
              </a:r>
              <a:r>
                <a:rPr lang="fr-FR" sz="1200" dirty="0"/>
                <a:t> </a:t>
              </a:r>
              <a:r>
                <a:rPr lang="fr-FR" sz="1200" err="1"/>
                <a:t>Vezy</a:t>
              </a:r>
              <a:r>
                <a:rPr lang="fr-FR" sz="1200" dirty="0"/>
                <a:t> et al., 2023</a:t>
              </a:r>
            </a:p>
          </p:txBody>
        </p:sp>
      </p:grp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9295CF5C-5ADF-246D-8CE9-F6937DD4B5FC}"/>
              </a:ext>
            </a:extLst>
          </p:cNvPr>
          <p:cNvSpPr txBox="1">
            <a:spLocks/>
          </p:cNvSpPr>
          <p:nvPr/>
        </p:nvSpPr>
        <p:spPr>
          <a:xfrm>
            <a:off x="3217223" y="3690049"/>
            <a:ext cx="2133601" cy="1065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>
                <a:ea typeface="+mn-lt"/>
                <a:cs typeface="+mn-lt"/>
              </a:rPr>
              <a:t>Architecture</a:t>
            </a:r>
            <a:endParaRPr lang="fr-FR" dirty="0"/>
          </a:p>
          <a:p>
            <a:r>
              <a:rPr lang="fr-FR" sz="1800" dirty="0" err="1"/>
              <a:t>Ecophysiological</a:t>
            </a:r>
            <a:r>
              <a:rPr lang="fr-FR" sz="1800" dirty="0"/>
              <a:t> </a:t>
            </a:r>
            <a:r>
              <a:rPr lang="fr-FR" sz="1800" dirty="0" err="1"/>
              <a:t>processes</a:t>
            </a:r>
            <a:endParaRPr lang="fr-FR" sz="1800" dirty="0"/>
          </a:p>
        </p:txBody>
      </p:sp>
      <p:sp>
        <p:nvSpPr>
          <p:cNvPr id="22" name="Accolade fermante 21">
            <a:extLst>
              <a:ext uri="{FF2B5EF4-FFF2-40B4-BE49-F238E27FC236}">
                <a16:creationId xmlns:a16="http://schemas.microsoft.com/office/drawing/2014/main" id="{DD5794D9-7EF4-FA28-A57B-55E779767B18}"/>
              </a:ext>
            </a:extLst>
          </p:cNvPr>
          <p:cNvSpPr/>
          <p:nvPr/>
        </p:nvSpPr>
        <p:spPr>
          <a:xfrm rot="5400000">
            <a:off x="4925975" y="1710571"/>
            <a:ext cx="187419" cy="614123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8" name="Image 27" descr="Une image contenant Tige, légume, plante, fleur&#10;&#10;Description générée automatiquement">
            <a:extLst>
              <a:ext uri="{FF2B5EF4-FFF2-40B4-BE49-F238E27FC236}">
                <a16:creationId xmlns:a16="http://schemas.microsoft.com/office/drawing/2014/main" id="{EF6D3CAF-D295-0DB9-6DA7-6076C82D57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43378" y="2334737"/>
            <a:ext cx="2210683" cy="2206336"/>
          </a:xfrm>
          <a:prstGeom prst="rect">
            <a:avLst/>
          </a:prstGeom>
        </p:spPr>
      </p:pic>
      <p:pic>
        <p:nvPicPr>
          <p:cNvPr id="29" name="Image 28" descr="Une image contenant légume, Tige, plante&#10;&#10;Description générée automatiquement">
            <a:extLst>
              <a:ext uri="{FF2B5EF4-FFF2-40B4-BE49-F238E27FC236}">
                <a16:creationId xmlns:a16="http://schemas.microsoft.com/office/drawing/2014/main" id="{CB7300D5-D900-803B-C6E0-48400A5026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3158" y="2544288"/>
            <a:ext cx="687347" cy="1977243"/>
          </a:xfrm>
          <a:prstGeom prst="rect">
            <a:avLst/>
          </a:prstGeom>
        </p:spPr>
      </p:pic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7EFDC405-F40B-7684-67F0-86A272BB7A72}"/>
              </a:ext>
            </a:extLst>
          </p:cNvPr>
          <p:cNvCxnSpPr>
            <a:cxnSpLocks/>
            <a:stCxn id="22" idx="1"/>
          </p:cNvCxnSpPr>
          <p:nvPr/>
        </p:nvCxnSpPr>
        <p:spPr>
          <a:xfrm>
            <a:off x="5019684" y="4874897"/>
            <a:ext cx="2296" cy="6182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Espace réservé du contenu 2">
            <a:extLst>
              <a:ext uri="{FF2B5EF4-FFF2-40B4-BE49-F238E27FC236}">
                <a16:creationId xmlns:a16="http://schemas.microsoft.com/office/drawing/2014/main" id="{C0D10E53-15F0-FAAD-3294-B03E775195DF}"/>
              </a:ext>
            </a:extLst>
          </p:cNvPr>
          <p:cNvSpPr txBox="1">
            <a:spLocks/>
          </p:cNvSpPr>
          <p:nvPr/>
        </p:nvSpPr>
        <p:spPr>
          <a:xfrm>
            <a:off x="7110939" y="5491221"/>
            <a:ext cx="2422206" cy="14220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 err="1"/>
              <a:t>Heterogeneous</a:t>
            </a:r>
            <a:r>
              <a:rPr lang="fr-FR" sz="1800" dirty="0"/>
              <a:t> spatial and temporal distribution of </a:t>
            </a:r>
            <a:r>
              <a:rPr lang="fr-FR" sz="1800" dirty="0" err="1"/>
              <a:t>resources</a:t>
            </a:r>
            <a:r>
              <a:rPr lang="fr-FR" sz="1800" dirty="0"/>
              <a:t> and plants 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3285B563-F2D9-EAD7-7478-AA6C2A71AD36}"/>
              </a:ext>
            </a:extLst>
          </p:cNvPr>
          <p:cNvCxnSpPr>
            <a:cxnSpLocks/>
          </p:cNvCxnSpPr>
          <p:nvPr/>
        </p:nvCxnSpPr>
        <p:spPr>
          <a:xfrm flipV="1">
            <a:off x="10019806" y="1946563"/>
            <a:ext cx="541315" cy="1371735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2E5D43D7-EFD6-029A-BCBF-B9BE6CD1F854}"/>
              </a:ext>
            </a:extLst>
          </p:cNvPr>
          <p:cNvCxnSpPr>
            <a:cxnSpLocks/>
            <a:stCxn id="54" idx="1"/>
          </p:cNvCxnSpPr>
          <p:nvPr/>
        </p:nvCxnSpPr>
        <p:spPr>
          <a:xfrm>
            <a:off x="8192735" y="4820346"/>
            <a:ext cx="7802" cy="6407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8811ABDC-DCAA-BD16-33E4-9F9E9B784108}"/>
              </a:ext>
            </a:extLst>
          </p:cNvPr>
          <p:cNvCxnSpPr>
            <a:cxnSpLocks/>
          </p:cNvCxnSpPr>
          <p:nvPr/>
        </p:nvCxnSpPr>
        <p:spPr>
          <a:xfrm flipV="1">
            <a:off x="6447200" y="5872327"/>
            <a:ext cx="632209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Accolade fermante 53">
            <a:extLst>
              <a:ext uri="{FF2B5EF4-FFF2-40B4-BE49-F238E27FC236}">
                <a16:creationId xmlns:a16="http://schemas.microsoft.com/office/drawing/2014/main" id="{D2CFA4E2-3F13-891D-3C34-6284AD4B15F9}"/>
              </a:ext>
            </a:extLst>
          </p:cNvPr>
          <p:cNvSpPr/>
          <p:nvPr/>
        </p:nvSpPr>
        <p:spPr>
          <a:xfrm rot="5400000">
            <a:off x="8080375" y="2993981"/>
            <a:ext cx="224720" cy="342800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9FCEF18-CA2B-4401-AC1F-4DDBB770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7186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30FF5A-F545-B820-3B51-5271DB8E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552" y="275391"/>
            <a:ext cx="9181151" cy="896121"/>
          </a:xfrm>
        </p:spPr>
        <p:txBody>
          <a:bodyPr>
            <a:normAutofit/>
          </a:bodyPr>
          <a:lstStyle/>
          <a:p>
            <a:r>
              <a:rPr lang="fr-FR" sz="3400" dirty="0"/>
              <a:t>State of the art of plant and </a:t>
            </a:r>
            <a:r>
              <a:rPr lang="fr-FR" sz="3400" dirty="0" err="1"/>
              <a:t>crop</a:t>
            </a:r>
            <a:r>
              <a:rPr lang="fr-FR" sz="3400" dirty="0"/>
              <a:t> </a:t>
            </a:r>
            <a:r>
              <a:rPr lang="fr-FR" sz="3400" dirty="0" err="1"/>
              <a:t>models</a:t>
            </a:r>
            <a:endParaRPr lang="fr-FR" sz="3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A05CA9-CFD0-4C97-9512-6A26B06EE3B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71300" y="4229204"/>
            <a:ext cx="2218522" cy="2628796"/>
          </a:xfrm>
          <a:prstGeom prst="rect">
            <a:avLst/>
          </a:prstGeom>
        </p:spPr>
      </p:pic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0A5D27B1-842E-4F22-A103-CB1C111AB39C}"/>
              </a:ext>
            </a:extLst>
          </p:cNvPr>
          <p:cNvSpPr txBox="1">
            <a:spLocks/>
          </p:cNvSpPr>
          <p:nvPr/>
        </p:nvSpPr>
        <p:spPr>
          <a:xfrm>
            <a:off x="2774381" y="1482827"/>
            <a:ext cx="2842176" cy="1013321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400" b="1" dirty="0" err="1">
                <a:solidFill>
                  <a:schemeClr val="tx1"/>
                </a:solidFill>
              </a:rPr>
              <a:t>Crop</a:t>
            </a:r>
            <a:r>
              <a:rPr lang="fr-FR" sz="2400" b="1" dirty="0">
                <a:solidFill>
                  <a:schemeClr val="tx1"/>
                </a:solidFill>
              </a:rPr>
              <a:t> </a:t>
            </a:r>
            <a:r>
              <a:rPr lang="fr-FR" sz="2400" b="1" dirty="0" err="1">
                <a:solidFill>
                  <a:schemeClr val="tx1"/>
                </a:solidFill>
              </a:rPr>
              <a:t>models</a:t>
            </a:r>
            <a:r>
              <a:rPr lang="fr-FR" sz="2400" b="1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fr-FR" sz="1400" dirty="0">
                <a:solidFill>
                  <a:schemeClr val="tx1"/>
                </a:solidFill>
              </a:rPr>
              <a:t>(Boote et al., 2013)</a:t>
            </a:r>
          </a:p>
          <a:p>
            <a:pPr algn="l"/>
            <a:r>
              <a:rPr lang="fr-FR" sz="1600" i="1" dirty="0">
                <a:solidFill>
                  <a:schemeClr val="tx1"/>
                </a:solidFill>
              </a:rPr>
              <a:t>e.g.: S</a:t>
            </a:r>
            <a:r>
              <a:rPr lang="en-US" sz="1600" i="1" dirty="0">
                <a:solidFill>
                  <a:schemeClr val="tx1"/>
                </a:solidFill>
              </a:rPr>
              <a:t>TICS </a:t>
            </a:r>
            <a:r>
              <a:rPr lang="en-US" sz="1400" i="1" dirty="0">
                <a:solidFill>
                  <a:schemeClr val="tx1"/>
                </a:solidFill>
              </a:rPr>
              <a:t>(</a:t>
            </a:r>
            <a:r>
              <a:rPr lang="en-US" sz="1400" i="1" dirty="0" err="1">
                <a:solidFill>
                  <a:schemeClr val="tx1"/>
                </a:solidFill>
              </a:rPr>
              <a:t>Vezy</a:t>
            </a:r>
            <a:r>
              <a:rPr lang="en-US" sz="1400" i="1" dirty="0">
                <a:solidFill>
                  <a:schemeClr val="tx1"/>
                </a:solidFill>
              </a:rPr>
              <a:t> et al., 2023)</a:t>
            </a:r>
            <a:r>
              <a:rPr lang="en-US" sz="1600" i="1" dirty="0">
                <a:solidFill>
                  <a:schemeClr val="tx1"/>
                </a:solidFill>
              </a:rPr>
              <a:t>, </a:t>
            </a:r>
            <a:r>
              <a:rPr lang="fr-FR" sz="1600" i="1" dirty="0">
                <a:solidFill>
                  <a:schemeClr val="tx1"/>
                </a:solidFill>
              </a:rPr>
              <a:t>A</a:t>
            </a:r>
            <a:r>
              <a:rPr lang="en-US" sz="1600" i="1" dirty="0">
                <a:solidFill>
                  <a:schemeClr val="tx1"/>
                </a:solidFill>
              </a:rPr>
              <a:t>PSIM </a:t>
            </a:r>
            <a:r>
              <a:rPr lang="en-US" sz="1400" i="1" dirty="0">
                <a:solidFill>
                  <a:schemeClr val="tx1"/>
                </a:solidFill>
              </a:rPr>
              <a:t>(</a:t>
            </a:r>
            <a:r>
              <a:rPr lang="fr-FR" sz="1400" i="1" dirty="0" err="1">
                <a:solidFill>
                  <a:schemeClr val="tx1"/>
                </a:solidFill>
              </a:rPr>
              <a:t>Chimonyo</a:t>
            </a:r>
            <a:r>
              <a:rPr lang="fr-FR" sz="1400" i="1" dirty="0">
                <a:solidFill>
                  <a:schemeClr val="tx1"/>
                </a:solidFill>
              </a:rPr>
              <a:t> et al., 2016</a:t>
            </a:r>
            <a:r>
              <a:rPr lang="en-US" sz="1400" i="1" dirty="0">
                <a:solidFill>
                  <a:schemeClr val="tx1"/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3944096A-74EF-4E2D-9E5D-E63FEDC5CCB4}"/>
              </a:ext>
            </a:extLst>
          </p:cNvPr>
          <p:cNvSpPr txBox="1">
            <a:spLocks/>
          </p:cNvSpPr>
          <p:nvPr/>
        </p:nvSpPr>
        <p:spPr>
          <a:xfrm>
            <a:off x="6018246" y="1349396"/>
            <a:ext cx="5195956" cy="1324242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 dirty="0" err="1">
                <a:solidFill>
                  <a:schemeClr val="tx1"/>
                </a:solidFill>
              </a:rPr>
              <a:t>Functional</a:t>
            </a:r>
            <a:r>
              <a:rPr lang="fr-FR" sz="2400" b="1" dirty="0">
                <a:solidFill>
                  <a:schemeClr val="tx1"/>
                </a:solidFill>
              </a:rPr>
              <a:t>-Structural Plant </a:t>
            </a:r>
            <a:r>
              <a:rPr lang="fr-FR" sz="2400" b="1" dirty="0" err="1">
                <a:solidFill>
                  <a:schemeClr val="tx1"/>
                </a:solidFill>
              </a:rPr>
              <a:t>Models</a:t>
            </a:r>
            <a:r>
              <a:rPr lang="fr-FR" sz="2400" b="1" dirty="0">
                <a:solidFill>
                  <a:schemeClr val="tx1"/>
                </a:solidFill>
              </a:rPr>
              <a:t> (FSPM) </a:t>
            </a:r>
          </a:p>
          <a:p>
            <a:r>
              <a:rPr lang="fr-FR" sz="1400" dirty="0">
                <a:solidFill>
                  <a:schemeClr val="tx1"/>
                </a:solidFill>
              </a:rPr>
              <a:t>(</a:t>
            </a:r>
            <a:r>
              <a:rPr lang="fr-FR" sz="1400" dirty="0" err="1">
                <a:solidFill>
                  <a:schemeClr val="tx1"/>
                </a:solidFill>
              </a:rPr>
              <a:t>Louarn</a:t>
            </a:r>
            <a:r>
              <a:rPr lang="fr-FR" sz="1400" dirty="0">
                <a:solidFill>
                  <a:schemeClr val="tx1"/>
                </a:solidFill>
              </a:rPr>
              <a:t> and Song, 2020)</a:t>
            </a:r>
          </a:p>
          <a:p>
            <a:r>
              <a:rPr lang="fr-FR" sz="1600" i="1" dirty="0">
                <a:solidFill>
                  <a:schemeClr val="tx1"/>
                </a:solidFill>
              </a:rPr>
              <a:t>e.g.: V</a:t>
            </a:r>
            <a:r>
              <a:rPr lang="en-US" sz="1600" i="1" dirty="0" err="1">
                <a:solidFill>
                  <a:schemeClr val="tx1"/>
                </a:solidFill>
              </a:rPr>
              <a:t>irtual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i="1" dirty="0" err="1">
                <a:solidFill>
                  <a:schemeClr val="tx1"/>
                </a:solidFill>
              </a:rPr>
              <a:t>GrassLand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400" i="1" dirty="0">
                <a:solidFill>
                  <a:schemeClr val="tx1"/>
                </a:solidFill>
              </a:rPr>
              <a:t>(</a:t>
            </a:r>
            <a:r>
              <a:rPr lang="en-US" sz="1400" i="1" dirty="0" err="1">
                <a:solidFill>
                  <a:schemeClr val="tx1"/>
                </a:solidFill>
              </a:rPr>
              <a:t>Louarn</a:t>
            </a:r>
            <a:r>
              <a:rPr lang="en-US" sz="1400" i="1" dirty="0">
                <a:solidFill>
                  <a:schemeClr val="tx1"/>
                </a:solidFill>
              </a:rPr>
              <a:t> et al., 2020), </a:t>
            </a:r>
          </a:p>
          <a:p>
            <a:r>
              <a:rPr lang="en-US" sz="1600" i="1" dirty="0">
                <a:solidFill>
                  <a:schemeClr val="tx1"/>
                </a:solidFill>
              </a:rPr>
              <a:t>SIMBAL </a:t>
            </a:r>
            <a:r>
              <a:rPr lang="en-US" sz="1400" i="1" dirty="0">
                <a:solidFill>
                  <a:schemeClr val="tx1"/>
                </a:solidFill>
              </a:rPr>
              <a:t>(</a:t>
            </a:r>
            <a:r>
              <a:rPr lang="en-US" sz="1400" i="1" dirty="0" err="1">
                <a:solidFill>
                  <a:schemeClr val="tx1"/>
                </a:solidFill>
              </a:rPr>
              <a:t>Perthame</a:t>
            </a:r>
            <a:r>
              <a:rPr lang="en-US" sz="1400" i="1" dirty="0">
                <a:solidFill>
                  <a:schemeClr val="tx1"/>
                </a:solidFill>
              </a:rPr>
              <a:t> et al., 2023)</a:t>
            </a:r>
          </a:p>
          <a:p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8CD990F-2249-45CF-8025-5A727DB85478}"/>
              </a:ext>
            </a:extLst>
          </p:cNvPr>
          <p:cNvSpPr/>
          <p:nvPr/>
        </p:nvSpPr>
        <p:spPr>
          <a:xfrm rot="5400000">
            <a:off x="5711981" y="-389114"/>
            <a:ext cx="2382878" cy="8480398"/>
          </a:xfrm>
          <a:prstGeom prst="triangle">
            <a:avLst/>
          </a:prstGeom>
          <a:solidFill>
            <a:srgbClr val="D1D1D1">
              <a:alpha val="40000"/>
            </a:srgb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42B59B-AED1-484B-B011-6CFD43BD1BAC}"/>
              </a:ext>
            </a:extLst>
          </p:cNvPr>
          <p:cNvSpPr txBox="1"/>
          <p:nvPr/>
        </p:nvSpPr>
        <p:spPr>
          <a:xfrm>
            <a:off x="365884" y="2807463"/>
            <a:ext cx="610783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Spatial 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scale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		plot (N = 1 volume or 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some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 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layers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)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Time step 		daily</a:t>
            </a:r>
          </a:p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Temporal 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scale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		(multi-)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year</a:t>
            </a:r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			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decision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-support 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tool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,</a:t>
            </a:r>
          </a:p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Objectives 		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prediction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,</a:t>
            </a:r>
          </a:p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			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ideotyping</a:t>
            </a:r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6AD5CB-73F9-4A7C-AF38-E15AC380F37D}"/>
              </a:ext>
            </a:extLst>
          </p:cNvPr>
          <p:cNvSpPr txBox="1"/>
          <p:nvPr/>
        </p:nvSpPr>
        <p:spPr>
          <a:xfrm>
            <a:off x="7975551" y="2811436"/>
            <a:ext cx="31680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organ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 (N = nb of 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organs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)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(infra-)hour</a:t>
            </a:r>
          </a:p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≤ 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development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 cycle</a:t>
            </a:r>
          </a:p>
          <a:p>
            <a:pPr>
              <a:lnSpc>
                <a:spcPct val="150000"/>
              </a:lnSpc>
            </a:pP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ecophysiology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 and interactions,</a:t>
            </a:r>
          </a:p>
          <a:p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ideotyping</a:t>
            </a:r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13360A0-247B-4452-9AA9-7116AF08FA34}"/>
              </a:ext>
            </a:extLst>
          </p:cNvPr>
          <p:cNvCxnSpPr>
            <a:cxnSpLocks/>
          </p:cNvCxnSpPr>
          <p:nvPr/>
        </p:nvCxnSpPr>
        <p:spPr>
          <a:xfrm>
            <a:off x="2663221" y="2807463"/>
            <a:ext cx="0" cy="2062103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be 54">
            <a:extLst>
              <a:ext uri="{FF2B5EF4-FFF2-40B4-BE49-F238E27FC236}">
                <a16:creationId xmlns:a16="http://schemas.microsoft.com/office/drawing/2014/main" id="{C3ED292C-DF91-4A75-AAB3-742241CF4DD6}"/>
              </a:ext>
            </a:extLst>
          </p:cNvPr>
          <p:cNvSpPr/>
          <p:nvPr/>
        </p:nvSpPr>
        <p:spPr>
          <a:xfrm>
            <a:off x="2863602" y="5424132"/>
            <a:ext cx="2850574" cy="1238744"/>
          </a:xfrm>
          <a:prstGeom prst="cube">
            <a:avLst>
              <a:gd name="adj" fmla="val 82867"/>
            </a:avLst>
          </a:prstGeom>
          <a:solidFill>
            <a:srgbClr val="C28745">
              <a:alpha val="64706"/>
            </a:srgb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ube 55">
            <a:extLst>
              <a:ext uri="{FF2B5EF4-FFF2-40B4-BE49-F238E27FC236}">
                <a16:creationId xmlns:a16="http://schemas.microsoft.com/office/drawing/2014/main" id="{CFB7BC8F-7742-4B3B-A35E-175C734AA169}"/>
              </a:ext>
            </a:extLst>
          </p:cNvPr>
          <p:cNvSpPr/>
          <p:nvPr/>
        </p:nvSpPr>
        <p:spPr>
          <a:xfrm>
            <a:off x="2863602" y="5217795"/>
            <a:ext cx="2850574" cy="1238744"/>
          </a:xfrm>
          <a:prstGeom prst="cube">
            <a:avLst>
              <a:gd name="adj" fmla="val 82867"/>
            </a:avLst>
          </a:prstGeom>
          <a:solidFill>
            <a:srgbClr val="399758">
              <a:alpha val="65098"/>
            </a:srgb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FE30BE75-671C-4800-ADD5-0E3582D20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4</a:t>
            </a:fld>
            <a:endParaRPr lang="fr-FR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4F715B6-7FA9-43A9-BAB8-0091E66DFB83}"/>
              </a:ext>
            </a:extLst>
          </p:cNvPr>
          <p:cNvCxnSpPr>
            <a:cxnSpLocks/>
          </p:cNvCxnSpPr>
          <p:nvPr/>
        </p:nvCxnSpPr>
        <p:spPr>
          <a:xfrm flipH="1">
            <a:off x="405804" y="3215473"/>
            <a:ext cx="10737813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69F4F72-6EA6-4119-B628-025956FF450D}"/>
              </a:ext>
            </a:extLst>
          </p:cNvPr>
          <p:cNvCxnSpPr>
            <a:cxnSpLocks/>
          </p:cNvCxnSpPr>
          <p:nvPr/>
        </p:nvCxnSpPr>
        <p:spPr>
          <a:xfrm flipH="1">
            <a:off x="405804" y="3609034"/>
            <a:ext cx="10737813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ADEF64E-305A-4723-8453-DF389686190F}"/>
              </a:ext>
            </a:extLst>
          </p:cNvPr>
          <p:cNvCxnSpPr>
            <a:cxnSpLocks/>
          </p:cNvCxnSpPr>
          <p:nvPr/>
        </p:nvCxnSpPr>
        <p:spPr>
          <a:xfrm flipH="1">
            <a:off x="396030" y="3982497"/>
            <a:ext cx="10747587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19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C88BBBA9-A5C2-4BC6-8458-4BB860E4A4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8253" t="5366" r="2760" b="9134"/>
          <a:stretch/>
        </p:blipFill>
        <p:spPr>
          <a:xfrm>
            <a:off x="5929358" y="3417914"/>
            <a:ext cx="3182608" cy="2317794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19AF0B9C-DDAF-467D-8E7E-E8B8D9D76B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8253" t="5366" r="2760" b="9134"/>
          <a:stretch/>
        </p:blipFill>
        <p:spPr>
          <a:xfrm>
            <a:off x="5929359" y="3417915"/>
            <a:ext cx="3182608" cy="2317794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8F6AFA72-AA82-4A68-B058-C74C3B2EB7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8253" t="5366" r="2760" b="9134"/>
          <a:stretch/>
        </p:blipFill>
        <p:spPr>
          <a:xfrm>
            <a:off x="5929358" y="3417914"/>
            <a:ext cx="3182608" cy="2317794"/>
          </a:xfrm>
          <a:prstGeom prst="rect">
            <a:avLst/>
          </a:prstGeom>
        </p:spPr>
      </p:pic>
      <p:sp>
        <p:nvSpPr>
          <p:cNvPr id="24" name="Cube 23">
            <a:extLst>
              <a:ext uri="{FF2B5EF4-FFF2-40B4-BE49-F238E27FC236}">
                <a16:creationId xmlns:a16="http://schemas.microsoft.com/office/drawing/2014/main" id="{6F78F734-9A89-4595-8ABB-DCD995E81BD9}"/>
              </a:ext>
            </a:extLst>
          </p:cNvPr>
          <p:cNvSpPr/>
          <p:nvPr/>
        </p:nvSpPr>
        <p:spPr>
          <a:xfrm>
            <a:off x="609627" y="3669906"/>
            <a:ext cx="4419573" cy="2155004"/>
          </a:xfrm>
          <a:prstGeom prst="cube">
            <a:avLst>
              <a:gd name="adj" fmla="val 82867"/>
            </a:avLst>
          </a:prstGeom>
          <a:solidFill>
            <a:srgbClr val="C28745">
              <a:alpha val="64706"/>
            </a:srgb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710C2A-A9D2-4F13-A70E-240743080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46" y="119517"/>
            <a:ext cx="10515600" cy="1325563"/>
          </a:xfrm>
        </p:spPr>
        <p:txBody>
          <a:bodyPr>
            <a:normAutofit/>
          </a:bodyPr>
          <a:lstStyle/>
          <a:p>
            <a:r>
              <a:rPr lang="fr-FR" sz="3400" dirty="0"/>
              <a:t>Exemple of process : light interception</a:t>
            </a:r>
            <a:endParaRPr lang="en-US" sz="3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0AEAEF-4C34-40CF-8868-0919062D8C6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05275" y="3766493"/>
            <a:ext cx="2050956" cy="2430242"/>
          </a:xfrm>
          <a:prstGeom prst="rect">
            <a:avLst/>
          </a:prstGeom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21B5EC0-062A-4394-8D83-2853B8191B7B}"/>
              </a:ext>
            </a:extLst>
          </p:cNvPr>
          <p:cNvSpPr txBox="1">
            <a:spLocks/>
          </p:cNvSpPr>
          <p:nvPr/>
        </p:nvSpPr>
        <p:spPr>
          <a:xfrm>
            <a:off x="406216" y="1403653"/>
            <a:ext cx="2695620" cy="1013321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400" b="1" dirty="0" err="1">
                <a:solidFill>
                  <a:schemeClr val="tx1"/>
                </a:solidFill>
              </a:rPr>
              <a:t>Crop</a:t>
            </a:r>
            <a:r>
              <a:rPr lang="fr-FR" sz="2400" b="1" dirty="0">
                <a:solidFill>
                  <a:schemeClr val="tx1"/>
                </a:solidFill>
              </a:rPr>
              <a:t> </a:t>
            </a:r>
            <a:r>
              <a:rPr lang="fr-FR" sz="2400" b="1" dirty="0" err="1">
                <a:solidFill>
                  <a:schemeClr val="tx1"/>
                </a:solidFill>
              </a:rPr>
              <a:t>models</a:t>
            </a:r>
            <a:endParaRPr lang="fr-FR" sz="24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DCD6D5EB-6032-4892-95D9-3D3CE4BDFC77}"/>
              </a:ext>
            </a:extLst>
          </p:cNvPr>
          <p:cNvSpPr txBox="1">
            <a:spLocks/>
          </p:cNvSpPr>
          <p:nvPr/>
        </p:nvSpPr>
        <p:spPr>
          <a:xfrm>
            <a:off x="8183929" y="1305045"/>
            <a:ext cx="3328217" cy="1210538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 dirty="0">
                <a:solidFill>
                  <a:schemeClr val="tx1"/>
                </a:solidFill>
              </a:rPr>
              <a:t>FSPM</a:t>
            </a:r>
          </a:p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446F34-7D69-4E79-9312-D1CA2C0A0370}"/>
              </a:ext>
            </a:extLst>
          </p:cNvPr>
          <p:cNvCxnSpPr>
            <a:cxnSpLocks/>
          </p:cNvCxnSpPr>
          <p:nvPr/>
        </p:nvCxnSpPr>
        <p:spPr>
          <a:xfrm>
            <a:off x="5663953" y="2784980"/>
            <a:ext cx="0" cy="34594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D625E52-E342-4DD8-8F9C-04451EB87800}"/>
              </a:ext>
            </a:extLst>
          </p:cNvPr>
          <p:cNvSpPr txBox="1"/>
          <p:nvPr/>
        </p:nvSpPr>
        <p:spPr>
          <a:xfrm>
            <a:off x="2561278" y="2947279"/>
            <a:ext cx="249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Homogeneous volume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2590CA-CDE1-4998-B2AC-D3C48BFA258D}"/>
              </a:ext>
            </a:extLst>
          </p:cNvPr>
          <p:cNvCxnSpPr>
            <a:cxnSpLocks/>
          </p:cNvCxnSpPr>
          <p:nvPr/>
        </p:nvCxnSpPr>
        <p:spPr>
          <a:xfrm flipH="1">
            <a:off x="10576361" y="3748192"/>
            <a:ext cx="508797" cy="59942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80290C-A86C-406A-A894-5AF5C114813A}"/>
              </a:ext>
            </a:extLst>
          </p:cNvPr>
          <p:cNvCxnSpPr>
            <a:cxnSpLocks/>
          </p:cNvCxnSpPr>
          <p:nvPr/>
        </p:nvCxnSpPr>
        <p:spPr>
          <a:xfrm flipH="1">
            <a:off x="10644614" y="3766493"/>
            <a:ext cx="796587" cy="99422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E1C64C2-FC87-4836-86EF-FA197FE43A9C}"/>
              </a:ext>
            </a:extLst>
          </p:cNvPr>
          <p:cNvCxnSpPr>
            <a:cxnSpLocks/>
          </p:cNvCxnSpPr>
          <p:nvPr/>
        </p:nvCxnSpPr>
        <p:spPr>
          <a:xfrm>
            <a:off x="1902790" y="3008734"/>
            <a:ext cx="752892" cy="860711"/>
          </a:xfrm>
          <a:prstGeom prst="straightConnector1">
            <a:avLst/>
          </a:prstGeom>
          <a:ln w="38100">
            <a:gradFill flip="none" rotWithShape="1">
              <a:gsLst>
                <a:gs pos="36000">
                  <a:srgbClr val="FFC000"/>
                </a:gs>
                <a:gs pos="73000">
                  <a:schemeClr val="accent3">
                    <a:lumMod val="45000"/>
                    <a:lumOff val="55000"/>
                  </a:schemeClr>
                </a:gs>
                <a:gs pos="88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9882676-B23C-4852-98D7-2DEB50D040BC}"/>
              </a:ext>
            </a:extLst>
          </p:cNvPr>
          <p:cNvSpPr txBox="1"/>
          <p:nvPr/>
        </p:nvSpPr>
        <p:spPr>
          <a:xfrm>
            <a:off x="679854" y="2299263"/>
            <a:ext cx="248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/>
              </a:rPr>
              <a:t>Beer-Lambert law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A51747-E9EF-4D36-9241-05F118D6650D}"/>
                  </a:ext>
                </a:extLst>
              </p:cNvPr>
              <p:cNvSpPr txBox="1"/>
              <p:nvPr/>
            </p:nvSpPr>
            <p:spPr>
              <a:xfrm>
                <a:off x="877471" y="2639402"/>
                <a:ext cx="16807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⁡(−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𝐿𝐴𝐼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A51747-E9EF-4D36-9241-05F118D66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71" y="2639402"/>
                <a:ext cx="168075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C71A7DB-00DA-44C4-963E-5214A862D06F}"/>
              </a:ext>
            </a:extLst>
          </p:cNvPr>
          <p:cNvSpPr txBox="1"/>
          <p:nvPr/>
        </p:nvSpPr>
        <p:spPr>
          <a:xfrm>
            <a:off x="1961051" y="6265533"/>
            <a:ext cx="1716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/>
              </a:rPr>
              <a:t>(Sinoquet et al., 1991)</a:t>
            </a:r>
            <a:endParaRPr lang="en-US" sz="1200" dirty="0">
              <a:latin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5C8F31-1EA5-40B9-9B11-3F9DCA02D1C7}"/>
              </a:ext>
            </a:extLst>
          </p:cNvPr>
          <p:cNvSpPr txBox="1"/>
          <p:nvPr/>
        </p:nvSpPr>
        <p:spPr>
          <a:xfrm>
            <a:off x="9560564" y="2280642"/>
            <a:ext cx="209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/>
              </a:rPr>
              <a:t>Radiative </a:t>
            </a:r>
            <a:r>
              <a:rPr lang="fr-FR" dirty="0" err="1">
                <a:latin typeface="Arial"/>
              </a:rPr>
              <a:t>transfer</a:t>
            </a:r>
            <a:endParaRPr lang="en-US" dirty="0">
              <a:latin typeface="Arial"/>
            </a:endParaRPr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D06427FA-DFF3-483D-80F2-F3667E33AF5C}"/>
              </a:ext>
            </a:extLst>
          </p:cNvPr>
          <p:cNvSpPr/>
          <p:nvPr/>
        </p:nvSpPr>
        <p:spPr>
          <a:xfrm>
            <a:off x="609627" y="3316611"/>
            <a:ext cx="4419573" cy="2155004"/>
          </a:xfrm>
          <a:prstGeom prst="cube">
            <a:avLst>
              <a:gd name="adj" fmla="val 82867"/>
            </a:avLst>
          </a:prstGeom>
          <a:solidFill>
            <a:srgbClr val="399758">
              <a:alpha val="65098"/>
            </a:srgb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626B3E-6D10-4CFB-8665-4C9DE56506C7}"/>
              </a:ext>
            </a:extLst>
          </p:cNvPr>
          <p:cNvSpPr txBox="1"/>
          <p:nvPr/>
        </p:nvSpPr>
        <p:spPr>
          <a:xfrm>
            <a:off x="8364600" y="6265532"/>
            <a:ext cx="1568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/>
              </a:rPr>
              <a:t>(</a:t>
            </a:r>
            <a:r>
              <a:rPr lang="fr-FR" sz="1200" dirty="0" err="1">
                <a:latin typeface="Arial"/>
              </a:rPr>
              <a:t>Chelle</a:t>
            </a:r>
            <a:r>
              <a:rPr lang="fr-FR" sz="1200" dirty="0">
                <a:latin typeface="Arial"/>
              </a:rPr>
              <a:t> et al., 1998)</a:t>
            </a:r>
            <a:endParaRPr lang="en-US" sz="1200" dirty="0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98B1BD-2D9E-4979-A30E-F026947B2AAA}"/>
              </a:ext>
            </a:extLst>
          </p:cNvPr>
          <p:cNvSpPr txBox="1"/>
          <p:nvPr/>
        </p:nvSpPr>
        <p:spPr>
          <a:xfrm>
            <a:off x="0" y="3901783"/>
            <a:ext cx="1086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Calibration</a:t>
            </a:r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222D83EA-C71A-4D0F-BD6E-141E77E96BC0}"/>
              </a:ext>
            </a:extLst>
          </p:cNvPr>
          <p:cNvCxnSpPr>
            <a:cxnSpLocks/>
            <a:stCxn id="26" idx="3"/>
            <a:endCxn id="14" idx="2"/>
          </p:cNvCxnSpPr>
          <p:nvPr/>
        </p:nvCxnSpPr>
        <p:spPr>
          <a:xfrm flipV="1">
            <a:off x="1086605" y="3008734"/>
            <a:ext cx="631241" cy="104693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024C812E-B971-490C-A1E8-E06AD085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5</a:t>
            </a:fld>
            <a:endParaRPr lang="fr-FR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BB2F3C5-AABA-4FA9-AC3D-EC7CEE2ED17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107" y="2633431"/>
            <a:ext cx="2723238" cy="689969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287E720D-F25F-4A14-8EF1-A88691AE5BC3}"/>
              </a:ext>
            </a:extLst>
          </p:cNvPr>
          <p:cNvSpPr txBox="1"/>
          <p:nvPr/>
        </p:nvSpPr>
        <p:spPr>
          <a:xfrm>
            <a:off x="5983835" y="2931833"/>
            <a:ext cx="300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Heterogeneous distribution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13392D5-5DC6-475F-A481-92505B051CEF}"/>
              </a:ext>
            </a:extLst>
          </p:cNvPr>
          <p:cNvSpPr txBox="1"/>
          <p:nvPr/>
        </p:nvSpPr>
        <p:spPr>
          <a:xfrm>
            <a:off x="6128192" y="5969206"/>
            <a:ext cx="1158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Emergence</a:t>
            </a:r>
          </a:p>
        </p:txBody>
      </p:sp>
      <p:cxnSp>
        <p:nvCxnSpPr>
          <p:cNvPr id="80" name="Connector: Curved 79">
            <a:extLst>
              <a:ext uri="{FF2B5EF4-FFF2-40B4-BE49-F238E27FC236}">
                <a16:creationId xmlns:a16="http://schemas.microsoft.com/office/drawing/2014/main" id="{D83F060A-16CC-4EB9-B279-97F7FF18350F}"/>
              </a:ext>
            </a:extLst>
          </p:cNvPr>
          <p:cNvCxnSpPr>
            <a:cxnSpLocks/>
            <a:endCxn id="79" idx="3"/>
          </p:cNvCxnSpPr>
          <p:nvPr/>
        </p:nvCxnSpPr>
        <p:spPr>
          <a:xfrm rot="5400000">
            <a:off x="7233039" y="5576163"/>
            <a:ext cx="600374" cy="49349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Sun 80">
            <a:extLst>
              <a:ext uri="{FF2B5EF4-FFF2-40B4-BE49-F238E27FC236}">
                <a16:creationId xmlns:a16="http://schemas.microsoft.com/office/drawing/2014/main" id="{34D12E64-C3C1-4175-A488-3F7FCD900A8D}"/>
              </a:ext>
            </a:extLst>
          </p:cNvPr>
          <p:cNvSpPr/>
          <p:nvPr/>
        </p:nvSpPr>
        <p:spPr>
          <a:xfrm>
            <a:off x="7669957" y="3261923"/>
            <a:ext cx="427332" cy="369332"/>
          </a:xfrm>
          <a:prstGeom prst="su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E6C0A95C-037A-4A26-A403-9ED282205957}"/>
              </a:ext>
            </a:extLst>
          </p:cNvPr>
          <p:cNvCxnSpPr>
            <a:cxnSpLocks/>
          </p:cNvCxnSpPr>
          <p:nvPr/>
        </p:nvCxnSpPr>
        <p:spPr>
          <a:xfrm rot="5400000">
            <a:off x="7233040" y="5576164"/>
            <a:ext cx="600374" cy="49349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Arc 89">
            <a:extLst>
              <a:ext uri="{FF2B5EF4-FFF2-40B4-BE49-F238E27FC236}">
                <a16:creationId xmlns:a16="http://schemas.microsoft.com/office/drawing/2014/main" id="{937F71A4-4399-43F7-B52D-9C78EF07577A}"/>
              </a:ext>
            </a:extLst>
          </p:cNvPr>
          <p:cNvSpPr/>
          <p:nvPr/>
        </p:nvSpPr>
        <p:spPr>
          <a:xfrm rot="19386979">
            <a:off x="4898475" y="3639001"/>
            <a:ext cx="4565518" cy="3588738"/>
          </a:xfrm>
          <a:prstGeom prst="arc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3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30C9B9E-3C8D-4346-BB31-D0FB7152E0BB}"/>
              </a:ext>
            </a:extLst>
          </p:cNvPr>
          <p:cNvSpPr/>
          <p:nvPr/>
        </p:nvSpPr>
        <p:spPr>
          <a:xfrm>
            <a:off x="6759602" y="2292122"/>
            <a:ext cx="4187094" cy="2815648"/>
          </a:xfrm>
          <a:prstGeom prst="roundRect">
            <a:avLst/>
          </a:prstGeom>
          <a:solidFill>
            <a:srgbClr val="399758">
              <a:alpha val="69804"/>
            </a:srgbClr>
          </a:solidFill>
          <a:ln>
            <a:solidFill>
              <a:srgbClr val="39975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A11A0DC-C030-4FD6-B0D0-F4E034705985}"/>
              </a:ext>
            </a:extLst>
          </p:cNvPr>
          <p:cNvSpPr/>
          <p:nvPr/>
        </p:nvSpPr>
        <p:spPr>
          <a:xfrm>
            <a:off x="1177196" y="2292122"/>
            <a:ext cx="4171509" cy="2815648"/>
          </a:xfrm>
          <a:prstGeom prst="roundRect">
            <a:avLst/>
          </a:prstGeom>
          <a:solidFill>
            <a:srgbClr val="F39200">
              <a:alpha val="69804"/>
            </a:srgbClr>
          </a:solidFill>
          <a:ln>
            <a:solidFill>
              <a:srgbClr val="F392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96E95-F6C0-489B-A325-7883157E0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66" y="120681"/>
            <a:ext cx="10515600" cy="1325563"/>
          </a:xfrm>
        </p:spPr>
        <p:txBody>
          <a:bodyPr>
            <a:normAutofit/>
          </a:bodyPr>
          <a:lstStyle/>
          <a:p>
            <a:r>
              <a:rPr lang="fr-FR" sz="3400" dirty="0"/>
              <a:t>Limits of </a:t>
            </a:r>
            <a:r>
              <a:rPr lang="fr-FR" sz="3400" dirty="0" err="1"/>
              <a:t>existing</a:t>
            </a:r>
            <a:r>
              <a:rPr lang="fr-FR" sz="3400" dirty="0"/>
              <a:t> </a:t>
            </a:r>
            <a:r>
              <a:rPr lang="fr-FR" sz="3400" dirty="0" err="1"/>
              <a:t>models</a:t>
            </a:r>
            <a:r>
              <a:rPr lang="fr-FR" sz="3400" dirty="0"/>
              <a:t> for </a:t>
            </a:r>
            <a:r>
              <a:rPr lang="fr-FR" sz="3400" dirty="0" err="1"/>
              <a:t>modelling</a:t>
            </a:r>
            <a:r>
              <a:rPr lang="fr-FR" sz="3400" dirty="0"/>
              <a:t> </a:t>
            </a:r>
            <a:r>
              <a:rPr lang="fr-FR" sz="3400" dirty="0" err="1"/>
              <a:t>intercrops</a:t>
            </a:r>
            <a:r>
              <a:rPr lang="fr-FR" sz="3400" dirty="0"/>
              <a:t> </a:t>
            </a:r>
            <a:endParaRPr lang="en-US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5FE7A-3E3F-4200-BAFE-A15222A35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965" y="2527112"/>
            <a:ext cx="3679478" cy="2345667"/>
          </a:xfrm>
        </p:spPr>
        <p:txBody>
          <a:bodyPr>
            <a:normAutofit/>
          </a:bodyPr>
          <a:lstStyle/>
          <a:p>
            <a:r>
              <a:rPr lang="fr-FR" sz="2000" dirty="0" err="1"/>
              <a:t>Difficulties</a:t>
            </a:r>
            <a:r>
              <a:rPr lang="fr-FR" sz="2000" dirty="0"/>
              <a:t> to </a:t>
            </a:r>
            <a:r>
              <a:rPr lang="fr-FR" sz="2000" dirty="0" err="1"/>
              <a:t>take</a:t>
            </a:r>
            <a:r>
              <a:rPr lang="fr-FR" sz="2000" dirty="0"/>
              <a:t> spatial and temporal </a:t>
            </a:r>
            <a:r>
              <a:rPr lang="fr-FR" sz="2000" b="1" dirty="0" err="1"/>
              <a:t>heterogeneity</a:t>
            </a:r>
            <a:r>
              <a:rPr lang="fr-FR" sz="2000" dirty="0"/>
              <a:t> </a:t>
            </a:r>
            <a:r>
              <a:rPr lang="fr-FR" sz="2000" dirty="0" err="1"/>
              <a:t>into</a:t>
            </a:r>
            <a:r>
              <a:rPr lang="fr-FR" sz="2000" dirty="0"/>
              <a:t> </a:t>
            </a:r>
            <a:r>
              <a:rPr lang="fr-FR" sz="2000" dirty="0" err="1"/>
              <a:t>account</a:t>
            </a:r>
            <a:r>
              <a:rPr lang="fr-FR" sz="2000" dirty="0"/>
              <a:t> </a:t>
            </a:r>
          </a:p>
          <a:p>
            <a:r>
              <a:rPr lang="fr-FR" sz="2000" dirty="0" err="1"/>
              <a:t>Difficulties</a:t>
            </a:r>
            <a:r>
              <a:rPr lang="fr-FR" sz="2000" dirty="0"/>
              <a:t> to </a:t>
            </a:r>
            <a:r>
              <a:rPr lang="fr-FR" sz="2000" dirty="0" err="1"/>
              <a:t>simulate</a:t>
            </a:r>
            <a:r>
              <a:rPr lang="fr-FR" sz="2000" dirty="0"/>
              <a:t> </a:t>
            </a:r>
            <a:r>
              <a:rPr lang="fr-FR" sz="2000" dirty="0" err="1"/>
              <a:t>plant-plant</a:t>
            </a:r>
            <a:r>
              <a:rPr lang="fr-FR" sz="2000" dirty="0"/>
              <a:t> </a:t>
            </a:r>
            <a:r>
              <a:rPr lang="fr-FR" sz="2000" b="1" dirty="0"/>
              <a:t>interactions</a:t>
            </a:r>
            <a:r>
              <a:rPr lang="fr-FR" sz="2000" dirty="0"/>
              <a:t> as </a:t>
            </a:r>
            <a:r>
              <a:rPr lang="fr-FR" sz="2000" dirty="0" err="1"/>
              <a:t>emerging</a:t>
            </a:r>
            <a:r>
              <a:rPr lang="fr-FR" sz="2000" dirty="0"/>
              <a:t> </a:t>
            </a:r>
            <a:r>
              <a:rPr lang="fr-FR" sz="2000" dirty="0" err="1"/>
              <a:t>phenomena</a:t>
            </a:r>
            <a:r>
              <a:rPr lang="fr-FR" sz="2000" dirty="0"/>
              <a:t> </a:t>
            </a:r>
          </a:p>
          <a:p>
            <a:r>
              <a:rPr lang="fr-FR" sz="2000" dirty="0"/>
              <a:t>Need data</a:t>
            </a:r>
            <a:endParaRPr lang="en-US" dirty="0"/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D018D9DC-6D86-456B-BFCA-9D996F23E751}"/>
              </a:ext>
            </a:extLst>
          </p:cNvPr>
          <p:cNvSpPr txBox="1">
            <a:spLocks/>
          </p:cNvSpPr>
          <p:nvPr/>
        </p:nvSpPr>
        <p:spPr>
          <a:xfrm>
            <a:off x="406216" y="1403653"/>
            <a:ext cx="2695620" cy="1013321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400" b="1" dirty="0" err="1">
                <a:solidFill>
                  <a:schemeClr val="tx1"/>
                </a:solidFill>
              </a:rPr>
              <a:t>Crop</a:t>
            </a:r>
            <a:r>
              <a:rPr lang="fr-FR" sz="2400" b="1" dirty="0">
                <a:solidFill>
                  <a:schemeClr val="tx1"/>
                </a:solidFill>
              </a:rPr>
              <a:t> </a:t>
            </a:r>
            <a:r>
              <a:rPr lang="fr-FR" sz="2400" b="1" dirty="0" err="1">
                <a:solidFill>
                  <a:schemeClr val="tx1"/>
                </a:solidFill>
              </a:rPr>
              <a:t>models</a:t>
            </a:r>
            <a:endParaRPr lang="fr-FR" sz="24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45E945E3-CBAB-481A-A690-563DBBC339DA}"/>
              </a:ext>
            </a:extLst>
          </p:cNvPr>
          <p:cNvSpPr txBox="1">
            <a:spLocks/>
          </p:cNvSpPr>
          <p:nvPr/>
        </p:nvSpPr>
        <p:spPr>
          <a:xfrm>
            <a:off x="8183929" y="1305045"/>
            <a:ext cx="3328217" cy="1210538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 dirty="0">
                <a:solidFill>
                  <a:schemeClr val="tx1"/>
                </a:solidFill>
              </a:rPr>
              <a:t>FSPM</a:t>
            </a:r>
          </a:p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400E3B-0961-4904-8E1E-E942111220C3}"/>
              </a:ext>
            </a:extLst>
          </p:cNvPr>
          <p:cNvCxnSpPr>
            <a:cxnSpLocks/>
          </p:cNvCxnSpPr>
          <p:nvPr/>
        </p:nvCxnSpPr>
        <p:spPr>
          <a:xfrm>
            <a:off x="6042324" y="2296113"/>
            <a:ext cx="0" cy="30182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FB6AA6-890E-4DFF-A74A-31844B9EA43F}"/>
              </a:ext>
            </a:extLst>
          </p:cNvPr>
          <p:cNvSpPr txBox="1"/>
          <p:nvPr/>
        </p:nvSpPr>
        <p:spPr>
          <a:xfrm>
            <a:off x="7066761" y="2768922"/>
            <a:ext cx="337906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b="1" dirty="0" err="1"/>
              <a:t>Complexity</a:t>
            </a:r>
            <a:endParaRPr lang="fr-FR" sz="2000" b="1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Few </a:t>
            </a:r>
            <a:r>
              <a:rPr lang="fr-FR" sz="2000" dirty="0" err="1"/>
              <a:t>processes</a:t>
            </a:r>
            <a:r>
              <a:rPr lang="fr-FR" sz="2000" dirty="0"/>
              <a:t> at a time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Do not </a:t>
            </a:r>
            <a:r>
              <a:rPr lang="fr-FR" sz="2000" dirty="0" err="1"/>
              <a:t>always</a:t>
            </a:r>
            <a:r>
              <a:rPr lang="fr-FR" sz="2000" dirty="0"/>
              <a:t> </a:t>
            </a:r>
            <a:r>
              <a:rPr lang="fr-FR" sz="2000" dirty="0" err="1"/>
              <a:t>simulate</a:t>
            </a:r>
            <a:r>
              <a:rPr lang="fr-FR" sz="2000" dirty="0"/>
              <a:t> </a:t>
            </a:r>
            <a:r>
              <a:rPr lang="fr-FR" sz="2000" dirty="0" err="1"/>
              <a:t>whole</a:t>
            </a:r>
            <a:r>
              <a:rPr lang="fr-FR" sz="2000" dirty="0"/>
              <a:t> </a:t>
            </a:r>
            <a:r>
              <a:rPr lang="fr-FR" sz="2000" dirty="0" err="1"/>
              <a:t>development</a:t>
            </a:r>
            <a:r>
              <a:rPr lang="fr-FR" sz="2000" dirty="0"/>
              <a:t> cycle</a:t>
            </a: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Need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FA22D2-B079-4D92-8652-2054AAB6232A}"/>
              </a:ext>
            </a:extLst>
          </p:cNvPr>
          <p:cNvSpPr txBox="1"/>
          <p:nvPr/>
        </p:nvSpPr>
        <p:spPr>
          <a:xfrm>
            <a:off x="10067455" y="6151072"/>
            <a:ext cx="1855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(</a:t>
            </a:r>
            <a:r>
              <a:rPr lang="fr-FR" sz="1400" dirty="0" err="1"/>
              <a:t>Gaudio</a:t>
            </a:r>
            <a:r>
              <a:rPr lang="fr-FR" sz="1400" dirty="0"/>
              <a:t> et al., 2019)</a:t>
            </a:r>
            <a:endParaRPr lang="en-US" sz="14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52B2EDF-C232-4BB8-BCFF-E351BAD12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6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EB81A2-A449-41CD-8ECF-DFC88B6E6042}"/>
              </a:ext>
            </a:extLst>
          </p:cNvPr>
          <p:cNvSpPr txBox="1"/>
          <p:nvPr/>
        </p:nvSpPr>
        <p:spPr>
          <a:xfrm>
            <a:off x="4666593" y="5722424"/>
            <a:ext cx="274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Complementarity</a:t>
            </a:r>
          </a:p>
        </p:txBody>
      </p:sp>
    </p:spTree>
    <p:extLst>
      <p:ext uri="{BB962C8B-B14F-4D97-AF65-F5344CB8AC3E}">
        <p14:creationId xmlns:p14="http://schemas.microsoft.com/office/powerpoint/2010/main" val="3532161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C88BBBA9-A5C2-4BC6-8458-4BB860E4A4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8253" t="5366" r="2760" b="9134"/>
          <a:stretch/>
        </p:blipFill>
        <p:spPr>
          <a:xfrm>
            <a:off x="5929358" y="3417914"/>
            <a:ext cx="3182608" cy="2317794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19AF0B9C-DDAF-467D-8E7E-E8B8D9D76B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8253" t="5366" r="2760" b="9134"/>
          <a:stretch/>
        </p:blipFill>
        <p:spPr>
          <a:xfrm>
            <a:off x="5929359" y="3417915"/>
            <a:ext cx="3182608" cy="2317794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8F6AFA72-AA82-4A68-B058-C74C3B2EB7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8253" t="5366" r="2760" b="9134"/>
          <a:stretch/>
        </p:blipFill>
        <p:spPr>
          <a:xfrm>
            <a:off x="5929358" y="3417914"/>
            <a:ext cx="3182608" cy="2317794"/>
          </a:xfrm>
          <a:prstGeom prst="rect">
            <a:avLst/>
          </a:prstGeom>
        </p:spPr>
      </p:pic>
      <p:sp>
        <p:nvSpPr>
          <p:cNvPr id="24" name="Cube 23">
            <a:extLst>
              <a:ext uri="{FF2B5EF4-FFF2-40B4-BE49-F238E27FC236}">
                <a16:creationId xmlns:a16="http://schemas.microsoft.com/office/drawing/2014/main" id="{6F78F734-9A89-4595-8ABB-DCD995E81BD9}"/>
              </a:ext>
            </a:extLst>
          </p:cNvPr>
          <p:cNvSpPr/>
          <p:nvPr/>
        </p:nvSpPr>
        <p:spPr>
          <a:xfrm>
            <a:off x="609627" y="3669906"/>
            <a:ext cx="4419573" cy="2155004"/>
          </a:xfrm>
          <a:prstGeom prst="cube">
            <a:avLst>
              <a:gd name="adj" fmla="val 82867"/>
            </a:avLst>
          </a:prstGeom>
          <a:solidFill>
            <a:srgbClr val="C28745">
              <a:alpha val="64706"/>
            </a:srgb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710C2A-A9D2-4F13-A70E-240743080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797" y="119517"/>
            <a:ext cx="10515600" cy="1325563"/>
          </a:xfrm>
        </p:spPr>
        <p:txBody>
          <a:bodyPr>
            <a:normAutofit/>
          </a:bodyPr>
          <a:lstStyle/>
          <a:p>
            <a:r>
              <a:rPr lang="fr-FR" sz="3400" dirty="0" err="1"/>
              <a:t>Hybrid</a:t>
            </a:r>
            <a:r>
              <a:rPr lang="fr-FR" sz="3400" dirty="0"/>
              <a:t> </a:t>
            </a:r>
            <a:r>
              <a:rPr lang="fr-FR" sz="3400" dirty="0" err="1"/>
              <a:t>formalism</a:t>
            </a:r>
            <a:endParaRPr lang="en-US" sz="3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0AEAEF-4C34-40CF-8868-0919062D8C6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05275" y="3766493"/>
            <a:ext cx="2050956" cy="2430242"/>
          </a:xfrm>
          <a:prstGeom prst="rect">
            <a:avLst/>
          </a:prstGeom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21B5EC0-062A-4394-8D83-2853B8191B7B}"/>
              </a:ext>
            </a:extLst>
          </p:cNvPr>
          <p:cNvSpPr txBox="1">
            <a:spLocks/>
          </p:cNvSpPr>
          <p:nvPr/>
        </p:nvSpPr>
        <p:spPr>
          <a:xfrm>
            <a:off x="406216" y="1403653"/>
            <a:ext cx="2695620" cy="1013321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400" b="1" dirty="0" err="1">
                <a:solidFill>
                  <a:schemeClr val="tx1"/>
                </a:solidFill>
              </a:rPr>
              <a:t>Crop</a:t>
            </a:r>
            <a:r>
              <a:rPr lang="fr-FR" sz="2400" b="1" dirty="0">
                <a:solidFill>
                  <a:schemeClr val="tx1"/>
                </a:solidFill>
              </a:rPr>
              <a:t> </a:t>
            </a:r>
            <a:r>
              <a:rPr lang="fr-FR" sz="2400" b="1" dirty="0" err="1">
                <a:solidFill>
                  <a:schemeClr val="tx1"/>
                </a:solidFill>
              </a:rPr>
              <a:t>models</a:t>
            </a:r>
            <a:endParaRPr lang="fr-FR" sz="24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DCD6D5EB-6032-4892-95D9-3D3CE4BDFC77}"/>
              </a:ext>
            </a:extLst>
          </p:cNvPr>
          <p:cNvSpPr txBox="1">
            <a:spLocks/>
          </p:cNvSpPr>
          <p:nvPr/>
        </p:nvSpPr>
        <p:spPr>
          <a:xfrm>
            <a:off x="8183929" y="1305045"/>
            <a:ext cx="3328217" cy="1210538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 dirty="0">
                <a:solidFill>
                  <a:schemeClr val="tx1"/>
                </a:solidFill>
              </a:rPr>
              <a:t>FSPM</a:t>
            </a:r>
          </a:p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446F34-7D69-4E79-9312-D1CA2C0A0370}"/>
              </a:ext>
            </a:extLst>
          </p:cNvPr>
          <p:cNvCxnSpPr>
            <a:cxnSpLocks/>
          </p:cNvCxnSpPr>
          <p:nvPr/>
        </p:nvCxnSpPr>
        <p:spPr>
          <a:xfrm>
            <a:off x="5663953" y="2784980"/>
            <a:ext cx="0" cy="34594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D625E52-E342-4DD8-8F9C-04451EB87800}"/>
              </a:ext>
            </a:extLst>
          </p:cNvPr>
          <p:cNvSpPr txBox="1"/>
          <p:nvPr/>
        </p:nvSpPr>
        <p:spPr>
          <a:xfrm>
            <a:off x="2561278" y="2947279"/>
            <a:ext cx="249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Homogeneous volume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2590CA-CDE1-4998-B2AC-D3C48BFA258D}"/>
              </a:ext>
            </a:extLst>
          </p:cNvPr>
          <p:cNvCxnSpPr>
            <a:cxnSpLocks/>
          </p:cNvCxnSpPr>
          <p:nvPr/>
        </p:nvCxnSpPr>
        <p:spPr>
          <a:xfrm flipH="1">
            <a:off x="10576361" y="3748192"/>
            <a:ext cx="508797" cy="59942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80290C-A86C-406A-A894-5AF5C114813A}"/>
              </a:ext>
            </a:extLst>
          </p:cNvPr>
          <p:cNvCxnSpPr>
            <a:cxnSpLocks/>
          </p:cNvCxnSpPr>
          <p:nvPr/>
        </p:nvCxnSpPr>
        <p:spPr>
          <a:xfrm flipH="1">
            <a:off x="10644614" y="3766493"/>
            <a:ext cx="796587" cy="99422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E1C64C2-FC87-4836-86EF-FA197FE43A9C}"/>
              </a:ext>
            </a:extLst>
          </p:cNvPr>
          <p:cNvCxnSpPr>
            <a:cxnSpLocks/>
          </p:cNvCxnSpPr>
          <p:nvPr/>
        </p:nvCxnSpPr>
        <p:spPr>
          <a:xfrm>
            <a:off x="1902790" y="3008734"/>
            <a:ext cx="752892" cy="860711"/>
          </a:xfrm>
          <a:prstGeom prst="straightConnector1">
            <a:avLst/>
          </a:prstGeom>
          <a:ln w="38100">
            <a:gradFill flip="none" rotWithShape="1">
              <a:gsLst>
                <a:gs pos="36000">
                  <a:srgbClr val="FFC000"/>
                </a:gs>
                <a:gs pos="73000">
                  <a:schemeClr val="accent3">
                    <a:lumMod val="45000"/>
                    <a:lumOff val="55000"/>
                  </a:schemeClr>
                </a:gs>
                <a:gs pos="88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9882676-B23C-4852-98D7-2DEB50D040BC}"/>
              </a:ext>
            </a:extLst>
          </p:cNvPr>
          <p:cNvSpPr txBox="1"/>
          <p:nvPr/>
        </p:nvSpPr>
        <p:spPr>
          <a:xfrm>
            <a:off x="679854" y="2299263"/>
            <a:ext cx="248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/>
              </a:rPr>
              <a:t>Beer-Lambert law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A51747-E9EF-4D36-9241-05F118D6650D}"/>
                  </a:ext>
                </a:extLst>
              </p:cNvPr>
              <p:cNvSpPr txBox="1"/>
              <p:nvPr/>
            </p:nvSpPr>
            <p:spPr>
              <a:xfrm>
                <a:off x="877471" y="2639402"/>
                <a:ext cx="16807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⁡(−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𝐿𝐴𝐼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A51747-E9EF-4D36-9241-05F118D66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71" y="2639402"/>
                <a:ext cx="168075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C71A7DB-00DA-44C4-963E-5214A862D06F}"/>
              </a:ext>
            </a:extLst>
          </p:cNvPr>
          <p:cNvSpPr txBox="1"/>
          <p:nvPr/>
        </p:nvSpPr>
        <p:spPr>
          <a:xfrm>
            <a:off x="1961051" y="6265533"/>
            <a:ext cx="1716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/>
              </a:rPr>
              <a:t>(Sinoquet et al., 1991)</a:t>
            </a:r>
            <a:endParaRPr lang="en-US" sz="1200" dirty="0">
              <a:latin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5C8F31-1EA5-40B9-9B11-3F9DCA02D1C7}"/>
              </a:ext>
            </a:extLst>
          </p:cNvPr>
          <p:cNvSpPr txBox="1"/>
          <p:nvPr/>
        </p:nvSpPr>
        <p:spPr>
          <a:xfrm>
            <a:off x="9560564" y="2280642"/>
            <a:ext cx="209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/>
              </a:rPr>
              <a:t>Radiative </a:t>
            </a:r>
            <a:r>
              <a:rPr lang="fr-FR" dirty="0" err="1">
                <a:latin typeface="Arial"/>
              </a:rPr>
              <a:t>transfer</a:t>
            </a:r>
            <a:endParaRPr lang="en-US" dirty="0">
              <a:latin typeface="Arial"/>
            </a:endParaRPr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D06427FA-DFF3-483D-80F2-F3667E33AF5C}"/>
              </a:ext>
            </a:extLst>
          </p:cNvPr>
          <p:cNvSpPr/>
          <p:nvPr/>
        </p:nvSpPr>
        <p:spPr>
          <a:xfrm>
            <a:off x="609627" y="3316611"/>
            <a:ext cx="4419573" cy="2155004"/>
          </a:xfrm>
          <a:prstGeom prst="cube">
            <a:avLst>
              <a:gd name="adj" fmla="val 82867"/>
            </a:avLst>
          </a:prstGeom>
          <a:solidFill>
            <a:srgbClr val="399758">
              <a:alpha val="65098"/>
            </a:srgb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626B3E-6D10-4CFB-8665-4C9DE56506C7}"/>
              </a:ext>
            </a:extLst>
          </p:cNvPr>
          <p:cNvSpPr txBox="1"/>
          <p:nvPr/>
        </p:nvSpPr>
        <p:spPr>
          <a:xfrm>
            <a:off x="8364600" y="6265532"/>
            <a:ext cx="1568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/>
              </a:rPr>
              <a:t>(</a:t>
            </a:r>
            <a:r>
              <a:rPr lang="fr-FR" sz="1200" dirty="0" err="1">
                <a:latin typeface="Arial"/>
              </a:rPr>
              <a:t>Chelle</a:t>
            </a:r>
            <a:r>
              <a:rPr lang="fr-FR" sz="1200" dirty="0">
                <a:latin typeface="Arial"/>
              </a:rPr>
              <a:t> et al., 1998)</a:t>
            </a:r>
            <a:endParaRPr lang="en-US" sz="1200" dirty="0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98B1BD-2D9E-4979-A30E-F026947B2AAA}"/>
              </a:ext>
            </a:extLst>
          </p:cNvPr>
          <p:cNvSpPr txBox="1"/>
          <p:nvPr/>
        </p:nvSpPr>
        <p:spPr>
          <a:xfrm>
            <a:off x="0" y="3901783"/>
            <a:ext cx="1086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Calibration</a:t>
            </a:r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222D83EA-C71A-4D0F-BD6E-141E77E96BC0}"/>
              </a:ext>
            </a:extLst>
          </p:cNvPr>
          <p:cNvCxnSpPr>
            <a:cxnSpLocks/>
            <a:stCxn id="26" idx="3"/>
            <a:endCxn id="14" idx="2"/>
          </p:cNvCxnSpPr>
          <p:nvPr/>
        </p:nvCxnSpPr>
        <p:spPr>
          <a:xfrm flipV="1">
            <a:off x="1086605" y="3008734"/>
            <a:ext cx="631241" cy="104693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024C812E-B971-490C-A1E8-E06AD085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7</a:t>
            </a:fld>
            <a:endParaRPr lang="fr-FR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BB2F3C5-AABA-4FA9-AC3D-EC7CEE2ED17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107" y="2633431"/>
            <a:ext cx="2723238" cy="689969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287E720D-F25F-4A14-8EF1-A88691AE5BC3}"/>
              </a:ext>
            </a:extLst>
          </p:cNvPr>
          <p:cNvSpPr txBox="1"/>
          <p:nvPr/>
        </p:nvSpPr>
        <p:spPr>
          <a:xfrm>
            <a:off x="5983835" y="2931833"/>
            <a:ext cx="300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Heterogeneous distribution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13392D5-5DC6-475F-A481-92505B051CEF}"/>
              </a:ext>
            </a:extLst>
          </p:cNvPr>
          <p:cNvSpPr txBox="1"/>
          <p:nvPr/>
        </p:nvSpPr>
        <p:spPr>
          <a:xfrm>
            <a:off x="6128192" y="5969206"/>
            <a:ext cx="1158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Emergence</a:t>
            </a:r>
          </a:p>
        </p:txBody>
      </p:sp>
      <p:cxnSp>
        <p:nvCxnSpPr>
          <p:cNvPr id="80" name="Connector: Curved 79">
            <a:extLst>
              <a:ext uri="{FF2B5EF4-FFF2-40B4-BE49-F238E27FC236}">
                <a16:creationId xmlns:a16="http://schemas.microsoft.com/office/drawing/2014/main" id="{D83F060A-16CC-4EB9-B279-97F7FF18350F}"/>
              </a:ext>
            </a:extLst>
          </p:cNvPr>
          <p:cNvCxnSpPr>
            <a:cxnSpLocks/>
            <a:endCxn id="79" idx="3"/>
          </p:cNvCxnSpPr>
          <p:nvPr/>
        </p:nvCxnSpPr>
        <p:spPr>
          <a:xfrm rot="5400000">
            <a:off x="7233039" y="5576163"/>
            <a:ext cx="600374" cy="49349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Sun 80">
            <a:extLst>
              <a:ext uri="{FF2B5EF4-FFF2-40B4-BE49-F238E27FC236}">
                <a16:creationId xmlns:a16="http://schemas.microsoft.com/office/drawing/2014/main" id="{34D12E64-C3C1-4175-A488-3F7FCD900A8D}"/>
              </a:ext>
            </a:extLst>
          </p:cNvPr>
          <p:cNvSpPr/>
          <p:nvPr/>
        </p:nvSpPr>
        <p:spPr>
          <a:xfrm>
            <a:off x="7669957" y="3261923"/>
            <a:ext cx="427332" cy="369332"/>
          </a:xfrm>
          <a:prstGeom prst="su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E6C0A95C-037A-4A26-A403-9ED282205957}"/>
              </a:ext>
            </a:extLst>
          </p:cNvPr>
          <p:cNvCxnSpPr>
            <a:cxnSpLocks/>
          </p:cNvCxnSpPr>
          <p:nvPr/>
        </p:nvCxnSpPr>
        <p:spPr>
          <a:xfrm rot="5400000">
            <a:off x="7233040" y="5576164"/>
            <a:ext cx="600374" cy="49349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Arc 89">
            <a:extLst>
              <a:ext uri="{FF2B5EF4-FFF2-40B4-BE49-F238E27FC236}">
                <a16:creationId xmlns:a16="http://schemas.microsoft.com/office/drawing/2014/main" id="{937F71A4-4399-43F7-B52D-9C78EF07577A}"/>
              </a:ext>
            </a:extLst>
          </p:cNvPr>
          <p:cNvSpPr/>
          <p:nvPr/>
        </p:nvSpPr>
        <p:spPr>
          <a:xfrm rot="19386979">
            <a:off x="4898475" y="3639001"/>
            <a:ext cx="4565518" cy="3588738"/>
          </a:xfrm>
          <a:prstGeom prst="arc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2BF703-CA5F-45D6-9F81-A880011DEDFC}"/>
              </a:ext>
            </a:extLst>
          </p:cNvPr>
          <p:cNvSpPr/>
          <p:nvPr/>
        </p:nvSpPr>
        <p:spPr>
          <a:xfrm>
            <a:off x="0" y="1333037"/>
            <a:ext cx="12191999" cy="5552955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B9BFB61-FB74-48AD-A071-661DB3AFAB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3373" y="2439386"/>
            <a:ext cx="3596496" cy="286208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D0CA1FE-7646-43B8-A59F-CE2622D52853}"/>
              </a:ext>
            </a:extLst>
          </p:cNvPr>
          <p:cNvSpPr txBox="1"/>
          <p:nvPr/>
        </p:nvSpPr>
        <p:spPr>
          <a:xfrm>
            <a:off x="4922849" y="5341468"/>
            <a:ext cx="1429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/>
              </a:rPr>
              <a:t>(</a:t>
            </a:r>
            <a:r>
              <a:rPr lang="en-US" sz="1200" dirty="0" err="1">
                <a:latin typeface="Arial"/>
              </a:rPr>
              <a:t>Vezy</a:t>
            </a:r>
            <a:r>
              <a:rPr lang="en-US" sz="1200" dirty="0">
                <a:latin typeface="Arial"/>
              </a:rPr>
              <a:t> et al., 2023)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BCA370-8884-4922-B29D-0BF619105917}"/>
              </a:ext>
            </a:extLst>
          </p:cNvPr>
          <p:cNvSpPr txBox="1"/>
          <p:nvPr/>
        </p:nvSpPr>
        <p:spPr>
          <a:xfrm>
            <a:off x="4253811" y="2106810"/>
            <a:ext cx="2695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/>
              </a:rPr>
              <a:t>Radiative transfer (2.5D)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41301A3-9F55-4997-AB8E-A00F1B0352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031" y="5313230"/>
            <a:ext cx="722098" cy="55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776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A4B8A62-A7EE-4AEE-A9AF-53AE5516F073}"/>
              </a:ext>
            </a:extLst>
          </p:cNvPr>
          <p:cNvSpPr/>
          <p:nvPr/>
        </p:nvSpPr>
        <p:spPr>
          <a:xfrm rot="5400000">
            <a:off x="5711981" y="-389114"/>
            <a:ext cx="2382878" cy="8480398"/>
          </a:xfrm>
          <a:prstGeom prst="triangle">
            <a:avLst/>
          </a:prstGeom>
          <a:solidFill>
            <a:srgbClr val="D1D1D1">
              <a:alpha val="40000"/>
            </a:srgb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AD72CD-059B-4E49-9B5E-C673452ACD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415" y="4093626"/>
            <a:ext cx="1836179" cy="18909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BED7AA-B7E2-4445-A9DA-83ADB64DD8F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137" y="1606777"/>
            <a:ext cx="3400182" cy="185548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430FF5A-F545-B820-3B51-5271DB8E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552" y="275391"/>
            <a:ext cx="10073227" cy="1104373"/>
          </a:xfrm>
        </p:spPr>
        <p:txBody>
          <a:bodyPr>
            <a:normAutofit/>
          </a:bodyPr>
          <a:lstStyle/>
          <a:p>
            <a:r>
              <a:rPr lang="fr-FR" sz="3400" dirty="0" err="1"/>
              <a:t>Hybrid</a:t>
            </a:r>
            <a:r>
              <a:rPr lang="fr-FR" sz="3400" dirty="0"/>
              <a:t> </a:t>
            </a:r>
            <a:r>
              <a:rPr lang="fr-FR" sz="3400" dirty="0" err="1"/>
              <a:t>approaches</a:t>
            </a:r>
            <a:r>
              <a:rPr lang="fr-FR" sz="3400" dirty="0"/>
              <a:t> for </a:t>
            </a:r>
            <a:r>
              <a:rPr lang="fr-FR" sz="3400" dirty="0" err="1"/>
              <a:t>intercrops</a:t>
            </a:r>
            <a:endParaRPr lang="fr-FR" sz="3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A21D79-8FA5-4080-9C6D-8D7B0ED3D848}"/>
              </a:ext>
            </a:extLst>
          </p:cNvPr>
          <p:cNvSpPr txBox="1"/>
          <p:nvPr/>
        </p:nvSpPr>
        <p:spPr>
          <a:xfrm>
            <a:off x="4262952" y="4894495"/>
            <a:ext cx="161720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Hi-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sAFe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</a:endParaRPr>
          </a:p>
          <a:p>
            <a:r>
              <a:rPr lang="fr-F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(</a:t>
            </a:r>
            <a:r>
              <a:rPr lang="fr-F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Dupraz</a:t>
            </a:r>
            <a:r>
              <a:rPr lang="fr-F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 et al., 2019)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D48F25-7AEA-4698-9E84-0901FEECDA63}"/>
              </a:ext>
            </a:extLst>
          </p:cNvPr>
          <p:cNvSpPr txBox="1"/>
          <p:nvPr/>
        </p:nvSpPr>
        <p:spPr>
          <a:xfrm>
            <a:off x="4262952" y="2169756"/>
            <a:ext cx="15885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FlorSys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 </a:t>
            </a:r>
          </a:p>
          <a:p>
            <a:r>
              <a:rPr lang="fr-F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(Pagès et al., 2020 ; Colbach et al., 2021)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</a:endParaRPr>
          </a:p>
          <a:p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EE7610-0CA3-4460-B979-BFC157DB8B0D}"/>
              </a:ext>
            </a:extLst>
          </p:cNvPr>
          <p:cNvSpPr txBox="1"/>
          <p:nvPr/>
        </p:nvSpPr>
        <p:spPr>
          <a:xfrm>
            <a:off x="7556953" y="3355507"/>
            <a:ext cx="1562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Gaudio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 et al. (2022)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04044BA-3FB4-4C6D-BB8D-8F10E4A80F0E}"/>
              </a:ext>
            </a:extLst>
          </p:cNvPr>
          <p:cNvGrpSpPr/>
          <p:nvPr/>
        </p:nvGrpSpPr>
        <p:grpSpPr>
          <a:xfrm>
            <a:off x="477586" y="2187473"/>
            <a:ext cx="2850574" cy="2420839"/>
            <a:chOff x="477586" y="2187473"/>
            <a:chExt cx="2850574" cy="2420839"/>
          </a:xfrm>
        </p:grpSpPr>
        <p:sp>
          <p:nvSpPr>
            <p:cNvPr id="8" name="Content Placeholder 6">
              <a:extLst>
                <a:ext uri="{FF2B5EF4-FFF2-40B4-BE49-F238E27FC236}">
                  <a16:creationId xmlns:a16="http://schemas.microsoft.com/office/drawing/2014/main" id="{0A5D27B1-842E-4F22-A103-CB1C111AB39C}"/>
                </a:ext>
              </a:extLst>
            </p:cNvPr>
            <p:cNvSpPr txBox="1">
              <a:spLocks/>
            </p:cNvSpPr>
            <p:nvPr/>
          </p:nvSpPr>
          <p:spPr>
            <a:xfrm>
              <a:off x="481785" y="2187473"/>
              <a:ext cx="2842176" cy="534567"/>
            </a:xfrm>
            <a:prstGeom prst="rect">
              <a:avLst/>
            </a:prstGeom>
            <a:ln w="28575"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82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2400" b="1" dirty="0" err="1">
                  <a:solidFill>
                    <a:schemeClr val="tx1"/>
                  </a:solidFill>
                </a:rPr>
                <a:t>Crop</a:t>
              </a:r>
              <a:r>
                <a:rPr lang="fr-FR" sz="2400" b="1" dirty="0">
                  <a:solidFill>
                    <a:schemeClr val="tx1"/>
                  </a:solidFill>
                </a:rPr>
                <a:t> </a:t>
              </a:r>
              <a:r>
                <a:rPr lang="fr-FR" sz="2400" b="1" dirty="0" err="1">
                  <a:solidFill>
                    <a:schemeClr val="tx1"/>
                  </a:solidFill>
                </a:rPr>
                <a:t>models</a:t>
              </a:r>
              <a:endParaRPr lang="fr-FR" sz="2400" dirty="0">
                <a:solidFill>
                  <a:schemeClr val="tx1"/>
                </a:solidFill>
              </a:endParaRPr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19EDA022-05F5-4C37-B464-F0759C535685}"/>
                </a:ext>
              </a:extLst>
            </p:cNvPr>
            <p:cNvSpPr/>
            <p:nvPr/>
          </p:nvSpPr>
          <p:spPr>
            <a:xfrm>
              <a:off x="477586" y="3369568"/>
              <a:ext cx="2850574" cy="1238744"/>
            </a:xfrm>
            <a:prstGeom prst="cube">
              <a:avLst>
                <a:gd name="adj" fmla="val 82867"/>
              </a:avLst>
            </a:prstGeom>
            <a:solidFill>
              <a:srgbClr val="C28745">
                <a:alpha val="64706"/>
              </a:srgb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7A08C8D6-701B-4CCC-853A-0026AF20F220}"/>
                </a:ext>
              </a:extLst>
            </p:cNvPr>
            <p:cNvSpPr/>
            <p:nvPr/>
          </p:nvSpPr>
          <p:spPr>
            <a:xfrm>
              <a:off x="477586" y="3163231"/>
              <a:ext cx="2850574" cy="1238744"/>
            </a:xfrm>
            <a:prstGeom prst="cube">
              <a:avLst>
                <a:gd name="adj" fmla="val 82867"/>
              </a:avLst>
            </a:prstGeom>
            <a:solidFill>
              <a:srgbClr val="399758">
                <a:alpha val="65098"/>
              </a:srgb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8E8DA8D-26C0-4D96-9BD4-3F40BB53F73B}"/>
              </a:ext>
            </a:extLst>
          </p:cNvPr>
          <p:cNvSpPr txBox="1"/>
          <p:nvPr/>
        </p:nvSpPr>
        <p:spPr>
          <a:xfrm>
            <a:off x="742789" y="5674179"/>
            <a:ext cx="1938831" cy="646331"/>
          </a:xfrm>
          <a:prstGeom prst="rect">
            <a:avLst/>
          </a:prstGeom>
          <a:solidFill>
            <a:srgbClr val="E8E8E8">
              <a:alpha val="58039"/>
            </a:srgb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No </a:t>
            </a:r>
            <a:r>
              <a:rPr lang="fr-FR" dirty="0" err="1"/>
              <a:t>heterogeneity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the plot</a:t>
            </a:r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4830019-7119-4864-824C-94730EF07374}"/>
              </a:ext>
            </a:extLst>
          </p:cNvPr>
          <p:cNvGrpSpPr/>
          <p:nvPr/>
        </p:nvGrpSpPr>
        <p:grpSpPr>
          <a:xfrm>
            <a:off x="9508115" y="2187473"/>
            <a:ext cx="2218522" cy="2851649"/>
            <a:chOff x="9508115" y="2368341"/>
            <a:chExt cx="2218522" cy="2851649"/>
          </a:xfrm>
        </p:grpSpPr>
        <p:sp>
          <p:nvSpPr>
            <p:cNvPr id="9" name="Content Placeholder 7">
              <a:extLst>
                <a:ext uri="{FF2B5EF4-FFF2-40B4-BE49-F238E27FC236}">
                  <a16:creationId xmlns:a16="http://schemas.microsoft.com/office/drawing/2014/main" id="{3944096A-74EF-4E2D-9E5D-E63FEDC5CCB4}"/>
                </a:ext>
              </a:extLst>
            </p:cNvPr>
            <p:cNvSpPr txBox="1">
              <a:spLocks/>
            </p:cNvSpPr>
            <p:nvPr/>
          </p:nvSpPr>
          <p:spPr>
            <a:xfrm>
              <a:off x="10008485" y="2368341"/>
              <a:ext cx="1217782" cy="623702"/>
            </a:xfrm>
            <a:prstGeom prst="rect">
              <a:avLst/>
            </a:prstGeom>
            <a:ln w="28575">
              <a:noFill/>
            </a:ln>
          </p:spPr>
          <p:txBody>
            <a:bodyPr vert="horz" lIns="91440" tIns="45720" rIns="91440" bIns="45720" rtlCol="0" anchor="ctr">
              <a:normAutofit/>
            </a:bodyPr>
            <a:lstStyle>
              <a:defPPr>
                <a:defRPr lang="fr-FR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82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 sz="2400" b="1" dirty="0">
                  <a:solidFill>
                    <a:schemeClr val="tx1"/>
                  </a:solidFill>
                </a:rPr>
                <a:t>FSPM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4A86C74-C963-45A8-B4F3-C7C162C44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508115" y="2591194"/>
              <a:ext cx="2218522" cy="2628796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441BA58-E6BC-4688-848A-E2A340D98CBD}"/>
              </a:ext>
            </a:extLst>
          </p:cNvPr>
          <p:cNvSpPr txBox="1"/>
          <p:nvPr/>
        </p:nvSpPr>
        <p:spPr>
          <a:xfrm>
            <a:off x="9777039" y="5674179"/>
            <a:ext cx="1680675" cy="646331"/>
          </a:xfrm>
          <a:prstGeom prst="rect">
            <a:avLst/>
          </a:prstGeom>
          <a:solidFill>
            <a:srgbClr val="E8E8E8">
              <a:alpha val="58039"/>
            </a:srgb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Heterogeneity</a:t>
            </a:r>
            <a:r>
              <a:rPr lang="fr-FR" dirty="0"/>
              <a:t> </a:t>
            </a:r>
            <a:r>
              <a:rPr lang="fr-FR" dirty="0" err="1"/>
              <a:t>among</a:t>
            </a:r>
            <a:r>
              <a:rPr lang="fr-FR" dirty="0"/>
              <a:t> </a:t>
            </a:r>
            <a:r>
              <a:rPr lang="fr-FR" dirty="0" err="1"/>
              <a:t>organs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B8AB19-D738-4665-A13D-D077DA44980A}"/>
              </a:ext>
            </a:extLst>
          </p:cNvPr>
          <p:cNvSpPr txBox="1"/>
          <p:nvPr/>
        </p:nvSpPr>
        <p:spPr>
          <a:xfrm>
            <a:off x="5388992" y="5674178"/>
            <a:ext cx="1680675" cy="646331"/>
          </a:xfrm>
          <a:prstGeom prst="rect">
            <a:avLst/>
          </a:prstGeom>
          <a:solidFill>
            <a:srgbClr val="E8E8E8">
              <a:alpha val="58039"/>
            </a:srgb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Heterogeneity</a:t>
            </a:r>
            <a:r>
              <a:rPr lang="fr-FR" dirty="0"/>
              <a:t> </a:t>
            </a:r>
            <a:r>
              <a:rPr lang="fr-FR" dirty="0" err="1"/>
              <a:t>among</a:t>
            </a:r>
            <a:r>
              <a:rPr lang="fr-FR" dirty="0"/>
              <a:t> plants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E9F7463-E094-42FE-961D-09A1C0CB2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40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3" grpId="0"/>
      <p:bldP spid="11" grpId="0" animBg="1"/>
      <p:bldP spid="12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E23F65-F125-464F-A7F3-FBD4BB6F6317}"/>
              </a:ext>
            </a:extLst>
          </p:cNvPr>
          <p:cNvSpPr/>
          <p:nvPr/>
        </p:nvSpPr>
        <p:spPr>
          <a:xfrm>
            <a:off x="8072722" y="2304661"/>
            <a:ext cx="3811370" cy="4304065"/>
          </a:xfrm>
          <a:prstGeom prst="roundRect">
            <a:avLst/>
          </a:prstGeom>
          <a:solidFill>
            <a:srgbClr val="C28745">
              <a:alpha val="69804"/>
            </a:srgbClr>
          </a:solidFill>
          <a:ln>
            <a:solidFill>
              <a:srgbClr val="C28745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2EDD71F-B612-426D-B44A-87B585DE68DA}"/>
              </a:ext>
            </a:extLst>
          </p:cNvPr>
          <p:cNvSpPr/>
          <p:nvPr/>
        </p:nvSpPr>
        <p:spPr>
          <a:xfrm>
            <a:off x="4134303" y="2304661"/>
            <a:ext cx="3811370" cy="4319683"/>
          </a:xfrm>
          <a:prstGeom prst="roundRect">
            <a:avLst/>
          </a:prstGeom>
          <a:solidFill>
            <a:srgbClr val="F39200">
              <a:alpha val="69804"/>
            </a:srgbClr>
          </a:solidFill>
          <a:ln>
            <a:solidFill>
              <a:srgbClr val="F392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07CF0F-B1FE-4895-A46C-A70E498E4EDC}"/>
              </a:ext>
            </a:extLst>
          </p:cNvPr>
          <p:cNvSpPr/>
          <p:nvPr/>
        </p:nvSpPr>
        <p:spPr>
          <a:xfrm>
            <a:off x="307908" y="2304661"/>
            <a:ext cx="3699346" cy="4319683"/>
          </a:xfrm>
          <a:prstGeom prst="roundRect">
            <a:avLst/>
          </a:prstGeom>
          <a:solidFill>
            <a:srgbClr val="399758">
              <a:alpha val="69804"/>
            </a:srgbClr>
          </a:solidFill>
          <a:ln>
            <a:solidFill>
              <a:srgbClr val="39975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057B95-F35D-C693-AE48-F6224EB5B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48" y="389"/>
            <a:ext cx="10515600" cy="1325563"/>
          </a:xfrm>
        </p:spPr>
        <p:txBody>
          <a:bodyPr>
            <a:normAutofit/>
          </a:bodyPr>
          <a:lstStyle/>
          <a:p>
            <a:r>
              <a:rPr lang="fr-FR" sz="3600" dirty="0" err="1"/>
              <a:t>My</a:t>
            </a:r>
            <a:r>
              <a:rPr lang="fr-FR" sz="3600" dirty="0"/>
              <a:t> PhD : </a:t>
            </a:r>
            <a:r>
              <a:rPr lang="fr-FR" sz="2800" dirty="0" err="1"/>
              <a:t>Multiscale</a:t>
            </a:r>
            <a:r>
              <a:rPr lang="fr-FR" sz="2800" dirty="0"/>
              <a:t> </a:t>
            </a:r>
            <a:r>
              <a:rPr lang="fr-FR" sz="2800" dirty="0" err="1"/>
              <a:t>hybrid</a:t>
            </a:r>
            <a:r>
              <a:rPr lang="fr-FR" sz="2800" dirty="0"/>
              <a:t> </a:t>
            </a:r>
            <a:r>
              <a:rPr lang="fr-FR" sz="2800" dirty="0" err="1"/>
              <a:t>modelling</a:t>
            </a:r>
            <a:r>
              <a:rPr lang="fr-FR" sz="2800" dirty="0"/>
              <a:t> for </a:t>
            </a:r>
            <a:r>
              <a:rPr lang="fr-FR" sz="2800" dirty="0" err="1"/>
              <a:t>intercrops</a:t>
            </a:r>
            <a:r>
              <a:rPr lang="fr-FR" sz="2800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8CCA93-EA18-4579-6817-2FB13627C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128" y="2541726"/>
            <a:ext cx="3202786" cy="39718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Chapter</a:t>
            </a:r>
            <a:r>
              <a:rPr lang="fr-FR" b="1" dirty="0"/>
              <a:t> I </a:t>
            </a:r>
          </a:p>
          <a:p>
            <a:pPr marL="0" indent="0">
              <a:buNone/>
            </a:pPr>
            <a:r>
              <a:rPr lang="fr-FR" sz="2400" dirty="0"/>
              <a:t>Conception of a Structural </a:t>
            </a:r>
            <a:r>
              <a:rPr lang="fr-FR" sz="2400" dirty="0" err="1"/>
              <a:t>Parametric</a:t>
            </a:r>
            <a:r>
              <a:rPr lang="fr-FR" sz="2400" dirty="0"/>
              <a:t> Plant Model (SPPM)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i="1" dirty="0"/>
              <a:t>How to </a:t>
            </a:r>
            <a:r>
              <a:rPr lang="fr-FR" sz="2400" i="1" dirty="0" err="1"/>
              <a:t>conceive</a:t>
            </a:r>
            <a:r>
              <a:rPr lang="fr-FR" sz="2400" i="1" dirty="0"/>
              <a:t> a model </a:t>
            </a:r>
            <a:r>
              <a:rPr lang="fr-FR" sz="2400" i="1" dirty="0" err="1"/>
              <a:t>that</a:t>
            </a:r>
            <a:r>
              <a:rPr lang="fr-FR" sz="2400" i="1" dirty="0"/>
              <a:t> </a:t>
            </a:r>
            <a:r>
              <a:rPr lang="fr-FR" sz="2400" i="1" dirty="0" err="1"/>
              <a:t>reproduces</a:t>
            </a:r>
            <a:r>
              <a:rPr lang="fr-FR" sz="2400" i="1" dirty="0"/>
              <a:t> the </a:t>
            </a:r>
            <a:r>
              <a:rPr lang="fr-FR" sz="2400" b="1" i="1" dirty="0" err="1"/>
              <a:t>growth</a:t>
            </a:r>
            <a:r>
              <a:rPr lang="fr-FR" sz="2400" b="1" i="1" dirty="0"/>
              <a:t> of a </a:t>
            </a:r>
            <a:r>
              <a:rPr lang="fr-FR" sz="2400" b="1" i="1" dirty="0" err="1"/>
              <a:t>crop</a:t>
            </a:r>
            <a:r>
              <a:rPr lang="fr-FR" sz="2400" b="1" i="1" dirty="0"/>
              <a:t> model</a:t>
            </a:r>
            <a:r>
              <a:rPr lang="fr-FR" sz="2400" i="1" dirty="0"/>
              <a:t> </a:t>
            </a:r>
            <a:r>
              <a:rPr lang="fr-FR" sz="2400" i="1" dirty="0" err="1"/>
              <a:t>while</a:t>
            </a:r>
            <a:r>
              <a:rPr lang="fr-FR" sz="2400" i="1" dirty="0"/>
              <a:t> </a:t>
            </a:r>
            <a:r>
              <a:rPr lang="fr-FR" sz="2400" i="1" dirty="0" err="1"/>
              <a:t>considering</a:t>
            </a:r>
            <a:r>
              <a:rPr lang="fr-FR" sz="2400" i="1" dirty="0"/>
              <a:t> </a:t>
            </a:r>
            <a:r>
              <a:rPr lang="fr-FR" sz="2400" b="1" i="1" dirty="0"/>
              <a:t>plant architecture</a:t>
            </a:r>
            <a:r>
              <a:rPr lang="fr-FR" sz="2400" i="1" dirty="0"/>
              <a:t>?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A1F6667-290D-49AD-9176-73ACA1C1F769}"/>
              </a:ext>
            </a:extLst>
          </p:cNvPr>
          <p:cNvSpPr txBox="1">
            <a:spLocks/>
          </p:cNvSpPr>
          <p:nvPr/>
        </p:nvSpPr>
        <p:spPr>
          <a:xfrm>
            <a:off x="4326563" y="2541726"/>
            <a:ext cx="3514495" cy="38146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 err="1"/>
              <a:t>Chapter</a:t>
            </a:r>
            <a:r>
              <a:rPr lang="fr-FR" b="1" dirty="0"/>
              <a:t> II </a:t>
            </a:r>
          </a:p>
          <a:p>
            <a:pPr marL="0" indent="0">
              <a:buNone/>
            </a:pPr>
            <a:r>
              <a:rPr lang="fr-FR" sz="2400" dirty="0"/>
              <a:t>Method for </a:t>
            </a:r>
            <a:r>
              <a:rPr lang="fr-FR" sz="2400" dirty="0" err="1"/>
              <a:t>comparing</a:t>
            </a:r>
            <a:r>
              <a:rPr lang="fr-FR" sz="2400" dirty="0"/>
              <a:t> </a:t>
            </a:r>
            <a:r>
              <a:rPr lang="fr-FR" sz="2400" dirty="0" err="1"/>
              <a:t>ecophysiological</a:t>
            </a:r>
            <a:r>
              <a:rPr lang="fr-FR" sz="2400" dirty="0"/>
              <a:t> </a:t>
            </a:r>
            <a:r>
              <a:rPr lang="fr-FR" sz="2400" dirty="0" err="1"/>
              <a:t>processes</a:t>
            </a:r>
            <a:r>
              <a:rPr lang="fr-FR" sz="2400" dirty="0"/>
              <a:t> at </a:t>
            </a:r>
            <a:r>
              <a:rPr lang="fr-FR" sz="2400" dirty="0" err="1"/>
              <a:t>different</a:t>
            </a:r>
            <a:r>
              <a:rPr lang="fr-FR" sz="2400" dirty="0"/>
              <a:t> </a:t>
            </a:r>
            <a:r>
              <a:rPr lang="fr-FR" sz="2400" dirty="0" err="1"/>
              <a:t>scales</a:t>
            </a: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en-US" sz="2400" i="1" u="sng" dirty="0"/>
              <a:t>Which</a:t>
            </a:r>
            <a:r>
              <a:rPr lang="en-US" sz="2400" i="1" dirty="0"/>
              <a:t> </a:t>
            </a:r>
            <a:r>
              <a:rPr lang="en-US" sz="2400" b="1" i="1" dirty="0"/>
              <a:t>plant architectural traits</a:t>
            </a:r>
            <a:r>
              <a:rPr lang="en-US" sz="2400" i="1" dirty="0"/>
              <a:t> and </a:t>
            </a:r>
            <a:r>
              <a:rPr lang="en-US" sz="2400" b="1" i="1" dirty="0"/>
              <a:t>sowing factors </a:t>
            </a:r>
            <a:r>
              <a:rPr lang="en-US" sz="2400" i="1" dirty="0"/>
              <a:t>bring most of the </a:t>
            </a:r>
            <a:r>
              <a:rPr lang="en-US" sz="2400" b="1" i="1" dirty="0"/>
              <a:t>uncertainty</a:t>
            </a:r>
            <a:r>
              <a:rPr lang="en-US" sz="2400" i="1" dirty="0"/>
              <a:t> and should be considered</a:t>
            </a:r>
            <a:r>
              <a:rPr lang="en-US" sz="2400" b="1" i="1" dirty="0"/>
              <a:t> </a:t>
            </a:r>
            <a:r>
              <a:rPr lang="en-US" sz="2400" i="1" dirty="0"/>
              <a:t>explicitly</a:t>
            </a:r>
            <a:r>
              <a:rPr lang="en-US" sz="2400" b="1" i="1" dirty="0"/>
              <a:t> </a:t>
            </a:r>
            <a:r>
              <a:rPr lang="en-US" sz="2400" i="1" dirty="0"/>
              <a:t>in</a:t>
            </a:r>
            <a:r>
              <a:rPr lang="en-US" sz="2400" b="1" i="1" dirty="0"/>
              <a:t> </a:t>
            </a:r>
            <a:r>
              <a:rPr lang="en-US" sz="2400" i="1" dirty="0"/>
              <a:t>crop models?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3CA4DC9-2347-420C-BEAC-087797A0488F}"/>
              </a:ext>
            </a:extLst>
          </p:cNvPr>
          <p:cNvSpPr txBox="1">
            <a:spLocks/>
          </p:cNvSpPr>
          <p:nvPr/>
        </p:nvSpPr>
        <p:spPr>
          <a:xfrm>
            <a:off x="8274962" y="2541726"/>
            <a:ext cx="3406890" cy="3987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 err="1"/>
              <a:t>Chapter</a:t>
            </a:r>
            <a:r>
              <a:rPr lang="fr-FR" b="1" dirty="0"/>
              <a:t> III </a:t>
            </a:r>
          </a:p>
          <a:p>
            <a:pPr marL="0" indent="0">
              <a:buNone/>
            </a:pPr>
            <a:r>
              <a:rPr lang="fr-FR" sz="2400" dirty="0"/>
              <a:t>Proposition of multi-</a:t>
            </a:r>
            <a:r>
              <a:rPr lang="fr-FR" sz="2400" dirty="0" err="1"/>
              <a:t>scale</a:t>
            </a:r>
            <a:r>
              <a:rPr lang="fr-FR" sz="2400" dirty="0"/>
              <a:t> </a:t>
            </a:r>
            <a:r>
              <a:rPr lang="fr-FR" sz="2400" dirty="0" err="1"/>
              <a:t>modelling</a:t>
            </a:r>
            <a:r>
              <a:rPr lang="fr-FR" sz="2400" dirty="0"/>
              <a:t> </a:t>
            </a:r>
            <a:r>
              <a:rPr lang="fr-FR" sz="2400" dirty="0" err="1"/>
              <a:t>approaches</a:t>
            </a: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i="1" u="sng" dirty="0"/>
              <a:t>How</a:t>
            </a:r>
            <a:r>
              <a:rPr lang="fr-FR" sz="2400" i="1" dirty="0"/>
              <a:t> to </a:t>
            </a:r>
            <a:r>
              <a:rPr lang="fr-FR" sz="2400" b="1" i="1" dirty="0" err="1"/>
              <a:t>consider</a:t>
            </a:r>
            <a:r>
              <a:rPr lang="fr-FR" sz="2400" b="1" i="1" dirty="0"/>
              <a:t> </a:t>
            </a:r>
            <a:r>
              <a:rPr lang="fr-FR" sz="2400" b="1" i="1" dirty="0" err="1"/>
              <a:t>explicitly</a:t>
            </a:r>
            <a:r>
              <a:rPr lang="fr-FR" sz="2400" b="1" i="1" dirty="0"/>
              <a:t> </a:t>
            </a:r>
            <a:r>
              <a:rPr lang="fr-FR" sz="2400" i="1" dirty="0" err="1"/>
              <a:t>identified</a:t>
            </a:r>
            <a:r>
              <a:rPr lang="fr-FR" sz="2400" i="1" dirty="0"/>
              <a:t> </a:t>
            </a:r>
            <a:r>
              <a:rPr lang="fr-FR" sz="2400" i="1" dirty="0" err="1"/>
              <a:t>parameters</a:t>
            </a:r>
            <a:r>
              <a:rPr lang="fr-FR" sz="2400" i="1" dirty="0"/>
              <a:t> in </a:t>
            </a:r>
            <a:r>
              <a:rPr lang="fr-FR" sz="2400" b="1" i="1" dirty="0" err="1"/>
              <a:t>crop</a:t>
            </a:r>
            <a:r>
              <a:rPr lang="fr-FR" sz="2400" b="1" i="1" dirty="0"/>
              <a:t> </a:t>
            </a:r>
            <a:r>
              <a:rPr lang="fr-FR" sz="2400" b="1" i="1" dirty="0" err="1"/>
              <a:t>models</a:t>
            </a:r>
            <a:r>
              <a:rPr lang="fr-FR" sz="2400" i="1" dirty="0"/>
              <a:t> in </a:t>
            </a:r>
            <a:r>
              <a:rPr lang="fr-FR" sz="2400" i="1" dirty="0" err="1"/>
              <a:t>order</a:t>
            </a:r>
            <a:r>
              <a:rPr lang="fr-FR" sz="2400" i="1" dirty="0"/>
              <a:t> to </a:t>
            </a:r>
            <a:r>
              <a:rPr lang="fr-FR" sz="2400" i="1" dirty="0" err="1"/>
              <a:t>improve</a:t>
            </a:r>
            <a:r>
              <a:rPr lang="fr-FR" sz="2400" i="1" dirty="0"/>
              <a:t> </a:t>
            </a:r>
            <a:r>
              <a:rPr lang="fr-FR" sz="2400" i="1" dirty="0" err="1"/>
              <a:t>their</a:t>
            </a:r>
            <a:r>
              <a:rPr lang="fr-FR" sz="2400" i="1" dirty="0"/>
              <a:t> </a:t>
            </a:r>
            <a:r>
              <a:rPr lang="fr-FR" sz="2400" i="1" dirty="0" err="1"/>
              <a:t>accuracy</a:t>
            </a:r>
            <a:r>
              <a:rPr lang="fr-FR" sz="2400" i="1" dirty="0"/>
              <a:t>?</a:t>
            </a:r>
            <a:endParaRPr lang="fr-F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023A90-5157-4005-A976-38BB0A6FFD60}"/>
              </a:ext>
            </a:extLst>
          </p:cNvPr>
          <p:cNvSpPr txBox="1"/>
          <p:nvPr/>
        </p:nvSpPr>
        <p:spPr>
          <a:xfrm>
            <a:off x="1261993" y="1068530"/>
            <a:ext cx="95559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At what spatial and temporal scales should we model </a:t>
            </a:r>
            <a:r>
              <a:rPr lang="en-US" sz="2800" i="1" dirty="0" err="1"/>
              <a:t>ecophysiological</a:t>
            </a:r>
            <a:r>
              <a:rPr lang="en-US" sz="2800" i="1" dirty="0"/>
              <a:t> processes for intercrops?</a:t>
            </a:r>
            <a:endParaRPr lang="fr-FR" sz="2800" i="1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67720C-0A92-4BD7-8CEE-EB4786CC3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802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35DF3EB2-CE48-4324-9BFC-FB238031EC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4" y="4385679"/>
            <a:ext cx="2380141" cy="15392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1540FB7-9D31-4089-97C0-4A89AA43D80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28"/>
          <a:stretch/>
        </p:blipFill>
        <p:spPr>
          <a:xfrm>
            <a:off x="593002" y="2165133"/>
            <a:ext cx="6518754" cy="39886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D6B419-5093-45C1-8DAC-9441E378E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37" y="128826"/>
            <a:ext cx="10541569" cy="1038953"/>
          </a:xfrm>
        </p:spPr>
        <p:txBody>
          <a:bodyPr>
            <a:normAutofit/>
          </a:bodyPr>
          <a:lstStyle/>
          <a:p>
            <a:r>
              <a:rPr lang="fr-FR" sz="3200" dirty="0"/>
              <a:t>Conception of a Structural </a:t>
            </a:r>
            <a:r>
              <a:rPr lang="fr-FR" sz="3200" dirty="0" err="1"/>
              <a:t>Parametric</a:t>
            </a:r>
            <a:r>
              <a:rPr lang="fr-FR" sz="3200" dirty="0"/>
              <a:t> Plant Model (SPPM)</a:t>
            </a:r>
            <a:endParaRPr lang="en-US" sz="3200" dirty="0"/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41DC497A-1332-4E6A-8D52-2F25F570365E}"/>
              </a:ext>
            </a:extLst>
          </p:cNvPr>
          <p:cNvSpPr txBox="1">
            <a:spLocks/>
          </p:cNvSpPr>
          <p:nvPr/>
        </p:nvSpPr>
        <p:spPr>
          <a:xfrm>
            <a:off x="7685402" y="1094618"/>
            <a:ext cx="3238659" cy="1674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3D+t </a:t>
            </a:r>
            <a:r>
              <a:rPr lang="en-US" sz="2400" dirty="0" err="1"/>
              <a:t>architectured</a:t>
            </a:r>
            <a:r>
              <a:rPr lang="en-US" sz="2400" dirty="0"/>
              <a:t> parametric model</a:t>
            </a:r>
          </a:p>
          <a:p>
            <a:pPr marL="0" indent="0">
              <a:buNone/>
            </a:pPr>
            <a:r>
              <a:rPr lang="fr-FR" sz="2400" dirty="0"/>
              <a:t>(</a:t>
            </a:r>
            <a:r>
              <a:rPr lang="fr-FR" sz="2400" dirty="0" err="1"/>
              <a:t>topology</a:t>
            </a:r>
            <a:r>
              <a:rPr lang="fr-FR" sz="2400" dirty="0"/>
              <a:t>, </a:t>
            </a:r>
            <a:r>
              <a:rPr lang="fr-FR" sz="2400" dirty="0" err="1"/>
              <a:t>geometry</a:t>
            </a:r>
            <a:r>
              <a:rPr lang="fr-FR" sz="2400" dirty="0"/>
              <a:t>, </a:t>
            </a:r>
            <a:r>
              <a:rPr lang="fr-FR" sz="2400" dirty="0" err="1"/>
              <a:t>development</a:t>
            </a:r>
            <a:r>
              <a:rPr lang="fr-FR" sz="2400" dirty="0"/>
              <a:t>)</a:t>
            </a:r>
          </a:p>
          <a:p>
            <a:pPr algn="ctr"/>
            <a:endParaRPr lang="fr-FR" sz="2400" dirty="0"/>
          </a:p>
          <a:p>
            <a:pPr algn="ctr"/>
            <a:endParaRPr lang="en-US" sz="2400" dirty="0"/>
          </a:p>
          <a:p>
            <a:endParaRPr lang="fr-FR" sz="2400" dirty="0"/>
          </a:p>
          <a:p>
            <a:endParaRPr lang="en-US" sz="2400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72F7F9DB-4A27-4E7B-B1BB-E8B0AC06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10</a:t>
            </a:fld>
            <a:endParaRPr lang="fr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1CFB15-F5D2-48C0-926D-0B650621A026}"/>
              </a:ext>
            </a:extLst>
          </p:cNvPr>
          <p:cNvSpPr txBox="1"/>
          <p:nvPr/>
        </p:nvSpPr>
        <p:spPr>
          <a:xfrm>
            <a:off x="7639576" y="2855893"/>
            <a:ext cx="390967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prstClr val="black"/>
                </a:solidFill>
              </a:rPr>
              <a:t>constrained by growth dynamics</a:t>
            </a:r>
          </a:p>
          <a:p>
            <a:pPr marL="342900" lvl="0" indent="-342900">
              <a:buFont typeface="Wingdings" panose="05000000000000000000" pitchFamily="2" charset="2"/>
              <a:buChar char="à"/>
            </a:pPr>
            <a:endParaRPr lang="en-US" sz="2400" dirty="0">
              <a:solidFill>
                <a:prstClr val="black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prstClr val="black"/>
                </a:solidFill>
              </a:rPr>
              <a:t>degrees of freedom linked to plant architecture &amp; spatial configuration</a:t>
            </a:r>
          </a:p>
          <a:p>
            <a:pPr marL="342900" lvl="0" indent="-342900">
              <a:buFont typeface="Wingdings" panose="05000000000000000000" pitchFamily="2" charset="2"/>
              <a:buChar char="à"/>
            </a:pPr>
            <a:endParaRPr lang="en-US" sz="2400" dirty="0">
              <a:solidFill>
                <a:prstClr val="black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à"/>
            </a:pPr>
            <a:endParaRPr lang="en-US" sz="2400" dirty="0">
              <a:solidFill>
                <a:prstClr val="black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prstClr val="black"/>
                </a:solidFill>
              </a:rPr>
              <a:t>heterogeneity among plants and organs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3BDA53F-EFD4-4977-A2A9-21F17214E101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6516414" y="1931808"/>
            <a:ext cx="1168988" cy="1033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Content Placeholder 6">
            <a:extLst>
              <a:ext uri="{FF2B5EF4-FFF2-40B4-BE49-F238E27FC236}">
                <a16:creationId xmlns:a16="http://schemas.microsoft.com/office/drawing/2014/main" id="{DAD7A31D-2B03-4BA2-8D2A-181365565A0C}"/>
              </a:ext>
            </a:extLst>
          </p:cNvPr>
          <p:cNvSpPr txBox="1">
            <a:spLocks/>
          </p:cNvSpPr>
          <p:nvPr/>
        </p:nvSpPr>
        <p:spPr>
          <a:xfrm>
            <a:off x="1267939" y="1392442"/>
            <a:ext cx="2695620" cy="1013321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400" b="1" dirty="0" err="1">
                <a:solidFill>
                  <a:schemeClr val="tx1"/>
                </a:solidFill>
              </a:rPr>
              <a:t>Crop</a:t>
            </a:r>
            <a:r>
              <a:rPr lang="fr-FR" sz="2400" b="1" dirty="0">
                <a:solidFill>
                  <a:schemeClr val="tx1"/>
                </a:solidFill>
              </a:rPr>
              <a:t> </a:t>
            </a:r>
            <a:r>
              <a:rPr lang="fr-FR" sz="2400" b="1" dirty="0" err="1">
                <a:solidFill>
                  <a:schemeClr val="tx1"/>
                </a:solidFill>
              </a:rPr>
              <a:t>models</a:t>
            </a:r>
            <a:endParaRPr lang="fr-FR" sz="24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0" name="Content Placeholder 7">
            <a:extLst>
              <a:ext uri="{FF2B5EF4-FFF2-40B4-BE49-F238E27FC236}">
                <a16:creationId xmlns:a16="http://schemas.microsoft.com/office/drawing/2014/main" id="{916C6AF1-30FC-4794-A0A4-DD97DBA53786}"/>
              </a:ext>
            </a:extLst>
          </p:cNvPr>
          <p:cNvSpPr txBox="1">
            <a:spLocks/>
          </p:cNvSpPr>
          <p:nvPr/>
        </p:nvSpPr>
        <p:spPr>
          <a:xfrm>
            <a:off x="4980798" y="1267485"/>
            <a:ext cx="1075319" cy="1210538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 dirty="0">
                <a:solidFill>
                  <a:schemeClr val="tx1"/>
                </a:solidFill>
              </a:rPr>
              <a:t>FSPM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7B00C1-BDA8-416D-B853-3B732214CCD2}"/>
              </a:ext>
            </a:extLst>
          </p:cNvPr>
          <p:cNvSpPr/>
          <p:nvPr/>
        </p:nvSpPr>
        <p:spPr>
          <a:xfrm>
            <a:off x="2984943" y="2065427"/>
            <a:ext cx="1699222" cy="19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17AFC-9440-4B3C-911C-96D1CFB63B4D}"/>
              </a:ext>
            </a:extLst>
          </p:cNvPr>
          <p:cNvSpPr txBox="1"/>
          <p:nvPr/>
        </p:nvSpPr>
        <p:spPr>
          <a:xfrm>
            <a:off x="6168522" y="1627776"/>
            <a:ext cx="14710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dirty="0"/>
              <a:t>(ADEL, Fournier et al., 2003)</a:t>
            </a:r>
          </a:p>
        </p:txBody>
      </p:sp>
    </p:spTree>
    <p:extLst>
      <p:ext uri="{BB962C8B-B14F-4D97-AF65-F5344CB8AC3E}">
        <p14:creationId xmlns:p14="http://schemas.microsoft.com/office/powerpoint/2010/main" val="3204235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BFE71-EC29-4506-AB26-37E2A342E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68"/>
            <a:ext cx="10515600" cy="1325563"/>
          </a:xfrm>
        </p:spPr>
        <p:txBody>
          <a:bodyPr>
            <a:normAutofit/>
          </a:bodyPr>
          <a:lstStyle/>
          <a:p>
            <a:r>
              <a:rPr lang="fr-FR" sz="3200" dirty="0" err="1"/>
              <a:t>Different</a:t>
            </a:r>
            <a:r>
              <a:rPr lang="fr-FR" sz="3200" dirty="0"/>
              <a:t> </a:t>
            </a:r>
            <a:r>
              <a:rPr lang="fr-FR" sz="3200" dirty="0" err="1"/>
              <a:t>scales</a:t>
            </a:r>
            <a:r>
              <a:rPr lang="fr-FR" sz="3200" dirty="0"/>
              <a:t> of </a:t>
            </a:r>
            <a:r>
              <a:rPr lang="fr-FR" sz="3200" dirty="0" err="1"/>
              <a:t>heterogeneity</a:t>
            </a:r>
            <a:r>
              <a:rPr lang="fr-FR" sz="3200" dirty="0"/>
              <a:t> for a </a:t>
            </a:r>
            <a:r>
              <a:rPr lang="fr-FR" sz="3200" dirty="0" err="1"/>
              <a:t>simulated</a:t>
            </a:r>
            <a:r>
              <a:rPr lang="fr-FR" sz="3200" dirty="0"/>
              <a:t> </a:t>
            </a:r>
            <a:r>
              <a:rPr lang="fr-FR" sz="3200" dirty="0" err="1"/>
              <a:t>intercrop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C23FC-D5BF-49FE-B3E7-563A4EF96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932" y="1666443"/>
            <a:ext cx="3187899" cy="2851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I</a:t>
            </a:r>
            <a:r>
              <a:rPr lang="fr-FR" b="1" dirty="0" err="1">
                <a:sym typeface="Wingdings" panose="05000000000000000000" pitchFamily="2" charset="2"/>
              </a:rPr>
              <a:t>nterspecific</a:t>
            </a:r>
            <a:r>
              <a:rPr lang="fr-FR" b="1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heterogeneity</a:t>
            </a: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Intercropping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sowing</a:t>
            </a:r>
            <a:r>
              <a:rPr lang="fr-FR" dirty="0">
                <a:sym typeface="Wingdings" panose="05000000000000000000" pitchFamily="2" charset="2"/>
              </a:rPr>
              <a:t> pattern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CD8E0C-ED5A-44EA-A762-E60539567E54}"/>
              </a:ext>
            </a:extLst>
          </p:cNvPr>
          <p:cNvSpPr/>
          <p:nvPr/>
        </p:nvSpPr>
        <p:spPr>
          <a:xfrm flipH="1">
            <a:off x="497693" y="4067508"/>
            <a:ext cx="443877" cy="209725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9871E-68F8-4DB3-8DD8-87F5D0579FA8}"/>
              </a:ext>
            </a:extLst>
          </p:cNvPr>
          <p:cNvSpPr/>
          <p:nvPr/>
        </p:nvSpPr>
        <p:spPr>
          <a:xfrm flipH="1">
            <a:off x="944132" y="4067508"/>
            <a:ext cx="443877" cy="209725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9F1D1-A385-4222-939E-44A8AA5D7EE5}"/>
              </a:ext>
            </a:extLst>
          </p:cNvPr>
          <p:cNvSpPr/>
          <p:nvPr/>
        </p:nvSpPr>
        <p:spPr>
          <a:xfrm flipH="1">
            <a:off x="1388925" y="4067508"/>
            <a:ext cx="443877" cy="209725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B746ED-0BAA-4F9B-86EB-6A23FE42AF23}"/>
              </a:ext>
            </a:extLst>
          </p:cNvPr>
          <p:cNvSpPr/>
          <p:nvPr/>
        </p:nvSpPr>
        <p:spPr>
          <a:xfrm flipH="1">
            <a:off x="1833726" y="4067508"/>
            <a:ext cx="443877" cy="209725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96D122C-508B-41DF-8EAD-5383887EDBFF}"/>
              </a:ext>
            </a:extLst>
          </p:cNvPr>
          <p:cNvSpPr txBox="1">
            <a:spLocks/>
          </p:cNvSpPr>
          <p:nvPr/>
        </p:nvSpPr>
        <p:spPr>
          <a:xfrm>
            <a:off x="5411520" y="1666443"/>
            <a:ext cx="3095695" cy="4132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 err="1">
                <a:sym typeface="Wingdings" panose="05000000000000000000" pitchFamily="2" charset="2"/>
              </a:rPr>
              <a:t>Intraspecific</a:t>
            </a:r>
            <a:r>
              <a:rPr lang="fr-FR" b="1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heterogeneity</a:t>
            </a: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Individual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variability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389F9-3977-47A6-8B65-014951082EB2}"/>
              </a:ext>
            </a:extLst>
          </p:cNvPr>
          <p:cNvSpPr/>
          <p:nvPr/>
        </p:nvSpPr>
        <p:spPr>
          <a:xfrm flipH="1">
            <a:off x="2422762" y="4067818"/>
            <a:ext cx="443877" cy="209725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018F0-57F8-4417-822A-F8E18802698E}"/>
              </a:ext>
            </a:extLst>
          </p:cNvPr>
          <p:cNvSpPr/>
          <p:nvPr/>
        </p:nvSpPr>
        <p:spPr>
          <a:xfrm flipH="1">
            <a:off x="2869195" y="4067818"/>
            <a:ext cx="443877" cy="209725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74CF50-E944-41B9-9D08-673723F583BB}"/>
              </a:ext>
            </a:extLst>
          </p:cNvPr>
          <p:cNvSpPr/>
          <p:nvPr/>
        </p:nvSpPr>
        <p:spPr>
          <a:xfrm flipH="1">
            <a:off x="3303478" y="4067818"/>
            <a:ext cx="443877" cy="209725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D60275-43D7-4950-8DC8-A36BD92B5A41}"/>
              </a:ext>
            </a:extLst>
          </p:cNvPr>
          <p:cNvSpPr/>
          <p:nvPr/>
        </p:nvSpPr>
        <p:spPr>
          <a:xfrm flipH="1">
            <a:off x="3748271" y="4069201"/>
            <a:ext cx="443877" cy="209725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A15BD-95E6-42D1-B1F2-32B3A5C56B7D}"/>
              </a:ext>
            </a:extLst>
          </p:cNvPr>
          <p:cNvSpPr/>
          <p:nvPr/>
        </p:nvSpPr>
        <p:spPr>
          <a:xfrm flipH="1">
            <a:off x="2412251" y="5455305"/>
            <a:ext cx="443877" cy="699001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2EBDB2-4C91-4D18-A62B-6DE612FEB3E3}"/>
              </a:ext>
            </a:extLst>
          </p:cNvPr>
          <p:cNvSpPr/>
          <p:nvPr/>
        </p:nvSpPr>
        <p:spPr>
          <a:xfrm flipH="1">
            <a:off x="2412251" y="4757752"/>
            <a:ext cx="443877" cy="699001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7EE099-6B27-4649-BED4-973F15AAE608}"/>
              </a:ext>
            </a:extLst>
          </p:cNvPr>
          <p:cNvSpPr/>
          <p:nvPr/>
        </p:nvSpPr>
        <p:spPr>
          <a:xfrm flipH="1">
            <a:off x="3231390" y="5456779"/>
            <a:ext cx="443877" cy="699001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B7EE6A-3DBE-4FEF-A5FB-6B0FA4620B93}"/>
              </a:ext>
            </a:extLst>
          </p:cNvPr>
          <p:cNvSpPr/>
          <p:nvPr/>
        </p:nvSpPr>
        <p:spPr>
          <a:xfrm flipH="1">
            <a:off x="3304960" y="4759227"/>
            <a:ext cx="443877" cy="699001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D62830-75AD-403D-8E21-D9F997E09E5B}"/>
              </a:ext>
            </a:extLst>
          </p:cNvPr>
          <p:cNvSpPr/>
          <p:nvPr/>
        </p:nvSpPr>
        <p:spPr>
          <a:xfrm flipH="1">
            <a:off x="2869195" y="4757754"/>
            <a:ext cx="443877" cy="699001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A057CD-A397-477E-AFC3-116A7D681B6D}"/>
              </a:ext>
            </a:extLst>
          </p:cNvPr>
          <p:cNvSpPr/>
          <p:nvPr/>
        </p:nvSpPr>
        <p:spPr>
          <a:xfrm flipH="1">
            <a:off x="2417252" y="5465813"/>
            <a:ext cx="443877" cy="699001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8D1066-C62B-4ED5-96ED-FC6F2637FE1A}"/>
              </a:ext>
            </a:extLst>
          </p:cNvPr>
          <p:cNvSpPr/>
          <p:nvPr/>
        </p:nvSpPr>
        <p:spPr>
          <a:xfrm flipH="1">
            <a:off x="3749761" y="4757753"/>
            <a:ext cx="443877" cy="699001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53ED22-F80C-43E8-8073-F3E10C8037CD}"/>
              </a:ext>
            </a:extLst>
          </p:cNvPr>
          <p:cNvSpPr/>
          <p:nvPr/>
        </p:nvSpPr>
        <p:spPr>
          <a:xfrm flipH="1">
            <a:off x="3320318" y="5465813"/>
            <a:ext cx="443877" cy="699001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291AF53-E1F9-4083-85F2-339A88037782}"/>
              </a:ext>
            </a:extLst>
          </p:cNvPr>
          <p:cNvGrpSpPr/>
          <p:nvPr/>
        </p:nvGrpSpPr>
        <p:grpSpPr>
          <a:xfrm>
            <a:off x="5189861" y="3993936"/>
            <a:ext cx="2725913" cy="2199233"/>
            <a:chOff x="4990353" y="3710866"/>
            <a:chExt cx="3468158" cy="262944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925DA6-E92D-4ED0-9465-A2F8CC42D8FC}"/>
                </a:ext>
              </a:extLst>
            </p:cNvPr>
            <p:cNvSpPr/>
            <p:nvPr/>
          </p:nvSpPr>
          <p:spPr>
            <a:xfrm>
              <a:off x="4991665" y="3710866"/>
              <a:ext cx="861134" cy="2601034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shade val="30000"/>
                    <a:satMod val="115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9D6FB8-2364-4189-AF12-CE9CE60D5899}"/>
                </a:ext>
              </a:extLst>
            </p:cNvPr>
            <p:cNvSpPr/>
            <p:nvPr/>
          </p:nvSpPr>
          <p:spPr>
            <a:xfrm>
              <a:off x="5852799" y="3710866"/>
              <a:ext cx="861134" cy="2601034"/>
            </a:xfrm>
            <a:prstGeom prst="rect">
              <a:avLst/>
            </a:prstGeom>
            <a:gradFill flip="none" rotWithShape="1">
              <a:gsLst>
                <a:gs pos="0">
                  <a:srgbClr val="F39200">
                    <a:shade val="30000"/>
                    <a:satMod val="115000"/>
                  </a:srgbClr>
                </a:gs>
                <a:gs pos="50000">
                  <a:srgbClr val="F39200">
                    <a:shade val="67500"/>
                    <a:satMod val="115000"/>
                  </a:srgbClr>
                </a:gs>
                <a:gs pos="100000">
                  <a:srgbClr val="F392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859B74D-03C7-495A-822B-BAE86BDD3FB9}"/>
                </a:ext>
              </a:extLst>
            </p:cNvPr>
            <p:cNvSpPr/>
            <p:nvPr/>
          </p:nvSpPr>
          <p:spPr>
            <a:xfrm>
              <a:off x="6713933" y="3710866"/>
              <a:ext cx="861134" cy="2601034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shade val="30000"/>
                    <a:satMod val="115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21E039B-77C5-418A-A627-C44263B6DF1A}"/>
                </a:ext>
              </a:extLst>
            </p:cNvPr>
            <p:cNvSpPr/>
            <p:nvPr/>
          </p:nvSpPr>
          <p:spPr>
            <a:xfrm>
              <a:off x="7575067" y="3710866"/>
              <a:ext cx="861134" cy="2601034"/>
            </a:xfrm>
            <a:prstGeom prst="rect">
              <a:avLst/>
            </a:prstGeom>
            <a:gradFill flip="none" rotWithShape="1">
              <a:gsLst>
                <a:gs pos="0">
                  <a:srgbClr val="F39200">
                    <a:shade val="30000"/>
                    <a:satMod val="115000"/>
                  </a:srgbClr>
                </a:gs>
                <a:gs pos="50000">
                  <a:srgbClr val="F39200">
                    <a:shade val="67500"/>
                    <a:satMod val="115000"/>
                  </a:srgbClr>
                </a:gs>
                <a:gs pos="100000">
                  <a:srgbClr val="F392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58619E-56F5-43F6-B84B-B0E10B1CAC13}"/>
                </a:ext>
              </a:extLst>
            </p:cNvPr>
            <p:cNvSpPr/>
            <p:nvPr/>
          </p:nvSpPr>
          <p:spPr>
            <a:xfrm flipH="1">
              <a:off x="4990354" y="5612953"/>
              <a:ext cx="443877" cy="699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E0E76D6-8CAB-466E-9B91-B590B5B4D2E6}"/>
                </a:ext>
              </a:extLst>
            </p:cNvPr>
            <p:cNvSpPr/>
            <p:nvPr/>
          </p:nvSpPr>
          <p:spPr>
            <a:xfrm flipH="1">
              <a:off x="5415932" y="5625538"/>
              <a:ext cx="443877" cy="69900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88B8294-2CFB-4CA4-9365-BF11A9160774}"/>
                </a:ext>
              </a:extLst>
            </p:cNvPr>
            <p:cNvSpPr/>
            <p:nvPr/>
          </p:nvSpPr>
          <p:spPr>
            <a:xfrm flipH="1">
              <a:off x="5399880" y="3721787"/>
              <a:ext cx="443877" cy="699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DEEA983-1FFE-4D06-BA09-03BAE9400DF1}"/>
                </a:ext>
              </a:extLst>
            </p:cNvPr>
            <p:cNvSpPr/>
            <p:nvPr/>
          </p:nvSpPr>
          <p:spPr>
            <a:xfrm flipH="1">
              <a:off x="4997517" y="4414431"/>
              <a:ext cx="443877" cy="699001"/>
            </a:xfrm>
            <a:prstGeom prst="rect">
              <a:avLst/>
            </a:prstGeom>
            <a:solidFill>
              <a:srgbClr val="399758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A43C75D-FEB5-486E-AAE2-6301B131C94A}"/>
                </a:ext>
              </a:extLst>
            </p:cNvPr>
            <p:cNvSpPr/>
            <p:nvPr/>
          </p:nvSpPr>
          <p:spPr>
            <a:xfrm flipH="1">
              <a:off x="5411521" y="4427070"/>
              <a:ext cx="443877" cy="699001"/>
            </a:xfrm>
            <a:prstGeom prst="rect">
              <a:avLst/>
            </a:prstGeom>
            <a:solidFill>
              <a:srgbClr val="24743A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A74C614-4E5B-4DC7-AF68-F67241A5D8C9}"/>
                </a:ext>
              </a:extLst>
            </p:cNvPr>
            <p:cNvSpPr/>
            <p:nvPr/>
          </p:nvSpPr>
          <p:spPr>
            <a:xfrm flipH="1">
              <a:off x="5005905" y="5071607"/>
              <a:ext cx="443877" cy="6990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F25FBC8-227D-46B2-AE38-BC2FBC3DBF2F}"/>
                </a:ext>
              </a:extLst>
            </p:cNvPr>
            <p:cNvSpPr/>
            <p:nvPr/>
          </p:nvSpPr>
          <p:spPr>
            <a:xfrm flipH="1">
              <a:off x="5423998" y="5113432"/>
              <a:ext cx="443877" cy="6990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3DB7384-1DEA-4ADE-887B-F71EB13D5F21}"/>
                </a:ext>
              </a:extLst>
            </p:cNvPr>
            <p:cNvSpPr/>
            <p:nvPr/>
          </p:nvSpPr>
          <p:spPr>
            <a:xfrm flipH="1">
              <a:off x="4990353" y="3731422"/>
              <a:ext cx="443877" cy="69900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A65899F-D1F6-421C-A88E-7607D0AEC454}"/>
                </a:ext>
              </a:extLst>
            </p:cNvPr>
            <p:cNvSpPr/>
            <p:nvPr/>
          </p:nvSpPr>
          <p:spPr>
            <a:xfrm>
              <a:off x="6699593" y="3726636"/>
              <a:ext cx="861134" cy="2601034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shade val="30000"/>
                    <a:satMod val="115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574DC8D-F01F-4FBB-BC6E-F21D432B545C}"/>
                </a:ext>
              </a:extLst>
            </p:cNvPr>
            <p:cNvSpPr/>
            <p:nvPr/>
          </p:nvSpPr>
          <p:spPr>
            <a:xfrm flipH="1">
              <a:off x="6698282" y="5628723"/>
              <a:ext cx="443877" cy="699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6C0F730-F76C-48A3-8E1E-F1A7FF78B1B9}"/>
                </a:ext>
              </a:extLst>
            </p:cNvPr>
            <p:cNvSpPr/>
            <p:nvPr/>
          </p:nvSpPr>
          <p:spPr>
            <a:xfrm flipH="1">
              <a:off x="7123860" y="5641308"/>
              <a:ext cx="443877" cy="69900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9E2BC55-680D-4B2C-885E-8ADE2B0E8E7D}"/>
                </a:ext>
              </a:extLst>
            </p:cNvPr>
            <p:cNvSpPr/>
            <p:nvPr/>
          </p:nvSpPr>
          <p:spPr>
            <a:xfrm flipH="1">
              <a:off x="7107808" y="3737557"/>
              <a:ext cx="443877" cy="699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8FA89E6-FD47-44B1-84CF-E08D50FE1E93}"/>
                </a:ext>
              </a:extLst>
            </p:cNvPr>
            <p:cNvSpPr/>
            <p:nvPr/>
          </p:nvSpPr>
          <p:spPr>
            <a:xfrm flipH="1">
              <a:off x="6705445" y="4430201"/>
              <a:ext cx="443877" cy="699001"/>
            </a:xfrm>
            <a:prstGeom prst="rect">
              <a:avLst/>
            </a:prstGeom>
            <a:solidFill>
              <a:srgbClr val="399758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D6BADC3-B58D-429E-918A-1C7A428BEF3F}"/>
                </a:ext>
              </a:extLst>
            </p:cNvPr>
            <p:cNvSpPr/>
            <p:nvPr/>
          </p:nvSpPr>
          <p:spPr>
            <a:xfrm flipH="1">
              <a:off x="7119449" y="4442840"/>
              <a:ext cx="443877" cy="699001"/>
            </a:xfrm>
            <a:prstGeom prst="rect">
              <a:avLst/>
            </a:prstGeom>
            <a:solidFill>
              <a:srgbClr val="24743A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E454878-6708-46C7-8D63-423BB3D03CC9}"/>
                </a:ext>
              </a:extLst>
            </p:cNvPr>
            <p:cNvSpPr/>
            <p:nvPr/>
          </p:nvSpPr>
          <p:spPr>
            <a:xfrm flipH="1">
              <a:off x="6713833" y="5087377"/>
              <a:ext cx="443877" cy="6990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807EE1F-A4DD-44CA-9FA3-6AE4DF57AFC9}"/>
                </a:ext>
              </a:extLst>
            </p:cNvPr>
            <p:cNvSpPr/>
            <p:nvPr/>
          </p:nvSpPr>
          <p:spPr>
            <a:xfrm flipH="1">
              <a:off x="7131926" y="5129202"/>
              <a:ext cx="443877" cy="6990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7F4AAC9-BACA-41EC-9849-E98CBA788266}"/>
                </a:ext>
              </a:extLst>
            </p:cNvPr>
            <p:cNvSpPr/>
            <p:nvPr/>
          </p:nvSpPr>
          <p:spPr>
            <a:xfrm flipH="1">
              <a:off x="6698281" y="3747192"/>
              <a:ext cx="443877" cy="69900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92B02A-7FE6-4BCF-8522-A0976FD2B7C9}"/>
                </a:ext>
              </a:extLst>
            </p:cNvPr>
            <p:cNvSpPr/>
            <p:nvPr/>
          </p:nvSpPr>
          <p:spPr>
            <a:xfrm flipH="1">
              <a:off x="5854311" y="3712245"/>
              <a:ext cx="443877" cy="699001"/>
            </a:xfrm>
            <a:prstGeom prst="rect">
              <a:avLst/>
            </a:prstGeom>
            <a:solidFill>
              <a:srgbClr val="F392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84C262D-AE7C-4FC2-B1B1-9809D983CEF9}"/>
                </a:ext>
              </a:extLst>
            </p:cNvPr>
            <p:cNvSpPr/>
            <p:nvPr/>
          </p:nvSpPr>
          <p:spPr>
            <a:xfrm flipH="1">
              <a:off x="6258415" y="4307082"/>
              <a:ext cx="443877" cy="699001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C68631A-EB34-4910-94F2-9E3456F92378}"/>
                </a:ext>
              </a:extLst>
            </p:cNvPr>
            <p:cNvSpPr/>
            <p:nvPr/>
          </p:nvSpPr>
          <p:spPr>
            <a:xfrm flipH="1">
              <a:off x="6285686" y="4974994"/>
              <a:ext cx="443877" cy="6990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A917354-10A6-4C45-9B55-899D66254678}"/>
                </a:ext>
              </a:extLst>
            </p:cNvPr>
            <p:cNvSpPr/>
            <p:nvPr/>
          </p:nvSpPr>
          <p:spPr>
            <a:xfrm flipH="1">
              <a:off x="5871548" y="4928427"/>
              <a:ext cx="443877" cy="69900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72ACF26-2FBF-4F1F-90C4-10073F882CA8}"/>
                </a:ext>
              </a:extLst>
            </p:cNvPr>
            <p:cNvSpPr/>
            <p:nvPr/>
          </p:nvSpPr>
          <p:spPr>
            <a:xfrm flipH="1">
              <a:off x="6275554" y="5635671"/>
              <a:ext cx="443877" cy="699001"/>
            </a:xfrm>
            <a:prstGeom prst="rect">
              <a:avLst/>
            </a:prstGeom>
            <a:solidFill>
              <a:srgbClr val="F392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87B81F4-F6FD-4765-B9E2-FF3630303966}"/>
                </a:ext>
              </a:extLst>
            </p:cNvPr>
            <p:cNvSpPr/>
            <p:nvPr/>
          </p:nvSpPr>
          <p:spPr>
            <a:xfrm flipH="1">
              <a:off x="5879616" y="5601081"/>
              <a:ext cx="443877" cy="699001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5AAE0F8-003E-4902-B6BA-FA9EC2D9C2FF}"/>
                </a:ext>
              </a:extLst>
            </p:cNvPr>
            <p:cNvSpPr/>
            <p:nvPr/>
          </p:nvSpPr>
          <p:spPr>
            <a:xfrm>
              <a:off x="7581747" y="3716124"/>
              <a:ext cx="861134" cy="2601034"/>
            </a:xfrm>
            <a:prstGeom prst="rect">
              <a:avLst/>
            </a:prstGeom>
            <a:gradFill flip="none" rotWithShape="1">
              <a:gsLst>
                <a:gs pos="0">
                  <a:srgbClr val="F39200">
                    <a:shade val="30000"/>
                    <a:satMod val="115000"/>
                  </a:srgbClr>
                </a:gs>
                <a:gs pos="50000">
                  <a:srgbClr val="F39200">
                    <a:shade val="67500"/>
                    <a:satMod val="115000"/>
                  </a:srgbClr>
                </a:gs>
                <a:gs pos="100000">
                  <a:srgbClr val="F392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C72976E-852C-41E7-9E62-C51E9BFF857B}"/>
                </a:ext>
              </a:extLst>
            </p:cNvPr>
            <p:cNvSpPr/>
            <p:nvPr/>
          </p:nvSpPr>
          <p:spPr>
            <a:xfrm flipH="1">
              <a:off x="7583259" y="3717503"/>
              <a:ext cx="443877" cy="699001"/>
            </a:xfrm>
            <a:prstGeom prst="rect">
              <a:avLst/>
            </a:prstGeom>
            <a:solidFill>
              <a:srgbClr val="F392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6A0B957-6A69-42D0-AC09-A87A58E26EAF}"/>
                </a:ext>
              </a:extLst>
            </p:cNvPr>
            <p:cNvSpPr/>
            <p:nvPr/>
          </p:nvSpPr>
          <p:spPr>
            <a:xfrm flipH="1">
              <a:off x="7987363" y="4312340"/>
              <a:ext cx="443877" cy="699001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7B9E32B-37E4-4E1D-993B-7766F1675869}"/>
                </a:ext>
              </a:extLst>
            </p:cNvPr>
            <p:cNvSpPr/>
            <p:nvPr/>
          </p:nvSpPr>
          <p:spPr>
            <a:xfrm flipH="1">
              <a:off x="8014634" y="4980252"/>
              <a:ext cx="443877" cy="6990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D6EAA25-4636-4ED6-88B1-1392186FF10A}"/>
                </a:ext>
              </a:extLst>
            </p:cNvPr>
            <p:cNvSpPr/>
            <p:nvPr/>
          </p:nvSpPr>
          <p:spPr>
            <a:xfrm flipH="1">
              <a:off x="7600496" y="4933685"/>
              <a:ext cx="443877" cy="69900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A3C5A82-EA90-4735-9F40-9B31E4938F44}"/>
                </a:ext>
              </a:extLst>
            </p:cNvPr>
            <p:cNvSpPr/>
            <p:nvPr/>
          </p:nvSpPr>
          <p:spPr>
            <a:xfrm flipH="1">
              <a:off x="8004502" y="5640929"/>
              <a:ext cx="443877" cy="699001"/>
            </a:xfrm>
            <a:prstGeom prst="rect">
              <a:avLst/>
            </a:prstGeom>
            <a:solidFill>
              <a:srgbClr val="F392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5A0DC20-53A6-4EEB-8397-A0FBD3EA145E}"/>
                </a:ext>
              </a:extLst>
            </p:cNvPr>
            <p:cNvSpPr/>
            <p:nvPr/>
          </p:nvSpPr>
          <p:spPr>
            <a:xfrm flipH="1">
              <a:off x="7608564" y="5606339"/>
              <a:ext cx="443877" cy="699001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6912F180-DF92-4319-AEE1-0FE6CFC44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673" y="3542100"/>
            <a:ext cx="2508946" cy="2940378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3D78C80E-9719-4E13-BCA0-496EE3704CB2}"/>
              </a:ext>
            </a:extLst>
          </p:cNvPr>
          <p:cNvSpPr txBox="1">
            <a:spLocks/>
          </p:cNvSpPr>
          <p:nvPr/>
        </p:nvSpPr>
        <p:spPr>
          <a:xfrm>
            <a:off x="9297335" y="1666443"/>
            <a:ext cx="2663437" cy="2851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b="1" dirty="0"/>
              <a:t>I</a:t>
            </a:r>
            <a:r>
              <a:rPr lang="fr-FR" b="1" dirty="0">
                <a:sym typeface="Wingdings" panose="05000000000000000000" pitchFamily="2" charset="2"/>
              </a:rPr>
              <a:t>nter-</a:t>
            </a:r>
            <a:r>
              <a:rPr lang="fr-FR" b="1" dirty="0" err="1">
                <a:sym typeface="Wingdings" panose="05000000000000000000" pitchFamily="2" charset="2"/>
              </a:rPr>
              <a:t>organs</a:t>
            </a:r>
            <a:r>
              <a:rPr lang="fr-FR" b="1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heterogeneity</a:t>
            </a:r>
            <a:endParaRPr lang="fr-FR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sym typeface="Wingdings" panose="05000000000000000000" pitchFamily="2" charset="2"/>
              </a:rPr>
              <a:t> Plant architecture</a:t>
            </a:r>
            <a:endParaRPr lang="en-US" dirty="0"/>
          </a:p>
        </p:txBody>
      </p:sp>
      <p:sp>
        <p:nvSpPr>
          <p:cNvPr id="64" name="Slide Number Placeholder 63">
            <a:extLst>
              <a:ext uri="{FF2B5EF4-FFF2-40B4-BE49-F238E27FC236}">
                <a16:creationId xmlns:a16="http://schemas.microsoft.com/office/drawing/2014/main" id="{08303FCC-F585-4ACB-B2AC-B102DAD52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11</a:t>
            </a:fld>
            <a:endParaRPr lang="fr-FR"/>
          </a:p>
        </p:txBody>
      </p:sp>
      <p:sp>
        <p:nvSpPr>
          <p:cNvPr id="65" name="Right Brace 64">
            <a:extLst>
              <a:ext uri="{FF2B5EF4-FFF2-40B4-BE49-F238E27FC236}">
                <a16:creationId xmlns:a16="http://schemas.microsoft.com/office/drawing/2014/main" id="{B714357F-4542-4759-9EBE-3876EFD281C7}"/>
              </a:ext>
            </a:extLst>
          </p:cNvPr>
          <p:cNvSpPr/>
          <p:nvPr/>
        </p:nvSpPr>
        <p:spPr>
          <a:xfrm rot="16200000">
            <a:off x="8363526" y="-1492948"/>
            <a:ext cx="273457" cy="6290415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012C73-C90C-43E7-A5E4-234171AE3E8F}"/>
              </a:ext>
            </a:extLst>
          </p:cNvPr>
          <p:cNvSpPr txBox="1"/>
          <p:nvPr/>
        </p:nvSpPr>
        <p:spPr>
          <a:xfrm>
            <a:off x="7748752" y="1020337"/>
            <a:ext cx="1723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constraints</a:t>
            </a:r>
          </a:p>
        </p:txBody>
      </p:sp>
    </p:spTree>
    <p:extLst>
      <p:ext uri="{BB962C8B-B14F-4D97-AF65-F5344CB8AC3E}">
        <p14:creationId xmlns:p14="http://schemas.microsoft.com/office/powerpoint/2010/main" val="2121198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04008B-0518-40EA-88AB-BED25D4873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35" y="1349359"/>
            <a:ext cx="7026452" cy="5481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D6B419-5093-45C1-8DAC-9441E378E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004"/>
            <a:ext cx="10515600" cy="984232"/>
          </a:xfrm>
        </p:spPr>
        <p:txBody>
          <a:bodyPr>
            <a:normAutofit/>
          </a:bodyPr>
          <a:lstStyle/>
          <a:p>
            <a:r>
              <a:rPr lang="fr-FR" sz="3100" dirty="0" err="1"/>
              <a:t>Constrain</a:t>
            </a:r>
            <a:r>
              <a:rPr lang="fr-FR" sz="3100" dirty="0"/>
              <a:t> the </a:t>
            </a:r>
            <a:r>
              <a:rPr lang="fr-FR" sz="3100" dirty="0" err="1"/>
              <a:t>growth</a:t>
            </a:r>
            <a:r>
              <a:rPr lang="fr-FR" sz="3100" dirty="0"/>
              <a:t> of plant </a:t>
            </a:r>
            <a:r>
              <a:rPr lang="fr-FR" sz="3100" dirty="0" err="1"/>
              <a:t>organs</a:t>
            </a:r>
            <a:r>
              <a:rPr lang="fr-FR" sz="3100" dirty="0"/>
              <a:t> </a:t>
            </a:r>
            <a:r>
              <a:rPr lang="fr-FR" sz="3100" dirty="0" err="1"/>
              <a:t>with</a:t>
            </a:r>
            <a:r>
              <a:rPr lang="fr-FR" sz="3100" dirty="0"/>
              <a:t> </a:t>
            </a:r>
            <a:r>
              <a:rPr lang="fr-FR" sz="3100" dirty="0" err="1"/>
              <a:t>crop</a:t>
            </a:r>
            <a:r>
              <a:rPr lang="fr-FR" sz="3100" dirty="0"/>
              <a:t> model outputs</a:t>
            </a:r>
            <a:endParaRPr lang="en-US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A093A-1D8D-4836-8E02-6EFCC6E8D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7245" y="1755229"/>
            <a:ext cx="4333370" cy="2188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How to </a:t>
            </a:r>
            <a:r>
              <a:rPr lang="fr-FR" sz="2000" b="1" dirty="0" err="1"/>
              <a:t>distribute</a:t>
            </a:r>
            <a:r>
              <a:rPr lang="fr-FR" sz="2000" b="1" dirty="0"/>
              <a:t> a </a:t>
            </a:r>
            <a:r>
              <a:rPr lang="fr-FR" sz="2000" b="1" dirty="0" err="1"/>
              <a:t>constrain</a:t>
            </a:r>
            <a:r>
              <a:rPr lang="fr-FR" sz="2000" b="1" dirty="0"/>
              <a:t> </a:t>
            </a:r>
            <a:r>
              <a:rPr lang="fr-FR" sz="2000" b="1" i="1" dirty="0"/>
              <a:t>c</a:t>
            </a:r>
            <a:r>
              <a:rPr lang="fr-FR" sz="2000" dirty="0"/>
              <a:t> (e.g. </a:t>
            </a:r>
            <a:r>
              <a:rPr lang="fr-FR" sz="2000" dirty="0" err="1"/>
              <a:t>leaf</a:t>
            </a:r>
            <a:r>
              <a:rPr lang="fr-FR" sz="2000" dirty="0"/>
              <a:t> area, </a:t>
            </a:r>
            <a:r>
              <a:rPr lang="fr-FR" sz="2000" dirty="0" err="1"/>
              <a:t>height</a:t>
            </a:r>
            <a:r>
              <a:rPr lang="fr-FR" sz="2000" dirty="0"/>
              <a:t>) </a:t>
            </a:r>
            <a:r>
              <a:rPr lang="fr-FR" sz="2000" dirty="0" err="1"/>
              <a:t>among</a:t>
            </a:r>
            <a:r>
              <a:rPr lang="fr-FR" sz="2000" dirty="0"/>
              <a:t> </a:t>
            </a:r>
            <a:r>
              <a:rPr lang="fr-FR" sz="2000" i="1" dirty="0"/>
              <a:t>n</a:t>
            </a:r>
            <a:r>
              <a:rPr lang="fr-FR" sz="2000" dirty="0"/>
              <a:t> </a:t>
            </a:r>
            <a:r>
              <a:rPr lang="fr-FR" sz="2000" dirty="0" err="1"/>
              <a:t>growing</a:t>
            </a:r>
            <a:r>
              <a:rPr lang="fr-FR" sz="2000" dirty="0"/>
              <a:t> </a:t>
            </a:r>
            <a:r>
              <a:rPr lang="fr-FR" sz="2000" dirty="0" err="1"/>
              <a:t>elements</a:t>
            </a:r>
            <a:r>
              <a:rPr lang="fr-FR" sz="2000" dirty="0"/>
              <a:t> ? </a:t>
            </a:r>
          </a:p>
          <a:p>
            <a:pPr marL="0" indent="0">
              <a:buNone/>
            </a:pPr>
            <a:r>
              <a:rPr lang="fr-FR" sz="2000" dirty="0">
                <a:sym typeface="Wingdings" panose="05000000000000000000" pitchFamily="2" charset="2"/>
              </a:rPr>
              <a:t> </a:t>
            </a:r>
            <a:r>
              <a:rPr lang="fr-FR" sz="2000" b="1" dirty="0" err="1">
                <a:sym typeface="Wingdings" panose="05000000000000000000" pitchFamily="2" charset="2"/>
              </a:rPr>
              <a:t>among</a:t>
            </a:r>
            <a:r>
              <a:rPr lang="fr-FR" sz="2000" b="1" dirty="0">
                <a:sym typeface="Wingdings" panose="05000000000000000000" pitchFamily="2" charset="2"/>
              </a:rPr>
              <a:t> plants</a:t>
            </a:r>
            <a:r>
              <a:rPr lang="fr-FR" sz="2000" dirty="0">
                <a:sym typeface="Wingdings" panose="05000000000000000000" pitchFamily="2" charset="2"/>
              </a:rPr>
              <a:t> in a </a:t>
            </a:r>
            <a:r>
              <a:rPr lang="fr-FR" sz="2000" dirty="0" err="1">
                <a:sym typeface="Wingdings" panose="05000000000000000000" pitchFamily="2" charset="2"/>
              </a:rPr>
              <a:t>canopy</a:t>
            </a:r>
            <a:r>
              <a:rPr lang="fr-FR" sz="2000" dirty="0">
                <a:sym typeface="Wingdings" panose="05000000000000000000" pitchFamily="2" charset="2"/>
              </a:rPr>
              <a:t> and </a:t>
            </a:r>
            <a:r>
              <a:rPr lang="fr-FR" sz="2000" b="1" dirty="0" err="1">
                <a:sym typeface="Wingdings" panose="05000000000000000000" pitchFamily="2" charset="2"/>
              </a:rPr>
              <a:t>among</a:t>
            </a:r>
            <a:r>
              <a:rPr lang="fr-FR" sz="2000" b="1" dirty="0">
                <a:sym typeface="Wingdings" panose="05000000000000000000" pitchFamily="2" charset="2"/>
              </a:rPr>
              <a:t> </a:t>
            </a:r>
            <a:r>
              <a:rPr lang="fr-FR" sz="2000" b="1" dirty="0" err="1">
                <a:sym typeface="Wingdings" panose="05000000000000000000" pitchFamily="2" charset="2"/>
              </a:rPr>
              <a:t>organs</a:t>
            </a:r>
            <a:r>
              <a:rPr lang="fr-FR" sz="2000" b="1" dirty="0">
                <a:sym typeface="Wingdings" panose="05000000000000000000" pitchFamily="2" charset="2"/>
              </a:rPr>
              <a:t> </a:t>
            </a:r>
            <a:r>
              <a:rPr lang="fr-FR" sz="2000" dirty="0" err="1">
                <a:sym typeface="Wingdings" panose="05000000000000000000" pitchFamily="2" charset="2"/>
              </a:rPr>
              <a:t>within</a:t>
            </a:r>
            <a:r>
              <a:rPr lang="fr-FR" sz="2000" dirty="0">
                <a:sym typeface="Wingdings" panose="05000000000000000000" pitchFamily="2" charset="2"/>
              </a:rPr>
              <a:t> a plant</a:t>
            </a:r>
            <a:endParaRPr lang="fr-FR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0C9826-3F92-4266-BF88-D88B1BD424E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1404812">
            <a:off x="3879232" y="3260145"/>
            <a:ext cx="3585213" cy="294291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B019D5-829B-4FD9-AA8A-77680837A39A}"/>
              </a:ext>
            </a:extLst>
          </p:cNvPr>
          <p:cNvCxnSpPr>
            <a:cxnSpLocks/>
          </p:cNvCxnSpPr>
          <p:nvPr/>
        </p:nvCxnSpPr>
        <p:spPr>
          <a:xfrm flipV="1">
            <a:off x="4742346" y="2352041"/>
            <a:ext cx="486961" cy="708011"/>
          </a:xfrm>
          <a:prstGeom prst="line">
            <a:avLst/>
          </a:prstGeom>
          <a:ln w="38100">
            <a:solidFill>
              <a:srgbClr val="F392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F614B6-F5C1-4FA7-A0CE-FAB114BF40CC}"/>
              </a:ext>
            </a:extLst>
          </p:cNvPr>
          <p:cNvCxnSpPr>
            <a:cxnSpLocks/>
          </p:cNvCxnSpPr>
          <p:nvPr/>
        </p:nvCxnSpPr>
        <p:spPr>
          <a:xfrm flipV="1">
            <a:off x="4769778" y="3053564"/>
            <a:ext cx="514890" cy="6484"/>
          </a:xfrm>
          <a:prstGeom prst="line">
            <a:avLst/>
          </a:prstGeom>
          <a:ln w="38100">
            <a:solidFill>
              <a:srgbClr val="F39200"/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72DAFF-E30B-48E5-820D-A3C3806EA930}"/>
              </a:ext>
            </a:extLst>
          </p:cNvPr>
          <p:cNvCxnSpPr>
            <a:cxnSpLocks/>
          </p:cNvCxnSpPr>
          <p:nvPr/>
        </p:nvCxnSpPr>
        <p:spPr>
          <a:xfrm flipH="1" flipV="1">
            <a:off x="5229307" y="2352041"/>
            <a:ext cx="2336" cy="708009"/>
          </a:xfrm>
          <a:prstGeom prst="line">
            <a:avLst/>
          </a:prstGeom>
          <a:ln w="38100">
            <a:solidFill>
              <a:srgbClr val="F39200"/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196810F-CC65-43BE-9205-D203369353E8}"/>
              </a:ext>
            </a:extLst>
          </p:cNvPr>
          <p:cNvSpPr txBox="1"/>
          <p:nvPr/>
        </p:nvSpPr>
        <p:spPr>
          <a:xfrm>
            <a:off x="4871690" y="3089434"/>
            <a:ext cx="454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73CB44-0D22-4E39-8454-9A6BF46DB670}"/>
              </a:ext>
            </a:extLst>
          </p:cNvPr>
          <p:cNvSpPr txBox="1"/>
          <p:nvPr/>
        </p:nvSpPr>
        <p:spPr>
          <a:xfrm>
            <a:off x="5350266" y="2527037"/>
            <a:ext cx="718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dLA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958CEAC-BDC1-4CCC-81FD-72125E807C2A}"/>
              </a:ext>
            </a:extLst>
          </p:cNvPr>
          <p:cNvCxnSpPr>
            <a:cxnSpLocks/>
          </p:cNvCxnSpPr>
          <p:nvPr/>
        </p:nvCxnSpPr>
        <p:spPr>
          <a:xfrm flipV="1">
            <a:off x="5661787" y="3943271"/>
            <a:ext cx="176785" cy="408314"/>
          </a:xfrm>
          <a:prstGeom prst="line">
            <a:avLst/>
          </a:prstGeom>
          <a:ln w="76200">
            <a:solidFill>
              <a:srgbClr val="F392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B309AA-A21D-484D-BF60-A6FA2003F523}"/>
              </a:ext>
            </a:extLst>
          </p:cNvPr>
          <p:cNvCxnSpPr>
            <a:cxnSpLocks/>
          </p:cNvCxnSpPr>
          <p:nvPr/>
        </p:nvCxnSpPr>
        <p:spPr>
          <a:xfrm flipH="1" flipV="1">
            <a:off x="5427013" y="4127428"/>
            <a:ext cx="181958" cy="358981"/>
          </a:xfrm>
          <a:prstGeom prst="line">
            <a:avLst/>
          </a:prstGeom>
          <a:ln w="76200">
            <a:solidFill>
              <a:srgbClr val="F392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26ABD6-F837-475E-A349-2E38814762BE}"/>
              </a:ext>
            </a:extLst>
          </p:cNvPr>
          <p:cNvCxnSpPr>
            <a:cxnSpLocks/>
          </p:cNvCxnSpPr>
          <p:nvPr/>
        </p:nvCxnSpPr>
        <p:spPr>
          <a:xfrm flipH="1">
            <a:off x="5475800" y="2978605"/>
            <a:ext cx="167042" cy="1168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F1258BB-D892-46C0-88D1-756218FD5D4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1242277">
            <a:off x="1621809" y="5352410"/>
            <a:ext cx="492930" cy="4593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8DA25F-AA81-4262-994A-1F00F7D656BA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1433908">
            <a:off x="1923239" y="4918566"/>
            <a:ext cx="1209111" cy="10420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E2D87E-90EF-4348-9021-92030C9B740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1426792">
            <a:off x="2584139" y="4185663"/>
            <a:ext cx="2365504" cy="21003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D1EE4B-0A89-46ED-B87B-6303130DA271}"/>
                  </a:ext>
                </a:extLst>
              </p:cNvPr>
              <p:cNvSpPr txBox="1"/>
              <p:nvPr/>
            </p:nvSpPr>
            <p:spPr>
              <a:xfrm>
                <a:off x="7736191" y="4019273"/>
                <a:ext cx="3867230" cy="21549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nor/>
                        </m:rPr>
                        <a:rPr lang="fr-FR" b="0" i="0" smtClean="0"/>
                        <m:t> </m:t>
                      </m:r>
                      <m:r>
                        <m:rPr>
                          <m:nor/>
                        </m:rPr>
                        <a:rPr lang="en-US"/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fr-FR" dirty="0"/>
              </a:p>
              <a:p>
                <a:endParaRPr lang="fr-FR" sz="1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fr-FR" sz="1600" dirty="0"/>
                  <a:t>: </a:t>
                </a:r>
                <a:r>
                  <a:rPr lang="fr-FR" sz="1600" dirty="0" err="1"/>
                  <a:t>growth</a:t>
                </a:r>
                <a:r>
                  <a:rPr lang="fr-FR" sz="1600" dirty="0"/>
                  <a:t> </a:t>
                </a:r>
                <a:r>
                  <a:rPr lang="fr-FR" sz="1600" dirty="0" err="1"/>
                  <a:t>increment</a:t>
                </a:r>
                <a:r>
                  <a:rPr lang="fr-FR" sz="1600" dirty="0"/>
                  <a:t> at </a:t>
                </a:r>
                <a:r>
                  <a:rPr lang="fr-FR" sz="1600" dirty="0" err="1"/>
                  <a:t>crop</a:t>
                </a:r>
                <a:r>
                  <a:rPr lang="fr-FR" sz="1600" dirty="0"/>
                  <a:t> </a:t>
                </a:r>
                <a:r>
                  <a:rPr lang="fr-FR" sz="1600" dirty="0" err="1"/>
                  <a:t>scale</a:t>
                </a:r>
                <a:r>
                  <a:rPr lang="fr-FR" sz="1600" dirty="0"/>
                  <a:t>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fr-FR" sz="1600" dirty="0"/>
                  <a:t>: </a:t>
                </a:r>
                <a:r>
                  <a:rPr lang="fr-FR" sz="1600" dirty="0" err="1"/>
                  <a:t>growth</a:t>
                </a:r>
                <a:r>
                  <a:rPr lang="fr-FR" sz="1600" dirty="0"/>
                  <a:t> </a:t>
                </a:r>
                <a:r>
                  <a:rPr lang="fr-FR" sz="1600" dirty="0" err="1"/>
                  <a:t>increment</a:t>
                </a:r>
                <a:r>
                  <a:rPr lang="fr-FR" sz="1600" dirty="0"/>
                  <a:t> for an </a:t>
                </a:r>
                <a:r>
                  <a:rPr lang="fr-FR" sz="1600" dirty="0" err="1"/>
                  <a:t>organ</a:t>
                </a:r>
                <a:endParaRPr lang="fr-FR" sz="1600" dirty="0"/>
              </a:p>
              <a:p>
                <a:r>
                  <a:rPr lang="fr-FR" sz="1600" dirty="0"/>
                  <a:t>P: set of plants of the </a:t>
                </a:r>
                <a:r>
                  <a:rPr lang="fr-FR" sz="1600" dirty="0" err="1"/>
                  <a:t>same</a:t>
                </a:r>
                <a:r>
                  <a:rPr lang="fr-FR" sz="1600" dirty="0"/>
                  <a:t> </a:t>
                </a:r>
                <a:r>
                  <a:rPr lang="fr-FR" sz="1600" dirty="0" err="1"/>
                  <a:t>species</a:t>
                </a:r>
                <a:r>
                  <a:rPr lang="fr-FR" sz="1600" dirty="0"/>
                  <a:t> in a </a:t>
                </a:r>
                <a:r>
                  <a:rPr lang="fr-FR" sz="1600" dirty="0" err="1"/>
                  <a:t>crop</a:t>
                </a:r>
                <a:endParaRPr lang="fr-FR" sz="1600" dirty="0"/>
              </a:p>
              <a:p>
                <a:r>
                  <a:rPr lang="fr-FR" sz="1600" dirty="0"/>
                  <a:t>G: set of </a:t>
                </a:r>
                <a:r>
                  <a:rPr lang="fr-FR" sz="1600" dirty="0" err="1"/>
                  <a:t>growing</a:t>
                </a:r>
                <a:r>
                  <a:rPr lang="fr-FR" sz="1600" dirty="0"/>
                  <a:t> </a:t>
                </a:r>
                <a:r>
                  <a:rPr lang="fr-FR" sz="1600" dirty="0" err="1"/>
                  <a:t>organs</a:t>
                </a:r>
                <a:r>
                  <a:rPr lang="fr-FR" sz="1600" dirty="0"/>
                  <a:t> in a plant</a:t>
                </a:r>
                <a:endParaRPr lang="en-US" sz="16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D1EE4B-0A89-46ED-B87B-6303130DA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191" y="4019273"/>
                <a:ext cx="3867230" cy="2154949"/>
              </a:xfrm>
              <a:prstGeom prst="rect">
                <a:avLst/>
              </a:prstGeom>
              <a:blipFill>
                <a:blip r:embed="rId8"/>
                <a:stretch>
                  <a:fillRect l="-3155" b="-4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50F7FB-A8B2-464B-B9CD-FF976BD0457D}"/>
              </a:ext>
            </a:extLst>
          </p:cNvPr>
          <p:cNvCxnSpPr>
            <a:cxnSpLocks/>
          </p:cNvCxnSpPr>
          <p:nvPr/>
        </p:nvCxnSpPr>
        <p:spPr>
          <a:xfrm>
            <a:off x="5661787" y="2978605"/>
            <a:ext cx="121853" cy="96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453FDDC7-4767-4DFA-9BE3-E09B365A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12</a:t>
            </a:fld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17DE34-2ED7-4B49-A83C-FBAA419F43E6}"/>
              </a:ext>
            </a:extLst>
          </p:cNvPr>
          <p:cNvSpPr txBox="1"/>
          <p:nvPr/>
        </p:nvSpPr>
        <p:spPr>
          <a:xfrm>
            <a:off x="50338" y="6169708"/>
            <a:ext cx="1292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*LAI = Leaf Area Index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6079D9-54AC-49B5-9977-C30AD93DD1A3}"/>
              </a:ext>
            </a:extLst>
          </p:cNvPr>
          <p:cNvSpPr txBox="1"/>
          <p:nvPr/>
        </p:nvSpPr>
        <p:spPr>
          <a:xfrm>
            <a:off x="164559" y="3244334"/>
            <a:ext cx="212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917328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BFE71-EC29-4506-AB26-37E2A342E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18" y="121842"/>
            <a:ext cx="10765221" cy="746963"/>
          </a:xfrm>
        </p:spPr>
        <p:txBody>
          <a:bodyPr>
            <a:normAutofit/>
          </a:bodyPr>
          <a:lstStyle/>
          <a:p>
            <a:r>
              <a:rPr lang="fr-FR" sz="3200" dirty="0"/>
              <a:t>Distribution of the </a:t>
            </a:r>
            <a:r>
              <a:rPr lang="fr-FR" sz="3200" dirty="0" err="1"/>
              <a:t>constraints</a:t>
            </a:r>
            <a:r>
              <a:rPr lang="fr-FR" sz="3200" dirty="0"/>
              <a:t> (</a:t>
            </a:r>
            <a:r>
              <a:rPr lang="fr-FR" sz="3200" dirty="0" err="1"/>
              <a:t>growth</a:t>
            </a:r>
            <a:r>
              <a:rPr lang="fr-FR" sz="3200" dirty="0"/>
              <a:t>) </a:t>
            </a:r>
            <a:endParaRPr lang="en-US" sz="3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96D122C-508B-41DF-8EAD-5383887EDBFF}"/>
              </a:ext>
            </a:extLst>
          </p:cNvPr>
          <p:cNvSpPr txBox="1">
            <a:spLocks/>
          </p:cNvSpPr>
          <p:nvPr/>
        </p:nvSpPr>
        <p:spPr>
          <a:xfrm>
            <a:off x="156748" y="1635531"/>
            <a:ext cx="6065381" cy="26496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Height</a:t>
            </a:r>
            <a:r>
              <a:rPr lang="fr-FR" dirty="0"/>
              <a:t> of </a:t>
            </a:r>
            <a:r>
              <a:rPr lang="fr-FR" dirty="0" err="1"/>
              <a:t>canopy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H0: </a:t>
            </a:r>
            <a:r>
              <a:rPr lang="fr-FR" dirty="0" err="1">
                <a:sym typeface="Wingdings" panose="05000000000000000000" pitchFamily="2" charset="2"/>
              </a:rPr>
              <a:t>Same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height</a:t>
            </a:r>
            <a:r>
              <a:rPr lang="fr-FR" dirty="0">
                <a:sym typeface="Wingdings" panose="05000000000000000000" pitchFamily="2" charset="2"/>
              </a:rPr>
              <a:t> gain for all plants 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H1: Or more </a:t>
            </a:r>
            <a:r>
              <a:rPr lang="fr-FR" dirty="0" err="1">
                <a:sym typeface="Wingdings" panose="05000000000000000000" pitchFamily="2" charset="2"/>
              </a:rPr>
              <a:t>stochastic</a:t>
            </a:r>
            <a:endParaRPr lang="fr-FR" dirty="0">
              <a:sym typeface="Wingdings" panose="05000000000000000000" pitchFamily="2" charset="2"/>
            </a:endParaRPr>
          </a:p>
          <a:p>
            <a:endParaRPr lang="fr-FR" dirty="0"/>
          </a:p>
          <a:p>
            <a:r>
              <a:rPr lang="fr-FR" dirty="0"/>
              <a:t>L</a:t>
            </a:r>
            <a:r>
              <a:rPr lang="en-US" dirty="0"/>
              <a:t>AI of canopy </a:t>
            </a:r>
            <a:r>
              <a:rPr lang="en-US" dirty="0">
                <a:sym typeface="Wingdings" panose="05000000000000000000" pitchFamily="2" charset="2"/>
              </a:rPr>
              <a:t>: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H0: LA gain distributed equally among all plants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H1: Random distribution among plants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H2: Proportional to light intercepted at t-1</a:t>
            </a:r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291AF53-E1F9-4083-85F2-339A88037782}"/>
              </a:ext>
            </a:extLst>
          </p:cNvPr>
          <p:cNvGrpSpPr/>
          <p:nvPr/>
        </p:nvGrpSpPr>
        <p:grpSpPr>
          <a:xfrm>
            <a:off x="2446667" y="4246179"/>
            <a:ext cx="2725913" cy="2199233"/>
            <a:chOff x="4990353" y="3710866"/>
            <a:chExt cx="3468158" cy="262944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925DA6-E92D-4ED0-9465-A2F8CC42D8FC}"/>
                </a:ext>
              </a:extLst>
            </p:cNvPr>
            <p:cNvSpPr/>
            <p:nvPr/>
          </p:nvSpPr>
          <p:spPr>
            <a:xfrm>
              <a:off x="4991665" y="3710866"/>
              <a:ext cx="861134" cy="2601034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shade val="30000"/>
                    <a:satMod val="115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9D6FB8-2364-4189-AF12-CE9CE60D5899}"/>
                </a:ext>
              </a:extLst>
            </p:cNvPr>
            <p:cNvSpPr/>
            <p:nvPr/>
          </p:nvSpPr>
          <p:spPr>
            <a:xfrm>
              <a:off x="5852799" y="3710866"/>
              <a:ext cx="861134" cy="2601034"/>
            </a:xfrm>
            <a:prstGeom prst="rect">
              <a:avLst/>
            </a:prstGeom>
            <a:gradFill flip="none" rotWithShape="1">
              <a:gsLst>
                <a:gs pos="0">
                  <a:srgbClr val="F39200">
                    <a:shade val="30000"/>
                    <a:satMod val="115000"/>
                  </a:srgbClr>
                </a:gs>
                <a:gs pos="50000">
                  <a:srgbClr val="F39200">
                    <a:shade val="67500"/>
                    <a:satMod val="115000"/>
                  </a:srgbClr>
                </a:gs>
                <a:gs pos="100000">
                  <a:srgbClr val="F392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859B74D-03C7-495A-822B-BAE86BDD3FB9}"/>
                </a:ext>
              </a:extLst>
            </p:cNvPr>
            <p:cNvSpPr/>
            <p:nvPr/>
          </p:nvSpPr>
          <p:spPr>
            <a:xfrm>
              <a:off x="6713933" y="3710866"/>
              <a:ext cx="861134" cy="2601034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shade val="30000"/>
                    <a:satMod val="115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21E039B-77C5-418A-A627-C44263B6DF1A}"/>
                </a:ext>
              </a:extLst>
            </p:cNvPr>
            <p:cNvSpPr/>
            <p:nvPr/>
          </p:nvSpPr>
          <p:spPr>
            <a:xfrm>
              <a:off x="7575067" y="3710866"/>
              <a:ext cx="861134" cy="2601034"/>
            </a:xfrm>
            <a:prstGeom prst="rect">
              <a:avLst/>
            </a:prstGeom>
            <a:gradFill flip="none" rotWithShape="1">
              <a:gsLst>
                <a:gs pos="0">
                  <a:srgbClr val="F39200">
                    <a:shade val="30000"/>
                    <a:satMod val="115000"/>
                  </a:srgbClr>
                </a:gs>
                <a:gs pos="50000">
                  <a:srgbClr val="F39200">
                    <a:shade val="67500"/>
                    <a:satMod val="115000"/>
                  </a:srgbClr>
                </a:gs>
                <a:gs pos="100000">
                  <a:srgbClr val="F392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58619E-56F5-43F6-B84B-B0E10B1CAC13}"/>
                </a:ext>
              </a:extLst>
            </p:cNvPr>
            <p:cNvSpPr/>
            <p:nvPr/>
          </p:nvSpPr>
          <p:spPr>
            <a:xfrm flipH="1">
              <a:off x="4990354" y="5612953"/>
              <a:ext cx="443877" cy="699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E0E76D6-8CAB-466E-9B91-B590B5B4D2E6}"/>
                </a:ext>
              </a:extLst>
            </p:cNvPr>
            <p:cNvSpPr/>
            <p:nvPr/>
          </p:nvSpPr>
          <p:spPr>
            <a:xfrm flipH="1">
              <a:off x="5415932" y="5625538"/>
              <a:ext cx="443877" cy="69900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88B8294-2CFB-4CA4-9365-BF11A9160774}"/>
                </a:ext>
              </a:extLst>
            </p:cNvPr>
            <p:cNvSpPr/>
            <p:nvPr/>
          </p:nvSpPr>
          <p:spPr>
            <a:xfrm flipH="1">
              <a:off x="5399880" y="3721787"/>
              <a:ext cx="443877" cy="699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DEEA983-1FFE-4D06-BA09-03BAE9400DF1}"/>
                </a:ext>
              </a:extLst>
            </p:cNvPr>
            <p:cNvSpPr/>
            <p:nvPr/>
          </p:nvSpPr>
          <p:spPr>
            <a:xfrm flipH="1">
              <a:off x="4997517" y="4414431"/>
              <a:ext cx="443877" cy="699001"/>
            </a:xfrm>
            <a:prstGeom prst="rect">
              <a:avLst/>
            </a:prstGeom>
            <a:solidFill>
              <a:srgbClr val="399758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A43C75D-FEB5-486E-AAE2-6301B131C94A}"/>
                </a:ext>
              </a:extLst>
            </p:cNvPr>
            <p:cNvSpPr/>
            <p:nvPr/>
          </p:nvSpPr>
          <p:spPr>
            <a:xfrm flipH="1">
              <a:off x="5411521" y="4427070"/>
              <a:ext cx="443877" cy="699001"/>
            </a:xfrm>
            <a:prstGeom prst="rect">
              <a:avLst/>
            </a:prstGeom>
            <a:solidFill>
              <a:srgbClr val="24743A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A74C614-4E5B-4DC7-AF68-F67241A5D8C9}"/>
                </a:ext>
              </a:extLst>
            </p:cNvPr>
            <p:cNvSpPr/>
            <p:nvPr/>
          </p:nvSpPr>
          <p:spPr>
            <a:xfrm flipH="1">
              <a:off x="5005905" y="5071607"/>
              <a:ext cx="443877" cy="6990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F25FBC8-227D-46B2-AE38-BC2FBC3DBF2F}"/>
                </a:ext>
              </a:extLst>
            </p:cNvPr>
            <p:cNvSpPr/>
            <p:nvPr/>
          </p:nvSpPr>
          <p:spPr>
            <a:xfrm flipH="1">
              <a:off x="5423998" y="5113432"/>
              <a:ext cx="443877" cy="6990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3DB7384-1DEA-4ADE-887B-F71EB13D5F21}"/>
                </a:ext>
              </a:extLst>
            </p:cNvPr>
            <p:cNvSpPr/>
            <p:nvPr/>
          </p:nvSpPr>
          <p:spPr>
            <a:xfrm flipH="1">
              <a:off x="4990353" y="3731422"/>
              <a:ext cx="443877" cy="69900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A65899F-D1F6-421C-A88E-7607D0AEC454}"/>
                </a:ext>
              </a:extLst>
            </p:cNvPr>
            <p:cNvSpPr/>
            <p:nvPr/>
          </p:nvSpPr>
          <p:spPr>
            <a:xfrm>
              <a:off x="6699593" y="3726636"/>
              <a:ext cx="861134" cy="2601034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shade val="30000"/>
                    <a:satMod val="115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574DC8D-F01F-4FBB-BC6E-F21D432B545C}"/>
                </a:ext>
              </a:extLst>
            </p:cNvPr>
            <p:cNvSpPr/>
            <p:nvPr/>
          </p:nvSpPr>
          <p:spPr>
            <a:xfrm flipH="1">
              <a:off x="6698282" y="5628723"/>
              <a:ext cx="443877" cy="699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6C0F730-F76C-48A3-8E1E-F1A7FF78B1B9}"/>
                </a:ext>
              </a:extLst>
            </p:cNvPr>
            <p:cNvSpPr/>
            <p:nvPr/>
          </p:nvSpPr>
          <p:spPr>
            <a:xfrm flipH="1">
              <a:off x="7123860" y="5641308"/>
              <a:ext cx="443877" cy="69900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9E2BC55-680D-4B2C-885E-8ADE2B0E8E7D}"/>
                </a:ext>
              </a:extLst>
            </p:cNvPr>
            <p:cNvSpPr/>
            <p:nvPr/>
          </p:nvSpPr>
          <p:spPr>
            <a:xfrm flipH="1">
              <a:off x="7107808" y="3737557"/>
              <a:ext cx="443877" cy="699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8FA89E6-FD47-44B1-84CF-E08D50FE1E93}"/>
                </a:ext>
              </a:extLst>
            </p:cNvPr>
            <p:cNvSpPr/>
            <p:nvPr/>
          </p:nvSpPr>
          <p:spPr>
            <a:xfrm flipH="1">
              <a:off x="6705445" y="4430201"/>
              <a:ext cx="443877" cy="699001"/>
            </a:xfrm>
            <a:prstGeom prst="rect">
              <a:avLst/>
            </a:prstGeom>
            <a:solidFill>
              <a:srgbClr val="399758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D6BADC3-B58D-429E-918A-1C7A428BEF3F}"/>
                </a:ext>
              </a:extLst>
            </p:cNvPr>
            <p:cNvSpPr/>
            <p:nvPr/>
          </p:nvSpPr>
          <p:spPr>
            <a:xfrm flipH="1">
              <a:off x="7119449" y="4442840"/>
              <a:ext cx="443877" cy="699001"/>
            </a:xfrm>
            <a:prstGeom prst="rect">
              <a:avLst/>
            </a:prstGeom>
            <a:solidFill>
              <a:srgbClr val="24743A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E454878-6708-46C7-8D63-423BB3D03CC9}"/>
                </a:ext>
              </a:extLst>
            </p:cNvPr>
            <p:cNvSpPr/>
            <p:nvPr/>
          </p:nvSpPr>
          <p:spPr>
            <a:xfrm flipH="1">
              <a:off x="6713833" y="5087377"/>
              <a:ext cx="443877" cy="6990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807EE1F-A4DD-44CA-9FA3-6AE4DF57AFC9}"/>
                </a:ext>
              </a:extLst>
            </p:cNvPr>
            <p:cNvSpPr/>
            <p:nvPr/>
          </p:nvSpPr>
          <p:spPr>
            <a:xfrm flipH="1">
              <a:off x="7131926" y="5129202"/>
              <a:ext cx="443877" cy="6990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7F4AAC9-BACA-41EC-9849-E98CBA788266}"/>
                </a:ext>
              </a:extLst>
            </p:cNvPr>
            <p:cNvSpPr/>
            <p:nvPr/>
          </p:nvSpPr>
          <p:spPr>
            <a:xfrm flipH="1">
              <a:off x="6698281" y="3747192"/>
              <a:ext cx="443877" cy="69900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92B02A-7FE6-4BCF-8522-A0976FD2B7C9}"/>
                </a:ext>
              </a:extLst>
            </p:cNvPr>
            <p:cNvSpPr/>
            <p:nvPr/>
          </p:nvSpPr>
          <p:spPr>
            <a:xfrm flipH="1">
              <a:off x="5854311" y="3712245"/>
              <a:ext cx="443877" cy="699001"/>
            </a:xfrm>
            <a:prstGeom prst="rect">
              <a:avLst/>
            </a:prstGeom>
            <a:solidFill>
              <a:srgbClr val="F392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84C262D-AE7C-4FC2-B1B1-9809D983CEF9}"/>
                </a:ext>
              </a:extLst>
            </p:cNvPr>
            <p:cNvSpPr/>
            <p:nvPr/>
          </p:nvSpPr>
          <p:spPr>
            <a:xfrm flipH="1">
              <a:off x="6258415" y="4307082"/>
              <a:ext cx="443877" cy="699001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C68631A-EB34-4910-94F2-9E3456F92378}"/>
                </a:ext>
              </a:extLst>
            </p:cNvPr>
            <p:cNvSpPr/>
            <p:nvPr/>
          </p:nvSpPr>
          <p:spPr>
            <a:xfrm flipH="1">
              <a:off x="6285686" y="4974994"/>
              <a:ext cx="443877" cy="6990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A917354-10A6-4C45-9B55-899D66254678}"/>
                </a:ext>
              </a:extLst>
            </p:cNvPr>
            <p:cNvSpPr/>
            <p:nvPr/>
          </p:nvSpPr>
          <p:spPr>
            <a:xfrm flipH="1">
              <a:off x="5871548" y="4928427"/>
              <a:ext cx="443877" cy="69900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72ACF26-2FBF-4F1F-90C4-10073F882CA8}"/>
                </a:ext>
              </a:extLst>
            </p:cNvPr>
            <p:cNvSpPr/>
            <p:nvPr/>
          </p:nvSpPr>
          <p:spPr>
            <a:xfrm flipH="1">
              <a:off x="6275554" y="5635671"/>
              <a:ext cx="443877" cy="699001"/>
            </a:xfrm>
            <a:prstGeom prst="rect">
              <a:avLst/>
            </a:prstGeom>
            <a:solidFill>
              <a:srgbClr val="F392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87B81F4-F6FD-4765-B9E2-FF3630303966}"/>
                </a:ext>
              </a:extLst>
            </p:cNvPr>
            <p:cNvSpPr/>
            <p:nvPr/>
          </p:nvSpPr>
          <p:spPr>
            <a:xfrm flipH="1">
              <a:off x="5879616" y="5601081"/>
              <a:ext cx="443877" cy="699001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5AAE0F8-003E-4902-B6BA-FA9EC2D9C2FF}"/>
                </a:ext>
              </a:extLst>
            </p:cNvPr>
            <p:cNvSpPr/>
            <p:nvPr/>
          </p:nvSpPr>
          <p:spPr>
            <a:xfrm>
              <a:off x="7581747" y="3716124"/>
              <a:ext cx="861134" cy="2601034"/>
            </a:xfrm>
            <a:prstGeom prst="rect">
              <a:avLst/>
            </a:prstGeom>
            <a:gradFill flip="none" rotWithShape="1">
              <a:gsLst>
                <a:gs pos="0">
                  <a:srgbClr val="F39200">
                    <a:shade val="30000"/>
                    <a:satMod val="115000"/>
                  </a:srgbClr>
                </a:gs>
                <a:gs pos="50000">
                  <a:srgbClr val="F39200">
                    <a:shade val="67500"/>
                    <a:satMod val="115000"/>
                  </a:srgbClr>
                </a:gs>
                <a:gs pos="100000">
                  <a:srgbClr val="F392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C72976E-852C-41E7-9E62-C51E9BFF857B}"/>
                </a:ext>
              </a:extLst>
            </p:cNvPr>
            <p:cNvSpPr/>
            <p:nvPr/>
          </p:nvSpPr>
          <p:spPr>
            <a:xfrm flipH="1">
              <a:off x="7583259" y="3717503"/>
              <a:ext cx="443877" cy="699001"/>
            </a:xfrm>
            <a:prstGeom prst="rect">
              <a:avLst/>
            </a:prstGeom>
            <a:solidFill>
              <a:srgbClr val="F392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6A0B957-6A69-42D0-AC09-A87A58E26EAF}"/>
                </a:ext>
              </a:extLst>
            </p:cNvPr>
            <p:cNvSpPr/>
            <p:nvPr/>
          </p:nvSpPr>
          <p:spPr>
            <a:xfrm flipH="1">
              <a:off x="7987363" y="4312340"/>
              <a:ext cx="443877" cy="699001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7B9E32B-37E4-4E1D-993B-7766F1675869}"/>
                </a:ext>
              </a:extLst>
            </p:cNvPr>
            <p:cNvSpPr/>
            <p:nvPr/>
          </p:nvSpPr>
          <p:spPr>
            <a:xfrm flipH="1">
              <a:off x="8014634" y="4980252"/>
              <a:ext cx="443877" cy="6990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D6EAA25-4636-4ED6-88B1-1392186FF10A}"/>
                </a:ext>
              </a:extLst>
            </p:cNvPr>
            <p:cNvSpPr/>
            <p:nvPr/>
          </p:nvSpPr>
          <p:spPr>
            <a:xfrm flipH="1">
              <a:off x="7600496" y="4933685"/>
              <a:ext cx="443877" cy="69900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A3C5A82-EA90-4735-9F40-9B31E4938F44}"/>
                </a:ext>
              </a:extLst>
            </p:cNvPr>
            <p:cNvSpPr/>
            <p:nvPr/>
          </p:nvSpPr>
          <p:spPr>
            <a:xfrm flipH="1">
              <a:off x="8004502" y="5640929"/>
              <a:ext cx="443877" cy="699001"/>
            </a:xfrm>
            <a:prstGeom prst="rect">
              <a:avLst/>
            </a:prstGeom>
            <a:solidFill>
              <a:srgbClr val="F392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5A0DC20-53A6-4EEB-8397-A0FBD3EA145E}"/>
                </a:ext>
              </a:extLst>
            </p:cNvPr>
            <p:cNvSpPr/>
            <p:nvPr/>
          </p:nvSpPr>
          <p:spPr>
            <a:xfrm flipH="1">
              <a:off x="7608564" y="5606339"/>
              <a:ext cx="443877" cy="699001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6912F180-DF92-4319-AEE1-0FE6CFC44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805015"/>
            <a:ext cx="2508946" cy="2940378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3D78C80E-9719-4E13-BCA0-496EE3704CB2}"/>
              </a:ext>
            </a:extLst>
          </p:cNvPr>
          <p:cNvSpPr txBox="1">
            <a:spLocks/>
          </p:cNvSpPr>
          <p:nvPr/>
        </p:nvSpPr>
        <p:spPr>
          <a:xfrm>
            <a:off x="6022428" y="1632677"/>
            <a:ext cx="6012824" cy="2172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sz="2200" dirty="0"/>
              <a:t>H0: All </a:t>
            </a:r>
            <a:r>
              <a:rPr lang="fr-FR" sz="2200" dirty="0" err="1"/>
              <a:t>organs</a:t>
            </a:r>
            <a:r>
              <a:rPr lang="fr-FR" sz="2200" dirty="0"/>
              <a:t> of a </a:t>
            </a:r>
            <a:r>
              <a:rPr lang="fr-FR" sz="2200" dirty="0" err="1"/>
              <a:t>given</a:t>
            </a:r>
            <a:r>
              <a:rPr lang="fr-FR" sz="2200" dirty="0"/>
              <a:t> type </a:t>
            </a:r>
            <a:r>
              <a:rPr lang="fr-FR" sz="2200" dirty="0" err="1"/>
              <a:t>get</a:t>
            </a:r>
            <a:r>
              <a:rPr lang="fr-FR" sz="2200" dirty="0"/>
              <a:t> the </a:t>
            </a:r>
            <a:r>
              <a:rPr lang="fr-FR" sz="2200" dirty="0" err="1"/>
              <a:t>same</a:t>
            </a:r>
            <a:r>
              <a:rPr lang="fr-FR" sz="2200" dirty="0"/>
              <a:t> gain. </a:t>
            </a:r>
          </a:p>
          <a:p>
            <a:pPr lvl="1"/>
            <a:endParaRPr lang="fr-FR" sz="2200" dirty="0"/>
          </a:p>
          <a:p>
            <a:pPr lvl="1"/>
            <a:endParaRPr lang="fr-FR" sz="2200" dirty="0"/>
          </a:p>
          <a:p>
            <a:pPr lvl="1"/>
            <a:endParaRPr lang="fr-FR" sz="2200" dirty="0"/>
          </a:p>
          <a:p>
            <a:pPr lvl="1"/>
            <a:endParaRPr lang="fr-FR" sz="2200" dirty="0"/>
          </a:p>
          <a:p>
            <a:pPr lvl="1"/>
            <a:endParaRPr lang="fr-FR" sz="2200" dirty="0"/>
          </a:p>
          <a:p>
            <a:pPr lvl="1"/>
            <a:r>
              <a:rPr lang="fr-FR" sz="2200" dirty="0"/>
              <a:t>H1: </a:t>
            </a:r>
            <a:r>
              <a:rPr lang="fr-FR" sz="2200" dirty="0" err="1"/>
              <a:t>Organs</a:t>
            </a:r>
            <a:r>
              <a:rPr lang="fr-FR" sz="2200" dirty="0"/>
              <a:t> </a:t>
            </a:r>
            <a:r>
              <a:rPr lang="fr-FR" sz="2200" dirty="0" err="1"/>
              <a:t>receive</a:t>
            </a:r>
            <a:r>
              <a:rPr lang="fr-FR" sz="2200" dirty="0"/>
              <a:t> a gain </a:t>
            </a:r>
            <a:r>
              <a:rPr lang="fr-FR" sz="2200" dirty="0" err="1"/>
              <a:t>proportional</a:t>
            </a:r>
            <a:r>
              <a:rPr lang="fr-FR" sz="2200" dirty="0"/>
              <a:t> to </a:t>
            </a:r>
            <a:r>
              <a:rPr lang="fr-FR" sz="2200" dirty="0" err="1"/>
              <a:t>their</a:t>
            </a:r>
            <a:r>
              <a:rPr lang="fr-FR" sz="2200" dirty="0"/>
              <a:t> </a:t>
            </a:r>
            <a:r>
              <a:rPr lang="fr-FR" sz="2200" dirty="0" err="1"/>
              <a:t>sink</a:t>
            </a:r>
            <a:r>
              <a:rPr lang="fr-FR" sz="2200" dirty="0"/>
              <a:t> </a:t>
            </a:r>
            <a:r>
              <a:rPr lang="fr-FR" sz="2200" dirty="0" err="1"/>
              <a:t>strength</a:t>
            </a:r>
            <a:r>
              <a:rPr lang="fr-FR" sz="2200" dirty="0"/>
              <a:t>, </a:t>
            </a:r>
            <a:r>
              <a:rPr lang="fr-FR" sz="2200" dirty="0" err="1"/>
              <a:t>related</a:t>
            </a:r>
            <a:r>
              <a:rPr lang="fr-FR" sz="2200" dirty="0"/>
              <a:t> to </a:t>
            </a:r>
            <a:r>
              <a:rPr lang="fr-FR" sz="2200" dirty="0" err="1"/>
              <a:t>their</a:t>
            </a:r>
            <a:r>
              <a:rPr lang="fr-FR" sz="2200" dirty="0"/>
              <a:t> </a:t>
            </a:r>
            <a:r>
              <a:rPr lang="fr-FR" sz="2200" dirty="0" err="1"/>
              <a:t>age</a:t>
            </a:r>
            <a:r>
              <a:rPr lang="fr-FR" sz="2200" dirty="0"/>
              <a:t> </a:t>
            </a:r>
            <a:r>
              <a:rPr lang="fr-FR" sz="2200" i="1" dirty="0"/>
              <a:t>a</a:t>
            </a:r>
            <a:r>
              <a:rPr lang="fr-FR" sz="2200" dirty="0"/>
              <a:t> </a:t>
            </a:r>
            <a:r>
              <a:rPr lang="fr-FR" sz="2200" dirty="0" err="1"/>
              <a:t>until</a:t>
            </a:r>
            <a:r>
              <a:rPr lang="fr-FR" sz="2200" dirty="0"/>
              <a:t> end of </a:t>
            </a:r>
            <a:r>
              <a:rPr lang="fr-FR" sz="2200" dirty="0" err="1"/>
              <a:t>growth</a:t>
            </a:r>
            <a:r>
              <a:rPr lang="fr-FR" sz="2200" dirty="0"/>
              <a:t>. </a:t>
            </a:r>
          </a:p>
          <a:p>
            <a:pPr lvl="1"/>
            <a:endParaRPr lang="fr-FR" dirty="0"/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27CE6666-86E7-4A1C-A02C-1149F34E2575}"/>
              </a:ext>
            </a:extLst>
          </p:cNvPr>
          <p:cNvSpPr txBox="1">
            <a:spLocks/>
          </p:cNvSpPr>
          <p:nvPr/>
        </p:nvSpPr>
        <p:spPr>
          <a:xfrm>
            <a:off x="1780636" y="914892"/>
            <a:ext cx="3021630" cy="602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000" dirty="0"/>
              <a:t>…</a:t>
            </a:r>
            <a:r>
              <a:rPr lang="fr-FR" sz="3000" dirty="0" err="1"/>
              <a:t>among</a:t>
            </a:r>
            <a:r>
              <a:rPr lang="fr-FR" sz="3000" dirty="0"/>
              <a:t> plants :</a:t>
            </a:r>
            <a:endParaRPr lang="en-US" sz="3000" dirty="0"/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00D45B4F-5450-4440-8C3F-B91C574E3028}"/>
              </a:ext>
            </a:extLst>
          </p:cNvPr>
          <p:cNvSpPr txBox="1">
            <a:spLocks/>
          </p:cNvSpPr>
          <p:nvPr/>
        </p:nvSpPr>
        <p:spPr>
          <a:xfrm>
            <a:off x="6893373" y="914892"/>
            <a:ext cx="4363206" cy="602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…</a:t>
            </a:r>
            <a:r>
              <a:rPr lang="fr-FR" sz="3200" dirty="0" err="1"/>
              <a:t>among</a:t>
            </a:r>
            <a:r>
              <a:rPr lang="fr-FR" sz="3200" dirty="0"/>
              <a:t> </a:t>
            </a:r>
            <a:r>
              <a:rPr lang="fr-FR" sz="3200" dirty="0" err="1"/>
              <a:t>growing</a:t>
            </a:r>
            <a:r>
              <a:rPr lang="fr-FR" sz="3200" dirty="0"/>
              <a:t> </a:t>
            </a:r>
            <a:r>
              <a:rPr lang="fr-FR" sz="3200" dirty="0" err="1"/>
              <a:t>organs</a:t>
            </a:r>
            <a:r>
              <a:rPr lang="fr-FR" sz="3200" dirty="0"/>
              <a:t> :</a:t>
            </a:r>
            <a:endParaRPr lang="en-US" sz="3200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B4185EE-6B50-47B1-88BC-2CE91BFCDF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535" y="2091559"/>
            <a:ext cx="2199314" cy="1025523"/>
          </a:xfrm>
          <a:prstGeom prst="rect">
            <a:avLst/>
          </a:prstGeom>
        </p:spPr>
      </p:pic>
      <p:sp>
        <p:nvSpPr>
          <p:cNvPr id="70" name="Slide Number Placeholder 69">
            <a:extLst>
              <a:ext uri="{FF2B5EF4-FFF2-40B4-BE49-F238E27FC236}">
                <a16:creationId xmlns:a16="http://schemas.microsoft.com/office/drawing/2014/main" id="{D4DDAA48-3F0C-4796-9CB4-0B26024E9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13</a:t>
            </a:fld>
            <a:endParaRPr lang="fr-FR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A81D8745-4CE4-4A96-B7C0-E644881EEDB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49" t="17136" r="12388" b="5963"/>
          <a:stretch/>
        </p:blipFill>
        <p:spPr>
          <a:xfrm>
            <a:off x="8547329" y="4098616"/>
            <a:ext cx="2619002" cy="144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934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B419-5093-45C1-8DAC-9441E378E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7" y="216561"/>
            <a:ext cx="10515600" cy="804049"/>
          </a:xfrm>
        </p:spPr>
        <p:txBody>
          <a:bodyPr>
            <a:normAutofit/>
          </a:bodyPr>
          <a:lstStyle/>
          <a:p>
            <a:r>
              <a:rPr lang="fr-FR" sz="3100" dirty="0"/>
              <a:t>Workflow of simulations </a:t>
            </a:r>
            <a:endParaRPr lang="en-US" sz="31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F8D5E98-A9ED-4B1A-9C6F-B88D4E769A89}"/>
              </a:ext>
            </a:extLst>
          </p:cNvPr>
          <p:cNvSpPr/>
          <p:nvPr/>
        </p:nvSpPr>
        <p:spPr>
          <a:xfrm>
            <a:off x="2599767" y="1131441"/>
            <a:ext cx="2568111" cy="812773"/>
          </a:xfrm>
          <a:prstGeom prst="ellipse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 simulation </a:t>
            </a:r>
          </a:p>
          <a:p>
            <a:pPr algn="ctr"/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crop</a:t>
            </a:r>
            <a:r>
              <a:rPr lang="fr-FR" dirty="0"/>
              <a:t> model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D4566C-F405-4F07-8D2E-F52ED3947024}"/>
              </a:ext>
            </a:extLst>
          </p:cNvPr>
          <p:cNvSpPr/>
          <p:nvPr/>
        </p:nvSpPr>
        <p:spPr>
          <a:xfrm>
            <a:off x="1777494" y="4790125"/>
            <a:ext cx="1379764" cy="1077686"/>
          </a:xfrm>
          <a:prstGeom prst="rect">
            <a:avLst/>
          </a:prstGeom>
          <a:solidFill>
            <a:srgbClr val="399758"/>
          </a:solidFill>
          <a:ln>
            <a:solidFill>
              <a:srgbClr val="39975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BF9CE5-DC5E-48A3-B8B9-B31C65039BB9}"/>
              </a:ext>
            </a:extLst>
          </p:cNvPr>
          <p:cNvSpPr/>
          <p:nvPr/>
        </p:nvSpPr>
        <p:spPr>
          <a:xfrm>
            <a:off x="9262666" y="4787522"/>
            <a:ext cx="1379764" cy="1077686"/>
          </a:xfrm>
          <a:prstGeom prst="rect">
            <a:avLst/>
          </a:prstGeom>
          <a:solidFill>
            <a:srgbClr val="399758"/>
          </a:solidFill>
          <a:ln>
            <a:solidFill>
              <a:srgbClr val="39975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87645-0609-4C97-828C-951F3723F437}"/>
              </a:ext>
            </a:extLst>
          </p:cNvPr>
          <p:cNvSpPr/>
          <p:nvPr/>
        </p:nvSpPr>
        <p:spPr>
          <a:xfrm>
            <a:off x="6701179" y="4790125"/>
            <a:ext cx="1379764" cy="1077686"/>
          </a:xfrm>
          <a:prstGeom prst="rect">
            <a:avLst/>
          </a:prstGeom>
          <a:solidFill>
            <a:srgbClr val="399758"/>
          </a:solidFill>
          <a:ln>
            <a:solidFill>
              <a:srgbClr val="39975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9C765D-3852-4392-8288-6665CC1D38E7}"/>
              </a:ext>
            </a:extLst>
          </p:cNvPr>
          <p:cNvSpPr/>
          <p:nvPr/>
        </p:nvSpPr>
        <p:spPr>
          <a:xfrm>
            <a:off x="4277770" y="4790125"/>
            <a:ext cx="1379764" cy="1077686"/>
          </a:xfrm>
          <a:prstGeom prst="rect">
            <a:avLst/>
          </a:prstGeom>
          <a:solidFill>
            <a:srgbClr val="399758"/>
          </a:solidFill>
          <a:ln>
            <a:solidFill>
              <a:srgbClr val="39975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2B5A41-A22A-417D-A522-612CB7DCCC4E}"/>
              </a:ext>
            </a:extLst>
          </p:cNvPr>
          <p:cNvCxnSpPr>
            <a:cxnSpLocks/>
            <a:stCxn id="92" idx="4"/>
            <a:endCxn id="5" idx="0"/>
          </p:cNvCxnSpPr>
          <p:nvPr/>
        </p:nvCxnSpPr>
        <p:spPr>
          <a:xfrm flipH="1">
            <a:off x="2467376" y="4051663"/>
            <a:ext cx="3723214" cy="738462"/>
          </a:xfrm>
          <a:prstGeom prst="straightConnector1">
            <a:avLst/>
          </a:prstGeom>
          <a:ln>
            <a:solidFill>
              <a:srgbClr val="399758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1AAE8C-16B6-45AB-B5B6-B63150A72E70}"/>
              </a:ext>
            </a:extLst>
          </p:cNvPr>
          <p:cNvCxnSpPr>
            <a:cxnSpLocks/>
            <a:stCxn id="92" idx="4"/>
            <a:endCxn id="11" idx="0"/>
          </p:cNvCxnSpPr>
          <p:nvPr/>
        </p:nvCxnSpPr>
        <p:spPr>
          <a:xfrm flipH="1">
            <a:off x="4967652" y="4051663"/>
            <a:ext cx="1222938" cy="738462"/>
          </a:xfrm>
          <a:prstGeom prst="straightConnector1">
            <a:avLst/>
          </a:prstGeom>
          <a:ln>
            <a:solidFill>
              <a:srgbClr val="399758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1E4AE1B-DFA6-42CB-9FFD-2AD3532E486F}"/>
              </a:ext>
            </a:extLst>
          </p:cNvPr>
          <p:cNvCxnSpPr>
            <a:cxnSpLocks/>
            <a:stCxn id="92" idx="4"/>
            <a:endCxn id="9" idx="0"/>
          </p:cNvCxnSpPr>
          <p:nvPr/>
        </p:nvCxnSpPr>
        <p:spPr>
          <a:xfrm>
            <a:off x="6190590" y="4051663"/>
            <a:ext cx="1200471" cy="738462"/>
          </a:xfrm>
          <a:prstGeom prst="straightConnector1">
            <a:avLst/>
          </a:prstGeom>
          <a:ln>
            <a:solidFill>
              <a:srgbClr val="399758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7505169-CEE1-4B66-BC70-52E39E7938F9}"/>
              </a:ext>
            </a:extLst>
          </p:cNvPr>
          <p:cNvCxnSpPr>
            <a:cxnSpLocks/>
            <a:stCxn id="92" idx="4"/>
            <a:endCxn id="6" idx="0"/>
          </p:cNvCxnSpPr>
          <p:nvPr/>
        </p:nvCxnSpPr>
        <p:spPr>
          <a:xfrm>
            <a:off x="6190590" y="4051663"/>
            <a:ext cx="3761958" cy="735859"/>
          </a:xfrm>
          <a:prstGeom prst="straightConnector1">
            <a:avLst/>
          </a:prstGeom>
          <a:ln>
            <a:solidFill>
              <a:srgbClr val="399758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725A07B-B392-48E1-9B1B-615B5E5E3067}"/>
              </a:ext>
            </a:extLst>
          </p:cNvPr>
          <p:cNvCxnSpPr>
            <a:cxnSpLocks/>
            <a:stCxn id="4" idx="4"/>
            <a:endCxn id="225" idx="1"/>
          </p:cNvCxnSpPr>
          <p:nvPr/>
        </p:nvCxnSpPr>
        <p:spPr>
          <a:xfrm>
            <a:off x="3883823" y="1944214"/>
            <a:ext cx="1240394" cy="521309"/>
          </a:xfrm>
          <a:prstGeom prst="straightConnector1">
            <a:avLst/>
          </a:prstGeom>
          <a:ln>
            <a:solidFill>
              <a:srgbClr val="F392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0DD7BA7-D334-42DA-8798-DC47128D6220}"/>
              </a:ext>
            </a:extLst>
          </p:cNvPr>
          <p:cNvSpPr txBox="1"/>
          <p:nvPr/>
        </p:nvSpPr>
        <p:spPr>
          <a:xfrm>
            <a:off x="8080943" y="2544807"/>
            <a:ext cx="3819365" cy="1754326"/>
          </a:xfrm>
          <a:prstGeom prst="rect">
            <a:avLst/>
          </a:prstGeom>
          <a:ln>
            <a:solidFill>
              <a:srgbClr val="39975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u="sng" dirty="0" err="1"/>
              <a:t>Experimental</a:t>
            </a:r>
            <a:r>
              <a:rPr lang="fr-FR" u="sng" dirty="0"/>
              <a:t> design :</a:t>
            </a:r>
          </a:p>
          <a:p>
            <a:pPr algn="ctr"/>
            <a:r>
              <a:rPr lang="fr-FR" dirty="0" err="1"/>
              <a:t>Species</a:t>
            </a:r>
            <a:r>
              <a:rPr lang="fr-FR" dirty="0"/>
              <a:t> 1 </a:t>
            </a:r>
            <a:r>
              <a:rPr lang="fr-FR" dirty="0" err="1"/>
              <a:t>morphological</a:t>
            </a:r>
            <a:r>
              <a:rPr lang="fr-FR" dirty="0"/>
              <a:t> </a:t>
            </a:r>
            <a:r>
              <a:rPr lang="fr-FR" dirty="0" err="1"/>
              <a:t>space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x </a:t>
            </a:r>
          </a:p>
          <a:p>
            <a:pPr algn="ctr"/>
            <a:r>
              <a:rPr lang="fr-FR" dirty="0" err="1"/>
              <a:t>Species</a:t>
            </a:r>
            <a:r>
              <a:rPr lang="fr-FR" dirty="0"/>
              <a:t> 2 </a:t>
            </a:r>
            <a:r>
              <a:rPr lang="fr-FR" dirty="0" err="1"/>
              <a:t>morphological</a:t>
            </a:r>
            <a:r>
              <a:rPr lang="fr-FR" dirty="0"/>
              <a:t> </a:t>
            </a:r>
            <a:r>
              <a:rPr lang="fr-FR" dirty="0" err="1"/>
              <a:t>space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x</a:t>
            </a:r>
          </a:p>
          <a:p>
            <a:pPr algn="ctr"/>
            <a:r>
              <a:rPr lang="fr-FR" dirty="0"/>
              <a:t> Explicit spatial configurations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A4256E-1A87-4F38-A81E-888E51C6EAD7}"/>
              </a:ext>
            </a:extLst>
          </p:cNvPr>
          <p:cNvSpPr txBox="1"/>
          <p:nvPr/>
        </p:nvSpPr>
        <p:spPr>
          <a:xfrm>
            <a:off x="3444459" y="4897013"/>
            <a:ext cx="481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…</a:t>
            </a:r>
            <a:endParaRPr lang="en-US" sz="36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1F1DBFA-0852-4C3F-9207-66B00DC74CB1}"/>
              </a:ext>
            </a:extLst>
          </p:cNvPr>
          <p:cNvSpPr txBox="1"/>
          <p:nvPr/>
        </p:nvSpPr>
        <p:spPr>
          <a:xfrm>
            <a:off x="5936400" y="4869359"/>
            <a:ext cx="481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…</a:t>
            </a:r>
            <a:endParaRPr lang="en-US" sz="36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ABA472D-1620-4E72-B651-F4736512CA3B}"/>
              </a:ext>
            </a:extLst>
          </p:cNvPr>
          <p:cNvSpPr txBox="1"/>
          <p:nvPr/>
        </p:nvSpPr>
        <p:spPr>
          <a:xfrm>
            <a:off x="8430958" y="4890154"/>
            <a:ext cx="481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…</a:t>
            </a:r>
            <a:endParaRPr lang="en-US" sz="36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B597C63-2200-4969-99FD-7D38A391A978}"/>
              </a:ext>
            </a:extLst>
          </p:cNvPr>
          <p:cNvSpPr/>
          <p:nvPr/>
        </p:nvSpPr>
        <p:spPr>
          <a:xfrm>
            <a:off x="5397020" y="3277466"/>
            <a:ext cx="1587139" cy="774197"/>
          </a:xfrm>
          <a:prstGeom prst="ellipse">
            <a:avLst/>
          </a:prstGeom>
          <a:solidFill>
            <a:srgbClr val="399758"/>
          </a:solidFill>
          <a:ln>
            <a:solidFill>
              <a:srgbClr val="39975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ArchiCrop</a:t>
            </a:r>
            <a:endParaRPr lang="en-US" dirty="0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E54F91A-3F31-4C08-B255-6A909CF1983B}"/>
              </a:ext>
            </a:extLst>
          </p:cNvPr>
          <p:cNvCxnSpPr>
            <a:cxnSpLocks/>
            <a:stCxn id="225" idx="2"/>
            <a:endCxn id="92" idx="0"/>
          </p:cNvCxnSpPr>
          <p:nvPr/>
        </p:nvCxnSpPr>
        <p:spPr>
          <a:xfrm flipH="1">
            <a:off x="6190590" y="2826745"/>
            <a:ext cx="742" cy="450721"/>
          </a:xfrm>
          <a:prstGeom prst="straightConnector1">
            <a:avLst/>
          </a:prstGeom>
          <a:ln w="38100">
            <a:solidFill>
              <a:srgbClr val="F392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4" name="Picture 123">
            <a:extLst>
              <a:ext uri="{FF2B5EF4-FFF2-40B4-BE49-F238E27FC236}">
                <a16:creationId xmlns:a16="http://schemas.microsoft.com/office/drawing/2014/main" id="{4ECAED75-C499-4F96-BC85-77DF5228C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559" y="1352896"/>
            <a:ext cx="371475" cy="32385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56D22FEB-6BDD-4A9C-BEDE-2C7D16185B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030" y="5536485"/>
            <a:ext cx="361229" cy="271802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740E9354-AE0A-4596-B016-BD384A7D04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014" y="5519920"/>
            <a:ext cx="397295" cy="269423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CC747376-BDB5-4827-9693-F9EA8651EAE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64" y="5575991"/>
            <a:ext cx="416614" cy="269424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4385BD66-DDFE-40AE-A635-20BC9BFEDCC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899" y="5248730"/>
            <a:ext cx="653266" cy="422467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1260FC77-CA41-48C3-8F3A-6A90B2A4DCE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426" y="4840402"/>
            <a:ext cx="843936" cy="545773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BE549EE7-0840-4C44-B015-93DAD5F7EA3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042" y="5191586"/>
            <a:ext cx="630149" cy="474147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F16F5D76-8DFF-4E47-B63B-97B8EBFECE8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632" y="4845633"/>
            <a:ext cx="803734" cy="604759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0278D9FB-F953-4BFD-8B07-C5F14771D89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231" y="5191586"/>
            <a:ext cx="669656" cy="454123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33462E59-67AA-4D21-BE33-5693924DD83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447" y="4843191"/>
            <a:ext cx="763235" cy="517583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B5E2A249-16C7-419A-A927-58B8EB5EF7F6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160" y="5536485"/>
            <a:ext cx="557728" cy="281812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B820FC9F-205E-43F1-AF33-0AB427A6CD5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101" y="5214862"/>
            <a:ext cx="843204" cy="426059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F9F4E463-158F-40F0-9717-CCD9AF21FDC1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536" y="4904487"/>
            <a:ext cx="921114" cy="465426"/>
          </a:xfrm>
          <a:prstGeom prst="rect">
            <a:avLst/>
          </a:prstGeom>
        </p:spPr>
      </p:pic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1D6825E1-A317-49D2-B24E-592ADE65AAFF}"/>
              </a:ext>
            </a:extLst>
          </p:cNvPr>
          <p:cNvCxnSpPr>
            <a:cxnSpLocks/>
            <a:stCxn id="64" idx="1"/>
            <a:endCxn id="92" idx="6"/>
          </p:cNvCxnSpPr>
          <p:nvPr/>
        </p:nvCxnSpPr>
        <p:spPr>
          <a:xfrm flipH="1">
            <a:off x="6984159" y="3421970"/>
            <a:ext cx="1096784" cy="242595"/>
          </a:xfrm>
          <a:prstGeom prst="straightConnector1">
            <a:avLst/>
          </a:prstGeom>
          <a:ln>
            <a:solidFill>
              <a:srgbClr val="399758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78B7F9FD-41BA-40F5-9F27-D00FC533B4FF}"/>
              </a:ext>
            </a:extLst>
          </p:cNvPr>
          <p:cNvCxnSpPr>
            <a:cxnSpLocks/>
          </p:cNvCxnSpPr>
          <p:nvPr/>
        </p:nvCxnSpPr>
        <p:spPr>
          <a:xfrm>
            <a:off x="925509" y="3781037"/>
            <a:ext cx="815810" cy="79183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444B9E2-20D6-43E7-9D90-B3AE905FDF86}"/>
              </a:ext>
            </a:extLst>
          </p:cNvPr>
          <p:cNvSpPr/>
          <p:nvPr/>
        </p:nvSpPr>
        <p:spPr>
          <a:xfrm>
            <a:off x="1559323" y="4572875"/>
            <a:ext cx="9287934" cy="150691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919C5013-02BF-41E9-BB1E-3424C33C7527}"/>
              </a:ext>
            </a:extLst>
          </p:cNvPr>
          <p:cNvCxnSpPr>
            <a:cxnSpLocks/>
          </p:cNvCxnSpPr>
          <p:nvPr/>
        </p:nvCxnSpPr>
        <p:spPr>
          <a:xfrm>
            <a:off x="1202089" y="3758641"/>
            <a:ext cx="815810" cy="79183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A4CF316E-4158-4B25-99AF-D5043814E356}"/>
              </a:ext>
            </a:extLst>
          </p:cNvPr>
          <p:cNvCxnSpPr/>
          <p:nvPr/>
        </p:nvCxnSpPr>
        <p:spPr>
          <a:xfrm flipV="1">
            <a:off x="2305426" y="5450392"/>
            <a:ext cx="752497" cy="367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CD975A2B-6D09-40AA-A8FC-DE6269C029C1}"/>
              </a:ext>
            </a:extLst>
          </p:cNvPr>
          <p:cNvSpPr txBox="1"/>
          <p:nvPr/>
        </p:nvSpPr>
        <p:spPr>
          <a:xfrm>
            <a:off x="2786870" y="5513182"/>
            <a:ext cx="28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</a:t>
            </a:r>
            <a:endParaRPr lang="en-US" dirty="0"/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C81E0E6A-9519-483D-92A5-7E8BEFFB5CC7}"/>
              </a:ext>
            </a:extLst>
          </p:cNvPr>
          <p:cNvCxnSpPr/>
          <p:nvPr/>
        </p:nvCxnSpPr>
        <p:spPr>
          <a:xfrm flipV="1">
            <a:off x="4779564" y="5456968"/>
            <a:ext cx="752497" cy="367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93B209DF-DE8F-454E-9529-F9BAD5E69D03}"/>
              </a:ext>
            </a:extLst>
          </p:cNvPr>
          <p:cNvSpPr txBox="1"/>
          <p:nvPr/>
        </p:nvSpPr>
        <p:spPr>
          <a:xfrm>
            <a:off x="5261008" y="5519758"/>
            <a:ext cx="28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</a:t>
            </a:r>
            <a:endParaRPr lang="en-US" dirty="0"/>
          </a:p>
        </p:txBody>
      </p: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2AD937EE-4E7F-42CF-913C-66027B220868}"/>
              </a:ext>
            </a:extLst>
          </p:cNvPr>
          <p:cNvCxnSpPr/>
          <p:nvPr/>
        </p:nvCxnSpPr>
        <p:spPr>
          <a:xfrm flipV="1">
            <a:off x="7213441" y="5436366"/>
            <a:ext cx="752497" cy="367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30C14C37-AF6E-4E8A-A014-1BDBBE783319}"/>
              </a:ext>
            </a:extLst>
          </p:cNvPr>
          <p:cNvSpPr txBox="1"/>
          <p:nvPr/>
        </p:nvSpPr>
        <p:spPr>
          <a:xfrm>
            <a:off x="7694885" y="5499156"/>
            <a:ext cx="28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</a:t>
            </a:r>
            <a:endParaRPr lang="en-US" dirty="0"/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C2378359-1768-4E50-B686-1B0CCF8C6629}"/>
              </a:ext>
            </a:extLst>
          </p:cNvPr>
          <p:cNvCxnSpPr/>
          <p:nvPr/>
        </p:nvCxnSpPr>
        <p:spPr>
          <a:xfrm flipV="1">
            <a:off x="9866764" y="5430668"/>
            <a:ext cx="752497" cy="367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9B3A2B44-2E20-4F22-9D81-C74589008C8A}"/>
              </a:ext>
            </a:extLst>
          </p:cNvPr>
          <p:cNvSpPr txBox="1"/>
          <p:nvPr/>
        </p:nvSpPr>
        <p:spPr>
          <a:xfrm>
            <a:off x="10348208" y="5493458"/>
            <a:ext cx="28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</a:t>
            </a:r>
            <a:endParaRPr lang="en-US" dirty="0"/>
          </a:p>
        </p:txBody>
      </p:sp>
      <p:sp>
        <p:nvSpPr>
          <p:cNvPr id="216" name="Slide Number Placeholder 215">
            <a:extLst>
              <a:ext uri="{FF2B5EF4-FFF2-40B4-BE49-F238E27FC236}">
                <a16:creationId xmlns:a16="http://schemas.microsoft.com/office/drawing/2014/main" id="{22635BB3-F18C-4F56-9652-2BBB1E75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14</a:t>
            </a:fld>
            <a:endParaRPr lang="fr-FR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67F96804-BA90-4859-AE40-3D2391C4C00B}"/>
              </a:ext>
            </a:extLst>
          </p:cNvPr>
          <p:cNvSpPr/>
          <p:nvPr/>
        </p:nvSpPr>
        <p:spPr>
          <a:xfrm>
            <a:off x="5124217" y="2104300"/>
            <a:ext cx="2134229" cy="722445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Growth</a:t>
            </a:r>
            <a:r>
              <a:rPr lang="fr-FR" dirty="0"/>
              <a:t> </a:t>
            </a:r>
            <a:r>
              <a:rPr lang="fr-FR" dirty="0" err="1"/>
              <a:t>dynamics</a:t>
            </a:r>
            <a:endParaRPr lang="fr-FR" dirty="0"/>
          </a:p>
          <a:p>
            <a:pPr algn="ctr"/>
            <a:r>
              <a:rPr lang="fr-FR" dirty="0"/>
              <a:t>E.g. : LAI(t), </a:t>
            </a:r>
            <a:r>
              <a:rPr lang="fr-FR" dirty="0" err="1"/>
              <a:t>height</a:t>
            </a:r>
            <a:r>
              <a:rPr lang="fr-FR" dirty="0"/>
              <a:t>(t)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C72EC1-E0E9-4E25-873C-3B0F039BFB5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823" y="1542189"/>
            <a:ext cx="1027732" cy="804049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082CD54-F0C8-4DCC-B173-134B8294B456}"/>
              </a:ext>
            </a:extLst>
          </p:cNvPr>
          <p:cNvCxnSpPr/>
          <p:nvPr/>
        </p:nvCxnSpPr>
        <p:spPr>
          <a:xfrm>
            <a:off x="1419233" y="2854251"/>
            <a:ext cx="1358653" cy="1718624"/>
          </a:xfrm>
          <a:prstGeom prst="straightConnector1">
            <a:avLst/>
          </a:prstGeom>
          <a:ln w="57150">
            <a:solidFill>
              <a:srgbClr val="C28745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1EEF922-6218-4491-944C-B13BE7FFF657}"/>
              </a:ext>
            </a:extLst>
          </p:cNvPr>
          <p:cNvSpPr txBox="1"/>
          <p:nvPr/>
        </p:nvSpPr>
        <p:spPr>
          <a:xfrm>
            <a:off x="2335448" y="3312856"/>
            <a:ext cx="2625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Comparison</a:t>
            </a:r>
            <a:r>
              <a:rPr lang="fr-FR" dirty="0"/>
              <a:t> and </a:t>
            </a:r>
            <a:r>
              <a:rPr lang="fr-FR" dirty="0" err="1"/>
              <a:t>uncertainty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406F469-232C-4A4A-A389-9DE9A922F546}"/>
              </a:ext>
            </a:extLst>
          </p:cNvPr>
          <p:cNvSpPr/>
          <p:nvPr/>
        </p:nvSpPr>
        <p:spPr>
          <a:xfrm>
            <a:off x="210204" y="2131806"/>
            <a:ext cx="2460961" cy="722445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Dynamic outputs</a:t>
            </a:r>
          </a:p>
          <a:p>
            <a:pPr algn="ctr"/>
            <a:r>
              <a:rPr lang="fr-FR" dirty="0"/>
              <a:t>E.g. : PAR </a:t>
            </a:r>
            <a:r>
              <a:rPr lang="fr-FR" dirty="0" err="1"/>
              <a:t>intercepted</a:t>
            </a:r>
            <a:r>
              <a:rPr lang="fr-FR" dirty="0"/>
              <a:t> (t)</a:t>
            </a:r>
            <a:endParaRPr lang="en-US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1CF0076-86EA-4915-9B15-9376BF1133F1}"/>
              </a:ext>
            </a:extLst>
          </p:cNvPr>
          <p:cNvCxnSpPr>
            <a:cxnSpLocks/>
            <a:stCxn id="4" idx="4"/>
            <a:endCxn id="58" idx="3"/>
          </p:cNvCxnSpPr>
          <p:nvPr/>
        </p:nvCxnSpPr>
        <p:spPr>
          <a:xfrm flipH="1">
            <a:off x="2671165" y="1944214"/>
            <a:ext cx="1212658" cy="548815"/>
          </a:xfrm>
          <a:prstGeom prst="straightConnector1">
            <a:avLst/>
          </a:prstGeom>
          <a:ln>
            <a:solidFill>
              <a:srgbClr val="F392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F4BE47E-4493-430D-8668-242A88BCBEC4}"/>
              </a:ext>
            </a:extLst>
          </p:cNvPr>
          <p:cNvSpPr txBox="1"/>
          <p:nvPr/>
        </p:nvSpPr>
        <p:spPr>
          <a:xfrm>
            <a:off x="167572" y="3990493"/>
            <a:ext cx="1428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computation</a:t>
            </a:r>
          </a:p>
          <a:p>
            <a:r>
              <a:rPr lang="en-US" dirty="0"/>
              <a:t>(e.g.: light interception)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FF1C8D72-5301-4E6D-A6CE-8C0020C9478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18093" y="2924461"/>
            <a:ext cx="953848" cy="73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59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90DAC9-10DA-4D56-B527-B6D3594E9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0" y="77456"/>
            <a:ext cx="6474373" cy="669491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2EF8E-3883-4F27-8EAE-F87EE2266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15</a:t>
            </a:fld>
            <a:endParaRPr lang="fr-FR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BF42AB12-87F5-45C2-A67B-3F1C32292274}"/>
              </a:ext>
            </a:extLst>
          </p:cNvPr>
          <p:cNvCxnSpPr>
            <a:cxnSpLocks/>
          </p:cNvCxnSpPr>
          <p:nvPr/>
        </p:nvCxnSpPr>
        <p:spPr>
          <a:xfrm>
            <a:off x="1489361" y="2858814"/>
            <a:ext cx="2617075" cy="2154620"/>
          </a:xfrm>
          <a:prstGeom prst="bentConnector3">
            <a:avLst>
              <a:gd name="adj1" fmla="val 603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8FF2731-1102-41CD-B84F-220F1A525684}"/>
              </a:ext>
            </a:extLst>
          </p:cNvPr>
          <p:cNvSpPr txBox="1"/>
          <p:nvPr/>
        </p:nvSpPr>
        <p:spPr>
          <a:xfrm>
            <a:off x="1552418" y="4456386"/>
            <a:ext cx="1702681" cy="523220"/>
          </a:xfrm>
          <a:prstGeom prst="rect">
            <a:avLst/>
          </a:prstGeom>
          <a:solidFill>
            <a:srgbClr val="E8E8E8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Top-down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B99AE9-2D8D-495B-B799-888B215A2E77}"/>
              </a:ext>
            </a:extLst>
          </p:cNvPr>
          <p:cNvCxnSpPr>
            <a:cxnSpLocks/>
          </p:cNvCxnSpPr>
          <p:nvPr/>
        </p:nvCxnSpPr>
        <p:spPr>
          <a:xfrm flipH="1" flipV="1">
            <a:off x="2508859" y="2753710"/>
            <a:ext cx="1702681" cy="155553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81F0AD1-1CF7-48DB-9301-67888CF7F632}"/>
              </a:ext>
            </a:extLst>
          </p:cNvPr>
          <p:cNvSpPr txBox="1"/>
          <p:nvPr/>
        </p:nvSpPr>
        <p:spPr>
          <a:xfrm>
            <a:off x="2430028" y="3163301"/>
            <a:ext cx="1797275" cy="523220"/>
          </a:xfrm>
          <a:prstGeom prst="rect">
            <a:avLst/>
          </a:prstGeom>
          <a:solidFill>
            <a:srgbClr val="E8E8E8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Bottom-up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F5B90CC-EC71-45B3-81AD-08A544C19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305" y="64981"/>
            <a:ext cx="4575681" cy="1402032"/>
          </a:xfrm>
        </p:spPr>
        <p:txBody>
          <a:bodyPr>
            <a:normAutofit/>
          </a:bodyPr>
          <a:lstStyle/>
          <a:p>
            <a:r>
              <a:rPr lang="fr-FR" sz="3100" dirty="0"/>
              <a:t>Perspectives</a:t>
            </a:r>
            <a:endParaRPr lang="en-US" sz="3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1B2CBF-7B5C-4CB0-AD35-8C203AF4F4F2}"/>
              </a:ext>
            </a:extLst>
          </p:cNvPr>
          <p:cNvSpPr txBox="1"/>
          <p:nvPr/>
        </p:nvSpPr>
        <p:spPr>
          <a:xfrm>
            <a:off x="7010304" y="1351429"/>
            <a:ext cx="442495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Similar approach for roots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Plasticity analyses 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200" dirty="0"/>
              <a:t>restrain </a:t>
            </a:r>
            <a:r>
              <a:rPr lang="en-US" sz="2200" dirty="0" err="1"/>
              <a:t>morphospace</a:t>
            </a:r>
            <a:r>
              <a:rPr lang="en-US" sz="2200" dirty="0"/>
              <a:t> a posteriori or implement rules during growth (allometries, compute </a:t>
            </a:r>
            <a:r>
              <a:rPr lang="en-US" sz="2200" dirty="0" err="1"/>
              <a:t>neighbourhood</a:t>
            </a:r>
            <a:r>
              <a:rPr lang="en-US" sz="2200" dirty="0"/>
              <a:t>, </a:t>
            </a:r>
            <a:r>
              <a:rPr lang="en-US" sz="2200" dirty="0" err="1"/>
              <a:t>etc</a:t>
            </a:r>
            <a:r>
              <a:rPr lang="en-US" sz="2200" dirty="0"/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F168B7-3E31-46C3-9CC7-D30FF60DA332}"/>
              </a:ext>
            </a:extLst>
          </p:cNvPr>
          <p:cNvSpPr txBox="1"/>
          <p:nvPr/>
        </p:nvSpPr>
        <p:spPr>
          <a:xfrm>
            <a:off x="7010305" y="4156028"/>
            <a:ext cx="40196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Questions for the community: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Any advice for conceiving a generic parametric </a:t>
            </a:r>
            <a:r>
              <a:rPr lang="en-US" dirty="0" err="1"/>
              <a:t>architectured</a:t>
            </a:r>
            <a:r>
              <a:rPr lang="en-US" dirty="0"/>
              <a:t> model for both grasses and legumes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are your insights regarding the </a:t>
            </a:r>
            <a:r>
              <a:rPr lang="en-US" dirty="0" err="1"/>
              <a:t>archi</a:t>
            </a:r>
            <a:r>
              <a:rPr lang="en-US" dirty="0"/>
              <a:t> traits and spatial aspects relevant to consider in crop models 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FC48D8-14F9-42A7-8FB1-611251BAD182}"/>
              </a:ext>
            </a:extLst>
          </p:cNvPr>
          <p:cNvSpPr txBox="1"/>
          <p:nvPr/>
        </p:nvSpPr>
        <p:spPr>
          <a:xfrm>
            <a:off x="4332400" y="4309241"/>
            <a:ext cx="1797275" cy="1015663"/>
          </a:xfrm>
          <a:prstGeom prst="rect">
            <a:avLst/>
          </a:prstGeom>
          <a:solidFill>
            <a:srgbClr val="E8E8E8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Archi traits or spatial aspects of interest ?</a:t>
            </a:r>
          </a:p>
        </p:txBody>
      </p:sp>
    </p:spTree>
    <p:extLst>
      <p:ext uri="{BB962C8B-B14F-4D97-AF65-F5344CB8AC3E}">
        <p14:creationId xmlns:p14="http://schemas.microsoft.com/office/powerpoint/2010/main" val="296545136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AAEAEC55338B4CBD1310BC20ECA43B" ma:contentTypeVersion="6" ma:contentTypeDescription="Crée un document." ma:contentTypeScope="" ma:versionID="f3bee9aad377d983e5ace40107548819">
  <xsd:schema xmlns:xsd="http://www.w3.org/2001/XMLSchema" xmlns:xs="http://www.w3.org/2001/XMLSchema" xmlns:p="http://schemas.microsoft.com/office/2006/metadata/properties" xmlns:ns2="5e11a331-0175-485c-b5bc-7baf3794bcc4" xmlns:ns3="6123b362-d884-4010-ad19-191a22b79bf5" targetNamespace="http://schemas.microsoft.com/office/2006/metadata/properties" ma:root="true" ma:fieldsID="da4ddf064b527fafbeea9bca5b83bae1" ns2:_="" ns3:_="">
    <xsd:import namespace="5e11a331-0175-485c-b5bc-7baf3794bcc4"/>
    <xsd:import namespace="6123b362-d884-4010-ad19-191a22b79b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1a331-0175-485c-b5bc-7baf3794b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23b362-d884-4010-ad19-191a22b79bf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1A9BF6-46C8-4A93-8A6C-1B6AB6A487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367EEE-588A-43EA-B4CA-B132941618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1a331-0175-485c-b5bc-7baf3794bcc4"/>
    <ds:schemaRef ds:uri="6123b362-d884-4010-ad19-191a22b79b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25300</TotalTime>
  <Words>1232</Words>
  <Application>Microsoft Office PowerPoint</Application>
  <PresentationFormat>Widescreen</PresentationFormat>
  <Paragraphs>255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Cambria Math</vt:lpstr>
      <vt:lpstr>Courier New,monospace</vt:lpstr>
      <vt:lpstr>Wingdings</vt:lpstr>
      <vt:lpstr>Thème Office</vt:lpstr>
      <vt:lpstr>Architecturing crop models  for intercrops  using a multiscale modelling approach</vt:lpstr>
      <vt:lpstr>Context</vt:lpstr>
      <vt:lpstr>Intercropping systems</vt:lpstr>
      <vt:lpstr>State of the art of plant and crop models</vt:lpstr>
      <vt:lpstr>Exemple of process : light interception</vt:lpstr>
      <vt:lpstr>Limits of existing models for modelling intercrops </vt:lpstr>
      <vt:lpstr>Hybrid formalism</vt:lpstr>
      <vt:lpstr>Hybrid approaches for intercrops</vt:lpstr>
      <vt:lpstr>My PhD : Multiscale hybrid modelling for intercrops </vt:lpstr>
      <vt:lpstr>Conception of a Structural Parametric Plant Model (SPPM)</vt:lpstr>
      <vt:lpstr>Different scales of heterogeneity for a simulated intercrop</vt:lpstr>
      <vt:lpstr>Constrain the growth of plant organs with crop model outputs</vt:lpstr>
      <vt:lpstr>Distribution of the constraints (growth) </vt:lpstr>
      <vt:lpstr>Workflow of simulations </vt:lpstr>
      <vt:lpstr>Perspectives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braud</dc:creator>
  <cp:lastModifiedBy>Oriane BRAUD</cp:lastModifiedBy>
  <cp:revision>1007</cp:revision>
  <dcterms:created xsi:type="dcterms:W3CDTF">2024-06-25T09:40:25Z</dcterms:created>
  <dcterms:modified xsi:type="dcterms:W3CDTF">2024-09-20T09:11:20Z</dcterms:modified>
</cp:coreProperties>
</file>