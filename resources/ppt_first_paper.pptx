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0" r:id="rId4"/>
    <p:sldId id="298" r:id="rId5"/>
    <p:sldId id="301" r:id="rId6"/>
    <p:sldId id="299" r:id="rId7"/>
    <p:sldId id="274" r:id="rId8"/>
    <p:sldId id="302" r:id="rId9"/>
    <p:sldId id="300" r:id="rId10"/>
    <p:sldId id="276" r:id="rId11"/>
    <p:sldId id="262" r:id="rId12"/>
    <p:sldId id="280" r:id="rId13"/>
    <p:sldId id="283" r:id="rId14"/>
    <p:sldId id="264" r:id="rId15"/>
    <p:sldId id="266" r:id="rId16"/>
    <p:sldId id="269" r:id="rId17"/>
    <p:sldId id="270" r:id="rId18"/>
    <p:sldId id="303" r:id="rId19"/>
    <p:sldId id="26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41" autoAdjust="0"/>
    <p:restoredTop sz="81943" autoAdjust="0"/>
  </p:normalViewPr>
  <p:slideViewPr>
    <p:cSldViewPr snapToGrid="0">
      <p:cViewPr varScale="1">
        <p:scale>
          <a:sx n="71" d="100"/>
          <a:sy n="71" d="100"/>
        </p:scale>
        <p:origin x="97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0B21E-5D10-4D67-B2AA-B5F16B5D6DF5}" type="datetimeFigureOut">
              <a:rPr lang="en-US" smtClean="0"/>
              <a:t>11/15/2024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375114-6378-4D1A-96E7-C8B1CB8320F7}" type="slidenum">
              <a:rPr lang="en-US" smtClean="0"/>
              <a:t>‹#›</a:t>
            </a:fld>
            <a:endParaRPr lang="en-US"/>
          </a:p>
        </p:txBody>
      </p:sp>
    </p:spTree>
    <p:extLst>
      <p:ext uri="{BB962C8B-B14F-4D97-AF65-F5344CB8AC3E}">
        <p14:creationId xmlns:p14="http://schemas.microsoft.com/office/powerpoint/2010/main" val="278591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For modeling heterogeneous cropping systems, considering 3D explicit plant architecture is interesting. Measurements of 3D plants are hard to get. We know some allometric relationships between plant architectural parameters, as well as development patterns. Crop models, which operate at canopy scale thanks to homogeneous hypotheses, are easily calibrated and integrate environmental stresses. </a:t>
            </a:r>
          </a:p>
          <a:p>
            <a:pPr rtl="0" fontAlgn="base"/>
            <a:r>
              <a:rPr lang="en-US" sz="1200" b="0" i="1" kern="1200" dirty="0">
                <a:solidFill>
                  <a:schemeClr val="tx1"/>
                </a:solidFill>
                <a:effectLst/>
                <a:latin typeface="+mn-lt"/>
                <a:ea typeface="+mn-ea"/>
                <a:cs typeface="+mn-cs"/>
              </a:rPr>
              <a:t>How to conceive a 3D cereal model with few architectural and developmental parameters and with a canopy-scale constrain on growth ?</a:t>
            </a:r>
            <a:r>
              <a:rPr lang="en-US" sz="1200" b="0" i="0" kern="1200" dirty="0">
                <a:solidFill>
                  <a:schemeClr val="tx1"/>
                </a:solidFill>
                <a:effectLst/>
                <a:latin typeface="+mn-lt"/>
                <a:ea typeface="+mn-ea"/>
                <a:cs typeface="+mn-cs"/>
              </a:rPr>
              <a:t> </a:t>
            </a:r>
          </a:p>
          <a:p>
            <a:pPr rtl="0" fontAlgn="base"/>
            <a:r>
              <a:rPr lang="en-US" sz="1200" b="0" i="0" kern="1200" dirty="0">
                <a:solidFill>
                  <a:schemeClr val="tx1"/>
                </a:solidFill>
                <a:effectLst/>
                <a:latin typeface="+mn-lt"/>
                <a:ea typeface="+mn-ea"/>
                <a:cs typeface="+mn-cs"/>
              </a:rPr>
              <a:t>We conceive a well-constrained parametric 3D cereal model, with known allometric relationships between parameters, and using a top-down approach to simulate the differential growth of cereal plants through time from canopy-scale dynamic constraints on growth (e.g. crop model simulation outputs). </a:t>
            </a:r>
          </a:p>
          <a:p>
            <a:endParaRPr lang="en-US" dirty="0"/>
          </a:p>
        </p:txBody>
      </p:sp>
      <p:sp>
        <p:nvSpPr>
          <p:cNvPr id="4" name="Slide Number Placeholder 3"/>
          <p:cNvSpPr>
            <a:spLocks noGrp="1"/>
          </p:cNvSpPr>
          <p:nvPr>
            <p:ph type="sldNum" sz="quarter" idx="5"/>
          </p:nvPr>
        </p:nvSpPr>
        <p:spPr/>
        <p:txBody>
          <a:bodyPr/>
          <a:lstStyle/>
          <a:p>
            <a:fld id="{2B375114-6378-4D1A-96E7-C8B1CB8320F7}" type="slidenum">
              <a:rPr lang="en-US" smtClean="0"/>
              <a:t>2</a:t>
            </a:fld>
            <a:endParaRPr lang="en-US"/>
          </a:p>
        </p:txBody>
      </p:sp>
    </p:spTree>
    <p:extLst>
      <p:ext uri="{BB962C8B-B14F-4D97-AF65-F5344CB8AC3E}">
        <p14:creationId xmlns:p14="http://schemas.microsoft.com/office/powerpoint/2010/main" val="94588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Limits due to </a:t>
            </a:r>
            <a:r>
              <a:rPr lang="fr-FR" dirty="0" err="1"/>
              <a:t>scale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integrate </a:t>
            </a:r>
            <a:r>
              <a:rPr lang="en-US" b="1" dirty="0"/>
              <a:t>environmental stresses</a:t>
            </a:r>
            <a:r>
              <a:rPr lang="en-US" dirty="0"/>
              <a:t>, as factors of reduction for processes of a potential averaged plant </a:t>
            </a:r>
          </a:p>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4</a:t>
            </a:fld>
            <a:endParaRPr lang="en-US"/>
          </a:p>
        </p:txBody>
      </p:sp>
    </p:spTree>
    <p:extLst>
      <p:ext uri="{BB962C8B-B14F-4D97-AF65-F5344CB8AC3E}">
        <p14:creationId xmlns:p14="http://schemas.microsoft.com/office/powerpoint/2010/main" val="3541011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Data-</a:t>
            </a:r>
            <a:r>
              <a:rPr lang="fr-FR" dirty="0" err="1"/>
              <a:t>driven</a:t>
            </a:r>
            <a:endParaRPr lang="fr-FR" dirty="0"/>
          </a:p>
          <a:p>
            <a:r>
              <a:rPr lang="fr-FR" dirty="0"/>
              <a:t>Limits due to </a:t>
            </a:r>
            <a:r>
              <a:rPr lang="fr-FR" dirty="0" err="1"/>
              <a:t>scale</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 Evers et al., 2005; Zhu et al., 2015; Evers et al., 2019; </a:t>
            </a:r>
            <a:r>
              <a:rPr lang="en-US" dirty="0" err="1"/>
              <a:t>Louarn</a:t>
            </a:r>
            <a:r>
              <a:rPr lang="en-US" dirty="0"/>
              <a:t> and Song, 2020; </a:t>
            </a:r>
            <a:r>
              <a:rPr lang="en-US" dirty="0" err="1"/>
              <a:t>Courturier</a:t>
            </a:r>
            <a:r>
              <a:rPr lang="en-US" dirty="0"/>
              <a:t> et al., 2022; Hammer et al., 2023; </a:t>
            </a:r>
            <a:r>
              <a:rPr lang="en-US" dirty="0" err="1"/>
              <a:t>etc</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6</a:t>
            </a:fld>
            <a:endParaRPr lang="en-US"/>
          </a:p>
        </p:txBody>
      </p:sp>
    </p:spTree>
    <p:extLst>
      <p:ext uri="{BB962C8B-B14F-4D97-AF65-F5344CB8AC3E}">
        <p14:creationId xmlns:p14="http://schemas.microsoft.com/office/powerpoint/2010/main" val="3617500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err="1"/>
              <a:t>Abichou</a:t>
            </a:r>
            <a:r>
              <a:rPr lang="en-US" dirty="0"/>
              <a:t> et al., 2018; Fournier</a:t>
            </a:r>
          </a:p>
          <a:p>
            <a:pPr marL="0" indent="0">
              <a:buNone/>
            </a:pPr>
            <a:endParaRPr lang="en-US" dirty="0"/>
          </a:p>
          <a:p>
            <a:pPr marL="0" indent="0">
              <a:buNone/>
            </a:pPr>
            <a:r>
              <a:rPr lang="en-US" dirty="0"/>
              <a:t>The growth of </a:t>
            </a:r>
            <a:r>
              <a:rPr lang="en-US" dirty="0" err="1"/>
              <a:t>architectured</a:t>
            </a:r>
            <a:r>
              <a:rPr lang="en-US" dirty="0"/>
              <a:t> plant organs does not emerge from local laws, nor is directly conditioned by environmental resources. Indeed, it is calculated using an </a:t>
            </a:r>
            <a:r>
              <a:rPr lang="en-US" dirty="0" err="1"/>
              <a:t>integro</a:t>
            </a:r>
            <a:r>
              <a:rPr lang="en-US" dirty="0"/>
              <a:t>-differential approach from a global constraint. </a:t>
            </a:r>
          </a:p>
          <a:p>
            <a:pPr marL="0" indent="0">
              <a:buNone/>
            </a:pPr>
            <a:endParaRPr lang="en-US" dirty="0"/>
          </a:p>
          <a:p>
            <a:pPr marL="0" indent="0">
              <a:buNone/>
            </a:pPr>
            <a:r>
              <a:rPr lang="fr-FR" dirty="0" err="1"/>
              <a:t>ArchiCrop</a:t>
            </a:r>
            <a:r>
              <a:rPr lang="fr-FR" dirty="0"/>
              <a:t>, </a:t>
            </a:r>
            <a:br>
              <a:rPr lang="fr-FR" dirty="0"/>
            </a:br>
            <a:r>
              <a:rPr lang="fr-FR" dirty="0"/>
              <a:t>a 3D </a:t>
            </a:r>
            <a:r>
              <a:rPr lang="fr-FR" dirty="0" err="1"/>
              <a:t>dynamic</a:t>
            </a:r>
            <a:r>
              <a:rPr lang="fr-FR" dirty="0"/>
              <a:t> </a:t>
            </a:r>
            <a:r>
              <a:rPr lang="fr-FR" dirty="0" err="1"/>
              <a:t>parametric</a:t>
            </a:r>
            <a:r>
              <a:rPr lang="fr-FR" dirty="0"/>
              <a:t> model for </a:t>
            </a:r>
            <a:r>
              <a:rPr lang="fr-FR" dirty="0" err="1"/>
              <a:t>cereals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a top-down approach to simulate the differential growth of cereal plants through time from canopy-scale dynamic constraints on growth (e.g. crop model simulation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9</a:t>
            </a:fld>
            <a:endParaRPr lang="en-US"/>
          </a:p>
        </p:txBody>
      </p:sp>
    </p:spTree>
    <p:extLst>
      <p:ext uri="{BB962C8B-B14F-4D97-AF65-F5344CB8AC3E}">
        <p14:creationId xmlns:p14="http://schemas.microsoft.com/office/powerpoint/2010/main" val="1871060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err="1"/>
              <a:t>Abichou</a:t>
            </a:r>
            <a:r>
              <a:rPr lang="en-US" dirty="0"/>
              <a:t> et al., 2018; Fournier</a:t>
            </a:r>
          </a:p>
          <a:p>
            <a:pPr marL="0" indent="0">
              <a:buNone/>
            </a:pPr>
            <a:endParaRPr lang="en-US" dirty="0"/>
          </a:p>
          <a:p>
            <a:pPr marL="0" indent="0">
              <a:buNone/>
            </a:pPr>
            <a:r>
              <a:rPr lang="en-US" dirty="0"/>
              <a:t>The growth of </a:t>
            </a:r>
            <a:r>
              <a:rPr lang="en-US" dirty="0" err="1"/>
              <a:t>architectured</a:t>
            </a:r>
            <a:r>
              <a:rPr lang="en-US" dirty="0"/>
              <a:t> plant organs does not emerge from local laws, nor is directly conditioned by environmental resources. Indeed, it is calculated using an </a:t>
            </a:r>
            <a:r>
              <a:rPr lang="en-US" dirty="0" err="1"/>
              <a:t>integro</a:t>
            </a:r>
            <a:r>
              <a:rPr lang="en-US" dirty="0"/>
              <a:t>-differential approach from a global constraint. </a:t>
            </a:r>
          </a:p>
          <a:p>
            <a:pPr marL="0" indent="0">
              <a:buNone/>
            </a:pPr>
            <a:endParaRPr lang="en-US" dirty="0"/>
          </a:p>
          <a:p>
            <a:pPr marL="0" indent="0">
              <a:buNone/>
            </a:pPr>
            <a:r>
              <a:rPr lang="fr-FR" dirty="0" err="1"/>
              <a:t>ArchiCrop</a:t>
            </a:r>
            <a:r>
              <a:rPr lang="fr-FR" dirty="0"/>
              <a:t>, </a:t>
            </a:r>
            <a:br>
              <a:rPr lang="fr-FR" dirty="0"/>
            </a:br>
            <a:r>
              <a:rPr lang="fr-FR" dirty="0"/>
              <a:t>a 3D </a:t>
            </a:r>
            <a:r>
              <a:rPr lang="fr-FR" dirty="0" err="1"/>
              <a:t>dynamic</a:t>
            </a:r>
            <a:r>
              <a:rPr lang="fr-FR" dirty="0"/>
              <a:t> </a:t>
            </a:r>
            <a:r>
              <a:rPr lang="fr-FR" dirty="0" err="1"/>
              <a:t>parametric</a:t>
            </a:r>
            <a:r>
              <a:rPr lang="fr-FR" dirty="0"/>
              <a:t> model for </a:t>
            </a:r>
            <a:r>
              <a:rPr lang="fr-FR" dirty="0" err="1"/>
              <a:t>cereals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a top-down approach to simulate the differential growth of cereal plants through time from canopy-scale dynamic constraints on growth (e.g. crop model simulation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indent="0">
              <a:buNone/>
            </a:pPr>
            <a:endParaRPr lang="en-US" dirty="0"/>
          </a:p>
          <a:p>
            <a:pPr marL="0" indent="0">
              <a:buNone/>
            </a:pP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18</a:t>
            </a:fld>
            <a:endParaRPr lang="en-US"/>
          </a:p>
        </p:txBody>
      </p:sp>
    </p:spTree>
    <p:extLst>
      <p:ext uri="{BB962C8B-B14F-4D97-AF65-F5344CB8AC3E}">
        <p14:creationId xmlns:p14="http://schemas.microsoft.com/office/powerpoint/2010/main" val="308494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37FC-CB86-4C26-B9FC-BF3D3BEDD7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3B56AD-8C96-487E-BFED-B015CC35BF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A57671-BCA9-4F82-B427-97A63B711DB2}"/>
              </a:ext>
            </a:extLst>
          </p:cNvPr>
          <p:cNvSpPr>
            <a:spLocks noGrp="1"/>
          </p:cNvSpPr>
          <p:nvPr>
            <p:ph type="dt" sz="half" idx="10"/>
          </p:nvPr>
        </p:nvSpPr>
        <p:spPr/>
        <p:txBody>
          <a:bodyPr/>
          <a:lstStyle/>
          <a:p>
            <a:fld id="{7E4D1F74-A6F3-404E-BDC7-F4333547AFC5}" type="datetime1">
              <a:rPr lang="en-US" smtClean="0"/>
              <a:t>11/15/2024</a:t>
            </a:fld>
            <a:endParaRPr lang="en-US"/>
          </a:p>
        </p:txBody>
      </p:sp>
      <p:sp>
        <p:nvSpPr>
          <p:cNvPr id="5" name="Footer Placeholder 4">
            <a:extLst>
              <a:ext uri="{FF2B5EF4-FFF2-40B4-BE49-F238E27FC236}">
                <a16:creationId xmlns:a16="http://schemas.microsoft.com/office/drawing/2014/main" id="{8EC6290D-1F19-40BD-A644-A5BBAE99D1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16281-46AB-4323-BE94-532FE185B76B}"/>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3748009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F0BBC-4BBE-4EC5-B91B-E9FDCC20D7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91AD2-C4EC-4FA4-BC3B-907604B8B53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48F6DC-E844-42F3-AEBF-66AC30E93228}"/>
              </a:ext>
            </a:extLst>
          </p:cNvPr>
          <p:cNvSpPr>
            <a:spLocks noGrp="1"/>
          </p:cNvSpPr>
          <p:nvPr>
            <p:ph type="dt" sz="half" idx="10"/>
          </p:nvPr>
        </p:nvSpPr>
        <p:spPr/>
        <p:txBody>
          <a:bodyPr/>
          <a:lstStyle/>
          <a:p>
            <a:fld id="{6B672423-A6E0-415E-80EC-C98D7BABBA88}" type="datetime1">
              <a:rPr lang="en-US" smtClean="0"/>
              <a:t>11/15/2024</a:t>
            </a:fld>
            <a:endParaRPr lang="en-US"/>
          </a:p>
        </p:txBody>
      </p:sp>
      <p:sp>
        <p:nvSpPr>
          <p:cNvPr id="5" name="Footer Placeholder 4">
            <a:extLst>
              <a:ext uri="{FF2B5EF4-FFF2-40B4-BE49-F238E27FC236}">
                <a16:creationId xmlns:a16="http://schemas.microsoft.com/office/drawing/2014/main" id="{97B6629D-F2C1-48FA-A007-4089F8EEE2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E6120-ABE3-4FA9-920F-F724185083DB}"/>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2851980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A2EA-81C5-4B9B-A70E-BB1DCE4DA7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9AB019-DD33-4E53-B018-5D1B0617E2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0F94D1E-B101-4B75-AE2E-0780BF49833D}"/>
              </a:ext>
            </a:extLst>
          </p:cNvPr>
          <p:cNvSpPr>
            <a:spLocks noGrp="1"/>
          </p:cNvSpPr>
          <p:nvPr>
            <p:ph type="dt" sz="half" idx="10"/>
          </p:nvPr>
        </p:nvSpPr>
        <p:spPr/>
        <p:txBody>
          <a:bodyPr/>
          <a:lstStyle/>
          <a:p>
            <a:fld id="{FF6ED73A-8C86-4FCB-9A91-E8C51402F3A2}" type="datetime1">
              <a:rPr lang="en-US" smtClean="0"/>
              <a:t>11/15/2024</a:t>
            </a:fld>
            <a:endParaRPr lang="en-US"/>
          </a:p>
        </p:txBody>
      </p:sp>
      <p:sp>
        <p:nvSpPr>
          <p:cNvPr id="5" name="Footer Placeholder 4">
            <a:extLst>
              <a:ext uri="{FF2B5EF4-FFF2-40B4-BE49-F238E27FC236}">
                <a16:creationId xmlns:a16="http://schemas.microsoft.com/office/drawing/2014/main" id="{FADF8E05-3055-4D0A-8B8F-D60E9F1102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B89BF9-9878-4FBD-87A3-D0F62EF4CC94}"/>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3005811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4A55C-0351-4496-B76A-6D6595EEB0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6E3E-42A4-4D14-9A49-416E127DAC1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65D3F4-B1CF-4E24-A674-77897660576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63443C-062A-40EA-B6EB-A91A645EFAF0}"/>
              </a:ext>
            </a:extLst>
          </p:cNvPr>
          <p:cNvSpPr>
            <a:spLocks noGrp="1"/>
          </p:cNvSpPr>
          <p:nvPr>
            <p:ph type="dt" sz="half" idx="10"/>
          </p:nvPr>
        </p:nvSpPr>
        <p:spPr/>
        <p:txBody>
          <a:bodyPr/>
          <a:lstStyle/>
          <a:p>
            <a:fld id="{DB15C31A-116B-46B1-BCEF-7A27890F74C4}" type="datetime1">
              <a:rPr lang="en-US" smtClean="0"/>
              <a:t>11/15/2024</a:t>
            </a:fld>
            <a:endParaRPr lang="en-US"/>
          </a:p>
        </p:txBody>
      </p:sp>
      <p:sp>
        <p:nvSpPr>
          <p:cNvPr id="6" name="Footer Placeholder 5">
            <a:extLst>
              <a:ext uri="{FF2B5EF4-FFF2-40B4-BE49-F238E27FC236}">
                <a16:creationId xmlns:a16="http://schemas.microsoft.com/office/drawing/2014/main" id="{AE3C174D-83D2-48AA-807C-56CA5872FC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5CBC47-4E3D-4A86-BF44-DF5F49FE4346}"/>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56094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323FE-0E96-451C-A5E4-47E834AADA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91BB70-CC2B-404F-BE59-75AACF147E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799353C-D446-42B0-9927-AE6F3641895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D6AED9-BEE5-474C-BE5F-E2E27B4442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EF09B35-465D-4726-A1FE-E8517DB51A6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3712A6-790A-42A6-B856-AB8C40F8B11A}"/>
              </a:ext>
            </a:extLst>
          </p:cNvPr>
          <p:cNvSpPr>
            <a:spLocks noGrp="1"/>
          </p:cNvSpPr>
          <p:nvPr>
            <p:ph type="dt" sz="half" idx="10"/>
          </p:nvPr>
        </p:nvSpPr>
        <p:spPr/>
        <p:txBody>
          <a:bodyPr/>
          <a:lstStyle/>
          <a:p>
            <a:fld id="{54250EC2-844E-41B5-BBDF-73A89F6588DF}" type="datetime1">
              <a:rPr lang="en-US" smtClean="0"/>
              <a:t>11/15/2024</a:t>
            </a:fld>
            <a:endParaRPr lang="en-US"/>
          </a:p>
        </p:txBody>
      </p:sp>
      <p:sp>
        <p:nvSpPr>
          <p:cNvPr id="8" name="Footer Placeholder 7">
            <a:extLst>
              <a:ext uri="{FF2B5EF4-FFF2-40B4-BE49-F238E27FC236}">
                <a16:creationId xmlns:a16="http://schemas.microsoft.com/office/drawing/2014/main" id="{569486F5-B64E-4A6E-9B4A-E605B2F5DD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2D9D73-95D3-4F4D-8ADE-5B0D3C89B5B4}"/>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3849042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ED8DA-3CAA-4EE2-9B47-9D978DA893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81EE0F-1172-48FE-B71C-4BD73F7B4379}"/>
              </a:ext>
            </a:extLst>
          </p:cNvPr>
          <p:cNvSpPr>
            <a:spLocks noGrp="1"/>
          </p:cNvSpPr>
          <p:nvPr>
            <p:ph type="dt" sz="half" idx="10"/>
          </p:nvPr>
        </p:nvSpPr>
        <p:spPr/>
        <p:txBody>
          <a:bodyPr/>
          <a:lstStyle/>
          <a:p>
            <a:fld id="{CE82E0A7-92AF-4745-BCA1-599ECD02E67F}" type="datetime1">
              <a:rPr lang="en-US" smtClean="0"/>
              <a:t>11/15/2024</a:t>
            </a:fld>
            <a:endParaRPr lang="en-US"/>
          </a:p>
        </p:txBody>
      </p:sp>
      <p:sp>
        <p:nvSpPr>
          <p:cNvPr id="4" name="Footer Placeholder 3">
            <a:extLst>
              <a:ext uri="{FF2B5EF4-FFF2-40B4-BE49-F238E27FC236}">
                <a16:creationId xmlns:a16="http://schemas.microsoft.com/office/drawing/2014/main" id="{9A2F719C-150C-4B4C-8C19-F681DCAF1C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DDC7E6-E1C0-4E56-813A-AE50D2806C15}"/>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3204110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073ADD-69BE-4308-903F-A93A457A1E6B}"/>
              </a:ext>
            </a:extLst>
          </p:cNvPr>
          <p:cNvSpPr>
            <a:spLocks noGrp="1"/>
          </p:cNvSpPr>
          <p:nvPr>
            <p:ph type="dt" sz="half" idx="10"/>
          </p:nvPr>
        </p:nvSpPr>
        <p:spPr/>
        <p:txBody>
          <a:bodyPr/>
          <a:lstStyle/>
          <a:p>
            <a:fld id="{9D35E66C-7C8E-4FED-A762-7062D27E2111}" type="datetime1">
              <a:rPr lang="en-US" smtClean="0"/>
              <a:t>11/15/2024</a:t>
            </a:fld>
            <a:endParaRPr lang="en-US"/>
          </a:p>
        </p:txBody>
      </p:sp>
      <p:sp>
        <p:nvSpPr>
          <p:cNvPr id="3" name="Footer Placeholder 2">
            <a:extLst>
              <a:ext uri="{FF2B5EF4-FFF2-40B4-BE49-F238E27FC236}">
                <a16:creationId xmlns:a16="http://schemas.microsoft.com/office/drawing/2014/main" id="{8ECC9292-FA2E-4864-A924-FBABFA84FB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3B2973-EF60-445F-B415-283934E27178}"/>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3917082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9C281-3C6F-44C9-BFF1-BBC616A294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56C44-F9C2-408E-AB7F-F3017B9A04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363393-29AF-4D51-9098-702BCA217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8DCBDD8-B6B2-4106-9CE3-A10793717E29}"/>
              </a:ext>
            </a:extLst>
          </p:cNvPr>
          <p:cNvSpPr>
            <a:spLocks noGrp="1"/>
          </p:cNvSpPr>
          <p:nvPr>
            <p:ph type="dt" sz="half" idx="10"/>
          </p:nvPr>
        </p:nvSpPr>
        <p:spPr/>
        <p:txBody>
          <a:bodyPr/>
          <a:lstStyle/>
          <a:p>
            <a:fld id="{74FDD5E7-8180-49E2-853B-8300CA7870D9}" type="datetime1">
              <a:rPr lang="en-US" smtClean="0"/>
              <a:t>11/15/2024</a:t>
            </a:fld>
            <a:endParaRPr lang="en-US"/>
          </a:p>
        </p:txBody>
      </p:sp>
      <p:sp>
        <p:nvSpPr>
          <p:cNvPr id="6" name="Footer Placeholder 5">
            <a:extLst>
              <a:ext uri="{FF2B5EF4-FFF2-40B4-BE49-F238E27FC236}">
                <a16:creationId xmlns:a16="http://schemas.microsoft.com/office/drawing/2014/main" id="{19516483-9EB0-42E1-9B9E-31D0760557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CB91A7-440A-4B58-A020-14D8625B306B}"/>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3999722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B480-8810-462B-A08A-27751D72D6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EDEB08-3CE4-430B-AB07-C274628AD8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46F3B3-1336-4B60-BCAB-98B3C8FE6F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DE3A2E-1C3F-43BD-83D5-007D36ACCDC4}"/>
              </a:ext>
            </a:extLst>
          </p:cNvPr>
          <p:cNvSpPr>
            <a:spLocks noGrp="1"/>
          </p:cNvSpPr>
          <p:nvPr>
            <p:ph type="dt" sz="half" idx="10"/>
          </p:nvPr>
        </p:nvSpPr>
        <p:spPr/>
        <p:txBody>
          <a:bodyPr/>
          <a:lstStyle/>
          <a:p>
            <a:fld id="{18F7B161-BA87-40A6-B2A2-26EB11F75897}" type="datetime1">
              <a:rPr lang="en-US" smtClean="0"/>
              <a:t>11/15/2024</a:t>
            </a:fld>
            <a:endParaRPr lang="en-US"/>
          </a:p>
        </p:txBody>
      </p:sp>
      <p:sp>
        <p:nvSpPr>
          <p:cNvPr id="6" name="Footer Placeholder 5">
            <a:extLst>
              <a:ext uri="{FF2B5EF4-FFF2-40B4-BE49-F238E27FC236}">
                <a16:creationId xmlns:a16="http://schemas.microsoft.com/office/drawing/2014/main" id="{443A38AE-77E1-44C1-9057-76D01AE5A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D6805E-5B82-4141-B59F-2C892D3906EB}"/>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275895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95CD-7983-4E7D-8D20-9E94374AA3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B2C0EB-B41E-44B7-BF6D-845F90A14F2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DF78C-677A-492A-A445-DB2313AEBF0A}"/>
              </a:ext>
            </a:extLst>
          </p:cNvPr>
          <p:cNvSpPr>
            <a:spLocks noGrp="1"/>
          </p:cNvSpPr>
          <p:nvPr>
            <p:ph type="dt" sz="half" idx="10"/>
          </p:nvPr>
        </p:nvSpPr>
        <p:spPr/>
        <p:txBody>
          <a:bodyPr/>
          <a:lstStyle/>
          <a:p>
            <a:fld id="{A9A3BC48-04C9-4793-98FC-622638BB236C}" type="datetime1">
              <a:rPr lang="en-US" smtClean="0"/>
              <a:t>11/15/2024</a:t>
            </a:fld>
            <a:endParaRPr lang="en-US"/>
          </a:p>
        </p:txBody>
      </p:sp>
      <p:sp>
        <p:nvSpPr>
          <p:cNvPr id="5" name="Footer Placeholder 4">
            <a:extLst>
              <a:ext uri="{FF2B5EF4-FFF2-40B4-BE49-F238E27FC236}">
                <a16:creationId xmlns:a16="http://schemas.microsoft.com/office/drawing/2014/main" id="{A308E6FC-43A5-4255-AB98-14A853612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597C6-148F-4D58-B7F1-29CD13B1BDF4}"/>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2868390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ACA074-ADC7-4FC0-9B79-4B7F0945CB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616A2F-07B6-478F-BAA4-60EE4B85C6C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529DB6-DF13-48EB-B450-B8080E762175}"/>
              </a:ext>
            </a:extLst>
          </p:cNvPr>
          <p:cNvSpPr>
            <a:spLocks noGrp="1"/>
          </p:cNvSpPr>
          <p:nvPr>
            <p:ph type="dt" sz="half" idx="10"/>
          </p:nvPr>
        </p:nvSpPr>
        <p:spPr/>
        <p:txBody>
          <a:bodyPr/>
          <a:lstStyle/>
          <a:p>
            <a:fld id="{70B8B28E-41C6-4AF3-8594-898D986E9E6E}" type="datetime1">
              <a:rPr lang="en-US" smtClean="0"/>
              <a:t>11/15/2024</a:t>
            </a:fld>
            <a:endParaRPr lang="en-US"/>
          </a:p>
        </p:txBody>
      </p:sp>
      <p:sp>
        <p:nvSpPr>
          <p:cNvPr id="5" name="Footer Placeholder 4">
            <a:extLst>
              <a:ext uri="{FF2B5EF4-FFF2-40B4-BE49-F238E27FC236}">
                <a16:creationId xmlns:a16="http://schemas.microsoft.com/office/drawing/2014/main" id="{46F6C2FE-58BB-47D4-BE48-E21DA917C8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D9C29-1F07-4A1C-A2E6-3028195A6A95}"/>
              </a:ext>
            </a:extLst>
          </p:cNvPr>
          <p:cNvSpPr>
            <a:spLocks noGrp="1"/>
          </p:cNvSpPr>
          <p:nvPr>
            <p:ph type="sldNum" sz="quarter" idx="12"/>
          </p:nvPr>
        </p:nvSpPr>
        <p:spPr/>
        <p:txBody>
          <a:bodyPr/>
          <a:lstStyle/>
          <a:p>
            <a:fld id="{4D0921BC-FC9B-4B20-AD4C-0D7EEBC2A9A8}" type="slidenum">
              <a:rPr lang="en-US" smtClean="0"/>
              <a:t>‹#›</a:t>
            </a:fld>
            <a:endParaRPr lang="en-US"/>
          </a:p>
        </p:txBody>
      </p:sp>
    </p:spTree>
    <p:extLst>
      <p:ext uri="{BB962C8B-B14F-4D97-AF65-F5344CB8AC3E}">
        <p14:creationId xmlns:p14="http://schemas.microsoft.com/office/powerpoint/2010/main" val="1750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FB1F77-C08E-49A8-B4D2-9A570EA62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9F3747-0381-4340-8D28-E3A35E1D93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7526C-C02D-4043-B5FD-F0A56B9E5B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D9512A-AD81-4E5D-AC91-CE42C6763460}" type="datetime1">
              <a:rPr lang="en-US" smtClean="0"/>
              <a:t>11/15/2024</a:t>
            </a:fld>
            <a:endParaRPr lang="en-US"/>
          </a:p>
        </p:txBody>
      </p:sp>
      <p:sp>
        <p:nvSpPr>
          <p:cNvPr id="5" name="Footer Placeholder 4">
            <a:extLst>
              <a:ext uri="{FF2B5EF4-FFF2-40B4-BE49-F238E27FC236}">
                <a16:creationId xmlns:a16="http://schemas.microsoft.com/office/drawing/2014/main" id="{297DBE66-DFAE-4519-9F6B-B7DDC915F9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B4C79E-6A72-47B2-B713-244C442D6A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0921BC-FC9B-4B20-AD4C-0D7EEBC2A9A8}" type="slidenum">
              <a:rPr lang="en-US" smtClean="0"/>
              <a:t>‹#›</a:t>
            </a:fld>
            <a:endParaRPr lang="en-US"/>
          </a:p>
        </p:txBody>
      </p:sp>
    </p:spTree>
    <p:extLst>
      <p:ext uri="{BB962C8B-B14F-4D97-AF65-F5344CB8AC3E}">
        <p14:creationId xmlns:p14="http://schemas.microsoft.com/office/powerpoint/2010/main" val="31055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1852-9D26-4EEE-9B4B-3AFC73A52525}"/>
              </a:ext>
            </a:extLst>
          </p:cNvPr>
          <p:cNvSpPr>
            <a:spLocks noGrp="1"/>
          </p:cNvSpPr>
          <p:nvPr>
            <p:ph type="ctrTitle"/>
          </p:nvPr>
        </p:nvSpPr>
        <p:spPr/>
        <p:txBody>
          <a:bodyPr>
            <a:normAutofit fontScale="90000"/>
          </a:bodyPr>
          <a:lstStyle/>
          <a:p>
            <a:r>
              <a:rPr lang="en-US" dirty="0" err="1"/>
              <a:t>ArchiCrop</a:t>
            </a:r>
            <a:r>
              <a:rPr lang="en-US" dirty="0"/>
              <a:t>, a 3D dynamic parametric model for cereals </a:t>
            </a:r>
          </a:p>
        </p:txBody>
      </p:sp>
      <p:sp>
        <p:nvSpPr>
          <p:cNvPr id="3" name="Subtitle 2">
            <a:extLst>
              <a:ext uri="{FF2B5EF4-FFF2-40B4-BE49-F238E27FC236}">
                <a16:creationId xmlns:a16="http://schemas.microsoft.com/office/drawing/2014/main" id="{D6AEF301-2631-4330-86DB-DB658346A899}"/>
              </a:ext>
            </a:extLst>
          </p:cNvPr>
          <p:cNvSpPr>
            <a:spLocks noGrp="1"/>
          </p:cNvSpPr>
          <p:nvPr>
            <p:ph type="subTitle" idx="1"/>
          </p:nvPr>
        </p:nvSpPr>
        <p:spPr/>
        <p:txBody>
          <a:bodyPr/>
          <a:lstStyle/>
          <a:p>
            <a:r>
              <a:rPr lang="fr-FR" dirty="0"/>
              <a:t>Oriane Braud, Thomas </a:t>
            </a:r>
            <a:r>
              <a:rPr lang="fr-FR" dirty="0" err="1"/>
              <a:t>Arsouze</a:t>
            </a:r>
            <a:r>
              <a:rPr lang="fr-FR" dirty="0"/>
              <a:t>, Rémi </a:t>
            </a:r>
            <a:r>
              <a:rPr lang="fr-FR" dirty="0" err="1"/>
              <a:t>Vezy</a:t>
            </a:r>
            <a:r>
              <a:rPr lang="fr-FR" dirty="0"/>
              <a:t> , Marc Jaeger, Myriam Adam, Christophe </a:t>
            </a:r>
            <a:r>
              <a:rPr lang="fr-FR" dirty="0" err="1"/>
              <a:t>Pradal</a:t>
            </a:r>
            <a:r>
              <a:rPr lang="fr-FR" dirty="0"/>
              <a:t> </a:t>
            </a:r>
            <a:endParaRPr lang="en-US" dirty="0"/>
          </a:p>
        </p:txBody>
      </p:sp>
      <p:sp>
        <p:nvSpPr>
          <p:cNvPr id="4" name="Slide Number Placeholder 3">
            <a:extLst>
              <a:ext uri="{FF2B5EF4-FFF2-40B4-BE49-F238E27FC236}">
                <a16:creationId xmlns:a16="http://schemas.microsoft.com/office/drawing/2014/main" id="{8EF84C99-3EBB-4B0B-9308-096B6D9903AC}"/>
              </a:ext>
            </a:extLst>
          </p:cNvPr>
          <p:cNvSpPr>
            <a:spLocks noGrp="1"/>
          </p:cNvSpPr>
          <p:nvPr>
            <p:ph type="sldNum" sz="quarter" idx="12"/>
          </p:nvPr>
        </p:nvSpPr>
        <p:spPr/>
        <p:txBody>
          <a:bodyPr/>
          <a:lstStyle/>
          <a:p>
            <a:fld id="{4D0921BC-FC9B-4B20-AD4C-0D7EEBC2A9A8}" type="slidenum">
              <a:rPr lang="en-US" smtClean="0"/>
              <a:t>1</a:t>
            </a:fld>
            <a:endParaRPr lang="en-US"/>
          </a:p>
        </p:txBody>
      </p:sp>
    </p:spTree>
    <p:extLst>
      <p:ext uri="{BB962C8B-B14F-4D97-AF65-F5344CB8AC3E}">
        <p14:creationId xmlns:p14="http://schemas.microsoft.com/office/powerpoint/2010/main" val="1805949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A74B-649B-4744-BFA5-7C3431E68EA2}"/>
              </a:ext>
            </a:extLst>
          </p:cNvPr>
          <p:cNvSpPr>
            <a:spLocks noGrp="1"/>
          </p:cNvSpPr>
          <p:nvPr>
            <p:ph type="title"/>
          </p:nvPr>
        </p:nvSpPr>
        <p:spPr/>
        <p:txBody>
          <a:bodyPr/>
          <a:lstStyle/>
          <a:p>
            <a:r>
              <a:rPr lang="fr-FR" dirty="0"/>
              <a:t>Message</a:t>
            </a:r>
            <a:endParaRPr lang="en-US" dirty="0"/>
          </a:p>
        </p:txBody>
      </p:sp>
      <p:sp>
        <p:nvSpPr>
          <p:cNvPr id="3" name="Content Placeholder 2">
            <a:extLst>
              <a:ext uri="{FF2B5EF4-FFF2-40B4-BE49-F238E27FC236}">
                <a16:creationId xmlns:a16="http://schemas.microsoft.com/office/drawing/2014/main" id="{4175E3B3-A55E-4AD6-94C7-EBA68972AB29}"/>
              </a:ext>
            </a:extLst>
          </p:cNvPr>
          <p:cNvSpPr>
            <a:spLocks noGrp="1"/>
          </p:cNvSpPr>
          <p:nvPr>
            <p:ph idx="1"/>
          </p:nvPr>
        </p:nvSpPr>
        <p:spPr/>
        <p:txBody>
          <a:bodyPr>
            <a:normAutofit/>
          </a:bodyPr>
          <a:lstStyle/>
          <a:p>
            <a:r>
              <a:rPr lang="en-US" dirty="0"/>
              <a:t>We want to be able to generate 3D realistic cereal plants, knowing:</a:t>
            </a:r>
          </a:p>
          <a:p>
            <a:pPr lvl="1"/>
            <a:r>
              <a:rPr lang="en-US" dirty="0"/>
              <a:t>plant architectural parameter relationships, </a:t>
            </a:r>
          </a:p>
          <a:p>
            <a:pPr lvl="1"/>
            <a:r>
              <a:rPr lang="en-US" dirty="0"/>
              <a:t>and canopy-scale data through time, which integrate environmental effects.</a:t>
            </a:r>
          </a:p>
          <a:p>
            <a:endParaRPr lang="en-US" dirty="0"/>
          </a:p>
          <a:p>
            <a:r>
              <a:rPr lang="en-US" dirty="0"/>
              <a:t>So we conceive a </a:t>
            </a:r>
            <a:r>
              <a:rPr lang="en-US" b="1" dirty="0"/>
              <a:t>parametric </a:t>
            </a:r>
            <a:r>
              <a:rPr lang="en-US" dirty="0"/>
              <a:t>model of 3D cereal plant shoot, where:</a:t>
            </a:r>
          </a:p>
          <a:p>
            <a:pPr lvl="1"/>
            <a:r>
              <a:rPr lang="en-US" dirty="0"/>
              <a:t>potential plant architecture is defined by parametric laws</a:t>
            </a:r>
          </a:p>
          <a:p>
            <a:pPr lvl="1"/>
            <a:r>
              <a:rPr lang="en-US" b="1" dirty="0"/>
              <a:t>differential growth of the organs is constrained </a:t>
            </a:r>
            <a:r>
              <a:rPr lang="en-US" dirty="0"/>
              <a:t>by canopy-scale time series (LAI, height)</a:t>
            </a:r>
          </a:p>
        </p:txBody>
      </p:sp>
      <p:sp>
        <p:nvSpPr>
          <p:cNvPr id="4" name="Slide Number Placeholder 3">
            <a:extLst>
              <a:ext uri="{FF2B5EF4-FFF2-40B4-BE49-F238E27FC236}">
                <a16:creationId xmlns:a16="http://schemas.microsoft.com/office/drawing/2014/main" id="{6FAA3CD2-8B4B-4CC9-87F3-54593D4D1B23}"/>
              </a:ext>
            </a:extLst>
          </p:cNvPr>
          <p:cNvSpPr>
            <a:spLocks noGrp="1"/>
          </p:cNvSpPr>
          <p:nvPr>
            <p:ph type="sldNum" sz="quarter" idx="12"/>
          </p:nvPr>
        </p:nvSpPr>
        <p:spPr/>
        <p:txBody>
          <a:bodyPr/>
          <a:lstStyle/>
          <a:p>
            <a:fld id="{4D0921BC-FC9B-4B20-AD4C-0D7EEBC2A9A8}" type="slidenum">
              <a:rPr lang="en-US" smtClean="0"/>
              <a:t>2</a:t>
            </a:fld>
            <a:endParaRPr lang="en-US"/>
          </a:p>
        </p:txBody>
      </p:sp>
    </p:spTree>
    <p:extLst>
      <p:ext uri="{BB962C8B-B14F-4D97-AF65-F5344CB8AC3E}">
        <p14:creationId xmlns:p14="http://schemas.microsoft.com/office/powerpoint/2010/main" val="166904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81FA-004F-49DF-9962-F77C7BBF4FB0}"/>
              </a:ext>
            </a:extLst>
          </p:cNvPr>
          <p:cNvSpPr>
            <a:spLocks noGrp="1"/>
          </p:cNvSpPr>
          <p:nvPr>
            <p:ph type="title"/>
          </p:nvPr>
        </p:nvSpPr>
        <p:spPr/>
        <p:txBody>
          <a:bodyPr/>
          <a:lstStyle/>
          <a:p>
            <a:r>
              <a:rPr lang="en-US" dirty="0"/>
              <a:t>1.Introduction</a:t>
            </a:r>
          </a:p>
        </p:txBody>
      </p:sp>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p:txBody>
          <a:bodyPr>
            <a:normAutofit/>
          </a:bodyPr>
          <a:lstStyle/>
          <a:p>
            <a:pPr marL="0" indent="0">
              <a:buNone/>
            </a:pPr>
            <a:r>
              <a:rPr lang="en-US" dirty="0"/>
              <a:t>1.1. General introduction of the topic: </a:t>
            </a:r>
          </a:p>
          <a:p>
            <a:pPr marL="457200" lvl="1" indent="0">
              <a:buNone/>
            </a:pPr>
            <a:r>
              <a:rPr lang="en-US" dirty="0"/>
              <a:t>Climate change imply an increase of biotic and abiotic stresses. Agroecology and introducing </a:t>
            </a:r>
            <a:r>
              <a:rPr lang="en-US" b="1" dirty="0"/>
              <a:t>heterogeneity in cropping systems </a:t>
            </a:r>
            <a:r>
              <a:rPr lang="en-US" dirty="0"/>
              <a:t>is one lever to create more resilient agronomic systems, while reducing their environmental impacts (fewer inputs; </a:t>
            </a:r>
            <a:r>
              <a:rPr lang="da-DK" dirty="0"/>
              <a:t>Jensen et al., 2020; Stomph et al., 2020</a:t>
            </a:r>
            <a:r>
              <a:rPr lang="en-US" dirty="0"/>
              <a:t>). </a:t>
            </a:r>
          </a:p>
          <a:p>
            <a:pPr marL="457200" lvl="1" indent="0">
              <a:buNone/>
            </a:pPr>
            <a:r>
              <a:rPr lang="en-US" b="1" dirty="0"/>
              <a:t>Process-based crop models </a:t>
            </a:r>
            <a:r>
              <a:rPr lang="en-US" dirty="0"/>
              <a:t>as a common tool for decision support, for exploring more possibilities than field experiments, for predicting.</a:t>
            </a:r>
          </a:p>
          <a:p>
            <a:pPr marL="457200" lvl="1" indent="0">
              <a:buNone/>
            </a:pP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E99ED29B-F51C-49A3-8E32-9AA413AB6441}"/>
              </a:ext>
            </a:extLst>
          </p:cNvPr>
          <p:cNvSpPr>
            <a:spLocks noGrp="1"/>
          </p:cNvSpPr>
          <p:nvPr>
            <p:ph type="sldNum" sz="quarter" idx="12"/>
          </p:nvPr>
        </p:nvSpPr>
        <p:spPr/>
        <p:txBody>
          <a:bodyPr/>
          <a:lstStyle/>
          <a:p>
            <a:fld id="{4D0921BC-FC9B-4B20-AD4C-0D7EEBC2A9A8}" type="slidenum">
              <a:rPr lang="en-US" smtClean="0"/>
              <a:t>3</a:t>
            </a:fld>
            <a:endParaRPr lang="en-US"/>
          </a:p>
        </p:txBody>
      </p:sp>
    </p:spTree>
    <p:extLst>
      <p:ext uri="{BB962C8B-B14F-4D97-AF65-F5344CB8AC3E}">
        <p14:creationId xmlns:p14="http://schemas.microsoft.com/office/powerpoint/2010/main" val="1152693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838200" y="1385616"/>
            <a:ext cx="9181151" cy="599501"/>
          </a:xfrm>
        </p:spPr>
        <p:txBody>
          <a:bodyPr>
            <a:normAutofit/>
          </a:bodyPr>
          <a:lstStyle/>
          <a:p>
            <a:pPr lvl="0">
              <a:spcBef>
                <a:spcPts val="1000"/>
              </a:spcBef>
            </a:pPr>
            <a:r>
              <a:rPr lang="en-US" sz="2800" dirty="0">
                <a:solidFill>
                  <a:prstClr val="black"/>
                </a:solidFill>
                <a:latin typeface="Calibri" panose="020F0502020204030204"/>
                <a:ea typeface="+mn-ea"/>
                <a:cs typeface="+mn-cs"/>
              </a:rPr>
              <a:t>1.2.State of the art: </a:t>
            </a:r>
            <a:endParaRPr lang="en-US" sz="4000" dirty="0"/>
          </a:p>
        </p:txBody>
      </p:sp>
      <p:sp>
        <p:nvSpPr>
          <p:cNvPr id="8" name="Content Placeholder 6">
            <a:extLst>
              <a:ext uri="{FF2B5EF4-FFF2-40B4-BE49-F238E27FC236}">
                <a16:creationId xmlns:a16="http://schemas.microsoft.com/office/drawing/2014/main" id="{0A5D27B1-842E-4F22-A103-CB1C111AB39C}"/>
              </a:ext>
            </a:extLst>
          </p:cNvPr>
          <p:cNvSpPr txBox="1">
            <a:spLocks/>
          </p:cNvSpPr>
          <p:nvPr/>
        </p:nvSpPr>
        <p:spPr>
          <a:xfrm>
            <a:off x="838200" y="2341020"/>
            <a:ext cx="2984179" cy="1013321"/>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(Boote et al., 2013, Jones et al., 2017)</a:t>
            </a:r>
          </a:p>
          <a:p>
            <a:pPr algn="l"/>
            <a:r>
              <a:rPr lang="fr-FR" sz="1600" i="1" dirty="0">
                <a:solidFill>
                  <a:schemeClr val="tx1"/>
                </a:solidFill>
              </a:rPr>
              <a:t>e.g.: S</a:t>
            </a:r>
            <a:r>
              <a:rPr lang="en-US" sz="1600" i="1" dirty="0">
                <a:solidFill>
                  <a:schemeClr val="tx1"/>
                </a:solidFill>
              </a:rPr>
              <a:t>TICS </a:t>
            </a:r>
            <a:r>
              <a:rPr lang="en-US" sz="1400" i="1" dirty="0">
                <a:solidFill>
                  <a:schemeClr val="tx1"/>
                </a:solidFill>
              </a:rPr>
              <a:t>(</a:t>
            </a:r>
            <a:r>
              <a:rPr lang="en-US" sz="1400" i="1" dirty="0" err="1">
                <a:solidFill>
                  <a:schemeClr val="tx1"/>
                </a:solidFill>
              </a:rPr>
              <a:t>Vezy</a:t>
            </a:r>
            <a:r>
              <a:rPr lang="en-US" sz="1400" i="1" dirty="0">
                <a:solidFill>
                  <a:schemeClr val="tx1"/>
                </a:solidFill>
              </a:rPr>
              <a:t> et al., 2023)</a:t>
            </a:r>
            <a:r>
              <a:rPr lang="en-US" sz="1600" i="1" dirty="0">
                <a:solidFill>
                  <a:schemeClr val="tx1"/>
                </a:solidFill>
              </a:rPr>
              <a:t>, </a:t>
            </a:r>
            <a:r>
              <a:rPr lang="fr-FR" sz="1600" i="1" dirty="0">
                <a:solidFill>
                  <a:schemeClr val="tx1"/>
                </a:solidFill>
              </a:rPr>
              <a:t>A</a:t>
            </a:r>
            <a:r>
              <a:rPr lang="en-US" sz="1600" i="1" dirty="0">
                <a:solidFill>
                  <a:schemeClr val="tx1"/>
                </a:solidFill>
              </a:rPr>
              <a:t>PSIM </a:t>
            </a:r>
            <a:r>
              <a:rPr lang="en-US" sz="1400" i="1" dirty="0">
                <a:solidFill>
                  <a:schemeClr val="tx1"/>
                </a:solidFill>
              </a:rPr>
              <a:t>(</a:t>
            </a:r>
            <a:r>
              <a:rPr lang="fr-FR" sz="1400" i="1" dirty="0" err="1">
                <a:solidFill>
                  <a:schemeClr val="tx1"/>
                </a:solidFill>
              </a:rPr>
              <a:t>Githui</a:t>
            </a:r>
            <a:r>
              <a:rPr lang="fr-FR" sz="1400" i="1" dirty="0">
                <a:solidFill>
                  <a:schemeClr val="tx1"/>
                </a:solidFill>
              </a:rPr>
              <a:t> et al., 2023</a:t>
            </a:r>
            <a:r>
              <a:rPr lang="en-US" sz="1400" i="1" dirty="0">
                <a:solidFill>
                  <a:schemeClr val="tx1"/>
                </a:solidFill>
              </a:rPr>
              <a:t>)</a:t>
            </a:r>
          </a:p>
          <a:p>
            <a:endParaRPr lang="en-US" dirty="0"/>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4</a:t>
            </a:fld>
            <a:endParaRPr lang="fr-FR"/>
          </a:p>
        </p:txBody>
      </p:sp>
      <p:sp>
        <p:nvSpPr>
          <p:cNvPr id="3" name="Rectangle 2">
            <a:extLst>
              <a:ext uri="{FF2B5EF4-FFF2-40B4-BE49-F238E27FC236}">
                <a16:creationId xmlns:a16="http://schemas.microsoft.com/office/drawing/2014/main" id="{A7342D65-0316-45DA-9A79-F4B5A7F201C6}"/>
              </a:ext>
            </a:extLst>
          </p:cNvPr>
          <p:cNvSpPr/>
          <p:nvPr/>
        </p:nvSpPr>
        <p:spPr>
          <a:xfrm>
            <a:off x="5714097" y="1940910"/>
            <a:ext cx="5793005" cy="4708981"/>
          </a:xfrm>
          <a:prstGeom prst="rect">
            <a:avLst/>
          </a:prstGeom>
        </p:spPr>
        <p:txBody>
          <a:bodyPr wrap="square">
            <a:spAutoFit/>
          </a:bodyPr>
          <a:lstStyle/>
          <a:p>
            <a:r>
              <a:rPr lang="en-US" sz="2000" u="sng" dirty="0"/>
              <a:t>Objective:</a:t>
            </a:r>
            <a:r>
              <a:rPr lang="en-US" sz="2000" dirty="0"/>
              <a:t> prediction, decision-support tool</a:t>
            </a:r>
          </a:p>
          <a:p>
            <a:endParaRPr lang="en-US" sz="2000" dirty="0"/>
          </a:p>
          <a:p>
            <a:r>
              <a:rPr lang="en-US" sz="2000" u="sng" dirty="0"/>
              <a:t>Characteristics:</a:t>
            </a:r>
            <a:r>
              <a:rPr lang="en-US" sz="2000" dirty="0"/>
              <a:t> </a:t>
            </a:r>
          </a:p>
          <a:p>
            <a:pPr marL="285750" indent="-285750">
              <a:buFont typeface="Arial" panose="020B0604020202020204" pitchFamily="34" charset="0"/>
              <a:buChar char="•"/>
            </a:pPr>
            <a:r>
              <a:rPr lang="en-US" sz="2000" dirty="0"/>
              <a:t>crop scale (unit = m</a:t>
            </a:r>
            <a:r>
              <a:rPr lang="fr-FR" sz="2000" dirty="0"/>
              <a:t>² or</a:t>
            </a:r>
            <a:r>
              <a:rPr lang="en-US" sz="2000" dirty="0"/>
              <a:t> ha)</a:t>
            </a:r>
          </a:p>
          <a:p>
            <a:pPr marL="285750" indent="-285750">
              <a:buFont typeface="Arial" panose="020B0604020202020204" pitchFamily="34" charset="0"/>
              <a:buChar char="•"/>
            </a:pPr>
            <a:r>
              <a:rPr lang="en-US" sz="2000" dirty="0"/>
              <a:t>homogeneous hypotheses </a:t>
            </a:r>
          </a:p>
          <a:p>
            <a:pPr marL="285750" indent="-285750">
              <a:buFont typeface="Arial" panose="020B0604020202020204" pitchFamily="34" charset="0"/>
              <a:buChar char="•"/>
            </a:pPr>
            <a:r>
              <a:rPr lang="en-US" sz="2000" dirty="0"/>
              <a:t>consider </a:t>
            </a:r>
            <a:r>
              <a:rPr lang="en-US" sz="2000" dirty="0" err="1"/>
              <a:t>GxGxExM</a:t>
            </a:r>
            <a:r>
              <a:rPr lang="en-US" sz="2000" dirty="0"/>
              <a:t> and simulate </a:t>
            </a:r>
            <a:r>
              <a:rPr lang="en-US" sz="2000" b="1" dirty="0"/>
              <a:t>multiple processes </a:t>
            </a:r>
            <a:r>
              <a:rPr lang="en-US" sz="2000" dirty="0"/>
              <a:t>through the whole development cycle</a:t>
            </a:r>
          </a:p>
          <a:p>
            <a:pPr marL="285750" indent="-285750">
              <a:buFont typeface="Arial" panose="020B0604020202020204" pitchFamily="34" charset="0"/>
              <a:buChar char="•"/>
            </a:pPr>
            <a:r>
              <a:rPr lang="en-US" sz="2000" dirty="0"/>
              <a:t>already </a:t>
            </a:r>
            <a:r>
              <a:rPr lang="en-US" sz="2000" b="1" dirty="0"/>
              <a:t>calibrated</a:t>
            </a:r>
            <a:r>
              <a:rPr lang="en-US" sz="2000" dirty="0"/>
              <a:t> for intercrops</a:t>
            </a:r>
          </a:p>
          <a:p>
            <a:pPr marL="285750" indent="-285750">
              <a:buFont typeface="Arial" panose="020B0604020202020204" pitchFamily="34" charset="0"/>
              <a:buChar char="•"/>
            </a:pPr>
            <a:endParaRPr lang="en-US" sz="2000" dirty="0"/>
          </a:p>
          <a:p>
            <a:r>
              <a:rPr lang="en-US" sz="2000" u="sng" dirty="0"/>
              <a:t>Limits due to scale:</a:t>
            </a:r>
            <a:r>
              <a:rPr lang="en-US" sz="2000" dirty="0"/>
              <a:t> </a:t>
            </a:r>
          </a:p>
          <a:p>
            <a:pPr marL="285750" indent="-285750">
              <a:buFont typeface="Arial" panose="020B0604020202020204" pitchFamily="34" charset="0"/>
              <a:buChar char="•"/>
            </a:pPr>
            <a:r>
              <a:rPr lang="en-US" sz="2000" b="1" dirty="0"/>
              <a:t>no heterogeneity </a:t>
            </a:r>
          </a:p>
          <a:p>
            <a:pPr marL="285750" indent="-285750">
              <a:buFont typeface="Arial" panose="020B0604020202020204" pitchFamily="34" charset="0"/>
              <a:buChar char="•"/>
            </a:pPr>
            <a:r>
              <a:rPr lang="fr-FR" sz="2000" dirty="0"/>
              <a:t>n</a:t>
            </a:r>
            <a:r>
              <a:rPr lang="en-US" sz="2000" dirty="0"/>
              <a:t>o explicit plant-plant interactions</a:t>
            </a:r>
          </a:p>
          <a:p>
            <a:pPr marL="285750" indent="-285750">
              <a:buFont typeface="Arial" panose="020B0604020202020204" pitchFamily="34" charset="0"/>
              <a:buChar char="•"/>
            </a:pPr>
            <a:r>
              <a:rPr lang="en-US" sz="2000" dirty="0"/>
              <a:t>hard to know where the uncertainty comes from (formalisms, calibration, inputs; </a:t>
            </a:r>
            <a:r>
              <a:rPr lang="en-US" sz="2000" dirty="0" err="1"/>
              <a:t>Chapagain</a:t>
            </a:r>
            <a:r>
              <a:rPr lang="en-US" sz="2000" dirty="0"/>
              <a:t> et al., 2022)</a:t>
            </a:r>
          </a:p>
        </p:txBody>
      </p:sp>
      <p:grpSp>
        <p:nvGrpSpPr>
          <p:cNvPr id="14" name="Group 13">
            <a:extLst>
              <a:ext uri="{FF2B5EF4-FFF2-40B4-BE49-F238E27FC236}">
                <a16:creationId xmlns:a16="http://schemas.microsoft.com/office/drawing/2014/main" id="{6FA4931E-31D7-4EBE-B7CA-871AB3A9DE52}"/>
              </a:ext>
            </a:extLst>
          </p:cNvPr>
          <p:cNvGrpSpPr/>
          <p:nvPr/>
        </p:nvGrpSpPr>
        <p:grpSpPr>
          <a:xfrm>
            <a:off x="609627" y="3316611"/>
            <a:ext cx="4419573" cy="2508299"/>
            <a:chOff x="609627" y="3316611"/>
            <a:chExt cx="4419573" cy="2508299"/>
          </a:xfrm>
        </p:grpSpPr>
        <p:sp>
          <p:nvSpPr>
            <p:cNvPr id="15" name="Cube 14">
              <a:extLst>
                <a:ext uri="{FF2B5EF4-FFF2-40B4-BE49-F238E27FC236}">
                  <a16:creationId xmlns:a16="http://schemas.microsoft.com/office/drawing/2014/main" id="{F76E5637-B997-422A-8B21-5B40EEC7B660}"/>
                </a:ext>
              </a:extLst>
            </p:cNvPr>
            <p:cNvSpPr/>
            <p:nvPr/>
          </p:nvSpPr>
          <p:spPr>
            <a:xfrm>
              <a:off x="609627" y="3669906"/>
              <a:ext cx="4419573" cy="215500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 name="Cube 15">
              <a:extLst>
                <a:ext uri="{FF2B5EF4-FFF2-40B4-BE49-F238E27FC236}">
                  <a16:creationId xmlns:a16="http://schemas.microsoft.com/office/drawing/2014/main" id="{261B9085-48C5-495C-AE58-EF0C94904685}"/>
                </a:ext>
              </a:extLst>
            </p:cNvPr>
            <p:cNvSpPr/>
            <p:nvPr/>
          </p:nvSpPr>
          <p:spPr>
            <a:xfrm>
              <a:off x="609627" y="3316611"/>
              <a:ext cx="4419573" cy="215500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sp>
        <p:nvSpPr>
          <p:cNvPr id="9" name="Title 1">
            <a:extLst>
              <a:ext uri="{FF2B5EF4-FFF2-40B4-BE49-F238E27FC236}">
                <a16:creationId xmlns:a16="http://schemas.microsoft.com/office/drawing/2014/main" id="{BF7A1B9F-4FDB-4E6A-9D2D-A3EEB8806D63}"/>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1.Introduction</a:t>
            </a:r>
          </a:p>
        </p:txBody>
      </p:sp>
      <p:sp>
        <p:nvSpPr>
          <p:cNvPr id="4" name="Rectangle 3">
            <a:extLst>
              <a:ext uri="{FF2B5EF4-FFF2-40B4-BE49-F238E27FC236}">
                <a16:creationId xmlns:a16="http://schemas.microsoft.com/office/drawing/2014/main" id="{2F4B8B2E-B19B-47BD-BBE0-1CB375B29FE9}"/>
              </a:ext>
            </a:extLst>
          </p:cNvPr>
          <p:cNvSpPr/>
          <p:nvPr/>
        </p:nvSpPr>
        <p:spPr>
          <a:xfrm>
            <a:off x="838200" y="1940910"/>
            <a:ext cx="2103333" cy="461665"/>
          </a:xfrm>
          <a:prstGeom prst="rect">
            <a:avLst/>
          </a:prstGeom>
        </p:spPr>
        <p:txBody>
          <a:bodyPr wrap="none">
            <a:spAutoFit/>
          </a:bodyPr>
          <a:lstStyle/>
          <a:p>
            <a:pPr marL="342900" indent="-342900">
              <a:buFont typeface="Arial" panose="020B0604020202020204" pitchFamily="34" charset="0"/>
              <a:buChar char="•"/>
            </a:pPr>
            <a:r>
              <a:rPr lang="en-US" sz="2400" dirty="0">
                <a:solidFill>
                  <a:prstClr val="black"/>
                </a:solidFill>
                <a:ea typeface="+mj-ea"/>
                <a:cs typeface="+mj-cs"/>
              </a:rPr>
              <a:t>Crop models</a:t>
            </a:r>
            <a:endParaRPr lang="en-US" dirty="0"/>
          </a:p>
        </p:txBody>
      </p:sp>
    </p:spTree>
    <p:extLst>
      <p:ext uri="{BB962C8B-B14F-4D97-AF65-F5344CB8AC3E}">
        <p14:creationId xmlns:p14="http://schemas.microsoft.com/office/powerpoint/2010/main" val="57376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81FA-004F-49DF-9962-F77C7BBF4FB0}"/>
              </a:ext>
            </a:extLst>
          </p:cNvPr>
          <p:cNvSpPr>
            <a:spLocks noGrp="1"/>
          </p:cNvSpPr>
          <p:nvPr>
            <p:ph type="title"/>
          </p:nvPr>
        </p:nvSpPr>
        <p:spPr/>
        <p:txBody>
          <a:bodyPr/>
          <a:lstStyle/>
          <a:p>
            <a:r>
              <a:rPr lang="en-US" dirty="0"/>
              <a:t>1.Introduction</a:t>
            </a:r>
          </a:p>
        </p:txBody>
      </p:sp>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p:txBody>
          <a:bodyPr>
            <a:normAutofit/>
          </a:bodyPr>
          <a:lstStyle/>
          <a:p>
            <a:pPr marL="0" indent="0">
              <a:buNone/>
            </a:pPr>
            <a:r>
              <a:rPr lang="en-US" dirty="0"/>
              <a:t>1.2. State of the art</a:t>
            </a:r>
          </a:p>
          <a:p>
            <a:pPr marL="457200" lvl="1" indent="0">
              <a:buNone/>
            </a:pPr>
            <a:r>
              <a:rPr lang="en-US" dirty="0"/>
              <a:t>Considering </a:t>
            </a:r>
            <a:r>
              <a:rPr lang="en-US" b="1" dirty="0"/>
              <a:t>plant architecture</a:t>
            </a:r>
            <a:r>
              <a:rPr lang="en-US" dirty="0"/>
              <a:t> enables the study of </a:t>
            </a:r>
            <a:r>
              <a:rPr lang="en-US" dirty="0" err="1"/>
              <a:t>spatio</a:t>
            </a:r>
            <a:r>
              <a:rPr lang="en-US" dirty="0"/>
              <a:t>-temporal plant-plant interactions in heterogeneous cropping systems, by showing how structural traits shape resource access, competitive dynamics, and niche complementarity over time (</a:t>
            </a:r>
            <a:r>
              <a:rPr lang="en-US" dirty="0" err="1"/>
              <a:t>Justes</a:t>
            </a:r>
            <a:r>
              <a:rPr lang="en-US" dirty="0"/>
              <a:t> et al., 2021, </a:t>
            </a:r>
            <a:r>
              <a:rPr lang="en-US" dirty="0" err="1"/>
              <a:t>Laurans</a:t>
            </a:r>
            <a:r>
              <a:rPr lang="en-US" dirty="0"/>
              <a:t> et al., 2024). </a:t>
            </a:r>
          </a:p>
          <a:p>
            <a:pPr marL="457200" lvl="1" indent="0">
              <a:buNone/>
            </a:pP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E99ED29B-F51C-49A3-8E32-9AA413AB6441}"/>
              </a:ext>
            </a:extLst>
          </p:cNvPr>
          <p:cNvSpPr>
            <a:spLocks noGrp="1"/>
          </p:cNvSpPr>
          <p:nvPr>
            <p:ph type="sldNum" sz="quarter" idx="12"/>
          </p:nvPr>
        </p:nvSpPr>
        <p:spPr/>
        <p:txBody>
          <a:bodyPr/>
          <a:lstStyle/>
          <a:p>
            <a:fld id="{4D0921BC-FC9B-4B20-AD4C-0D7EEBC2A9A8}" type="slidenum">
              <a:rPr lang="en-US" smtClean="0"/>
              <a:t>5</a:t>
            </a:fld>
            <a:endParaRPr lang="en-US"/>
          </a:p>
        </p:txBody>
      </p:sp>
    </p:spTree>
    <p:extLst>
      <p:ext uri="{BB962C8B-B14F-4D97-AF65-F5344CB8AC3E}">
        <p14:creationId xmlns:p14="http://schemas.microsoft.com/office/powerpoint/2010/main" val="3946039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4E5BF1B9-E58A-4670-B189-A966D63E03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179" y="3374873"/>
            <a:ext cx="3038044" cy="3323168"/>
          </a:xfrm>
          <a:prstGeom prst="rect">
            <a:avLst/>
          </a:prstGeom>
        </p:spPr>
      </p:pic>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664848" y="2059263"/>
            <a:ext cx="9181151" cy="501688"/>
          </a:xfrm>
        </p:spPr>
        <p:txBody>
          <a:bodyPr>
            <a:normAutofit/>
          </a:bodyPr>
          <a:lstStyle/>
          <a:p>
            <a:pPr marL="342900" indent="-342900">
              <a:buFont typeface="Arial" panose="020B0604020202020204" pitchFamily="34" charset="0"/>
              <a:buChar char="•"/>
            </a:pPr>
            <a:r>
              <a:rPr lang="fr-FR" sz="2400" dirty="0" err="1">
                <a:solidFill>
                  <a:prstClr val="black"/>
                </a:solidFill>
                <a:latin typeface="+mn-lt"/>
              </a:rPr>
              <a:t>FSPMs</a:t>
            </a:r>
            <a:endParaRPr lang="fr-FR" sz="2400" dirty="0">
              <a:solidFill>
                <a:prstClr val="black"/>
              </a:solidFill>
              <a:latin typeface="+mn-lt"/>
            </a:endParaRPr>
          </a:p>
        </p:txBody>
      </p:sp>
      <p:sp>
        <p:nvSpPr>
          <p:cNvPr id="9" name="Content Placeholder 7">
            <a:extLst>
              <a:ext uri="{FF2B5EF4-FFF2-40B4-BE49-F238E27FC236}">
                <a16:creationId xmlns:a16="http://schemas.microsoft.com/office/drawing/2014/main" id="{3944096A-74EF-4E2D-9E5D-E63FEDC5CCB4}"/>
              </a:ext>
            </a:extLst>
          </p:cNvPr>
          <p:cNvSpPr txBox="1">
            <a:spLocks/>
          </p:cNvSpPr>
          <p:nvPr/>
        </p:nvSpPr>
        <p:spPr>
          <a:xfrm>
            <a:off x="664848" y="2543192"/>
            <a:ext cx="4017852" cy="896121"/>
          </a:xfrm>
          <a:prstGeom prst="rect">
            <a:avLst/>
          </a:prstGeom>
          <a:ln w="28575">
            <a:noFill/>
          </a:ln>
        </p:spPr>
        <p:txBody>
          <a:bodyPr vert="horz" lIns="91440" tIns="45720" rIns="91440" bIns="45720" rtlCol="0" anchor="ctr">
            <a:normAutofit/>
          </a:bodyP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a:t>
            </a:r>
            <a:r>
              <a:rPr lang="da-DK" sz="1400" dirty="0">
                <a:solidFill>
                  <a:schemeClr val="tx1"/>
                </a:solidFill>
              </a:rPr>
              <a:t>Evers et al., 2019 , </a:t>
            </a:r>
            <a:r>
              <a:rPr lang="fr-FR" sz="1400" dirty="0" err="1">
                <a:solidFill>
                  <a:schemeClr val="tx1"/>
                </a:solidFill>
              </a:rPr>
              <a:t>Louarn</a:t>
            </a:r>
            <a:r>
              <a:rPr lang="fr-FR" sz="1400" dirty="0">
                <a:solidFill>
                  <a:schemeClr val="tx1"/>
                </a:solidFill>
              </a:rPr>
              <a:t> and Song, 2020)</a:t>
            </a:r>
          </a:p>
          <a:p>
            <a:pPr algn="l"/>
            <a:r>
              <a:rPr lang="fr-FR" sz="1600" i="1" dirty="0">
                <a:solidFill>
                  <a:schemeClr val="tx1"/>
                </a:solidFill>
              </a:rPr>
              <a:t>e.g.: V</a:t>
            </a:r>
            <a:r>
              <a:rPr lang="en-US" sz="1600" i="1" dirty="0" err="1">
                <a:solidFill>
                  <a:schemeClr val="tx1"/>
                </a:solidFill>
              </a:rPr>
              <a:t>irtual</a:t>
            </a:r>
            <a:r>
              <a:rPr lang="en-US" sz="1600" i="1" dirty="0">
                <a:solidFill>
                  <a:schemeClr val="tx1"/>
                </a:solidFill>
              </a:rPr>
              <a:t> </a:t>
            </a:r>
            <a:r>
              <a:rPr lang="en-US" sz="1600" i="1" dirty="0" err="1">
                <a:solidFill>
                  <a:schemeClr val="tx1"/>
                </a:solidFill>
              </a:rPr>
              <a:t>GrassLand</a:t>
            </a:r>
            <a:r>
              <a:rPr lang="en-US" sz="1600" i="1" dirty="0">
                <a:solidFill>
                  <a:schemeClr val="tx1"/>
                </a:solidFill>
              </a:rPr>
              <a:t> </a:t>
            </a:r>
            <a:r>
              <a:rPr lang="en-US" sz="1400" i="1" dirty="0">
                <a:solidFill>
                  <a:schemeClr val="tx1"/>
                </a:solidFill>
              </a:rPr>
              <a:t>(</a:t>
            </a:r>
            <a:r>
              <a:rPr lang="en-US" sz="1400" i="1" dirty="0" err="1">
                <a:solidFill>
                  <a:schemeClr val="tx1"/>
                </a:solidFill>
              </a:rPr>
              <a:t>Louarn</a:t>
            </a:r>
            <a:r>
              <a:rPr lang="en-US" sz="1400" i="1" dirty="0">
                <a:solidFill>
                  <a:schemeClr val="tx1"/>
                </a:solidFill>
              </a:rPr>
              <a:t> et al., 2020), </a:t>
            </a:r>
          </a:p>
          <a:p>
            <a:pPr algn="l"/>
            <a:r>
              <a:rPr lang="en-US" sz="1600" i="1" dirty="0">
                <a:solidFill>
                  <a:schemeClr val="tx1"/>
                </a:solidFill>
              </a:rPr>
              <a:t>SIMBAL </a:t>
            </a:r>
            <a:r>
              <a:rPr lang="en-US" sz="1400" i="1" dirty="0">
                <a:solidFill>
                  <a:schemeClr val="tx1"/>
                </a:solidFill>
              </a:rPr>
              <a:t>(</a:t>
            </a:r>
            <a:r>
              <a:rPr lang="en-US" sz="1400" i="1" dirty="0" err="1">
                <a:solidFill>
                  <a:schemeClr val="tx1"/>
                </a:solidFill>
              </a:rPr>
              <a:t>Perthame</a:t>
            </a:r>
            <a:r>
              <a:rPr lang="en-US" sz="1400" i="1" dirty="0">
                <a:solidFill>
                  <a:schemeClr val="tx1"/>
                </a:solidFill>
              </a:rPr>
              <a:t> et al., 2023)</a:t>
            </a:r>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6</a:t>
            </a:fld>
            <a:endParaRPr lang="fr-FR"/>
          </a:p>
        </p:txBody>
      </p:sp>
      <p:sp>
        <p:nvSpPr>
          <p:cNvPr id="19" name="Rectangle 18">
            <a:extLst>
              <a:ext uri="{FF2B5EF4-FFF2-40B4-BE49-F238E27FC236}">
                <a16:creationId xmlns:a16="http://schemas.microsoft.com/office/drawing/2014/main" id="{65E17AAE-D403-4C0C-BA8C-9BB147F88A50}"/>
              </a:ext>
            </a:extLst>
          </p:cNvPr>
          <p:cNvSpPr/>
          <p:nvPr/>
        </p:nvSpPr>
        <p:spPr>
          <a:xfrm>
            <a:off x="4785031" y="2222962"/>
            <a:ext cx="7129746" cy="4401205"/>
          </a:xfrm>
          <a:prstGeom prst="rect">
            <a:avLst/>
          </a:prstGeom>
        </p:spPr>
        <p:txBody>
          <a:bodyPr wrap="square">
            <a:spAutoFit/>
          </a:bodyPr>
          <a:lstStyle/>
          <a:p>
            <a:r>
              <a:rPr lang="en-US" sz="2000" u="sng" dirty="0"/>
              <a:t>Objective:</a:t>
            </a:r>
            <a:r>
              <a:rPr lang="en-US" sz="2000" dirty="0"/>
              <a:t> integration of knowledge at organ scale, plasticity studies </a:t>
            </a:r>
          </a:p>
          <a:p>
            <a:endParaRPr lang="en-US" sz="2000" dirty="0"/>
          </a:p>
          <a:p>
            <a:r>
              <a:rPr lang="en-US" sz="2000" u="sng" dirty="0"/>
              <a:t>Characteristics: </a:t>
            </a:r>
          </a:p>
          <a:p>
            <a:pPr marL="285750" indent="-285750">
              <a:buFont typeface="Arial" panose="020B0604020202020204" pitchFamily="34" charset="0"/>
              <a:buChar char="•"/>
            </a:pPr>
            <a:r>
              <a:rPr lang="en-US" sz="2000" dirty="0"/>
              <a:t>organ scale (unit = organ)</a:t>
            </a:r>
          </a:p>
          <a:p>
            <a:pPr marL="285750" indent="-285750">
              <a:buFont typeface="Arial" panose="020B0604020202020204" pitchFamily="34" charset="0"/>
              <a:buChar char="•"/>
            </a:pPr>
            <a:r>
              <a:rPr lang="en-US" sz="2000" b="1" dirty="0"/>
              <a:t>3D plant structure </a:t>
            </a:r>
            <a:r>
              <a:rPr lang="en-US" sz="2000" dirty="0"/>
              <a:t>influence and emerges from plant processes</a:t>
            </a:r>
          </a:p>
          <a:p>
            <a:pPr marL="285750" indent="-285750">
              <a:buFont typeface="Arial" panose="020B0604020202020204" pitchFamily="34" charset="0"/>
              <a:buChar char="•"/>
            </a:pPr>
            <a:r>
              <a:rPr lang="en-US" sz="2000" dirty="0"/>
              <a:t>enable to represent heterogeneous crops</a:t>
            </a:r>
          </a:p>
          <a:p>
            <a:pPr marL="285750" indent="-285750">
              <a:buFont typeface="Arial" panose="020B0604020202020204" pitchFamily="34" charset="0"/>
              <a:buChar char="•"/>
            </a:pPr>
            <a:endParaRPr lang="fr-FR" sz="2000" dirty="0"/>
          </a:p>
          <a:p>
            <a:r>
              <a:rPr lang="fr-FR" sz="2000" u="sng" dirty="0"/>
              <a:t>Limits due to </a:t>
            </a:r>
            <a:r>
              <a:rPr lang="fr-FR" sz="2000" u="sng" dirty="0" err="1"/>
              <a:t>scale</a:t>
            </a:r>
            <a:r>
              <a:rPr lang="fr-FR" sz="2000" u="sng" dirty="0"/>
              <a:t>:</a:t>
            </a:r>
          </a:p>
          <a:p>
            <a:pPr marL="285750" indent="-285750">
              <a:buFont typeface="Arial" panose="020B0604020202020204" pitchFamily="34" charset="0"/>
              <a:buChar char="•"/>
            </a:pPr>
            <a:r>
              <a:rPr lang="fr-FR" sz="2000" b="1" dirty="0" err="1"/>
              <a:t>complexity</a:t>
            </a:r>
            <a:r>
              <a:rPr lang="fr-FR" sz="2000" b="1" dirty="0"/>
              <a:t>:</a:t>
            </a:r>
          </a:p>
          <a:p>
            <a:pPr marL="742950" lvl="1" indent="-285750">
              <a:buFont typeface="Arial" panose="020B0604020202020204" pitchFamily="34" charset="0"/>
              <a:buChar char="•"/>
            </a:pPr>
            <a:r>
              <a:rPr lang="fr-FR" sz="2000" dirty="0" err="1"/>
              <a:t>cannot</a:t>
            </a:r>
            <a:r>
              <a:rPr lang="fr-FR" sz="2000" dirty="0"/>
              <a:t> </a:t>
            </a:r>
            <a:r>
              <a:rPr lang="fr-FR" sz="2000" dirty="0" err="1"/>
              <a:t>always</a:t>
            </a:r>
            <a:r>
              <a:rPr lang="fr-FR" sz="2000" dirty="0"/>
              <a:t> </a:t>
            </a:r>
            <a:r>
              <a:rPr lang="fr-FR" sz="2000" dirty="0" err="1"/>
              <a:t>simulate</a:t>
            </a:r>
            <a:r>
              <a:rPr lang="fr-FR" sz="2000" dirty="0"/>
              <a:t> </a:t>
            </a:r>
            <a:r>
              <a:rPr lang="fr-FR" sz="2000" dirty="0" err="1"/>
              <a:t>whole</a:t>
            </a:r>
            <a:r>
              <a:rPr lang="fr-FR" sz="2000" dirty="0"/>
              <a:t> </a:t>
            </a:r>
            <a:r>
              <a:rPr lang="fr-FR" sz="2000" dirty="0" err="1"/>
              <a:t>development</a:t>
            </a:r>
            <a:r>
              <a:rPr lang="fr-FR" sz="2000" dirty="0"/>
              <a:t> cycle</a:t>
            </a:r>
          </a:p>
          <a:p>
            <a:pPr marL="742950" lvl="1" indent="-285750">
              <a:buFont typeface="Arial" panose="020B0604020202020204" pitchFamily="34" charset="0"/>
              <a:buChar char="•"/>
            </a:pPr>
            <a:r>
              <a:rPr lang="fr-FR" sz="2000" dirty="0"/>
              <a:t>hard to </a:t>
            </a:r>
            <a:r>
              <a:rPr lang="fr-FR" sz="2000" dirty="0" err="1"/>
              <a:t>simulate</a:t>
            </a:r>
            <a:r>
              <a:rPr lang="fr-FR" sz="2000" dirty="0"/>
              <a:t> </a:t>
            </a:r>
            <a:r>
              <a:rPr lang="fr-FR" sz="2000" dirty="0" err="1"/>
              <a:t>many</a:t>
            </a:r>
            <a:r>
              <a:rPr lang="fr-FR" sz="2000" dirty="0"/>
              <a:t> </a:t>
            </a:r>
            <a:r>
              <a:rPr lang="fr-FR" sz="2000" dirty="0" err="1"/>
              <a:t>processes</a:t>
            </a:r>
            <a:r>
              <a:rPr lang="fr-FR" sz="2000" dirty="0"/>
              <a:t> at the </a:t>
            </a:r>
            <a:r>
              <a:rPr lang="fr-FR" sz="2000" dirty="0" err="1"/>
              <a:t>same</a:t>
            </a:r>
            <a:r>
              <a:rPr lang="fr-FR" sz="2000" dirty="0"/>
              <a:t> time</a:t>
            </a:r>
          </a:p>
          <a:p>
            <a:pPr marL="742950" lvl="1" indent="-285750">
              <a:buFont typeface="Arial" panose="020B0604020202020204" pitchFamily="34" charset="0"/>
              <a:buChar char="•"/>
            </a:pPr>
            <a:r>
              <a:rPr lang="fr-FR" sz="2000" dirty="0"/>
              <a:t>plant </a:t>
            </a:r>
            <a:r>
              <a:rPr lang="fr-FR" sz="2000" dirty="0">
                <a:sym typeface="Wingdings" panose="05000000000000000000" pitchFamily="2" charset="2"/>
              </a:rPr>
              <a:t> population </a:t>
            </a:r>
            <a:r>
              <a:rPr lang="fr-FR" sz="2000" dirty="0" err="1">
                <a:sym typeface="Wingdings" panose="05000000000000000000" pitchFamily="2" charset="2"/>
              </a:rPr>
              <a:t>is</a:t>
            </a:r>
            <a:r>
              <a:rPr lang="fr-FR" sz="2000" dirty="0">
                <a:sym typeface="Wingdings" panose="05000000000000000000" pitchFamily="2" charset="2"/>
              </a:rPr>
              <a:t> </a:t>
            </a:r>
            <a:r>
              <a:rPr lang="fr-FR" sz="2000" dirty="0" err="1">
                <a:sym typeface="Wingdings" panose="05000000000000000000" pitchFamily="2" charset="2"/>
              </a:rPr>
              <a:t>heavy</a:t>
            </a:r>
            <a:endParaRPr lang="fr-FR" sz="2000" dirty="0"/>
          </a:p>
          <a:p>
            <a:pPr marL="285750" indent="-285750">
              <a:buFont typeface="Arial" panose="020B0604020202020204" pitchFamily="34" charset="0"/>
              <a:buChar char="•"/>
            </a:pPr>
            <a:r>
              <a:rPr lang="fr-FR" sz="2000" dirty="0" err="1">
                <a:sym typeface="Wingdings" panose="05000000000000000000" pitchFamily="2" charset="2"/>
              </a:rPr>
              <a:t>need</a:t>
            </a:r>
            <a:r>
              <a:rPr lang="fr-FR" sz="2000" dirty="0">
                <a:sym typeface="Wingdings" panose="05000000000000000000" pitchFamily="2" charset="2"/>
              </a:rPr>
              <a:t> lots of 3D </a:t>
            </a:r>
            <a:r>
              <a:rPr lang="fr-FR" sz="2000" dirty="0" err="1">
                <a:sym typeface="Wingdings" panose="05000000000000000000" pitchFamily="2" charset="2"/>
              </a:rPr>
              <a:t>measures</a:t>
            </a:r>
            <a:r>
              <a:rPr lang="fr-FR" sz="2000" dirty="0">
                <a:sym typeface="Wingdings" panose="05000000000000000000" pitchFamily="2" charset="2"/>
              </a:rPr>
              <a:t> (hard to </a:t>
            </a:r>
            <a:r>
              <a:rPr lang="fr-FR" sz="2000" dirty="0" err="1">
                <a:sym typeface="Wingdings" panose="05000000000000000000" pitchFamily="2" charset="2"/>
              </a:rPr>
              <a:t>get</a:t>
            </a:r>
            <a:r>
              <a:rPr lang="fr-FR" sz="2000" dirty="0">
                <a:sym typeface="Wingdings" panose="05000000000000000000" pitchFamily="2" charset="2"/>
              </a:rPr>
              <a:t>)</a:t>
            </a:r>
            <a:endParaRPr lang="en-US" sz="2000" dirty="0"/>
          </a:p>
        </p:txBody>
      </p:sp>
      <p:sp>
        <p:nvSpPr>
          <p:cNvPr id="3" name="Rectangle 2">
            <a:extLst>
              <a:ext uri="{FF2B5EF4-FFF2-40B4-BE49-F238E27FC236}">
                <a16:creationId xmlns:a16="http://schemas.microsoft.com/office/drawing/2014/main" id="{678D7B84-C0B0-4CEE-B552-C655DF7DCB8C}"/>
              </a:ext>
            </a:extLst>
          </p:cNvPr>
          <p:cNvSpPr/>
          <p:nvPr/>
        </p:nvSpPr>
        <p:spPr>
          <a:xfrm>
            <a:off x="838200" y="1230612"/>
            <a:ext cx="6096000" cy="876650"/>
          </a:xfrm>
          <a:prstGeom prst="rect">
            <a:avLst/>
          </a:prstGeom>
        </p:spPr>
        <p:txBody>
          <a:bodyPr>
            <a:spAutoFit/>
          </a:bodyPr>
          <a:lstStyle/>
          <a:p>
            <a:pPr lvl="0">
              <a:lnSpc>
                <a:spcPct val="90000"/>
              </a:lnSpc>
              <a:spcBef>
                <a:spcPts val="1000"/>
              </a:spcBef>
            </a:pPr>
            <a:r>
              <a:rPr lang="en-US" sz="2800" dirty="0">
                <a:solidFill>
                  <a:prstClr val="black"/>
                </a:solidFill>
              </a:rPr>
              <a:t>1.2.State of the art: </a:t>
            </a:r>
          </a:p>
          <a:p>
            <a:pPr marL="685800" lvl="1" indent="-228600">
              <a:lnSpc>
                <a:spcPct val="90000"/>
              </a:lnSpc>
              <a:spcBef>
                <a:spcPts val="500"/>
              </a:spcBef>
              <a:buFont typeface="Arial" panose="020B0604020202020204" pitchFamily="34" charset="0"/>
              <a:buChar char="•"/>
            </a:pPr>
            <a:r>
              <a:rPr lang="en-US" sz="2400" dirty="0">
                <a:solidFill>
                  <a:prstClr val="black"/>
                </a:solidFill>
              </a:rPr>
              <a:t>3D plant models (process-based)</a:t>
            </a:r>
          </a:p>
        </p:txBody>
      </p:sp>
      <p:sp>
        <p:nvSpPr>
          <p:cNvPr id="8" name="Title 1">
            <a:extLst>
              <a:ext uri="{FF2B5EF4-FFF2-40B4-BE49-F238E27FC236}">
                <a16:creationId xmlns:a16="http://schemas.microsoft.com/office/drawing/2014/main" id="{CCA25248-52CA-40B8-9DC3-F9DDAF94CD5D}"/>
              </a:ext>
            </a:extLst>
          </p:cNvPr>
          <p:cNvSpPr txBox="1">
            <a:spLocks/>
          </p:cNvSpPr>
          <p:nvPr/>
        </p:nvSpPr>
        <p:spPr>
          <a:xfrm>
            <a:off x="838200" y="3167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1.Introduction</a:t>
            </a:r>
          </a:p>
        </p:txBody>
      </p:sp>
    </p:spTree>
    <p:extLst>
      <p:ext uri="{BB962C8B-B14F-4D97-AF65-F5344CB8AC3E}">
        <p14:creationId xmlns:p14="http://schemas.microsoft.com/office/powerpoint/2010/main" val="791221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838199" y="1582713"/>
            <a:ext cx="10515599" cy="5260538"/>
          </a:xfrm>
        </p:spPr>
        <p:txBody>
          <a:bodyPr>
            <a:normAutofit/>
          </a:bodyPr>
          <a:lstStyle/>
          <a:p>
            <a:pPr marL="0" indent="0">
              <a:buNone/>
            </a:pPr>
            <a:r>
              <a:rPr lang="en-US" dirty="0"/>
              <a:t>1.2.State of the art: </a:t>
            </a:r>
          </a:p>
          <a:p>
            <a:pPr lvl="1"/>
            <a:r>
              <a:rPr lang="en-US" dirty="0"/>
              <a:t>3D plant models</a:t>
            </a:r>
          </a:p>
          <a:p>
            <a:pPr lvl="1"/>
            <a:endParaRPr lang="en-US" dirty="0"/>
          </a:p>
          <a:p>
            <a:pPr lvl="2"/>
            <a:r>
              <a:rPr lang="en-US" dirty="0"/>
              <a:t>In the continuum of FSPMs: grammars, bottom-up (= system emerges from local laws, through simulation)</a:t>
            </a:r>
          </a:p>
          <a:p>
            <a:pPr marL="1371600" lvl="3" indent="0">
              <a:buNone/>
            </a:pPr>
            <a:r>
              <a:rPr lang="en-US" dirty="0"/>
              <a:t>ex: recursive and hierarchical algorithms: L-systems (</a:t>
            </a:r>
            <a:r>
              <a:rPr lang="en-US" dirty="0" err="1"/>
              <a:t>Lindenmayer</a:t>
            </a:r>
            <a:r>
              <a:rPr lang="en-US" dirty="0"/>
              <a:t>, </a:t>
            </a:r>
            <a:r>
              <a:rPr lang="en-US" dirty="0" err="1"/>
              <a:t>Prusinkiewicz</a:t>
            </a:r>
            <a:r>
              <a:rPr lang="en-US" dirty="0"/>
              <a:t>, </a:t>
            </a:r>
            <a:r>
              <a:rPr lang="en-US" dirty="0" err="1"/>
              <a:t>Boudon</a:t>
            </a:r>
            <a:r>
              <a:rPr lang="en-US" dirty="0"/>
              <a:t>), fractals (Oppenheimer, 1986) </a:t>
            </a:r>
          </a:p>
          <a:p>
            <a:pPr lvl="2"/>
            <a:endParaRPr lang="en-US" dirty="0"/>
          </a:p>
          <a:p>
            <a:pPr lvl="2"/>
            <a:r>
              <a:rPr lang="en-US" dirty="0"/>
              <a:t>In computer graphics: user-defined models, </a:t>
            </a:r>
            <a:r>
              <a:rPr lang="en-US" b="1" dirty="0"/>
              <a:t>easy to use for non-specialists</a:t>
            </a:r>
            <a:r>
              <a:rPr lang="en-US" dirty="0"/>
              <a:t>, but </a:t>
            </a:r>
          </a:p>
          <a:p>
            <a:pPr marL="1371600" lvl="3" indent="0">
              <a:buNone/>
            </a:pPr>
            <a:r>
              <a:rPr lang="en-US" dirty="0"/>
              <a:t>ex: </a:t>
            </a:r>
            <a:r>
              <a:rPr lang="en-US" b="1" dirty="0"/>
              <a:t>parametric</a:t>
            </a:r>
            <a:r>
              <a:rPr lang="en-US" dirty="0"/>
              <a:t> trees (Weber and Penn, 1995, Guo et al., 2018); </a:t>
            </a:r>
            <a:r>
              <a:rPr lang="en-US" dirty="0" err="1"/>
              <a:t>Xfrog</a:t>
            </a:r>
            <a:r>
              <a:rPr lang="en-US" dirty="0"/>
              <a:t> (</a:t>
            </a:r>
            <a:r>
              <a:rPr lang="en-US" dirty="0" err="1"/>
              <a:t>Deussen</a:t>
            </a:r>
            <a:r>
              <a:rPr lang="en-US" dirty="0"/>
              <a:t> and </a:t>
            </a:r>
            <a:r>
              <a:rPr lang="en-US" dirty="0" err="1"/>
              <a:t>Lintermann</a:t>
            </a:r>
            <a:r>
              <a:rPr lang="en-US" dirty="0"/>
              <a:t>, 2006); </a:t>
            </a:r>
            <a:r>
              <a:rPr lang="en-US" dirty="0" err="1"/>
              <a:t>TreeSketch</a:t>
            </a:r>
            <a:r>
              <a:rPr lang="en-US" dirty="0"/>
              <a:t> (</a:t>
            </a:r>
            <a:r>
              <a:rPr lang="en-US" dirty="0" err="1"/>
              <a:t>Longay</a:t>
            </a:r>
            <a:r>
              <a:rPr lang="en-US" dirty="0"/>
              <a:t> et al., 2012) </a:t>
            </a:r>
          </a:p>
          <a:p>
            <a:pPr lvl="3"/>
            <a:endParaRPr lang="en-US" dirty="0"/>
          </a:p>
        </p:txBody>
      </p:sp>
      <p:sp>
        <p:nvSpPr>
          <p:cNvPr id="5" name="Slide Number Placeholder 4">
            <a:extLst>
              <a:ext uri="{FF2B5EF4-FFF2-40B4-BE49-F238E27FC236}">
                <a16:creationId xmlns:a16="http://schemas.microsoft.com/office/drawing/2014/main" id="{3165ED3D-3230-49E3-8660-65D703D2BCE4}"/>
              </a:ext>
            </a:extLst>
          </p:cNvPr>
          <p:cNvSpPr>
            <a:spLocks noGrp="1"/>
          </p:cNvSpPr>
          <p:nvPr>
            <p:ph type="sldNum" sz="quarter" idx="12"/>
          </p:nvPr>
        </p:nvSpPr>
        <p:spPr/>
        <p:txBody>
          <a:bodyPr/>
          <a:lstStyle/>
          <a:p>
            <a:fld id="{4D0921BC-FC9B-4B20-AD4C-0D7EEBC2A9A8}" type="slidenum">
              <a:rPr lang="en-US" smtClean="0"/>
              <a:t>7</a:t>
            </a:fld>
            <a:endParaRPr lang="en-US"/>
          </a:p>
        </p:txBody>
      </p:sp>
      <p:sp>
        <p:nvSpPr>
          <p:cNvPr id="8" name="Title 1">
            <a:extLst>
              <a:ext uri="{FF2B5EF4-FFF2-40B4-BE49-F238E27FC236}">
                <a16:creationId xmlns:a16="http://schemas.microsoft.com/office/drawing/2014/main" id="{B82B70B0-6F28-4241-A580-5ACAC2536C2E}"/>
              </a:ext>
            </a:extLst>
          </p:cNvPr>
          <p:cNvSpPr txBox="1">
            <a:spLocks/>
          </p:cNvSpPr>
          <p:nvPr/>
        </p:nvSpPr>
        <p:spPr>
          <a:xfrm>
            <a:off x="838200" y="2571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1.Introduction</a:t>
            </a:r>
          </a:p>
        </p:txBody>
      </p:sp>
    </p:spTree>
    <p:extLst>
      <p:ext uri="{BB962C8B-B14F-4D97-AF65-F5344CB8AC3E}">
        <p14:creationId xmlns:p14="http://schemas.microsoft.com/office/powerpoint/2010/main" val="310609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838199" y="1582713"/>
            <a:ext cx="10515599" cy="5260538"/>
          </a:xfrm>
        </p:spPr>
        <p:txBody>
          <a:bodyPr>
            <a:normAutofit/>
          </a:bodyPr>
          <a:lstStyle/>
          <a:p>
            <a:pPr marL="0" indent="0">
              <a:buNone/>
            </a:pPr>
            <a:r>
              <a:rPr lang="en-US" dirty="0"/>
              <a:t>1.3. Hybrid approaches</a:t>
            </a:r>
          </a:p>
          <a:p>
            <a:pPr lvl="1"/>
            <a:endParaRPr lang="en-US" dirty="0"/>
          </a:p>
          <a:p>
            <a:pPr lvl="1"/>
            <a:r>
              <a:rPr lang="en-US" dirty="0"/>
              <a:t>How to take the best of both scales ? </a:t>
            </a:r>
          </a:p>
          <a:p>
            <a:pPr lvl="1"/>
            <a:endParaRPr lang="en-US" dirty="0"/>
          </a:p>
          <a:p>
            <a:pPr lvl="1"/>
            <a:r>
              <a:rPr lang="en-US" dirty="0"/>
              <a:t>Hybrid models</a:t>
            </a:r>
          </a:p>
          <a:p>
            <a:pPr lvl="3"/>
            <a:r>
              <a:rPr lang="en-US" dirty="0" err="1"/>
              <a:t>GreenLab</a:t>
            </a:r>
            <a:endParaRPr lang="en-US" dirty="0"/>
          </a:p>
          <a:p>
            <a:pPr lvl="3"/>
            <a:r>
              <a:rPr lang="en-US" dirty="0" err="1"/>
              <a:t>Ecomeristem</a:t>
            </a:r>
            <a:endParaRPr lang="en-US" dirty="0"/>
          </a:p>
          <a:p>
            <a:pPr lvl="1"/>
            <a:endParaRPr lang="en-US" dirty="0"/>
          </a:p>
          <a:p>
            <a:pPr lvl="1"/>
            <a:r>
              <a:rPr lang="en-US" dirty="0"/>
              <a:t>Downscale crop models or upscale 3D plant models </a:t>
            </a:r>
          </a:p>
          <a:p>
            <a:pPr lvl="2"/>
            <a:r>
              <a:rPr lang="en-US" dirty="0"/>
              <a:t>table with characteristics of each and highlight what I take from both </a:t>
            </a:r>
          </a:p>
          <a:p>
            <a:pPr lvl="2"/>
            <a:r>
              <a:rPr lang="en-US" dirty="0">
                <a:sym typeface="Wingdings" panose="05000000000000000000" pitchFamily="2" charset="2"/>
              </a:rPr>
              <a:t> how do I link everything ? </a:t>
            </a:r>
            <a:r>
              <a:rPr lang="en-US" dirty="0" err="1">
                <a:sym typeface="Wingdings" panose="05000000000000000000" pitchFamily="2" charset="2"/>
              </a:rPr>
              <a:t>ArchiCrop</a:t>
            </a:r>
            <a:endParaRPr lang="en-US" dirty="0"/>
          </a:p>
          <a:p>
            <a:pPr lvl="1"/>
            <a:endParaRPr lang="en-US" dirty="0"/>
          </a:p>
        </p:txBody>
      </p:sp>
      <p:sp>
        <p:nvSpPr>
          <p:cNvPr id="5" name="Slide Number Placeholder 4">
            <a:extLst>
              <a:ext uri="{FF2B5EF4-FFF2-40B4-BE49-F238E27FC236}">
                <a16:creationId xmlns:a16="http://schemas.microsoft.com/office/drawing/2014/main" id="{3165ED3D-3230-49E3-8660-65D703D2BCE4}"/>
              </a:ext>
            </a:extLst>
          </p:cNvPr>
          <p:cNvSpPr>
            <a:spLocks noGrp="1"/>
          </p:cNvSpPr>
          <p:nvPr>
            <p:ph type="sldNum" sz="quarter" idx="12"/>
          </p:nvPr>
        </p:nvSpPr>
        <p:spPr/>
        <p:txBody>
          <a:bodyPr/>
          <a:lstStyle/>
          <a:p>
            <a:fld id="{4D0921BC-FC9B-4B20-AD4C-0D7EEBC2A9A8}" type="slidenum">
              <a:rPr lang="en-US" smtClean="0"/>
              <a:t>8</a:t>
            </a:fld>
            <a:endParaRPr lang="en-US"/>
          </a:p>
        </p:txBody>
      </p:sp>
      <p:sp>
        <p:nvSpPr>
          <p:cNvPr id="8" name="Title 1">
            <a:extLst>
              <a:ext uri="{FF2B5EF4-FFF2-40B4-BE49-F238E27FC236}">
                <a16:creationId xmlns:a16="http://schemas.microsoft.com/office/drawing/2014/main" id="{B82B70B0-6F28-4241-A580-5ACAC2536C2E}"/>
              </a:ext>
            </a:extLst>
          </p:cNvPr>
          <p:cNvSpPr txBox="1">
            <a:spLocks/>
          </p:cNvSpPr>
          <p:nvPr/>
        </p:nvSpPr>
        <p:spPr>
          <a:xfrm>
            <a:off x="838200" y="2571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1.Introduction</a:t>
            </a:r>
          </a:p>
        </p:txBody>
      </p:sp>
    </p:spTree>
    <p:extLst>
      <p:ext uri="{BB962C8B-B14F-4D97-AF65-F5344CB8AC3E}">
        <p14:creationId xmlns:p14="http://schemas.microsoft.com/office/powerpoint/2010/main" val="3409562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660394" y="1400938"/>
            <a:ext cx="10247860" cy="5320536"/>
          </a:xfrm>
        </p:spPr>
        <p:txBody>
          <a:bodyPr>
            <a:normAutofit/>
          </a:bodyPr>
          <a:lstStyle/>
          <a:p>
            <a:pPr marL="0" indent="0">
              <a:buNone/>
            </a:pPr>
            <a:r>
              <a:rPr lang="en-US" sz="2400" dirty="0"/>
              <a:t>2.1. My hybrid multiscale approach: </a:t>
            </a:r>
          </a:p>
          <a:p>
            <a:pPr marL="0" indent="0">
              <a:buNone/>
            </a:pPr>
            <a:r>
              <a:rPr lang="en-US" sz="2400" dirty="0"/>
              <a:t>Constraint-driven Plant Model for cereals</a:t>
            </a:r>
          </a:p>
          <a:p>
            <a:r>
              <a:rPr lang="en-US" sz="2000" dirty="0"/>
              <a:t>Individual-based approach (inherits from FSPMs) </a:t>
            </a:r>
            <a:r>
              <a:rPr lang="en-US" sz="2000" dirty="0">
                <a:sym typeface="Wingdings" panose="05000000000000000000" pitchFamily="2" charset="2"/>
              </a:rPr>
              <a:t> build stands as replications of individuals</a:t>
            </a:r>
            <a:endParaRPr lang="en-US" sz="2000" dirty="0"/>
          </a:p>
          <a:p>
            <a:r>
              <a:rPr lang="en-US" sz="2000" dirty="0"/>
              <a:t>Plant </a:t>
            </a:r>
            <a:r>
              <a:rPr lang="en-US" sz="2000" b="1" dirty="0"/>
              <a:t>3D architecture </a:t>
            </a:r>
            <a:r>
              <a:rPr lang="en-US" sz="2000" dirty="0"/>
              <a:t>and </a:t>
            </a:r>
            <a:r>
              <a:rPr lang="en-US" sz="2000" b="1" dirty="0"/>
              <a:t>development</a:t>
            </a:r>
            <a:r>
              <a:rPr lang="en-US" sz="2000" dirty="0"/>
              <a:t> are defined by </a:t>
            </a:r>
            <a:r>
              <a:rPr lang="en-US" sz="2000" b="1" dirty="0"/>
              <a:t>parameters</a:t>
            </a:r>
            <a:r>
              <a:rPr lang="en-US" sz="2000" dirty="0"/>
              <a:t>.</a:t>
            </a:r>
          </a:p>
          <a:p>
            <a:r>
              <a:rPr lang="en-US" sz="2000" dirty="0"/>
              <a:t>Known </a:t>
            </a:r>
            <a:r>
              <a:rPr lang="en-US" sz="2000" b="1" dirty="0"/>
              <a:t>allometric laws </a:t>
            </a:r>
            <a:r>
              <a:rPr lang="en-US" sz="2000" dirty="0"/>
              <a:t>for potential plant </a:t>
            </a:r>
            <a:r>
              <a:rPr lang="en-US" sz="2000" dirty="0">
                <a:sym typeface="Wingdings" panose="05000000000000000000" pitchFamily="2" charset="2"/>
              </a:rPr>
              <a:t> Few parameters </a:t>
            </a:r>
            <a:endParaRPr lang="en-US" sz="2000" dirty="0"/>
          </a:p>
          <a:p>
            <a:r>
              <a:rPr lang="fr-FR" sz="2000" b="1" dirty="0">
                <a:solidFill>
                  <a:prstClr val="black"/>
                </a:solidFill>
              </a:rPr>
              <a:t>Global </a:t>
            </a:r>
            <a:r>
              <a:rPr lang="fr-FR" sz="2000" b="1" dirty="0" err="1">
                <a:solidFill>
                  <a:prstClr val="black"/>
                </a:solidFill>
              </a:rPr>
              <a:t>growth</a:t>
            </a:r>
            <a:r>
              <a:rPr lang="fr-FR" sz="2000" dirty="0">
                <a:solidFill>
                  <a:prstClr val="black"/>
                </a:solidFill>
              </a:rPr>
              <a:t> </a:t>
            </a:r>
            <a:r>
              <a:rPr lang="fr-FR" sz="2000" dirty="0" err="1">
                <a:solidFill>
                  <a:prstClr val="black"/>
                </a:solidFill>
              </a:rPr>
              <a:t>is</a:t>
            </a:r>
            <a:r>
              <a:rPr lang="fr-FR" sz="2000" dirty="0">
                <a:solidFill>
                  <a:prstClr val="black"/>
                </a:solidFill>
              </a:rPr>
              <a:t> </a:t>
            </a:r>
            <a:r>
              <a:rPr lang="fr-FR" sz="2000" dirty="0" err="1">
                <a:solidFill>
                  <a:prstClr val="black"/>
                </a:solidFill>
              </a:rPr>
              <a:t>constrained</a:t>
            </a:r>
            <a:r>
              <a:rPr lang="fr-FR" sz="2000" dirty="0">
                <a:solidFill>
                  <a:prstClr val="black"/>
                </a:solidFill>
              </a:rPr>
              <a:t> </a:t>
            </a:r>
            <a:r>
              <a:rPr lang="fr-FR" sz="2000" dirty="0" err="1">
                <a:solidFill>
                  <a:prstClr val="black"/>
                </a:solidFill>
              </a:rPr>
              <a:t>from</a:t>
            </a:r>
            <a:r>
              <a:rPr lang="fr-FR" sz="2000" dirty="0">
                <a:solidFill>
                  <a:prstClr val="black"/>
                </a:solidFill>
              </a:rPr>
              <a:t> </a:t>
            </a:r>
            <a:r>
              <a:rPr lang="fr-FR" sz="2000" b="1" dirty="0" err="1">
                <a:solidFill>
                  <a:prstClr val="black"/>
                </a:solidFill>
              </a:rPr>
              <a:t>crop</a:t>
            </a:r>
            <a:r>
              <a:rPr lang="fr-FR" sz="2000" b="1" dirty="0">
                <a:solidFill>
                  <a:prstClr val="black"/>
                </a:solidFill>
              </a:rPr>
              <a:t> model </a:t>
            </a:r>
            <a:r>
              <a:rPr lang="fr-FR" sz="2000" b="1" dirty="0" err="1">
                <a:solidFill>
                  <a:prstClr val="black"/>
                </a:solidFill>
              </a:rPr>
              <a:t>dynamics</a:t>
            </a:r>
            <a:endParaRPr lang="en-US" sz="2000" dirty="0"/>
          </a:p>
          <a:p>
            <a:endParaRPr lang="en-US" sz="2000" dirty="0"/>
          </a:p>
          <a:p>
            <a:pPr marL="0" indent="0">
              <a:buNone/>
            </a:pPr>
            <a:r>
              <a:rPr lang="en-US" sz="2000" dirty="0">
                <a:sym typeface="Wingdings" panose="05000000000000000000" pitchFamily="2" charset="2"/>
              </a:rPr>
              <a:t> </a:t>
            </a:r>
            <a:r>
              <a:rPr lang="en-US" sz="2000" dirty="0"/>
              <a:t>Explore morphological space of degrees of freedom</a:t>
            </a:r>
          </a:p>
          <a:p>
            <a:pPr>
              <a:buFont typeface="Wingdings" panose="05000000000000000000" pitchFamily="2" charset="2"/>
              <a:buChar char="è"/>
            </a:pPr>
            <a:r>
              <a:rPr lang="en-US" sz="2000" dirty="0">
                <a:sym typeface="Wingdings" panose="05000000000000000000" pitchFamily="2" charset="2"/>
              </a:rPr>
              <a:t> Differential growth for each organ</a:t>
            </a:r>
          </a:p>
          <a:p>
            <a:pPr>
              <a:buFont typeface="Wingdings" panose="05000000000000000000" pitchFamily="2" charset="2"/>
              <a:buChar char="è"/>
            </a:pPr>
            <a:r>
              <a:rPr lang="en-US" sz="2000" dirty="0"/>
              <a:t> Reaction to stresses</a:t>
            </a:r>
          </a:p>
        </p:txBody>
      </p:sp>
      <p:sp>
        <p:nvSpPr>
          <p:cNvPr id="6" name="Slide Number Placeholder 5">
            <a:extLst>
              <a:ext uri="{FF2B5EF4-FFF2-40B4-BE49-F238E27FC236}">
                <a16:creationId xmlns:a16="http://schemas.microsoft.com/office/drawing/2014/main" id="{B01AA784-0F2C-4C78-A201-36238F926F07}"/>
              </a:ext>
            </a:extLst>
          </p:cNvPr>
          <p:cNvSpPr>
            <a:spLocks noGrp="1"/>
          </p:cNvSpPr>
          <p:nvPr>
            <p:ph type="sldNum" sz="quarter" idx="12"/>
          </p:nvPr>
        </p:nvSpPr>
        <p:spPr/>
        <p:txBody>
          <a:bodyPr/>
          <a:lstStyle/>
          <a:p>
            <a:fld id="{27C6CCC6-2BE5-4E42-96A4-D1E8E81A3D8E}" type="slidenum">
              <a:rPr lang="fr-FR" smtClean="0"/>
              <a:t>9</a:t>
            </a:fld>
            <a:endParaRPr lang="fr-FR"/>
          </a:p>
        </p:txBody>
      </p:sp>
      <p:sp>
        <p:nvSpPr>
          <p:cNvPr id="16" name="Title 1">
            <a:extLst>
              <a:ext uri="{FF2B5EF4-FFF2-40B4-BE49-F238E27FC236}">
                <a16:creationId xmlns:a16="http://schemas.microsoft.com/office/drawing/2014/main" id="{F1A6D283-44DF-4BAB-9012-81B43F6BC3CE}"/>
              </a:ext>
            </a:extLst>
          </p:cNvPr>
          <p:cNvSpPr txBox="1">
            <a:spLocks/>
          </p:cNvSpPr>
          <p:nvPr/>
        </p:nvSpPr>
        <p:spPr>
          <a:xfrm>
            <a:off x="838200" y="14286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2.Model</a:t>
            </a:r>
            <a:endParaRPr lang="en-US" dirty="0"/>
          </a:p>
        </p:txBody>
      </p:sp>
    </p:spTree>
    <p:extLst>
      <p:ext uri="{BB962C8B-B14F-4D97-AF65-F5344CB8AC3E}">
        <p14:creationId xmlns:p14="http://schemas.microsoft.com/office/powerpoint/2010/main" val="1159539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B0C32-9274-4A78-B9E3-E66076262AAB}"/>
              </a:ext>
            </a:extLst>
          </p:cNvPr>
          <p:cNvSpPr>
            <a:spLocks noGrp="1"/>
          </p:cNvSpPr>
          <p:nvPr>
            <p:ph type="title"/>
          </p:nvPr>
        </p:nvSpPr>
        <p:spPr>
          <a:xfrm>
            <a:off x="838200" y="142867"/>
            <a:ext cx="10515600" cy="1325563"/>
          </a:xfrm>
        </p:spPr>
        <p:txBody>
          <a:bodyPr/>
          <a:lstStyle/>
          <a:p>
            <a:r>
              <a:rPr lang="en-US" dirty="0"/>
              <a:t>2.Model</a:t>
            </a:r>
          </a:p>
        </p:txBody>
      </p:sp>
      <p:sp>
        <p:nvSpPr>
          <p:cNvPr id="3" name="Content Placeholder 2">
            <a:extLst>
              <a:ext uri="{FF2B5EF4-FFF2-40B4-BE49-F238E27FC236}">
                <a16:creationId xmlns:a16="http://schemas.microsoft.com/office/drawing/2014/main" id="{24E31E20-525C-45DC-8727-43A0CF733865}"/>
              </a:ext>
            </a:extLst>
          </p:cNvPr>
          <p:cNvSpPr>
            <a:spLocks noGrp="1"/>
          </p:cNvSpPr>
          <p:nvPr>
            <p:ph idx="1"/>
          </p:nvPr>
        </p:nvSpPr>
        <p:spPr>
          <a:xfrm>
            <a:off x="838200" y="1337394"/>
            <a:ext cx="5891734" cy="5018955"/>
          </a:xfrm>
        </p:spPr>
        <p:txBody>
          <a:bodyPr>
            <a:normAutofit/>
          </a:bodyPr>
          <a:lstStyle/>
          <a:p>
            <a:pPr marL="0" indent="0">
              <a:buNone/>
            </a:pPr>
            <a:r>
              <a:rPr lang="fr-FR" dirty="0"/>
              <a:t>2.2.Formalism of </a:t>
            </a:r>
            <a:r>
              <a:rPr lang="fr-FR" dirty="0" err="1"/>
              <a:t>ArchiCrop</a:t>
            </a:r>
            <a:r>
              <a:rPr lang="fr-FR" dirty="0"/>
              <a:t> model</a:t>
            </a:r>
          </a:p>
          <a:p>
            <a:pPr lvl="1"/>
            <a:r>
              <a:rPr lang="fr-FR" dirty="0" err="1"/>
              <a:t>Topology</a:t>
            </a:r>
            <a:endParaRPr lang="fr-FR" dirty="0"/>
          </a:p>
          <a:p>
            <a:pPr marL="457200" lvl="1" indent="0">
              <a:buNone/>
            </a:pPr>
            <a:r>
              <a:rPr lang="fr-FR" sz="2000" dirty="0"/>
              <a:t>A </a:t>
            </a:r>
            <a:r>
              <a:rPr lang="fr-FR" sz="2000" dirty="0" err="1"/>
              <a:t>crop</a:t>
            </a:r>
            <a:r>
              <a:rPr lang="fr-FR" sz="2000" dirty="0"/>
              <a:t> </a:t>
            </a:r>
            <a:r>
              <a:rPr lang="fr-FR" sz="2000" dirty="0" err="1"/>
              <a:t>is</a:t>
            </a:r>
            <a:r>
              <a:rPr lang="fr-FR" sz="2000" dirty="0"/>
              <a:t> a set of plants. A plant </a:t>
            </a:r>
            <a:r>
              <a:rPr lang="fr-FR" sz="2000" dirty="0" err="1"/>
              <a:t>is</a:t>
            </a:r>
            <a:r>
              <a:rPr lang="fr-FR" sz="2000" dirty="0"/>
              <a:t> a set of axis </a:t>
            </a:r>
            <a:r>
              <a:rPr lang="fr-FR" sz="2000" dirty="0" err="1"/>
              <a:t>connected</a:t>
            </a:r>
            <a:r>
              <a:rPr lang="fr-FR" sz="2000" dirty="0"/>
              <a:t> to </a:t>
            </a:r>
            <a:r>
              <a:rPr lang="fr-FR" sz="2000" dirty="0" err="1"/>
              <a:t>each</a:t>
            </a:r>
            <a:r>
              <a:rPr lang="fr-FR" sz="2000" dirty="0"/>
              <a:t> </a:t>
            </a:r>
            <a:r>
              <a:rPr lang="fr-FR" sz="2000" dirty="0" err="1"/>
              <a:t>other</a:t>
            </a:r>
            <a:r>
              <a:rPr lang="fr-FR" sz="2000" dirty="0"/>
              <a:t> as a </a:t>
            </a:r>
            <a:r>
              <a:rPr lang="fr-FR" sz="2000" dirty="0" err="1"/>
              <a:t>tree</a:t>
            </a:r>
            <a:r>
              <a:rPr lang="fr-FR" sz="2000" dirty="0"/>
              <a:t> structure. An axis </a:t>
            </a:r>
            <a:r>
              <a:rPr lang="fr-FR" sz="2000" dirty="0" err="1"/>
              <a:t>is</a:t>
            </a:r>
            <a:r>
              <a:rPr lang="fr-FR" sz="2000" dirty="0"/>
              <a:t> a </a:t>
            </a:r>
            <a:r>
              <a:rPr lang="fr-FR" sz="2000" dirty="0" err="1"/>
              <a:t>sequence</a:t>
            </a:r>
            <a:r>
              <a:rPr lang="fr-FR" sz="2000" dirty="0"/>
              <a:t> of </a:t>
            </a:r>
            <a:r>
              <a:rPr lang="fr-FR" sz="2000" dirty="0" err="1"/>
              <a:t>phytomers</a:t>
            </a:r>
            <a:r>
              <a:rPr lang="fr-FR" sz="2000" dirty="0"/>
              <a:t>. A </a:t>
            </a:r>
            <a:r>
              <a:rPr lang="fr-FR" sz="2000" dirty="0" err="1"/>
              <a:t>phytomer</a:t>
            </a:r>
            <a:r>
              <a:rPr lang="fr-FR" sz="2000" dirty="0"/>
              <a:t> </a:t>
            </a:r>
            <a:r>
              <a:rPr lang="fr-FR" sz="2000" dirty="0" err="1"/>
              <a:t>is</a:t>
            </a:r>
            <a:r>
              <a:rPr lang="fr-FR" sz="2000" dirty="0"/>
              <a:t> the </a:t>
            </a:r>
            <a:r>
              <a:rPr lang="fr-FR" sz="2000" dirty="0" err="1"/>
              <a:t>sequence</a:t>
            </a:r>
            <a:r>
              <a:rPr lang="fr-FR" sz="2000" dirty="0"/>
              <a:t> of </a:t>
            </a:r>
            <a:r>
              <a:rPr lang="fr-FR" sz="2000" dirty="0" err="1"/>
              <a:t>two</a:t>
            </a:r>
            <a:r>
              <a:rPr lang="fr-FR" sz="2000" dirty="0"/>
              <a:t> </a:t>
            </a:r>
            <a:r>
              <a:rPr lang="fr-FR" sz="2000" dirty="0" err="1"/>
              <a:t>organs</a:t>
            </a:r>
            <a:r>
              <a:rPr lang="fr-FR" sz="2000" dirty="0"/>
              <a:t>: an </a:t>
            </a:r>
            <a:r>
              <a:rPr lang="fr-FR" sz="2000" dirty="0" err="1"/>
              <a:t>internode</a:t>
            </a:r>
            <a:r>
              <a:rPr lang="fr-FR" sz="2000" dirty="0"/>
              <a:t> and a </a:t>
            </a:r>
            <a:r>
              <a:rPr lang="fr-FR" sz="2000" dirty="0" err="1"/>
              <a:t>leaf</a:t>
            </a:r>
            <a:r>
              <a:rPr lang="fr-FR" sz="2000" dirty="0"/>
              <a:t>.</a:t>
            </a:r>
          </a:p>
          <a:p>
            <a:pPr marL="457200" lvl="1" indent="0">
              <a:buNone/>
            </a:pPr>
            <a:endParaRPr lang="fr-FR" sz="2000" dirty="0"/>
          </a:p>
          <a:p>
            <a:pPr lvl="1"/>
            <a:r>
              <a:rPr lang="fr-FR" dirty="0" err="1"/>
              <a:t>Geometry</a:t>
            </a:r>
            <a:endParaRPr lang="fr-FR" dirty="0"/>
          </a:p>
          <a:p>
            <a:pPr marL="457200" lvl="1" indent="0">
              <a:buNone/>
            </a:pPr>
            <a:r>
              <a:rPr lang="fr-FR" sz="2000" dirty="0" err="1"/>
              <a:t>Internodes</a:t>
            </a:r>
            <a:r>
              <a:rPr lang="fr-FR" sz="2000" dirty="0"/>
              <a:t> are </a:t>
            </a:r>
            <a:r>
              <a:rPr lang="fr-FR" sz="2000" dirty="0" err="1"/>
              <a:t>represented</a:t>
            </a:r>
            <a:r>
              <a:rPr lang="fr-FR" sz="2000" dirty="0"/>
              <a:t> as </a:t>
            </a:r>
            <a:r>
              <a:rPr lang="fr-FR" sz="2000" dirty="0" err="1"/>
              <a:t>cylinders</a:t>
            </a:r>
            <a:r>
              <a:rPr lang="fr-FR" sz="2000" dirty="0"/>
              <a:t>. </a:t>
            </a:r>
            <a:r>
              <a:rPr lang="fr-FR" sz="2000" dirty="0" err="1"/>
              <a:t>Leaves</a:t>
            </a:r>
            <a:r>
              <a:rPr lang="fr-FR" sz="2000" dirty="0"/>
              <a:t> are </a:t>
            </a:r>
            <a:r>
              <a:rPr lang="fr-FR" sz="2000" dirty="0" err="1"/>
              <a:t>represented</a:t>
            </a:r>
            <a:r>
              <a:rPr lang="fr-FR" sz="2000" dirty="0"/>
              <a:t> as </a:t>
            </a:r>
            <a:r>
              <a:rPr lang="fr-FR" sz="2000" dirty="0" err="1"/>
              <a:t>curved</a:t>
            </a:r>
            <a:r>
              <a:rPr lang="fr-FR" sz="2000" dirty="0"/>
              <a:t> surfaces. </a:t>
            </a:r>
          </a:p>
          <a:p>
            <a:pPr marL="457200" lvl="1" indent="0">
              <a:buNone/>
            </a:pPr>
            <a:endParaRPr lang="fr-FR" sz="2000" dirty="0"/>
          </a:p>
          <a:p>
            <a:pPr lvl="1"/>
            <a:r>
              <a:rPr lang="fr-FR" dirty="0" err="1"/>
              <a:t>Development</a:t>
            </a:r>
            <a:endParaRPr lang="fr-FR" dirty="0"/>
          </a:p>
          <a:p>
            <a:pPr marL="457200" lvl="1" indent="0">
              <a:buNone/>
            </a:pPr>
            <a:r>
              <a:rPr lang="fr-FR" sz="2000" dirty="0"/>
              <a:t>The </a:t>
            </a:r>
            <a:r>
              <a:rPr lang="fr-FR" sz="2000" dirty="0" err="1"/>
              <a:t>development</a:t>
            </a:r>
            <a:r>
              <a:rPr lang="fr-FR" sz="2000" dirty="0"/>
              <a:t> of </a:t>
            </a:r>
            <a:r>
              <a:rPr lang="fr-FR" sz="2000" dirty="0" err="1"/>
              <a:t>each</a:t>
            </a:r>
            <a:r>
              <a:rPr lang="fr-FR" sz="2000" dirty="0"/>
              <a:t> axis and </a:t>
            </a:r>
            <a:r>
              <a:rPr lang="fr-FR" sz="2000" dirty="0" err="1"/>
              <a:t>each</a:t>
            </a:r>
            <a:r>
              <a:rPr lang="fr-FR" sz="2000" dirty="0"/>
              <a:t> </a:t>
            </a:r>
            <a:r>
              <a:rPr lang="fr-FR" sz="2000" dirty="0" err="1"/>
              <a:t>organ</a:t>
            </a:r>
            <a:r>
              <a:rPr lang="fr-FR" sz="2000" dirty="0"/>
              <a:t> </a:t>
            </a:r>
            <a:r>
              <a:rPr lang="fr-FR" sz="2000" dirty="0" err="1"/>
              <a:t>is</a:t>
            </a:r>
            <a:r>
              <a:rPr lang="fr-FR" sz="2000" dirty="0"/>
              <a:t> </a:t>
            </a:r>
            <a:r>
              <a:rPr lang="fr-FR" sz="2000" dirty="0" err="1"/>
              <a:t>defined</a:t>
            </a:r>
            <a:r>
              <a:rPr lang="fr-FR" sz="2000" dirty="0"/>
              <a:t> in time.</a:t>
            </a:r>
          </a:p>
        </p:txBody>
      </p:sp>
      <p:sp>
        <p:nvSpPr>
          <p:cNvPr id="5" name="Slide Number Placeholder 4">
            <a:extLst>
              <a:ext uri="{FF2B5EF4-FFF2-40B4-BE49-F238E27FC236}">
                <a16:creationId xmlns:a16="http://schemas.microsoft.com/office/drawing/2014/main" id="{C439CB68-CBCF-47FA-B1F7-957B4333ECCB}"/>
              </a:ext>
            </a:extLst>
          </p:cNvPr>
          <p:cNvSpPr>
            <a:spLocks noGrp="1"/>
          </p:cNvSpPr>
          <p:nvPr>
            <p:ph type="sldNum" sz="quarter" idx="12"/>
          </p:nvPr>
        </p:nvSpPr>
        <p:spPr/>
        <p:txBody>
          <a:bodyPr/>
          <a:lstStyle/>
          <a:p>
            <a:fld id="{4D0921BC-FC9B-4B20-AD4C-0D7EEBC2A9A8}" type="slidenum">
              <a:rPr lang="en-US" smtClean="0"/>
              <a:t>10</a:t>
            </a:fld>
            <a:endParaRPr lang="en-US"/>
          </a:p>
        </p:txBody>
      </p:sp>
      <p:grpSp>
        <p:nvGrpSpPr>
          <p:cNvPr id="6" name="Group 5">
            <a:extLst>
              <a:ext uri="{FF2B5EF4-FFF2-40B4-BE49-F238E27FC236}">
                <a16:creationId xmlns:a16="http://schemas.microsoft.com/office/drawing/2014/main" id="{C387C009-66F0-44C1-8E9B-3C92A020B7D9}"/>
              </a:ext>
            </a:extLst>
          </p:cNvPr>
          <p:cNvGrpSpPr/>
          <p:nvPr/>
        </p:nvGrpSpPr>
        <p:grpSpPr>
          <a:xfrm>
            <a:off x="7713445" y="247406"/>
            <a:ext cx="4553859" cy="2739340"/>
            <a:chOff x="284338" y="1573509"/>
            <a:chExt cx="7687058" cy="4624092"/>
          </a:xfrm>
        </p:grpSpPr>
        <p:grpSp>
          <p:nvGrpSpPr>
            <p:cNvPr id="7" name="Group 6">
              <a:extLst>
                <a:ext uri="{FF2B5EF4-FFF2-40B4-BE49-F238E27FC236}">
                  <a16:creationId xmlns:a16="http://schemas.microsoft.com/office/drawing/2014/main" id="{02B0638A-C585-4B3D-9BF7-B97EA62EE81C}"/>
                </a:ext>
              </a:extLst>
            </p:cNvPr>
            <p:cNvGrpSpPr/>
            <p:nvPr/>
          </p:nvGrpSpPr>
          <p:grpSpPr>
            <a:xfrm>
              <a:off x="284338" y="1573509"/>
              <a:ext cx="7687058" cy="4624092"/>
              <a:chOff x="1322452" y="557508"/>
              <a:chExt cx="9547095" cy="5742983"/>
            </a:xfrm>
          </p:grpSpPr>
          <p:pic>
            <p:nvPicPr>
              <p:cNvPr id="10" name="Picture 9">
                <a:extLst>
                  <a:ext uri="{FF2B5EF4-FFF2-40B4-BE49-F238E27FC236}">
                    <a16:creationId xmlns:a16="http://schemas.microsoft.com/office/drawing/2014/main" id="{2FB17238-37E7-4BB3-91E1-C2D022628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452" y="557508"/>
                <a:ext cx="9547095" cy="5742983"/>
              </a:xfrm>
              <a:prstGeom prst="rect">
                <a:avLst/>
              </a:prstGeom>
            </p:spPr>
          </p:pic>
          <p:sp>
            <p:nvSpPr>
              <p:cNvPr id="11" name="Arc 10">
                <a:extLst>
                  <a:ext uri="{FF2B5EF4-FFF2-40B4-BE49-F238E27FC236}">
                    <a16:creationId xmlns:a16="http://schemas.microsoft.com/office/drawing/2014/main" id="{76D55BF2-9E67-4DBA-9055-4FA0C80E3AA4}"/>
                  </a:ext>
                </a:extLst>
              </p:cNvPr>
              <p:cNvSpPr/>
              <p:nvPr/>
            </p:nvSpPr>
            <p:spPr>
              <a:xfrm rot="1547670">
                <a:off x="3193839" y="1173367"/>
                <a:ext cx="711622" cy="705376"/>
              </a:xfrm>
              <a:prstGeom prst="arc">
                <a:avLst>
                  <a:gd name="adj1" fmla="val 10822091"/>
                  <a:gd name="adj2" fmla="val 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F8AF0E7A-E53A-4B6D-B41A-4400865606EA}"/>
                  </a:ext>
                </a:extLst>
              </p:cNvPr>
              <p:cNvSpPr/>
              <p:nvPr/>
            </p:nvSpPr>
            <p:spPr>
              <a:xfrm rot="21405153">
                <a:off x="6964755" y="1196634"/>
                <a:ext cx="1497861" cy="1036037"/>
              </a:xfrm>
              <a:prstGeom prst="arc">
                <a:avLst>
                  <a:gd name="adj1" fmla="val 13046312"/>
                  <a:gd name="adj2" fmla="val 1815059"/>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3A1A282E-9F60-40C8-93D7-DAEE92FB8B4E}"/>
                  </a:ext>
                </a:extLst>
              </p:cNvPr>
              <p:cNvSpPr/>
              <p:nvPr/>
            </p:nvSpPr>
            <p:spPr>
              <a:xfrm rot="18460393">
                <a:off x="6341019" y="2009234"/>
                <a:ext cx="711622" cy="705376"/>
              </a:xfrm>
              <a:prstGeom prst="arc">
                <a:avLst>
                  <a:gd name="adj1" fmla="val 18836553"/>
                  <a:gd name="adj2" fmla="val 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8" name="TextBox 7">
              <a:extLst>
                <a:ext uri="{FF2B5EF4-FFF2-40B4-BE49-F238E27FC236}">
                  <a16:creationId xmlns:a16="http://schemas.microsoft.com/office/drawing/2014/main" id="{5317A434-2B13-4048-921E-BC74838518D4}"/>
                </a:ext>
              </a:extLst>
            </p:cNvPr>
            <p:cNvSpPr txBox="1"/>
            <p:nvPr/>
          </p:nvSpPr>
          <p:spPr>
            <a:xfrm>
              <a:off x="4650999" y="3634636"/>
              <a:ext cx="1558767" cy="467583"/>
            </a:xfrm>
            <a:prstGeom prst="rect">
              <a:avLst/>
            </a:prstGeom>
            <a:noFill/>
          </p:spPr>
          <p:txBody>
            <a:bodyPr wrap="square" rtlCol="0">
              <a:spAutoFit/>
            </a:bodyPr>
            <a:lstStyle/>
            <a:p>
              <a:r>
                <a:rPr lang="en-US" sz="1200" b="1" dirty="0"/>
                <a:t>Internode</a:t>
              </a:r>
            </a:p>
          </p:txBody>
        </p:sp>
        <p:sp>
          <p:nvSpPr>
            <p:cNvPr id="9" name="TextBox 8">
              <a:extLst>
                <a:ext uri="{FF2B5EF4-FFF2-40B4-BE49-F238E27FC236}">
                  <a16:creationId xmlns:a16="http://schemas.microsoft.com/office/drawing/2014/main" id="{61EDD10C-E6C4-41BF-80A0-F444FFE50E80}"/>
                </a:ext>
              </a:extLst>
            </p:cNvPr>
            <p:cNvSpPr txBox="1"/>
            <p:nvPr/>
          </p:nvSpPr>
          <p:spPr>
            <a:xfrm>
              <a:off x="5968994" y="2784283"/>
              <a:ext cx="770593" cy="467583"/>
            </a:xfrm>
            <a:prstGeom prst="rect">
              <a:avLst/>
            </a:prstGeom>
            <a:noFill/>
          </p:spPr>
          <p:txBody>
            <a:bodyPr wrap="square" rtlCol="0">
              <a:spAutoFit/>
            </a:bodyPr>
            <a:lstStyle/>
            <a:p>
              <a:r>
                <a:rPr lang="en-US" sz="1200" b="1" dirty="0"/>
                <a:t>Leaf</a:t>
              </a:r>
            </a:p>
          </p:txBody>
        </p:sp>
      </p:grpSp>
      <p:sp>
        <p:nvSpPr>
          <p:cNvPr id="14" name="Rectangle 13">
            <a:extLst>
              <a:ext uri="{FF2B5EF4-FFF2-40B4-BE49-F238E27FC236}">
                <a16:creationId xmlns:a16="http://schemas.microsoft.com/office/drawing/2014/main" id="{52384B62-76CF-4752-888C-786807B61425}"/>
              </a:ext>
            </a:extLst>
          </p:cNvPr>
          <p:cNvSpPr/>
          <p:nvPr/>
        </p:nvSpPr>
        <p:spPr>
          <a:xfrm>
            <a:off x="7499964" y="2941726"/>
            <a:ext cx="4703082" cy="369332"/>
          </a:xfrm>
          <a:prstGeom prst="rect">
            <a:avLst/>
          </a:prstGeom>
        </p:spPr>
        <p:txBody>
          <a:bodyPr wrap="none">
            <a:spAutoFit/>
          </a:bodyPr>
          <a:lstStyle/>
          <a:p>
            <a:r>
              <a:rPr lang="fr-FR" i="1" dirty="0">
                <a:sym typeface="Wingdings" panose="05000000000000000000" pitchFamily="2" charset="2"/>
              </a:rPr>
              <a:t>Figure: </a:t>
            </a:r>
            <a:r>
              <a:rPr lang="fr-FR" i="1" dirty="0" err="1">
                <a:sym typeface="Wingdings" panose="05000000000000000000" pitchFamily="2" charset="2"/>
              </a:rPr>
              <a:t>Geometric</a:t>
            </a:r>
            <a:r>
              <a:rPr lang="fr-FR" i="1" dirty="0">
                <a:sym typeface="Wingdings" panose="05000000000000000000" pitchFamily="2" charset="2"/>
              </a:rPr>
              <a:t> </a:t>
            </a:r>
            <a:r>
              <a:rPr lang="fr-FR" i="1" dirty="0" err="1">
                <a:sym typeface="Wingdings" panose="05000000000000000000" pitchFamily="2" charset="2"/>
              </a:rPr>
              <a:t>parameters</a:t>
            </a:r>
            <a:r>
              <a:rPr lang="fr-FR" i="1" dirty="0">
                <a:sym typeface="Wingdings" panose="05000000000000000000" pitchFamily="2" charset="2"/>
              </a:rPr>
              <a:t> at </a:t>
            </a:r>
            <a:r>
              <a:rPr lang="fr-FR" i="1" dirty="0" err="1">
                <a:sym typeface="Wingdings" panose="05000000000000000000" pitchFamily="2" charset="2"/>
              </a:rPr>
              <a:t>different</a:t>
            </a:r>
            <a:r>
              <a:rPr lang="fr-FR" i="1" dirty="0">
                <a:sym typeface="Wingdings" panose="05000000000000000000" pitchFamily="2" charset="2"/>
              </a:rPr>
              <a:t> </a:t>
            </a:r>
            <a:r>
              <a:rPr lang="fr-FR" i="1" dirty="0" err="1">
                <a:sym typeface="Wingdings" panose="05000000000000000000" pitchFamily="2" charset="2"/>
              </a:rPr>
              <a:t>scales</a:t>
            </a:r>
            <a:endParaRPr lang="en-US" i="1" dirty="0"/>
          </a:p>
        </p:txBody>
      </p:sp>
      <p:sp>
        <p:nvSpPr>
          <p:cNvPr id="15" name="TextBox 14">
            <a:extLst>
              <a:ext uri="{FF2B5EF4-FFF2-40B4-BE49-F238E27FC236}">
                <a16:creationId xmlns:a16="http://schemas.microsoft.com/office/drawing/2014/main" id="{9FCC67C5-863E-4A61-81DF-EEFEF893B264}"/>
              </a:ext>
            </a:extLst>
          </p:cNvPr>
          <p:cNvSpPr txBox="1"/>
          <p:nvPr/>
        </p:nvSpPr>
        <p:spPr>
          <a:xfrm>
            <a:off x="9613285" y="74346"/>
            <a:ext cx="1467784" cy="276999"/>
          </a:xfrm>
          <a:prstGeom prst="rect">
            <a:avLst/>
          </a:prstGeom>
          <a:noFill/>
        </p:spPr>
        <p:txBody>
          <a:bodyPr wrap="square" rtlCol="0">
            <a:spAutoFit/>
          </a:bodyPr>
          <a:lstStyle/>
          <a:p>
            <a:r>
              <a:rPr lang="en-US" sz="1200" b="1" dirty="0" err="1"/>
              <a:t>Phytomer</a:t>
            </a:r>
            <a:endParaRPr lang="en-US" sz="1200" b="1" dirty="0"/>
          </a:p>
        </p:txBody>
      </p:sp>
      <p:sp>
        <p:nvSpPr>
          <p:cNvPr id="16" name="TextBox 15">
            <a:extLst>
              <a:ext uri="{FF2B5EF4-FFF2-40B4-BE49-F238E27FC236}">
                <a16:creationId xmlns:a16="http://schemas.microsoft.com/office/drawing/2014/main" id="{9035C989-91D9-4950-A728-95EA549AA73C}"/>
              </a:ext>
            </a:extLst>
          </p:cNvPr>
          <p:cNvSpPr txBox="1"/>
          <p:nvPr/>
        </p:nvSpPr>
        <p:spPr>
          <a:xfrm>
            <a:off x="7496378" y="718135"/>
            <a:ext cx="1467784" cy="461665"/>
          </a:xfrm>
          <a:prstGeom prst="rect">
            <a:avLst/>
          </a:prstGeom>
          <a:noFill/>
        </p:spPr>
        <p:txBody>
          <a:bodyPr wrap="square" rtlCol="0">
            <a:spAutoFit/>
          </a:bodyPr>
          <a:lstStyle/>
          <a:p>
            <a:r>
              <a:rPr lang="en-US" sz="1200" b="1" dirty="0"/>
              <a:t>Plant</a:t>
            </a:r>
          </a:p>
          <a:p>
            <a:r>
              <a:rPr lang="en-US" sz="1200" b="1" dirty="0"/>
              <a:t>architecture</a:t>
            </a:r>
          </a:p>
        </p:txBody>
      </p:sp>
      <p:sp>
        <p:nvSpPr>
          <p:cNvPr id="17" name="Rectangle 16">
            <a:extLst>
              <a:ext uri="{FF2B5EF4-FFF2-40B4-BE49-F238E27FC236}">
                <a16:creationId xmlns:a16="http://schemas.microsoft.com/office/drawing/2014/main" id="{87B956A1-34E6-47E3-85AD-63E549F475D5}"/>
              </a:ext>
            </a:extLst>
          </p:cNvPr>
          <p:cNvSpPr/>
          <p:nvPr/>
        </p:nvSpPr>
        <p:spPr>
          <a:xfrm>
            <a:off x="6931983" y="6150900"/>
            <a:ext cx="3926652" cy="369332"/>
          </a:xfrm>
          <a:prstGeom prst="rect">
            <a:avLst/>
          </a:prstGeom>
        </p:spPr>
        <p:txBody>
          <a:bodyPr wrap="none">
            <a:spAutoFit/>
          </a:bodyPr>
          <a:lstStyle/>
          <a:p>
            <a:r>
              <a:rPr lang="en-US" altLang="en-US" i="1" dirty="0">
                <a:latin typeface="Aptos"/>
                <a:cs typeface="Segoe UI" panose="020B0502040204020203" pitchFamily="34" charset="0"/>
              </a:rPr>
              <a:t>Figure: Organ development parameters </a:t>
            </a:r>
            <a:endParaRPr lang="en-US" dirty="0"/>
          </a:p>
        </p:txBody>
      </p:sp>
      <p:grpSp>
        <p:nvGrpSpPr>
          <p:cNvPr id="18" name="Group 17">
            <a:extLst>
              <a:ext uri="{FF2B5EF4-FFF2-40B4-BE49-F238E27FC236}">
                <a16:creationId xmlns:a16="http://schemas.microsoft.com/office/drawing/2014/main" id="{E9690D2F-0D94-44C0-9824-C34F52685AE2}"/>
              </a:ext>
            </a:extLst>
          </p:cNvPr>
          <p:cNvGrpSpPr/>
          <p:nvPr/>
        </p:nvGrpSpPr>
        <p:grpSpPr>
          <a:xfrm>
            <a:off x="7062557" y="3396637"/>
            <a:ext cx="3810928" cy="2724589"/>
            <a:chOff x="6566152" y="1897752"/>
            <a:chExt cx="5530323" cy="3953855"/>
          </a:xfrm>
        </p:grpSpPr>
        <p:sp>
          <p:nvSpPr>
            <p:cNvPr id="19" name="Rectangle 18">
              <a:extLst>
                <a:ext uri="{FF2B5EF4-FFF2-40B4-BE49-F238E27FC236}">
                  <a16:creationId xmlns:a16="http://schemas.microsoft.com/office/drawing/2014/main" id="{313625DD-2180-49F7-85CB-EECE33A8988D}"/>
                </a:ext>
              </a:extLst>
            </p:cNvPr>
            <p:cNvSpPr/>
            <p:nvPr/>
          </p:nvSpPr>
          <p:spPr>
            <a:xfrm>
              <a:off x="6590034" y="2248693"/>
              <a:ext cx="5308401" cy="1126847"/>
            </a:xfrm>
            <a:prstGeom prst="rect">
              <a:avLst/>
            </a:prstGeom>
            <a:solidFill>
              <a:schemeClr val="bg1">
                <a:alpha val="50196"/>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20" name="Picture 6">
              <a:extLst>
                <a:ext uri="{FF2B5EF4-FFF2-40B4-BE49-F238E27FC236}">
                  <a16:creationId xmlns:a16="http://schemas.microsoft.com/office/drawing/2014/main" id="{CD14C492-0299-4EB1-B56C-8E8035FF16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156" b="7118"/>
            <a:stretch/>
          </p:blipFill>
          <p:spPr bwMode="auto">
            <a:xfrm>
              <a:off x="6928960" y="3836073"/>
              <a:ext cx="4800115" cy="201553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E05D3C90-C328-4A32-B571-1E44823BB77D}"/>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98260" y="2630421"/>
              <a:ext cx="382932" cy="716289"/>
            </a:xfrm>
            <a:prstGeom prst="rect">
              <a:avLst/>
            </a:prstGeom>
          </p:spPr>
        </p:pic>
        <p:pic>
          <p:nvPicPr>
            <p:cNvPr id="22" name="Picture 21">
              <a:extLst>
                <a:ext uri="{FF2B5EF4-FFF2-40B4-BE49-F238E27FC236}">
                  <a16:creationId xmlns:a16="http://schemas.microsoft.com/office/drawing/2014/main" id="{7D754D4C-A388-41E1-AECF-2163847DF23E}"/>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29003" y="2276724"/>
              <a:ext cx="757025" cy="1098816"/>
            </a:xfrm>
            <a:prstGeom prst="rect">
              <a:avLst/>
            </a:prstGeom>
          </p:spPr>
        </p:pic>
        <p:pic>
          <p:nvPicPr>
            <p:cNvPr id="23" name="Picture 22">
              <a:extLst>
                <a:ext uri="{FF2B5EF4-FFF2-40B4-BE49-F238E27FC236}">
                  <a16:creationId xmlns:a16="http://schemas.microsoft.com/office/drawing/2014/main" id="{6961B4DE-572F-4AD3-AA5A-1AEEF68EBC53}"/>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42978" y="2248693"/>
              <a:ext cx="1218724" cy="1197280"/>
            </a:xfrm>
            <a:prstGeom prst="rect">
              <a:avLst/>
            </a:prstGeom>
          </p:spPr>
        </p:pic>
        <p:pic>
          <p:nvPicPr>
            <p:cNvPr id="24" name="Picture 23">
              <a:extLst>
                <a:ext uri="{FF2B5EF4-FFF2-40B4-BE49-F238E27FC236}">
                  <a16:creationId xmlns:a16="http://schemas.microsoft.com/office/drawing/2014/main" id="{87DC15C4-3C5F-49DE-BD08-152F643797C7}"/>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22714" y="2163815"/>
              <a:ext cx="1727081" cy="1282298"/>
            </a:xfrm>
            <a:prstGeom prst="rect">
              <a:avLst/>
            </a:prstGeom>
          </p:spPr>
        </p:pic>
        <p:pic>
          <p:nvPicPr>
            <p:cNvPr id="25" name="Picture 24">
              <a:extLst>
                <a:ext uri="{FF2B5EF4-FFF2-40B4-BE49-F238E27FC236}">
                  <a16:creationId xmlns:a16="http://schemas.microsoft.com/office/drawing/2014/main" id="{0854341F-49DB-4585-86BB-59E5B2C46610}"/>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05481" y="2183099"/>
              <a:ext cx="1837622" cy="1282297"/>
            </a:xfrm>
            <a:prstGeom prst="rect">
              <a:avLst/>
            </a:prstGeom>
          </p:spPr>
        </p:pic>
        <p:pic>
          <p:nvPicPr>
            <p:cNvPr id="26" name="Picture 25">
              <a:extLst>
                <a:ext uri="{FF2B5EF4-FFF2-40B4-BE49-F238E27FC236}">
                  <a16:creationId xmlns:a16="http://schemas.microsoft.com/office/drawing/2014/main" id="{2C546F0F-4FDA-4652-8A54-1713917B64BF}"/>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74391" y="2208499"/>
              <a:ext cx="2022084" cy="1376140"/>
            </a:xfrm>
            <a:prstGeom prst="rect">
              <a:avLst/>
            </a:prstGeom>
          </p:spPr>
        </p:pic>
        <p:cxnSp>
          <p:nvCxnSpPr>
            <p:cNvPr id="27" name="Straight Connector 26">
              <a:extLst>
                <a:ext uri="{FF2B5EF4-FFF2-40B4-BE49-F238E27FC236}">
                  <a16:creationId xmlns:a16="http://schemas.microsoft.com/office/drawing/2014/main" id="{555FD9F4-6ED7-4315-8654-EAE5C4582BE1}"/>
                </a:ext>
              </a:extLst>
            </p:cNvPr>
            <p:cNvCxnSpPr>
              <a:cxnSpLocks/>
            </p:cNvCxnSpPr>
            <p:nvPr/>
          </p:nvCxnSpPr>
          <p:spPr>
            <a:xfrm flipH="1" flipV="1">
              <a:off x="6590034" y="3377693"/>
              <a:ext cx="3126059" cy="801656"/>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806BBB3-428D-4A0A-A41C-AB21A9CA0A73}"/>
                </a:ext>
              </a:extLst>
            </p:cNvPr>
            <p:cNvCxnSpPr>
              <a:cxnSpLocks/>
            </p:cNvCxnSpPr>
            <p:nvPr/>
          </p:nvCxnSpPr>
          <p:spPr>
            <a:xfrm flipH="1">
              <a:off x="11050321" y="3375540"/>
              <a:ext cx="848114" cy="770857"/>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17B37757-D122-474F-A376-66210F35939A}"/>
                </a:ext>
              </a:extLst>
            </p:cNvPr>
            <p:cNvSpPr txBox="1"/>
            <p:nvPr/>
          </p:nvSpPr>
          <p:spPr>
            <a:xfrm>
              <a:off x="6566152" y="1897752"/>
              <a:ext cx="1632111" cy="337064"/>
            </a:xfrm>
            <a:prstGeom prst="rect">
              <a:avLst/>
            </a:prstGeom>
            <a:noFill/>
          </p:spPr>
          <p:txBody>
            <a:bodyPr wrap="square" rtlCol="0">
              <a:spAutoFit/>
            </a:bodyPr>
            <a:lstStyle/>
            <a:p>
              <a:r>
                <a:rPr lang="en-US" sz="1200" b="1" dirty="0"/>
                <a:t>Growing leaf</a:t>
              </a:r>
            </a:p>
          </p:txBody>
        </p:sp>
      </p:grpSp>
    </p:spTree>
    <p:extLst>
      <p:ext uri="{BB962C8B-B14F-4D97-AF65-F5344CB8AC3E}">
        <p14:creationId xmlns:p14="http://schemas.microsoft.com/office/powerpoint/2010/main" val="1512766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C588F-AB32-49C7-B2D1-E8CE8676161D}"/>
              </a:ext>
            </a:extLst>
          </p:cNvPr>
          <p:cNvSpPr>
            <a:spLocks noGrp="1"/>
          </p:cNvSpPr>
          <p:nvPr>
            <p:ph type="title"/>
          </p:nvPr>
        </p:nvSpPr>
        <p:spPr>
          <a:xfrm>
            <a:off x="838200" y="343605"/>
            <a:ext cx="10515600" cy="1325563"/>
          </a:xfrm>
        </p:spPr>
        <p:txBody>
          <a:bodyPr/>
          <a:lstStyle/>
          <a:p>
            <a:r>
              <a:rPr lang="en-US" dirty="0"/>
              <a:t>2.Model</a:t>
            </a:r>
          </a:p>
        </p:txBody>
      </p:sp>
      <p:sp>
        <p:nvSpPr>
          <p:cNvPr id="3" name="Content Placeholder 2">
            <a:extLst>
              <a:ext uri="{FF2B5EF4-FFF2-40B4-BE49-F238E27FC236}">
                <a16:creationId xmlns:a16="http://schemas.microsoft.com/office/drawing/2014/main" id="{0F66AA38-F5FA-42D3-9E1D-CE152D697FB2}"/>
              </a:ext>
            </a:extLst>
          </p:cNvPr>
          <p:cNvSpPr>
            <a:spLocks noGrp="1"/>
          </p:cNvSpPr>
          <p:nvPr>
            <p:ph idx="1"/>
          </p:nvPr>
        </p:nvSpPr>
        <p:spPr>
          <a:xfrm>
            <a:off x="838199" y="1440574"/>
            <a:ext cx="10887635" cy="2679612"/>
          </a:xfrm>
        </p:spPr>
        <p:txBody>
          <a:bodyPr>
            <a:normAutofit fontScale="85000" lnSpcReduction="20000"/>
          </a:bodyPr>
          <a:lstStyle/>
          <a:p>
            <a:pPr marL="0" indent="0">
              <a:buNone/>
            </a:pPr>
            <a:r>
              <a:rPr lang="fr-FR" dirty="0"/>
              <a:t>2.3.Parameters of the model</a:t>
            </a:r>
          </a:p>
          <a:p>
            <a:pPr lvl="1"/>
            <a:r>
              <a:rPr lang="fr-FR" dirty="0"/>
              <a:t>All </a:t>
            </a:r>
            <a:r>
              <a:rPr lang="fr-FR" dirty="0" err="1"/>
              <a:t>parameters</a:t>
            </a:r>
            <a:r>
              <a:rPr lang="fr-FR" dirty="0"/>
              <a:t> (= </a:t>
            </a:r>
            <a:r>
              <a:rPr lang="fr-FR" dirty="0" err="1"/>
              <a:t>degrees</a:t>
            </a:r>
            <a:r>
              <a:rPr lang="fr-FR" dirty="0"/>
              <a:t> of </a:t>
            </a:r>
            <a:r>
              <a:rPr lang="fr-FR" dirty="0" err="1"/>
              <a:t>freedom</a:t>
            </a:r>
            <a:r>
              <a:rPr lang="fr-FR" dirty="0"/>
              <a:t>), </a:t>
            </a:r>
            <a:r>
              <a:rPr lang="fr-FR" dirty="0" err="1"/>
              <a:t>classified</a:t>
            </a:r>
            <a:r>
              <a:rPr lang="fr-FR" dirty="0"/>
              <a:t> by </a:t>
            </a:r>
            <a:r>
              <a:rPr lang="fr-FR" dirty="0" err="1"/>
              <a:t>scale</a:t>
            </a:r>
            <a:r>
              <a:rPr lang="fr-FR" dirty="0"/>
              <a:t>: </a:t>
            </a:r>
          </a:p>
          <a:p>
            <a:pPr lvl="2"/>
            <a:r>
              <a:rPr lang="fr-FR" dirty="0" err="1"/>
              <a:t>crop</a:t>
            </a:r>
            <a:r>
              <a:rPr lang="fr-FR" dirty="0"/>
              <a:t> (</a:t>
            </a:r>
            <a:r>
              <a:rPr lang="fr-FR" dirty="0" err="1"/>
              <a:t>sowing</a:t>
            </a:r>
            <a:r>
              <a:rPr lang="fr-FR" dirty="0"/>
              <a:t> pattern), </a:t>
            </a:r>
          </a:p>
          <a:p>
            <a:pPr lvl="2"/>
            <a:r>
              <a:rPr lang="fr-FR" dirty="0"/>
              <a:t>plant (nb of axes </a:t>
            </a:r>
            <a:r>
              <a:rPr lang="fr-FR" dirty="0" err="1"/>
              <a:t>mostly</a:t>
            </a:r>
            <a:r>
              <a:rPr lang="fr-FR" dirty="0"/>
              <a:t>)</a:t>
            </a:r>
          </a:p>
          <a:p>
            <a:pPr lvl="2"/>
            <a:r>
              <a:rPr lang="fr-FR" dirty="0"/>
              <a:t>axis (axis </a:t>
            </a:r>
            <a:r>
              <a:rPr lang="fr-FR" dirty="0" err="1"/>
              <a:t>geometry</a:t>
            </a:r>
            <a:r>
              <a:rPr lang="fr-FR" dirty="0"/>
              <a:t> and </a:t>
            </a:r>
            <a:r>
              <a:rPr lang="fr-FR" dirty="0" err="1"/>
              <a:t>developpement</a:t>
            </a:r>
            <a:r>
              <a:rPr lang="fr-FR" dirty="0"/>
              <a:t>, nb of </a:t>
            </a:r>
            <a:r>
              <a:rPr lang="fr-FR" dirty="0" err="1"/>
              <a:t>phytomers</a:t>
            </a:r>
            <a:r>
              <a:rPr lang="fr-FR" dirty="0"/>
              <a:t>, </a:t>
            </a:r>
            <a:r>
              <a:rPr lang="fr-FR" dirty="0" err="1"/>
              <a:t>related</a:t>
            </a:r>
            <a:r>
              <a:rPr lang="fr-FR" dirty="0"/>
              <a:t> to </a:t>
            </a:r>
            <a:r>
              <a:rPr lang="fr-FR" dirty="0" err="1"/>
              <a:t>allometric</a:t>
            </a:r>
            <a:r>
              <a:rPr lang="fr-FR" dirty="0"/>
              <a:t> </a:t>
            </a:r>
            <a:r>
              <a:rPr lang="fr-FR" dirty="0" err="1"/>
              <a:t>laws</a:t>
            </a:r>
            <a:r>
              <a:rPr lang="fr-FR" dirty="0"/>
              <a:t>)</a:t>
            </a:r>
          </a:p>
          <a:p>
            <a:pPr lvl="2"/>
            <a:r>
              <a:rPr lang="fr-FR" dirty="0" err="1"/>
              <a:t>internode</a:t>
            </a:r>
            <a:r>
              <a:rPr lang="fr-FR" dirty="0"/>
              <a:t>/</a:t>
            </a:r>
            <a:r>
              <a:rPr lang="fr-FR" dirty="0" err="1"/>
              <a:t>leaf</a:t>
            </a:r>
            <a:r>
              <a:rPr lang="fr-FR" dirty="0"/>
              <a:t> (</a:t>
            </a:r>
            <a:r>
              <a:rPr lang="fr-FR" dirty="0" err="1"/>
              <a:t>geometry</a:t>
            </a:r>
            <a:r>
              <a:rPr lang="fr-FR" dirty="0"/>
              <a:t> and </a:t>
            </a:r>
            <a:r>
              <a:rPr lang="fr-FR" dirty="0" err="1"/>
              <a:t>development</a:t>
            </a:r>
            <a:r>
              <a:rPr lang="fr-FR" dirty="0"/>
              <a:t>)</a:t>
            </a:r>
          </a:p>
          <a:p>
            <a:pPr lvl="1"/>
            <a:r>
              <a:rPr lang="fr-FR" dirty="0" err="1"/>
              <a:t>Parameter</a:t>
            </a:r>
            <a:r>
              <a:rPr lang="fr-FR" dirty="0"/>
              <a:t> </a:t>
            </a:r>
            <a:r>
              <a:rPr lang="fr-FR" dirty="0" err="1"/>
              <a:t>relationships</a:t>
            </a:r>
            <a:r>
              <a:rPr lang="fr-FR" dirty="0"/>
              <a:t> on one axis </a:t>
            </a:r>
            <a:r>
              <a:rPr lang="fr-FR" dirty="0">
                <a:sym typeface="Wingdings" panose="05000000000000000000" pitchFamily="2" charset="2"/>
              </a:rPr>
              <a:t> </a:t>
            </a:r>
            <a:r>
              <a:rPr lang="fr-FR" dirty="0" err="1">
                <a:sym typeface="Wingdings" panose="05000000000000000000" pitchFamily="2" charset="2"/>
              </a:rPr>
              <a:t>reduce</a:t>
            </a:r>
            <a:r>
              <a:rPr lang="fr-FR" dirty="0">
                <a:sym typeface="Wingdings" panose="05000000000000000000" pitchFamily="2" charset="2"/>
              </a:rPr>
              <a:t> </a:t>
            </a:r>
            <a:r>
              <a:rPr lang="fr-FR" dirty="0" err="1">
                <a:sym typeface="Wingdings" panose="05000000000000000000" pitchFamily="2" charset="2"/>
              </a:rPr>
              <a:t>parameter</a:t>
            </a:r>
            <a:r>
              <a:rPr lang="fr-FR" dirty="0">
                <a:sym typeface="Wingdings" panose="05000000000000000000" pitchFamily="2" charset="2"/>
              </a:rPr>
              <a:t> </a:t>
            </a:r>
            <a:r>
              <a:rPr lang="fr-FR" dirty="0" err="1">
                <a:sym typeface="Wingdings" panose="05000000000000000000" pitchFamily="2" charset="2"/>
              </a:rPr>
              <a:t>space</a:t>
            </a:r>
            <a:r>
              <a:rPr lang="fr-FR" dirty="0">
                <a:sym typeface="Wingdings" panose="05000000000000000000" pitchFamily="2" charset="2"/>
              </a:rPr>
              <a:t> (help </a:t>
            </a:r>
            <a:r>
              <a:rPr lang="fr-FR" dirty="0" err="1">
                <a:sym typeface="Wingdings" panose="05000000000000000000" pitchFamily="2" charset="2"/>
              </a:rPr>
              <a:t>shaping</a:t>
            </a:r>
            <a:r>
              <a:rPr lang="fr-FR" dirty="0">
                <a:sym typeface="Wingdings" panose="05000000000000000000" pitchFamily="2" charset="2"/>
              </a:rPr>
              <a:t> </a:t>
            </a:r>
            <a:r>
              <a:rPr lang="fr-FR" dirty="0" err="1">
                <a:sym typeface="Wingdings" panose="05000000000000000000" pitchFamily="2" charset="2"/>
              </a:rPr>
              <a:t>organ</a:t>
            </a:r>
            <a:r>
              <a:rPr lang="fr-FR" dirty="0">
                <a:sym typeface="Wingdings" panose="05000000000000000000" pitchFamily="2" charset="2"/>
              </a:rPr>
              <a:t> </a:t>
            </a:r>
            <a:r>
              <a:rPr lang="fr-FR" dirty="0" err="1">
                <a:sym typeface="Wingdings" panose="05000000000000000000" pitchFamily="2" charset="2"/>
              </a:rPr>
              <a:t>geometry</a:t>
            </a:r>
            <a:r>
              <a:rPr lang="fr-FR" dirty="0">
                <a:sym typeface="Wingdings" panose="05000000000000000000" pitchFamily="2" charset="2"/>
              </a:rPr>
              <a:t>)</a:t>
            </a:r>
            <a:endParaRPr lang="en-US" i="1" dirty="0"/>
          </a:p>
          <a:p>
            <a:pPr marL="914400" lvl="2" indent="0">
              <a:buNone/>
            </a:pPr>
            <a:endParaRPr lang="en-US" i="1" dirty="0"/>
          </a:p>
          <a:p>
            <a:pPr marL="914400" lvl="2" indent="0">
              <a:buNone/>
            </a:pPr>
            <a:endParaRPr lang="en-US" i="1" dirty="0"/>
          </a:p>
          <a:p>
            <a:pPr marL="914400" lvl="2" indent="0">
              <a:buNone/>
            </a:pPr>
            <a:r>
              <a:rPr lang="en-US" i="1" dirty="0"/>
              <a:t>Table: Allometric laws describing organ geometry in </a:t>
            </a:r>
            <a:r>
              <a:rPr lang="en-US" i="1" dirty="0" err="1"/>
              <a:t>ArchiCrop</a:t>
            </a:r>
            <a:r>
              <a:rPr lang="en-US" i="1" dirty="0"/>
              <a:t>.</a:t>
            </a:r>
            <a:r>
              <a:rPr lang="en-US" dirty="0"/>
              <a:t> </a:t>
            </a:r>
            <a:endParaRPr lang="fr-FR" dirty="0"/>
          </a:p>
          <a:p>
            <a:pPr marL="457200" lvl="1" indent="0">
              <a:buNone/>
            </a:pPr>
            <a:endParaRPr lang="fr-FR" dirty="0"/>
          </a:p>
          <a:p>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BC85944-1818-4175-8B03-2B93EAE63F39}"/>
                  </a:ext>
                </a:extLst>
              </p:cNvPr>
              <p:cNvGraphicFramePr>
                <a:graphicFrameLocks noGrp="1"/>
              </p:cNvGraphicFramePr>
              <p:nvPr>
                <p:extLst>
                  <p:ext uri="{D42A27DB-BD31-4B8C-83A1-F6EECF244321}">
                    <p14:modId xmlns:p14="http://schemas.microsoft.com/office/powerpoint/2010/main" val="1820551326"/>
                  </p:ext>
                </p:extLst>
              </p:nvPr>
            </p:nvGraphicFramePr>
            <p:xfrm>
              <a:off x="333487" y="4108544"/>
              <a:ext cx="11392348" cy="2679613"/>
            </p:xfrm>
            <a:graphic>
              <a:graphicData uri="http://schemas.openxmlformats.org/drawingml/2006/table">
                <a:tbl>
                  <a:tblPr/>
                  <a:tblGrid>
                    <a:gridCol w="2762138">
                      <a:extLst>
                        <a:ext uri="{9D8B030D-6E8A-4147-A177-3AD203B41FA5}">
                          <a16:colId xmlns:a16="http://schemas.microsoft.com/office/drawing/2014/main" val="3929865032"/>
                        </a:ext>
                      </a:extLst>
                    </a:gridCol>
                    <a:gridCol w="2466975">
                      <a:extLst>
                        <a:ext uri="{9D8B030D-6E8A-4147-A177-3AD203B41FA5}">
                          <a16:colId xmlns:a16="http://schemas.microsoft.com/office/drawing/2014/main" val="1492455296"/>
                        </a:ext>
                      </a:extLst>
                    </a:gridCol>
                    <a:gridCol w="1009650">
                      <a:extLst>
                        <a:ext uri="{9D8B030D-6E8A-4147-A177-3AD203B41FA5}">
                          <a16:colId xmlns:a16="http://schemas.microsoft.com/office/drawing/2014/main" val="4239091713"/>
                        </a:ext>
                      </a:extLst>
                    </a:gridCol>
                    <a:gridCol w="1000125">
                      <a:extLst>
                        <a:ext uri="{9D8B030D-6E8A-4147-A177-3AD203B41FA5}">
                          <a16:colId xmlns:a16="http://schemas.microsoft.com/office/drawing/2014/main" val="3627056938"/>
                        </a:ext>
                      </a:extLst>
                    </a:gridCol>
                    <a:gridCol w="923925">
                      <a:extLst>
                        <a:ext uri="{9D8B030D-6E8A-4147-A177-3AD203B41FA5}">
                          <a16:colId xmlns:a16="http://schemas.microsoft.com/office/drawing/2014/main" val="1233284035"/>
                        </a:ext>
                      </a:extLst>
                    </a:gridCol>
                    <a:gridCol w="3229535">
                      <a:extLst>
                        <a:ext uri="{9D8B030D-6E8A-4147-A177-3AD203B41FA5}">
                          <a16:colId xmlns:a16="http://schemas.microsoft.com/office/drawing/2014/main" val="2340148305"/>
                        </a:ext>
                      </a:extLst>
                    </a:gridCol>
                  </a:tblGrid>
                  <a:tr h="145834">
                    <a:tc>
                      <a:txBody>
                        <a:bodyPr/>
                        <a:lstStyle/>
                        <a:p>
                          <a:pPr algn="l" rtl="0" fontAlgn="base"/>
                          <a:r>
                            <a:rPr lang="en-US" sz="1200" b="0" i="0" cap="all" dirty="0">
                              <a:effectLst/>
                              <a:latin typeface="Aptos"/>
                            </a:rPr>
                            <a:t>Function</a:t>
                          </a:r>
                          <a:r>
                            <a:rPr lang="en-US" sz="1200" b="1" i="0" cap="all" dirty="0">
                              <a:effectLst/>
                              <a:latin typeface="Aptos"/>
                            </a:rPr>
                            <a:t> </a:t>
                          </a:r>
                          <a:endParaRPr lang="en-US" sz="2400" b="1" i="0" cap="all" dirty="0">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Description</a:t>
                          </a:r>
                          <a:r>
                            <a:rPr lang="en-US" sz="1200" b="1" i="0" cap="all">
                              <a:effectLst/>
                              <a:latin typeface="Aptos"/>
                            </a:rPr>
                            <a:t> </a:t>
                          </a:r>
                          <a:endParaRPr lang="en-US" sz="2400" b="1" i="0" cap="all">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Parameters</a:t>
                          </a:r>
                          <a:r>
                            <a:rPr lang="en-US" sz="1200" b="1" i="0" cap="all">
                              <a:effectLst/>
                              <a:latin typeface="Aptos"/>
                            </a:rPr>
                            <a:t> </a:t>
                          </a:r>
                          <a:endParaRPr lang="en-US" sz="2400" b="1" i="0" cap="all">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Unit</a:t>
                          </a:r>
                          <a:r>
                            <a:rPr lang="en-US" sz="1200" b="1" i="0" cap="all">
                              <a:effectLst/>
                              <a:latin typeface="Aptos"/>
                            </a:rPr>
                            <a:t> </a:t>
                          </a:r>
                          <a:endParaRPr lang="en-US" sz="2400" b="1" i="0" cap="all">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dirty="0">
                              <a:effectLst/>
                              <a:latin typeface="Aptos"/>
                            </a:rPr>
                            <a:t>Sorghum</a:t>
                          </a:r>
                          <a:r>
                            <a:rPr lang="en-US" sz="1200" b="1" i="0" cap="all" dirty="0">
                              <a:effectLst/>
                              <a:latin typeface="Aptos"/>
                            </a:rPr>
                            <a:t> </a:t>
                          </a:r>
                          <a:endParaRPr lang="en-US" sz="2400" b="1" i="0" cap="all" dirty="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Reference</a:t>
                          </a:r>
                          <a:r>
                            <a:rPr lang="en-US" sz="1200" b="1" i="0" cap="all">
                              <a:effectLst/>
                              <a:latin typeface="Aptos"/>
                            </a:rPr>
                            <a:t> </a:t>
                          </a:r>
                          <a:endParaRPr lang="en-US" sz="2400" b="1" i="0" cap="all">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3498099"/>
                      </a:ext>
                    </a:extLst>
                  </a:tr>
                  <a:tr h="135818">
                    <a:tc>
                      <a:txBody>
                        <a:bodyPr/>
                        <a:lstStyle/>
                        <a:p>
                          <a:pPr algn="l" rtl="0" fontAlgn="base"/>
                          <a14:m>
                            <m:oMathPara xmlns:m="http://schemas.openxmlformats.org/officeDocument/2006/math">
                              <m:oMathParaPr>
                                <m:jc m:val="centerGroup"/>
                              </m:oMathParaPr>
                              <m:oMath xmlns:m="http://schemas.openxmlformats.org/officeDocument/2006/math">
                                <m:r>
                                  <a:rPr lang="en-US" sz="1200" b="0" i="1" smtClean="0">
                                    <a:effectLst/>
                                    <a:latin typeface="Cambria Math" panose="02040503050406030204" pitchFamily="18" charset="0"/>
                                  </a:rPr>
                                  <m:t>𝐻</m:t>
                                </m:r>
                                <m:d>
                                  <m:dPr>
                                    <m:ctrlPr>
                                      <a:rPr lang="en-US" sz="1200" b="0" i="1" smtClean="0">
                                        <a:effectLst/>
                                        <a:latin typeface="Cambria Math" panose="02040503050406030204" pitchFamily="18" charset="0"/>
                                      </a:rPr>
                                    </m:ctrlPr>
                                  </m:dPr>
                                  <m:e>
                                    <m:r>
                                      <a:rPr lang="en-US" sz="1200" b="0" i="1" smtClean="0">
                                        <a:effectLst/>
                                        <a:latin typeface="Cambria Math" panose="02040503050406030204" pitchFamily="18" charset="0"/>
                                      </a:rPr>
                                      <m:t>𝑟𝑎𝑛𝑘</m:t>
                                    </m:r>
                                  </m:e>
                                </m:d>
                                <m:r>
                                  <a:rPr lang="en-US" sz="1200" b="0" i="1" smtClean="0">
                                    <a:effectLst/>
                                    <a:latin typeface="Cambria Math" panose="02040503050406030204" pitchFamily="18" charset="0"/>
                                  </a:rPr>
                                  <m:t>= </m:t>
                                </m:r>
                                <m:r>
                                  <a:rPr lang="en-US" sz="1200" b="0" i="1" smtClean="0">
                                    <a:effectLst/>
                                    <a:latin typeface="Cambria Math" panose="02040503050406030204" pitchFamily="18" charset="0"/>
                                  </a:rPr>
                                  <m:t>𝑟𝑎𝑛𝑘</m:t>
                                </m:r>
                                <m:r>
                                  <a:rPr lang="en-US" sz="1200" b="0" i="1" smtClean="0">
                                    <a:effectLst/>
                                    <a:latin typeface="Cambria Math" panose="02040503050406030204" pitchFamily="18" charset="0"/>
                                  </a:rPr>
                                  <m:t> </m:t>
                                </m:r>
                                <m:r>
                                  <a:rPr lang="en-US" sz="1200" b="0" i="1" smtClean="0">
                                    <a:effectLst/>
                                    <a:latin typeface="Cambria Math" panose="02040503050406030204" pitchFamily="18" charset="0"/>
                                  </a:rPr>
                                  <m:t>𝑥</m:t>
                                </m:r>
                                <m:f>
                                  <m:fPr>
                                    <m:ctrlPr>
                                      <a:rPr lang="en-US" sz="1200" b="0" i="1" smtClean="0">
                                        <a:effectLst/>
                                        <a:latin typeface="Cambria Math" panose="02040503050406030204" pitchFamily="18" charset="0"/>
                                      </a:rPr>
                                    </m:ctrlPr>
                                  </m:fPr>
                                  <m:num>
                                    <m:r>
                                      <a:rPr lang="en-US" sz="1200" b="0" i="1" smtClean="0">
                                        <a:effectLst/>
                                        <a:latin typeface="Cambria Math" panose="02040503050406030204" pitchFamily="18" charset="0"/>
                                      </a:rPr>
                                      <m:t>𝐻</m:t>
                                    </m:r>
                                  </m:num>
                                  <m:den>
                                    <m:sSub>
                                      <m:sSubPr>
                                        <m:ctrlPr>
                                          <a:rPr lang="fr-FR" sz="1200" b="0" i="1" smtClean="0">
                                            <a:effectLst/>
                                            <a:latin typeface="Cambria Math" panose="02040503050406030204" pitchFamily="18" charset="0"/>
                                          </a:rPr>
                                        </m:ctrlPr>
                                      </m:sSubPr>
                                      <m:e>
                                        <m:r>
                                          <a:rPr lang="fr-FR" sz="1200" b="0" i="1" smtClean="0">
                                            <a:effectLst/>
                                            <a:latin typeface="Cambria Math" panose="02040503050406030204" pitchFamily="18" charset="0"/>
                                          </a:rPr>
                                          <m:t>𝑁</m:t>
                                        </m:r>
                                      </m:e>
                                      <m:sub>
                                        <m:r>
                                          <a:rPr lang="fr-FR" sz="1200" b="0" i="1" smtClean="0">
                                            <a:effectLst/>
                                            <a:latin typeface="Cambria Math" panose="02040503050406030204" pitchFamily="18" charset="0"/>
                                          </a:rPr>
                                          <m:t>𝑎𝑥𝑖𝑠</m:t>
                                        </m:r>
                                      </m:sub>
                                    </m:sSub>
                                    <m:r>
                                      <a:rPr lang="fr-FR" sz="1200" b="0" i="1" smtClean="0">
                                        <a:effectLst/>
                                        <a:latin typeface="Cambria Math" panose="02040503050406030204" pitchFamily="18" charset="0"/>
                                      </a:rPr>
                                      <m:t> </m:t>
                                    </m:r>
                                  </m:den>
                                </m:f>
                                <m:r>
                                  <a:rPr lang="en-US" sz="1200" b="0" i="1" smtClean="0">
                                    <a:effectLst/>
                                    <a:latin typeface="Cambria Math" panose="02040503050406030204" pitchFamily="18" charset="0"/>
                                  </a:rPr>
                                  <m:t> </m:t>
                                </m:r>
                              </m:oMath>
                            </m:oMathPara>
                          </a14:m>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Ligule height along the axis (linear)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err="1">
                              <a:effectLst/>
                              <a:latin typeface="Aptos"/>
                            </a:rPr>
                            <a:t>N</a:t>
                          </a:r>
                          <a:r>
                            <a:rPr lang="en-US" sz="1050" b="0" i="0" baseline="-25000" dirty="0" err="1">
                              <a:effectLst/>
                              <a:latin typeface="Aptos"/>
                            </a:rPr>
                            <a:t>axis</a:t>
                          </a:r>
                          <a:r>
                            <a:rPr lang="en-US" sz="1050" b="0" i="0" baseline="30000" dirty="0" err="1">
                              <a:effectLst/>
                              <a:latin typeface="Aptos"/>
                            </a:rPr>
                            <a:t>max</a:t>
                          </a:r>
                          <a:r>
                            <a:rPr lang="en-US" sz="1050" b="0" i="0" dirty="0">
                              <a:effectLst/>
                              <a:latin typeface="Aptos"/>
                            </a:rPr>
                            <a:t>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 </a:t>
                          </a:r>
                          <a:r>
                            <a:rPr lang="en-US" sz="1200" b="0" i="0" dirty="0" err="1">
                              <a:effectLst/>
                              <a:latin typeface="Aptos"/>
                            </a:rPr>
                            <a:t>phytomers</a:t>
                          </a:r>
                          <a:r>
                            <a:rPr lang="en-US" sz="1200" b="0" i="0" dirty="0">
                              <a:effectLst/>
                              <a:latin typeface="Aptos"/>
                            </a:rPr>
                            <a:t> </a:t>
                          </a:r>
                          <a:endParaRPr lang="en-US" sz="2400" b="0" i="0" dirty="0">
                            <a:effectLst/>
                          </a:endParaRP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18-42 </a:t>
                          </a:r>
                          <a:endParaRPr lang="en-US" sz="2400" b="0" i="0" dirty="0">
                            <a:effectLst/>
                          </a:endParaRP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fr-FR" sz="1200" b="0" i="0" dirty="0">
                              <a:effectLst/>
                              <a:latin typeface="Aptos"/>
                            </a:rPr>
                            <a:t>Lafarge and Tardieu, 2002; Clerget et al, 2008; Ndiaye et al., 2021 </a:t>
                          </a:r>
                          <a:endParaRPr lang="fr-FR"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822662"/>
                      </a:ext>
                    </a:extLst>
                  </a:tr>
                  <a:tr h="145834">
                    <a:tc>
                      <a:txBody>
                        <a:bodyPr/>
                        <a:lstStyle/>
                        <a:p>
                          <a:pPr algn="l" rtl="0" fontAlgn="base"/>
                          <a14:m>
                            <m:oMathPara xmlns:m="http://schemas.openxmlformats.org/officeDocument/2006/math">
                              <m:oMathParaPr>
                                <m:jc m:val="centerGroup"/>
                              </m:oMathParaPr>
                              <m:oMath xmlns:m="http://schemas.openxmlformats.org/officeDocument/2006/math">
                                <m:r>
                                  <a:rPr lang="nl-NL" sz="1200" b="0" i="1" smtClean="0">
                                    <a:effectLst/>
                                    <a:latin typeface="Cambria Math" panose="02040503050406030204" pitchFamily="18" charset="0"/>
                                  </a:rPr>
                                  <m:t>𝐷</m:t>
                                </m:r>
                                <m:r>
                                  <a:rPr lang="nl-NL" sz="1200" b="0" i="1" smtClean="0">
                                    <a:effectLst/>
                                    <a:latin typeface="Cambria Math" panose="02040503050406030204" pitchFamily="18" charset="0"/>
                                  </a:rPr>
                                  <m:t>(</m:t>
                                </m:r>
                                <m:r>
                                  <a:rPr lang="nl-NL" sz="1200" b="0" i="1" smtClean="0">
                                    <a:effectLst/>
                                    <a:latin typeface="Cambria Math" panose="02040503050406030204" pitchFamily="18" charset="0"/>
                                  </a:rPr>
                                  <m:t>𝑟𝑎𝑛𝑘</m:t>
                                </m:r>
                                <m:r>
                                  <a:rPr lang="nl-NL" sz="1200" b="0" i="1" smtClean="0">
                                    <a:effectLst/>
                                    <a:latin typeface="Cambria Math" panose="02040503050406030204" pitchFamily="18" charset="0"/>
                                  </a:rPr>
                                  <m:t>) = </m:t>
                                </m:r>
                                <m:sSub>
                                  <m:sSubPr>
                                    <m:ctrlPr>
                                      <a:rPr lang="fr-FR" sz="1200" b="0" i="1" smtClean="0">
                                        <a:effectLst/>
                                        <a:latin typeface="Cambria Math" panose="02040503050406030204" pitchFamily="18" charset="0"/>
                                      </a:rPr>
                                    </m:ctrlPr>
                                  </m:sSubPr>
                                  <m:e>
                                    <m:r>
                                      <a:rPr lang="nl-NL" sz="1200" b="0" i="1" smtClean="0">
                                        <a:effectLst/>
                                        <a:latin typeface="Cambria Math" panose="02040503050406030204" pitchFamily="18" charset="0"/>
                                      </a:rPr>
                                      <m:t>𝑑</m:t>
                                    </m:r>
                                  </m:e>
                                  <m:sub>
                                    <m:r>
                                      <a:rPr lang="nl-NL" sz="1200" b="0" i="1" smtClean="0">
                                        <a:effectLst/>
                                        <a:latin typeface="Cambria Math" panose="02040503050406030204" pitchFamily="18" charset="0"/>
                                      </a:rPr>
                                      <m:t>0</m:t>
                                    </m:r>
                                  </m:sub>
                                </m:sSub>
                                <m:r>
                                  <a:rPr lang="nl-NL" sz="1200" b="0" i="1" smtClean="0">
                                    <a:effectLst/>
                                    <a:latin typeface="Cambria Math" panose="02040503050406030204" pitchFamily="18" charset="0"/>
                                  </a:rPr>
                                  <m:t> + (</m:t>
                                </m:r>
                                <m:sSub>
                                  <m:sSubPr>
                                    <m:ctrlPr>
                                      <a:rPr lang="fr-FR" sz="1200" b="0" i="1" smtClean="0">
                                        <a:effectLst/>
                                        <a:latin typeface="Cambria Math" panose="02040503050406030204" pitchFamily="18" charset="0"/>
                                      </a:rPr>
                                    </m:ctrlPr>
                                  </m:sSubPr>
                                  <m:e>
                                    <m:r>
                                      <a:rPr lang="nl-NL" sz="1200" b="0" i="1" smtClean="0">
                                        <a:effectLst/>
                                        <a:latin typeface="Cambria Math" panose="02040503050406030204" pitchFamily="18" charset="0"/>
                                      </a:rPr>
                                      <m:t>𝑁</m:t>
                                    </m:r>
                                  </m:e>
                                  <m:sub>
                                    <m:r>
                                      <a:rPr lang="nl-NL" sz="1200" b="0" i="1" smtClean="0">
                                        <a:effectLst/>
                                        <a:latin typeface="Cambria Math" panose="02040503050406030204" pitchFamily="18" charset="0"/>
                                      </a:rPr>
                                      <m:t>𝑎𝑥𝑖𝑠</m:t>
                                    </m:r>
                                  </m:sub>
                                </m:sSub>
                                <m:r>
                                  <a:rPr lang="nl-NL" sz="1200" b="0" i="1" smtClean="0">
                                    <a:effectLst/>
                                    <a:latin typeface="Cambria Math" panose="02040503050406030204" pitchFamily="18" charset="0"/>
                                  </a:rPr>
                                  <m:t> – </m:t>
                                </m:r>
                                <m:r>
                                  <a:rPr lang="nl-NL" sz="1200" b="0" i="1" smtClean="0">
                                    <a:effectLst/>
                                    <a:latin typeface="Cambria Math" panose="02040503050406030204" pitchFamily="18" charset="0"/>
                                  </a:rPr>
                                  <m:t>𝑟𝑎𝑛𝑘</m:t>
                                </m:r>
                                <m:r>
                                  <a:rPr lang="nl-NL" sz="1200" b="0" i="1" smtClean="0">
                                    <a:effectLst/>
                                    <a:latin typeface="Cambria Math" panose="02040503050406030204" pitchFamily="18" charset="0"/>
                                  </a:rPr>
                                  <m:t>) </m:t>
                                </m:r>
                                <m:r>
                                  <a:rPr lang="nl-NL" sz="1200" b="0" i="1" smtClean="0">
                                    <a:effectLst/>
                                    <a:latin typeface="Cambria Math" panose="02040503050406030204" pitchFamily="18" charset="0"/>
                                  </a:rPr>
                                  <m:t>𝑥</m:t>
                                </m:r>
                                <m:r>
                                  <a:rPr lang="nl-NL" sz="1200" b="0" i="1" smtClean="0">
                                    <a:effectLst/>
                                    <a:latin typeface="Cambria Math" panose="02040503050406030204" pitchFamily="18" charset="0"/>
                                  </a:rPr>
                                  <m:t> </m:t>
                                </m:r>
                                <m:sSub>
                                  <m:sSubPr>
                                    <m:ctrlPr>
                                      <a:rPr lang="fr-FR" sz="1200" b="0" i="1" smtClean="0">
                                        <a:effectLst/>
                                        <a:latin typeface="Cambria Math" panose="02040503050406030204" pitchFamily="18" charset="0"/>
                                      </a:rPr>
                                    </m:ctrlPr>
                                  </m:sSubPr>
                                  <m:e>
                                    <m:r>
                                      <a:rPr lang="nl-NL" sz="1200" b="0" i="1" smtClean="0">
                                        <a:effectLst/>
                                        <a:latin typeface="Cambria Math" panose="02040503050406030204" pitchFamily="18" charset="0"/>
                                      </a:rPr>
                                      <m:t>𝑑</m:t>
                                    </m:r>
                                  </m:e>
                                  <m:sub>
                                    <m:r>
                                      <a:rPr lang="nl-NL" sz="1200" b="0" i="1" smtClean="0">
                                        <a:effectLst/>
                                        <a:latin typeface="Cambria Math" panose="02040503050406030204" pitchFamily="18" charset="0"/>
                                      </a:rPr>
                                      <m:t>𝑖𝑛𝑐𝑟</m:t>
                                    </m:r>
                                  </m:sub>
                                </m:sSub>
                                <m:r>
                                  <a:rPr lang="nl-NL" sz="1200" b="0" i="1" smtClean="0">
                                    <a:effectLst/>
                                    <a:latin typeface="Cambria Math" panose="02040503050406030204" pitchFamily="18" charset="0"/>
                                  </a:rPr>
                                  <m:t> </m:t>
                                </m:r>
                              </m:oMath>
                            </m:oMathPara>
                          </a14:m>
                          <a:endParaRPr lang="nl-NL"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Internode diameters along the axis (affine)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14:m>
                            <m:oMath xmlns:m="http://schemas.openxmlformats.org/officeDocument/2006/math">
                              <m:sSub>
                                <m:sSubPr>
                                  <m:ctrlPr>
                                    <a:rPr lang="fr-FR" sz="1200" b="0" i="1" smtClean="0">
                                      <a:effectLst/>
                                      <a:latin typeface="Cambria Math" panose="02040503050406030204" pitchFamily="18" charset="0"/>
                                    </a:rPr>
                                  </m:ctrlPr>
                                </m:sSubPr>
                                <m:e>
                                  <m:r>
                                    <a:rPr lang="fr-FR" sz="1200" b="0" i="1" smtClean="0">
                                      <a:effectLst/>
                                      <a:latin typeface="Cambria Math" panose="02040503050406030204" pitchFamily="18" charset="0"/>
                                    </a:rPr>
                                    <m:t>𝑑</m:t>
                                  </m:r>
                                </m:e>
                                <m:sub>
                                  <m:r>
                                    <a:rPr lang="fr-FR" sz="1200" b="0" i="1" smtClean="0">
                                      <a:effectLst/>
                                      <a:latin typeface="Cambria Math" panose="02040503050406030204" pitchFamily="18" charset="0"/>
                                    </a:rPr>
                                    <m:t>0</m:t>
                                  </m:r>
                                </m:sub>
                              </m:sSub>
                            </m:oMath>
                          </a14:m>
                          <a:r>
                            <a:rPr lang="en-US" sz="1200" b="0" i="0" dirty="0">
                              <a:effectLst/>
                              <a:latin typeface="Aptos"/>
                            </a:rPr>
                            <a:t>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a:effectLst/>
                              <a:latin typeface="Aptos"/>
                            </a:rPr>
                            <a:t>cm </a:t>
                          </a:r>
                          <a:endParaRPr lang="en-US" sz="2400" b="0" i="0">
                            <a:effectLst/>
                          </a:endParaRP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a:effectLst/>
                              <a:latin typeface="Aptos"/>
                            </a:rPr>
                            <a:t>1.0 </a:t>
                          </a:r>
                          <a:endParaRPr lang="en-US" sz="2400" b="0" i="0">
                            <a:effectLst/>
                          </a:endParaRP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577111743"/>
                      </a:ext>
                    </a:extLst>
                  </a:tr>
                  <a:tr h="145834">
                    <a:tc>
                      <a:txBody>
                        <a:bodyPr/>
                        <a:lstStyle/>
                        <a:p>
                          <a:pPr algn="l" rtl="0" fontAlgn="base"/>
                          <a:r>
                            <a:rPr lang="en-US" sz="1200" b="0" i="0" dirty="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14:m>
                            <m:oMath xmlns:m="http://schemas.openxmlformats.org/officeDocument/2006/math">
                              <m:sSub>
                                <m:sSubPr>
                                  <m:ctrlPr>
                                    <a:rPr lang="fr-FR" sz="1200" b="0" i="1" smtClean="0">
                                      <a:effectLst/>
                                      <a:latin typeface="Cambria Math" panose="02040503050406030204" pitchFamily="18" charset="0"/>
                                    </a:rPr>
                                  </m:ctrlPr>
                                </m:sSubPr>
                                <m:e>
                                  <m:r>
                                    <a:rPr lang="nl-NL" sz="1200" b="0" i="1" smtClean="0">
                                      <a:effectLst/>
                                      <a:latin typeface="Cambria Math" panose="02040503050406030204" pitchFamily="18" charset="0"/>
                                    </a:rPr>
                                    <m:t>𝑑</m:t>
                                  </m:r>
                                </m:e>
                                <m:sub>
                                  <m:r>
                                    <a:rPr lang="nl-NL" sz="1200" b="0" i="1" smtClean="0">
                                      <a:effectLst/>
                                      <a:latin typeface="Cambria Math" panose="02040503050406030204" pitchFamily="18" charset="0"/>
                                    </a:rPr>
                                    <m:t>𝑖𝑛𝑐𝑟</m:t>
                                  </m:r>
                                </m:sub>
                              </m:sSub>
                            </m:oMath>
                          </a14:m>
                          <a:r>
                            <a:rPr lang="en-US" sz="1200" b="0" i="0" dirty="0">
                              <a:effectLst/>
                              <a:latin typeface="Aptos"/>
                            </a:rPr>
                            <a:t> </a:t>
                          </a:r>
                          <a:endParaRPr lang="en-US" sz="2400" b="0" i="0" dirty="0">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cm/sheath </a:t>
                          </a:r>
                          <a:endParaRPr lang="en-US" sz="2400" b="0" i="0">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0.1 </a:t>
                          </a:r>
                          <a:endParaRPr lang="en-US" sz="2400" b="0" i="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0185402"/>
                      </a:ext>
                    </a:extLst>
                  </a:tr>
                  <a:tr h="145834">
                    <a:tc>
                      <a:txBody>
                        <a:bodyPr/>
                        <a:lstStyle/>
                        <a:p>
                          <a:pPr algn="l" rtl="0" fontAlgn="base"/>
                          <a14:m>
                            <m:oMathPara xmlns:m="http://schemas.openxmlformats.org/officeDocument/2006/math">
                              <m:oMathParaPr>
                                <m:jc m:val="centerGroup"/>
                              </m:oMathParaPr>
                              <m:oMath xmlns:m="http://schemas.openxmlformats.org/officeDocument/2006/math">
                                <m:r>
                                  <a:rPr lang="en-US" sz="1200" b="0" i="1" smtClean="0">
                                    <a:effectLst/>
                                    <a:latin typeface="Cambria Math" panose="02040503050406030204" pitchFamily="18" charset="0"/>
                                  </a:rPr>
                                  <m:t>𝐿</m:t>
                                </m:r>
                                <m:r>
                                  <a:rPr lang="en-US" sz="1200" b="0" i="1" smtClean="0">
                                    <a:effectLst/>
                                    <a:latin typeface="Cambria Math" panose="02040503050406030204" pitchFamily="18" charset="0"/>
                                  </a:rPr>
                                  <m:t>(</m:t>
                                </m:r>
                                <m:r>
                                  <a:rPr lang="en-US" sz="1200" b="0" i="1" smtClean="0">
                                    <a:effectLst/>
                                    <a:latin typeface="Cambria Math" panose="02040503050406030204" pitchFamily="18" charset="0"/>
                                  </a:rPr>
                                  <m:t>𝑟𝑎𝑛𝑘</m:t>
                                </m:r>
                                <m:r>
                                  <a:rPr lang="en-US" sz="1200" b="0" i="1" smtClean="0">
                                    <a:effectLst/>
                                    <a:latin typeface="Cambria Math" panose="02040503050406030204" pitchFamily="18" charset="0"/>
                                  </a:rPr>
                                  <m:t>) = </m:t>
                                </m:r>
                                <m:r>
                                  <a:rPr lang="en-US" sz="1200" b="0" i="1" smtClean="0">
                                    <a:effectLst/>
                                    <a:latin typeface="Cambria Math" panose="02040503050406030204" pitchFamily="18" charset="0"/>
                                  </a:rPr>
                                  <m:t>𝑊𝑒𝑖𝑏𝑢𝑙𝑙</m:t>
                                </m:r>
                                <m:r>
                                  <a:rPr lang="en-US" sz="1200" b="0" i="1" smtClean="0">
                                    <a:effectLst/>
                                    <a:latin typeface="Cambria Math" panose="02040503050406030204" pitchFamily="18" charset="0"/>
                                  </a:rPr>
                                  <m:t>(</m:t>
                                </m:r>
                                <m:sSub>
                                  <m:sSubPr>
                                    <m:ctrlPr>
                                      <a:rPr lang="fr-FR" sz="1200" b="0" i="1" smtClean="0">
                                        <a:effectLst/>
                                        <a:latin typeface="Cambria Math" panose="02040503050406030204" pitchFamily="18" charset="0"/>
                                      </a:rPr>
                                    </m:ctrlPr>
                                  </m:sSubPr>
                                  <m:e>
                                    <m:r>
                                      <a:rPr lang="en-US" sz="1200" b="0" i="1" smtClean="0">
                                        <a:effectLst/>
                                        <a:latin typeface="Cambria Math" panose="02040503050406030204" pitchFamily="18" charset="0"/>
                                      </a:rPr>
                                      <m:t>𝐿</m:t>
                                    </m:r>
                                  </m:e>
                                  <m:sub>
                                    <m:r>
                                      <a:rPr lang="en-US" sz="1200" b="0" i="1" smtClean="0">
                                        <a:effectLst/>
                                        <a:latin typeface="Cambria Math" panose="02040503050406030204" pitchFamily="18" charset="0"/>
                                      </a:rPr>
                                      <m:t>𝑙𝑜𝑛𝑔𝑒𝑠𝑡</m:t>
                                    </m:r>
                                  </m:sub>
                                </m:sSub>
                                <m:r>
                                  <a:rPr lang="en-US" sz="1200" b="0" i="1" smtClean="0">
                                    <a:effectLst/>
                                    <a:latin typeface="Cambria Math" panose="02040503050406030204" pitchFamily="18" charset="0"/>
                                  </a:rPr>
                                  <m:t>, </m:t>
                                </m:r>
                                <m:r>
                                  <a:rPr lang="en-US" sz="1200" b="0" i="1" smtClean="0">
                                    <a:effectLst/>
                                    <a:latin typeface="Cambria Math" panose="02040503050406030204" pitchFamily="18" charset="0"/>
                                  </a:rPr>
                                  <m:t>𝑟𝑚𝑎𝑥</m:t>
                                </m:r>
                                <m:r>
                                  <a:rPr lang="en-US" sz="1200" b="0" i="1" smtClean="0">
                                    <a:effectLst/>
                                    <a:latin typeface="Cambria Math" panose="02040503050406030204" pitchFamily="18" charset="0"/>
                                  </a:rPr>
                                  <m:t>, </m:t>
                                </m:r>
                                <m:r>
                                  <a:rPr lang="en-US" sz="1200" b="0" i="1" smtClean="0">
                                    <a:effectLst/>
                                    <a:latin typeface="Cambria Math" panose="02040503050406030204" pitchFamily="18" charset="0"/>
                                  </a:rPr>
                                  <m:t>𝑠𝑘𝑒𝑤</m:t>
                                </m:r>
                                <m:r>
                                  <a:rPr lang="en-US" sz="1200" b="0" i="1" smtClean="0">
                                    <a:effectLst/>
                                    <a:latin typeface="Cambria Math" panose="02040503050406030204" pitchFamily="18" charset="0"/>
                                  </a:rPr>
                                  <m:t>) </m:t>
                                </m:r>
                              </m:oMath>
                            </m:oMathPara>
                          </a14:m>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Mature leaf lengths along an axis (Weibull distribution)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14:m>
                            <m:oMath xmlns:m="http://schemas.openxmlformats.org/officeDocument/2006/math">
                              <m:r>
                                <a:rPr lang="en-US" sz="1200" b="0" i="1" smtClean="0">
                                  <a:effectLst/>
                                  <a:latin typeface="Cambria Math" panose="02040503050406030204" pitchFamily="18" charset="0"/>
                                </a:rPr>
                                <m:t>𝑟</m:t>
                              </m:r>
                              <m:r>
                                <a:rPr lang="fr-FR" sz="1200" b="0" i="1" smtClean="0">
                                  <a:effectLst/>
                                  <a:latin typeface="Cambria Math" panose="02040503050406030204" pitchFamily="18" charset="0"/>
                                </a:rPr>
                                <m:t>𝑚𝑎𝑥</m:t>
                              </m:r>
                            </m:oMath>
                          </a14:m>
                          <a:r>
                            <a:rPr lang="en-US" sz="1200" b="0" i="0" dirty="0">
                              <a:effectLst/>
                              <a:latin typeface="Aptos"/>
                            </a:rPr>
                            <a:t>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endParaRPr lang="en-US" sz="2400" b="0" i="0" dirty="0">
                            <a:effectLst/>
                          </a:endParaRP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0.67 </a:t>
                          </a:r>
                          <a:endParaRPr lang="en-US" sz="2400" b="0" i="0" dirty="0">
                            <a:effectLst/>
                          </a:endParaRP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a:effectLst/>
                              <a:latin typeface="Aptos"/>
                            </a:rPr>
                            <a:t>Lafarge and Tardieu, 2002 </a:t>
                          </a:r>
                          <a:endParaRPr lang="en-US" sz="2400" b="0" i="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1585393"/>
                      </a:ext>
                    </a:extLst>
                  </a:tr>
                  <a:tr h="209677">
                    <a:tc>
                      <a:txBody>
                        <a:bodyPr/>
                        <a:lstStyle/>
                        <a:p>
                          <a:pPr algn="l" rtl="0" fontAlgn="base"/>
                          <a:r>
                            <a:rPr lang="en-US" sz="1200" b="0" i="0">
                              <a:effectLst/>
                              <a:latin typeface="Aptos"/>
                            </a:rPr>
                            <a:t> </a:t>
                          </a:r>
                        </a:p>
                      </a:txBody>
                      <a:tcPr marL="57004" marR="57004" marT="28502" marB="28502">
                        <a:lnL>
                          <a:noFill/>
                        </a:lnL>
                        <a:lnR>
                          <a:noFill/>
                        </a:lnR>
                        <a:lnT>
                          <a:noFill/>
                        </a:lnT>
                        <a:lnB>
                          <a:noFill/>
                        </a:lnB>
                      </a:tcPr>
                    </a:tc>
                    <a:tc>
                      <a:txBody>
                        <a:bodyPr/>
                        <a:lstStyle/>
                        <a:p>
                          <a:pPr algn="l" rtl="0" fontAlgn="base"/>
                          <a:r>
                            <a:rPr lang="en-US" sz="1200" b="0" i="0" dirty="0">
                              <a:effectLst/>
                              <a:latin typeface="Aptos"/>
                            </a:rPr>
                            <a:t> </a:t>
                          </a:r>
                        </a:p>
                      </a:txBody>
                      <a:tcPr marL="57004" marR="57004" marT="28502" marB="28502">
                        <a:lnL>
                          <a:noFill/>
                        </a:lnL>
                        <a:lnR>
                          <a:noFill/>
                        </a:lnR>
                        <a:lnT>
                          <a:noFill/>
                        </a:lnT>
                        <a:lnB>
                          <a:noFill/>
                        </a:lnB>
                      </a:tcPr>
                    </a:tc>
                    <a:tc>
                      <a:txBody>
                        <a:bodyPr/>
                        <a:lstStyle/>
                        <a:p>
                          <a:pPr algn="l" rtl="0" fontAlgn="base"/>
                          <a14:m>
                            <m:oMath xmlns:m="http://schemas.openxmlformats.org/officeDocument/2006/math">
                              <m:r>
                                <a:rPr lang="en-US" sz="1200" b="0" i="1" smtClean="0">
                                  <a:effectLst/>
                                  <a:latin typeface="Cambria Math" panose="02040503050406030204" pitchFamily="18" charset="0"/>
                                </a:rPr>
                                <m:t>𝑠𝑘𝑒𝑤</m:t>
                              </m:r>
                            </m:oMath>
                          </a14:m>
                          <a:r>
                            <a:rPr lang="en-US" sz="1200" b="0" i="0" dirty="0">
                              <a:effectLst/>
                              <a:latin typeface="Aptos"/>
                            </a:rPr>
                            <a:t> </a:t>
                          </a:r>
                          <a:endParaRPr lang="en-US" sz="2400" b="0" i="0" dirty="0">
                            <a:effectLst/>
                          </a:endParaRPr>
                        </a:p>
                      </a:txBody>
                      <a:tcPr marL="57004" marR="57004" marT="28502" marB="28502">
                        <a:lnL>
                          <a:noFill/>
                        </a:lnL>
                        <a:lnR>
                          <a:noFill/>
                        </a:lnR>
                        <a:lnT>
                          <a:noFill/>
                        </a:lnT>
                        <a:lnB>
                          <a:noFill/>
                        </a:lnB>
                      </a:tcPr>
                    </a:tc>
                    <a:tc>
                      <a:txBody>
                        <a:bodyPr/>
                        <a:lstStyle/>
                        <a:p>
                          <a:pPr algn="l" rtl="0" fontAlgn="base"/>
                          <a:r>
                            <a:rPr lang="en-US" sz="1200" b="0" i="0" dirty="0">
                              <a:effectLst/>
                              <a:latin typeface="Aptos"/>
                            </a:rPr>
                            <a:t>- </a:t>
                          </a:r>
                          <a:endParaRPr lang="en-US" sz="2400" b="0" i="0" dirty="0">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a:noFill/>
                        </a:lnB>
                      </a:tcPr>
                    </a:tc>
                    <a:tc>
                      <a:txBody>
                        <a:bodyPr/>
                        <a:lstStyle/>
                        <a:p>
                          <a:pPr algn="l" rtl="0" fontAlgn="base"/>
                          <a:r>
                            <a:rPr lang="en-US" sz="1200" b="0" i="0" dirty="0">
                              <a:effectLst/>
                              <a:latin typeface="Aptos"/>
                            </a:rPr>
                            <a:t>1e-5 </a:t>
                          </a:r>
                          <a:endParaRPr lang="en-US" sz="2400" b="0" i="0" dirty="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ase"/>
                          <a:r>
                            <a:rPr lang="en-US" sz="1200" b="0" i="0" dirty="0">
                              <a:effectLst/>
                              <a:latin typeface="Aptos"/>
                            </a:rPr>
                            <a:t>Lafarge and Tardieu, 2002 </a:t>
                          </a:r>
                          <a:endParaRPr lang="en-US" sz="2400" b="0" i="0" dirty="0">
                            <a:effectLst/>
                          </a:endParaRPr>
                        </a:p>
                      </a:txBody>
                      <a:tcPr marL="57004" marR="57004" marT="28502" marB="28502">
                        <a:lnL>
                          <a:noFill/>
                        </a:lnL>
                        <a:lnR>
                          <a:noFill/>
                        </a:lnR>
                        <a:lnT>
                          <a:noFill/>
                        </a:lnT>
                        <a:lnB>
                          <a:noFill/>
                        </a:lnB>
                      </a:tcPr>
                    </a:tc>
                    <a:extLst>
                      <a:ext uri="{0D108BD9-81ED-4DB2-BD59-A6C34878D82A}">
                        <a16:rowId xmlns:a16="http://schemas.microsoft.com/office/drawing/2014/main" val="890508558"/>
                      </a:ext>
                    </a:extLst>
                  </a:tr>
                  <a:tr h="145834">
                    <a:tc>
                      <a:txBody>
                        <a:bodyPr/>
                        <a:lstStyle/>
                        <a:p>
                          <a:pPr algn="l" rtl="0" fontAlgn="base"/>
                          <a:r>
                            <a:rPr lang="en-US" sz="1200" b="0" i="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14:m>
                            <m:oMath xmlns:m="http://schemas.openxmlformats.org/officeDocument/2006/math">
                              <m:sSub>
                                <m:sSubPr>
                                  <m:ctrlPr>
                                    <a:rPr lang="fr-FR" sz="1200" b="0" i="1" smtClean="0">
                                      <a:effectLst/>
                                      <a:latin typeface="Cambria Math" panose="02040503050406030204" pitchFamily="18" charset="0"/>
                                    </a:rPr>
                                  </m:ctrlPr>
                                </m:sSubPr>
                                <m:e>
                                  <m:r>
                                    <a:rPr lang="en-US" sz="1200" b="0" i="1" smtClean="0">
                                      <a:effectLst/>
                                      <a:latin typeface="Cambria Math" panose="02040503050406030204" pitchFamily="18" charset="0"/>
                                    </a:rPr>
                                    <m:t>𝐿</m:t>
                                  </m:r>
                                </m:e>
                                <m:sub>
                                  <m:r>
                                    <a:rPr lang="en-US" sz="1200" b="0" i="1" smtClean="0">
                                      <a:effectLst/>
                                      <a:latin typeface="Cambria Math" panose="02040503050406030204" pitchFamily="18" charset="0"/>
                                    </a:rPr>
                                    <m:t>𝑙𝑜𝑛𝑔𝑒𝑠𝑡</m:t>
                                  </m:r>
                                </m:sub>
                              </m:sSub>
                            </m:oMath>
                          </a14:m>
                          <a:r>
                            <a:rPr lang="en-US" sz="1200" b="0" i="0" dirty="0">
                              <a:effectLst/>
                              <a:latin typeface="Aptos"/>
                            </a:rPr>
                            <a:t> </a:t>
                          </a:r>
                          <a:endParaRPr lang="en-US" sz="2400" b="0" i="0" dirty="0">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cm </a:t>
                          </a:r>
                          <a:endParaRPr lang="en-US" sz="2400" b="0" i="0">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80-100 </a:t>
                          </a:r>
                          <a:endParaRPr lang="en-US" sz="2400" b="0" i="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fr-FR" sz="1200" b="0" i="0" dirty="0">
                              <a:effectLst/>
                              <a:latin typeface="Aptos"/>
                            </a:rPr>
                            <a:t>Lafarge et al., 2002a,b; Lafarge and Tardieu, 2002 </a:t>
                          </a:r>
                          <a:endParaRPr lang="fr-FR" sz="2400" b="0" i="0" dirty="0">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3570232"/>
                      </a:ext>
                    </a:extLst>
                  </a:tr>
                  <a:tr h="145834">
                    <a:tc>
                      <a:txBody>
                        <a:bodyPr/>
                        <a:lstStyle/>
                        <a:p>
                          <a:pPr algn="l" rtl="0" fontAlgn="base"/>
                          <a14:m>
                            <m:oMathPara xmlns:m="http://schemas.openxmlformats.org/officeDocument/2006/math">
                              <m:oMathParaPr>
                                <m:jc m:val="centerGroup"/>
                              </m:oMathParaPr>
                              <m:oMath xmlns:m="http://schemas.openxmlformats.org/officeDocument/2006/math">
                                <m:r>
                                  <a:rPr lang="en-US" sz="1200" b="0" i="1" smtClean="0">
                                    <a:effectLst/>
                                    <a:latin typeface="Cambria Math" panose="02040503050406030204" pitchFamily="18" charset="0"/>
                                  </a:rPr>
                                  <m:t>𝐼𝑛𝑠𝑒𝑟𝑡𝑖𝑜𝑛</m:t>
                                </m:r>
                                <m:r>
                                  <a:rPr lang="en-US" sz="1200" b="0" i="1" smtClean="0">
                                    <a:effectLst/>
                                    <a:latin typeface="Cambria Math" panose="02040503050406030204" pitchFamily="18" charset="0"/>
                                  </a:rPr>
                                  <m:t>_</m:t>
                                </m:r>
                                <m:r>
                                  <a:rPr lang="en-US" sz="1200" b="0" i="1" smtClean="0">
                                    <a:effectLst/>
                                    <a:latin typeface="Cambria Math" panose="02040503050406030204" pitchFamily="18" charset="0"/>
                                  </a:rPr>
                                  <m:t>𝑎𝑛𝑔𝑙𝑒</m:t>
                                </m:r>
                                <m:r>
                                  <a:rPr lang="fr-FR" sz="1200" b="0" i="1" smtClean="0">
                                    <a:effectLst/>
                                    <a:latin typeface="Cambria Math" panose="02040503050406030204" pitchFamily="18" charset="0"/>
                                  </a:rPr>
                                  <m:t>(</m:t>
                                </m:r>
                                <m:r>
                                  <a:rPr lang="fr-FR" sz="1200" b="0" i="1" smtClean="0">
                                    <a:effectLst/>
                                    <a:latin typeface="Cambria Math" panose="02040503050406030204" pitchFamily="18" charset="0"/>
                                  </a:rPr>
                                  <m:t>𝑟𝑎𝑛𝑘</m:t>
                                </m:r>
                                <m:r>
                                  <a:rPr lang="fr-FR" sz="1200" b="0" i="1" smtClean="0">
                                    <a:effectLst/>
                                    <a:latin typeface="Cambria Math" panose="02040503050406030204" pitchFamily="18" charset="0"/>
                                  </a:rPr>
                                  <m:t>) = </m:t>
                                </m:r>
                                <m:r>
                                  <a:rPr lang="en-US" sz="1200" b="0" i="1" smtClean="0">
                                    <a:effectLst/>
                                    <a:latin typeface="Cambria Math" panose="02040503050406030204" pitchFamily="18" charset="0"/>
                                  </a:rPr>
                                  <m:t>𝑓</m:t>
                                </m:r>
                                <m:r>
                                  <a:rPr lang="en-US" sz="1200" b="0" i="1" smtClean="0">
                                    <a:effectLst/>
                                    <a:latin typeface="Cambria Math" panose="02040503050406030204" pitchFamily="18" charset="0"/>
                                  </a:rPr>
                                  <m:t>(</m:t>
                                </m:r>
                                <m:r>
                                  <a:rPr lang="en-US" sz="1200" b="0" i="1" smtClean="0">
                                    <a:effectLst/>
                                    <a:latin typeface="Cambria Math" panose="02040503050406030204" pitchFamily="18" charset="0"/>
                                  </a:rPr>
                                  <m:t>𝑟𝑎𝑛𝑘</m:t>
                                </m:r>
                                <m:r>
                                  <a:rPr lang="en-US" sz="1200" b="0" i="1" smtClean="0">
                                    <a:effectLst/>
                                    <a:latin typeface="Cambria Math" panose="02040503050406030204" pitchFamily="18" charset="0"/>
                                  </a:rPr>
                                  <m:t>, </m:t>
                                </m:r>
                                <m:r>
                                  <a:rPr lang="en-US" sz="1200" b="0" i="1" smtClean="0">
                                    <a:effectLst/>
                                    <a:latin typeface="Cambria Math" panose="02040503050406030204" pitchFamily="18" charset="0"/>
                                  </a:rPr>
                                  <m:t>𝑎𝑔𝑒</m:t>
                                </m:r>
                                <m:r>
                                  <a:rPr lang="en-US" sz="1200" b="0" i="1" smtClean="0">
                                    <a:effectLst/>
                                    <a:latin typeface="Cambria Math" panose="02040503050406030204" pitchFamily="18" charset="0"/>
                                  </a:rPr>
                                  <m:t>) </m:t>
                                </m:r>
                              </m:oMath>
                            </m:oMathPara>
                          </a14:m>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Insertion angles along axis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74206775"/>
                      </a:ext>
                    </a:extLst>
                  </a:tr>
                </a:tbl>
              </a:graphicData>
            </a:graphic>
          </p:graphicFrame>
        </mc:Choice>
        <mc:Fallback xmlns="">
          <p:graphicFrame>
            <p:nvGraphicFramePr>
              <p:cNvPr id="4" name="Table 3">
                <a:extLst>
                  <a:ext uri="{FF2B5EF4-FFF2-40B4-BE49-F238E27FC236}">
                    <a16:creationId xmlns:a16="http://schemas.microsoft.com/office/drawing/2014/main" id="{5BC85944-1818-4175-8B03-2B93EAE63F39}"/>
                  </a:ext>
                </a:extLst>
              </p:cNvPr>
              <p:cNvGraphicFramePr>
                <a:graphicFrameLocks noGrp="1"/>
              </p:cNvGraphicFramePr>
              <p:nvPr>
                <p:extLst>
                  <p:ext uri="{D42A27DB-BD31-4B8C-83A1-F6EECF244321}">
                    <p14:modId xmlns:p14="http://schemas.microsoft.com/office/powerpoint/2010/main" val="1820551326"/>
                  </p:ext>
                </p:extLst>
              </p:nvPr>
            </p:nvGraphicFramePr>
            <p:xfrm>
              <a:off x="333487" y="4108544"/>
              <a:ext cx="11392348" cy="2745843"/>
            </p:xfrm>
            <a:graphic>
              <a:graphicData uri="http://schemas.openxmlformats.org/drawingml/2006/table">
                <a:tbl>
                  <a:tblPr/>
                  <a:tblGrid>
                    <a:gridCol w="2762138">
                      <a:extLst>
                        <a:ext uri="{9D8B030D-6E8A-4147-A177-3AD203B41FA5}">
                          <a16:colId xmlns:a16="http://schemas.microsoft.com/office/drawing/2014/main" val="3929865032"/>
                        </a:ext>
                      </a:extLst>
                    </a:gridCol>
                    <a:gridCol w="2466975">
                      <a:extLst>
                        <a:ext uri="{9D8B030D-6E8A-4147-A177-3AD203B41FA5}">
                          <a16:colId xmlns:a16="http://schemas.microsoft.com/office/drawing/2014/main" val="1492455296"/>
                        </a:ext>
                      </a:extLst>
                    </a:gridCol>
                    <a:gridCol w="1009650">
                      <a:extLst>
                        <a:ext uri="{9D8B030D-6E8A-4147-A177-3AD203B41FA5}">
                          <a16:colId xmlns:a16="http://schemas.microsoft.com/office/drawing/2014/main" val="4239091713"/>
                        </a:ext>
                      </a:extLst>
                    </a:gridCol>
                    <a:gridCol w="1000125">
                      <a:extLst>
                        <a:ext uri="{9D8B030D-6E8A-4147-A177-3AD203B41FA5}">
                          <a16:colId xmlns:a16="http://schemas.microsoft.com/office/drawing/2014/main" val="3627056938"/>
                        </a:ext>
                      </a:extLst>
                    </a:gridCol>
                    <a:gridCol w="923925">
                      <a:extLst>
                        <a:ext uri="{9D8B030D-6E8A-4147-A177-3AD203B41FA5}">
                          <a16:colId xmlns:a16="http://schemas.microsoft.com/office/drawing/2014/main" val="1233284035"/>
                        </a:ext>
                      </a:extLst>
                    </a:gridCol>
                    <a:gridCol w="3229535">
                      <a:extLst>
                        <a:ext uri="{9D8B030D-6E8A-4147-A177-3AD203B41FA5}">
                          <a16:colId xmlns:a16="http://schemas.microsoft.com/office/drawing/2014/main" val="2340148305"/>
                        </a:ext>
                      </a:extLst>
                    </a:gridCol>
                  </a:tblGrid>
                  <a:tr h="239884">
                    <a:tc>
                      <a:txBody>
                        <a:bodyPr/>
                        <a:lstStyle/>
                        <a:p>
                          <a:pPr algn="l" rtl="0" fontAlgn="base"/>
                          <a:r>
                            <a:rPr lang="en-US" sz="1200" b="0" i="0" cap="all" dirty="0">
                              <a:effectLst/>
                              <a:latin typeface="Aptos"/>
                            </a:rPr>
                            <a:t>Function</a:t>
                          </a:r>
                          <a:r>
                            <a:rPr lang="en-US" sz="1200" b="1" i="0" cap="all" dirty="0">
                              <a:effectLst/>
                              <a:latin typeface="Aptos"/>
                            </a:rPr>
                            <a:t> </a:t>
                          </a:r>
                          <a:endParaRPr lang="en-US" sz="2400" b="1" i="0" cap="all" dirty="0">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Description</a:t>
                          </a:r>
                          <a:r>
                            <a:rPr lang="en-US" sz="1200" b="1" i="0" cap="all">
                              <a:effectLst/>
                              <a:latin typeface="Aptos"/>
                            </a:rPr>
                            <a:t> </a:t>
                          </a:r>
                          <a:endParaRPr lang="en-US" sz="2400" b="1" i="0" cap="all">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Parameters</a:t>
                          </a:r>
                          <a:r>
                            <a:rPr lang="en-US" sz="1200" b="1" i="0" cap="all">
                              <a:effectLst/>
                              <a:latin typeface="Aptos"/>
                            </a:rPr>
                            <a:t> </a:t>
                          </a:r>
                          <a:endParaRPr lang="en-US" sz="2400" b="1" i="0" cap="all">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Unit</a:t>
                          </a:r>
                          <a:r>
                            <a:rPr lang="en-US" sz="1200" b="1" i="0" cap="all">
                              <a:effectLst/>
                              <a:latin typeface="Aptos"/>
                            </a:rPr>
                            <a:t> </a:t>
                          </a:r>
                          <a:endParaRPr lang="en-US" sz="2400" b="1" i="0" cap="all">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dirty="0">
                              <a:effectLst/>
                              <a:latin typeface="Aptos"/>
                            </a:rPr>
                            <a:t>Sorghum</a:t>
                          </a:r>
                          <a:r>
                            <a:rPr lang="en-US" sz="1200" b="1" i="0" cap="all" dirty="0">
                              <a:effectLst/>
                              <a:latin typeface="Aptos"/>
                            </a:rPr>
                            <a:t> </a:t>
                          </a:r>
                          <a:endParaRPr lang="en-US" sz="2400" b="1" i="0" cap="all" dirty="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Reference</a:t>
                          </a:r>
                          <a:r>
                            <a:rPr lang="en-US" sz="1200" b="1" i="0" cap="all">
                              <a:effectLst/>
                              <a:latin typeface="Aptos"/>
                            </a:rPr>
                            <a:t> </a:t>
                          </a:r>
                          <a:endParaRPr lang="en-US" sz="2400" b="1" i="0" cap="all">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3498099"/>
                      </a:ext>
                    </a:extLst>
                  </a:tr>
                  <a:tr h="430321">
                    <a:tc>
                      <a:txBody>
                        <a:bodyPr/>
                        <a:lstStyle/>
                        <a:p>
                          <a:endParaRPr lang="en-US"/>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blipFill>
                          <a:blip r:embed="rId2"/>
                          <a:stretch>
                            <a:fillRect t="-57746" r="-313024" b="-495775"/>
                          </a:stretch>
                        </a:blipFill>
                      </a:tcPr>
                    </a:tc>
                    <a:tc>
                      <a:txBody>
                        <a:bodyPr/>
                        <a:lstStyle/>
                        <a:p>
                          <a:pPr algn="l" rtl="0" fontAlgn="base"/>
                          <a:r>
                            <a:rPr lang="en-US" sz="1200" b="0" i="0" dirty="0">
                              <a:effectLst/>
                              <a:latin typeface="Aptos"/>
                            </a:rPr>
                            <a:t>Ligule height along the axis (linear)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err="1">
                              <a:effectLst/>
                              <a:latin typeface="Aptos"/>
                            </a:rPr>
                            <a:t>N</a:t>
                          </a:r>
                          <a:r>
                            <a:rPr lang="en-US" sz="1050" b="0" i="0" baseline="-25000" dirty="0" err="1">
                              <a:effectLst/>
                              <a:latin typeface="Aptos"/>
                            </a:rPr>
                            <a:t>axis</a:t>
                          </a:r>
                          <a:r>
                            <a:rPr lang="en-US" sz="1050" b="0" i="0" baseline="30000" dirty="0" err="1">
                              <a:effectLst/>
                              <a:latin typeface="Aptos"/>
                            </a:rPr>
                            <a:t>max</a:t>
                          </a:r>
                          <a:r>
                            <a:rPr lang="en-US" sz="1050" b="0" i="0" dirty="0">
                              <a:effectLst/>
                              <a:latin typeface="Aptos"/>
                            </a:rPr>
                            <a:t>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 </a:t>
                          </a:r>
                          <a:r>
                            <a:rPr lang="en-US" sz="1200" b="0" i="0" dirty="0" err="1">
                              <a:effectLst/>
                              <a:latin typeface="Aptos"/>
                            </a:rPr>
                            <a:t>phytomers</a:t>
                          </a:r>
                          <a:r>
                            <a:rPr lang="en-US" sz="1200" b="0" i="0" dirty="0">
                              <a:effectLst/>
                              <a:latin typeface="Aptos"/>
                            </a:rPr>
                            <a:t> </a:t>
                          </a:r>
                          <a:endParaRPr lang="en-US" sz="2400" b="0" i="0" dirty="0">
                            <a:effectLst/>
                          </a:endParaRP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18-42 </a:t>
                          </a:r>
                          <a:endParaRPr lang="en-US" sz="2400" b="0" i="0" dirty="0">
                            <a:effectLst/>
                          </a:endParaRP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tc>
                      <a:txBody>
                        <a:bodyPr/>
                        <a:lstStyle/>
                        <a:p>
                          <a:pPr algn="l" rtl="0" fontAlgn="base"/>
                          <a:r>
                            <a:rPr lang="fr-FR" sz="1200" b="0" i="0" dirty="0">
                              <a:effectLst/>
                              <a:latin typeface="Aptos"/>
                            </a:rPr>
                            <a:t>Lafarge and Tardieu, 2002; Clerget et al, 2008; Ndiaye et al., 2021 </a:t>
                          </a:r>
                          <a:endParaRPr lang="fr-FR"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822662"/>
                      </a:ext>
                    </a:extLst>
                  </a:tr>
                  <a:tr h="440925">
                    <a:tc>
                      <a:txBody>
                        <a:bodyPr/>
                        <a:lstStyle/>
                        <a:p>
                          <a:endParaRPr lang="en-US"/>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blipFill>
                          <a:blip r:embed="rId2"/>
                          <a:stretch>
                            <a:fillRect t="-153425" r="-313024" b="-382192"/>
                          </a:stretch>
                        </a:blipFill>
                      </a:tcPr>
                    </a:tc>
                    <a:tc>
                      <a:txBody>
                        <a:bodyPr/>
                        <a:lstStyle/>
                        <a:p>
                          <a:pPr algn="l" rtl="0" fontAlgn="base"/>
                          <a:r>
                            <a:rPr lang="en-US" sz="1200" b="0" i="0" dirty="0">
                              <a:effectLst/>
                              <a:latin typeface="Aptos"/>
                            </a:rPr>
                            <a:t>Internode diameters along the axis (affine)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endParaRPr lang="en-US"/>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blipFill>
                          <a:blip r:embed="rId2"/>
                          <a:stretch>
                            <a:fillRect l="-516867" t="-153425" r="-510241" b="-382192"/>
                          </a:stretch>
                        </a:blipFill>
                      </a:tcPr>
                    </a:tc>
                    <a:tc>
                      <a:txBody>
                        <a:bodyPr/>
                        <a:lstStyle/>
                        <a:p>
                          <a:pPr algn="l" rtl="0" fontAlgn="base"/>
                          <a:r>
                            <a:rPr lang="en-US" sz="1200" b="0" i="0">
                              <a:effectLst/>
                              <a:latin typeface="Aptos"/>
                            </a:rPr>
                            <a:t>cm </a:t>
                          </a:r>
                          <a:endParaRPr lang="en-US" sz="2400" b="0" i="0">
                            <a:effectLst/>
                          </a:endParaRP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a:effectLst/>
                              <a:latin typeface="Aptos"/>
                            </a:rPr>
                            <a:t>1.0 </a:t>
                          </a:r>
                          <a:endParaRPr lang="en-US" sz="2400" b="0" i="0">
                            <a:effectLst/>
                          </a:endParaRP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577111743"/>
                      </a:ext>
                    </a:extLst>
                  </a:tr>
                  <a:tr h="239884">
                    <a:tc>
                      <a:txBody>
                        <a:bodyPr/>
                        <a:lstStyle/>
                        <a:p>
                          <a:pPr algn="l" rtl="0" fontAlgn="base"/>
                          <a:r>
                            <a:rPr lang="en-US" sz="1200" b="0" i="0" dirty="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endParaRPr lang="en-US"/>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blipFill>
                          <a:blip r:embed="rId2"/>
                          <a:stretch>
                            <a:fillRect l="-516867" t="-474359" r="-510241" b="-615385"/>
                          </a:stretch>
                        </a:blipFill>
                      </a:tcPr>
                    </a:tc>
                    <a:tc>
                      <a:txBody>
                        <a:bodyPr/>
                        <a:lstStyle/>
                        <a:p>
                          <a:pPr algn="l" rtl="0" fontAlgn="base"/>
                          <a:r>
                            <a:rPr lang="en-US" sz="1200" b="0" i="0">
                              <a:effectLst/>
                              <a:latin typeface="Aptos"/>
                            </a:rPr>
                            <a:t>cm/sheath </a:t>
                          </a:r>
                          <a:endParaRPr lang="en-US" sz="2400" b="0" i="0">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0.1 </a:t>
                          </a:r>
                          <a:endParaRPr lang="en-US" sz="2400" b="0" i="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0185402"/>
                      </a:ext>
                    </a:extLst>
                  </a:tr>
                  <a:tr h="459213">
                    <a:tc>
                      <a:txBody>
                        <a:bodyPr/>
                        <a:lstStyle/>
                        <a:p>
                          <a:endParaRPr lang="en-US"/>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blipFill>
                          <a:blip r:embed="rId2"/>
                          <a:stretch>
                            <a:fillRect t="-294737" r="-313024" b="-215789"/>
                          </a:stretch>
                        </a:blipFill>
                      </a:tcPr>
                    </a:tc>
                    <a:tc>
                      <a:txBody>
                        <a:bodyPr/>
                        <a:lstStyle/>
                        <a:p>
                          <a:pPr algn="l" rtl="0" fontAlgn="base"/>
                          <a:r>
                            <a:rPr lang="en-US" sz="1200" b="0" i="0" dirty="0">
                              <a:effectLst/>
                              <a:latin typeface="Aptos"/>
                            </a:rPr>
                            <a:t>Mature leaf lengths along an axis (Weibull distribution)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endParaRPr lang="en-US"/>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blipFill>
                          <a:blip r:embed="rId2"/>
                          <a:stretch>
                            <a:fillRect l="-516867" t="-294737" r="-510241" b="-215789"/>
                          </a:stretch>
                        </a:blipFill>
                      </a:tcPr>
                    </a:tc>
                    <a:tc>
                      <a:txBody>
                        <a:bodyPr/>
                        <a:lstStyle/>
                        <a:p>
                          <a:pPr algn="l" rtl="0" fontAlgn="base"/>
                          <a:r>
                            <a:rPr lang="en-US" sz="1200" b="0" i="0" dirty="0">
                              <a:effectLst/>
                              <a:latin typeface="Aptos"/>
                            </a:rPr>
                            <a:t>- </a:t>
                          </a:r>
                          <a:endParaRPr lang="en-US" sz="2400" b="0" i="0" dirty="0">
                            <a:effectLst/>
                          </a:endParaRP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0.67 </a:t>
                          </a:r>
                          <a:endParaRPr lang="en-US" sz="2400" b="0" i="0" dirty="0">
                            <a:effectLst/>
                          </a:endParaRP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a:effectLst/>
                              <a:latin typeface="Aptos"/>
                            </a:rPr>
                            <a:t>Lafarge and Tardieu, 2002 </a:t>
                          </a:r>
                          <a:endParaRPr lang="en-US" sz="2400" b="0" i="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1585393"/>
                      </a:ext>
                    </a:extLst>
                  </a:tr>
                  <a:tr h="239884">
                    <a:tc>
                      <a:txBody>
                        <a:bodyPr/>
                        <a:lstStyle/>
                        <a:p>
                          <a:pPr algn="l" rtl="0" fontAlgn="base"/>
                          <a:r>
                            <a:rPr lang="en-US" sz="1200" b="0" i="0">
                              <a:effectLst/>
                              <a:latin typeface="Aptos"/>
                            </a:rPr>
                            <a:t> </a:t>
                          </a:r>
                        </a:p>
                      </a:txBody>
                      <a:tcPr marL="57004" marR="57004" marT="28502" marB="28502">
                        <a:lnL>
                          <a:noFill/>
                        </a:lnL>
                        <a:lnR>
                          <a:noFill/>
                        </a:lnR>
                        <a:lnT>
                          <a:noFill/>
                        </a:lnT>
                        <a:lnB>
                          <a:noFill/>
                        </a:lnB>
                      </a:tcPr>
                    </a:tc>
                    <a:tc>
                      <a:txBody>
                        <a:bodyPr/>
                        <a:lstStyle/>
                        <a:p>
                          <a:pPr algn="l" rtl="0" fontAlgn="base"/>
                          <a:r>
                            <a:rPr lang="en-US" sz="1200" b="0" i="0" dirty="0">
                              <a:effectLst/>
                              <a:latin typeface="Aptos"/>
                            </a:rPr>
                            <a:t> </a:t>
                          </a:r>
                        </a:p>
                      </a:txBody>
                      <a:tcPr marL="57004" marR="57004" marT="28502" marB="28502">
                        <a:lnL>
                          <a:noFill/>
                        </a:lnL>
                        <a:lnR>
                          <a:noFill/>
                        </a:lnR>
                        <a:lnT>
                          <a:noFill/>
                        </a:lnT>
                        <a:lnB>
                          <a:noFill/>
                        </a:lnB>
                      </a:tcPr>
                    </a:tc>
                    <a:tc>
                      <a:txBody>
                        <a:bodyPr/>
                        <a:lstStyle/>
                        <a:p>
                          <a:endParaRPr lang="en-US"/>
                        </a:p>
                      </a:txBody>
                      <a:tcPr marL="57004" marR="57004" marT="28502" marB="28502">
                        <a:lnL>
                          <a:noFill/>
                        </a:lnL>
                        <a:lnR>
                          <a:noFill/>
                        </a:lnR>
                        <a:lnT>
                          <a:noFill/>
                        </a:lnT>
                        <a:lnB>
                          <a:noFill/>
                        </a:lnB>
                        <a:blipFill>
                          <a:blip r:embed="rId2"/>
                          <a:stretch>
                            <a:fillRect l="-516867" t="-769231" r="-510241" b="-320513"/>
                          </a:stretch>
                        </a:blipFill>
                      </a:tcPr>
                    </a:tc>
                    <a:tc>
                      <a:txBody>
                        <a:bodyPr/>
                        <a:lstStyle/>
                        <a:p>
                          <a:pPr algn="l" rtl="0" fontAlgn="base"/>
                          <a:r>
                            <a:rPr lang="en-US" sz="1200" b="0" i="0" dirty="0">
                              <a:effectLst/>
                              <a:latin typeface="Aptos"/>
                            </a:rPr>
                            <a:t>- </a:t>
                          </a:r>
                          <a:endParaRPr lang="en-US" sz="2400" b="0" i="0" dirty="0">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a:noFill/>
                        </a:lnB>
                      </a:tcPr>
                    </a:tc>
                    <a:tc>
                      <a:txBody>
                        <a:bodyPr/>
                        <a:lstStyle/>
                        <a:p>
                          <a:pPr algn="l" rtl="0" fontAlgn="base"/>
                          <a:r>
                            <a:rPr lang="en-US" sz="1200" b="0" i="0" dirty="0">
                              <a:effectLst/>
                              <a:latin typeface="Aptos"/>
                            </a:rPr>
                            <a:t>1e-5 </a:t>
                          </a:r>
                          <a:endParaRPr lang="en-US" sz="2400" b="0" i="0" dirty="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ase"/>
                          <a:r>
                            <a:rPr lang="en-US" sz="1200" b="0" i="0" dirty="0">
                              <a:effectLst/>
                              <a:latin typeface="Aptos"/>
                            </a:rPr>
                            <a:t>Lafarge and Tardieu, 2002 </a:t>
                          </a:r>
                          <a:endParaRPr lang="en-US" sz="2400" b="0" i="0" dirty="0">
                            <a:effectLst/>
                          </a:endParaRPr>
                        </a:p>
                      </a:txBody>
                      <a:tcPr marL="57004" marR="57004" marT="28502" marB="28502">
                        <a:lnL>
                          <a:noFill/>
                        </a:lnL>
                        <a:lnR>
                          <a:noFill/>
                        </a:lnR>
                        <a:lnT>
                          <a:noFill/>
                        </a:lnT>
                        <a:lnB>
                          <a:noFill/>
                        </a:lnB>
                      </a:tcPr>
                    </a:tc>
                    <a:extLst>
                      <a:ext uri="{0D108BD9-81ED-4DB2-BD59-A6C34878D82A}">
                        <a16:rowId xmlns:a16="http://schemas.microsoft.com/office/drawing/2014/main" val="890508558"/>
                      </a:ext>
                    </a:extLst>
                  </a:tr>
                  <a:tr h="254807">
                    <a:tc>
                      <a:txBody>
                        <a:bodyPr/>
                        <a:lstStyle/>
                        <a:p>
                          <a:pPr algn="l" rtl="0" fontAlgn="base"/>
                          <a:r>
                            <a:rPr lang="en-US" sz="1200" b="0" i="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dirty="0">
                              <a:effectLst/>
                              <a:latin typeface="Aptos"/>
                            </a:rPr>
                            <a:t> </a:t>
                          </a: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tc>
                      <a:txBody>
                        <a:bodyPr/>
                        <a:lstStyle/>
                        <a:p>
                          <a:endParaRPr lang="en-US"/>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blipFill>
                          <a:blip r:embed="rId2"/>
                          <a:stretch>
                            <a:fillRect l="-516867" t="-807143" r="-510241" b="-197619"/>
                          </a:stretch>
                        </a:blipFill>
                      </a:tcPr>
                    </a:tc>
                    <a:tc>
                      <a:txBody>
                        <a:bodyPr/>
                        <a:lstStyle/>
                        <a:p>
                          <a:pPr algn="l" rtl="0" fontAlgn="base"/>
                          <a:r>
                            <a:rPr lang="en-US" sz="1200" b="0" i="0">
                              <a:effectLst/>
                              <a:latin typeface="Aptos"/>
                            </a:rPr>
                            <a:t>cm </a:t>
                          </a:r>
                          <a:endParaRPr lang="en-US" sz="2400" b="0" i="0">
                            <a:effectLst/>
                          </a:endParaRPr>
                        </a:p>
                      </a:txBody>
                      <a:tcPr marL="57004" marR="57004" marT="28502" marB="28502">
                        <a:lnL>
                          <a:noFill/>
                        </a:lnL>
                        <a:lnR w="15240" cap="flat" cmpd="sng" algn="ctr">
                          <a:solidFill>
                            <a:srgbClr val="000000"/>
                          </a:solidFill>
                          <a:prstDash val="solid"/>
                          <a:round/>
                          <a:headEnd type="none" w="med" len="med"/>
                          <a:tailEnd type="none" w="med" len="med"/>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a:effectLst/>
                              <a:latin typeface="Aptos"/>
                            </a:rPr>
                            <a:t>80-100 </a:t>
                          </a:r>
                          <a:endParaRPr lang="en-US" sz="2400" b="0" i="0">
                            <a:effectLst/>
                          </a:endParaRPr>
                        </a:p>
                      </a:txBody>
                      <a:tcPr marL="57004" marR="57004" marT="28502" marB="28502">
                        <a:lnL w="15240" cap="flat" cmpd="sng" algn="ctr">
                          <a:solidFill>
                            <a:srgbClr val="000000"/>
                          </a:solidFill>
                          <a:prstDash val="solid"/>
                          <a:round/>
                          <a:headEnd type="none" w="med" len="med"/>
                          <a:tailEnd type="none" w="med" len="med"/>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fr-FR" sz="1200" b="0" i="0" dirty="0">
                              <a:effectLst/>
                              <a:latin typeface="Aptos"/>
                            </a:rPr>
                            <a:t>Lafarge et al., 2002a,b; Lafarge and Tardieu, 2002 </a:t>
                          </a:r>
                          <a:endParaRPr lang="fr-FR" sz="2400" b="0" i="0" dirty="0">
                            <a:effectLst/>
                          </a:endParaRPr>
                        </a:p>
                      </a:txBody>
                      <a:tcPr marL="57004" marR="57004" marT="28502" marB="28502">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3570232"/>
                      </a:ext>
                    </a:extLst>
                  </a:tr>
                  <a:tr h="440925">
                    <a:tc>
                      <a:txBody>
                        <a:bodyPr/>
                        <a:lstStyle/>
                        <a:p>
                          <a:endParaRPr lang="en-US"/>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blipFill>
                          <a:blip r:embed="rId2"/>
                          <a:stretch>
                            <a:fillRect t="-521918" r="-313024" b="-13699"/>
                          </a:stretch>
                        </a:blipFill>
                      </a:tcPr>
                    </a:tc>
                    <a:tc>
                      <a:txBody>
                        <a:bodyPr/>
                        <a:lstStyle/>
                        <a:p>
                          <a:pPr algn="l" rtl="0" fontAlgn="base"/>
                          <a:r>
                            <a:rPr lang="en-US" sz="1200" b="0" i="0" dirty="0">
                              <a:effectLst/>
                              <a:latin typeface="Aptos"/>
                            </a:rPr>
                            <a:t>Insertion angles along axis </a:t>
                          </a:r>
                          <a:endParaRPr lang="en-US" sz="2400" b="0" i="0" dirty="0">
                            <a:effectLst/>
                          </a:endParaRP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w="15240" cap="flat" cmpd="sng" algn="ctr">
                          <a:solidFill>
                            <a:srgbClr val="000000"/>
                          </a:solidFill>
                          <a:prstDash val="solid"/>
                          <a:round/>
                          <a:headEnd type="none" w="med" len="med"/>
                          <a:tailEnd type="none" w="med" len="med"/>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w="15240" cap="flat" cmpd="sng" algn="ctr">
                          <a:solidFill>
                            <a:srgbClr val="000000"/>
                          </a:solidFill>
                          <a:prstDash val="solid"/>
                          <a:round/>
                          <a:headEnd type="none" w="med" len="med"/>
                          <a:tailEnd type="none" w="med" len="med"/>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200" b="0" i="0" dirty="0">
                              <a:effectLst/>
                              <a:latin typeface="Aptos"/>
                            </a:rPr>
                            <a:t> </a:t>
                          </a:r>
                        </a:p>
                      </a:txBody>
                      <a:tcPr marL="57004" marR="57004" marT="28502" marB="28502">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74206775"/>
                      </a:ext>
                    </a:extLst>
                  </a:tr>
                </a:tbl>
              </a:graphicData>
            </a:graphic>
          </p:graphicFrame>
        </mc:Fallback>
      </mc:AlternateContent>
      <p:sp>
        <p:nvSpPr>
          <p:cNvPr id="18" name="Slide Number Placeholder 17">
            <a:extLst>
              <a:ext uri="{FF2B5EF4-FFF2-40B4-BE49-F238E27FC236}">
                <a16:creationId xmlns:a16="http://schemas.microsoft.com/office/drawing/2014/main" id="{7EFC0B36-FB86-4A21-901C-965C32C3FC46}"/>
              </a:ext>
            </a:extLst>
          </p:cNvPr>
          <p:cNvSpPr>
            <a:spLocks noGrp="1"/>
          </p:cNvSpPr>
          <p:nvPr>
            <p:ph type="sldNum" sz="quarter" idx="12"/>
          </p:nvPr>
        </p:nvSpPr>
        <p:spPr/>
        <p:txBody>
          <a:bodyPr/>
          <a:lstStyle/>
          <a:p>
            <a:fld id="{4D0921BC-FC9B-4B20-AD4C-0D7EEBC2A9A8}" type="slidenum">
              <a:rPr lang="en-US" smtClean="0"/>
              <a:t>11</a:t>
            </a:fld>
            <a:endParaRPr lang="en-US"/>
          </a:p>
        </p:txBody>
      </p:sp>
    </p:spTree>
    <p:extLst>
      <p:ext uri="{BB962C8B-B14F-4D97-AF65-F5344CB8AC3E}">
        <p14:creationId xmlns:p14="http://schemas.microsoft.com/office/powerpoint/2010/main" val="2651067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B0C32-9274-4A78-B9E3-E66076262AAB}"/>
              </a:ext>
            </a:extLst>
          </p:cNvPr>
          <p:cNvSpPr>
            <a:spLocks noGrp="1"/>
          </p:cNvSpPr>
          <p:nvPr>
            <p:ph type="title"/>
          </p:nvPr>
        </p:nvSpPr>
        <p:spPr>
          <a:xfrm>
            <a:off x="838200" y="7321"/>
            <a:ext cx="10515600" cy="1325563"/>
          </a:xfrm>
        </p:spPr>
        <p:txBody>
          <a:bodyPr/>
          <a:lstStyle/>
          <a:p>
            <a:r>
              <a:rPr lang="en-US" dirty="0"/>
              <a:t>2.Model</a:t>
            </a:r>
          </a:p>
        </p:txBody>
      </p:sp>
      <p:sp>
        <p:nvSpPr>
          <p:cNvPr id="3" name="Content Placeholder 2">
            <a:extLst>
              <a:ext uri="{FF2B5EF4-FFF2-40B4-BE49-F238E27FC236}">
                <a16:creationId xmlns:a16="http://schemas.microsoft.com/office/drawing/2014/main" id="{24E31E20-525C-45DC-8727-43A0CF733865}"/>
              </a:ext>
            </a:extLst>
          </p:cNvPr>
          <p:cNvSpPr>
            <a:spLocks noGrp="1"/>
          </p:cNvSpPr>
          <p:nvPr>
            <p:ph idx="1"/>
          </p:nvPr>
        </p:nvSpPr>
        <p:spPr>
          <a:xfrm>
            <a:off x="751373" y="1262271"/>
            <a:ext cx="9350058" cy="2703598"/>
          </a:xfrm>
        </p:spPr>
        <p:txBody>
          <a:bodyPr>
            <a:normAutofit/>
          </a:bodyPr>
          <a:lstStyle/>
          <a:p>
            <a:pPr marL="0" indent="0">
              <a:buNone/>
            </a:pPr>
            <a:r>
              <a:rPr lang="fr-FR" dirty="0"/>
              <a:t>2.4.Constrain plant </a:t>
            </a:r>
            <a:r>
              <a:rPr lang="fr-FR" dirty="0" err="1"/>
              <a:t>growth</a:t>
            </a:r>
            <a:r>
              <a:rPr lang="fr-FR" dirty="0"/>
              <a:t> </a:t>
            </a:r>
            <a:r>
              <a:rPr lang="fr-FR" dirty="0" err="1"/>
              <a:t>with</a:t>
            </a:r>
            <a:r>
              <a:rPr lang="fr-FR" dirty="0"/>
              <a:t> </a:t>
            </a:r>
            <a:r>
              <a:rPr lang="fr-FR" dirty="0" err="1"/>
              <a:t>leaf</a:t>
            </a:r>
            <a:r>
              <a:rPr lang="fr-FR" dirty="0"/>
              <a:t> area and </a:t>
            </a:r>
            <a:r>
              <a:rPr lang="fr-FR" dirty="0" err="1"/>
              <a:t>height</a:t>
            </a:r>
            <a:endParaRPr lang="fr-FR" dirty="0"/>
          </a:p>
          <a:p>
            <a:pPr lvl="1"/>
            <a:r>
              <a:rPr lang="fr-FR" dirty="0"/>
              <a:t>Distribution of </a:t>
            </a:r>
            <a:r>
              <a:rPr lang="fr-FR" dirty="0" err="1"/>
              <a:t>leaf</a:t>
            </a:r>
            <a:r>
              <a:rPr lang="fr-FR" dirty="0"/>
              <a:t> area and </a:t>
            </a:r>
            <a:r>
              <a:rPr lang="fr-FR" dirty="0" err="1"/>
              <a:t>height</a:t>
            </a:r>
            <a:r>
              <a:rPr lang="fr-FR" dirty="0"/>
              <a:t> variations </a:t>
            </a:r>
            <a:r>
              <a:rPr lang="fr-FR" dirty="0" err="1"/>
              <a:t>among</a:t>
            </a:r>
            <a:r>
              <a:rPr lang="fr-FR" dirty="0"/>
              <a:t> plants and </a:t>
            </a:r>
            <a:r>
              <a:rPr lang="fr-FR" dirty="0" err="1"/>
              <a:t>growing</a:t>
            </a:r>
            <a:r>
              <a:rPr lang="fr-FR" dirty="0"/>
              <a:t> </a:t>
            </a:r>
            <a:r>
              <a:rPr lang="fr-FR" dirty="0" err="1"/>
              <a:t>organs</a:t>
            </a:r>
            <a:endParaRPr lang="en-US" dirty="0"/>
          </a:p>
          <a:p>
            <a:pPr lvl="1"/>
            <a:r>
              <a:rPr lang="fr-FR" dirty="0" err="1"/>
              <a:t>Organ</a:t>
            </a:r>
            <a:r>
              <a:rPr lang="fr-FR" dirty="0"/>
              <a:t> </a:t>
            </a:r>
            <a:r>
              <a:rPr lang="fr-FR" dirty="0" err="1"/>
              <a:t>growth</a:t>
            </a:r>
            <a:r>
              <a:rPr lang="fr-FR" dirty="0"/>
              <a:t> (in </a:t>
            </a:r>
            <a:r>
              <a:rPr lang="fr-FR" dirty="0" err="1"/>
              <a:t>particular</a:t>
            </a:r>
            <a:r>
              <a:rPr lang="fr-FR" dirty="0"/>
              <a:t> for </a:t>
            </a:r>
            <a:r>
              <a:rPr lang="fr-FR" dirty="0" err="1"/>
              <a:t>leaves</a:t>
            </a:r>
            <a:r>
              <a:rPr lang="fr-FR" dirty="0"/>
              <a:t> </a:t>
            </a:r>
            <a:r>
              <a:rPr lang="fr-FR" dirty="0" err="1"/>
              <a:t>that</a:t>
            </a:r>
            <a:r>
              <a:rPr lang="fr-FR" dirty="0"/>
              <a:t> </a:t>
            </a:r>
            <a:r>
              <a:rPr lang="fr-FR" dirty="0" err="1"/>
              <a:t>grow</a:t>
            </a:r>
            <a:r>
              <a:rPr lang="fr-FR" dirty="0"/>
              <a:t> </a:t>
            </a:r>
            <a:r>
              <a:rPr lang="fr-FR" dirty="0" err="1"/>
              <a:t>from</a:t>
            </a:r>
            <a:r>
              <a:rPr lang="fr-FR" dirty="0"/>
              <a:t> tip to base, conversion area to </a:t>
            </a:r>
            <a:r>
              <a:rPr lang="fr-FR" dirty="0" err="1"/>
              <a:t>length</a:t>
            </a:r>
            <a:r>
              <a:rPr lang="fr-FR" dirty="0"/>
              <a:t>)</a:t>
            </a:r>
          </a:p>
          <a:p>
            <a:pPr lvl="1"/>
            <a:r>
              <a:rPr lang="fr-FR" dirty="0"/>
              <a:t>Senescence</a:t>
            </a:r>
          </a:p>
          <a:p>
            <a:pPr marL="0" indent="0">
              <a:buNone/>
            </a:pPr>
            <a:endParaRPr lang="en-US" dirty="0"/>
          </a:p>
        </p:txBody>
      </p:sp>
      <p:graphicFrame>
        <p:nvGraphicFramePr>
          <p:cNvPr id="4" name="Table 3">
            <a:extLst>
              <a:ext uri="{FF2B5EF4-FFF2-40B4-BE49-F238E27FC236}">
                <a16:creationId xmlns:a16="http://schemas.microsoft.com/office/drawing/2014/main" id="{0DF1A464-B756-4A60-A02E-D37B40FEA681}"/>
              </a:ext>
            </a:extLst>
          </p:cNvPr>
          <p:cNvGraphicFramePr>
            <a:graphicFrameLocks noGrp="1"/>
          </p:cNvGraphicFramePr>
          <p:nvPr>
            <p:extLst>
              <p:ext uri="{D42A27DB-BD31-4B8C-83A1-F6EECF244321}">
                <p14:modId xmlns:p14="http://schemas.microsoft.com/office/powerpoint/2010/main" val="274918476"/>
              </p:ext>
            </p:extLst>
          </p:nvPr>
        </p:nvGraphicFramePr>
        <p:xfrm>
          <a:off x="447676" y="4722427"/>
          <a:ext cx="5267325" cy="1051560"/>
        </p:xfrm>
        <a:graphic>
          <a:graphicData uri="http://schemas.openxmlformats.org/drawingml/2006/table">
            <a:tbl>
              <a:tblPr/>
              <a:tblGrid>
                <a:gridCol w="990599">
                  <a:extLst>
                    <a:ext uri="{9D8B030D-6E8A-4147-A177-3AD203B41FA5}">
                      <a16:colId xmlns:a16="http://schemas.microsoft.com/office/drawing/2014/main" val="2375441324"/>
                    </a:ext>
                  </a:extLst>
                </a:gridCol>
                <a:gridCol w="3665125">
                  <a:extLst>
                    <a:ext uri="{9D8B030D-6E8A-4147-A177-3AD203B41FA5}">
                      <a16:colId xmlns:a16="http://schemas.microsoft.com/office/drawing/2014/main" val="1571985314"/>
                    </a:ext>
                  </a:extLst>
                </a:gridCol>
                <a:gridCol w="611601">
                  <a:extLst>
                    <a:ext uri="{9D8B030D-6E8A-4147-A177-3AD203B41FA5}">
                      <a16:colId xmlns:a16="http://schemas.microsoft.com/office/drawing/2014/main" val="3646805251"/>
                    </a:ext>
                  </a:extLst>
                </a:gridCol>
              </a:tblGrid>
              <a:tr h="152400">
                <a:tc>
                  <a:txBody>
                    <a:bodyPr/>
                    <a:lstStyle/>
                    <a:p>
                      <a:pPr algn="l" rtl="0" fontAlgn="base"/>
                      <a:r>
                        <a:rPr lang="en-US" sz="1200" b="0" i="0" cap="all">
                          <a:effectLst/>
                          <a:latin typeface="Aptos"/>
                        </a:rPr>
                        <a:t>Symbol</a:t>
                      </a:r>
                      <a:r>
                        <a:rPr lang="en-US" sz="1200" b="1" i="0" cap="all">
                          <a:effectLst/>
                          <a:latin typeface="Aptos"/>
                        </a:rPr>
                        <a:t> </a:t>
                      </a:r>
                      <a:endParaRPr lang="en-US" b="1" i="0" cap="all">
                        <a:effectLst/>
                      </a:endParaRPr>
                    </a:p>
                  </a:txBody>
                  <a:tcPr>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dirty="0">
                          <a:effectLst/>
                          <a:latin typeface="Aptos"/>
                        </a:rPr>
                        <a:t>Description</a:t>
                      </a:r>
                      <a:r>
                        <a:rPr lang="en-US" sz="1200" b="1" i="0" cap="all" dirty="0">
                          <a:effectLst/>
                          <a:latin typeface="Aptos"/>
                        </a:rPr>
                        <a:t> </a:t>
                      </a:r>
                      <a:endParaRPr lang="en-US" b="1" i="0" cap="all" dirty="0">
                        <a:effectLst/>
                      </a:endParaRPr>
                    </a:p>
                  </a:txBody>
                  <a:tcPr>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Unit</a:t>
                      </a:r>
                      <a:r>
                        <a:rPr lang="en-US" sz="1200" b="1" i="0" cap="all">
                          <a:effectLst/>
                          <a:latin typeface="Aptos"/>
                        </a:rPr>
                        <a:t> </a:t>
                      </a:r>
                      <a:endParaRPr lang="en-US" b="1" i="0" cap="all">
                        <a:effectLst/>
                      </a:endParaRPr>
                    </a:p>
                  </a:txBody>
                  <a:tcPr>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3722875"/>
                  </a:ext>
                </a:extLst>
              </a:tr>
              <a:tr h="152400">
                <a:tc>
                  <a:txBody>
                    <a:bodyPr/>
                    <a:lstStyle/>
                    <a:p>
                      <a:pPr algn="l" rtl="0" fontAlgn="base"/>
                      <a:r>
                        <a:rPr lang="en-US" sz="1100" b="0" i="0">
                          <a:effectLst/>
                          <a:latin typeface="Aptos"/>
                        </a:rPr>
                        <a:t>T in [0, Tveg] </a:t>
                      </a:r>
                      <a:endParaRPr lang="en-US" b="0" i="0">
                        <a:effectLst/>
                      </a:endParaRPr>
                    </a:p>
                  </a:txBody>
                  <a:tcPr>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100" b="0" i="0" dirty="0">
                          <a:effectLst/>
                          <a:latin typeface="Aptos"/>
                        </a:rPr>
                        <a:t>Thermal time series to the end of the vegetative phase </a:t>
                      </a:r>
                      <a:r>
                        <a:rPr lang="en-US" sz="1100" b="0" i="0" dirty="0" err="1">
                          <a:effectLst/>
                          <a:latin typeface="Aptos"/>
                        </a:rPr>
                        <a:t>Tveg</a:t>
                      </a:r>
                      <a:r>
                        <a:rPr lang="en-US" sz="1100" b="0" i="0" dirty="0">
                          <a:effectLst/>
                          <a:latin typeface="Aptos"/>
                        </a:rPr>
                        <a:t> </a:t>
                      </a:r>
                      <a:endParaRPr lang="en-US" b="0" i="0" dirty="0">
                        <a:effectLst/>
                      </a:endParaRPr>
                    </a:p>
                  </a:txBody>
                  <a:tcPr>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100" b="0" i="0">
                          <a:effectLst/>
                          <a:latin typeface="Aptos"/>
                        </a:rPr>
                        <a:t>°C.day </a:t>
                      </a:r>
                      <a:endParaRPr lang="en-US" b="0" i="0">
                        <a:effectLst/>
                      </a:endParaRPr>
                    </a:p>
                  </a:txBody>
                  <a:tcPr>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70305497"/>
                  </a:ext>
                </a:extLst>
              </a:tr>
              <a:tr h="152400">
                <a:tc>
                  <a:txBody>
                    <a:bodyPr/>
                    <a:lstStyle/>
                    <a:p>
                      <a:pPr algn="l" rtl="0" fontAlgn="base"/>
                      <a:r>
                        <a:rPr lang="en-US" sz="1100" b="0" i="0">
                          <a:effectLst/>
                          <a:latin typeface="Aptos"/>
                        </a:rPr>
                        <a:t>H(t) </a:t>
                      </a:r>
                      <a:endParaRPr lang="en-US" b="0" i="0">
                        <a:effectLst/>
                      </a:endParaRPr>
                    </a:p>
                  </a:txBody>
                  <a:tcPr>
                    <a:lnL>
                      <a:noFill/>
                    </a:lnL>
                    <a:lnR>
                      <a:noFill/>
                    </a:lnR>
                    <a:lnT>
                      <a:noFill/>
                    </a:lnT>
                    <a:lnB>
                      <a:noFill/>
                    </a:lnB>
                  </a:tcPr>
                </a:tc>
                <a:tc>
                  <a:txBody>
                    <a:bodyPr/>
                    <a:lstStyle/>
                    <a:p>
                      <a:pPr algn="l" rtl="0" fontAlgn="base"/>
                      <a:r>
                        <a:rPr lang="en-US" sz="1100" b="0" i="0" dirty="0">
                          <a:effectLst/>
                          <a:latin typeface="Aptos"/>
                        </a:rPr>
                        <a:t>Plant height dynamics </a:t>
                      </a:r>
                      <a:endParaRPr lang="en-US" b="0" i="0" dirty="0">
                        <a:effectLst/>
                      </a:endParaRPr>
                    </a:p>
                  </a:txBody>
                  <a:tcPr>
                    <a:lnL>
                      <a:noFill/>
                    </a:lnL>
                    <a:lnR>
                      <a:noFill/>
                    </a:lnR>
                    <a:lnT>
                      <a:noFill/>
                    </a:lnT>
                    <a:lnB>
                      <a:noFill/>
                    </a:lnB>
                  </a:tcPr>
                </a:tc>
                <a:tc>
                  <a:txBody>
                    <a:bodyPr/>
                    <a:lstStyle/>
                    <a:p>
                      <a:pPr algn="l" rtl="0" fontAlgn="base"/>
                      <a:r>
                        <a:rPr lang="en-US" sz="1100" b="0" i="0">
                          <a:effectLst/>
                          <a:latin typeface="Aptos"/>
                        </a:rPr>
                        <a:t>cm </a:t>
                      </a:r>
                      <a:endParaRPr lang="en-US" b="0" i="0">
                        <a:effectLst/>
                      </a:endParaRPr>
                    </a:p>
                  </a:txBody>
                  <a:tcPr>
                    <a:lnL>
                      <a:noFill/>
                    </a:lnL>
                    <a:lnR>
                      <a:noFill/>
                    </a:lnR>
                    <a:lnT>
                      <a:noFill/>
                    </a:lnT>
                    <a:lnB>
                      <a:noFill/>
                    </a:lnB>
                  </a:tcPr>
                </a:tc>
                <a:extLst>
                  <a:ext uri="{0D108BD9-81ED-4DB2-BD59-A6C34878D82A}">
                    <a16:rowId xmlns:a16="http://schemas.microsoft.com/office/drawing/2014/main" val="606013968"/>
                  </a:ext>
                </a:extLst>
              </a:tr>
              <a:tr h="152400">
                <a:tc>
                  <a:txBody>
                    <a:bodyPr/>
                    <a:lstStyle/>
                    <a:p>
                      <a:pPr algn="l" rtl="0" fontAlgn="base"/>
                      <a:r>
                        <a:rPr lang="en-US" sz="1100" b="0" i="0">
                          <a:effectLst/>
                          <a:latin typeface="Aptos"/>
                        </a:rPr>
                        <a:t>S(t) </a:t>
                      </a:r>
                      <a:endParaRPr lang="en-US" b="0" i="0">
                        <a:effectLst/>
                      </a:endParaRPr>
                    </a:p>
                  </a:txBody>
                  <a:tcPr>
                    <a:lnL>
                      <a:noFill/>
                    </a:lnL>
                    <a:lnR>
                      <a:noFill/>
                    </a:lnR>
                    <a:lnT>
                      <a:noFill/>
                    </a:lnT>
                    <a:lnB>
                      <a:noFill/>
                    </a:lnB>
                  </a:tcPr>
                </a:tc>
                <a:tc>
                  <a:txBody>
                    <a:bodyPr/>
                    <a:lstStyle/>
                    <a:p>
                      <a:pPr algn="l" rtl="0" fontAlgn="base"/>
                      <a:r>
                        <a:rPr lang="en-US" sz="1100" b="0" i="0" dirty="0">
                          <a:effectLst/>
                          <a:latin typeface="Aptos"/>
                        </a:rPr>
                        <a:t>Plant leaf area dynamics </a:t>
                      </a:r>
                      <a:endParaRPr lang="en-US" b="0" i="0" dirty="0">
                        <a:effectLst/>
                      </a:endParaRPr>
                    </a:p>
                  </a:txBody>
                  <a:tcPr>
                    <a:lnL>
                      <a:noFill/>
                    </a:lnL>
                    <a:lnR>
                      <a:noFill/>
                    </a:lnR>
                    <a:lnT>
                      <a:noFill/>
                    </a:lnT>
                    <a:lnB>
                      <a:noFill/>
                    </a:lnB>
                  </a:tcPr>
                </a:tc>
                <a:tc>
                  <a:txBody>
                    <a:bodyPr/>
                    <a:lstStyle/>
                    <a:p>
                      <a:pPr algn="l" rtl="0" fontAlgn="base"/>
                      <a:r>
                        <a:rPr lang="en-US" sz="1100" b="0" i="0" dirty="0">
                          <a:effectLst/>
                          <a:latin typeface="Aptos"/>
                        </a:rPr>
                        <a:t>cm² </a:t>
                      </a:r>
                      <a:endParaRPr lang="en-US" b="0" i="0" dirty="0">
                        <a:effectLst/>
                      </a:endParaRPr>
                    </a:p>
                  </a:txBody>
                  <a:tcPr>
                    <a:lnL>
                      <a:noFill/>
                    </a:lnL>
                    <a:lnR>
                      <a:noFill/>
                    </a:lnR>
                    <a:lnT>
                      <a:noFill/>
                    </a:lnT>
                    <a:lnB>
                      <a:noFill/>
                    </a:lnB>
                  </a:tcPr>
                </a:tc>
                <a:extLst>
                  <a:ext uri="{0D108BD9-81ED-4DB2-BD59-A6C34878D82A}">
                    <a16:rowId xmlns:a16="http://schemas.microsoft.com/office/drawing/2014/main" val="100304241"/>
                  </a:ext>
                </a:extLst>
              </a:tr>
            </a:tbl>
          </a:graphicData>
        </a:graphic>
      </p:graphicFrame>
      <p:graphicFrame>
        <p:nvGraphicFramePr>
          <p:cNvPr id="5" name="Table 4">
            <a:extLst>
              <a:ext uri="{FF2B5EF4-FFF2-40B4-BE49-F238E27FC236}">
                <a16:creationId xmlns:a16="http://schemas.microsoft.com/office/drawing/2014/main" id="{FC6A5C6C-219D-44C4-9B65-6DA115A50375}"/>
              </a:ext>
            </a:extLst>
          </p:cNvPr>
          <p:cNvGraphicFramePr>
            <a:graphicFrameLocks noGrp="1"/>
          </p:cNvGraphicFramePr>
          <p:nvPr>
            <p:extLst>
              <p:ext uri="{D42A27DB-BD31-4B8C-83A1-F6EECF244321}">
                <p14:modId xmlns:p14="http://schemas.microsoft.com/office/powerpoint/2010/main" val="4275265680"/>
              </p:ext>
            </p:extLst>
          </p:nvPr>
        </p:nvGraphicFramePr>
        <p:xfrm>
          <a:off x="6334126" y="4722427"/>
          <a:ext cx="5267324" cy="1569720"/>
        </p:xfrm>
        <a:graphic>
          <a:graphicData uri="http://schemas.openxmlformats.org/drawingml/2006/table">
            <a:tbl>
              <a:tblPr/>
              <a:tblGrid>
                <a:gridCol w="1446780">
                  <a:extLst>
                    <a:ext uri="{9D8B030D-6E8A-4147-A177-3AD203B41FA5}">
                      <a16:colId xmlns:a16="http://schemas.microsoft.com/office/drawing/2014/main" val="3657916291"/>
                    </a:ext>
                  </a:extLst>
                </a:gridCol>
                <a:gridCol w="2715644">
                  <a:extLst>
                    <a:ext uri="{9D8B030D-6E8A-4147-A177-3AD203B41FA5}">
                      <a16:colId xmlns:a16="http://schemas.microsoft.com/office/drawing/2014/main" val="843085180"/>
                    </a:ext>
                  </a:extLst>
                </a:gridCol>
                <a:gridCol w="1104900">
                  <a:extLst>
                    <a:ext uri="{9D8B030D-6E8A-4147-A177-3AD203B41FA5}">
                      <a16:colId xmlns:a16="http://schemas.microsoft.com/office/drawing/2014/main" val="3362309722"/>
                    </a:ext>
                  </a:extLst>
                </a:gridCol>
              </a:tblGrid>
              <a:tr h="152400">
                <a:tc>
                  <a:txBody>
                    <a:bodyPr/>
                    <a:lstStyle/>
                    <a:p>
                      <a:pPr algn="l" rtl="0" fontAlgn="base"/>
                      <a:r>
                        <a:rPr lang="en-US" sz="1200" b="0" i="0" cap="all" dirty="0">
                          <a:effectLst/>
                          <a:latin typeface="Aptos"/>
                        </a:rPr>
                        <a:t>Symbol</a:t>
                      </a:r>
                      <a:r>
                        <a:rPr lang="en-US" sz="1200" b="1" i="0" cap="all" dirty="0">
                          <a:effectLst/>
                          <a:latin typeface="Aptos"/>
                        </a:rPr>
                        <a:t> </a:t>
                      </a:r>
                      <a:endParaRPr lang="en-US" b="1" i="0" cap="all" dirty="0">
                        <a:effectLst/>
                      </a:endParaRPr>
                    </a:p>
                  </a:txBody>
                  <a:tcPr>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Description</a:t>
                      </a:r>
                      <a:r>
                        <a:rPr lang="en-US" sz="1200" b="1" i="0" cap="all">
                          <a:effectLst/>
                          <a:latin typeface="Aptos"/>
                        </a:rPr>
                        <a:t> </a:t>
                      </a:r>
                      <a:endParaRPr lang="en-US" b="1" i="0" cap="all">
                        <a:effectLst/>
                      </a:endParaRPr>
                    </a:p>
                  </a:txBody>
                  <a:tcPr>
                    <a:lnL>
                      <a:noFill/>
                    </a:lnL>
                    <a:lnR>
                      <a:noFill/>
                    </a:lnR>
                    <a:lnT>
                      <a:noFill/>
                    </a:lnT>
                    <a:lnB w="15240" cap="flat" cmpd="sng" algn="ctr">
                      <a:solidFill>
                        <a:srgbClr val="000000"/>
                      </a:solidFill>
                      <a:prstDash val="solid"/>
                      <a:round/>
                      <a:headEnd type="none" w="med" len="med"/>
                      <a:tailEnd type="none" w="med" len="med"/>
                    </a:lnB>
                  </a:tcPr>
                </a:tc>
                <a:tc>
                  <a:txBody>
                    <a:bodyPr/>
                    <a:lstStyle/>
                    <a:p>
                      <a:pPr algn="l" rtl="0" fontAlgn="base"/>
                      <a:r>
                        <a:rPr lang="en-US" sz="1200" b="0" i="0" cap="all">
                          <a:effectLst/>
                          <a:latin typeface="Aptos"/>
                        </a:rPr>
                        <a:t>Unit</a:t>
                      </a:r>
                      <a:r>
                        <a:rPr lang="en-US" sz="1200" b="1" i="0" cap="all">
                          <a:effectLst/>
                          <a:latin typeface="Aptos"/>
                        </a:rPr>
                        <a:t> </a:t>
                      </a:r>
                      <a:endParaRPr lang="en-US" b="1" i="0" cap="all">
                        <a:effectLst/>
                      </a:endParaRPr>
                    </a:p>
                  </a:txBody>
                  <a:tcPr>
                    <a:lnL>
                      <a:noFill/>
                    </a:lnL>
                    <a:lnR>
                      <a:noFill/>
                    </a:lnR>
                    <a:lnT>
                      <a:noFill/>
                    </a:lnT>
                    <a:lnB w="1524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8959157"/>
                  </a:ext>
                </a:extLst>
              </a:tr>
              <a:tr h="152400">
                <a:tc>
                  <a:txBody>
                    <a:bodyPr/>
                    <a:lstStyle/>
                    <a:p>
                      <a:pPr algn="l" rtl="0" fontAlgn="base"/>
                      <a:r>
                        <a:rPr lang="de-DE" sz="1100" b="0" i="0" dirty="0" err="1">
                          <a:effectLst/>
                          <a:latin typeface="Aptos"/>
                        </a:rPr>
                        <a:t>Naxis</a:t>
                      </a:r>
                      <a:r>
                        <a:rPr lang="de-DE" sz="1100" b="0" i="0" dirty="0">
                          <a:effectLst/>
                          <a:latin typeface="Aptos"/>
                        </a:rPr>
                        <a:t>(t) in [0, </a:t>
                      </a:r>
                      <a:r>
                        <a:rPr lang="de-DE" sz="1100" b="0" i="0" dirty="0" err="1">
                          <a:effectLst/>
                          <a:latin typeface="Aptos"/>
                        </a:rPr>
                        <a:t>N</a:t>
                      </a:r>
                      <a:r>
                        <a:rPr lang="de-DE" sz="850" b="0" i="0" baseline="-25000" dirty="0" err="1">
                          <a:effectLst/>
                          <a:latin typeface="Aptos"/>
                        </a:rPr>
                        <a:t>axis</a:t>
                      </a:r>
                      <a:r>
                        <a:rPr lang="de-DE" sz="850" b="0" i="0" baseline="30000" dirty="0" err="1">
                          <a:effectLst/>
                          <a:latin typeface="Aptos"/>
                        </a:rPr>
                        <a:t>max</a:t>
                      </a:r>
                      <a:r>
                        <a:rPr lang="de-DE" sz="1100" b="0" i="0" dirty="0">
                          <a:effectLst/>
                          <a:latin typeface="Aptos"/>
                        </a:rPr>
                        <a:t>] </a:t>
                      </a:r>
                      <a:endParaRPr lang="de-DE" b="0" i="0" dirty="0">
                        <a:effectLst/>
                      </a:endParaRPr>
                    </a:p>
                  </a:txBody>
                  <a:tcPr>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100" b="0" i="0" dirty="0">
                          <a:effectLst/>
                          <a:latin typeface="Aptos"/>
                        </a:rPr>
                        <a:t>Number of appeared </a:t>
                      </a:r>
                      <a:r>
                        <a:rPr lang="en-US" sz="1100" b="0" i="0" dirty="0" err="1">
                          <a:effectLst/>
                          <a:latin typeface="Aptos"/>
                        </a:rPr>
                        <a:t>phytomers</a:t>
                      </a:r>
                      <a:r>
                        <a:rPr lang="en-US" sz="1100" b="0" i="0" dirty="0">
                          <a:effectLst/>
                          <a:latin typeface="Aptos"/>
                        </a:rPr>
                        <a:t> per axis </a:t>
                      </a:r>
                      <a:endParaRPr lang="en-US" b="0" i="0" dirty="0">
                        <a:effectLst/>
                      </a:endParaRPr>
                    </a:p>
                  </a:txBody>
                  <a:tcPr>
                    <a:lnL>
                      <a:noFill/>
                    </a:lnL>
                    <a:lnR>
                      <a:noFill/>
                    </a:lnR>
                    <a:lnT w="15240" cap="flat" cmpd="sng" algn="ctr">
                      <a:solidFill>
                        <a:srgbClr val="000000"/>
                      </a:solidFill>
                      <a:prstDash val="solid"/>
                      <a:round/>
                      <a:headEnd type="none" w="med" len="med"/>
                      <a:tailEnd type="none" w="med" len="med"/>
                    </a:lnT>
                    <a:lnB>
                      <a:noFill/>
                    </a:lnB>
                  </a:tcPr>
                </a:tc>
                <a:tc>
                  <a:txBody>
                    <a:bodyPr/>
                    <a:lstStyle/>
                    <a:p>
                      <a:pPr algn="l" rtl="0" fontAlgn="base"/>
                      <a:r>
                        <a:rPr lang="en-US" sz="1100" b="0" i="0">
                          <a:effectLst/>
                          <a:latin typeface="Aptos"/>
                        </a:rPr>
                        <a:t># phytomers </a:t>
                      </a:r>
                      <a:endParaRPr lang="en-US" b="0" i="0">
                        <a:effectLst/>
                      </a:endParaRPr>
                    </a:p>
                  </a:txBody>
                  <a:tcPr>
                    <a:lnL>
                      <a:noFill/>
                    </a:lnL>
                    <a:lnR>
                      <a:noFill/>
                    </a:lnR>
                    <a:lnT w="1524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009628629"/>
                  </a:ext>
                </a:extLst>
              </a:tr>
              <a:tr h="152400">
                <a:tc>
                  <a:txBody>
                    <a:bodyPr/>
                    <a:lstStyle/>
                    <a:p>
                      <a:pPr algn="l" rtl="0" fontAlgn="base"/>
                      <a:r>
                        <a:rPr lang="de-DE" sz="1100" b="0" i="0">
                          <a:effectLst/>
                          <a:latin typeface="Aptos"/>
                        </a:rPr>
                        <a:t>hi(t) in [0,Hi] </a:t>
                      </a:r>
                      <a:endParaRPr lang="de-DE" b="0" i="0">
                        <a:effectLst/>
                      </a:endParaRPr>
                    </a:p>
                  </a:txBody>
                  <a:tcPr>
                    <a:lnL>
                      <a:noFill/>
                    </a:lnL>
                    <a:lnR>
                      <a:noFill/>
                    </a:lnR>
                    <a:lnT>
                      <a:noFill/>
                    </a:lnT>
                    <a:lnB>
                      <a:noFill/>
                    </a:lnB>
                  </a:tcPr>
                </a:tc>
                <a:tc>
                  <a:txBody>
                    <a:bodyPr/>
                    <a:lstStyle/>
                    <a:p>
                      <a:pPr algn="l" rtl="0" fontAlgn="base"/>
                      <a:r>
                        <a:rPr lang="en-US" sz="1100" b="0" i="0">
                          <a:effectLst/>
                          <a:latin typeface="Aptos"/>
                        </a:rPr>
                        <a:t>Height of an internode I_i </a:t>
                      </a:r>
                      <a:endParaRPr lang="en-US" b="0" i="0">
                        <a:effectLst/>
                      </a:endParaRPr>
                    </a:p>
                  </a:txBody>
                  <a:tcPr>
                    <a:lnL>
                      <a:noFill/>
                    </a:lnL>
                    <a:lnR>
                      <a:noFill/>
                    </a:lnR>
                    <a:lnT>
                      <a:noFill/>
                    </a:lnT>
                    <a:lnB>
                      <a:noFill/>
                    </a:lnB>
                  </a:tcPr>
                </a:tc>
                <a:tc>
                  <a:txBody>
                    <a:bodyPr/>
                    <a:lstStyle/>
                    <a:p>
                      <a:pPr algn="l" rtl="0" fontAlgn="base"/>
                      <a:r>
                        <a:rPr lang="en-US" sz="1100" b="0" i="0">
                          <a:effectLst/>
                          <a:latin typeface="Aptos"/>
                        </a:rPr>
                        <a:t>cm </a:t>
                      </a:r>
                      <a:endParaRPr lang="en-US" b="0" i="0">
                        <a:effectLst/>
                      </a:endParaRPr>
                    </a:p>
                  </a:txBody>
                  <a:tcPr>
                    <a:lnL>
                      <a:noFill/>
                    </a:lnL>
                    <a:lnR>
                      <a:noFill/>
                    </a:lnR>
                    <a:lnT>
                      <a:noFill/>
                    </a:lnT>
                    <a:lnB>
                      <a:noFill/>
                    </a:lnB>
                  </a:tcPr>
                </a:tc>
                <a:extLst>
                  <a:ext uri="{0D108BD9-81ED-4DB2-BD59-A6C34878D82A}">
                    <a16:rowId xmlns:a16="http://schemas.microsoft.com/office/drawing/2014/main" val="3419387515"/>
                  </a:ext>
                </a:extLst>
              </a:tr>
              <a:tr h="152400">
                <a:tc>
                  <a:txBody>
                    <a:bodyPr/>
                    <a:lstStyle/>
                    <a:p>
                      <a:pPr algn="l" rtl="0" fontAlgn="base"/>
                      <a:r>
                        <a:rPr lang="it-IT" sz="1100" b="0" i="0">
                          <a:effectLst/>
                          <a:latin typeface="Aptos"/>
                        </a:rPr>
                        <a:t>di(t) in [0,Di] </a:t>
                      </a:r>
                      <a:endParaRPr lang="it-IT" b="0" i="0">
                        <a:effectLst/>
                      </a:endParaRPr>
                    </a:p>
                  </a:txBody>
                  <a:tcPr>
                    <a:lnL>
                      <a:noFill/>
                    </a:lnL>
                    <a:lnR>
                      <a:noFill/>
                    </a:lnR>
                    <a:lnT>
                      <a:noFill/>
                    </a:lnT>
                    <a:lnB>
                      <a:noFill/>
                    </a:lnB>
                  </a:tcPr>
                </a:tc>
                <a:tc>
                  <a:txBody>
                    <a:bodyPr/>
                    <a:lstStyle/>
                    <a:p>
                      <a:pPr algn="l" rtl="0" fontAlgn="base"/>
                      <a:r>
                        <a:rPr lang="en-US" sz="1100" b="0" i="0">
                          <a:effectLst/>
                          <a:latin typeface="Aptos"/>
                        </a:rPr>
                        <a:t>Diameter of an internode I_i </a:t>
                      </a:r>
                      <a:endParaRPr lang="en-US" b="0" i="0">
                        <a:effectLst/>
                      </a:endParaRPr>
                    </a:p>
                  </a:txBody>
                  <a:tcPr>
                    <a:lnL>
                      <a:noFill/>
                    </a:lnL>
                    <a:lnR>
                      <a:noFill/>
                    </a:lnR>
                    <a:lnT>
                      <a:noFill/>
                    </a:lnT>
                    <a:lnB>
                      <a:noFill/>
                    </a:lnB>
                  </a:tcPr>
                </a:tc>
                <a:tc>
                  <a:txBody>
                    <a:bodyPr/>
                    <a:lstStyle/>
                    <a:p>
                      <a:pPr algn="l" rtl="0" fontAlgn="base"/>
                      <a:r>
                        <a:rPr lang="en-US" sz="1100" b="0" i="0">
                          <a:effectLst/>
                          <a:latin typeface="Aptos"/>
                        </a:rPr>
                        <a:t>cm </a:t>
                      </a:r>
                      <a:endParaRPr lang="en-US" b="0" i="0">
                        <a:effectLst/>
                      </a:endParaRPr>
                    </a:p>
                  </a:txBody>
                  <a:tcPr>
                    <a:lnL>
                      <a:noFill/>
                    </a:lnL>
                    <a:lnR>
                      <a:noFill/>
                    </a:lnR>
                    <a:lnT>
                      <a:noFill/>
                    </a:lnT>
                    <a:lnB>
                      <a:noFill/>
                    </a:lnB>
                  </a:tcPr>
                </a:tc>
                <a:extLst>
                  <a:ext uri="{0D108BD9-81ED-4DB2-BD59-A6C34878D82A}">
                    <a16:rowId xmlns:a16="http://schemas.microsoft.com/office/drawing/2014/main" val="2624303956"/>
                  </a:ext>
                </a:extLst>
              </a:tr>
              <a:tr h="152400">
                <a:tc>
                  <a:txBody>
                    <a:bodyPr/>
                    <a:lstStyle/>
                    <a:p>
                      <a:pPr algn="l" rtl="0" fontAlgn="base"/>
                      <a:r>
                        <a:rPr lang="it-IT" sz="1100" b="0" i="0">
                          <a:effectLst/>
                          <a:latin typeface="Aptos"/>
                        </a:rPr>
                        <a:t>li(t) in [0,Li] </a:t>
                      </a:r>
                      <a:endParaRPr lang="it-IT" b="0" i="0">
                        <a:effectLst/>
                      </a:endParaRPr>
                    </a:p>
                  </a:txBody>
                  <a:tcPr>
                    <a:lnL>
                      <a:noFill/>
                    </a:lnL>
                    <a:lnR>
                      <a:noFill/>
                    </a:lnR>
                    <a:lnT>
                      <a:noFill/>
                    </a:lnT>
                    <a:lnB>
                      <a:noFill/>
                    </a:lnB>
                  </a:tcPr>
                </a:tc>
                <a:tc>
                  <a:txBody>
                    <a:bodyPr/>
                    <a:lstStyle/>
                    <a:p>
                      <a:pPr algn="l" rtl="0" fontAlgn="base"/>
                      <a:r>
                        <a:rPr lang="en-US" sz="1100" b="0" i="0" dirty="0">
                          <a:effectLst/>
                          <a:latin typeface="Aptos"/>
                        </a:rPr>
                        <a:t>Length of a leaf </a:t>
                      </a:r>
                      <a:r>
                        <a:rPr lang="en-US" sz="1100" b="0" i="0" dirty="0" err="1">
                          <a:effectLst/>
                          <a:latin typeface="Aptos"/>
                        </a:rPr>
                        <a:t>L_i</a:t>
                      </a:r>
                      <a:r>
                        <a:rPr lang="en-US" sz="1100" b="0" i="0" dirty="0">
                          <a:effectLst/>
                          <a:latin typeface="Aptos"/>
                        </a:rPr>
                        <a:t> </a:t>
                      </a:r>
                      <a:endParaRPr lang="en-US" b="0" i="0" dirty="0">
                        <a:effectLst/>
                      </a:endParaRPr>
                    </a:p>
                  </a:txBody>
                  <a:tcPr>
                    <a:lnL>
                      <a:noFill/>
                    </a:lnL>
                    <a:lnR>
                      <a:noFill/>
                    </a:lnR>
                    <a:lnT>
                      <a:noFill/>
                    </a:lnT>
                    <a:lnB>
                      <a:noFill/>
                    </a:lnB>
                  </a:tcPr>
                </a:tc>
                <a:tc>
                  <a:txBody>
                    <a:bodyPr/>
                    <a:lstStyle/>
                    <a:p>
                      <a:pPr algn="l" rtl="0" fontAlgn="base"/>
                      <a:r>
                        <a:rPr lang="en-US" sz="1100" b="0" i="0">
                          <a:effectLst/>
                          <a:latin typeface="Aptos"/>
                        </a:rPr>
                        <a:t>cm </a:t>
                      </a:r>
                      <a:endParaRPr lang="en-US" b="0" i="0">
                        <a:effectLst/>
                      </a:endParaRPr>
                    </a:p>
                  </a:txBody>
                  <a:tcPr>
                    <a:lnL>
                      <a:noFill/>
                    </a:lnL>
                    <a:lnR>
                      <a:noFill/>
                    </a:lnR>
                    <a:lnT>
                      <a:noFill/>
                    </a:lnT>
                    <a:lnB>
                      <a:noFill/>
                    </a:lnB>
                  </a:tcPr>
                </a:tc>
                <a:extLst>
                  <a:ext uri="{0D108BD9-81ED-4DB2-BD59-A6C34878D82A}">
                    <a16:rowId xmlns:a16="http://schemas.microsoft.com/office/drawing/2014/main" val="2659736994"/>
                  </a:ext>
                </a:extLst>
              </a:tr>
              <a:tr h="152400">
                <a:tc>
                  <a:txBody>
                    <a:bodyPr/>
                    <a:lstStyle/>
                    <a:p>
                      <a:pPr algn="l" rtl="0" fontAlgn="base"/>
                      <a:r>
                        <a:rPr lang="it-IT" sz="1100" b="0" i="0">
                          <a:effectLst/>
                          <a:latin typeface="Aptos"/>
                        </a:rPr>
                        <a:t>si(t) in [0,Si] </a:t>
                      </a:r>
                      <a:endParaRPr lang="it-IT" b="0" i="0">
                        <a:effectLst/>
                      </a:endParaRPr>
                    </a:p>
                  </a:txBody>
                  <a:tcPr>
                    <a:lnL>
                      <a:noFill/>
                    </a:lnL>
                    <a:lnR>
                      <a:noFill/>
                    </a:lnR>
                    <a:lnT>
                      <a:noFill/>
                    </a:lnT>
                    <a:lnB>
                      <a:noFill/>
                    </a:lnB>
                  </a:tcPr>
                </a:tc>
                <a:tc>
                  <a:txBody>
                    <a:bodyPr/>
                    <a:lstStyle/>
                    <a:p>
                      <a:pPr algn="l" rtl="0" fontAlgn="base"/>
                      <a:r>
                        <a:rPr lang="en-US" sz="1100" b="0" i="0">
                          <a:effectLst/>
                          <a:latin typeface="Aptos"/>
                        </a:rPr>
                        <a:t>Surface of a leaf L_i </a:t>
                      </a:r>
                      <a:endParaRPr lang="en-US" b="0" i="0">
                        <a:effectLst/>
                      </a:endParaRPr>
                    </a:p>
                  </a:txBody>
                  <a:tcPr>
                    <a:lnL>
                      <a:noFill/>
                    </a:lnL>
                    <a:lnR>
                      <a:noFill/>
                    </a:lnR>
                    <a:lnT>
                      <a:noFill/>
                    </a:lnT>
                    <a:lnB>
                      <a:noFill/>
                    </a:lnB>
                  </a:tcPr>
                </a:tc>
                <a:tc>
                  <a:txBody>
                    <a:bodyPr/>
                    <a:lstStyle/>
                    <a:p>
                      <a:pPr algn="l" rtl="0" fontAlgn="base"/>
                      <a:r>
                        <a:rPr lang="en-US" sz="1100" b="0" i="0" dirty="0">
                          <a:effectLst/>
                          <a:latin typeface="Aptos"/>
                        </a:rPr>
                        <a:t>cm² </a:t>
                      </a:r>
                      <a:endParaRPr lang="en-US" b="0" i="0" dirty="0">
                        <a:effectLst/>
                      </a:endParaRPr>
                    </a:p>
                  </a:txBody>
                  <a:tcPr>
                    <a:lnL>
                      <a:noFill/>
                    </a:lnL>
                    <a:lnR>
                      <a:noFill/>
                    </a:lnR>
                    <a:lnT>
                      <a:noFill/>
                    </a:lnT>
                    <a:lnB>
                      <a:noFill/>
                    </a:lnB>
                  </a:tcPr>
                </a:tc>
                <a:extLst>
                  <a:ext uri="{0D108BD9-81ED-4DB2-BD59-A6C34878D82A}">
                    <a16:rowId xmlns:a16="http://schemas.microsoft.com/office/drawing/2014/main" val="1010813351"/>
                  </a:ext>
                </a:extLst>
              </a:tr>
            </a:tbl>
          </a:graphicData>
        </a:graphic>
      </p:graphicFrame>
      <p:sp>
        <p:nvSpPr>
          <p:cNvPr id="6" name="Rectangle 1">
            <a:extLst>
              <a:ext uri="{FF2B5EF4-FFF2-40B4-BE49-F238E27FC236}">
                <a16:creationId xmlns:a16="http://schemas.microsoft.com/office/drawing/2014/main" id="{F1CC18C8-CAEA-4A4F-B52A-4049C79593D1}"/>
              </a:ext>
            </a:extLst>
          </p:cNvPr>
          <p:cNvSpPr>
            <a:spLocks noChangeArrowheads="1"/>
          </p:cNvSpPr>
          <p:nvPr/>
        </p:nvSpPr>
        <p:spPr bwMode="auto">
          <a:xfrm>
            <a:off x="751372" y="4251815"/>
            <a:ext cx="2806346" cy="1846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ptos"/>
                <a:cs typeface="Segoe UI" panose="020B0502040204020203" pitchFamily="34" charset="0"/>
              </a:rPr>
              <a:t> </a:t>
            </a:r>
            <a:r>
              <a:rPr kumimoji="0" lang="en-US" altLang="en-US" sz="1200" b="0" i="1" u="none" strike="noStrike" cap="none" normalizeH="0" baseline="0" dirty="0">
                <a:ln>
                  <a:noFill/>
                </a:ln>
                <a:solidFill>
                  <a:schemeClr val="tx1"/>
                </a:solidFill>
                <a:effectLst/>
                <a:latin typeface="Aptos"/>
                <a:cs typeface="Segoe UI" panose="020B0502040204020203" pitchFamily="34" charset="0"/>
              </a:rPr>
              <a:t>Table 2: Time series as inputs for </a:t>
            </a:r>
            <a:r>
              <a:rPr kumimoji="0" lang="en-US" altLang="en-US" sz="1200" b="0" i="1" u="none" strike="noStrike" cap="none" normalizeH="0" baseline="0" dirty="0" err="1">
                <a:ln>
                  <a:noFill/>
                </a:ln>
                <a:solidFill>
                  <a:schemeClr val="tx1"/>
                </a:solidFill>
                <a:effectLst/>
                <a:latin typeface="Aptos"/>
                <a:cs typeface="Segoe UI" panose="020B0502040204020203" pitchFamily="34" charset="0"/>
              </a:rPr>
              <a:t>ArchiCrop</a:t>
            </a:r>
            <a:r>
              <a:rPr kumimoji="0" lang="en-US" altLang="en-US" sz="1200" b="0" i="1" u="none" strike="noStrike" cap="none" normalizeH="0" baseline="0" dirty="0">
                <a:ln>
                  <a:noFill/>
                </a:ln>
                <a:solidFill>
                  <a:schemeClr val="tx1"/>
                </a:solidFill>
                <a:effectLst/>
                <a:latin typeface="Aptos"/>
                <a:cs typeface="Segoe UI" panose="020B0502040204020203" pitchFamily="34" charset="0"/>
              </a:rPr>
              <a:t>.</a:t>
            </a:r>
            <a:r>
              <a:rPr kumimoji="0" lang="en-US" altLang="en-US" sz="1200" b="0" i="0" u="none" strike="noStrike" cap="none" normalizeH="0" baseline="0" dirty="0">
                <a:ln>
                  <a:noFill/>
                </a:ln>
                <a:solidFill>
                  <a:schemeClr val="tx1"/>
                </a:solidFill>
                <a:effectLst/>
                <a:latin typeface="Aptos"/>
                <a:cs typeface="Segoe UI" panose="020B0502040204020203"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F800002B-EAFB-4827-9E8D-0FA841AFF799}"/>
              </a:ext>
            </a:extLst>
          </p:cNvPr>
          <p:cNvSpPr>
            <a:spLocks noChangeArrowheads="1"/>
          </p:cNvSpPr>
          <p:nvPr/>
        </p:nvSpPr>
        <p:spPr bwMode="auto">
          <a:xfrm>
            <a:off x="6714286" y="4251815"/>
            <a:ext cx="4507003" cy="1846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ptos"/>
                <a:cs typeface="Segoe UI" panose="020B0502040204020203" pitchFamily="34" charset="0"/>
              </a:rPr>
              <a:t>Table 3: Variables to compute for each appeared </a:t>
            </a:r>
            <a:r>
              <a:rPr kumimoji="0" lang="en-US" altLang="en-US" sz="1200" b="0" i="1" u="none" strike="noStrike" cap="none" normalizeH="0" baseline="0" dirty="0" err="1">
                <a:ln>
                  <a:noFill/>
                </a:ln>
                <a:solidFill>
                  <a:schemeClr val="tx1"/>
                </a:solidFill>
                <a:effectLst/>
                <a:latin typeface="Aptos"/>
                <a:cs typeface="Segoe UI" panose="020B0502040204020203" pitchFamily="34" charset="0"/>
              </a:rPr>
              <a:t>phytomer</a:t>
            </a:r>
            <a:r>
              <a:rPr kumimoji="0" lang="en-US" altLang="en-US" sz="1200" b="0" i="1" u="none" strike="noStrike" cap="none" normalizeH="0" baseline="0" dirty="0">
                <a:ln>
                  <a:noFill/>
                </a:ln>
                <a:solidFill>
                  <a:schemeClr val="tx1"/>
                </a:solidFill>
                <a:effectLst/>
                <a:latin typeface="Aptos"/>
                <a:cs typeface="Segoe UI" panose="020B0502040204020203" pitchFamily="34" charset="0"/>
              </a:rPr>
              <a:t> in </a:t>
            </a:r>
            <a:r>
              <a:rPr kumimoji="0" lang="en-US" altLang="en-US" sz="1200" b="0" i="1" u="none" strike="noStrike" cap="none" normalizeH="0" baseline="0" dirty="0" err="1">
                <a:ln>
                  <a:noFill/>
                </a:ln>
                <a:solidFill>
                  <a:schemeClr val="tx1"/>
                </a:solidFill>
                <a:effectLst/>
                <a:latin typeface="Aptos"/>
                <a:cs typeface="Segoe UI" panose="020B0502040204020203" pitchFamily="34" charset="0"/>
              </a:rPr>
              <a:t>ArchiCrop</a:t>
            </a:r>
            <a:r>
              <a:rPr kumimoji="0" lang="en-US" altLang="en-US" sz="1200" b="0" i="1" u="none" strike="noStrike" cap="none" normalizeH="0" baseline="0" dirty="0">
                <a:ln>
                  <a:noFill/>
                </a:ln>
                <a:solidFill>
                  <a:schemeClr val="tx1"/>
                </a:solidFill>
                <a:effectLst/>
                <a:latin typeface="Aptos"/>
                <a:cs typeface="Segoe UI" panose="020B0502040204020203" pitchFamily="34" charset="0"/>
              </a:rPr>
              <a:t>.</a:t>
            </a:r>
            <a:r>
              <a:rPr kumimoji="0" lang="en-US" altLang="en-US" sz="1200" b="0" i="0" u="none" strike="noStrike" cap="none" normalizeH="0" baseline="0" dirty="0">
                <a:ln>
                  <a:noFill/>
                </a:ln>
                <a:solidFill>
                  <a:schemeClr val="tx1"/>
                </a:solidFill>
                <a:effectLst/>
                <a:latin typeface="Aptos"/>
                <a:cs typeface="Segoe UI" panose="020B0502040204020203"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Slide Number Placeholder 7">
            <a:extLst>
              <a:ext uri="{FF2B5EF4-FFF2-40B4-BE49-F238E27FC236}">
                <a16:creationId xmlns:a16="http://schemas.microsoft.com/office/drawing/2014/main" id="{C6C7A894-DDEB-4B83-9D43-1EC4D151F322}"/>
              </a:ext>
            </a:extLst>
          </p:cNvPr>
          <p:cNvSpPr>
            <a:spLocks noGrp="1"/>
          </p:cNvSpPr>
          <p:nvPr>
            <p:ph type="sldNum" sz="quarter" idx="12"/>
          </p:nvPr>
        </p:nvSpPr>
        <p:spPr/>
        <p:txBody>
          <a:bodyPr/>
          <a:lstStyle/>
          <a:p>
            <a:fld id="{4D0921BC-FC9B-4B20-AD4C-0D7EEBC2A9A8}" type="slidenum">
              <a:rPr lang="en-US" smtClean="0"/>
              <a:t>12</a:t>
            </a:fld>
            <a:endParaRPr lang="en-US"/>
          </a:p>
        </p:txBody>
      </p:sp>
    </p:spTree>
    <p:extLst>
      <p:ext uri="{BB962C8B-B14F-4D97-AF65-F5344CB8AC3E}">
        <p14:creationId xmlns:p14="http://schemas.microsoft.com/office/powerpoint/2010/main" val="2737600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6B6E3D33-A856-41CB-96D7-16B6D8955FF2}"/>
              </a:ext>
            </a:extLst>
          </p:cNvPr>
          <p:cNvGrpSpPr/>
          <p:nvPr/>
        </p:nvGrpSpPr>
        <p:grpSpPr>
          <a:xfrm>
            <a:off x="2933658" y="907004"/>
            <a:ext cx="5908275" cy="4785839"/>
            <a:chOff x="330201" y="672982"/>
            <a:chExt cx="7251699" cy="5874044"/>
          </a:xfrm>
        </p:grpSpPr>
        <p:grpSp>
          <p:nvGrpSpPr>
            <p:cNvPr id="34" name="Group 33">
              <a:extLst>
                <a:ext uri="{FF2B5EF4-FFF2-40B4-BE49-F238E27FC236}">
                  <a16:creationId xmlns:a16="http://schemas.microsoft.com/office/drawing/2014/main" id="{FE080D43-3FFA-4444-93B2-3D23ECB238C0}"/>
                </a:ext>
              </a:extLst>
            </p:cNvPr>
            <p:cNvGrpSpPr/>
            <p:nvPr/>
          </p:nvGrpSpPr>
          <p:grpSpPr>
            <a:xfrm>
              <a:off x="330201" y="672982"/>
              <a:ext cx="7251699" cy="5512036"/>
              <a:chOff x="559294" y="97653"/>
              <a:chExt cx="8899133" cy="6764255"/>
            </a:xfrm>
          </p:grpSpPr>
          <p:pic>
            <p:nvPicPr>
              <p:cNvPr id="37" name="Picture 36">
                <a:extLst>
                  <a:ext uri="{FF2B5EF4-FFF2-40B4-BE49-F238E27FC236}">
                    <a16:creationId xmlns:a16="http://schemas.microsoft.com/office/drawing/2014/main" id="{13361C38-CC8E-4624-AB15-A7CE03D36719}"/>
                  </a:ext>
                </a:extLst>
              </p:cNvPr>
              <p:cNvPicPr>
                <a:picLocks noChangeAspect="1"/>
              </p:cNvPicPr>
              <p:nvPr/>
            </p:nvPicPr>
            <p:blipFill rotWithShape="1">
              <a:blip r:embed="rId2">
                <a:extLst>
                  <a:ext uri="{28A0092B-C50C-407E-A947-70E740481C1C}">
                    <a14:useLocalDpi xmlns:a14="http://schemas.microsoft.com/office/drawing/2010/main" val="0"/>
                  </a:ext>
                </a:extLst>
              </a:blip>
              <a:srcRect t="1422" r="1793" b="1"/>
              <a:stretch/>
            </p:blipFill>
            <p:spPr>
              <a:xfrm>
                <a:off x="559294" y="97653"/>
                <a:ext cx="8637971" cy="6764255"/>
              </a:xfrm>
              <a:prstGeom prst="rect">
                <a:avLst/>
              </a:prstGeom>
            </p:spPr>
          </p:pic>
          <p:pic>
            <p:nvPicPr>
              <p:cNvPr id="38" name="Picture 37">
                <a:extLst>
                  <a:ext uri="{FF2B5EF4-FFF2-40B4-BE49-F238E27FC236}">
                    <a16:creationId xmlns:a16="http://schemas.microsoft.com/office/drawing/2014/main" id="{BF51BB4A-7345-4968-B57A-E74413C76C05}"/>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7137"/>
              <a:stretch/>
            </p:blipFill>
            <p:spPr>
              <a:xfrm>
                <a:off x="7131955" y="1180731"/>
                <a:ext cx="2326472" cy="4643025"/>
              </a:xfrm>
              <a:prstGeom prst="rect">
                <a:avLst/>
              </a:prstGeom>
            </p:spPr>
          </p:pic>
          <p:pic>
            <p:nvPicPr>
              <p:cNvPr id="39" name="Picture 38">
                <a:extLst>
                  <a:ext uri="{FF2B5EF4-FFF2-40B4-BE49-F238E27FC236}">
                    <a16:creationId xmlns:a16="http://schemas.microsoft.com/office/drawing/2014/main" id="{D2359D87-0997-4765-8BEC-031402E45642}"/>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b="11429"/>
              <a:stretch/>
            </p:blipFill>
            <p:spPr>
              <a:xfrm>
                <a:off x="4061069" y="3863751"/>
                <a:ext cx="1400234" cy="1968881"/>
              </a:xfrm>
              <a:prstGeom prst="rect">
                <a:avLst/>
              </a:prstGeom>
            </p:spPr>
          </p:pic>
          <p:pic>
            <p:nvPicPr>
              <p:cNvPr id="40" name="Picture 39">
                <a:extLst>
                  <a:ext uri="{FF2B5EF4-FFF2-40B4-BE49-F238E27FC236}">
                    <a16:creationId xmlns:a16="http://schemas.microsoft.com/office/drawing/2014/main" id="{FD218336-E0EB-48C6-A808-A568CDCFC61E}"/>
                  </a:ext>
                </a:extLst>
              </p:cNvPr>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b="15454"/>
              <a:stretch/>
            </p:blipFill>
            <p:spPr>
              <a:xfrm>
                <a:off x="2941929" y="5504155"/>
                <a:ext cx="335507" cy="310718"/>
              </a:xfrm>
              <a:prstGeom prst="rect">
                <a:avLst/>
              </a:prstGeom>
            </p:spPr>
          </p:pic>
          <p:cxnSp>
            <p:nvCxnSpPr>
              <p:cNvPr id="41" name="Straight Connector 40">
                <a:extLst>
                  <a:ext uri="{FF2B5EF4-FFF2-40B4-BE49-F238E27FC236}">
                    <a16:creationId xmlns:a16="http://schemas.microsoft.com/office/drawing/2014/main" id="{3B7EFE64-FD37-433B-8C4E-4D123D1E8261}"/>
                  </a:ext>
                </a:extLst>
              </p:cNvPr>
              <p:cNvCxnSpPr>
                <a:cxnSpLocks/>
              </p:cNvCxnSpPr>
              <p:nvPr/>
            </p:nvCxnSpPr>
            <p:spPr>
              <a:xfrm flipH="1">
                <a:off x="5406499" y="2113645"/>
                <a:ext cx="1003179" cy="0"/>
              </a:xfrm>
              <a:prstGeom prst="line">
                <a:avLst/>
              </a:prstGeom>
              <a:ln w="38100">
                <a:solidFill>
                  <a:srgbClr val="F39200"/>
                </a:solidFill>
                <a:prstDash val="soli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1D08354-B13A-4524-8913-3096AB9B577E}"/>
                  </a:ext>
                </a:extLst>
              </p:cNvPr>
              <p:cNvCxnSpPr>
                <a:cxnSpLocks/>
              </p:cNvCxnSpPr>
              <p:nvPr/>
            </p:nvCxnSpPr>
            <p:spPr>
              <a:xfrm flipV="1">
                <a:off x="5406499" y="2113645"/>
                <a:ext cx="0" cy="1651015"/>
              </a:xfrm>
              <a:prstGeom prst="line">
                <a:avLst/>
              </a:prstGeom>
              <a:ln w="38100">
                <a:solidFill>
                  <a:srgbClr val="F39200"/>
                </a:solidFill>
                <a:prstDash val="soli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1BDC154-C2B8-442B-9FFF-99FFF6871942}"/>
                  </a:ext>
                </a:extLst>
              </p:cNvPr>
              <p:cNvSpPr txBox="1"/>
              <p:nvPr/>
            </p:nvSpPr>
            <p:spPr>
              <a:xfrm>
                <a:off x="4508956" y="2619366"/>
                <a:ext cx="810305" cy="556294"/>
              </a:xfrm>
              <a:prstGeom prst="rect">
                <a:avLst/>
              </a:prstGeom>
              <a:noFill/>
            </p:spPr>
            <p:txBody>
              <a:bodyPr wrap="square" rtlCol="0">
                <a:spAutoFit/>
              </a:bodyPr>
              <a:lstStyle/>
              <a:p>
                <a:r>
                  <a:rPr lang="en-US" dirty="0" err="1">
                    <a:solidFill>
                      <a:srgbClr val="F39200"/>
                    </a:solidFill>
                  </a:rPr>
                  <a:t>dLA</a:t>
                </a:r>
                <a:endParaRPr lang="en-US" dirty="0">
                  <a:solidFill>
                    <a:srgbClr val="F39200"/>
                  </a:solidFill>
                </a:endParaRPr>
              </a:p>
            </p:txBody>
          </p:sp>
          <p:sp>
            <p:nvSpPr>
              <p:cNvPr id="44" name="TextBox 43">
                <a:extLst>
                  <a:ext uri="{FF2B5EF4-FFF2-40B4-BE49-F238E27FC236}">
                    <a16:creationId xmlns:a16="http://schemas.microsoft.com/office/drawing/2014/main" id="{DF729C75-891D-4A06-9EBC-50247FF1E85F}"/>
                  </a:ext>
                </a:extLst>
              </p:cNvPr>
              <p:cNvSpPr txBox="1"/>
              <p:nvPr/>
            </p:nvSpPr>
            <p:spPr>
              <a:xfrm>
                <a:off x="5605643" y="1558141"/>
                <a:ext cx="1003178" cy="672900"/>
              </a:xfrm>
              <a:prstGeom prst="rect">
                <a:avLst/>
              </a:prstGeom>
              <a:noFill/>
            </p:spPr>
            <p:txBody>
              <a:bodyPr wrap="square" rtlCol="0">
                <a:spAutoFit/>
              </a:bodyPr>
              <a:lstStyle/>
              <a:p>
                <a:r>
                  <a:rPr lang="en-US" dirty="0">
                    <a:solidFill>
                      <a:srgbClr val="F39200"/>
                    </a:solidFill>
                  </a:rPr>
                  <a:t>dt</a:t>
                </a:r>
              </a:p>
            </p:txBody>
          </p:sp>
          <p:grpSp>
            <p:nvGrpSpPr>
              <p:cNvPr id="45" name="Group 44">
                <a:extLst>
                  <a:ext uri="{FF2B5EF4-FFF2-40B4-BE49-F238E27FC236}">
                    <a16:creationId xmlns:a16="http://schemas.microsoft.com/office/drawing/2014/main" id="{ED29D493-9FCE-4EDA-87ED-CDCCD1CA3579}"/>
                  </a:ext>
                </a:extLst>
              </p:cNvPr>
              <p:cNvGrpSpPr/>
              <p:nvPr/>
            </p:nvGrpSpPr>
            <p:grpSpPr>
              <a:xfrm>
                <a:off x="5433038" y="2330132"/>
                <a:ext cx="2237270" cy="3570468"/>
                <a:chOff x="6569380" y="2330132"/>
                <a:chExt cx="2237270" cy="3570468"/>
              </a:xfrm>
            </p:grpSpPr>
            <p:pic>
              <p:nvPicPr>
                <p:cNvPr id="46" name="Picture 45">
                  <a:extLst>
                    <a:ext uri="{FF2B5EF4-FFF2-40B4-BE49-F238E27FC236}">
                      <a16:creationId xmlns:a16="http://schemas.microsoft.com/office/drawing/2014/main" id="{8A29D6B2-E0B1-4027-BEA1-8FB5D62C5991}"/>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29568" y="3378161"/>
                  <a:ext cx="1729890" cy="2522439"/>
                </a:xfrm>
                <a:prstGeom prst="rect">
                  <a:avLst/>
                </a:prstGeom>
              </p:spPr>
            </p:pic>
            <p:pic>
              <p:nvPicPr>
                <p:cNvPr id="47" name="Picture 46">
                  <a:extLst>
                    <a:ext uri="{FF2B5EF4-FFF2-40B4-BE49-F238E27FC236}">
                      <a16:creationId xmlns:a16="http://schemas.microsoft.com/office/drawing/2014/main" id="{1E4FFBE8-24AF-491F-907B-4D614DE076C6}"/>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9380" y="2330132"/>
                  <a:ext cx="2237270" cy="1434528"/>
                </a:xfrm>
                <a:prstGeom prst="rect">
                  <a:avLst/>
                </a:prstGeom>
              </p:spPr>
            </p:pic>
          </p:grpSp>
        </p:grpSp>
        <p:sp>
          <p:nvSpPr>
            <p:cNvPr id="35" name="TextBox 34">
              <a:extLst>
                <a:ext uri="{FF2B5EF4-FFF2-40B4-BE49-F238E27FC236}">
                  <a16:creationId xmlns:a16="http://schemas.microsoft.com/office/drawing/2014/main" id="{C0D28AE9-9A55-40B2-80EF-6F215BB620BF}"/>
                </a:ext>
              </a:extLst>
            </p:cNvPr>
            <p:cNvSpPr txBox="1"/>
            <p:nvPr/>
          </p:nvSpPr>
          <p:spPr>
            <a:xfrm>
              <a:off x="1810136" y="5716029"/>
              <a:ext cx="5029200" cy="830997"/>
            </a:xfrm>
            <a:prstGeom prst="rect">
              <a:avLst/>
            </a:prstGeom>
            <a:solidFill>
              <a:schemeClr val="bg1"/>
            </a:solidFill>
          </p:spPr>
          <p:txBody>
            <a:bodyPr wrap="square" rtlCol="0">
              <a:spAutoFit/>
            </a:bodyPr>
            <a:lstStyle/>
            <a:p>
              <a:pPr algn="ctr"/>
              <a:r>
                <a:rPr lang="fr-FR" sz="2400" dirty="0"/>
                <a:t>Thermal time (°</a:t>
              </a:r>
              <a:r>
                <a:rPr lang="fr-FR" sz="2400" dirty="0" err="1"/>
                <a:t>C.d</a:t>
              </a:r>
              <a:r>
                <a:rPr lang="fr-FR" sz="2400" dirty="0"/>
                <a:t>)</a:t>
              </a:r>
            </a:p>
            <a:p>
              <a:pPr algn="ctr"/>
              <a:endParaRPr lang="en-US" sz="2400" dirty="0"/>
            </a:p>
          </p:txBody>
        </p:sp>
        <p:sp>
          <p:nvSpPr>
            <p:cNvPr id="36" name="TextBox 35">
              <a:extLst>
                <a:ext uri="{FF2B5EF4-FFF2-40B4-BE49-F238E27FC236}">
                  <a16:creationId xmlns:a16="http://schemas.microsoft.com/office/drawing/2014/main" id="{72AAD72B-9A4C-4D1E-8E87-B95E8792C13A}"/>
                </a:ext>
              </a:extLst>
            </p:cNvPr>
            <p:cNvSpPr txBox="1"/>
            <p:nvPr/>
          </p:nvSpPr>
          <p:spPr>
            <a:xfrm rot="16200000">
              <a:off x="-617084" y="2858528"/>
              <a:ext cx="2356236" cy="461665"/>
            </a:xfrm>
            <a:prstGeom prst="rect">
              <a:avLst/>
            </a:prstGeom>
            <a:solidFill>
              <a:schemeClr val="bg1"/>
            </a:solidFill>
          </p:spPr>
          <p:txBody>
            <a:bodyPr wrap="square" rtlCol="0">
              <a:spAutoFit/>
            </a:bodyPr>
            <a:lstStyle/>
            <a:p>
              <a:pPr algn="ctr"/>
              <a:r>
                <a:rPr lang="fr-FR" sz="2400" dirty="0"/>
                <a:t>LAI</a:t>
              </a:r>
            </a:p>
          </p:txBody>
        </p:sp>
      </p:grpSp>
      <p:sp>
        <p:nvSpPr>
          <p:cNvPr id="3" name="Content Placeholder 2">
            <a:extLst>
              <a:ext uri="{FF2B5EF4-FFF2-40B4-BE49-F238E27FC236}">
                <a16:creationId xmlns:a16="http://schemas.microsoft.com/office/drawing/2014/main" id="{4EA2E979-0E63-4C44-94AA-C6C0E874EC51}"/>
              </a:ext>
            </a:extLst>
          </p:cNvPr>
          <p:cNvSpPr>
            <a:spLocks noGrp="1"/>
          </p:cNvSpPr>
          <p:nvPr>
            <p:ph idx="1"/>
          </p:nvPr>
        </p:nvSpPr>
        <p:spPr>
          <a:xfrm>
            <a:off x="838200" y="5692843"/>
            <a:ext cx="10515600" cy="847159"/>
          </a:xfrm>
        </p:spPr>
        <p:txBody>
          <a:bodyPr>
            <a:normAutofit lnSpcReduction="10000"/>
          </a:bodyPr>
          <a:lstStyle/>
          <a:p>
            <a:pPr marL="0" indent="0" algn="ctr">
              <a:buNone/>
            </a:pPr>
            <a:r>
              <a:rPr lang="en-US" altLang="en-US" i="1" dirty="0">
                <a:latin typeface="Aptos"/>
                <a:cs typeface="Segoe UI" panose="020B0502040204020203" pitchFamily="34" charset="0"/>
              </a:rPr>
              <a:t>Figure: Distribution of growth within a plant from crop model growth dynamics (+ add senescence)</a:t>
            </a:r>
            <a:endParaRPr lang="en-US" dirty="0"/>
          </a:p>
        </p:txBody>
      </p:sp>
      <p:sp>
        <p:nvSpPr>
          <p:cNvPr id="4" name="Slide Number Placeholder 3">
            <a:extLst>
              <a:ext uri="{FF2B5EF4-FFF2-40B4-BE49-F238E27FC236}">
                <a16:creationId xmlns:a16="http://schemas.microsoft.com/office/drawing/2014/main" id="{538FB113-A706-4254-BC47-354DC6FD0EA1}"/>
              </a:ext>
            </a:extLst>
          </p:cNvPr>
          <p:cNvSpPr>
            <a:spLocks noGrp="1"/>
          </p:cNvSpPr>
          <p:nvPr>
            <p:ph type="sldNum" sz="quarter" idx="12"/>
          </p:nvPr>
        </p:nvSpPr>
        <p:spPr/>
        <p:txBody>
          <a:bodyPr/>
          <a:lstStyle/>
          <a:p>
            <a:fld id="{4D0921BC-FC9B-4B20-AD4C-0D7EEBC2A9A8}" type="slidenum">
              <a:rPr lang="en-US" smtClean="0"/>
              <a:t>13</a:t>
            </a:fld>
            <a:endParaRPr lang="en-US"/>
          </a:p>
        </p:txBody>
      </p:sp>
      <p:sp>
        <p:nvSpPr>
          <p:cNvPr id="5" name="TextBox 4">
            <a:extLst>
              <a:ext uri="{FF2B5EF4-FFF2-40B4-BE49-F238E27FC236}">
                <a16:creationId xmlns:a16="http://schemas.microsoft.com/office/drawing/2014/main" id="{E77FC77C-B2EF-4270-8B6D-B2170A1A81B3}"/>
              </a:ext>
            </a:extLst>
          </p:cNvPr>
          <p:cNvSpPr txBox="1"/>
          <p:nvPr/>
        </p:nvSpPr>
        <p:spPr>
          <a:xfrm>
            <a:off x="9384162" y="2265220"/>
            <a:ext cx="2073804" cy="1200329"/>
          </a:xfrm>
          <a:prstGeom prst="rect">
            <a:avLst/>
          </a:prstGeom>
          <a:noFill/>
        </p:spPr>
        <p:txBody>
          <a:bodyPr wrap="square" rtlCol="0">
            <a:spAutoFit/>
          </a:bodyPr>
          <a:lstStyle/>
          <a:p>
            <a:r>
              <a:rPr lang="en-US" dirty="0"/>
              <a:t>Vector field or local interpolation to have a continuous variation </a:t>
            </a:r>
            <a:r>
              <a:rPr lang="en-US" dirty="0" err="1"/>
              <a:t>dLA</a:t>
            </a:r>
            <a:r>
              <a:rPr lang="en-US" dirty="0"/>
              <a:t>/dt</a:t>
            </a:r>
          </a:p>
        </p:txBody>
      </p:sp>
    </p:spTree>
    <p:extLst>
      <p:ext uri="{BB962C8B-B14F-4D97-AF65-F5344CB8AC3E}">
        <p14:creationId xmlns:p14="http://schemas.microsoft.com/office/powerpoint/2010/main" val="1973975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BCD52-D243-4724-88CC-60BDA8119A12}"/>
              </a:ext>
            </a:extLst>
          </p:cNvPr>
          <p:cNvSpPr>
            <a:spLocks noGrp="1"/>
          </p:cNvSpPr>
          <p:nvPr>
            <p:ph type="title"/>
          </p:nvPr>
        </p:nvSpPr>
        <p:spPr/>
        <p:txBody>
          <a:bodyPr/>
          <a:lstStyle/>
          <a:p>
            <a:r>
              <a:rPr lang="en-US" dirty="0"/>
              <a:t>2.Model</a:t>
            </a:r>
          </a:p>
        </p:txBody>
      </p:sp>
      <p:sp>
        <p:nvSpPr>
          <p:cNvPr id="3" name="Content Placeholder 2">
            <a:extLst>
              <a:ext uri="{FF2B5EF4-FFF2-40B4-BE49-F238E27FC236}">
                <a16:creationId xmlns:a16="http://schemas.microsoft.com/office/drawing/2014/main" id="{5B9DE176-8A0B-4E08-B15C-E54CA725E5E2}"/>
              </a:ext>
            </a:extLst>
          </p:cNvPr>
          <p:cNvSpPr>
            <a:spLocks noGrp="1"/>
          </p:cNvSpPr>
          <p:nvPr>
            <p:ph idx="1"/>
          </p:nvPr>
        </p:nvSpPr>
        <p:spPr>
          <a:xfrm>
            <a:off x="838200" y="1825625"/>
            <a:ext cx="10515600" cy="4667250"/>
          </a:xfrm>
        </p:spPr>
        <p:txBody>
          <a:bodyPr>
            <a:normAutofit/>
          </a:bodyPr>
          <a:lstStyle/>
          <a:p>
            <a:pPr marL="0" lvl="0" indent="0">
              <a:buNone/>
            </a:pPr>
            <a:r>
              <a:rPr lang="fr-FR" dirty="0">
                <a:solidFill>
                  <a:prstClr val="black"/>
                </a:solidFill>
              </a:rPr>
              <a:t>2.5.Implementation</a:t>
            </a:r>
          </a:p>
          <a:p>
            <a:pPr lvl="1"/>
            <a:r>
              <a:rPr lang="fr-FR" dirty="0">
                <a:solidFill>
                  <a:prstClr val="black"/>
                </a:solidFill>
              </a:rPr>
              <a:t>Python</a:t>
            </a:r>
          </a:p>
          <a:p>
            <a:pPr lvl="1"/>
            <a:r>
              <a:rPr lang="fr-FR" dirty="0" err="1">
                <a:solidFill>
                  <a:prstClr val="black"/>
                </a:solidFill>
              </a:rPr>
              <a:t>OpenAlea</a:t>
            </a:r>
            <a:endParaRPr lang="fr-FR" dirty="0">
              <a:solidFill>
                <a:prstClr val="black"/>
              </a:solidFill>
            </a:endParaRPr>
          </a:p>
          <a:p>
            <a:pPr lvl="1"/>
            <a:r>
              <a:rPr lang="fr-FR" dirty="0">
                <a:solidFill>
                  <a:prstClr val="black"/>
                </a:solidFill>
              </a:rPr>
              <a:t>GitHub repo</a:t>
            </a:r>
          </a:p>
          <a:p>
            <a:pPr marL="0" indent="0">
              <a:buNone/>
            </a:pPr>
            <a:endParaRPr lang="en-US" dirty="0"/>
          </a:p>
        </p:txBody>
      </p:sp>
      <p:sp>
        <p:nvSpPr>
          <p:cNvPr id="20" name="Slide Number Placeholder 19">
            <a:extLst>
              <a:ext uri="{FF2B5EF4-FFF2-40B4-BE49-F238E27FC236}">
                <a16:creationId xmlns:a16="http://schemas.microsoft.com/office/drawing/2014/main" id="{8DD128E8-68CF-41B2-8048-81A3AAAA754E}"/>
              </a:ext>
            </a:extLst>
          </p:cNvPr>
          <p:cNvSpPr>
            <a:spLocks noGrp="1"/>
          </p:cNvSpPr>
          <p:nvPr>
            <p:ph type="sldNum" sz="quarter" idx="12"/>
          </p:nvPr>
        </p:nvSpPr>
        <p:spPr/>
        <p:txBody>
          <a:bodyPr/>
          <a:lstStyle/>
          <a:p>
            <a:fld id="{4D0921BC-FC9B-4B20-AD4C-0D7EEBC2A9A8}" type="slidenum">
              <a:rPr lang="en-US" smtClean="0"/>
              <a:t>14</a:t>
            </a:fld>
            <a:endParaRPr lang="en-US"/>
          </a:p>
        </p:txBody>
      </p:sp>
    </p:spTree>
    <p:extLst>
      <p:ext uri="{BB962C8B-B14F-4D97-AF65-F5344CB8AC3E}">
        <p14:creationId xmlns:p14="http://schemas.microsoft.com/office/powerpoint/2010/main" val="2673920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1DC49E-DCD3-4730-9D88-B42A66CE9156}"/>
              </a:ext>
            </a:extLst>
          </p:cNvPr>
          <p:cNvSpPr>
            <a:spLocks noGrp="1"/>
          </p:cNvSpPr>
          <p:nvPr>
            <p:ph idx="1"/>
          </p:nvPr>
        </p:nvSpPr>
        <p:spPr>
          <a:xfrm>
            <a:off x="838200" y="1500811"/>
            <a:ext cx="7071804" cy="4500492"/>
          </a:xfrm>
        </p:spPr>
        <p:txBody>
          <a:bodyPr>
            <a:normAutofit/>
          </a:bodyPr>
          <a:lstStyle/>
          <a:p>
            <a:pPr marL="0" indent="0">
              <a:buNone/>
            </a:pPr>
            <a:r>
              <a:rPr lang="fr-FR" dirty="0"/>
              <a:t>3.1.Generate </a:t>
            </a:r>
            <a:r>
              <a:rPr lang="fr-FR" dirty="0" err="1"/>
              <a:t>various</a:t>
            </a:r>
            <a:r>
              <a:rPr lang="fr-FR" dirty="0"/>
              <a:t> </a:t>
            </a:r>
            <a:r>
              <a:rPr lang="fr-FR" dirty="0" err="1"/>
              <a:t>species</a:t>
            </a:r>
            <a:r>
              <a:rPr lang="fr-FR" dirty="0"/>
              <a:t> and </a:t>
            </a:r>
            <a:r>
              <a:rPr lang="fr-FR" dirty="0" err="1"/>
              <a:t>varieties</a:t>
            </a:r>
            <a:endParaRPr lang="fr-FR" dirty="0"/>
          </a:p>
          <a:p>
            <a:pPr lvl="1"/>
            <a:r>
              <a:rPr lang="en-US" dirty="0"/>
              <a:t>Reproduce pictures with model for different species (sorghum, maize, wheat and rice ?)</a:t>
            </a:r>
          </a:p>
          <a:p>
            <a:pPr marL="0" indent="0">
              <a:buNone/>
            </a:pPr>
            <a:endParaRPr lang="en-US" dirty="0"/>
          </a:p>
          <a:p>
            <a:pPr lvl="1"/>
            <a:r>
              <a:rPr lang="en-US" dirty="0" err="1"/>
              <a:t>Morphospaces</a:t>
            </a:r>
            <a:r>
              <a:rPr lang="en-US" dirty="0"/>
              <a:t> (2D) according to degrees of freedom within species-specific ranges: </a:t>
            </a:r>
          </a:p>
          <a:p>
            <a:pPr lvl="3"/>
            <a:r>
              <a:rPr lang="en-US" dirty="0"/>
              <a:t>number of </a:t>
            </a:r>
            <a:r>
              <a:rPr lang="en-US" dirty="0" err="1"/>
              <a:t>phytomers</a:t>
            </a:r>
            <a:endParaRPr lang="en-US" dirty="0"/>
          </a:p>
          <a:p>
            <a:pPr lvl="3"/>
            <a:r>
              <a:rPr lang="en-US" dirty="0"/>
              <a:t>longest leaf length</a:t>
            </a:r>
          </a:p>
          <a:p>
            <a:pPr lvl="3"/>
            <a:r>
              <a:rPr lang="en-US" dirty="0"/>
              <a:t>leaf width-to-length ratio</a:t>
            </a:r>
          </a:p>
          <a:p>
            <a:pPr lvl="3"/>
            <a:r>
              <a:rPr lang="en-US" dirty="0"/>
              <a:t>phyllotaxy</a:t>
            </a:r>
          </a:p>
          <a:p>
            <a:pPr lvl="3"/>
            <a:r>
              <a:rPr lang="en-US" dirty="0"/>
              <a:t>insertion angle</a:t>
            </a:r>
          </a:p>
          <a:p>
            <a:pPr lvl="3"/>
            <a:r>
              <a:rPr lang="en-US" dirty="0"/>
              <a:t>leaf curvature </a:t>
            </a:r>
          </a:p>
        </p:txBody>
      </p:sp>
      <p:pic>
        <p:nvPicPr>
          <p:cNvPr id="5" name="Picture 4">
            <a:extLst>
              <a:ext uri="{FF2B5EF4-FFF2-40B4-BE49-F238E27FC236}">
                <a16:creationId xmlns:a16="http://schemas.microsoft.com/office/drawing/2014/main" id="{6044783E-DD78-4992-A91C-C08A4B53DBDA}"/>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1330228">
            <a:off x="6911393" y="877250"/>
            <a:ext cx="2803496" cy="1880650"/>
          </a:xfrm>
          <a:prstGeom prst="rect">
            <a:avLst/>
          </a:prstGeom>
        </p:spPr>
      </p:pic>
      <p:sp>
        <p:nvSpPr>
          <p:cNvPr id="2" name="Title 1">
            <a:extLst>
              <a:ext uri="{FF2B5EF4-FFF2-40B4-BE49-F238E27FC236}">
                <a16:creationId xmlns:a16="http://schemas.microsoft.com/office/drawing/2014/main" id="{8B39342E-9D37-4A45-9DD1-BD9DAF1ADDF6}"/>
              </a:ext>
            </a:extLst>
          </p:cNvPr>
          <p:cNvSpPr>
            <a:spLocks noGrp="1"/>
          </p:cNvSpPr>
          <p:nvPr>
            <p:ph type="title"/>
          </p:nvPr>
        </p:nvSpPr>
        <p:spPr/>
        <p:txBody>
          <a:bodyPr/>
          <a:lstStyle/>
          <a:p>
            <a:r>
              <a:rPr lang="en-US" dirty="0"/>
              <a:t>3.Results</a:t>
            </a:r>
          </a:p>
        </p:txBody>
      </p:sp>
      <p:pic>
        <p:nvPicPr>
          <p:cNvPr id="7" name="Picture 6">
            <a:extLst>
              <a:ext uri="{FF2B5EF4-FFF2-40B4-BE49-F238E27FC236}">
                <a16:creationId xmlns:a16="http://schemas.microsoft.com/office/drawing/2014/main" id="{D7B2FD08-D790-4493-A6BB-B13A98788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4889" y="954970"/>
            <a:ext cx="2059220" cy="1571381"/>
          </a:xfrm>
          <a:prstGeom prst="rect">
            <a:avLst/>
          </a:prstGeom>
        </p:spPr>
      </p:pic>
      <p:cxnSp>
        <p:nvCxnSpPr>
          <p:cNvPr id="10" name="Straight Arrow Connector 9">
            <a:extLst>
              <a:ext uri="{FF2B5EF4-FFF2-40B4-BE49-F238E27FC236}">
                <a16:creationId xmlns:a16="http://schemas.microsoft.com/office/drawing/2014/main" id="{E2570DA1-4013-4EF7-86F5-E933D9A8840F}"/>
              </a:ext>
            </a:extLst>
          </p:cNvPr>
          <p:cNvCxnSpPr>
            <a:cxnSpLocks/>
          </p:cNvCxnSpPr>
          <p:nvPr/>
        </p:nvCxnSpPr>
        <p:spPr>
          <a:xfrm>
            <a:off x="4526580" y="6435166"/>
            <a:ext cx="629239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2" name="Picture 11">
            <a:extLst>
              <a:ext uri="{FF2B5EF4-FFF2-40B4-BE49-F238E27FC236}">
                <a16:creationId xmlns:a16="http://schemas.microsoft.com/office/drawing/2014/main" id="{130D5E08-3B3C-4A35-9005-93D89A4D87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4464" y="4170542"/>
            <a:ext cx="1027491" cy="2198353"/>
          </a:xfrm>
          <a:prstGeom prst="rect">
            <a:avLst/>
          </a:prstGeom>
        </p:spPr>
      </p:pic>
      <p:pic>
        <p:nvPicPr>
          <p:cNvPr id="14" name="Picture 13">
            <a:extLst>
              <a:ext uri="{FF2B5EF4-FFF2-40B4-BE49-F238E27FC236}">
                <a16:creationId xmlns:a16="http://schemas.microsoft.com/office/drawing/2014/main" id="{9DC278EC-FB85-4CA2-947A-2750DF99B4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63197" y="4170543"/>
            <a:ext cx="1164127" cy="2196820"/>
          </a:xfrm>
          <a:prstGeom prst="rect">
            <a:avLst/>
          </a:prstGeom>
        </p:spPr>
      </p:pic>
      <p:pic>
        <p:nvPicPr>
          <p:cNvPr id="15" name="Picture 14">
            <a:extLst>
              <a:ext uri="{FF2B5EF4-FFF2-40B4-BE49-F238E27FC236}">
                <a16:creationId xmlns:a16="http://schemas.microsoft.com/office/drawing/2014/main" id="{F0149E6D-1EE8-46D8-8BC2-5B8E497D82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3715" y="4170542"/>
            <a:ext cx="1092342" cy="2196821"/>
          </a:xfrm>
          <a:prstGeom prst="rect">
            <a:avLst/>
          </a:prstGeom>
        </p:spPr>
      </p:pic>
      <p:pic>
        <p:nvPicPr>
          <p:cNvPr id="16" name="Picture 15">
            <a:extLst>
              <a:ext uri="{FF2B5EF4-FFF2-40B4-BE49-F238E27FC236}">
                <a16:creationId xmlns:a16="http://schemas.microsoft.com/office/drawing/2014/main" id="{888725DF-63B1-4583-AC8B-E15CD49950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36857" y="4170542"/>
            <a:ext cx="839718" cy="2197347"/>
          </a:xfrm>
          <a:prstGeom prst="rect">
            <a:avLst/>
          </a:prstGeom>
        </p:spPr>
      </p:pic>
      <p:sp>
        <p:nvSpPr>
          <p:cNvPr id="17" name="Rectangle 16">
            <a:extLst>
              <a:ext uri="{FF2B5EF4-FFF2-40B4-BE49-F238E27FC236}">
                <a16:creationId xmlns:a16="http://schemas.microsoft.com/office/drawing/2014/main" id="{B574E829-9F74-4F5A-ABC2-96745855D3BA}"/>
              </a:ext>
            </a:extLst>
          </p:cNvPr>
          <p:cNvSpPr/>
          <p:nvPr/>
        </p:nvSpPr>
        <p:spPr>
          <a:xfrm>
            <a:off x="10818973" y="6065963"/>
            <a:ext cx="1132690" cy="646331"/>
          </a:xfrm>
          <a:prstGeom prst="rect">
            <a:avLst/>
          </a:prstGeom>
        </p:spPr>
        <p:txBody>
          <a:bodyPr wrap="square">
            <a:spAutoFit/>
          </a:bodyPr>
          <a:lstStyle/>
          <a:p>
            <a:r>
              <a:rPr lang="en-US" dirty="0"/>
              <a:t>leaf curvature </a:t>
            </a:r>
            <a:endParaRPr lang="fr-FR" dirty="0">
              <a:sym typeface="Wingdings" panose="05000000000000000000" pitchFamily="2" charset="2"/>
            </a:endParaRPr>
          </a:p>
        </p:txBody>
      </p:sp>
      <p:sp>
        <p:nvSpPr>
          <p:cNvPr id="4" name="Slide Number Placeholder 3">
            <a:extLst>
              <a:ext uri="{FF2B5EF4-FFF2-40B4-BE49-F238E27FC236}">
                <a16:creationId xmlns:a16="http://schemas.microsoft.com/office/drawing/2014/main" id="{A19A93FB-01F5-4DAC-92D7-A01DFEF89808}"/>
              </a:ext>
            </a:extLst>
          </p:cNvPr>
          <p:cNvSpPr>
            <a:spLocks noGrp="1"/>
          </p:cNvSpPr>
          <p:nvPr>
            <p:ph type="sldNum" sz="quarter" idx="12"/>
          </p:nvPr>
        </p:nvSpPr>
        <p:spPr/>
        <p:txBody>
          <a:bodyPr/>
          <a:lstStyle/>
          <a:p>
            <a:fld id="{4D0921BC-FC9B-4B20-AD4C-0D7EEBC2A9A8}" type="slidenum">
              <a:rPr lang="en-US" smtClean="0"/>
              <a:t>15</a:t>
            </a:fld>
            <a:endParaRPr lang="en-US"/>
          </a:p>
        </p:txBody>
      </p:sp>
      <p:sp>
        <p:nvSpPr>
          <p:cNvPr id="6" name="TextBox 5">
            <a:extLst>
              <a:ext uri="{FF2B5EF4-FFF2-40B4-BE49-F238E27FC236}">
                <a16:creationId xmlns:a16="http://schemas.microsoft.com/office/drawing/2014/main" id="{F99D672A-B1D4-4AAD-827E-30D92A835951}"/>
              </a:ext>
            </a:extLst>
          </p:cNvPr>
          <p:cNvSpPr txBox="1"/>
          <p:nvPr/>
        </p:nvSpPr>
        <p:spPr>
          <a:xfrm>
            <a:off x="9784291" y="2635624"/>
            <a:ext cx="1833968" cy="646331"/>
          </a:xfrm>
          <a:prstGeom prst="rect">
            <a:avLst/>
          </a:prstGeom>
          <a:noFill/>
        </p:spPr>
        <p:txBody>
          <a:bodyPr wrap="square" rtlCol="0">
            <a:spAutoFit/>
          </a:bodyPr>
          <a:lstStyle/>
          <a:p>
            <a:r>
              <a:rPr lang="en-US" dirty="0"/>
              <a:t>Picture of plant in field</a:t>
            </a:r>
          </a:p>
        </p:txBody>
      </p:sp>
      <p:sp>
        <p:nvSpPr>
          <p:cNvPr id="8" name="TextBox 7">
            <a:extLst>
              <a:ext uri="{FF2B5EF4-FFF2-40B4-BE49-F238E27FC236}">
                <a16:creationId xmlns:a16="http://schemas.microsoft.com/office/drawing/2014/main" id="{C218D8FA-9784-489F-A1AF-61874909A229}"/>
              </a:ext>
            </a:extLst>
          </p:cNvPr>
          <p:cNvSpPr txBox="1"/>
          <p:nvPr/>
        </p:nvSpPr>
        <p:spPr>
          <a:xfrm>
            <a:off x="1409252" y="5819887"/>
            <a:ext cx="2783658" cy="646331"/>
          </a:xfrm>
          <a:prstGeom prst="rect">
            <a:avLst/>
          </a:prstGeom>
          <a:noFill/>
        </p:spPr>
        <p:txBody>
          <a:bodyPr wrap="square" rtlCol="0">
            <a:spAutoFit/>
          </a:bodyPr>
          <a:lstStyle/>
          <a:p>
            <a:r>
              <a:rPr lang="en-US" dirty="0"/>
              <a:t>Generate all combinations and see what we keep</a:t>
            </a:r>
          </a:p>
        </p:txBody>
      </p:sp>
    </p:spTree>
    <p:extLst>
      <p:ext uri="{BB962C8B-B14F-4D97-AF65-F5344CB8AC3E}">
        <p14:creationId xmlns:p14="http://schemas.microsoft.com/office/powerpoint/2010/main" val="766123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FDB8D1D2-15D8-436B-AAF9-640D44E48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28" y="3246479"/>
            <a:ext cx="3364919" cy="2739816"/>
          </a:xfrm>
          <a:prstGeom prst="rect">
            <a:avLst/>
          </a:prstGeom>
        </p:spPr>
      </p:pic>
      <p:sp>
        <p:nvSpPr>
          <p:cNvPr id="2" name="Title 1">
            <a:extLst>
              <a:ext uri="{FF2B5EF4-FFF2-40B4-BE49-F238E27FC236}">
                <a16:creationId xmlns:a16="http://schemas.microsoft.com/office/drawing/2014/main" id="{8B39342E-9D37-4A45-9DD1-BD9DAF1ADDF6}"/>
              </a:ext>
            </a:extLst>
          </p:cNvPr>
          <p:cNvSpPr>
            <a:spLocks noGrp="1"/>
          </p:cNvSpPr>
          <p:nvPr>
            <p:ph type="title"/>
          </p:nvPr>
        </p:nvSpPr>
        <p:spPr/>
        <p:txBody>
          <a:bodyPr/>
          <a:lstStyle/>
          <a:p>
            <a:r>
              <a:rPr lang="en-US" dirty="0"/>
              <a:t>3.Results</a:t>
            </a:r>
          </a:p>
        </p:txBody>
      </p:sp>
      <p:sp>
        <p:nvSpPr>
          <p:cNvPr id="3" name="Content Placeholder 2">
            <a:extLst>
              <a:ext uri="{FF2B5EF4-FFF2-40B4-BE49-F238E27FC236}">
                <a16:creationId xmlns:a16="http://schemas.microsoft.com/office/drawing/2014/main" id="{F61DC49E-DCD3-4730-9D88-B42A66CE9156}"/>
              </a:ext>
            </a:extLst>
          </p:cNvPr>
          <p:cNvSpPr>
            <a:spLocks noGrp="1"/>
          </p:cNvSpPr>
          <p:nvPr>
            <p:ph idx="1"/>
          </p:nvPr>
        </p:nvSpPr>
        <p:spPr>
          <a:xfrm>
            <a:off x="838201" y="1551504"/>
            <a:ext cx="9209442" cy="2226908"/>
          </a:xfrm>
        </p:spPr>
        <p:txBody>
          <a:bodyPr>
            <a:normAutofit lnSpcReduction="10000"/>
          </a:bodyPr>
          <a:lstStyle/>
          <a:p>
            <a:pPr marL="0" indent="0">
              <a:buNone/>
            </a:pPr>
            <a:r>
              <a:rPr lang="fr-FR" dirty="0"/>
              <a:t>3.2.A </a:t>
            </a:r>
            <a:r>
              <a:rPr lang="fr-FR" dirty="0" err="1"/>
              <a:t>monocrop</a:t>
            </a:r>
            <a:r>
              <a:rPr lang="fr-FR" dirty="0"/>
              <a:t> </a:t>
            </a:r>
            <a:r>
              <a:rPr lang="fr-FR" dirty="0" err="1"/>
              <a:t>through</a:t>
            </a:r>
            <a:r>
              <a:rPr lang="fr-FR" dirty="0"/>
              <a:t> time </a:t>
            </a:r>
          </a:p>
          <a:p>
            <a:pPr lvl="1"/>
            <a:r>
              <a:rPr lang="en-US" dirty="0"/>
              <a:t>Growth constrained with STICS simulation outputs </a:t>
            </a:r>
          </a:p>
          <a:p>
            <a:pPr lvl="1"/>
            <a:r>
              <a:rPr lang="en-US" dirty="0"/>
              <a:t>See differences in </a:t>
            </a:r>
            <a:r>
              <a:rPr lang="en-US" b="1" dirty="0"/>
              <a:t>light interception </a:t>
            </a:r>
            <a:r>
              <a:rPr lang="en-US" dirty="0"/>
              <a:t>through time given different architectural parameters (1 LAI </a:t>
            </a:r>
            <a:r>
              <a:rPr lang="en-US" dirty="0">
                <a:sym typeface="Wingdings" panose="05000000000000000000" pitchFamily="2" charset="2"/>
              </a:rPr>
              <a:t> many morphotypes)</a:t>
            </a:r>
            <a:endParaRPr lang="en-US" dirty="0"/>
          </a:p>
          <a:p>
            <a:pPr lvl="1"/>
            <a:r>
              <a:rPr lang="en-US" dirty="0"/>
              <a:t>See differences in organ growth dynamics in case of </a:t>
            </a:r>
            <a:r>
              <a:rPr lang="en-US" b="1" dirty="0"/>
              <a:t>stresses</a:t>
            </a:r>
            <a:r>
              <a:rPr lang="en-US" dirty="0"/>
              <a:t> (compare with and without stress) </a:t>
            </a:r>
            <a:endParaRPr lang="en-US" b="1" dirty="0"/>
          </a:p>
        </p:txBody>
      </p:sp>
      <p:sp>
        <p:nvSpPr>
          <p:cNvPr id="19" name="Slide Number Placeholder 18">
            <a:extLst>
              <a:ext uri="{FF2B5EF4-FFF2-40B4-BE49-F238E27FC236}">
                <a16:creationId xmlns:a16="http://schemas.microsoft.com/office/drawing/2014/main" id="{45A5971B-26F0-4BDA-8FE0-1F51B7FF1E37}"/>
              </a:ext>
            </a:extLst>
          </p:cNvPr>
          <p:cNvSpPr>
            <a:spLocks noGrp="1"/>
          </p:cNvSpPr>
          <p:nvPr>
            <p:ph type="sldNum" sz="quarter" idx="12"/>
          </p:nvPr>
        </p:nvSpPr>
        <p:spPr/>
        <p:txBody>
          <a:bodyPr/>
          <a:lstStyle/>
          <a:p>
            <a:fld id="{4D0921BC-FC9B-4B20-AD4C-0D7EEBC2A9A8}" type="slidenum">
              <a:rPr lang="en-US" smtClean="0"/>
              <a:t>16</a:t>
            </a:fld>
            <a:endParaRPr lang="en-US"/>
          </a:p>
        </p:txBody>
      </p:sp>
      <p:sp>
        <p:nvSpPr>
          <p:cNvPr id="20" name="Rectangle 19">
            <a:extLst>
              <a:ext uri="{FF2B5EF4-FFF2-40B4-BE49-F238E27FC236}">
                <a16:creationId xmlns:a16="http://schemas.microsoft.com/office/drawing/2014/main" id="{B7142CD2-2A2E-48D1-B997-5FD83ABEB690}"/>
              </a:ext>
            </a:extLst>
          </p:cNvPr>
          <p:cNvSpPr/>
          <p:nvPr/>
        </p:nvSpPr>
        <p:spPr>
          <a:xfrm>
            <a:off x="8682361" y="5555166"/>
            <a:ext cx="2974084" cy="646331"/>
          </a:xfrm>
          <a:prstGeom prst="rect">
            <a:avLst/>
          </a:prstGeom>
        </p:spPr>
        <p:txBody>
          <a:bodyPr wrap="none">
            <a:spAutoFit/>
          </a:bodyPr>
          <a:lstStyle/>
          <a:p>
            <a:r>
              <a:rPr lang="en-US" dirty="0"/>
              <a:t>leaf or internode length = f (t)</a:t>
            </a:r>
          </a:p>
          <a:p>
            <a:r>
              <a:rPr lang="en-US" dirty="0"/>
              <a:t>with and without stress </a:t>
            </a:r>
          </a:p>
        </p:txBody>
      </p:sp>
      <p:cxnSp>
        <p:nvCxnSpPr>
          <p:cNvPr id="22" name="Straight Arrow Connector 21">
            <a:extLst>
              <a:ext uri="{FF2B5EF4-FFF2-40B4-BE49-F238E27FC236}">
                <a16:creationId xmlns:a16="http://schemas.microsoft.com/office/drawing/2014/main" id="{7F9F255A-E0DF-45B4-9ABB-7CEF5951820B}"/>
              </a:ext>
            </a:extLst>
          </p:cNvPr>
          <p:cNvCxnSpPr/>
          <p:nvPr/>
        </p:nvCxnSpPr>
        <p:spPr>
          <a:xfrm>
            <a:off x="8682361" y="5140170"/>
            <a:ext cx="267143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1C038C4D-C4FA-446A-B752-9316A2E7F0CD}"/>
              </a:ext>
            </a:extLst>
          </p:cNvPr>
          <p:cNvCxnSpPr>
            <a:cxnSpLocks/>
          </p:cNvCxnSpPr>
          <p:nvPr/>
        </p:nvCxnSpPr>
        <p:spPr>
          <a:xfrm flipV="1">
            <a:off x="8834761" y="3894420"/>
            <a:ext cx="0" cy="13981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Connector: Curved 25">
            <a:extLst>
              <a:ext uri="{FF2B5EF4-FFF2-40B4-BE49-F238E27FC236}">
                <a16:creationId xmlns:a16="http://schemas.microsoft.com/office/drawing/2014/main" id="{03D904F4-2609-45DE-A6A3-988B089D2F8A}"/>
              </a:ext>
            </a:extLst>
          </p:cNvPr>
          <p:cNvCxnSpPr/>
          <p:nvPr/>
        </p:nvCxnSpPr>
        <p:spPr>
          <a:xfrm flipV="1">
            <a:off x="8834761" y="4092605"/>
            <a:ext cx="2217938" cy="1047565"/>
          </a:xfrm>
          <a:prstGeom prst="curvedConnector3">
            <a:avLst/>
          </a:prstGeom>
        </p:spPr>
        <p:style>
          <a:lnRef idx="1">
            <a:schemeClr val="accent6"/>
          </a:lnRef>
          <a:fillRef idx="0">
            <a:schemeClr val="accent6"/>
          </a:fillRef>
          <a:effectRef idx="0">
            <a:schemeClr val="accent6"/>
          </a:effectRef>
          <a:fontRef idx="minor">
            <a:schemeClr val="tx1"/>
          </a:fontRef>
        </p:style>
      </p:cxnSp>
      <p:pic>
        <p:nvPicPr>
          <p:cNvPr id="33" name="Content Placeholder 9">
            <a:extLst>
              <a:ext uri="{FF2B5EF4-FFF2-40B4-BE49-F238E27FC236}">
                <a16:creationId xmlns:a16="http://schemas.microsoft.com/office/drawing/2014/main" id="{824FF01B-8BA4-4249-8147-B6BEA335A6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4942" y="3702815"/>
            <a:ext cx="4041630" cy="3165943"/>
          </a:xfrm>
          <a:prstGeom prst="rect">
            <a:avLst/>
          </a:prstGeom>
        </p:spPr>
      </p:pic>
      <p:sp>
        <p:nvSpPr>
          <p:cNvPr id="34" name="TextBox 33">
            <a:extLst>
              <a:ext uri="{FF2B5EF4-FFF2-40B4-BE49-F238E27FC236}">
                <a16:creationId xmlns:a16="http://schemas.microsoft.com/office/drawing/2014/main" id="{27C8A129-14E4-46D8-A7EC-757A08FA8A14}"/>
              </a:ext>
            </a:extLst>
          </p:cNvPr>
          <p:cNvSpPr txBox="1"/>
          <p:nvPr/>
        </p:nvSpPr>
        <p:spPr>
          <a:xfrm>
            <a:off x="502128" y="5739832"/>
            <a:ext cx="3615384" cy="923330"/>
          </a:xfrm>
          <a:prstGeom prst="rect">
            <a:avLst/>
          </a:prstGeom>
          <a:noFill/>
        </p:spPr>
        <p:txBody>
          <a:bodyPr wrap="square" rtlCol="0">
            <a:spAutoFit/>
          </a:bodyPr>
          <a:lstStyle/>
          <a:p>
            <a:r>
              <a:rPr lang="en-US" dirty="0"/>
              <a:t>Whole crop </a:t>
            </a:r>
            <a:r>
              <a:rPr lang="en-US" u="sng" dirty="0"/>
              <a:t>through time</a:t>
            </a:r>
            <a:r>
              <a:rPr lang="en-US" dirty="0"/>
              <a:t>, for both visualizing light interception and effects of stresses on canopy</a:t>
            </a:r>
            <a:endParaRPr lang="en-US" u="sng" dirty="0"/>
          </a:p>
        </p:txBody>
      </p:sp>
      <p:sp>
        <p:nvSpPr>
          <p:cNvPr id="35" name="TextBox 34">
            <a:extLst>
              <a:ext uri="{FF2B5EF4-FFF2-40B4-BE49-F238E27FC236}">
                <a16:creationId xmlns:a16="http://schemas.microsoft.com/office/drawing/2014/main" id="{B0593F67-A04E-49F1-8F72-ED72A14BDDC6}"/>
              </a:ext>
            </a:extLst>
          </p:cNvPr>
          <p:cNvSpPr txBox="1"/>
          <p:nvPr/>
        </p:nvSpPr>
        <p:spPr>
          <a:xfrm>
            <a:off x="9907793" y="1668273"/>
            <a:ext cx="1782079" cy="2308324"/>
          </a:xfrm>
          <a:prstGeom prst="rect">
            <a:avLst/>
          </a:prstGeom>
          <a:noFill/>
        </p:spPr>
        <p:txBody>
          <a:bodyPr wrap="square" rtlCol="0">
            <a:spAutoFit/>
          </a:bodyPr>
          <a:lstStyle/>
          <a:p>
            <a:r>
              <a:rPr lang="en-US" dirty="0"/>
              <a:t>Be careful, some stresses may lead to plant mortality, so some plant might have to die to stick to STICS density</a:t>
            </a:r>
          </a:p>
        </p:txBody>
      </p:sp>
    </p:spTree>
    <p:extLst>
      <p:ext uri="{BB962C8B-B14F-4D97-AF65-F5344CB8AC3E}">
        <p14:creationId xmlns:p14="http://schemas.microsoft.com/office/powerpoint/2010/main" val="28127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342E-9D37-4A45-9DD1-BD9DAF1ADDF6}"/>
              </a:ext>
            </a:extLst>
          </p:cNvPr>
          <p:cNvSpPr>
            <a:spLocks noGrp="1"/>
          </p:cNvSpPr>
          <p:nvPr>
            <p:ph type="title"/>
          </p:nvPr>
        </p:nvSpPr>
        <p:spPr/>
        <p:txBody>
          <a:bodyPr/>
          <a:lstStyle/>
          <a:p>
            <a:r>
              <a:rPr lang="en-US" dirty="0"/>
              <a:t>3.Results</a:t>
            </a:r>
          </a:p>
        </p:txBody>
      </p:sp>
      <p:sp>
        <p:nvSpPr>
          <p:cNvPr id="3" name="Content Placeholder 2">
            <a:extLst>
              <a:ext uri="{FF2B5EF4-FFF2-40B4-BE49-F238E27FC236}">
                <a16:creationId xmlns:a16="http://schemas.microsoft.com/office/drawing/2014/main" id="{F61DC49E-DCD3-4730-9D88-B42A66CE9156}"/>
              </a:ext>
            </a:extLst>
          </p:cNvPr>
          <p:cNvSpPr>
            <a:spLocks noGrp="1"/>
          </p:cNvSpPr>
          <p:nvPr>
            <p:ph idx="1"/>
          </p:nvPr>
        </p:nvSpPr>
        <p:spPr>
          <a:xfrm>
            <a:off x="838200" y="1541528"/>
            <a:ext cx="10515600" cy="2609973"/>
          </a:xfrm>
        </p:spPr>
        <p:txBody>
          <a:bodyPr>
            <a:normAutofit/>
          </a:bodyPr>
          <a:lstStyle/>
          <a:p>
            <a:pPr marL="0" indent="0">
              <a:buNone/>
            </a:pPr>
            <a:r>
              <a:rPr lang="fr-FR" dirty="0"/>
              <a:t>3.3.An </a:t>
            </a:r>
            <a:r>
              <a:rPr lang="fr-FR" dirty="0" err="1"/>
              <a:t>intercrop</a:t>
            </a:r>
            <a:r>
              <a:rPr lang="fr-FR" dirty="0"/>
              <a:t> </a:t>
            </a:r>
            <a:r>
              <a:rPr lang="fr-FR" dirty="0" err="1"/>
              <a:t>through</a:t>
            </a:r>
            <a:r>
              <a:rPr lang="fr-FR" dirty="0"/>
              <a:t> time</a:t>
            </a:r>
          </a:p>
          <a:p>
            <a:pPr lvl="1"/>
            <a:r>
              <a:rPr lang="en-US" dirty="0"/>
              <a:t>Growth constrained with STICS simulation outputs </a:t>
            </a:r>
          </a:p>
          <a:p>
            <a:pPr lvl="1"/>
            <a:r>
              <a:rPr lang="en-US" dirty="0"/>
              <a:t>Show the differences in </a:t>
            </a:r>
            <a:r>
              <a:rPr lang="en-US" b="1" dirty="0"/>
              <a:t>light interception </a:t>
            </a:r>
            <a:r>
              <a:rPr lang="en-US" dirty="0"/>
              <a:t>through time given different architectural parameters for both crops and sowing patterns (comment on border effect, </a:t>
            </a:r>
            <a:r>
              <a:rPr lang="en-US" dirty="0" err="1"/>
              <a:t>etc</a:t>
            </a:r>
            <a:r>
              <a:rPr lang="en-US" dirty="0"/>
              <a:t>) </a:t>
            </a:r>
          </a:p>
          <a:p>
            <a:pPr lvl="1"/>
            <a:r>
              <a:rPr lang="en-US" dirty="0">
                <a:sym typeface="Wingdings" panose="05000000000000000000" pitchFamily="2" charset="2"/>
              </a:rPr>
              <a:t>Analysis of influential </a:t>
            </a:r>
            <a:r>
              <a:rPr lang="en-US" dirty="0" err="1">
                <a:sym typeface="Wingdings" panose="05000000000000000000" pitchFamily="2" charset="2"/>
              </a:rPr>
              <a:t>archi</a:t>
            </a:r>
            <a:r>
              <a:rPr lang="en-US" dirty="0">
                <a:sym typeface="Wingdings" panose="05000000000000000000" pitchFamily="2" charset="2"/>
              </a:rPr>
              <a:t> traits</a:t>
            </a:r>
            <a:endParaRPr lang="en-US" dirty="0"/>
          </a:p>
          <a:p>
            <a:pPr marL="457200" lvl="1" indent="0">
              <a:buNone/>
            </a:pPr>
            <a:endParaRPr lang="en-US" dirty="0"/>
          </a:p>
        </p:txBody>
      </p:sp>
      <p:pic>
        <p:nvPicPr>
          <p:cNvPr id="11" name="Picture 10">
            <a:extLst>
              <a:ext uri="{FF2B5EF4-FFF2-40B4-BE49-F238E27FC236}">
                <a16:creationId xmlns:a16="http://schemas.microsoft.com/office/drawing/2014/main" id="{7C5C3D71-14A0-4F80-825A-364BD0FB5312}"/>
              </a:ext>
            </a:extLst>
          </p:cNvPr>
          <p:cNvPicPr>
            <a:picLocks noChangeAspect="1"/>
          </p:cNvPicPr>
          <p:nvPr/>
        </p:nvPicPr>
        <p:blipFill rotWithShape="1">
          <a:blip r:embed="rId2">
            <a:extLst>
              <a:ext uri="{28A0092B-C50C-407E-A947-70E740481C1C}">
                <a14:useLocalDpi xmlns:a14="http://schemas.microsoft.com/office/drawing/2010/main" val="0"/>
              </a:ext>
            </a:extLst>
          </a:blip>
          <a:srcRect l="10251" t="20329" r="14120" b="15619"/>
          <a:stretch/>
        </p:blipFill>
        <p:spPr>
          <a:xfrm>
            <a:off x="1878937" y="3861386"/>
            <a:ext cx="4217063" cy="2609973"/>
          </a:xfrm>
          <a:prstGeom prst="rect">
            <a:avLst/>
          </a:prstGeom>
        </p:spPr>
      </p:pic>
      <p:sp>
        <p:nvSpPr>
          <p:cNvPr id="4" name="Slide Number Placeholder 3">
            <a:extLst>
              <a:ext uri="{FF2B5EF4-FFF2-40B4-BE49-F238E27FC236}">
                <a16:creationId xmlns:a16="http://schemas.microsoft.com/office/drawing/2014/main" id="{F0261969-3CC4-48C4-8B72-2DDDCD24D622}"/>
              </a:ext>
            </a:extLst>
          </p:cNvPr>
          <p:cNvSpPr>
            <a:spLocks noGrp="1"/>
          </p:cNvSpPr>
          <p:nvPr>
            <p:ph type="sldNum" sz="quarter" idx="12"/>
          </p:nvPr>
        </p:nvSpPr>
        <p:spPr/>
        <p:txBody>
          <a:bodyPr/>
          <a:lstStyle/>
          <a:p>
            <a:fld id="{4D0921BC-FC9B-4B20-AD4C-0D7EEBC2A9A8}" type="slidenum">
              <a:rPr lang="en-US" smtClean="0"/>
              <a:t>17</a:t>
            </a:fld>
            <a:endParaRPr lang="en-US"/>
          </a:p>
        </p:txBody>
      </p:sp>
      <p:sp>
        <p:nvSpPr>
          <p:cNvPr id="10" name="Slide Number Placeholder 3">
            <a:extLst>
              <a:ext uri="{FF2B5EF4-FFF2-40B4-BE49-F238E27FC236}">
                <a16:creationId xmlns:a16="http://schemas.microsoft.com/office/drawing/2014/main" id="{90D42A07-0BDD-4E1F-BD07-9A4208A17D8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7C6CCC6-2BE5-4E42-96A4-D1E8E81A3D8E}" type="slidenum">
              <a:rPr lang="fr-FR" smtClean="0"/>
              <a:pPr/>
              <a:t>17</a:t>
            </a:fld>
            <a:endParaRPr lang="fr-FR"/>
          </a:p>
        </p:txBody>
      </p:sp>
      <p:pic>
        <p:nvPicPr>
          <p:cNvPr id="19" name="Content Placeholder 9">
            <a:extLst>
              <a:ext uri="{FF2B5EF4-FFF2-40B4-BE49-F238E27FC236}">
                <a16:creationId xmlns:a16="http://schemas.microsoft.com/office/drawing/2014/main" id="{61075855-7749-476F-91AE-2EB6B44DD7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8655" y="3499270"/>
            <a:ext cx="4041630" cy="3165943"/>
          </a:xfrm>
          <a:prstGeom prst="rect">
            <a:avLst/>
          </a:prstGeom>
        </p:spPr>
      </p:pic>
      <p:sp>
        <p:nvSpPr>
          <p:cNvPr id="6" name="TextBox 5">
            <a:extLst>
              <a:ext uri="{FF2B5EF4-FFF2-40B4-BE49-F238E27FC236}">
                <a16:creationId xmlns:a16="http://schemas.microsoft.com/office/drawing/2014/main" id="{F069044A-498D-48CC-8818-CDDAD01ACDCD}"/>
              </a:ext>
            </a:extLst>
          </p:cNvPr>
          <p:cNvSpPr txBox="1"/>
          <p:nvPr/>
        </p:nvSpPr>
        <p:spPr>
          <a:xfrm>
            <a:off x="134383" y="5507915"/>
            <a:ext cx="3216537" cy="1200329"/>
          </a:xfrm>
          <a:prstGeom prst="rect">
            <a:avLst/>
          </a:prstGeom>
          <a:noFill/>
        </p:spPr>
        <p:txBody>
          <a:bodyPr wrap="square" rtlCol="0">
            <a:spAutoFit/>
          </a:bodyPr>
          <a:lstStyle/>
          <a:p>
            <a:r>
              <a:rPr lang="en-US" dirty="0"/>
              <a:t>Visualization of light interception for different architectural parameters for both crops and sowing patterns</a:t>
            </a:r>
          </a:p>
        </p:txBody>
      </p:sp>
    </p:spTree>
    <p:extLst>
      <p:ext uri="{BB962C8B-B14F-4D97-AF65-F5344CB8AC3E}">
        <p14:creationId xmlns:p14="http://schemas.microsoft.com/office/powerpoint/2010/main" val="2348541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Diagonal Corners Snipped 12">
            <a:extLst>
              <a:ext uri="{FF2B5EF4-FFF2-40B4-BE49-F238E27FC236}">
                <a16:creationId xmlns:a16="http://schemas.microsoft.com/office/drawing/2014/main" id="{DA61EBFD-78FC-4C55-95D9-8ABB5C343957}"/>
              </a:ext>
            </a:extLst>
          </p:cNvPr>
          <p:cNvSpPr/>
          <p:nvPr/>
        </p:nvSpPr>
        <p:spPr>
          <a:xfrm>
            <a:off x="7448702" y="4361934"/>
            <a:ext cx="2743200" cy="923330"/>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4A4EC1-5752-4617-A145-D55DD48A7683}"/>
              </a:ext>
            </a:extLst>
          </p:cNvPr>
          <p:cNvSpPr>
            <a:spLocks noGrp="1"/>
          </p:cNvSpPr>
          <p:nvPr>
            <p:ph idx="1"/>
          </p:nvPr>
        </p:nvSpPr>
        <p:spPr>
          <a:xfrm>
            <a:off x="660394" y="1411696"/>
            <a:ext cx="6431521" cy="5320536"/>
          </a:xfrm>
        </p:spPr>
        <p:txBody>
          <a:bodyPr>
            <a:normAutofit/>
          </a:bodyPr>
          <a:lstStyle/>
          <a:p>
            <a:pPr marL="0" indent="0">
              <a:buNone/>
            </a:pPr>
            <a:r>
              <a:rPr lang="en-US" sz="2400" dirty="0"/>
              <a:t>4.1. Positioning of my hybrid multiscale approach: </a:t>
            </a:r>
          </a:p>
          <a:p>
            <a:pPr marL="0" indent="0">
              <a:buNone/>
            </a:pPr>
            <a:r>
              <a:rPr lang="en-US" sz="2400" dirty="0"/>
              <a:t>Constraint-driven Plant Model for cereals</a:t>
            </a:r>
          </a:p>
          <a:p>
            <a:r>
              <a:rPr lang="en-US" sz="2000" dirty="0"/>
              <a:t>Plant </a:t>
            </a:r>
            <a:r>
              <a:rPr lang="en-US" sz="2000" b="1" dirty="0"/>
              <a:t>3D architecture </a:t>
            </a:r>
            <a:r>
              <a:rPr lang="en-US" sz="2000" dirty="0"/>
              <a:t>and </a:t>
            </a:r>
            <a:r>
              <a:rPr lang="en-US" sz="2000" b="1" dirty="0"/>
              <a:t>development</a:t>
            </a:r>
            <a:r>
              <a:rPr lang="en-US" sz="2000" dirty="0"/>
              <a:t> are defined by </a:t>
            </a:r>
            <a:r>
              <a:rPr lang="en-US" sz="2000" b="1" dirty="0"/>
              <a:t>parameters</a:t>
            </a:r>
            <a:r>
              <a:rPr lang="en-US" sz="2000" dirty="0"/>
              <a:t>.</a:t>
            </a:r>
          </a:p>
          <a:p>
            <a:endParaRPr lang="en-US" sz="2000" dirty="0"/>
          </a:p>
          <a:p>
            <a:r>
              <a:rPr lang="en-US" sz="2000" dirty="0"/>
              <a:t>Known </a:t>
            </a:r>
            <a:r>
              <a:rPr lang="en-US" sz="2000" b="1" dirty="0"/>
              <a:t>allometric laws </a:t>
            </a:r>
            <a:r>
              <a:rPr lang="en-US" sz="2000" dirty="0"/>
              <a:t>for potential plant </a:t>
            </a:r>
            <a:r>
              <a:rPr lang="en-US" sz="2000" dirty="0">
                <a:sym typeface="Wingdings" panose="05000000000000000000" pitchFamily="2" charset="2"/>
              </a:rPr>
              <a:t> Few parameters </a:t>
            </a:r>
            <a:endParaRPr lang="en-US" sz="2000" dirty="0"/>
          </a:p>
          <a:p>
            <a:pPr marL="0" indent="0">
              <a:buNone/>
            </a:pPr>
            <a:endParaRPr lang="en-US" sz="2000" dirty="0"/>
          </a:p>
          <a:p>
            <a:r>
              <a:rPr lang="fr-FR" sz="2000" b="1" dirty="0">
                <a:solidFill>
                  <a:prstClr val="black"/>
                </a:solidFill>
              </a:rPr>
              <a:t>Global </a:t>
            </a:r>
            <a:r>
              <a:rPr lang="fr-FR" sz="2000" b="1" dirty="0" err="1">
                <a:solidFill>
                  <a:prstClr val="black"/>
                </a:solidFill>
              </a:rPr>
              <a:t>growth</a:t>
            </a:r>
            <a:r>
              <a:rPr lang="fr-FR" sz="2000" dirty="0">
                <a:solidFill>
                  <a:prstClr val="black"/>
                </a:solidFill>
              </a:rPr>
              <a:t> </a:t>
            </a:r>
            <a:r>
              <a:rPr lang="fr-FR" sz="2000" dirty="0" err="1">
                <a:solidFill>
                  <a:prstClr val="black"/>
                </a:solidFill>
              </a:rPr>
              <a:t>is</a:t>
            </a:r>
            <a:r>
              <a:rPr lang="fr-FR" sz="2000" dirty="0">
                <a:solidFill>
                  <a:prstClr val="black"/>
                </a:solidFill>
              </a:rPr>
              <a:t> </a:t>
            </a:r>
            <a:r>
              <a:rPr lang="fr-FR" sz="2000" dirty="0" err="1">
                <a:solidFill>
                  <a:prstClr val="black"/>
                </a:solidFill>
              </a:rPr>
              <a:t>constrained</a:t>
            </a:r>
            <a:r>
              <a:rPr lang="fr-FR" sz="2000" dirty="0">
                <a:solidFill>
                  <a:prstClr val="black"/>
                </a:solidFill>
              </a:rPr>
              <a:t> </a:t>
            </a:r>
            <a:r>
              <a:rPr lang="fr-FR" sz="2000" dirty="0" err="1">
                <a:solidFill>
                  <a:prstClr val="black"/>
                </a:solidFill>
              </a:rPr>
              <a:t>from</a:t>
            </a:r>
            <a:r>
              <a:rPr lang="fr-FR" sz="2000" dirty="0">
                <a:solidFill>
                  <a:prstClr val="black"/>
                </a:solidFill>
              </a:rPr>
              <a:t> </a:t>
            </a:r>
            <a:r>
              <a:rPr lang="fr-FR" sz="2000" b="1" dirty="0" err="1">
                <a:solidFill>
                  <a:prstClr val="black"/>
                </a:solidFill>
              </a:rPr>
              <a:t>crop</a:t>
            </a:r>
            <a:r>
              <a:rPr lang="fr-FR" sz="2000" b="1" dirty="0">
                <a:solidFill>
                  <a:prstClr val="black"/>
                </a:solidFill>
              </a:rPr>
              <a:t> model </a:t>
            </a:r>
            <a:r>
              <a:rPr lang="fr-FR" sz="2000" b="1" dirty="0" err="1">
                <a:solidFill>
                  <a:prstClr val="black"/>
                </a:solidFill>
              </a:rPr>
              <a:t>dynamics</a:t>
            </a:r>
            <a:endParaRPr lang="en-US" sz="2000" dirty="0"/>
          </a:p>
          <a:p>
            <a:endParaRPr lang="en-US" sz="2000" dirty="0"/>
          </a:p>
          <a:p>
            <a:pPr marL="0" indent="0">
              <a:buNone/>
            </a:pPr>
            <a:r>
              <a:rPr lang="en-US" sz="2000" dirty="0">
                <a:sym typeface="Wingdings" panose="05000000000000000000" pitchFamily="2" charset="2"/>
              </a:rPr>
              <a:t> </a:t>
            </a:r>
            <a:r>
              <a:rPr lang="en-US" sz="2000" dirty="0"/>
              <a:t>Explore morphological space of degrees of freedom</a:t>
            </a:r>
          </a:p>
          <a:p>
            <a:pPr>
              <a:buFont typeface="Wingdings" panose="05000000000000000000" pitchFamily="2" charset="2"/>
              <a:buChar char="è"/>
            </a:pPr>
            <a:r>
              <a:rPr lang="en-US" sz="2000" dirty="0">
                <a:sym typeface="Wingdings" panose="05000000000000000000" pitchFamily="2" charset="2"/>
              </a:rPr>
              <a:t> Differential growth for each organ</a:t>
            </a:r>
          </a:p>
          <a:p>
            <a:pPr>
              <a:buFont typeface="Wingdings" panose="05000000000000000000" pitchFamily="2" charset="2"/>
              <a:buChar char="è"/>
            </a:pPr>
            <a:r>
              <a:rPr lang="en-US" sz="2000" dirty="0"/>
              <a:t> Reaction to stresses</a:t>
            </a:r>
          </a:p>
        </p:txBody>
      </p:sp>
      <p:sp>
        <p:nvSpPr>
          <p:cNvPr id="6" name="Slide Number Placeholder 5">
            <a:extLst>
              <a:ext uri="{FF2B5EF4-FFF2-40B4-BE49-F238E27FC236}">
                <a16:creationId xmlns:a16="http://schemas.microsoft.com/office/drawing/2014/main" id="{B01AA784-0F2C-4C78-A201-36238F926F07}"/>
              </a:ext>
            </a:extLst>
          </p:cNvPr>
          <p:cNvSpPr>
            <a:spLocks noGrp="1"/>
          </p:cNvSpPr>
          <p:nvPr>
            <p:ph type="sldNum" sz="quarter" idx="12"/>
          </p:nvPr>
        </p:nvSpPr>
        <p:spPr/>
        <p:txBody>
          <a:bodyPr/>
          <a:lstStyle/>
          <a:p>
            <a:fld id="{27C6CCC6-2BE5-4E42-96A4-D1E8E81A3D8E}" type="slidenum">
              <a:rPr lang="fr-FR" smtClean="0"/>
              <a:t>18</a:t>
            </a:fld>
            <a:endParaRPr lang="fr-FR"/>
          </a:p>
        </p:txBody>
      </p:sp>
      <p:sp>
        <p:nvSpPr>
          <p:cNvPr id="4" name="TextBox 3">
            <a:extLst>
              <a:ext uri="{FF2B5EF4-FFF2-40B4-BE49-F238E27FC236}">
                <a16:creationId xmlns:a16="http://schemas.microsoft.com/office/drawing/2014/main" id="{2347E33B-A72B-472C-A295-981D6BDE7A32}"/>
              </a:ext>
            </a:extLst>
          </p:cNvPr>
          <p:cNvSpPr txBox="1"/>
          <p:nvPr/>
        </p:nvSpPr>
        <p:spPr>
          <a:xfrm>
            <a:off x="7550305" y="4504367"/>
            <a:ext cx="2597901"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 </a:t>
            </a:r>
            <a:r>
              <a:rPr lang="en-US" dirty="0">
                <a:sym typeface="Wingdings" panose="05000000000000000000" pitchFamily="2" charset="2"/>
              </a:rPr>
              <a:t>Parametric model: do not react to environment</a:t>
            </a:r>
          </a:p>
        </p:txBody>
      </p:sp>
      <p:sp>
        <p:nvSpPr>
          <p:cNvPr id="11" name="Rectangle: Diagonal Corners Snipped 10">
            <a:extLst>
              <a:ext uri="{FF2B5EF4-FFF2-40B4-BE49-F238E27FC236}">
                <a16:creationId xmlns:a16="http://schemas.microsoft.com/office/drawing/2014/main" id="{35A07E2B-B570-4D4A-9D97-A421BC82C7EE}"/>
              </a:ext>
            </a:extLst>
          </p:cNvPr>
          <p:cNvSpPr/>
          <p:nvPr/>
        </p:nvSpPr>
        <p:spPr>
          <a:xfrm>
            <a:off x="7448702" y="2074353"/>
            <a:ext cx="3173224" cy="895296"/>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C4621C9-8171-4BA8-B2F3-6F3DDF1C7231}"/>
              </a:ext>
            </a:extLst>
          </p:cNvPr>
          <p:cNvSpPr txBox="1"/>
          <p:nvPr/>
        </p:nvSpPr>
        <p:spPr>
          <a:xfrm>
            <a:off x="7550305" y="2188751"/>
            <a:ext cx="2986560" cy="646331"/>
          </a:xfrm>
          <a:prstGeom prst="rect">
            <a:avLst/>
          </a:prstGeom>
          <a:noFill/>
          <a:ln>
            <a:noFill/>
          </a:ln>
        </p:spPr>
        <p:txBody>
          <a:bodyPr wrap="square" rtlCol="0">
            <a:spAutoFit/>
          </a:bodyPr>
          <a:lstStyle/>
          <a:p>
            <a:r>
              <a:rPr lang="en-US" dirty="0">
                <a:latin typeface="Arial" panose="020B0604020202020204" pitchFamily="34" charset="0"/>
                <a:cs typeface="Arial" panose="020B0604020202020204" pitchFamily="34" charset="0"/>
              </a:rPr>
              <a:t>≠</a:t>
            </a:r>
            <a:r>
              <a:rPr lang="en-US" dirty="0"/>
              <a:t> FSPM: 3D plant architecture emerges from plant processes</a:t>
            </a:r>
          </a:p>
        </p:txBody>
      </p:sp>
      <p:sp>
        <p:nvSpPr>
          <p:cNvPr id="14" name="Rectangle: Diagonal Corners Snipped 13">
            <a:extLst>
              <a:ext uri="{FF2B5EF4-FFF2-40B4-BE49-F238E27FC236}">
                <a16:creationId xmlns:a16="http://schemas.microsoft.com/office/drawing/2014/main" id="{0240F8DD-1ECD-4567-8B0F-8B387BC2D185}"/>
              </a:ext>
            </a:extLst>
          </p:cNvPr>
          <p:cNvSpPr/>
          <p:nvPr/>
        </p:nvSpPr>
        <p:spPr>
          <a:xfrm>
            <a:off x="7448702" y="3285727"/>
            <a:ext cx="1938680" cy="811123"/>
          </a:xfrm>
          <a:prstGeom prst="snip2DiagRect">
            <a:avLst/>
          </a:prstGeom>
          <a:solidFill>
            <a:srgbClr val="FFD8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E08CA43-730E-4FF0-A88F-7DE85EC142CA}"/>
              </a:ext>
            </a:extLst>
          </p:cNvPr>
          <p:cNvSpPr txBox="1"/>
          <p:nvPr/>
        </p:nvSpPr>
        <p:spPr>
          <a:xfrm>
            <a:off x="7550304" y="3376877"/>
            <a:ext cx="1757929" cy="646331"/>
          </a:xfrm>
          <a:prstGeom prst="rect">
            <a:avLst/>
          </a:prstGeom>
          <a:noFill/>
          <a:ln>
            <a:noFill/>
          </a:ln>
        </p:spPr>
        <p:txBody>
          <a:bodyPr wrap="square" rtlCol="0">
            <a:spAutoFit/>
          </a:bodyPr>
          <a:lstStyle/>
          <a:p>
            <a:r>
              <a:rPr lang="en-US" dirty="0">
                <a:cs typeface="Arial" panose="020B0604020202020204" pitchFamily="34" charset="0"/>
              </a:rPr>
              <a:t>No need for lots of measures</a:t>
            </a:r>
            <a:endParaRPr lang="en-US" dirty="0"/>
          </a:p>
        </p:txBody>
      </p:sp>
      <p:sp>
        <p:nvSpPr>
          <p:cNvPr id="12" name="Title 1">
            <a:extLst>
              <a:ext uri="{FF2B5EF4-FFF2-40B4-BE49-F238E27FC236}">
                <a16:creationId xmlns:a16="http://schemas.microsoft.com/office/drawing/2014/main" id="{DE985EC3-5698-4F0C-9AB0-C131A715B5CA}"/>
              </a:ext>
            </a:extLst>
          </p:cNvPr>
          <p:cNvSpPr>
            <a:spLocks noGrp="1"/>
          </p:cNvSpPr>
          <p:nvPr>
            <p:ph type="title"/>
          </p:nvPr>
        </p:nvSpPr>
        <p:spPr>
          <a:xfrm>
            <a:off x="838200" y="365125"/>
            <a:ext cx="10515600" cy="1325563"/>
          </a:xfrm>
        </p:spPr>
        <p:txBody>
          <a:bodyPr/>
          <a:lstStyle/>
          <a:p>
            <a:r>
              <a:rPr lang="en-US" dirty="0"/>
              <a:t>4.Discussion</a:t>
            </a:r>
          </a:p>
        </p:txBody>
      </p:sp>
    </p:spTree>
    <p:extLst>
      <p:ext uri="{BB962C8B-B14F-4D97-AF65-F5344CB8AC3E}">
        <p14:creationId xmlns:p14="http://schemas.microsoft.com/office/powerpoint/2010/main" val="135246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E5BAE-891E-4107-A029-0C9F76050246}"/>
              </a:ext>
            </a:extLst>
          </p:cNvPr>
          <p:cNvSpPr>
            <a:spLocks noGrp="1"/>
          </p:cNvSpPr>
          <p:nvPr>
            <p:ph type="title"/>
          </p:nvPr>
        </p:nvSpPr>
        <p:spPr/>
        <p:txBody>
          <a:bodyPr/>
          <a:lstStyle/>
          <a:p>
            <a:r>
              <a:rPr lang="en-US" dirty="0"/>
              <a:t>4.Discussion</a:t>
            </a:r>
          </a:p>
        </p:txBody>
      </p:sp>
      <p:sp>
        <p:nvSpPr>
          <p:cNvPr id="3" name="Content Placeholder 2">
            <a:extLst>
              <a:ext uri="{FF2B5EF4-FFF2-40B4-BE49-F238E27FC236}">
                <a16:creationId xmlns:a16="http://schemas.microsoft.com/office/drawing/2014/main" id="{8FDF802E-010F-4BCC-9936-3A1A1BCBA655}"/>
              </a:ext>
            </a:extLst>
          </p:cNvPr>
          <p:cNvSpPr>
            <a:spLocks noGrp="1"/>
          </p:cNvSpPr>
          <p:nvPr>
            <p:ph idx="1"/>
          </p:nvPr>
        </p:nvSpPr>
        <p:spPr/>
        <p:txBody>
          <a:bodyPr/>
          <a:lstStyle/>
          <a:p>
            <a:pPr marL="0" indent="0">
              <a:buNone/>
            </a:pPr>
            <a:r>
              <a:rPr lang="en-US" dirty="0"/>
              <a:t>4.2.Strengths of model</a:t>
            </a:r>
          </a:p>
          <a:p>
            <a:pPr marL="0" indent="0">
              <a:buNone/>
            </a:pPr>
            <a:r>
              <a:rPr lang="en-US" dirty="0"/>
              <a:t>4.3.Weaknesses of model</a:t>
            </a:r>
          </a:p>
          <a:p>
            <a:pPr marL="0" indent="0">
              <a:buNone/>
            </a:pPr>
            <a:r>
              <a:rPr lang="en-US" dirty="0"/>
              <a:t>4.4.Perspectives </a:t>
            </a:r>
          </a:p>
          <a:p>
            <a:pPr lvl="1"/>
            <a:r>
              <a:rPr lang="en-US" dirty="0"/>
              <a:t>Possible improvements of the model</a:t>
            </a:r>
          </a:p>
          <a:p>
            <a:pPr lvl="1"/>
            <a:r>
              <a:rPr lang="en-US" dirty="0"/>
              <a:t>Possible uses</a:t>
            </a:r>
          </a:p>
          <a:p>
            <a:endParaRPr lang="en-US" dirty="0"/>
          </a:p>
          <a:p>
            <a:pPr marL="0" indent="0">
              <a:buNone/>
            </a:pPr>
            <a:r>
              <a:rPr lang="en-US" sz="4400" dirty="0">
                <a:solidFill>
                  <a:prstClr val="black"/>
                </a:solidFill>
                <a:latin typeface="Calibri Light" panose="020F0302020204030204"/>
                <a:ea typeface="+mj-ea"/>
                <a:cs typeface="+mj-cs"/>
              </a:rPr>
              <a:t>5.Conclusion</a:t>
            </a:r>
            <a:endParaRPr lang="en-US" dirty="0"/>
          </a:p>
        </p:txBody>
      </p:sp>
      <p:sp>
        <p:nvSpPr>
          <p:cNvPr id="4" name="Slide Number Placeholder 3">
            <a:extLst>
              <a:ext uri="{FF2B5EF4-FFF2-40B4-BE49-F238E27FC236}">
                <a16:creationId xmlns:a16="http://schemas.microsoft.com/office/drawing/2014/main" id="{C10673C6-4EB3-4B08-8F43-1F8C3FB59557}"/>
              </a:ext>
            </a:extLst>
          </p:cNvPr>
          <p:cNvSpPr>
            <a:spLocks noGrp="1"/>
          </p:cNvSpPr>
          <p:nvPr>
            <p:ph type="sldNum" sz="quarter" idx="12"/>
          </p:nvPr>
        </p:nvSpPr>
        <p:spPr/>
        <p:txBody>
          <a:bodyPr/>
          <a:lstStyle/>
          <a:p>
            <a:fld id="{4D0921BC-FC9B-4B20-AD4C-0D7EEBC2A9A8}" type="slidenum">
              <a:rPr lang="en-US" smtClean="0"/>
              <a:t>19</a:t>
            </a:fld>
            <a:endParaRPr lang="en-US"/>
          </a:p>
        </p:txBody>
      </p:sp>
    </p:spTree>
    <p:extLst>
      <p:ext uri="{BB962C8B-B14F-4D97-AF65-F5344CB8AC3E}">
        <p14:creationId xmlns:p14="http://schemas.microsoft.com/office/powerpoint/2010/main" val="3139341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9610</TotalTime>
  <Words>2093</Words>
  <Application>Microsoft Office PowerPoint</Application>
  <PresentationFormat>Widescreen</PresentationFormat>
  <Paragraphs>310</Paragraphs>
  <Slides>19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Calibri Light</vt:lpstr>
      <vt:lpstr>Cambria Math</vt:lpstr>
      <vt:lpstr>Segoe UI</vt:lpstr>
      <vt:lpstr>Wingdings</vt:lpstr>
      <vt:lpstr>Office Theme</vt:lpstr>
      <vt:lpstr>ArchiCrop, a 3D dynamic parametric model for cereals </vt:lpstr>
      <vt:lpstr>Message</vt:lpstr>
      <vt:lpstr>1.Introduction</vt:lpstr>
      <vt:lpstr>1.2.State of the art: </vt:lpstr>
      <vt:lpstr>1.Introduction</vt:lpstr>
      <vt:lpstr>FSPMs</vt:lpstr>
      <vt:lpstr>PowerPoint Presentation</vt:lpstr>
      <vt:lpstr>PowerPoint Presentation</vt:lpstr>
      <vt:lpstr>PowerPoint Presentation</vt:lpstr>
      <vt:lpstr>2.Model</vt:lpstr>
      <vt:lpstr>2.Model</vt:lpstr>
      <vt:lpstr>2.Model</vt:lpstr>
      <vt:lpstr>PowerPoint Presentation</vt:lpstr>
      <vt:lpstr>2.Model</vt:lpstr>
      <vt:lpstr>3.Results</vt:lpstr>
      <vt:lpstr>3.Results</vt:lpstr>
      <vt:lpstr>3.Results</vt:lpstr>
      <vt:lpstr>4.Discussion</vt:lpstr>
      <vt:lpstr>4.Discussion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ArchiCrop, a 3D dynamic parametric model for cereals</dc:title>
  <dc:creator>Oriane BRAUD</dc:creator>
  <cp:lastModifiedBy>Oriane BRAUD</cp:lastModifiedBy>
  <cp:revision>205</cp:revision>
  <dcterms:created xsi:type="dcterms:W3CDTF">2024-10-11T08:06:39Z</dcterms:created>
  <dcterms:modified xsi:type="dcterms:W3CDTF">2024-11-15T18:04:25Z</dcterms:modified>
</cp:coreProperties>
</file>