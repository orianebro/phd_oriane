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A5A5"/>
    <a:srgbClr val="4E9409"/>
    <a:srgbClr val="F39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6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E4554-1B6B-44B2-BC61-7AB4E55160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7B4DB7-2F3C-4449-8AA1-258ED43AD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A8955-B9CE-485A-A2AF-39DE44A5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9974-CD7F-4AC5-AB68-36E7DF1ED04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50F93-19DD-4BB3-A1CF-43E792223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0F5A9-A5E1-44CD-89D5-F53B56117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6CFD-F1EF-45DF-8E7F-7FB43AC0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35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F497-F47F-48AB-89B4-E577CBFE2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ED64-68B4-4BB2-8F30-89C39984D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854D2-FC51-4490-A1BB-3E6F2EB5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9974-CD7F-4AC5-AB68-36E7DF1ED04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D11FB-9C81-4CE0-9725-ABC1FB547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B0EC8-BD87-4EE6-A353-321626B8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6CFD-F1EF-45DF-8E7F-7FB43AC0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18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487CD-0ED3-4D97-BC5A-E109E92BB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3DE8A-D59F-4FD0-9171-82B9ABA75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326F1-2066-4D6D-87F8-A53ECF81D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9974-CD7F-4AC5-AB68-36E7DF1ED04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5D00D-AD8B-4A6B-9F87-CD14C642A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68E9C-0076-4EDC-AEE4-C38239E55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6CFD-F1EF-45DF-8E7F-7FB43AC0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6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56CF-ED31-4B4C-97BC-9CED32F44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17167-DBAD-43CD-9911-0381810B96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FE4E1-D646-41E2-98F8-43A41A774C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C3D24-7B27-4A7D-861D-D63FE645B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9974-CD7F-4AC5-AB68-36E7DF1ED04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BEC19-6DC3-44B2-BD06-C76EDD66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3C0B2-AF7B-483C-B12B-7C37F25C8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6CFD-F1EF-45DF-8E7F-7FB43AC0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553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A95E1-6D89-4FF4-8545-8A256D9A4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980D1-3310-42E9-ADAE-0B439979D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BA55F-BA41-458F-B8E6-A6200278C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D5388-D314-48D2-A4DF-6E84E8FB1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A7E6D2-1420-49FA-8BE1-FA9CEBF05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CB9D49-5849-4A40-9BED-1AFD65B8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9974-CD7F-4AC5-AB68-36E7DF1ED04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147B9E-714E-4D13-86AE-AA30EC6D3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A274D0-7B9C-47B2-9A94-6F076A92D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6CFD-F1EF-45DF-8E7F-7FB43AC0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F0A0-65ED-49DB-B242-8BCF995F4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BF40AA-9349-431B-A967-A3FE604A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9974-CD7F-4AC5-AB68-36E7DF1ED04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0D8B4F-B53F-4B9E-8478-8B979ECC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D57E55-C203-4468-993B-60F908966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6CFD-F1EF-45DF-8E7F-7FB43AC0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EF1CF3-33CD-43A7-B8C2-FF24C4244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9974-CD7F-4AC5-AB68-36E7DF1ED04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478194-AFAB-4D39-BE58-46B877BE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E39CB-F076-4069-AA7A-923A48199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6CFD-F1EF-45DF-8E7F-7FB43AC0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01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0297D-E617-4D33-8018-2C1E3985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BCF42-B305-4413-8EA3-D6DE9594C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2FBAB9-05F5-4336-9FDA-583237DCE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EE7CE-369E-454A-9274-3945FCB9D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9974-CD7F-4AC5-AB68-36E7DF1ED04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4DD61-520B-4524-834D-EFD083341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49613-25F4-4F20-8491-39DC2886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6CFD-F1EF-45DF-8E7F-7FB43AC0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90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2726E-ED17-448D-87BC-ABC3E6207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2A6F5E-5ADA-4200-B401-32DD77CDB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6D65B-202C-4F52-BF89-05416639F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49073-2D58-41F9-ADC6-2561F47F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9974-CD7F-4AC5-AB68-36E7DF1ED04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B923A-F4AD-4C23-A426-8849299F3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BC63F-962F-48FE-B3CE-C54D729EA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6CFD-F1EF-45DF-8E7F-7FB43AC0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673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8066-FB29-4393-B243-850CEEBE1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B802E-DF4D-44BC-9DF9-348050A65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1D1AF-B19A-49D5-9F22-73117112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9974-CD7F-4AC5-AB68-36E7DF1ED04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228F2-7954-4DF5-BB05-3000B2F6E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3096A-8705-42C9-A7E4-1768B2701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6CFD-F1EF-45DF-8E7F-7FB43AC0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6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C78CF5-3ED7-4FC2-A479-5F1BCDD46D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B41BE-B543-4299-8BFD-5D4E6BEF3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133D8-7118-48FD-A08E-072196952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19974-CD7F-4AC5-AB68-36E7DF1ED04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52BEA-C8CA-4A15-BF25-788010553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0F95A-9472-4E11-8791-88F11904A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6CFD-F1EF-45DF-8E7F-7FB43AC0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92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6257D3-E67D-45F7-BC8D-149EB826B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96E72-D858-454C-ACC2-986EAE376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DE3A7-5599-4579-8C65-C4B094EF12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19974-CD7F-4AC5-AB68-36E7DF1ED045}" type="datetimeFigureOut">
              <a:rPr lang="en-US" smtClean="0"/>
              <a:t>10/30/2024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1B92D-9A28-4125-A431-890EF0F368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8822F-C51F-4079-A6AB-F66E39FE4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06CFD-F1EF-45DF-8E7F-7FB43AC04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86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DE530-391D-48C0-9BAE-791D1B79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45500" cy="1325563"/>
          </a:xfrm>
        </p:spPr>
        <p:txBody>
          <a:bodyPr>
            <a:normAutofit fontScale="90000"/>
          </a:bodyPr>
          <a:lstStyle/>
          <a:p>
            <a:r>
              <a:rPr lang="fr-FR" sz="3800" b="1" dirty="0"/>
              <a:t>PhD </a:t>
            </a:r>
            <a:br>
              <a:rPr lang="fr-FR" sz="3800" dirty="0"/>
            </a:br>
            <a:r>
              <a:rPr lang="fr-FR" sz="3800" dirty="0" err="1"/>
              <a:t>Multiscale</a:t>
            </a:r>
            <a:r>
              <a:rPr lang="fr-FR" sz="3800" dirty="0"/>
              <a:t> </a:t>
            </a:r>
            <a:r>
              <a:rPr lang="fr-FR" sz="3800" dirty="0" err="1"/>
              <a:t>hybrid</a:t>
            </a:r>
            <a:r>
              <a:rPr lang="fr-FR" sz="3800" dirty="0"/>
              <a:t> modeling </a:t>
            </a:r>
            <a:r>
              <a:rPr lang="fr-FR" sz="3800" dirty="0" err="1"/>
              <a:t>approach</a:t>
            </a:r>
            <a:r>
              <a:rPr lang="fr-FR" sz="3800" dirty="0"/>
              <a:t> for </a:t>
            </a:r>
            <a:r>
              <a:rPr lang="fr-FR" sz="3800" dirty="0" err="1"/>
              <a:t>intercrops</a:t>
            </a:r>
            <a:r>
              <a:rPr lang="fr-FR" sz="3800" dirty="0"/>
              <a:t> : the best of plant and </a:t>
            </a:r>
            <a:r>
              <a:rPr lang="fr-FR" sz="3800" dirty="0" err="1"/>
              <a:t>crop</a:t>
            </a:r>
            <a:r>
              <a:rPr lang="fr-FR" sz="3800" dirty="0"/>
              <a:t> </a:t>
            </a:r>
            <a:r>
              <a:rPr lang="fr-FR" sz="3800" dirty="0" err="1"/>
              <a:t>models</a:t>
            </a: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68540-E910-47EA-A792-A01E7009F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41537"/>
            <a:ext cx="10673027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Hypothesis : important to consider 3D plant architecture for modeling heterogeneous cropping systems </a:t>
            </a:r>
            <a:r>
              <a:rPr lang="en-US" sz="2400" dirty="0"/>
              <a:t>(</a:t>
            </a:r>
            <a:r>
              <a:rPr lang="en-US" sz="2400" dirty="0" err="1"/>
              <a:t>Laurans</a:t>
            </a:r>
            <a:r>
              <a:rPr lang="en-US" sz="2400" dirty="0"/>
              <a:t> et al., 2024)</a:t>
            </a:r>
          </a:p>
          <a:p>
            <a:r>
              <a:rPr lang="en-US" dirty="0"/>
              <a:t>But : measurements of 3D plants are hard to get </a:t>
            </a:r>
          </a:p>
          <a:p>
            <a:r>
              <a:rPr lang="en-US" dirty="0"/>
              <a:t>Known (for cereals and legumes, </a:t>
            </a:r>
            <a:r>
              <a:rPr lang="en-US" dirty="0" err="1"/>
              <a:t>cf</a:t>
            </a:r>
            <a:r>
              <a:rPr lang="en-US" dirty="0"/>
              <a:t> </a:t>
            </a:r>
            <a:r>
              <a:rPr lang="en-US" dirty="0" err="1"/>
              <a:t>Abichou</a:t>
            </a:r>
            <a:r>
              <a:rPr lang="en-US" dirty="0"/>
              <a:t> et al., 2018; ) : </a:t>
            </a:r>
          </a:p>
          <a:p>
            <a:pPr lvl="1"/>
            <a:r>
              <a:rPr lang="en-US" dirty="0"/>
              <a:t>allometric relationships between plant architectural parameters </a:t>
            </a:r>
          </a:p>
          <a:p>
            <a:pPr lvl="1"/>
            <a:r>
              <a:rPr lang="en-US" dirty="0"/>
              <a:t>development patterns </a:t>
            </a:r>
          </a:p>
          <a:p>
            <a:r>
              <a:rPr lang="en-US" dirty="0"/>
              <a:t>Crop models : </a:t>
            </a:r>
          </a:p>
          <a:p>
            <a:pPr lvl="1"/>
            <a:r>
              <a:rPr lang="en-US" dirty="0"/>
              <a:t>are easily calibrated </a:t>
            </a:r>
          </a:p>
          <a:p>
            <a:pPr lvl="1"/>
            <a:r>
              <a:rPr lang="en-US" dirty="0"/>
              <a:t>integrate environmental stresses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How to conceive a </a:t>
            </a:r>
            <a:r>
              <a:rPr lang="en-US" b="1" dirty="0"/>
              <a:t>3D plant model</a:t>
            </a:r>
            <a:r>
              <a:rPr lang="en-US" dirty="0"/>
              <a:t> with </a:t>
            </a:r>
            <a:r>
              <a:rPr lang="en-US" b="1" dirty="0"/>
              <a:t>few architectural and developmental parameters</a:t>
            </a:r>
            <a:r>
              <a:rPr lang="en-US" dirty="0"/>
              <a:t> and with a </a:t>
            </a:r>
            <a:r>
              <a:rPr lang="en-US" b="1" dirty="0"/>
              <a:t>canopy-scale constrain on growth </a:t>
            </a:r>
            <a:r>
              <a:rPr lang="en-US" dirty="0"/>
              <a:t>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F9844-2CD4-41DE-93C7-5F0780B682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"/>
          <a:stretch/>
        </p:blipFill>
        <p:spPr>
          <a:xfrm>
            <a:off x="10191750" y="226360"/>
            <a:ext cx="1162050" cy="14684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F7555F-EA80-4905-BC32-BCE11E9FA610}"/>
              </a:ext>
            </a:extLst>
          </p:cNvPr>
          <p:cNvSpPr txBox="1"/>
          <p:nvPr/>
        </p:nvSpPr>
        <p:spPr>
          <a:xfrm>
            <a:off x="10034323" y="1690688"/>
            <a:ext cx="147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Oriane Braud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26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FC0739FE-910F-4F75-B544-387A57700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7002" y="1968551"/>
            <a:ext cx="3044275" cy="268895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1EFAD37-33EC-486E-8740-F134BF8C3F5D}"/>
              </a:ext>
            </a:extLst>
          </p:cNvPr>
          <p:cNvSpPr txBox="1"/>
          <p:nvPr/>
        </p:nvSpPr>
        <p:spPr>
          <a:xfrm>
            <a:off x="7093788" y="363747"/>
            <a:ext cx="4147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Simulation of heterogeneous crop through time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AB32D8-7CBE-456B-873A-7819E9C64E55}"/>
              </a:ext>
            </a:extLst>
          </p:cNvPr>
          <p:cNvSpPr txBox="1"/>
          <p:nvPr/>
        </p:nvSpPr>
        <p:spPr>
          <a:xfrm>
            <a:off x="7093788" y="1331943"/>
            <a:ext cx="43339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Computation of processes at organ scale </a:t>
            </a:r>
          </a:p>
          <a:p>
            <a:r>
              <a:rPr lang="fr-FR" sz="2400" i="1" dirty="0"/>
              <a:t>E</a:t>
            </a:r>
            <a:r>
              <a:rPr lang="en-US" sz="2400" i="1" dirty="0"/>
              <a:t>x: light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5B9086-44D3-406A-A8CC-8E6E16F12CA0}"/>
              </a:ext>
            </a:extLst>
          </p:cNvPr>
          <p:cNvSpPr txBox="1"/>
          <p:nvPr/>
        </p:nvSpPr>
        <p:spPr>
          <a:xfrm>
            <a:off x="7056457" y="4796746"/>
            <a:ext cx="493070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Comparison with crop model outputs and analysis of the uncertainty associated to architecture parameters and spatial configuration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4561046-6708-4754-9C75-07E2BE4B8A95}"/>
              </a:ext>
            </a:extLst>
          </p:cNvPr>
          <p:cNvGrpSpPr/>
          <p:nvPr/>
        </p:nvGrpSpPr>
        <p:grpSpPr>
          <a:xfrm>
            <a:off x="345305" y="1728908"/>
            <a:ext cx="5908275" cy="4785839"/>
            <a:chOff x="330201" y="672982"/>
            <a:chExt cx="7251699" cy="5874044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74A0F44-71F7-421A-AE97-5ADB695E9786}"/>
                </a:ext>
              </a:extLst>
            </p:cNvPr>
            <p:cNvGrpSpPr/>
            <p:nvPr/>
          </p:nvGrpSpPr>
          <p:grpSpPr>
            <a:xfrm>
              <a:off x="330201" y="672982"/>
              <a:ext cx="7251699" cy="5512036"/>
              <a:chOff x="559294" y="97653"/>
              <a:chExt cx="8899133" cy="6764255"/>
            </a:xfrm>
          </p:grpSpPr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65B5E80D-6311-4B42-9C2B-CD3E86BA34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22" r="1793" b="1"/>
              <a:stretch/>
            </p:blipFill>
            <p:spPr>
              <a:xfrm>
                <a:off x="559294" y="97653"/>
                <a:ext cx="8637971" cy="6764255"/>
              </a:xfrm>
              <a:prstGeom prst="rect">
                <a:avLst/>
              </a:prstGeom>
            </p:spPr>
          </p:pic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59324260-70E0-4043-BCD0-C3E98CE774A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7137"/>
              <a:stretch/>
            </p:blipFill>
            <p:spPr>
              <a:xfrm>
                <a:off x="7131955" y="1180731"/>
                <a:ext cx="2326472" cy="4643025"/>
              </a:xfrm>
              <a:prstGeom prst="rect">
                <a:avLst/>
              </a:prstGeom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3A925B9D-D6E8-4F45-93F7-61C7030C947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1429"/>
              <a:stretch/>
            </p:blipFill>
            <p:spPr>
              <a:xfrm>
                <a:off x="4061069" y="3863751"/>
                <a:ext cx="1400234" cy="1968881"/>
              </a:xfrm>
              <a:prstGeom prst="rect">
                <a:avLst/>
              </a:prstGeom>
            </p:spPr>
          </p:pic>
          <p:pic>
            <p:nvPicPr>
              <p:cNvPr id="71" name="Picture 70">
                <a:extLst>
                  <a:ext uri="{FF2B5EF4-FFF2-40B4-BE49-F238E27FC236}">
                    <a16:creationId xmlns:a16="http://schemas.microsoft.com/office/drawing/2014/main" id="{952CE4B9-6FC0-4C0C-8D77-FDF6D690FC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15454"/>
              <a:stretch/>
            </p:blipFill>
            <p:spPr>
              <a:xfrm>
                <a:off x="2941929" y="5504155"/>
                <a:ext cx="335507" cy="310718"/>
              </a:xfrm>
              <a:prstGeom prst="rect">
                <a:avLst/>
              </a:prstGeom>
            </p:spPr>
          </p:pic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6A0ABF4-5DCA-4D61-AAF7-1A1ABCD6F8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06499" y="2113645"/>
                <a:ext cx="1003179" cy="0"/>
              </a:xfrm>
              <a:prstGeom prst="line">
                <a:avLst/>
              </a:prstGeom>
              <a:ln w="38100">
                <a:solidFill>
                  <a:srgbClr val="F392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908FA6C0-F210-4FF8-ABDA-9F893B1C81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06499" y="2113645"/>
                <a:ext cx="0" cy="1651015"/>
              </a:xfrm>
              <a:prstGeom prst="line">
                <a:avLst/>
              </a:prstGeom>
              <a:ln w="38100">
                <a:solidFill>
                  <a:srgbClr val="F39200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8DBC39F-9BDF-40A8-98EB-29FEDC74DA6B}"/>
                  </a:ext>
                </a:extLst>
              </p:cNvPr>
              <p:cNvSpPr txBox="1"/>
              <p:nvPr/>
            </p:nvSpPr>
            <p:spPr>
              <a:xfrm>
                <a:off x="4508956" y="2619366"/>
                <a:ext cx="810305" cy="5562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solidFill>
                      <a:srgbClr val="F39200"/>
                    </a:solidFill>
                  </a:rPr>
                  <a:t>dLA</a:t>
                </a:r>
                <a:endParaRPr lang="en-US" dirty="0">
                  <a:solidFill>
                    <a:srgbClr val="F39200"/>
                  </a:solidFill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1C52C7A-BA08-40AC-BD8C-862B8CEAAE74}"/>
                  </a:ext>
                </a:extLst>
              </p:cNvPr>
              <p:cNvSpPr txBox="1"/>
              <p:nvPr/>
            </p:nvSpPr>
            <p:spPr>
              <a:xfrm>
                <a:off x="5605643" y="1558141"/>
                <a:ext cx="1003178" cy="672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39200"/>
                    </a:solidFill>
                  </a:rPr>
                  <a:t>dt</a:t>
                </a: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470D1A5D-C43C-4EB1-B634-6E19BFFB987F}"/>
                  </a:ext>
                </a:extLst>
              </p:cNvPr>
              <p:cNvGrpSpPr/>
              <p:nvPr/>
            </p:nvGrpSpPr>
            <p:grpSpPr>
              <a:xfrm>
                <a:off x="5433038" y="2330132"/>
                <a:ext cx="2237270" cy="3570468"/>
                <a:chOff x="6569380" y="2330132"/>
                <a:chExt cx="2237270" cy="3570468"/>
              </a:xfrm>
            </p:grpSpPr>
            <p:pic>
              <p:nvPicPr>
                <p:cNvPr id="77" name="Picture 76">
                  <a:extLst>
                    <a:ext uri="{FF2B5EF4-FFF2-40B4-BE49-F238E27FC236}">
                      <a16:creationId xmlns:a16="http://schemas.microsoft.com/office/drawing/2014/main" id="{B04D186A-F0D4-4E4E-BF7B-317561CD5C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29568" y="3378161"/>
                  <a:ext cx="1729890" cy="2522439"/>
                </a:xfrm>
                <a:prstGeom prst="rect">
                  <a:avLst/>
                </a:prstGeom>
              </p:spPr>
            </p:pic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22D04C1D-CDFC-4A55-9D39-FA56986283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569380" y="2330132"/>
                  <a:ext cx="2237270" cy="1434528"/>
                </a:xfrm>
                <a:prstGeom prst="rect">
                  <a:avLst/>
                </a:prstGeom>
              </p:spPr>
            </p:pic>
          </p:grpSp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6131D9C-8CDB-4FA5-AA73-144893663CD9}"/>
                </a:ext>
              </a:extLst>
            </p:cNvPr>
            <p:cNvSpPr txBox="1"/>
            <p:nvPr/>
          </p:nvSpPr>
          <p:spPr>
            <a:xfrm>
              <a:off x="1810136" y="5716029"/>
              <a:ext cx="5029200" cy="8309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Thermal time (°</a:t>
              </a:r>
              <a:r>
                <a:rPr lang="fr-FR" sz="2400" dirty="0" err="1"/>
                <a:t>C.d</a:t>
              </a:r>
              <a:r>
                <a:rPr lang="fr-FR" sz="2400" dirty="0"/>
                <a:t>)</a:t>
              </a:r>
            </a:p>
            <a:p>
              <a:pPr algn="ctr"/>
              <a:endParaRPr lang="en-US" sz="2400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7220A2F-8F07-4215-A2A1-F791D6DD8B5D}"/>
                </a:ext>
              </a:extLst>
            </p:cNvPr>
            <p:cNvSpPr txBox="1"/>
            <p:nvPr/>
          </p:nvSpPr>
          <p:spPr>
            <a:xfrm rot="16200000">
              <a:off x="-617084" y="2858528"/>
              <a:ext cx="235623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2400" dirty="0"/>
                <a:t>LAI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44FCDDAE-5D3A-4C72-AB4A-9A9C82C80B6D}"/>
              </a:ext>
            </a:extLst>
          </p:cNvPr>
          <p:cNvSpPr txBox="1"/>
          <p:nvPr/>
        </p:nvSpPr>
        <p:spPr>
          <a:xfrm>
            <a:off x="620167" y="363747"/>
            <a:ext cx="3730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Organ growth constrained by canopy-scale dynamics generated by crop model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0C64B936-50D9-4AA5-B347-BC7AFCE2FA1B}"/>
              </a:ext>
            </a:extLst>
          </p:cNvPr>
          <p:cNvCxnSpPr/>
          <p:nvPr/>
        </p:nvCxnSpPr>
        <p:spPr>
          <a:xfrm>
            <a:off x="6654800" y="444500"/>
            <a:ext cx="0" cy="59055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62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8112BF4-01F0-4888-85F4-1108B60C3132}"/>
              </a:ext>
            </a:extLst>
          </p:cNvPr>
          <p:cNvGrpSpPr/>
          <p:nvPr/>
        </p:nvGrpSpPr>
        <p:grpSpPr>
          <a:xfrm>
            <a:off x="0" y="2113958"/>
            <a:ext cx="7238374" cy="4354190"/>
            <a:chOff x="284338" y="1573509"/>
            <a:chExt cx="7687058" cy="4624092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9C7AB40C-38BA-40A1-9200-8DA864D79784}"/>
                </a:ext>
              </a:extLst>
            </p:cNvPr>
            <p:cNvGrpSpPr/>
            <p:nvPr/>
          </p:nvGrpSpPr>
          <p:grpSpPr>
            <a:xfrm>
              <a:off x="284338" y="1573509"/>
              <a:ext cx="7687058" cy="4624092"/>
              <a:chOff x="1322452" y="557508"/>
              <a:chExt cx="9547095" cy="5742983"/>
            </a:xfrm>
          </p:grpSpPr>
          <p:pic>
            <p:nvPicPr>
              <p:cNvPr id="56" name="Picture 55">
                <a:extLst>
                  <a:ext uri="{FF2B5EF4-FFF2-40B4-BE49-F238E27FC236}">
                    <a16:creationId xmlns:a16="http://schemas.microsoft.com/office/drawing/2014/main" id="{67FFC6DA-CD13-4141-97A6-9AC3F8EB90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22452" y="557508"/>
                <a:ext cx="9547095" cy="5742983"/>
              </a:xfrm>
              <a:prstGeom prst="rect">
                <a:avLst/>
              </a:prstGeom>
            </p:spPr>
          </p:pic>
          <p:sp>
            <p:nvSpPr>
              <p:cNvPr id="53" name="Arc 52">
                <a:extLst>
                  <a:ext uri="{FF2B5EF4-FFF2-40B4-BE49-F238E27FC236}">
                    <a16:creationId xmlns:a16="http://schemas.microsoft.com/office/drawing/2014/main" id="{B1DD5B7C-0C69-439A-BF46-9C40F91B33FA}"/>
                  </a:ext>
                </a:extLst>
              </p:cNvPr>
              <p:cNvSpPr/>
              <p:nvPr/>
            </p:nvSpPr>
            <p:spPr>
              <a:xfrm rot="1547670">
                <a:off x="3193839" y="1173367"/>
                <a:ext cx="711622" cy="705376"/>
              </a:xfrm>
              <a:prstGeom prst="arc">
                <a:avLst>
                  <a:gd name="adj1" fmla="val 10822091"/>
                  <a:gd name="adj2" fmla="val 0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Arc 53">
                <a:extLst>
                  <a:ext uri="{FF2B5EF4-FFF2-40B4-BE49-F238E27FC236}">
                    <a16:creationId xmlns:a16="http://schemas.microsoft.com/office/drawing/2014/main" id="{7F2923D8-38EA-47CA-8D80-7508E12C2F1D}"/>
                  </a:ext>
                </a:extLst>
              </p:cNvPr>
              <p:cNvSpPr/>
              <p:nvPr/>
            </p:nvSpPr>
            <p:spPr>
              <a:xfrm rot="21405153">
                <a:off x="6964755" y="1196634"/>
                <a:ext cx="1497861" cy="1036037"/>
              </a:xfrm>
              <a:prstGeom prst="arc">
                <a:avLst>
                  <a:gd name="adj1" fmla="val 13046312"/>
                  <a:gd name="adj2" fmla="val 1815059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Arc 56">
                <a:extLst>
                  <a:ext uri="{FF2B5EF4-FFF2-40B4-BE49-F238E27FC236}">
                    <a16:creationId xmlns:a16="http://schemas.microsoft.com/office/drawing/2014/main" id="{A45E4550-B420-4310-84AE-0D1E91CEC20F}"/>
                  </a:ext>
                </a:extLst>
              </p:cNvPr>
              <p:cNvSpPr/>
              <p:nvPr/>
            </p:nvSpPr>
            <p:spPr>
              <a:xfrm rot="18460393">
                <a:off x="6341019" y="2009234"/>
                <a:ext cx="711622" cy="705376"/>
              </a:xfrm>
              <a:prstGeom prst="arc">
                <a:avLst>
                  <a:gd name="adj1" fmla="val 18836553"/>
                  <a:gd name="adj2" fmla="val 0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9BB9700-67E7-44CF-B282-F4D3FEB1836A}"/>
                </a:ext>
              </a:extLst>
            </p:cNvPr>
            <p:cNvSpPr txBox="1"/>
            <p:nvPr/>
          </p:nvSpPr>
          <p:spPr>
            <a:xfrm>
              <a:off x="4650999" y="3634636"/>
              <a:ext cx="15587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Internode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87AC5A8-789F-4194-9CA3-128B861497D3}"/>
                </a:ext>
              </a:extLst>
            </p:cNvPr>
            <p:cNvSpPr txBox="1"/>
            <p:nvPr/>
          </p:nvSpPr>
          <p:spPr>
            <a:xfrm>
              <a:off x="2934087" y="5333808"/>
              <a:ext cx="7705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Leaf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F56306C-141C-4FC9-9D3C-7874F45E2C95}"/>
              </a:ext>
            </a:extLst>
          </p:cNvPr>
          <p:cNvSpPr txBox="1"/>
          <p:nvPr/>
        </p:nvSpPr>
        <p:spPr>
          <a:xfrm>
            <a:off x="1551050" y="659836"/>
            <a:ext cx="33393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Geometrical parameters of potential plant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853A12-D3E8-4564-BA10-F3AD62F7A010}"/>
              </a:ext>
            </a:extLst>
          </p:cNvPr>
          <p:cNvSpPr txBox="1"/>
          <p:nvPr/>
        </p:nvSpPr>
        <p:spPr>
          <a:xfrm>
            <a:off x="8482960" y="659835"/>
            <a:ext cx="21579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Developmental parameters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B7FDA25-F044-427F-BB53-98AFAE5554D2}"/>
              </a:ext>
            </a:extLst>
          </p:cNvPr>
          <p:cNvGrpSpPr/>
          <p:nvPr/>
        </p:nvGrpSpPr>
        <p:grpSpPr>
          <a:xfrm>
            <a:off x="6566152" y="1897752"/>
            <a:ext cx="5530323" cy="3953855"/>
            <a:chOff x="6566152" y="1897752"/>
            <a:chExt cx="5530323" cy="3953855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1A70A81-10B2-44F2-A72E-5217DD97395F}"/>
                </a:ext>
              </a:extLst>
            </p:cNvPr>
            <p:cNvSpPr/>
            <p:nvPr/>
          </p:nvSpPr>
          <p:spPr>
            <a:xfrm>
              <a:off x="6590034" y="2248693"/>
              <a:ext cx="5308401" cy="1126847"/>
            </a:xfrm>
            <a:prstGeom prst="rect">
              <a:avLst/>
            </a:prstGeom>
            <a:solidFill>
              <a:schemeClr val="bg1">
                <a:alpha val="50196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D1766623-D4B8-497A-B975-F543CA9B22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156" b="7118"/>
            <a:stretch/>
          </p:blipFill>
          <p:spPr bwMode="auto">
            <a:xfrm>
              <a:off x="6928960" y="3836073"/>
              <a:ext cx="4800115" cy="20155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53A313EA-10B4-40D4-B8F4-7A38F20DA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98260" y="2630421"/>
              <a:ext cx="382932" cy="716289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7286BDC8-88C7-4E73-9638-A5151D0A1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9003" y="2276724"/>
              <a:ext cx="757025" cy="1098816"/>
            </a:xfrm>
            <a:prstGeom prst="rect">
              <a:avLst/>
            </a:prstGeom>
          </p:spPr>
        </p:pic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26DDF8B0-7521-425F-8143-F41F6D0D3F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2978" y="2248693"/>
              <a:ext cx="1218724" cy="1197280"/>
            </a:xfrm>
            <a:prstGeom prst="rect">
              <a:avLst/>
            </a:prstGeom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EF5BA700-E977-46A0-B38C-6D68882F8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22714" y="2163815"/>
              <a:ext cx="1727081" cy="1282298"/>
            </a:xfrm>
            <a:prstGeom prst="rect">
              <a:avLst/>
            </a:prstGeom>
          </p:spPr>
        </p:pic>
        <p:pic>
          <p:nvPicPr>
            <p:cNvPr id="89" name="Picture 88">
              <a:extLst>
                <a:ext uri="{FF2B5EF4-FFF2-40B4-BE49-F238E27FC236}">
                  <a16:creationId xmlns:a16="http://schemas.microsoft.com/office/drawing/2014/main" id="{47197680-28B6-4425-AC7F-15A29B7BD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05481" y="2183099"/>
              <a:ext cx="1837622" cy="1282297"/>
            </a:xfrm>
            <a:prstGeom prst="rect">
              <a:avLst/>
            </a:prstGeom>
          </p:spPr>
        </p:pic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14D10203-22C9-4DE6-A207-7D0ED26F49D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74391" y="2208499"/>
              <a:ext cx="2022084" cy="1376140"/>
            </a:xfrm>
            <a:prstGeom prst="rect">
              <a:avLst/>
            </a:prstGeom>
          </p:spPr>
        </p:pic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47F4BB9-DE09-4CCE-A357-F34C89E7F1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0034" y="3377693"/>
              <a:ext cx="3126059" cy="80165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C9357EC1-4117-483B-B299-47E8B37A84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50321" y="3375540"/>
              <a:ext cx="848114" cy="77085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A4FDC0A-A2EB-41B3-A158-A97862ED4708}"/>
                </a:ext>
              </a:extLst>
            </p:cNvPr>
            <p:cNvSpPr txBox="1"/>
            <p:nvPr/>
          </p:nvSpPr>
          <p:spPr>
            <a:xfrm>
              <a:off x="6566152" y="1897752"/>
              <a:ext cx="16321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Growing leaf</a:t>
              </a: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1A67419D-1184-4560-8EBE-E7221D41491E}"/>
              </a:ext>
            </a:extLst>
          </p:cNvPr>
          <p:cNvSpPr txBox="1"/>
          <p:nvPr/>
        </p:nvSpPr>
        <p:spPr>
          <a:xfrm>
            <a:off x="3072358" y="1883056"/>
            <a:ext cx="1467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Phytomer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96024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8813</TotalTime>
  <Words>168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PhD  Multiscale hybrid modeling approach for intercrops : the best of plant and crop models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Oriane BRAUD</dc:creator>
  <cp:lastModifiedBy>Oriane BRAUD</cp:lastModifiedBy>
  <cp:revision>43</cp:revision>
  <dcterms:created xsi:type="dcterms:W3CDTF">2024-10-30T12:40:39Z</dcterms:created>
  <dcterms:modified xsi:type="dcterms:W3CDTF">2024-11-05T15:34:17Z</dcterms:modified>
</cp:coreProperties>
</file>