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22"/>
  </p:notesMasterIdLst>
  <p:sldIdLst>
    <p:sldId id="256" r:id="rId4"/>
    <p:sldId id="259" r:id="rId5"/>
    <p:sldId id="262" r:id="rId6"/>
    <p:sldId id="260" r:id="rId7"/>
    <p:sldId id="263" r:id="rId8"/>
    <p:sldId id="283" r:id="rId9"/>
    <p:sldId id="285" r:id="rId10"/>
    <p:sldId id="267" r:id="rId11"/>
    <p:sldId id="261" r:id="rId12"/>
    <p:sldId id="271" r:id="rId13"/>
    <p:sldId id="273" r:id="rId14"/>
    <p:sldId id="274" r:id="rId15"/>
    <p:sldId id="277" r:id="rId16"/>
    <p:sldId id="276" r:id="rId17"/>
    <p:sldId id="270" r:id="rId18"/>
    <p:sldId id="257" r:id="rId19"/>
    <p:sldId id="284" r:id="rId20"/>
    <p:sldId id="282"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8745"/>
    <a:srgbClr val="F39200"/>
    <a:srgbClr val="399758"/>
    <a:srgbClr val="000000"/>
    <a:srgbClr val="24743A"/>
    <a:srgbClr val="FFC000"/>
    <a:srgbClr val="E8E8E8"/>
    <a:srgbClr val="CC3399"/>
    <a:srgbClr val="9966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94" autoAdjust="0"/>
    <p:restoredTop sz="88255" autoAdjust="0"/>
  </p:normalViewPr>
  <p:slideViewPr>
    <p:cSldViewPr snapToGrid="0">
      <p:cViewPr varScale="1">
        <p:scale>
          <a:sx n="76" d="100"/>
          <a:sy n="76" d="100"/>
        </p:scale>
        <p:origin x="1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C0664-3760-4B25-9F25-C7AAC42DAE60}" type="datetimeFigureOut">
              <a:rPr lang="en-US" smtClean="0"/>
              <a:t>6/26/2024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0A799-F059-4133-8369-1F74AA1BF689}" type="slidenum">
              <a:rPr lang="en-US" smtClean="0"/>
              <a:t>‹#›</a:t>
            </a:fld>
            <a:endParaRPr lang="en-US"/>
          </a:p>
        </p:txBody>
      </p:sp>
    </p:spTree>
    <p:extLst>
      <p:ext uri="{BB962C8B-B14F-4D97-AF65-F5344CB8AC3E}">
        <p14:creationId xmlns:p14="http://schemas.microsoft.com/office/powerpoint/2010/main" val="11552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Plantes annuelles parmi les légumineuses et les graminées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a:t>
            </a:fld>
            <a:endParaRPr lang="en-US"/>
          </a:p>
        </p:txBody>
      </p:sp>
    </p:spTree>
    <p:extLst>
      <p:ext uri="{BB962C8B-B14F-4D97-AF65-F5344CB8AC3E}">
        <p14:creationId xmlns:p14="http://schemas.microsoft.com/office/powerpoint/2010/main" val="1660901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Combinaison de plusieurs facteurs</a:t>
            </a:r>
          </a:p>
          <a:p>
            <a:r>
              <a:rPr lang="fr-FR" dirty="0"/>
              <a:t>M : comment on sème et quand</a:t>
            </a:r>
          </a:p>
          <a:p>
            <a:r>
              <a:rPr lang="fr-FR" dirty="0"/>
              <a:t>Transition : </a:t>
            </a:r>
            <a:r>
              <a:rPr lang="fr-FR" dirty="0" err="1"/>
              <a:t>otimiser</a:t>
            </a:r>
            <a:r>
              <a:rPr lang="fr-FR" dirty="0"/>
              <a:t> ces combinaisons à l’aide de modèles, première étape avant l’expé en champs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3</a:t>
            </a:fld>
            <a:endParaRPr lang="en-US"/>
          </a:p>
        </p:txBody>
      </p:sp>
    </p:spTree>
    <p:extLst>
      <p:ext uri="{BB962C8B-B14F-4D97-AF65-F5344CB8AC3E}">
        <p14:creationId xmlns:p14="http://schemas.microsoft.com/office/powerpoint/2010/main" val="56311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illustrer les caractéristiques, ex process </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4</a:t>
            </a:fld>
            <a:endParaRPr lang="en-US"/>
          </a:p>
        </p:txBody>
      </p:sp>
    </p:spTree>
    <p:extLst>
      <p:ext uri="{BB962C8B-B14F-4D97-AF65-F5344CB8AC3E}">
        <p14:creationId xmlns:p14="http://schemas.microsoft.com/office/powerpoint/2010/main" val="114407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Complémentarité des modèles, </a:t>
            </a:r>
            <a:r>
              <a:rPr lang="fr-FR" dirty="0" err="1"/>
              <a:t>trade</a:t>
            </a:r>
            <a:r>
              <a:rPr lang="fr-FR" dirty="0"/>
              <a:t>-off robustesse et précision</a:t>
            </a:r>
          </a:p>
          <a:p>
            <a:r>
              <a:rPr lang="fr-FR" dirty="0" err="1"/>
              <a:t>Outro</a:t>
            </a:r>
            <a:r>
              <a:rPr lang="fr-FR" dirty="0"/>
              <a:t> : besoin d’approches intermédiaires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6</a:t>
            </a:fld>
            <a:endParaRPr lang="en-US"/>
          </a:p>
        </p:txBody>
      </p:sp>
    </p:spTree>
    <p:extLst>
      <p:ext uri="{BB962C8B-B14F-4D97-AF65-F5344CB8AC3E}">
        <p14:creationId xmlns:p14="http://schemas.microsoft.com/office/powerpoint/2010/main" val="2957065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Formalisme hybride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7</a:t>
            </a:fld>
            <a:endParaRPr lang="en-US"/>
          </a:p>
        </p:txBody>
      </p:sp>
    </p:spTree>
    <p:extLst>
      <p:ext uri="{BB962C8B-B14F-4D97-AF65-F5344CB8AC3E}">
        <p14:creationId xmlns:p14="http://schemas.microsoft.com/office/powerpoint/2010/main" val="756193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Gradient de considération de hétérogénéité</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8</a:t>
            </a:fld>
            <a:endParaRPr lang="en-US"/>
          </a:p>
        </p:txBody>
      </p:sp>
    </p:spTree>
    <p:extLst>
      <p:ext uri="{BB962C8B-B14F-4D97-AF65-F5344CB8AC3E}">
        <p14:creationId xmlns:p14="http://schemas.microsoft.com/office/powerpoint/2010/main" val="2810417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H1 : Avec peu de paramètres architecturaux (topologie, géométrie et développement), on peut reconstruire le </a:t>
            </a:r>
            <a:r>
              <a:rPr lang="fr-FR" dirty="0" err="1"/>
              <a:t>morphospace</a:t>
            </a:r>
            <a:r>
              <a:rPr lang="fr-FR" dirty="0"/>
              <a:t> correspondant à une espèce. On définit un schéma spatial et temporel de semis. Et on contraint la croissance du peuplement ainsi créé par les sorties d’un modèle de culture.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est possible de reconstruire au cours du temps une culture en 3D, dont la croissance est contrainte par des variables intégratives dynamiques d’une simulation d’un modèle de culture, en prenant en compte des traits architecturaux des plantes et leur disposition spatiale dans des cultures associées, non pris en compte dans le modèle de culture et qui constituent donc des degrés de libertés fixés dans le modèle paramétrique.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H2 : Les </a:t>
            </a:r>
            <a:r>
              <a:rPr lang="fr-FR" b="1" dirty="0"/>
              <a:t>dates de semis</a:t>
            </a:r>
            <a:r>
              <a:rPr lang="fr-FR" dirty="0"/>
              <a:t> conditionnent les dynamiques de dominance et donc d'ombrage dans le couvert hétérogène. Les effets de bord sont différents en fonction de </a:t>
            </a:r>
            <a:r>
              <a:rPr lang="fr-FR" b="1" dirty="0"/>
              <a:t>l'arrangement spatial </a:t>
            </a:r>
            <a:r>
              <a:rPr lang="fr-FR" dirty="0"/>
              <a:t>en rangées ou en damier. Certains </a:t>
            </a:r>
            <a:r>
              <a:rPr lang="fr-FR" b="1" dirty="0"/>
              <a:t>traits architecturaux</a:t>
            </a:r>
            <a:r>
              <a:rPr lang="fr-FR" dirty="0"/>
              <a:t>, tels que le nombre de ramifications, la longueur des entrenœuds et la courbure des feuilles, ont, à surface foliaire égale, un effet significatif sur l'interception de la lumière par les cultures en mélange.​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10</a:t>
            </a:fld>
            <a:endParaRPr lang="en-US"/>
          </a:p>
        </p:txBody>
      </p:sp>
    </p:spTree>
    <p:extLst>
      <p:ext uri="{BB962C8B-B14F-4D97-AF65-F5344CB8AC3E}">
        <p14:creationId xmlns:p14="http://schemas.microsoft.com/office/powerpoint/2010/main" val="2216816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en conservant un nombre restreint de paramètres et une intensité de calcul faible.</a:t>
            </a:r>
            <a:endParaRPr lang="en-US" sz="1200" dirty="0"/>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12</a:t>
            </a:fld>
            <a:endParaRPr lang="en-US"/>
          </a:p>
        </p:txBody>
      </p:sp>
    </p:spTree>
    <p:extLst>
      <p:ext uri="{BB962C8B-B14F-4D97-AF65-F5344CB8AC3E}">
        <p14:creationId xmlns:p14="http://schemas.microsoft.com/office/powerpoint/2010/main" val="175590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au lieu de l’émergence du LAI</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14</a:t>
            </a:fld>
            <a:endParaRPr lang="en-US"/>
          </a:p>
        </p:txBody>
      </p:sp>
    </p:spTree>
    <p:extLst>
      <p:ext uri="{BB962C8B-B14F-4D97-AF65-F5344CB8AC3E}">
        <p14:creationId xmlns:p14="http://schemas.microsoft.com/office/powerpoint/2010/main" val="2068014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FA5C1AAA-5A80-4433-9CCC-2BD37943DF7D}" type="datetime1">
              <a:rPr lang="fr-FR" smtClean="0"/>
              <a:t>27/06/2024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9C02FF6-629E-41B3-BC9E-D5EE36D6CBC9}" type="datetime1">
              <a:rPr lang="fr-FR" smtClean="0"/>
              <a:t>27/06/2024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DB539012-6487-4F9D-AB3D-E0E3B9687B6D}" type="datetime1">
              <a:rPr lang="fr-FR" smtClean="0"/>
              <a:t>27/06/2024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D865241-EF09-44EB-A33F-57F20EF66576}" type="datetime1">
              <a:rPr lang="fr-FR" smtClean="0"/>
              <a:t>27/06/2024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71FD635-0FB8-46AF-983E-9D19A0553FDC}" type="datetime1">
              <a:rPr lang="fr-FR" smtClean="0"/>
              <a:t>27/06/2024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146E2D03-4477-4FB7-B8AD-01B7434C3310}" type="datetime1">
              <a:rPr lang="fr-FR" smtClean="0"/>
              <a:t>27/06/2024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70ADFC5-CF41-4A4E-B62C-385B9045A0B7}" type="datetime1">
              <a:rPr lang="fr-FR" smtClean="0"/>
              <a:t>27/06/2024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D9EB2D86-A02F-43C6-935F-28C6D3F2359F}" type="datetime1">
              <a:rPr lang="fr-FR" smtClean="0"/>
              <a:t>27/06/2024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46AFD8E6-1F0C-4A82-B07A-8417B5AA1665}" type="datetime1">
              <a:rPr lang="fr-FR" smtClean="0"/>
              <a:t>27/06/2024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03A0AF8-374E-4338-BB65-AEAFB3061813}" type="datetime1">
              <a:rPr lang="fr-FR" smtClean="0"/>
              <a:t>27/06/2024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F2138A5-29AE-4654-B763-499787E4A609}" type="datetime1">
              <a:rPr lang="fr-FR" smtClean="0"/>
              <a:t>27/06/2024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367F4A-37ED-48D4-BB5D-9CC0B365BAB6}" type="datetime1">
              <a:rPr lang="fr-FR" smtClean="0"/>
              <a:t>27/06/2024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7.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7.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logo, symbole, Police, Emblème&#10;&#10;Description générée automatiquement">
            <a:extLst>
              <a:ext uri="{FF2B5EF4-FFF2-40B4-BE49-F238E27FC236}">
                <a16:creationId xmlns:a16="http://schemas.microsoft.com/office/drawing/2014/main" id="{0F1B57BE-99A8-48AD-010D-6FDB4CE832E8}"/>
              </a:ext>
            </a:extLst>
          </p:cNvPr>
          <p:cNvPicPr>
            <a:picLocks noChangeAspect="1"/>
          </p:cNvPicPr>
          <p:nvPr/>
        </p:nvPicPr>
        <p:blipFill>
          <a:blip r:embed="rId2"/>
          <a:stretch>
            <a:fillRect/>
          </a:stretch>
        </p:blipFill>
        <p:spPr>
          <a:xfrm>
            <a:off x="9082544" y="3159176"/>
            <a:ext cx="1093934" cy="1067083"/>
          </a:xfrm>
          <a:prstGeom prst="rect">
            <a:avLst/>
          </a:prstGeom>
        </p:spPr>
      </p:pic>
      <p:sp>
        <p:nvSpPr>
          <p:cNvPr id="2" name="Titre 1"/>
          <p:cNvSpPr>
            <a:spLocks noGrp="1"/>
          </p:cNvSpPr>
          <p:nvPr>
            <p:ph type="ctrTitle"/>
          </p:nvPr>
        </p:nvSpPr>
        <p:spPr>
          <a:xfrm>
            <a:off x="1382162" y="227687"/>
            <a:ext cx="9427675" cy="2595418"/>
          </a:xfrm>
        </p:spPr>
        <p:txBody>
          <a:bodyPr>
            <a:normAutofit fontScale="90000"/>
          </a:bodyPr>
          <a:lstStyle/>
          <a:p>
            <a:r>
              <a:rPr lang="fr-FR" sz="4400" dirty="0">
                <a:solidFill>
                  <a:schemeClr val="tx1">
                    <a:lumMod val="65000"/>
                    <a:lumOff val="35000"/>
                  </a:schemeClr>
                </a:solidFill>
              </a:rPr>
              <a:t>Comité de Suivi Individuel de 1</a:t>
            </a:r>
            <a:r>
              <a:rPr lang="fr-FR" sz="4400" baseline="30000" dirty="0">
                <a:solidFill>
                  <a:schemeClr val="tx1">
                    <a:lumMod val="65000"/>
                    <a:lumOff val="35000"/>
                  </a:schemeClr>
                </a:solidFill>
              </a:rPr>
              <a:t>ère</a:t>
            </a:r>
            <a:r>
              <a:rPr lang="fr-FR" sz="4400" dirty="0">
                <a:solidFill>
                  <a:schemeClr val="tx1">
                    <a:lumMod val="65000"/>
                    <a:lumOff val="35000"/>
                  </a:schemeClr>
                </a:solidFill>
              </a:rPr>
              <a:t> année</a:t>
            </a:r>
            <a:br>
              <a:rPr lang="fr-FR" b="1" dirty="0"/>
            </a:br>
            <a:r>
              <a:rPr lang="fr-FR" sz="4000" dirty="0"/>
              <a:t>Thèse : </a:t>
            </a:r>
            <a:r>
              <a:rPr lang="fr-FR" sz="4000" b="1" dirty="0"/>
              <a:t>Environnement de modélisation hybride multi-échelle pour les cultures associées : </a:t>
            </a:r>
          </a:p>
          <a:p>
            <a:r>
              <a:rPr lang="fr-FR" sz="3100" b="1" dirty="0"/>
              <a:t>obtenir le meilleur des modèles de plantes et de culture</a:t>
            </a:r>
          </a:p>
        </p:txBody>
      </p:sp>
      <p:sp>
        <p:nvSpPr>
          <p:cNvPr id="3" name="Sous-titre 2"/>
          <p:cNvSpPr>
            <a:spLocks noGrp="1"/>
          </p:cNvSpPr>
          <p:nvPr>
            <p:ph type="subTitle" idx="1"/>
          </p:nvPr>
        </p:nvSpPr>
        <p:spPr>
          <a:xfrm>
            <a:off x="1524000" y="3322078"/>
            <a:ext cx="9144000" cy="1655762"/>
          </a:xfrm>
        </p:spPr>
        <p:txBody>
          <a:bodyPr vert="horz" lIns="91440" tIns="45720" rIns="91440" bIns="45720" rtlCol="0" anchor="t">
            <a:normAutofit/>
          </a:bodyPr>
          <a:lstStyle/>
          <a:p>
            <a:r>
              <a:rPr lang="fr-FR" b="1" dirty="0"/>
              <a:t>Oriane Braud</a:t>
            </a:r>
          </a:p>
          <a:p>
            <a:endParaRPr lang="fr-FR" dirty="0"/>
          </a:p>
          <a:p>
            <a:r>
              <a:rPr lang="fr-FR" dirty="0"/>
              <a:t>11/2023   -   11/2026</a:t>
            </a:r>
          </a:p>
        </p:txBody>
      </p:sp>
      <p:sp>
        <p:nvSpPr>
          <p:cNvPr id="4" name="ZoneTexte 3">
            <a:extLst>
              <a:ext uri="{FF2B5EF4-FFF2-40B4-BE49-F238E27FC236}">
                <a16:creationId xmlns:a16="http://schemas.microsoft.com/office/drawing/2014/main" id="{FB8632B3-1BED-90E4-6403-14ADBF01E39C}"/>
              </a:ext>
            </a:extLst>
          </p:cNvPr>
          <p:cNvSpPr txBox="1"/>
          <p:nvPr/>
        </p:nvSpPr>
        <p:spPr>
          <a:xfrm>
            <a:off x="255496" y="4779922"/>
            <a:ext cx="401933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i="1" dirty="0">
                <a:solidFill>
                  <a:schemeClr val="tx1">
                    <a:lumMod val="65000"/>
                    <a:lumOff val="35000"/>
                  </a:schemeClr>
                </a:solidFill>
              </a:rPr>
              <a:t>Encadrement :</a:t>
            </a:r>
          </a:p>
          <a:p>
            <a:pPr algn="ctr"/>
            <a:r>
              <a:rPr lang="fr-FR" dirty="0">
                <a:solidFill>
                  <a:schemeClr val="tx1">
                    <a:lumMod val="65000"/>
                    <a:lumOff val="35000"/>
                  </a:schemeClr>
                </a:solidFill>
                <a:ea typeface="+mn-lt"/>
                <a:cs typeface="+mn-lt"/>
              </a:rPr>
              <a:t>Myriam Adam (HDR)</a:t>
            </a:r>
            <a:endParaRPr lang="fr-FR" dirty="0">
              <a:solidFill>
                <a:schemeClr val="tx1">
                  <a:lumMod val="65000"/>
                  <a:lumOff val="35000"/>
                </a:schemeClr>
              </a:solidFill>
            </a:endParaRPr>
          </a:p>
          <a:p>
            <a:pPr algn="ctr"/>
            <a:r>
              <a:rPr lang="fr-FR" dirty="0">
                <a:solidFill>
                  <a:schemeClr val="tx1">
                    <a:lumMod val="65000"/>
                    <a:lumOff val="35000"/>
                  </a:schemeClr>
                </a:solidFill>
                <a:ea typeface="+mn-lt"/>
                <a:cs typeface="+mn-lt"/>
              </a:rPr>
              <a:t>Christophe </a:t>
            </a:r>
            <a:r>
              <a:rPr lang="fr-FR" dirty="0" err="1">
                <a:solidFill>
                  <a:schemeClr val="tx1">
                    <a:lumMod val="65000"/>
                    <a:lumOff val="35000"/>
                  </a:schemeClr>
                </a:solidFill>
                <a:ea typeface="+mn-lt"/>
                <a:cs typeface="+mn-lt"/>
              </a:rPr>
              <a:t>Pradal</a:t>
            </a:r>
            <a:endParaRPr lang="fr-FR" dirty="0">
              <a:solidFill>
                <a:schemeClr val="tx1">
                  <a:lumMod val="65000"/>
                  <a:lumOff val="35000"/>
                </a:schemeClr>
              </a:solidFill>
              <a:ea typeface="+mn-lt"/>
              <a:cs typeface="+mn-lt"/>
            </a:endParaRPr>
          </a:p>
          <a:p>
            <a:pPr algn="ctr"/>
            <a:r>
              <a:rPr lang="fr-FR" dirty="0">
                <a:solidFill>
                  <a:schemeClr val="tx1">
                    <a:lumMod val="65000"/>
                    <a:lumOff val="35000"/>
                  </a:schemeClr>
                </a:solidFill>
                <a:ea typeface="+mn-lt"/>
                <a:cs typeface="+mn-lt"/>
              </a:rPr>
              <a:t>Marc Jaeger (HDR)</a:t>
            </a:r>
          </a:p>
          <a:p>
            <a:pPr algn="ctr"/>
            <a:r>
              <a:rPr lang="fr-FR" dirty="0">
                <a:solidFill>
                  <a:schemeClr val="tx1">
                    <a:lumMod val="65000"/>
                    <a:lumOff val="35000"/>
                  </a:schemeClr>
                </a:solidFill>
              </a:rPr>
              <a:t>Rémi </a:t>
            </a:r>
            <a:r>
              <a:rPr lang="fr-FR" dirty="0" err="1">
                <a:solidFill>
                  <a:schemeClr val="tx1">
                    <a:lumMod val="65000"/>
                    <a:lumOff val="35000"/>
                  </a:schemeClr>
                </a:solidFill>
              </a:rPr>
              <a:t>Vezy</a:t>
            </a:r>
            <a:endParaRPr lang="fr-FR" dirty="0">
              <a:solidFill>
                <a:schemeClr val="tx1">
                  <a:lumMod val="65000"/>
                  <a:lumOff val="35000"/>
                </a:schemeClr>
              </a:solidFill>
            </a:endParaRPr>
          </a:p>
          <a:p>
            <a:pPr algn="ctr"/>
            <a:r>
              <a:rPr lang="fr-FR" dirty="0">
                <a:solidFill>
                  <a:schemeClr val="tx1">
                    <a:lumMod val="65000"/>
                    <a:lumOff val="35000"/>
                  </a:schemeClr>
                </a:solidFill>
              </a:rPr>
              <a:t>Thomas </a:t>
            </a:r>
            <a:r>
              <a:rPr lang="fr-FR" dirty="0" err="1">
                <a:solidFill>
                  <a:schemeClr val="tx1">
                    <a:lumMod val="65000"/>
                    <a:lumOff val="35000"/>
                  </a:schemeClr>
                </a:solidFill>
              </a:rPr>
              <a:t>Arsouze</a:t>
            </a:r>
            <a:endParaRPr lang="fr-FR" dirty="0">
              <a:solidFill>
                <a:schemeClr val="tx1">
                  <a:lumMod val="65000"/>
                  <a:lumOff val="35000"/>
                </a:schemeClr>
              </a:solidFill>
            </a:endParaRPr>
          </a:p>
        </p:txBody>
      </p:sp>
      <p:sp>
        <p:nvSpPr>
          <p:cNvPr id="5" name="ZoneTexte 4">
            <a:extLst>
              <a:ext uri="{FF2B5EF4-FFF2-40B4-BE49-F238E27FC236}">
                <a16:creationId xmlns:a16="http://schemas.microsoft.com/office/drawing/2014/main" id="{9E39A8E5-1447-06F2-109E-FE3D0D692931}"/>
              </a:ext>
            </a:extLst>
          </p:cNvPr>
          <p:cNvSpPr txBox="1"/>
          <p:nvPr/>
        </p:nvSpPr>
        <p:spPr>
          <a:xfrm>
            <a:off x="7919670" y="4779922"/>
            <a:ext cx="401933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i="1" dirty="0">
                <a:solidFill>
                  <a:schemeClr val="tx1">
                    <a:lumMod val="65000"/>
                    <a:lumOff val="35000"/>
                  </a:schemeClr>
                </a:solidFill>
              </a:rPr>
              <a:t>Membres du CSI:</a:t>
            </a:r>
          </a:p>
          <a:p>
            <a:pPr algn="ctr"/>
            <a:r>
              <a:rPr lang="fr-FR" dirty="0">
                <a:solidFill>
                  <a:schemeClr val="tx1">
                    <a:lumMod val="65000"/>
                    <a:lumOff val="35000"/>
                  </a:schemeClr>
                </a:solidFill>
              </a:rPr>
              <a:t>Noémie </a:t>
            </a:r>
            <a:r>
              <a:rPr lang="fr-FR" dirty="0" err="1">
                <a:solidFill>
                  <a:schemeClr val="tx1">
                    <a:lumMod val="65000"/>
                    <a:lumOff val="35000"/>
                  </a:schemeClr>
                </a:solidFill>
              </a:rPr>
              <a:t>Gaudio</a:t>
            </a:r>
            <a:endParaRPr lang="fr-FR" dirty="0">
              <a:solidFill>
                <a:schemeClr val="tx1">
                  <a:lumMod val="65000"/>
                  <a:lumOff val="35000"/>
                </a:schemeClr>
              </a:solidFill>
            </a:endParaRPr>
          </a:p>
          <a:p>
            <a:pPr algn="ctr"/>
            <a:r>
              <a:rPr lang="fr-FR" dirty="0">
                <a:solidFill>
                  <a:schemeClr val="tx1">
                    <a:lumMod val="65000"/>
                    <a:lumOff val="35000"/>
                  </a:schemeClr>
                </a:solidFill>
              </a:rPr>
              <a:t>Christian Fournier</a:t>
            </a:r>
          </a:p>
          <a:p>
            <a:pPr algn="ctr"/>
            <a:r>
              <a:rPr lang="fr-FR" dirty="0">
                <a:solidFill>
                  <a:schemeClr val="tx1">
                    <a:lumMod val="65000"/>
                    <a:lumOff val="35000"/>
                  </a:schemeClr>
                </a:solidFill>
              </a:rPr>
              <a:t>Mathias Christina</a:t>
            </a:r>
          </a:p>
          <a:p>
            <a:pPr algn="ctr"/>
            <a:r>
              <a:rPr lang="fr-FR" dirty="0">
                <a:solidFill>
                  <a:schemeClr val="tx1">
                    <a:lumMod val="65000"/>
                    <a:lumOff val="35000"/>
                  </a:schemeClr>
                </a:solidFill>
                <a:ea typeface="+mn-lt"/>
                <a:cs typeface="+mn-lt"/>
              </a:rPr>
              <a:t>Christophe </a:t>
            </a:r>
            <a:r>
              <a:rPr lang="fr-FR" dirty="0" err="1">
                <a:solidFill>
                  <a:schemeClr val="tx1">
                    <a:lumMod val="65000"/>
                    <a:lumOff val="35000"/>
                  </a:schemeClr>
                </a:solidFill>
                <a:ea typeface="+mn-lt"/>
                <a:cs typeface="+mn-lt"/>
              </a:rPr>
              <a:t>Fiorio</a:t>
            </a:r>
            <a:r>
              <a:rPr lang="fr-FR" dirty="0">
                <a:solidFill>
                  <a:schemeClr val="tx1">
                    <a:lumMod val="65000"/>
                    <a:lumOff val="35000"/>
                  </a:schemeClr>
                </a:solidFill>
                <a:ea typeface="+mn-lt"/>
                <a:cs typeface="+mn-lt"/>
              </a:rPr>
              <a:t> (I2S)</a:t>
            </a:r>
          </a:p>
          <a:p>
            <a:pPr algn="ctr"/>
            <a:r>
              <a:rPr lang="fr-FR" dirty="0">
                <a:solidFill>
                  <a:schemeClr val="tx1">
                    <a:lumMod val="65000"/>
                    <a:lumOff val="35000"/>
                  </a:schemeClr>
                </a:solidFill>
              </a:rPr>
              <a:t>Évelyne Costes (AGAP)</a:t>
            </a:r>
          </a:p>
        </p:txBody>
      </p:sp>
      <p:pic>
        <p:nvPicPr>
          <p:cNvPr id="6" name="Image 5" descr="Une image contenant texte, carte de visite, Police, logo&#10;&#10;Description générée automatiquement">
            <a:extLst>
              <a:ext uri="{FF2B5EF4-FFF2-40B4-BE49-F238E27FC236}">
                <a16:creationId xmlns:a16="http://schemas.microsoft.com/office/drawing/2014/main" id="{B0D4802D-A0F6-21D4-F02E-232C0B454AF4}"/>
              </a:ext>
            </a:extLst>
          </p:cNvPr>
          <p:cNvPicPr>
            <a:picLocks noChangeAspect="1"/>
          </p:cNvPicPr>
          <p:nvPr/>
        </p:nvPicPr>
        <p:blipFill>
          <a:blip r:embed="rId3"/>
          <a:stretch>
            <a:fillRect/>
          </a:stretch>
        </p:blipFill>
        <p:spPr>
          <a:xfrm>
            <a:off x="3773280" y="5010056"/>
            <a:ext cx="1607220" cy="594037"/>
          </a:xfrm>
          <a:prstGeom prst="rect">
            <a:avLst/>
          </a:prstGeom>
        </p:spPr>
      </p:pic>
      <p:pic>
        <p:nvPicPr>
          <p:cNvPr id="7" name="Image 6" descr="Une image contenant Graphique, Police, logo, graphisme&#10;&#10;Description générée automatiquement">
            <a:extLst>
              <a:ext uri="{FF2B5EF4-FFF2-40B4-BE49-F238E27FC236}">
                <a16:creationId xmlns:a16="http://schemas.microsoft.com/office/drawing/2014/main" id="{2C611E11-5370-269F-3DB1-E099559E6973}"/>
              </a:ext>
            </a:extLst>
          </p:cNvPr>
          <p:cNvPicPr>
            <a:picLocks noChangeAspect="1"/>
          </p:cNvPicPr>
          <p:nvPr/>
        </p:nvPicPr>
        <p:blipFill rotWithShape="1">
          <a:blip r:embed="rId4"/>
          <a:srcRect t="2513" b="13491"/>
          <a:stretch/>
        </p:blipFill>
        <p:spPr>
          <a:xfrm>
            <a:off x="1524000" y="3413540"/>
            <a:ext cx="1116005" cy="680929"/>
          </a:xfrm>
          <a:prstGeom prst="rect">
            <a:avLst/>
          </a:prstGeom>
        </p:spPr>
      </p:pic>
      <p:pic>
        <p:nvPicPr>
          <p:cNvPr id="8" name="Image 7" descr="Une image contenant texte, Graphique, graphisme, Police&#10;&#10;Description générée automatiquement">
            <a:extLst>
              <a:ext uri="{FF2B5EF4-FFF2-40B4-BE49-F238E27FC236}">
                <a16:creationId xmlns:a16="http://schemas.microsoft.com/office/drawing/2014/main" id="{96F5D487-E42A-F7DE-BE10-EDFC98D09473}"/>
              </a:ext>
            </a:extLst>
          </p:cNvPr>
          <p:cNvPicPr>
            <a:picLocks noChangeAspect="1"/>
          </p:cNvPicPr>
          <p:nvPr/>
        </p:nvPicPr>
        <p:blipFill>
          <a:blip r:embed="rId5"/>
          <a:stretch>
            <a:fillRect/>
          </a:stretch>
        </p:blipFill>
        <p:spPr>
          <a:xfrm>
            <a:off x="252992" y="2911449"/>
            <a:ext cx="1093933" cy="1390736"/>
          </a:xfrm>
          <a:prstGeom prst="rect">
            <a:avLst/>
          </a:prstGeom>
        </p:spPr>
      </p:pic>
      <p:pic>
        <p:nvPicPr>
          <p:cNvPr id="9" name="Image 8" descr="Une image contenant Police, conception&#10;&#10;Description générée automatiquement">
            <a:extLst>
              <a:ext uri="{FF2B5EF4-FFF2-40B4-BE49-F238E27FC236}">
                <a16:creationId xmlns:a16="http://schemas.microsoft.com/office/drawing/2014/main" id="{5F1243C7-D429-C54F-9B84-E9D41BDAA7F1}"/>
              </a:ext>
            </a:extLst>
          </p:cNvPr>
          <p:cNvPicPr>
            <a:picLocks noChangeAspect="1"/>
          </p:cNvPicPr>
          <p:nvPr/>
        </p:nvPicPr>
        <p:blipFill>
          <a:blip r:embed="rId6"/>
          <a:stretch>
            <a:fillRect/>
          </a:stretch>
        </p:blipFill>
        <p:spPr>
          <a:xfrm>
            <a:off x="3776179" y="5822620"/>
            <a:ext cx="1604321" cy="605305"/>
          </a:xfrm>
          <a:prstGeom prst="rect">
            <a:avLst/>
          </a:prstGeom>
        </p:spPr>
      </p:pic>
      <p:pic>
        <p:nvPicPr>
          <p:cNvPr id="11" name="Image 10" descr="Une image contenant Police, Graphique, logo, graphisme&#10;&#10;Description générée automatiquement">
            <a:extLst>
              <a:ext uri="{FF2B5EF4-FFF2-40B4-BE49-F238E27FC236}">
                <a16:creationId xmlns:a16="http://schemas.microsoft.com/office/drawing/2014/main" id="{A47608B0-681C-A56E-F79B-2FFE5460102D}"/>
              </a:ext>
            </a:extLst>
          </p:cNvPr>
          <p:cNvPicPr>
            <a:picLocks noChangeAspect="1"/>
          </p:cNvPicPr>
          <p:nvPr/>
        </p:nvPicPr>
        <p:blipFill>
          <a:blip r:embed="rId7"/>
          <a:stretch>
            <a:fillRect/>
          </a:stretch>
        </p:blipFill>
        <p:spPr>
          <a:xfrm>
            <a:off x="10176478" y="2953770"/>
            <a:ext cx="1383093" cy="459770"/>
          </a:xfrm>
          <a:prstGeom prst="rect">
            <a:avLst/>
          </a:prstGeom>
        </p:spPr>
      </p:pic>
      <p:pic>
        <p:nvPicPr>
          <p:cNvPr id="12" name="Image 11" descr="Une image contenant Police, Graphique, logo, texte&#10;&#10;Description générée automatiquement">
            <a:extLst>
              <a:ext uri="{FF2B5EF4-FFF2-40B4-BE49-F238E27FC236}">
                <a16:creationId xmlns:a16="http://schemas.microsoft.com/office/drawing/2014/main" id="{2E1F5487-2075-59F9-6D9C-B0224E931D53}"/>
              </a:ext>
            </a:extLst>
          </p:cNvPr>
          <p:cNvPicPr>
            <a:picLocks noChangeAspect="1"/>
          </p:cNvPicPr>
          <p:nvPr/>
        </p:nvPicPr>
        <p:blipFill>
          <a:blip r:embed="rId8"/>
          <a:stretch>
            <a:fillRect/>
          </a:stretch>
        </p:blipFill>
        <p:spPr>
          <a:xfrm>
            <a:off x="10322973" y="3692718"/>
            <a:ext cx="1093935" cy="646111"/>
          </a:xfrm>
          <a:prstGeom prst="rect">
            <a:avLst/>
          </a:prstGeom>
        </p:spPr>
      </p:pic>
      <p:sp>
        <p:nvSpPr>
          <p:cNvPr id="13" name="Slide Number Placeholder 12">
            <a:extLst>
              <a:ext uri="{FF2B5EF4-FFF2-40B4-BE49-F238E27FC236}">
                <a16:creationId xmlns:a16="http://schemas.microsoft.com/office/drawing/2014/main" id="{35E9855F-9014-4E80-8C9B-4990DDDC83AA}"/>
              </a:ext>
            </a:extLst>
          </p:cNvPr>
          <p:cNvSpPr>
            <a:spLocks noGrp="1"/>
          </p:cNvSpPr>
          <p:nvPr>
            <p:ph type="sldNum" sz="quarter" idx="12"/>
          </p:nvPr>
        </p:nvSpPr>
        <p:spPr/>
        <p:txBody>
          <a:bodyPr/>
          <a:lstStyle/>
          <a:p>
            <a:fld id="{27C6CCC6-2BE5-4E42-96A4-D1E8E81A3D8E}" type="slidenum">
              <a:rPr lang="fr-FR" smtClean="0"/>
              <a:t>1</a:t>
            </a:fld>
            <a:endParaRPr lang="fr-F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plein air, agriculture, récolte, Culture commerciale&#10;&#10;Description générée automatiquement">
            <a:extLst>
              <a:ext uri="{FF2B5EF4-FFF2-40B4-BE49-F238E27FC236}">
                <a16:creationId xmlns:a16="http://schemas.microsoft.com/office/drawing/2014/main" id="{3786E0D1-E499-E045-7B99-26DBAEB36AB5}"/>
              </a:ext>
            </a:extLst>
          </p:cNvPr>
          <p:cNvPicPr>
            <a:picLocks noChangeAspect="1"/>
          </p:cNvPicPr>
          <p:nvPr/>
        </p:nvPicPr>
        <p:blipFill rotWithShape="1">
          <a:blip r:embed="rId3"/>
          <a:srcRect t="34" r="10050" b="-34"/>
          <a:stretch/>
        </p:blipFill>
        <p:spPr>
          <a:xfrm>
            <a:off x="3009075" y="0"/>
            <a:ext cx="9184645" cy="6861124"/>
          </a:xfrm>
          <a:prstGeom prst="rect">
            <a:avLst/>
          </a:prstGeom>
        </p:spPr>
      </p:pic>
      <p:sp useBgFill="1">
        <p:nvSpPr>
          <p:cNvPr id="11" name="Freeform: Shape 10">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DDB3797-4CC7-EDEE-FE39-54180F07BBDD}"/>
              </a:ext>
            </a:extLst>
          </p:cNvPr>
          <p:cNvSpPr>
            <a:spLocks noGrp="1"/>
          </p:cNvSpPr>
          <p:nvPr>
            <p:ph type="title"/>
          </p:nvPr>
        </p:nvSpPr>
        <p:spPr>
          <a:xfrm>
            <a:off x="374904" y="272618"/>
            <a:ext cx="4992624" cy="1243584"/>
          </a:xfrm>
        </p:spPr>
        <p:txBody>
          <a:bodyPr anchor="ctr">
            <a:normAutofit/>
          </a:bodyPr>
          <a:lstStyle/>
          <a:p>
            <a:r>
              <a:rPr lang="fr-FR" sz="3400" dirty="0"/>
              <a:t>Motivations du sujet</a:t>
            </a:r>
          </a:p>
        </p:txBody>
      </p:sp>
      <p:sp>
        <p:nvSpPr>
          <p:cNvPr id="3" name="Espace réservé du contenu 2">
            <a:extLst>
              <a:ext uri="{FF2B5EF4-FFF2-40B4-BE49-F238E27FC236}">
                <a16:creationId xmlns:a16="http://schemas.microsoft.com/office/drawing/2014/main" id="{2F576957-2006-8C6B-72B0-A66981D2DBA4}"/>
              </a:ext>
            </a:extLst>
          </p:cNvPr>
          <p:cNvSpPr>
            <a:spLocks noGrp="1"/>
          </p:cNvSpPr>
          <p:nvPr>
            <p:ph idx="1"/>
          </p:nvPr>
        </p:nvSpPr>
        <p:spPr>
          <a:xfrm>
            <a:off x="376487" y="1622405"/>
            <a:ext cx="5498698" cy="1048367"/>
          </a:xfrm>
        </p:spPr>
        <p:txBody>
          <a:bodyPr vert="horz" lIns="91440" tIns="45720" rIns="91440" bIns="45720" rtlCol="0" anchor="t">
            <a:normAutofit/>
          </a:bodyPr>
          <a:lstStyle/>
          <a:p>
            <a:pPr marL="0" indent="0">
              <a:buNone/>
            </a:pPr>
            <a:r>
              <a:rPr lang="fr-FR" sz="2000" b="1" dirty="0"/>
              <a:t>Cultures associées</a:t>
            </a:r>
            <a:r>
              <a:rPr lang="fr-FR" sz="2000" dirty="0"/>
              <a:t> = plusieurs espèces végétales sur une même parcelle agricole de façon simultanée, au moins partiellement </a:t>
            </a:r>
            <a:r>
              <a:rPr lang="fr-FR" sz="1200" dirty="0"/>
              <a:t>(</a:t>
            </a:r>
            <a:r>
              <a:rPr lang="fr-FR" sz="1200" dirty="0" err="1"/>
              <a:t>Vandermeer</a:t>
            </a:r>
            <a:r>
              <a:rPr lang="fr-FR" sz="1200" dirty="0"/>
              <a:t>, 1989)</a:t>
            </a:r>
          </a:p>
        </p:txBody>
      </p:sp>
      <p:sp>
        <p:nvSpPr>
          <p:cNvPr id="7" name="ZoneTexte 6">
            <a:extLst>
              <a:ext uri="{FF2B5EF4-FFF2-40B4-BE49-F238E27FC236}">
                <a16:creationId xmlns:a16="http://schemas.microsoft.com/office/drawing/2014/main" id="{539C11AB-2D6F-DBBE-7F83-17817FF0989D}"/>
              </a:ext>
            </a:extLst>
          </p:cNvPr>
          <p:cNvSpPr txBox="1"/>
          <p:nvPr/>
        </p:nvSpPr>
        <p:spPr>
          <a:xfrm>
            <a:off x="8878785" y="4131689"/>
            <a:ext cx="1378792" cy="646331"/>
          </a:xfrm>
          <a:prstGeom prst="rect">
            <a:avLst/>
          </a:prstGeom>
          <a:solidFill>
            <a:srgbClr val="AEAEAE">
              <a:alpha val="60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GRAMINÉES</a:t>
            </a:r>
            <a:endParaRPr lang="fr-FR" b="1"/>
          </a:p>
          <a:p>
            <a:r>
              <a:rPr lang="fr-FR" dirty="0"/>
              <a:t>ex : sorgho</a:t>
            </a:r>
          </a:p>
        </p:txBody>
      </p:sp>
      <p:sp>
        <p:nvSpPr>
          <p:cNvPr id="8" name="ZoneTexte 7">
            <a:extLst>
              <a:ext uri="{FF2B5EF4-FFF2-40B4-BE49-F238E27FC236}">
                <a16:creationId xmlns:a16="http://schemas.microsoft.com/office/drawing/2014/main" id="{E217DA51-B5A8-AFAB-D602-DF8A424A8898}"/>
              </a:ext>
            </a:extLst>
          </p:cNvPr>
          <p:cNvSpPr txBox="1"/>
          <p:nvPr/>
        </p:nvSpPr>
        <p:spPr>
          <a:xfrm>
            <a:off x="6454239" y="4131689"/>
            <a:ext cx="1711988" cy="646331"/>
          </a:xfrm>
          <a:prstGeom prst="rect">
            <a:avLst/>
          </a:prstGeom>
          <a:solidFill>
            <a:srgbClr val="AEAEAE">
              <a:alpha val="60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LÉGUMINEUSES</a:t>
            </a:r>
            <a:endParaRPr lang="fr-FR" b="1"/>
          </a:p>
          <a:p>
            <a:r>
              <a:rPr lang="fr-FR" dirty="0"/>
              <a:t>ex : niébé</a:t>
            </a:r>
          </a:p>
        </p:txBody>
      </p:sp>
      <p:sp>
        <p:nvSpPr>
          <p:cNvPr id="4" name="Slide Number Placeholder 3">
            <a:extLst>
              <a:ext uri="{FF2B5EF4-FFF2-40B4-BE49-F238E27FC236}">
                <a16:creationId xmlns:a16="http://schemas.microsoft.com/office/drawing/2014/main" id="{BE6FE07A-B7DD-4BCA-A02A-FB967C727457}"/>
              </a:ext>
            </a:extLst>
          </p:cNvPr>
          <p:cNvSpPr>
            <a:spLocks noGrp="1"/>
          </p:cNvSpPr>
          <p:nvPr>
            <p:ph type="sldNum" sz="quarter" idx="12"/>
          </p:nvPr>
        </p:nvSpPr>
        <p:spPr/>
        <p:txBody>
          <a:bodyPr/>
          <a:lstStyle/>
          <a:p>
            <a:fld id="{27C6CCC6-2BE5-4E42-96A4-D1E8E81A3D8E}" type="slidenum">
              <a:rPr lang="fr-FR" smtClean="0"/>
              <a:t>2</a:t>
            </a:fld>
            <a:endParaRPr lang="fr-FR"/>
          </a:p>
        </p:txBody>
      </p:sp>
      <p:sp>
        <p:nvSpPr>
          <p:cNvPr id="6" name="TextBox 5">
            <a:extLst>
              <a:ext uri="{FF2B5EF4-FFF2-40B4-BE49-F238E27FC236}">
                <a16:creationId xmlns:a16="http://schemas.microsoft.com/office/drawing/2014/main" id="{B0131E4D-4574-4E1F-B022-5D79D8358D6D}"/>
              </a:ext>
            </a:extLst>
          </p:cNvPr>
          <p:cNvSpPr txBox="1"/>
          <p:nvPr/>
        </p:nvSpPr>
        <p:spPr>
          <a:xfrm>
            <a:off x="374904" y="5537597"/>
            <a:ext cx="4599161" cy="646331"/>
          </a:xfrm>
          <a:prstGeom prst="rect">
            <a:avLst/>
          </a:prstGeom>
          <a:noFill/>
        </p:spPr>
        <p:txBody>
          <a:bodyPr wrap="square" rtlCol="0">
            <a:spAutoFit/>
          </a:bodyPr>
          <a:lstStyle/>
          <a:p>
            <a:pPr lvl="0">
              <a:lnSpc>
                <a:spcPct val="90000"/>
              </a:lnSpc>
              <a:spcBef>
                <a:spcPts val="1000"/>
              </a:spcBef>
            </a:pPr>
            <a:r>
              <a:rPr lang="fr-FR" sz="2000" dirty="0">
                <a:solidFill>
                  <a:prstClr val="black"/>
                </a:solidFill>
              </a:rPr>
              <a:t>… seulement si les systèmes de cultures associées sont optimisés </a:t>
            </a:r>
            <a:endParaRPr lang="fr-FR" sz="2800" dirty="0">
              <a:solidFill>
                <a:prstClr val="black"/>
              </a:solidFill>
            </a:endParaRPr>
          </a:p>
        </p:txBody>
      </p:sp>
      <p:sp>
        <p:nvSpPr>
          <p:cNvPr id="10" name="TextBox 9">
            <a:extLst>
              <a:ext uri="{FF2B5EF4-FFF2-40B4-BE49-F238E27FC236}">
                <a16:creationId xmlns:a16="http://schemas.microsoft.com/office/drawing/2014/main" id="{B1CE0F28-2DC4-4FEB-AAEF-720D45676D00}"/>
              </a:ext>
            </a:extLst>
          </p:cNvPr>
          <p:cNvSpPr txBox="1"/>
          <p:nvPr/>
        </p:nvSpPr>
        <p:spPr>
          <a:xfrm>
            <a:off x="374905" y="2998287"/>
            <a:ext cx="4992624" cy="1900007"/>
          </a:xfrm>
          <a:prstGeom prst="rect">
            <a:avLst/>
          </a:prstGeom>
          <a:noFill/>
        </p:spPr>
        <p:txBody>
          <a:bodyPr wrap="square" rtlCol="0">
            <a:spAutoFit/>
          </a:bodyPr>
          <a:lstStyle/>
          <a:p>
            <a:pPr lvl="0">
              <a:lnSpc>
                <a:spcPct val="90000"/>
              </a:lnSpc>
              <a:spcBef>
                <a:spcPts val="1000"/>
              </a:spcBef>
            </a:pPr>
            <a:r>
              <a:rPr lang="fr-FR" sz="2000" dirty="0">
                <a:solidFill>
                  <a:prstClr val="black"/>
                </a:solidFill>
              </a:rPr>
              <a:t>Avantages potentiels : </a:t>
            </a:r>
          </a:p>
          <a:p>
            <a:pPr marL="742950" lvl="1" indent="-285750">
              <a:lnSpc>
                <a:spcPct val="90000"/>
              </a:lnSpc>
              <a:spcBef>
                <a:spcPts val="500"/>
              </a:spcBef>
              <a:buFont typeface="Courier New,monospace" panose="020B0604020202020204" pitchFamily="34" charset="0"/>
              <a:buChar char="o"/>
            </a:pPr>
            <a:r>
              <a:rPr lang="fr-FR" sz="1600" dirty="0">
                <a:solidFill>
                  <a:prstClr val="black"/>
                </a:solidFill>
                <a:latin typeface="Arial"/>
                <a:cs typeface="Arial"/>
              </a:rPr>
              <a:t>amélioration du partage des ressources et de la qualité des sols</a:t>
            </a:r>
            <a:endParaRPr lang="en-US" sz="1600" dirty="0">
              <a:solidFill>
                <a:prstClr val="black"/>
              </a:solidFill>
              <a:latin typeface="Arial"/>
              <a:cs typeface="Arial"/>
            </a:endParaRPr>
          </a:p>
          <a:p>
            <a:pPr marL="742950" lvl="1" indent="-285750">
              <a:lnSpc>
                <a:spcPct val="90000"/>
              </a:lnSpc>
              <a:spcBef>
                <a:spcPts val="500"/>
              </a:spcBef>
              <a:buFont typeface="Courier New,monospace" panose="020B0604020202020204" pitchFamily="34" charset="0"/>
              <a:buChar char="o"/>
            </a:pPr>
            <a:r>
              <a:rPr lang="fr-FR" sz="1600" dirty="0">
                <a:solidFill>
                  <a:prstClr val="black"/>
                </a:solidFill>
                <a:latin typeface="Arial"/>
                <a:cs typeface="Arial"/>
              </a:rPr>
              <a:t>réduction des maladies et ravageurs, de l'irrigation et de l'utilisation d'intrants</a:t>
            </a:r>
          </a:p>
          <a:p>
            <a:pPr marL="742950" lvl="1" indent="-285750">
              <a:lnSpc>
                <a:spcPct val="90000"/>
              </a:lnSpc>
              <a:spcBef>
                <a:spcPts val="500"/>
              </a:spcBef>
              <a:buFont typeface="Courier New,monospace" panose="020B0604020202020204" pitchFamily="34" charset="0"/>
              <a:buChar char="o"/>
            </a:pPr>
            <a:r>
              <a:rPr lang="fr-FR" sz="1600" dirty="0">
                <a:solidFill>
                  <a:prstClr val="black"/>
                </a:solidFill>
                <a:latin typeface="Arial"/>
                <a:cs typeface="Arial"/>
              </a:rPr>
              <a:t>augmentation du rendement  </a:t>
            </a:r>
          </a:p>
          <a:p>
            <a:pPr lvl="1">
              <a:lnSpc>
                <a:spcPct val="90000"/>
              </a:lnSpc>
              <a:spcBef>
                <a:spcPts val="500"/>
              </a:spcBef>
            </a:pPr>
            <a:r>
              <a:rPr lang="fr-FR" sz="1200" dirty="0">
                <a:solidFill>
                  <a:prstClr val="black"/>
                </a:solidFill>
                <a:latin typeface="Arial"/>
                <a:cs typeface="Arial"/>
              </a:rPr>
              <a:t>(Jensen et al., 2020, </a:t>
            </a:r>
            <a:r>
              <a:rPr lang="fr-FR" sz="1200" dirty="0" err="1">
                <a:solidFill>
                  <a:prstClr val="black"/>
                </a:solidFill>
                <a:latin typeface="Arial"/>
                <a:cs typeface="Arial"/>
              </a:rPr>
              <a:t>Stomph</a:t>
            </a:r>
            <a:r>
              <a:rPr lang="fr-FR" sz="1200" dirty="0">
                <a:solidFill>
                  <a:prstClr val="black"/>
                </a:solidFill>
                <a:latin typeface="Arial"/>
                <a:cs typeface="Arial"/>
              </a:rPr>
              <a:t> et al., 2020, </a:t>
            </a:r>
            <a:r>
              <a:rPr lang="fr-FR" sz="1200" dirty="0" err="1">
                <a:solidFill>
                  <a:prstClr val="black"/>
                </a:solidFill>
                <a:latin typeface="Arial"/>
                <a:cs typeface="Arial"/>
              </a:rPr>
              <a:t>Gaudio</a:t>
            </a:r>
            <a:r>
              <a:rPr lang="fr-FR" sz="1200" dirty="0">
                <a:solidFill>
                  <a:prstClr val="black"/>
                </a:solidFill>
                <a:latin typeface="Arial"/>
                <a:cs typeface="Arial"/>
              </a:rPr>
              <a:t> et al., 2021)</a:t>
            </a:r>
            <a:endParaRPr lang="fr-FR" sz="1200" dirty="0">
              <a:solidFill>
                <a:prstClr val="black"/>
              </a:solidFill>
            </a:endParaRPr>
          </a:p>
        </p:txBody>
      </p:sp>
    </p:spTree>
    <p:extLst>
      <p:ext uri="{BB962C8B-B14F-4D97-AF65-F5344CB8AC3E}">
        <p14:creationId xmlns:p14="http://schemas.microsoft.com/office/powerpoint/2010/main" val="196507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A0040-5BAE-5958-FC78-C71152A3A0F7}"/>
              </a:ext>
            </a:extLst>
          </p:cNvPr>
          <p:cNvSpPr>
            <a:spLocks noGrp="1"/>
          </p:cNvSpPr>
          <p:nvPr>
            <p:ph type="title"/>
          </p:nvPr>
        </p:nvSpPr>
        <p:spPr>
          <a:xfrm>
            <a:off x="381247" y="306861"/>
            <a:ext cx="10515600" cy="1325563"/>
          </a:xfrm>
        </p:spPr>
        <p:txBody>
          <a:bodyPr>
            <a:normAutofit/>
          </a:bodyPr>
          <a:lstStyle/>
          <a:p>
            <a:r>
              <a:rPr lang="fr-FR" sz="3400" dirty="0"/>
              <a:t>Système de cultures associées</a:t>
            </a:r>
          </a:p>
        </p:txBody>
      </p:sp>
      <p:sp>
        <p:nvSpPr>
          <p:cNvPr id="3" name="Espace réservé du contenu 2">
            <a:extLst>
              <a:ext uri="{FF2B5EF4-FFF2-40B4-BE49-F238E27FC236}">
                <a16:creationId xmlns:a16="http://schemas.microsoft.com/office/drawing/2014/main" id="{B93B4046-E733-DB53-FDB9-9FBE0D561F5E}"/>
              </a:ext>
            </a:extLst>
          </p:cNvPr>
          <p:cNvSpPr>
            <a:spLocks noGrp="1"/>
          </p:cNvSpPr>
          <p:nvPr>
            <p:ph idx="1"/>
          </p:nvPr>
        </p:nvSpPr>
        <p:spPr>
          <a:xfrm>
            <a:off x="838200" y="1687080"/>
            <a:ext cx="10515600" cy="828326"/>
          </a:xfrm>
        </p:spPr>
        <p:txBody>
          <a:bodyPr vert="horz" lIns="91440" tIns="45720" rIns="91440" bIns="45720" rtlCol="0" anchor="t">
            <a:normAutofit/>
          </a:bodyPr>
          <a:lstStyle/>
          <a:p>
            <a:pPr marL="0" indent="0" algn="ctr">
              <a:buNone/>
            </a:pPr>
            <a:r>
              <a:rPr lang="fr-FR" sz="4400" b="1" dirty="0"/>
              <a:t>G     x     G     x     E     x     M</a:t>
            </a:r>
          </a:p>
        </p:txBody>
      </p:sp>
      <p:sp>
        <p:nvSpPr>
          <p:cNvPr id="7" name="Espace réservé du contenu 2">
            <a:extLst>
              <a:ext uri="{FF2B5EF4-FFF2-40B4-BE49-F238E27FC236}">
                <a16:creationId xmlns:a16="http://schemas.microsoft.com/office/drawing/2014/main" id="{30194FFF-6566-A0FA-6B5B-EF7DD75F6F24}"/>
              </a:ext>
            </a:extLst>
          </p:cNvPr>
          <p:cNvSpPr txBox="1">
            <a:spLocks/>
          </p:cNvSpPr>
          <p:nvPr/>
        </p:nvSpPr>
        <p:spPr>
          <a:xfrm>
            <a:off x="3217223" y="5529318"/>
            <a:ext cx="2668979" cy="13049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Interactions plante-plante pour l'acquisition des ressources</a:t>
            </a:r>
            <a:r>
              <a:rPr lang="fr-FR" sz="1800" dirty="0">
                <a:ea typeface="+mn-lt"/>
                <a:cs typeface="+mn-lt"/>
              </a:rPr>
              <a:t> </a:t>
            </a:r>
          </a:p>
          <a:p>
            <a:pPr marL="0" indent="0">
              <a:buNone/>
            </a:pPr>
            <a:r>
              <a:rPr lang="fr-FR" sz="1200" dirty="0">
                <a:ea typeface="+mn-lt"/>
                <a:cs typeface="+mn-lt"/>
              </a:rPr>
              <a:t>(Justes et al., 2021)</a:t>
            </a:r>
            <a:endParaRPr lang="fr-FR" dirty="0"/>
          </a:p>
        </p:txBody>
      </p:sp>
      <p:sp>
        <p:nvSpPr>
          <p:cNvPr id="9" name="Espace réservé du contenu 2">
            <a:extLst>
              <a:ext uri="{FF2B5EF4-FFF2-40B4-BE49-F238E27FC236}">
                <a16:creationId xmlns:a16="http://schemas.microsoft.com/office/drawing/2014/main" id="{3A6AC0EF-9D2C-7B34-EE6E-A14EF7F60F5D}"/>
              </a:ext>
            </a:extLst>
          </p:cNvPr>
          <p:cNvSpPr txBox="1">
            <a:spLocks/>
          </p:cNvSpPr>
          <p:nvPr/>
        </p:nvSpPr>
        <p:spPr>
          <a:xfrm>
            <a:off x="4632368" y="2789505"/>
            <a:ext cx="1361707"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Génotype</a:t>
            </a:r>
            <a:r>
              <a:rPr lang="fr-FR" sz="2000" dirty="0"/>
              <a:t> </a:t>
            </a:r>
            <a:r>
              <a:rPr lang="fr-FR" sz="1800" dirty="0"/>
              <a:t>d'une graminée</a:t>
            </a:r>
          </a:p>
        </p:txBody>
      </p:sp>
      <p:sp>
        <p:nvSpPr>
          <p:cNvPr id="10" name="Espace réservé du contenu 2">
            <a:extLst>
              <a:ext uri="{FF2B5EF4-FFF2-40B4-BE49-F238E27FC236}">
                <a16:creationId xmlns:a16="http://schemas.microsoft.com/office/drawing/2014/main" id="{726360F6-ECD4-8ABB-63C7-CF65D3630BF0}"/>
              </a:ext>
            </a:extLst>
          </p:cNvPr>
          <p:cNvSpPr txBox="1">
            <a:spLocks/>
          </p:cNvSpPr>
          <p:nvPr/>
        </p:nvSpPr>
        <p:spPr>
          <a:xfrm>
            <a:off x="2554186" y="2789505"/>
            <a:ext cx="1668485"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Génotype</a:t>
            </a:r>
            <a:r>
              <a:rPr lang="fr-FR" sz="2000" dirty="0"/>
              <a:t> </a:t>
            </a:r>
            <a:r>
              <a:rPr lang="fr-FR" sz="1800" dirty="0"/>
              <a:t>d'une légumineuse</a:t>
            </a:r>
          </a:p>
        </p:txBody>
      </p:sp>
      <p:sp>
        <p:nvSpPr>
          <p:cNvPr id="11" name="Espace réservé du contenu 2">
            <a:extLst>
              <a:ext uri="{FF2B5EF4-FFF2-40B4-BE49-F238E27FC236}">
                <a16:creationId xmlns:a16="http://schemas.microsoft.com/office/drawing/2014/main" id="{00B1E25A-F2CD-2BF1-B075-C508D718FF10}"/>
              </a:ext>
            </a:extLst>
          </p:cNvPr>
          <p:cNvSpPr txBox="1">
            <a:spLocks/>
          </p:cNvSpPr>
          <p:nvPr/>
        </p:nvSpPr>
        <p:spPr>
          <a:xfrm>
            <a:off x="8392888" y="2789505"/>
            <a:ext cx="1865647" cy="20158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i="1" dirty="0"/>
              <a:t>Management</a:t>
            </a:r>
          </a:p>
          <a:p>
            <a:pPr marL="0" indent="0">
              <a:buNone/>
            </a:pPr>
            <a:r>
              <a:rPr lang="fr-FR" sz="1800" dirty="0"/>
              <a:t>Arrangement spatial et temporel</a:t>
            </a:r>
          </a:p>
          <a:p>
            <a:pPr marL="0" indent="0">
              <a:buNone/>
            </a:pPr>
            <a:r>
              <a:rPr lang="fr-FR" sz="1800" dirty="0">
                <a:ea typeface="+mn-lt"/>
                <a:cs typeface="+mn-lt"/>
              </a:rPr>
              <a:t>Intrants et              irrigation</a:t>
            </a:r>
            <a:endParaRPr lang="fr-FR" sz="1800" dirty="0"/>
          </a:p>
        </p:txBody>
      </p:sp>
      <p:sp>
        <p:nvSpPr>
          <p:cNvPr id="12" name="Espace réservé du contenu 2">
            <a:extLst>
              <a:ext uri="{FF2B5EF4-FFF2-40B4-BE49-F238E27FC236}">
                <a16:creationId xmlns:a16="http://schemas.microsoft.com/office/drawing/2014/main" id="{652312E1-D4E0-631C-4DE6-22B2AAFC037C}"/>
              </a:ext>
            </a:extLst>
          </p:cNvPr>
          <p:cNvSpPr txBox="1">
            <a:spLocks/>
          </p:cNvSpPr>
          <p:nvPr/>
        </p:nvSpPr>
        <p:spPr>
          <a:xfrm>
            <a:off x="6512628" y="2789504"/>
            <a:ext cx="2044536" cy="9866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Environnement</a:t>
            </a:r>
          </a:p>
          <a:p>
            <a:pPr marL="0" indent="0">
              <a:buNone/>
            </a:pPr>
            <a:r>
              <a:rPr lang="fr-FR" sz="1800" dirty="0"/>
              <a:t>Sol et atmosphère</a:t>
            </a:r>
            <a:endParaRPr lang="fr-FR" sz="1800" dirty="0">
              <a:ea typeface="+mn-lt"/>
              <a:cs typeface="+mn-lt"/>
            </a:endParaRPr>
          </a:p>
        </p:txBody>
      </p:sp>
      <p:grpSp>
        <p:nvGrpSpPr>
          <p:cNvPr id="17" name="Groupe 16">
            <a:extLst>
              <a:ext uri="{FF2B5EF4-FFF2-40B4-BE49-F238E27FC236}">
                <a16:creationId xmlns:a16="http://schemas.microsoft.com/office/drawing/2014/main" id="{95A699D5-31DB-DE10-D896-929A03714A75}"/>
              </a:ext>
            </a:extLst>
          </p:cNvPr>
          <p:cNvGrpSpPr/>
          <p:nvPr/>
        </p:nvGrpSpPr>
        <p:grpSpPr>
          <a:xfrm>
            <a:off x="7956468" y="236467"/>
            <a:ext cx="4126676" cy="1554635"/>
            <a:chOff x="7758546" y="3808961"/>
            <a:chExt cx="4126676" cy="1554635"/>
          </a:xfrm>
        </p:grpSpPr>
        <p:grpSp>
          <p:nvGrpSpPr>
            <p:cNvPr id="15" name="Groupe 14">
              <a:extLst>
                <a:ext uri="{FF2B5EF4-FFF2-40B4-BE49-F238E27FC236}">
                  <a16:creationId xmlns:a16="http://schemas.microsoft.com/office/drawing/2014/main" id="{3714C3E2-9814-E29C-4E69-65C0359E35EB}"/>
                </a:ext>
              </a:extLst>
            </p:cNvPr>
            <p:cNvGrpSpPr/>
            <p:nvPr/>
          </p:nvGrpSpPr>
          <p:grpSpPr>
            <a:xfrm>
              <a:off x="7758546" y="3808961"/>
              <a:ext cx="4126676" cy="1275711"/>
              <a:chOff x="7758546" y="1216182"/>
              <a:chExt cx="4126676" cy="1275711"/>
            </a:xfrm>
          </p:grpSpPr>
          <p:pic>
            <p:nvPicPr>
              <p:cNvPr id="13" name="Image 12" descr="Une image contenant texte, capture d’écran, diagramme, Parallèle&#10;&#10;Description générée automatiquement">
                <a:extLst>
                  <a:ext uri="{FF2B5EF4-FFF2-40B4-BE49-F238E27FC236}">
                    <a16:creationId xmlns:a16="http://schemas.microsoft.com/office/drawing/2014/main" id="{F988238D-F086-2024-5F01-F68480542EC8}"/>
                  </a:ext>
                </a:extLst>
              </p:cNvPr>
              <p:cNvPicPr>
                <a:picLocks noChangeAspect="1"/>
              </p:cNvPicPr>
              <p:nvPr/>
            </p:nvPicPr>
            <p:blipFill rotWithShape="1">
              <a:blip r:embed="rId3"/>
              <a:srcRect b="56294"/>
              <a:stretch/>
            </p:blipFill>
            <p:spPr>
              <a:xfrm>
                <a:off x="7758546" y="1216182"/>
                <a:ext cx="4126676" cy="1021663"/>
              </a:xfrm>
              <a:prstGeom prst="rect">
                <a:avLst/>
              </a:prstGeom>
            </p:spPr>
          </p:pic>
          <p:pic>
            <p:nvPicPr>
              <p:cNvPr id="14" name="Image 13" descr="Une image contenant texte, capture d’écran, diagramme, Parallèle&#10;&#10;Description générée automatiquement">
                <a:extLst>
                  <a:ext uri="{FF2B5EF4-FFF2-40B4-BE49-F238E27FC236}">
                    <a16:creationId xmlns:a16="http://schemas.microsoft.com/office/drawing/2014/main" id="{D0430FF8-82BB-3246-A474-0ED8727EC6E4}"/>
                  </a:ext>
                </a:extLst>
              </p:cNvPr>
              <p:cNvPicPr>
                <a:picLocks noChangeAspect="1"/>
              </p:cNvPicPr>
              <p:nvPr/>
            </p:nvPicPr>
            <p:blipFill rotWithShape="1">
              <a:blip r:embed="rId3"/>
              <a:srcRect t="88186" b="422"/>
              <a:stretch/>
            </p:blipFill>
            <p:spPr>
              <a:xfrm>
                <a:off x="7758546" y="2225585"/>
                <a:ext cx="4126676" cy="266308"/>
              </a:xfrm>
              <a:prstGeom prst="rect">
                <a:avLst/>
              </a:prstGeom>
            </p:spPr>
          </p:pic>
        </p:grpSp>
        <p:sp>
          <p:nvSpPr>
            <p:cNvPr id="16" name="ZoneTexte 15">
              <a:extLst>
                <a:ext uri="{FF2B5EF4-FFF2-40B4-BE49-F238E27FC236}">
                  <a16:creationId xmlns:a16="http://schemas.microsoft.com/office/drawing/2014/main" id="{B114B738-5CED-09B8-ACAA-F3BCDA6A9E94}"/>
                </a:ext>
              </a:extLst>
            </p:cNvPr>
            <p:cNvSpPr txBox="1"/>
            <p:nvPr/>
          </p:nvSpPr>
          <p:spPr>
            <a:xfrm>
              <a:off x="9490361" y="5086597"/>
              <a:ext cx="218704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err="1"/>
                <a:t>Adapted</a:t>
              </a:r>
              <a:r>
                <a:rPr lang="fr-FR" sz="1200" dirty="0"/>
                <a:t> </a:t>
              </a:r>
              <a:r>
                <a:rPr lang="fr-FR" sz="1200" err="1"/>
                <a:t>from</a:t>
              </a:r>
              <a:r>
                <a:rPr lang="fr-FR" sz="1200" dirty="0"/>
                <a:t> </a:t>
              </a:r>
              <a:r>
                <a:rPr lang="fr-FR" sz="1200" err="1"/>
                <a:t>Vezy</a:t>
              </a:r>
              <a:r>
                <a:rPr lang="fr-FR" sz="1200" dirty="0"/>
                <a:t> et al., 2023</a:t>
              </a:r>
            </a:p>
          </p:txBody>
        </p:sp>
      </p:grpSp>
      <p:sp>
        <p:nvSpPr>
          <p:cNvPr id="21" name="Espace réservé du contenu 2">
            <a:extLst>
              <a:ext uri="{FF2B5EF4-FFF2-40B4-BE49-F238E27FC236}">
                <a16:creationId xmlns:a16="http://schemas.microsoft.com/office/drawing/2014/main" id="{9295CF5C-5ADF-246D-8CE9-F6937DD4B5FC}"/>
              </a:ext>
            </a:extLst>
          </p:cNvPr>
          <p:cNvSpPr txBox="1">
            <a:spLocks/>
          </p:cNvSpPr>
          <p:nvPr/>
        </p:nvSpPr>
        <p:spPr>
          <a:xfrm>
            <a:off x="3217223" y="3690049"/>
            <a:ext cx="2133601" cy="106583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dirty="0">
                <a:ea typeface="+mn-lt"/>
                <a:cs typeface="+mn-lt"/>
              </a:rPr>
              <a:t>Architecture</a:t>
            </a:r>
            <a:endParaRPr lang="fr-FR" dirty="0"/>
          </a:p>
          <a:p>
            <a:r>
              <a:rPr lang="fr-FR" sz="1800" dirty="0"/>
              <a:t>Processus </a:t>
            </a:r>
            <a:r>
              <a:rPr lang="fr-FR" sz="1800" dirty="0" err="1"/>
              <a:t>éco-physiologiques</a:t>
            </a:r>
            <a:endParaRPr lang="fr-FR" sz="1800" dirty="0"/>
          </a:p>
        </p:txBody>
      </p:sp>
      <p:sp>
        <p:nvSpPr>
          <p:cNvPr id="22" name="Accolade fermante 21">
            <a:extLst>
              <a:ext uri="{FF2B5EF4-FFF2-40B4-BE49-F238E27FC236}">
                <a16:creationId xmlns:a16="http://schemas.microsoft.com/office/drawing/2014/main" id="{DD5794D9-7EF4-FA28-A57B-55E779767B18}"/>
              </a:ext>
            </a:extLst>
          </p:cNvPr>
          <p:cNvSpPr/>
          <p:nvPr/>
        </p:nvSpPr>
        <p:spPr>
          <a:xfrm rot="5400000">
            <a:off x="4925975" y="1710571"/>
            <a:ext cx="187419" cy="6141233"/>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pic>
        <p:nvPicPr>
          <p:cNvPr id="28" name="Image 27" descr="Une image contenant Tige, légume, plante, fleur&#10;&#10;Description générée automatiquement">
            <a:extLst>
              <a:ext uri="{FF2B5EF4-FFF2-40B4-BE49-F238E27FC236}">
                <a16:creationId xmlns:a16="http://schemas.microsoft.com/office/drawing/2014/main" id="{EF6D3CAF-D295-0DB9-6DA7-6076C82D57D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111584" y="2330780"/>
            <a:ext cx="2146960" cy="2206336"/>
          </a:xfrm>
          <a:prstGeom prst="rect">
            <a:avLst/>
          </a:prstGeom>
        </p:spPr>
      </p:pic>
      <p:pic>
        <p:nvPicPr>
          <p:cNvPr id="29" name="Image 28" descr="Une image contenant légume, Tige, plante&#10;&#10;Description générée automatiquement">
            <a:extLst>
              <a:ext uri="{FF2B5EF4-FFF2-40B4-BE49-F238E27FC236}">
                <a16:creationId xmlns:a16="http://schemas.microsoft.com/office/drawing/2014/main" id="{CB7300D5-D900-803B-C6E0-48400A502652}"/>
              </a:ext>
            </a:extLst>
          </p:cNvPr>
          <p:cNvPicPr>
            <a:picLocks noChangeAspect="1"/>
          </p:cNvPicPr>
          <p:nvPr/>
        </p:nvPicPr>
        <p:blipFill>
          <a:blip r:embed="rId6"/>
          <a:stretch>
            <a:fillRect/>
          </a:stretch>
        </p:blipFill>
        <p:spPr>
          <a:xfrm>
            <a:off x="1863158" y="2544288"/>
            <a:ext cx="687347" cy="1977243"/>
          </a:xfrm>
          <a:prstGeom prst="rect">
            <a:avLst/>
          </a:prstGeom>
        </p:spPr>
      </p:pic>
      <p:cxnSp>
        <p:nvCxnSpPr>
          <p:cNvPr id="30" name="Connecteur droit avec flèche 29">
            <a:extLst>
              <a:ext uri="{FF2B5EF4-FFF2-40B4-BE49-F238E27FC236}">
                <a16:creationId xmlns:a16="http://schemas.microsoft.com/office/drawing/2014/main" id="{7EFDC405-F40B-7684-67F0-86A272BB7A72}"/>
              </a:ext>
            </a:extLst>
          </p:cNvPr>
          <p:cNvCxnSpPr>
            <a:cxnSpLocks/>
            <a:stCxn id="22" idx="1"/>
          </p:cNvCxnSpPr>
          <p:nvPr/>
        </p:nvCxnSpPr>
        <p:spPr>
          <a:xfrm>
            <a:off x="5019684" y="4874897"/>
            <a:ext cx="2296" cy="61823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Espace réservé du contenu 2">
            <a:extLst>
              <a:ext uri="{FF2B5EF4-FFF2-40B4-BE49-F238E27FC236}">
                <a16:creationId xmlns:a16="http://schemas.microsoft.com/office/drawing/2014/main" id="{C0D10E53-15F0-FAAD-3294-B03E775195DF}"/>
              </a:ext>
            </a:extLst>
          </p:cNvPr>
          <p:cNvSpPr txBox="1">
            <a:spLocks/>
          </p:cNvSpPr>
          <p:nvPr/>
        </p:nvSpPr>
        <p:spPr>
          <a:xfrm>
            <a:off x="7110939" y="5491221"/>
            <a:ext cx="2422206" cy="14220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Répartition spatiale et temporelle hétérogène des ressources et des plantes</a:t>
            </a:r>
          </a:p>
        </p:txBody>
      </p:sp>
      <p:cxnSp>
        <p:nvCxnSpPr>
          <p:cNvPr id="50" name="Connecteur droit avec flèche 49">
            <a:extLst>
              <a:ext uri="{FF2B5EF4-FFF2-40B4-BE49-F238E27FC236}">
                <a16:creationId xmlns:a16="http://schemas.microsoft.com/office/drawing/2014/main" id="{3285B563-F2D9-EAD7-7478-AA6C2A71AD36}"/>
              </a:ext>
            </a:extLst>
          </p:cNvPr>
          <p:cNvCxnSpPr/>
          <p:nvPr/>
        </p:nvCxnSpPr>
        <p:spPr>
          <a:xfrm flipV="1">
            <a:off x="9874333" y="1946563"/>
            <a:ext cx="686788" cy="164869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2E5D43D7-EFD6-029A-BCBF-B9BE6CD1F854}"/>
              </a:ext>
            </a:extLst>
          </p:cNvPr>
          <p:cNvCxnSpPr>
            <a:cxnSpLocks/>
            <a:stCxn id="54" idx="1"/>
          </p:cNvCxnSpPr>
          <p:nvPr/>
        </p:nvCxnSpPr>
        <p:spPr>
          <a:xfrm>
            <a:off x="8192735" y="4820346"/>
            <a:ext cx="7802" cy="6407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8811ABDC-DCAA-BD16-33E4-9F9E9B784108}"/>
              </a:ext>
            </a:extLst>
          </p:cNvPr>
          <p:cNvCxnSpPr/>
          <p:nvPr/>
        </p:nvCxnSpPr>
        <p:spPr>
          <a:xfrm>
            <a:off x="5886202" y="5871357"/>
            <a:ext cx="993569" cy="3958"/>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4" name="Accolade fermante 53">
            <a:extLst>
              <a:ext uri="{FF2B5EF4-FFF2-40B4-BE49-F238E27FC236}">
                <a16:creationId xmlns:a16="http://schemas.microsoft.com/office/drawing/2014/main" id="{D2CFA4E2-3F13-891D-3C34-6284AD4B15F9}"/>
              </a:ext>
            </a:extLst>
          </p:cNvPr>
          <p:cNvSpPr/>
          <p:nvPr/>
        </p:nvSpPr>
        <p:spPr>
          <a:xfrm rot="5400000">
            <a:off x="8080375" y="2993981"/>
            <a:ext cx="224720" cy="342800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8" name="Slide Number Placeholder 17">
            <a:extLst>
              <a:ext uri="{FF2B5EF4-FFF2-40B4-BE49-F238E27FC236}">
                <a16:creationId xmlns:a16="http://schemas.microsoft.com/office/drawing/2014/main" id="{E9FCEF18-CA2B-4401-AC1F-4DDBB77028D7}"/>
              </a:ext>
            </a:extLst>
          </p:cNvPr>
          <p:cNvSpPr>
            <a:spLocks noGrp="1"/>
          </p:cNvSpPr>
          <p:nvPr>
            <p:ph type="sldNum" sz="quarter" idx="12"/>
          </p:nvPr>
        </p:nvSpPr>
        <p:spPr/>
        <p:txBody>
          <a:bodyPr/>
          <a:lstStyle/>
          <a:p>
            <a:fld id="{27C6CCC6-2BE5-4E42-96A4-D1E8E81A3D8E}" type="slidenum">
              <a:rPr lang="fr-FR" smtClean="0"/>
              <a:t>3</a:t>
            </a:fld>
            <a:endParaRPr lang="fr-FR"/>
          </a:p>
        </p:txBody>
      </p:sp>
    </p:spTree>
    <p:extLst>
      <p:ext uri="{BB962C8B-B14F-4D97-AF65-F5344CB8AC3E}">
        <p14:creationId xmlns:p14="http://schemas.microsoft.com/office/powerpoint/2010/main" val="143718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21" grpId="0"/>
      <p:bldP spid="22" grpId="0" animBg="1"/>
      <p:bldP spid="49" grpId="0"/>
      <p:bldP spid="5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401552" y="275391"/>
            <a:ext cx="9181151" cy="896121"/>
          </a:xfrm>
        </p:spPr>
        <p:txBody>
          <a:bodyPr>
            <a:normAutofit/>
          </a:bodyPr>
          <a:lstStyle/>
          <a:p>
            <a:r>
              <a:rPr lang="fr-FR" sz="3400" dirty="0"/>
              <a:t>État de l’art des modèles de plantes et de cultures</a:t>
            </a:r>
          </a:p>
        </p:txBody>
      </p:sp>
      <p:pic>
        <p:nvPicPr>
          <p:cNvPr id="6" name="Picture 5">
            <a:extLst>
              <a:ext uri="{FF2B5EF4-FFF2-40B4-BE49-F238E27FC236}">
                <a16:creationId xmlns:a16="http://schemas.microsoft.com/office/drawing/2014/main" id="{B5A05CA9-CFD0-4C97-9512-6A26B06EE3B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271300" y="4229204"/>
            <a:ext cx="2218522" cy="2628796"/>
          </a:xfrm>
          <a:prstGeom prst="rect">
            <a:avLst/>
          </a:prstGeom>
        </p:spPr>
      </p:pic>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2774381" y="1482827"/>
            <a:ext cx="2842176"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2400" b="1" dirty="0">
                <a:solidFill>
                  <a:schemeClr val="tx1"/>
                </a:solidFill>
              </a:rPr>
              <a:t>Modèles de culture </a:t>
            </a:r>
            <a:r>
              <a:rPr lang="fr-FR" sz="1400" dirty="0">
                <a:solidFill>
                  <a:schemeClr val="tx1"/>
                </a:solidFill>
              </a:rPr>
              <a:t>(Boote et al., 2013)</a:t>
            </a:r>
          </a:p>
          <a:p>
            <a:pPr algn="l"/>
            <a:r>
              <a:rPr lang="fr-FR" sz="1600" i="1" dirty="0">
                <a:solidFill>
                  <a:schemeClr val="tx1"/>
                </a:solidFill>
              </a:rPr>
              <a:t>ex: S</a:t>
            </a:r>
            <a:r>
              <a:rPr lang="en-US" sz="1600" i="1" dirty="0">
                <a:solidFill>
                  <a:schemeClr val="tx1"/>
                </a:solidFill>
              </a:rPr>
              <a:t>TICS </a:t>
            </a:r>
            <a:r>
              <a:rPr lang="en-US" sz="1400" i="1" dirty="0">
                <a:solidFill>
                  <a:schemeClr val="tx1"/>
                </a:solidFill>
              </a:rPr>
              <a:t>(</a:t>
            </a:r>
            <a:r>
              <a:rPr lang="en-US" sz="1400" i="1" dirty="0" err="1">
                <a:solidFill>
                  <a:schemeClr val="tx1"/>
                </a:solidFill>
              </a:rPr>
              <a:t>Vezy</a:t>
            </a:r>
            <a:r>
              <a:rPr lang="en-US" sz="1400" i="1" dirty="0">
                <a:solidFill>
                  <a:schemeClr val="tx1"/>
                </a:solidFill>
              </a:rPr>
              <a:t> et al., 2023)</a:t>
            </a:r>
            <a:r>
              <a:rPr lang="en-US" sz="1600" i="1" dirty="0">
                <a:solidFill>
                  <a:schemeClr val="tx1"/>
                </a:solidFill>
              </a:rPr>
              <a:t>, </a:t>
            </a:r>
            <a:r>
              <a:rPr lang="fr-FR" sz="1600" i="1" dirty="0">
                <a:solidFill>
                  <a:schemeClr val="tx1"/>
                </a:solidFill>
              </a:rPr>
              <a:t>A</a:t>
            </a:r>
            <a:r>
              <a:rPr lang="en-US" sz="1600" i="1" dirty="0">
                <a:solidFill>
                  <a:schemeClr val="tx1"/>
                </a:solidFill>
              </a:rPr>
              <a:t>PSIM </a:t>
            </a:r>
            <a:r>
              <a:rPr lang="en-US" sz="1400" i="1" dirty="0">
                <a:solidFill>
                  <a:schemeClr val="tx1"/>
                </a:solidFill>
              </a:rPr>
              <a:t>(</a:t>
            </a:r>
            <a:r>
              <a:rPr lang="fr-FR" sz="1400" i="1" dirty="0" err="1">
                <a:solidFill>
                  <a:schemeClr val="tx1"/>
                </a:solidFill>
              </a:rPr>
              <a:t>Chimonyo</a:t>
            </a:r>
            <a:r>
              <a:rPr lang="fr-FR" sz="1400" i="1" dirty="0">
                <a:solidFill>
                  <a:schemeClr val="tx1"/>
                </a:solidFill>
              </a:rPr>
              <a:t> et al., 2016</a:t>
            </a:r>
            <a:r>
              <a:rPr lang="en-US" sz="1400" i="1" dirty="0">
                <a:solidFill>
                  <a:schemeClr val="tx1"/>
                </a:solidFill>
              </a:rPr>
              <a:t>)</a:t>
            </a:r>
          </a:p>
          <a:p>
            <a:endParaRPr lang="en-US" dirty="0"/>
          </a:p>
        </p:txBody>
      </p:sp>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6544637" y="1349396"/>
            <a:ext cx="4669564" cy="1324242"/>
          </a:xfrm>
          <a:prstGeom prst="rect">
            <a:avLst/>
          </a:prstGeom>
          <a:ln w="28575">
            <a:noFill/>
          </a:ln>
        </p:spPr>
        <p:txBody>
          <a:bodyPr vert="horz" lIns="91440" tIns="45720" rIns="91440" bIns="45720" rtlCol="0" anchor="ctr">
            <a:normAutofit/>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Modèles structure-fonction (FSPM) </a:t>
            </a:r>
          </a:p>
          <a:p>
            <a:r>
              <a:rPr lang="fr-FR" sz="1400" dirty="0">
                <a:solidFill>
                  <a:schemeClr val="tx1"/>
                </a:solidFill>
              </a:rPr>
              <a:t>(</a:t>
            </a:r>
            <a:r>
              <a:rPr lang="fr-FR" sz="1400" dirty="0" err="1">
                <a:solidFill>
                  <a:schemeClr val="tx1"/>
                </a:solidFill>
              </a:rPr>
              <a:t>Louarn</a:t>
            </a:r>
            <a:r>
              <a:rPr lang="fr-FR" sz="1400" dirty="0">
                <a:solidFill>
                  <a:schemeClr val="tx1"/>
                </a:solidFill>
              </a:rPr>
              <a:t> and Song, 2020)</a:t>
            </a:r>
          </a:p>
          <a:p>
            <a:r>
              <a:rPr lang="fr-FR" sz="1600" i="1" dirty="0">
                <a:solidFill>
                  <a:schemeClr val="tx1"/>
                </a:solidFill>
              </a:rPr>
              <a:t>ex: V</a:t>
            </a:r>
            <a:r>
              <a:rPr lang="en-US" sz="1600" i="1" dirty="0" err="1">
                <a:solidFill>
                  <a:schemeClr val="tx1"/>
                </a:solidFill>
              </a:rPr>
              <a:t>irtual</a:t>
            </a:r>
            <a:r>
              <a:rPr lang="en-US" sz="1600" i="1" dirty="0">
                <a:solidFill>
                  <a:schemeClr val="tx1"/>
                </a:solidFill>
              </a:rPr>
              <a:t> </a:t>
            </a:r>
            <a:r>
              <a:rPr lang="en-US" sz="1600" i="1" dirty="0" err="1">
                <a:solidFill>
                  <a:schemeClr val="tx1"/>
                </a:solidFill>
              </a:rPr>
              <a:t>GrassLand</a:t>
            </a:r>
            <a:r>
              <a:rPr lang="en-US" sz="1600" i="1" dirty="0">
                <a:solidFill>
                  <a:schemeClr val="tx1"/>
                </a:solidFill>
              </a:rPr>
              <a:t> </a:t>
            </a:r>
            <a:r>
              <a:rPr lang="en-US" sz="1400" i="1" dirty="0">
                <a:solidFill>
                  <a:schemeClr val="tx1"/>
                </a:solidFill>
              </a:rPr>
              <a:t>(</a:t>
            </a:r>
            <a:r>
              <a:rPr lang="en-US" sz="1400" i="1" dirty="0" err="1">
                <a:solidFill>
                  <a:schemeClr val="tx1"/>
                </a:solidFill>
              </a:rPr>
              <a:t>Louarn</a:t>
            </a:r>
            <a:r>
              <a:rPr lang="en-US" sz="1400" i="1" dirty="0">
                <a:solidFill>
                  <a:schemeClr val="tx1"/>
                </a:solidFill>
              </a:rPr>
              <a:t> et al., 2020), </a:t>
            </a:r>
          </a:p>
          <a:p>
            <a:r>
              <a:rPr lang="en-US" sz="1600" i="1" dirty="0">
                <a:solidFill>
                  <a:schemeClr val="tx1"/>
                </a:solidFill>
              </a:rPr>
              <a:t>SIMBAL </a:t>
            </a:r>
            <a:r>
              <a:rPr lang="en-US" sz="1400" i="1" dirty="0">
                <a:solidFill>
                  <a:schemeClr val="tx1"/>
                </a:solidFill>
              </a:rPr>
              <a:t>(</a:t>
            </a:r>
            <a:r>
              <a:rPr lang="en-US" sz="1400" i="1" dirty="0" err="1">
                <a:solidFill>
                  <a:schemeClr val="tx1"/>
                </a:solidFill>
              </a:rPr>
              <a:t>Perthame</a:t>
            </a:r>
            <a:r>
              <a:rPr lang="en-US" sz="1400" i="1" dirty="0">
                <a:solidFill>
                  <a:schemeClr val="tx1"/>
                </a:solidFill>
              </a:rPr>
              <a:t> et al., 2023)</a:t>
            </a:r>
          </a:p>
          <a:p>
            <a:endParaRPr lang="en-US" dirty="0"/>
          </a:p>
        </p:txBody>
      </p:sp>
      <p:sp>
        <p:nvSpPr>
          <p:cNvPr id="20" name="Isosceles Triangle 19">
            <a:extLst>
              <a:ext uri="{FF2B5EF4-FFF2-40B4-BE49-F238E27FC236}">
                <a16:creationId xmlns:a16="http://schemas.microsoft.com/office/drawing/2014/main" id="{18CD990F-2249-45CF-8025-5A727DB85478}"/>
              </a:ext>
            </a:extLst>
          </p:cNvPr>
          <p:cNvSpPr/>
          <p:nvPr/>
        </p:nvSpPr>
        <p:spPr>
          <a:xfrm rot="5400000">
            <a:off x="7125895" y="4449089"/>
            <a:ext cx="1493231" cy="2636810"/>
          </a:xfrm>
          <a:prstGeom prst="triangle">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142B59B-AED1-484B-B011-6CFD43BD1BAC}"/>
              </a:ext>
            </a:extLst>
          </p:cNvPr>
          <p:cNvSpPr txBox="1"/>
          <p:nvPr/>
        </p:nvSpPr>
        <p:spPr>
          <a:xfrm>
            <a:off x="365884" y="2807463"/>
            <a:ext cx="6107837" cy="2062103"/>
          </a:xfrm>
          <a:prstGeom prst="rect">
            <a:avLst/>
          </a:prstGeom>
          <a:noFill/>
        </p:spPr>
        <p:txBody>
          <a:bodyPr wrap="square" rtlCol="0">
            <a:spAutoFit/>
          </a:bodyPr>
          <a:lstStyle/>
          <a:p>
            <a:pPr>
              <a:lnSpc>
                <a:spcPct val="150000"/>
              </a:lnSpc>
            </a:pPr>
            <a:r>
              <a:rPr lang="fr-FR" sz="1600" dirty="0">
                <a:solidFill>
                  <a:schemeClr val="tx1">
                    <a:lumMod val="65000"/>
                    <a:lumOff val="35000"/>
                  </a:schemeClr>
                </a:solidFill>
                <a:latin typeface="Arial"/>
              </a:rPr>
              <a:t>Échelle spatiale		parcelle (N = 1 volume homogène)</a:t>
            </a:r>
            <a:endParaRPr lang="en-US" sz="1600" dirty="0">
              <a:solidFill>
                <a:schemeClr val="tx1">
                  <a:lumMod val="65000"/>
                  <a:lumOff val="35000"/>
                </a:schemeClr>
              </a:solidFill>
              <a:latin typeface="Arial"/>
            </a:endParaRPr>
          </a:p>
          <a:p>
            <a:pPr>
              <a:lnSpc>
                <a:spcPct val="150000"/>
              </a:lnSpc>
            </a:pPr>
            <a:r>
              <a:rPr lang="en-US" sz="1600" dirty="0">
                <a:solidFill>
                  <a:schemeClr val="tx1">
                    <a:lumMod val="65000"/>
                    <a:lumOff val="35000"/>
                  </a:schemeClr>
                </a:solidFill>
                <a:latin typeface="Arial"/>
              </a:rPr>
              <a:t>Pas de temps 		</a:t>
            </a:r>
            <a:r>
              <a:rPr lang="en-US" sz="1600" dirty="0" err="1">
                <a:solidFill>
                  <a:schemeClr val="tx1">
                    <a:lumMod val="65000"/>
                    <a:lumOff val="35000"/>
                  </a:schemeClr>
                </a:solidFill>
                <a:latin typeface="Arial"/>
              </a:rPr>
              <a:t>journalier</a:t>
            </a:r>
            <a:endParaRPr lang="en-US" sz="1600" dirty="0">
              <a:solidFill>
                <a:schemeClr val="tx1">
                  <a:lumMod val="65000"/>
                  <a:lumOff val="35000"/>
                </a:schemeClr>
              </a:solidFill>
              <a:latin typeface="Arial"/>
            </a:endParaRPr>
          </a:p>
          <a:p>
            <a:pPr>
              <a:lnSpc>
                <a:spcPct val="150000"/>
              </a:lnSpc>
            </a:pPr>
            <a:r>
              <a:rPr lang="fr-FR" sz="1600" dirty="0">
                <a:solidFill>
                  <a:schemeClr val="tx1">
                    <a:lumMod val="65000"/>
                    <a:lumOff val="35000"/>
                  </a:schemeClr>
                </a:solidFill>
                <a:latin typeface="Arial"/>
              </a:rPr>
              <a:t>Échelle temporelle		(multi-)année</a:t>
            </a:r>
          </a:p>
          <a:p>
            <a:pPr>
              <a:lnSpc>
                <a:spcPct val="150000"/>
              </a:lnSpc>
            </a:pPr>
            <a:r>
              <a:rPr lang="fr-FR" sz="1600" dirty="0">
                <a:solidFill>
                  <a:schemeClr val="tx1">
                    <a:lumMod val="65000"/>
                    <a:lumOff val="35000"/>
                  </a:schemeClr>
                </a:solidFill>
                <a:latin typeface="Arial"/>
              </a:rPr>
              <a:t>			aide à la décision,</a:t>
            </a:r>
          </a:p>
          <a:p>
            <a:r>
              <a:rPr lang="fr-FR" sz="1600" dirty="0">
                <a:solidFill>
                  <a:schemeClr val="tx1">
                    <a:lumMod val="65000"/>
                    <a:lumOff val="35000"/>
                  </a:schemeClr>
                </a:solidFill>
                <a:latin typeface="Arial"/>
              </a:rPr>
              <a:t>Objectifs 			prédiction,</a:t>
            </a:r>
          </a:p>
          <a:p>
            <a:r>
              <a:rPr lang="fr-FR" sz="1600" dirty="0">
                <a:solidFill>
                  <a:schemeClr val="tx1">
                    <a:lumMod val="65000"/>
                    <a:lumOff val="35000"/>
                  </a:schemeClr>
                </a:solidFill>
                <a:latin typeface="Arial"/>
              </a:rPr>
              <a:t>			sélection d’</a:t>
            </a:r>
            <a:r>
              <a:rPr lang="fr-FR" sz="1600" dirty="0" err="1">
                <a:solidFill>
                  <a:schemeClr val="tx1">
                    <a:lumMod val="65000"/>
                    <a:lumOff val="35000"/>
                  </a:schemeClr>
                </a:solidFill>
                <a:latin typeface="Arial"/>
              </a:rPr>
              <a:t>idéotypes</a:t>
            </a:r>
            <a:endParaRPr lang="fr-FR" sz="1600" dirty="0">
              <a:solidFill>
                <a:schemeClr val="tx1">
                  <a:lumMod val="65000"/>
                  <a:lumOff val="35000"/>
                </a:schemeClr>
              </a:solidFill>
              <a:latin typeface="Arial"/>
            </a:endParaRPr>
          </a:p>
        </p:txBody>
      </p:sp>
      <p:sp>
        <p:nvSpPr>
          <p:cNvPr id="22" name="TextBox 21">
            <a:extLst>
              <a:ext uri="{FF2B5EF4-FFF2-40B4-BE49-F238E27FC236}">
                <a16:creationId xmlns:a16="http://schemas.microsoft.com/office/drawing/2014/main" id="{436AD5CB-73F9-4A7C-AF38-E15AC380F37D}"/>
              </a:ext>
            </a:extLst>
          </p:cNvPr>
          <p:cNvSpPr txBox="1"/>
          <p:nvPr/>
        </p:nvSpPr>
        <p:spPr>
          <a:xfrm>
            <a:off x="7975551" y="2811436"/>
            <a:ext cx="3168066" cy="1815882"/>
          </a:xfrm>
          <a:prstGeom prst="rect">
            <a:avLst/>
          </a:prstGeom>
          <a:noFill/>
        </p:spPr>
        <p:txBody>
          <a:bodyPr wrap="square" rtlCol="0">
            <a:spAutoFit/>
          </a:bodyPr>
          <a:lstStyle/>
          <a:p>
            <a:pPr>
              <a:lnSpc>
                <a:spcPct val="150000"/>
              </a:lnSpc>
            </a:pPr>
            <a:r>
              <a:rPr lang="fr-FR" sz="1600" dirty="0">
                <a:solidFill>
                  <a:schemeClr val="tx1">
                    <a:lumMod val="65000"/>
                    <a:lumOff val="35000"/>
                  </a:schemeClr>
                </a:solidFill>
                <a:latin typeface="Arial"/>
              </a:rPr>
              <a:t>organe (N = nb d’organes)</a:t>
            </a:r>
            <a:endParaRPr lang="en-US" sz="1600" dirty="0">
              <a:solidFill>
                <a:schemeClr val="tx1">
                  <a:lumMod val="65000"/>
                  <a:lumOff val="35000"/>
                </a:schemeClr>
              </a:solidFill>
              <a:latin typeface="Arial"/>
            </a:endParaRPr>
          </a:p>
          <a:p>
            <a:pPr>
              <a:lnSpc>
                <a:spcPct val="150000"/>
              </a:lnSpc>
            </a:pPr>
            <a:r>
              <a:rPr lang="en-US" sz="1600" dirty="0">
                <a:solidFill>
                  <a:schemeClr val="tx1">
                    <a:lumMod val="65000"/>
                    <a:lumOff val="35000"/>
                  </a:schemeClr>
                </a:solidFill>
                <a:latin typeface="Arial"/>
              </a:rPr>
              <a:t>(infra-)</a:t>
            </a:r>
            <a:r>
              <a:rPr lang="en-US" sz="1600" dirty="0" err="1">
                <a:solidFill>
                  <a:schemeClr val="tx1">
                    <a:lumMod val="65000"/>
                    <a:lumOff val="35000"/>
                  </a:schemeClr>
                </a:solidFill>
                <a:latin typeface="Arial"/>
              </a:rPr>
              <a:t>horaire</a:t>
            </a:r>
            <a:endParaRPr lang="en-US" sz="1600" dirty="0">
              <a:solidFill>
                <a:schemeClr val="tx1">
                  <a:lumMod val="65000"/>
                  <a:lumOff val="35000"/>
                </a:schemeClr>
              </a:solidFill>
              <a:latin typeface="Arial"/>
            </a:endParaRPr>
          </a:p>
          <a:p>
            <a:pPr>
              <a:lnSpc>
                <a:spcPct val="150000"/>
              </a:lnSpc>
            </a:pPr>
            <a:r>
              <a:rPr lang="fr-FR" sz="1600" dirty="0">
                <a:solidFill>
                  <a:schemeClr val="tx1">
                    <a:lumMod val="65000"/>
                    <a:lumOff val="35000"/>
                  </a:schemeClr>
                </a:solidFill>
                <a:latin typeface="Arial"/>
              </a:rPr>
              <a:t>≤ cycle de développement</a:t>
            </a:r>
          </a:p>
          <a:p>
            <a:pPr>
              <a:lnSpc>
                <a:spcPct val="150000"/>
              </a:lnSpc>
            </a:pPr>
            <a:r>
              <a:rPr lang="fr-FR" sz="1600" dirty="0">
                <a:solidFill>
                  <a:schemeClr val="tx1">
                    <a:lumMod val="65000"/>
                    <a:lumOff val="35000"/>
                  </a:schemeClr>
                </a:solidFill>
                <a:latin typeface="Arial"/>
              </a:rPr>
              <a:t>écophysiologie et interactions,</a:t>
            </a:r>
          </a:p>
          <a:p>
            <a:r>
              <a:rPr lang="fr-FR" sz="1600" dirty="0">
                <a:solidFill>
                  <a:schemeClr val="tx1">
                    <a:lumMod val="65000"/>
                    <a:lumOff val="35000"/>
                  </a:schemeClr>
                </a:solidFill>
                <a:latin typeface="Arial"/>
              </a:rPr>
              <a:t>sélection d’</a:t>
            </a:r>
            <a:r>
              <a:rPr lang="fr-FR" sz="1600" dirty="0" err="1">
                <a:solidFill>
                  <a:schemeClr val="tx1">
                    <a:lumMod val="65000"/>
                    <a:lumOff val="35000"/>
                  </a:schemeClr>
                </a:solidFill>
                <a:latin typeface="Arial"/>
              </a:rPr>
              <a:t>idéotypes</a:t>
            </a:r>
            <a:endParaRPr lang="fr-FR" sz="1600" dirty="0">
              <a:solidFill>
                <a:schemeClr val="tx1">
                  <a:lumMod val="65000"/>
                  <a:lumOff val="35000"/>
                </a:schemeClr>
              </a:solidFill>
              <a:latin typeface="Arial"/>
            </a:endParaRPr>
          </a:p>
        </p:txBody>
      </p:sp>
      <p:cxnSp>
        <p:nvCxnSpPr>
          <p:cNvPr id="29" name="Straight Connector 28">
            <a:extLst>
              <a:ext uri="{FF2B5EF4-FFF2-40B4-BE49-F238E27FC236}">
                <a16:creationId xmlns:a16="http://schemas.microsoft.com/office/drawing/2014/main" id="{813360A0-247B-4452-9AA9-7116AF08FA34}"/>
              </a:ext>
            </a:extLst>
          </p:cNvPr>
          <p:cNvCxnSpPr>
            <a:cxnSpLocks/>
          </p:cNvCxnSpPr>
          <p:nvPr/>
        </p:nvCxnSpPr>
        <p:spPr>
          <a:xfrm>
            <a:off x="2663221" y="2807463"/>
            <a:ext cx="0" cy="20621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Cube 54">
            <a:extLst>
              <a:ext uri="{FF2B5EF4-FFF2-40B4-BE49-F238E27FC236}">
                <a16:creationId xmlns:a16="http://schemas.microsoft.com/office/drawing/2014/main" id="{C3ED292C-DF91-4A75-AAB3-742241CF4DD6}"/>
              </a:ext>
            </a:extLst>
          </p:cNvPr>
          <p:cNvSpPr/>
          <p:nvPr/>
        </p:nvSpPr>
        <p:spPr>
          <a:xfrm>
            <a:off x="2863602" y="5424132"/>
            <a:ext cx="2850574" cy="123874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6" name="Cube 55">
            <a:extLst>
              <a:ext uri="{FF2B5EF4-FFF2-40B4-BE49-F238E27FC236}">
                <a16:creationId xmlns:a16="http://schemas.microsoft.com/office/drawing/2014/main" id="{CFB7BC8F-7742-4B3B-A35E-175C734AA169}"/>
              </a:ext>
            </a:extLst>
          </p:cNvPr>
          <p:cNvSpPr/>
          <p:nvPr/>
        </p:nvSpPr>
        <p:spPr>
          <a:xfrm>
            <a:off x="2863602" y="5217795"/>
            <a:ext cx="2850574" cy="123874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4</a:t>
            </a:fld>
            <a:endParaRPr lang="fr-FR"/>
          </a:p>
        </p:txBody>
      </p:sp>
      <p:cxnSp>
        <p:nvCxnSpPr>
          <p:cNvPr id="86" name="Straight Connector 85">
            <a:extLst>
              <a:ext uri="{FF2B5EF4-FFF2-40B4-BE49-F238E27FC236}">
                <a16:creationId xmlns:a16="http://schemas.microsoft.com/office/drawing/2014/main" id="{24F715B6-7FA9-43A9-BAB8-0091E66DFB83}"/>
              </a:ext>
            </a:extLst>
          </p:cNvPr>
          <p:cNvCxnSpPr>
            <a:cxnSpLocks/>
          </p:cNvCxnSpPr>
          <p:nvPr/>
        </p:nvCxnSpPr>
        <p:spPr>
          <a:xfrm flipH="1">
            <a:off x="405804" y="3215473"/>
            <a:ext cx="107378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69F4F72-6EA6-4119-B628-025956FF450D}"/>
              </a:ext>
            </a:extLst>
          </p:cNvPr>
          <p:cNvCxnSpPr>
            <a:cxnSpLocks/>
          </p:cNvCxnSpPr>
          <p:nvPr/>
        </p:nvCxnSpPr>
        <p:spPr>
          <a:xfrm flipH="1">
            <a:off x="405804" y="3609034"/>
            <a:ext cx="107378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0ADEF64E-305A-4723-8453-DF389686190F}"/>
              </a:ext>
            </a:extLst>
          </p:cNvPr>
          <p:cNvCxnSpPr>
            <a:cxnSpLocks/>
          </p:cNvCxnSpPr>
          <p:nvPr/>
        </p:nvCxnSpPr>
        <p:spPr>
          <a:xfrm flipH="1">
            <a:off x="396030" y="3982497"/>
            <a:ext cx="107475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1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0" grpId="0" animBg="1"/>
      <p:bldP spid="21" grpId="0"/>
      <p:bldP spid="22" grpId="0"/>
      <p:bldP spid="55" grpId="0" animBg="1"/>
      <p:bldP spid="5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a:extLst>
              <a:ext uri="{FF2B5EF4-FFF2-40B4-BE49-F238E27FC236}">
                <a16:creationId xmlns:a16="http://schemas.microsoft.com/office/drawing/2014/main" id="{C88BBBA9-A5C2-4BC6-8458-4BB860E4A4E2}"/>
              </a:ext>
            </a:extLst>
          </p:cNvPr>
          <p:cNvPicPr>
            <a:picLocks noChangeAspect="1"/>
          </p:cNvPicPr>
          <p:nvPr/>
        </p:nvPicPr>
        <p:blipFill rotWithShape="1">
          <a:blip r:embed="rId2">
            <a:clrChange>
              <a:clrFrom>
                <a:srgbClr val="FFFFFF"/>
              </a:clrFrom>
              <a:clrTo>
                <a:srgbClr val="FFFFFF">
                  <a:alpha val="0"/>
                </a:srgbClr>
              </a:clrTo>
            </a:clrChange>
          </a:blip>
          <a:srcRect l="38253" t="5366" r="2760" b="9134"/>
          <a:stretch/>
        </p:blipFill>
        <p:spPr>
          <a:xfrm>
            <a:off x="5929358" y="3417914"/>
            <a:ext cx="3182608" cy="2317794"/>
          </a:xfrm>
          <a:prstGeom prst="rect">
            <a:avLst/>
          </a:prstGeom>
        </p:spPr>
      </p:pic>
      <p:pic>
        <p:nvPicPr>
          <p:cNvPr id="82" name="Picture 81">
            <a:extLst>
              <a:ext uri="{FF2B5EF4-FFF2-40B4-BE49-F238E27FC236}">
                <a16:creationId xmlns:a16="http://schemas.microsoft.com/office/drawing/2014/main" id="{19AF0B9C-DDAF-467D-8E7E-E8B8D9D76B40}"/>
              </a:ext>
            </a:extLst>
          </p:cNvPr>
          <p:cNvPicPr>
            <a:picLocks noChangeAspect="1"/>
          </p:cNvPicPr>
          <p:nvPr/>
        </p:nvPicPr>
        <p:blipFill rotWithShape="1">
          <a:blip r:embed="rId2">
            <a:clrChange>
              <a:clrFrom>
                <a:srgbClr val="FFFFFF"/>
              </a:clrFrom>
              <a:clrTo>
                <a:srgbClr val="FFFFFF">
                  <a:alpha val="0"/>
                </a:srgbClr>
              </a:clrTo>
            </a:clrChange>
          </a:blip>
          <a:srcRect l="38253" t="5366" r="2760" b="9134"/>
          <a:stretch/>
        </p:blipFill>
        <p:spPr>
          <a:xfrm>
            <a:off x="5929359" y="3417915"/>
            <a:ext cx="3182608" cy="2317794"/>
          </a:xfrm>
          <a:prstGeom prst="rect">
            <a:avLst/>
          </a:prstGeom>
        </p:spPr>
      </p:pic>
      <p:pic>
        <p:nvPicPr>
          <p:cNvPr id="86" name="Picture 85">
            <a:extLst>
              <a:ext uri="{FF2B5EF4-FFF2-40B4-BE49-F238E27FC236}">
                <a16:creationId xmlns:a16="http://schemas.microsoft.com/office/drawing/2014/main" id="{8F6AFA72-AA82-4A68-B058-C74C3B2EB7FD}"/>
              </a:ext>
            </a:extLst>
          </p:cNvPr>
          <p:cNvPicPr>
            <a:picLocks noChangeAspect="1"/>
          </p:cNvPicPr>
          <p:nvPr/>
        </p:nvPicPr>
        <p:blipFill rotWithShape="1">
          <a:blip r:embed="rId2">
            <a:clrChange>
              <a:clrFrom>
                <a:srgbClr val="FFFFFF"/>
              </a:clrFrom>
              <a:clrTo>
                <a:srgbClr val="FFFFFF">
                  <a:alpha val="0"/>
                </a:srgbClr>
              </a:clrTo>
            </a:clrChange>
          </a:blip>
          <a:srcRect l="38253" t="5366" r="2760" b="9134"/>
          <a:stretch/>
        </p:blipFill>
        <p:spPr>
          <a:xfrm>
            <a:off x="5929358" y="3417914"/>
            <a:ext cx="3182608" cy="2317794"/>
          </a:xfrm>
          <a:prstGeom prst="rect">
            <a:avLst/>
          </a:prstGeom>
        </p:spPr>
      </p:pic>
      <p:sp>
        <p:nvSpPr>
          <p:cNvPr id="24" name="Cube 23">
            <a:extLst>
              <a:ext uri="{FF2B5EF4-FFF2-40B4-BE49-F238E27FC236}">
                <a16:creationId xmlns:a16="http://schemas.microsoft.com/office/drawing/2014/main" id="{6F78F734-9A89-4595-8ABB-DCD995E81BD9}"/>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1710C2A-A9D2-4F13-A70E-2407430808E9}"/>
              </a:ext>
            </a:extLst>
          </p:cNvPr>
          <p:cNvSpPr>
            <a:spLocks noGrp="1"/>
          </p:cNvSpPr>
          <p:nvPr>
            <p:ph type="title"/>
          </p:nvPr>
        </p:nvSpPr>
        <p:spPr>
          <a:xfrm>
            <a:off x="241146" y="119517"/>
            <a:ext cx="10515600" cy="1325563"/>
          </a:xfrm>
        </p:spPr>
        <p:txBody>
          <a:bodyPr>
            <a:normAutofit/>
          </a:bodyPr>
          <a:lstStyle/>
          <a:p>
            <a:r>
              <a:rPr lang="fr-FR" sz="3400" dirty="0"/>
              <a:t>Exemple de processus : l’interception de la lumière</a:t>
            </a:r>
            <a:endParaRPr lang="en-US" sz="3400" dirty="0"/>
          </a:p>
        </p:txBody>
      </p:sp>
      <p:pic>
        <p:nvPicPr>
          <p:cNvPr id="4" name="Picture 3">
            <a:extLst>
              <a:ext uri="{FF2B5EF4-FFF2-40B4-BE49-F238E27FC236}">
                <a16:creationId xmlns:a16="http://schemas.microsoft.com/office/drawing/2014/main" id="{0F0AEAEF-4C34-40CF-8868-0919062D8C6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005275" y="3766493"/>
            <a:ext cx="2050956" cy="2430242"/>
          </a:xfrm>
          <a:prstGeom prst="rect">
            <a:avLst/>
          </a:prstGeom>
        </p:spPr>
      </p:pic>
      <p:sp>
        <p:nvSpPr>
          <p:cNvPr id="5" name="Content Placeholder 6">
            <a:extLst>
              <a:ext uri="{FF2B5EF4-FFF2-40B4-BE49-F238E27FC236}">
                <a16:creationId xmlns:a16="http://schemas.microsoft.com/office/drawing/2014/main" id="{D21B5EC0-062A-4394-8D83-2853B8191B7B}"/>
              </a:ext>
            </a:extLst>
          </p:cNvPr>
          <p:cNvSpPr txBox="1">
            <a:spLocks/>
          </p:cNvSpPr>
          <p:nvPr/>
        </p:nvSpPr>
        <p:spPr>
          <a:xfrm>
            <a:off x="406216" y="1403653"/>
            <a:ext cx="2695620"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2400" b="1" dirty="0">
                <a:solidFill>
                  <a:schemeClr val="tx1"/>
                </a:solidFill>
              </a:rPr>
              <a:t>Modèles de culture</a:t>
            </a:r>
            <a:endParaRPr lang="fr-FR" sz="2400" dirty="0">
              <a:solidFill>
                <a:schemeClr val="tx1"/>
              </a:solidFill>
            </a:endParaRPr>
          </a:p>
          <a:p>
            <a:endParaRPr lang="en-US" dirty="0"/>
          </a:p>
        </p:txBody>
      </p:sp>
      <p:sp>
        <p:nvSpPr>
          <p:cNvPr id="6" name="Content Placeholder 7">
            <a:extLst>
              <a:ext uri="{FF2B5EF4-FFF2-40B4-BE49-F238E27FC236}">
                <a16:creationId xmlns:a16="http://schemas.microsoft.com/office/drawing/2014/main" id="{DCD6D5EB-6032-4892-95D9-3D3CE4BDFC77}"/>
              </a:ext>
            </a:extLst>
          </p:cNvPr>
          <p:cNvSpPr txBox="1">
            <a:spLocks/>
          </p:cNvSpPr>
          <p:nvPr/>
        </p:nvSpPr>
        <p:spPr>
          <a:xfrm>
            <a:off x="8183929" y="1305045"/>
            <a:ext cx="3328217" cy="1210538"/>
          </a:xfrm>
          <a:prstGeom prst="rect">
            <a:avLst/>
          </a:prstGeom>
          <a:ln w="28575">
            <a:no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FSPM</a:t>
            </a:r>
          </a:p>
          <a:p>
            <a:endParaRPr lang="en-US" dirty="0"/>
          </a:p>
        </p:txBody>
      </p:sp>
      <p:cxnSp>
        <p:nvCxnSpPr>
          <p:cNvPr id="7" name="Straight Connector 6">
            <a:extLst>
              <a:ext uri="{FF2B5EF4-FFF2-40B4-BE49-F238E27FC236}">
                <a16:creationId xmlns:a16="http://schemas.microsoft.com/office/drawing/2014/main" id="{8C446F34-7D69-4E79-9312-D1CA2C0A0370}"/>
              </a:ext>
            </a:extLst>
          </p:cNvPr>
          <p:cNvCxnSpPr>
            <a:cxnSpLocks/>
          </p:cNvCxnSpPr>
          <p:nvPr/>
        </p:nvCxnSpPr>
        <p:spPr>
          <a:xfrm>
            <a:off x="5663953" y="2784980"/>
            <a:ext cx="0" cy="34594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D625E52-E342-4DD8-8F9C-04451EB87800}"/>
              </a:ext>
            </a:extLst>
          </p:cNvPr>
          <p:cNvSpPr txBox="1"/>
          <p:nvPr/>
        </p:nvSpPr>
        <p:spPr>
          <a:xfrm>
            <a:off x="2747894" y="2947279"/>
            <a:ext cx="2498689" cy="369332"/>
          </a:xfrm>
          <a:prstGeom prst="rect">
            <a:avLst/>
          </a:prstGeom>
          <a:noFill/>
        </p:spPr>
        <p:txBody>
          <a:bodyPr wrap="square" rtlCol="0">
            <a:spAutoFit/>
          </a:bodyPr>
          <a:lstStyle/>
          <a:p>
            <a:r>
              <a:rPr lang="en-US" dirty="0">
                <a:solidFill>
                  <a:schemeClr val="tx1">
                    <a:lumMod val="65000"/>
                    <a:lumOff val="35000"/>
                  </a:schemeClr>
                </a:solidFill>
                <a:latin typeface="Arial"/>
              </a:rPr>
              <a:t>Volume </a:t>
            </a:r>
            <a:r>
              <a:rPr lang="en-US" dirty="0" err="1">
                <a:solidFill>
                  <a:schemeClr val="tx1">
                    <a:lumMod val="65000"/>
                    <a:lumOff val="35000"/>
                  </a:schemeClr>
                </a:solidFill>
                <a:latin typeface="Arial"/>
              </a:rPr>
              <a:t>homogène</a:t>
            </a:r>
            <a:endParaRPr lang="en-US" dirty="0">
              <a:solidFill>
                <a:schemeClr val="tx1">
                  <a:lumMod val="65000"/>
                  <a:lumOff val="35000"/>
                </a:schemeClr>
              </a:solidFill>
            </a:endParaRPr>
          </a:p>
        </p:txBody>
      </p:sp>
      <p:cxnSp>
        <p:nvCxnSpPr>
          <p:cNvPr id="10" name="Straight Arrow Connector 9">
            <a:extLst>
              <a:ext uri="{FF2B5EF4-FFF2-40B4-BE49-F238E27FC236}">
                <a16:creationId xmlns:a16="http://schemas.microsoft.com/office/drawing/2014/main" id="{E02590CA-CDE1-4998-B2AC-D3C48BFA258D}"/>
              </a:ext>
            </a:extLst>
          </p:cNvPr>
          <p:cNvCxnSpPr>
            <a:cxnSpLocks/>
          </p:cNvCxnSpPr>
          <p:nvPr/>
        </p:nvCxnSpPr>
        <p:spPr>
          <a:xfrm flipH="1">
            <a:off x="10576361" y="3748192"/>
            <a:ext cx="508797" cy="599424"/>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3280290C-A86C-406A-A894-5AF5C114813A}"/>
              </a:ext>
            </a:extLst>
          </p:cNvPr>
          <p:cNvCxnSpPr>
            <a:cxnSpLocks/>
          </p:cNvCxnSpPr>
          <p:nvPr/>
        </p:nvCxnSpPr>
        <p:spPr>
          <a:xfrm flipH="1">
            <a:off x="10644614" y="3766493"/>
            <a:ext cx="796587" cy="994223"/>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3E1C64C2-FC87-4836-86EF-FA197FE43A9C}"/>
              </a:ext>
            </a:extLst>
          </p:cNvPr>
          <p:cNvCxnSpPr>
            <a:cxnSpLocks/>
          </p:cNvCxnSpPr>
          <p:nvPr/>
        </p:nvCxnSpPr>
        <p:spPr>
          <a:xfrm>
            <a:off x="1902790" y="3008734"/>
            <a:ext cx="752892" cy="860711"/>
          </a:xfrm>
          <a:prstGeom prst="straightConnector1">
            <a:avLst/>
          </a:prstGeom>
          <a:ln w="38100">
            <a:gradFill flip="none" rotWithShape="1">
              <a:gsLst>
                <a:gs pos="36000">
                  <a:srgbClr val="FFC000"/>
                </a:gs>
                <a:gs pos="73000">
                  <a:schemeClr val="accent3">
                    <a:lumMod val="45000"/>
                    <a:lumOff val="55000"/>
                  </a:schemeClr>
                </a:gs>
                <a:gs pos="88000">
                  <a:schemeClr val="accent3">
                    <a:lumMod val="45000"/>
                    <a:lumOff val="55000"/>
                  </a:schemeClr>
                </a:gs>
                <a:gs pos="100000">
                  <a:schemeClr val="accent3">
                    <a:lumMod val="30000"/>
                    <a:lumOff val="70000"/>
                  </a:schemeClr>
                </a:gs>
              </a:gsLst>
              <a:lin ang="5400000" scaled="1"/>
              <a:tileRect/>
            </a:gradFill>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09882676-B23C-4852-98D7-2DEB50D040BC}"/>
              </a:ext>
            </a:extLst>
          </p:cNvPr>
          <p:cNvSpPr txBox="1"/>
          <p:nvPr/>
        </p:nvSpPr>
        <p:spPr>
          <a:xfrm>
            <a:off x="679854" y="2299263"/>
            <a:ext cx="2488815" cy="369332"/>
          </a:xfrm>
          <a:prstGeom prst="rect">
            <a:avLst/>
          </a:prstGeom>
          <a:noFill/>
        </p:spPr>
        <p:txBody>
          <a:bodyPr wrap="square" rtlCol="0">
            <a:spAutoFit/>
          </a:bodyPr>
          <a:lstStyle/>
          <a:p>
            <a:r>
              <a:rPr lang="en-US" dirty="0" err="1">
                <a:latin typeface="Arial"/>
              </a:rPr>
              <a:t>Loi</a:t>
            </a:r>
            <a:r>
              <a:rPr lang="en-US" dirty="0">
                <a:latin typeface="Arial"/>
              </a:rPr>
              <a:t> de Beer-Lambert :</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1A51747-E9EF-4D36-9241-05F118D6650D}"/>
                  </a:ext>
                </a:extLst>
              </p:cNvPr>
              <p:cNvSpPr txBox="1"/>
              <p:nvPr/>
            </p:nvSpPr>
            <p:spPr>
              <a:xfrm>
                <a:off x="877471" y="2639402"/>
                <a:ext cx="16807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solidFill>
                            <a:schemeClr val="tx1"/>
                          </a:solidFill>
                          <a:latin typeface="Cambria Math" panose="02040503050406030204" pitchFamily="18" charset="0"/>
                        </a:rPr>
                        <m:t>exp</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𝑘</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𝐿𝐴𝐼</m:t>
                      </m:r>
                      <m:r>
                        <a:rPr lang="fr-FR" b="0" i="1" smtClean="0">
                          <a:solidFill>
                            <a:schemeClr val="tx1"/>
                          </a:solidFill>
                          <a:latin typeface="Cambria Math" panose="02040503050406030204" pitchFamily="18" charset="0"/>
                        </a:rPr>
                        <m:t>)</m:t>
                      </m:r>
                    </m:oMath>
                  </m:oMathPara>
                </a14:m>
                <a:endParaRPr lang="en-US" dirty="0">
                  <a:solidFill>
                    <a:schemeClr val="tx1"/>
                  </a:solidFill>
                  <a:latin typeface="Arial"/>
                </a:endParaRPr>
              </a:p>
            </p:txBody>
          </p:sp>
        </mc:Choice>
        <mc:Fallback>
          <p:sp>
            <p:nvSpPr>
              <p:cNvPr id="14" name="TextBox 13">
                <a:extLst>
                  <a:ext uri="{FF2B5EF4-FFF2-40B4-BE49-F238E27FC236}">
                    <a16:creationId xmlns:a16="http://schemas.microsoft.com/office/drawing/2014/main" id="{01A51747-E9EF-4D36-9241-05F118D6650D}"/>
                  </a:ext>
                </a:extLst>
              </p:cNvPr>
              <p:cNvSpPr txBox="1">
                <a:spLocks noRot="1" noChangeAspect="1" noMove="1" noResize="1" noEditPoints="1" noAdjustHandles="1" noChangeArrowheads="1" noChangeShapeType="1" noTextEdit="1"/>
              </p:cNvSpPr>
              <p:nvPr/>
            </p:nvSpPr>
            <p:spPr>
              <a:xfrm>
                <a:off x="877471" y="2639402"/>
                <a:ext cx="1680750" cy="369332"/>
              </a:xfrm>
              <a:prstGeom prst="rect">
                <a:avLst/>
              </a:prstGeom>
              <a:blipFill>
                <a:blip r:embed="rId4"/>
                <a:stretch>
                  <a:fillRect b="-1311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8C71A7DB-00DA-44C4-963E-5214A862D06F}"/>
              </a:ext>
            </a:extLst>
          </p:cNvPr>
          <p:cNvSpPr txBox="1"/>
          <p:nvPr/>
        </p:nvSpPr>
        <p:spPr>
          <a:xfrm>
            <a:off x="1961051" y="6265533"/>
            <a:ext cx="1716723" cy="276999"/>
          </a:xfrm>
          <a:prstGeom prst="rect">
            <a:avLst/>
          </a:prstGeom>
          <a:noFill/>
        </p:spPr>
        <p:txBody>
          <a:bodyPr wrap="square" rtlCol="0">
            <a:spAutoFit/>
          </a:bodyPr>
          <a:lstStyle/>
          <a:p>
            <a:r>
              <a:rPr lang="fr-FR" sz="1200" dirty="0">
                <a:latin typeface="Arial"/>
              </a:rPr>
              <a:t>(Sinoquet et al., 1991)</a:t>
            </a:r>
            <a:endParaRPr lang="en-US" sz="1200" dirty="0">
              <a:latin typeface="Arial"/>
            </a:endParaRPr>
          </a:p>
        </p:txBody>
      </p:sp>
      <p:sp>
        <p:nvSpPr>
          <p:cNvPr id="21" name="TextBox 20">
            <a:extLst>
              <a:ext uri="{FF2B5EF4-FFF2-40B4-BE49-F238E27FC236}">
                <a16:creationId xmlns:a16="http://schemas.microsoft.com/office/drawing/2014/main" id="{765C8F31-1EA5-40B9-9B11-3F9DCA02D1C7}"/>
              </a:ext>
            </a:extLst>
          </p:cNvPr>
          <p:cNvSpPr txBox="1"/>
          <p:nvPr/>
        </p:nvSpPr>
        <p:spPr>
          <a:xfrm>
            <a:off x="9848037" y="2297999"/>
            <a:ext cx="2097568" cy="369332"/>
          </a:xfrm>
          <a:prstGeom prst="rect">
            <a:avLst/>
          </a:prstGeom>
          <a:noFill/>
        </p:spPr>
        <p:txBody>
          <a:bodyPr wrap="square" rtlCol="0">
            <a:spAutoFit/>
          </a:bodyPr>
          <a:lstStyle/>
          <a:p>
            <a:r>
              <a:rPr lang="fr-FR" dirty="0">
                <a:latin typeface="Arial"/>
              </a:rPr>
              <a:t>Transfert radiatif</a:t>
            </a:r>
            <a:endParaRPr lang="en-US" dirty="0">
              <a:latin typeface="Arial"/>
            </a:endParaRPr>
          </a:p>
        </p:txBody>
      </p:sp>
      <p:sp>
        <p:nvSpPr>
          <p:cNvPr id="23" name="Cube 22">
            <a:extLst>
              <a:ext uri="{FF2B5EF4-FFF2-40B4-BE49-F238E27FC236}">
                <a16:creationId xmlns:a16="http://schemas.microsoft.com/office/drawing/2014/main" id="{D06427FA-DFF3-483D-80F2-F3667E33AF5C}"/>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D7626B3E-6D10-4CFB-8665-4C9DE56506C7}"/>
              </a:ext>
            </a:extLst>
          </p:cNvPr>
          <p:cNvSpPr txBox="1"/>
          <p:nvPr/>
        </p:nvSpPr>
        <p:spPr>
          <a:xfrm>
            <a:off x="8364600" y="6265532"/>
            <a:ext cx="1568942" cy="276999"/>
          </a:xfrm>
          <a:prstGeom prst="rect">
            <a:avLst/>
          </a:prstGeom>
          <a:noFill/>
        </p:spPr>
        <p:txBody>
          <a:bodyPr wrap="square" rtlCol="0">
            <a:spAutoFit/>
          </a:bodyPr>
          <a:lstStyle/>
          <a:p>
            <a:r>
              <a:rPr lang="fr-FR" sz="1200" dirty="0">
                <a:latin typeface="Arial"/>
              </a:rPr>
              <a:t>(</a:t>
            </a:r>
            <a:r>
              <a:rPr lang="fr-FR" sz="1200" dirty="0" err="1">
                <a:latin typeface="Arial"/>
              </a:rPr>
              <a:t>Chelle</a:t>
            </a:r>
            <a:r>
              <a:rPr lang="fr-FR" sz="1200" dirty="0">
                <a:latin typeface="Arial"/>
              </a:rPr>
              <a:t> et al., 1998)</a:t>
            </a:r>
            <a:endParaRPr lang="en-US" sz="1200" dirty="0">
              <a:latin typeface="Arial"/>
            </a:endParaRPr>
          </a:p>
        </p:txBody>
      </p:sp>
      <p:sp>
        <p:nvSpPr>
          <p:cNvPr id="26" name="TextBox 25">
            <a:extLst>
              <a:ext uri="{FF2B5EF4-FFF2-40B4-BE49-F238E27FC236}">
                <a16:creationId xmlns:a16="http://schemas.microsoft.com/office/drawing/2014/main" id="{C798B1BD-2D9E-4979-A30E-F026947B2AAA}"/>
              </a:ext>
            </a:extLst>
          </p:cNvPr>
          <p:cNvSpPr txBox="1"/>
          <p:nvPr/>
        </p:nvSpPr>
        <p:spPr>
          <a:xfrm>
            <a:off x="0" y="3901783"/>
            <a:ext cx="1086605" cy="307777"/>
          </a:xfrm>
          <a:prstGeom prst="rect">
            <a:avLst/>
          </a:prstGeom>
          <a:noFill/>
        </p:spPr>
        <p:txBody>
          <a:bodyPr wrap="square" rtlCol="0">
            <a:spAutoFit/>
          </a:bodyPr>
          <a:lstStyle/>
          <a:p>
            <a:r>
              <a:rPr lang="en-US" sz="1400" dirty="0">
                <a:solidFill>
                  <a:schemeClr val="tx1">
                    <a:lumMod val="65000"/>
                    <a:lumOff val="35000"/>
                  </a:schemeClr>
                </a:solidFill>
                <a:latin typeface="Arial"/>
              </a:rPr>
              <a:t>Calibration</a:t>
            </a:r>
          </a:p>
        </p:txBody>
      </p:sp>
      <p:cxnSp>
        <p:nvCxnSpPr>
          <p:cNvPr id="27" name="Connector: Curved 26">
            <a:extLst>
              <a:ext uri="{FF2B5EF4-FFF2-40B4-BE49-F238E27FC236}">
                <a16:creationId xmlns:a16="http://schemas.microsoft.com/office/drawing/2014/main" id="{222D83EA-C71A-4D0F-BD6E-141E77E96BC0}"/>
              </a:ext>
            </a:extLst>
          </p:cNvPr>
          <p:cNvCxnSpPr>
            <a:cxnSpLocks/>
            <a:stCxn id="26" idx="3"/>
            <a:endCxn id="14" idx="2"/>
          </p:cNvCxnSpPr>
          <p:nvPr/>
        </p:nvCxnSpPr>
        <p:spPr>
          <a:xfrm flipV="1">
            <a:off x="1086605" y="3008734"/>
            <a:ext cx="631241" cy="1046938"/>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Slide Number Placeholder 39">
            <a:extLst>
              <a:ext uri="{FF2B5EF4-FFF2-40B4-BE49-F238E27FC236}">
                <a16:creationId xmlns:a16="http://schemas.microsoft.com/office/drawing/2014/main" id="{024C812E-B971-490C-A1E8-E06AD0859B01}"/>
              </a:ext>
            </a:extLst>
          </p:cNvPr>
          <p:cNvSpPr>
            <a:spLocks noGrp="1"/>
          </p:cNvSpPr>
          <p:nvPr>
            <p:ph type="sldNum" sz="quarter" idx="12"/>
          </p:nvPr>
        </p:nvSpPr>
        <p:spPr/>
        <p:txBody>
          <a:bodyPr/>
          <a:lstStyle/>
          <a:p>
            <a:fld id="{27C6CCC6-2BE5-4E42-96A4-D1E8E81A3D8E}" type="slidenum">
              <a:rPr lang="fr-FR" smtClean="0"/>
              <a:t>5</a:t>
            </a:fld>
            <a:endParaRPr lang="fr-FR"/>
          </a:p>
        </p:txBody>
      </p:sp>
      <p:pic>
        <p:nvPicPr>
          <p:cNvPr id="42" name="Picture 41">
            <a:extLst>
              <a:ext uri="{FF2B5EF4-FFF2-40B4-BE49-F238E27FC236}">
                <a16:creationId xmlns:a16="http://schemas.microsoft.com/office/drawing/2014/main" id="{3BB2F3C5-AABA-4FA9-AC3D-EC7CEE2ED17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992107" y="2633431"/>
            <a:ext cx="2723238" cy="689969"/>
          </a:xfrm>
          <a:prstGeom prst="rect">
            <a:avLst/>
          </a:prstGeom>
        </p:spPr>
      </p:pic>
      <p:sp>
        <p:nvSpPr>
          <p:cNvPr id="78" name="TextBox 77">
            <a:extLst>
              <a:ext uri="{FF2B5EF4-FFF2-40B4-BE49-F238E27FC236}">
                <a16:creationId xmlns:a16="http://schemas.microsoft.com/office/drawing/2014/main" id="{287E720D-F25F-4A14-8EF1-A88691AE5BC3}"/>
              </a:ext>
            </a:extLst>
          </p:cNvPr>
          <p:cNvSpPr txBox="1"/>
          <p:nvPr/>
        </p:nvSpPr>
        <p:spPr>
          <a:xfrm>
            <a:off x="6245486" y="2931833"/>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79" name="TextBox 78">
            <a:extLst>
              <a:ext uri="{FF2B5EF4-FFF2-40B4-BE49-F238E27FC236}">
                <a16:creationId xmlns:a16="http://schemas.microsoft.com/office/drawing/2014/main" id="{613392D5-5DC6-475F-A481-92505B051CEF}"/>
              </a:ext>
            </a:extLst>
          </p:cNvPr>
          <p:cNvSpPr txBox="1"/>
          <p:nvPr/>
        </p:nvSpPr>
        <p:spPr>
          <a:xfrm>
            <a:off x="6128192" y="5969206"/>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0" name="Connector: Curved 79">
            <a:extLst>
              <a:ext uri="{FF2B5EF4-FFF2-40B4-BE49-F238E27FC236}">
                <a16:creationId xmlns:a16="http://schemas.microsoft.com/office/drawing/2014/main" id="{D83F060A-16CC-4EB9-B279-97F7FF18350F}"/>
              </a:ext>
            </a:extLst>
          </p:cNvPr>
          <p:cNvCxnSpPr>
            <a:cxnSpLocks/>
            <a:endCxn id="79" idx="3"/>
          </p:cNvCxnSpPr>
          <p:nvPr/>
        </p:nvCxnSpPr>
        <p:spPr>
          <a:xfrm rot="5400000">
            <a:off x="7233039" y="5576163"/>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Sun 80">
            <a:extLst>
              <a:ext uri="{FF2B5EF4-FFF2-40B4-BE49-F238E27FC236}">
                <a16:creationId xmlns:a16="http://schemas.microsoft.com/office/drawing/2014/main" id="{34D12E64-C3C1-4175-A488-3F7FCD900A8D}"/>
              </a:ext>
            </a:extLst>
          </p:cNvPr>
          <p:cNvSpPr/>
          <p:nvPr/>
        </p:nvSpPr>
        <p:spPr>
          <a:xfrm>
            <a:off x="7669957" y="3261923"/>
            <a:ext cx="427332" cy="369332"/>
          </a:xfrm>
          <a:prstGeom prst="su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D78C5542-4652-4858-B894-D5DB8A598FFC}"/>
              </a:ext>
            </a:extLst>
          </p:cNvPr>
          <p:cNvSpPr txBox="1"/>
          <p:nvPr/>
        </p:nvSpPr>
        <p:spPr>
          <a:xfrm>
            <a:off x="6245487" y="2931834"/>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84" name="TextBox 83">
            <a:extLst>
              <a:ext uri="{FF2B5EF4-FFF2-40B4-BE49-F238E27FC236}">
                <a16:creationId xmlns:a16="http://schemas.microsoft.com/office/drawing/2014/main" id="{526F1650-CC29-4341-924B-F13161520E11}"/>
              </a:ext>
            </a:extLst>
          </p:cNvPr>
          <p:cNvSpPr txBox="1"/>
          <p:nvPr/>
        </p:nvSpPr>
        <p:spPr>
          <a:xfrm>
            <a:off x="6128193" y="5969207"/>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5" name="Connector: Curved 84">
            <a:extLst>
              <a:ext uri="{FF2B5EF4-FFF2-40B4-BE49-F238E27FC236}">
                <a16:creationId xmlns:a16="http://schemas.microsoft.com/office/drawing/2014/main" id="{E6C0A95C-037A-4A26-A403-9ED282205957}"/>
              </a:ext>
            </a:extLst>
          </p:cNvPr>
          <p:cNvCxnSpPr>
            <a:cxnSpLocks/>
            <a:endCxn id="84" idx="3"/>
          </p:cNvCxnSpPr>
          <p:nvPr/>
        </p:nvCxnSpPr>
        <p:spPr>
          <a:xfrm rot="5400000">
            <a:off x="7233040" y="5576164"/>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151A4277-9C08-4853-B4ED-30477A836CED}"/>
              </a:ext>
            </a:extLst>
          </p:cNvPr>
          <p:cNvSpPr txBox="1"/>
          <p:nvPr/>
        </p:nvSpPr>
        <p:spPr>
          <a:xfrm>
            <a:off x="6245486" y="2931833"/>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88" name="TextBox 87">
            <a:extLst>
              <a:ext uri="{FF2B5EF4-FFF2-40B4-BE49-F238E27FC236}">
                <a16:creationId xmlns:a16="http://schemas.microsoft.com/office/drawing/2014/main" id="{0100C028-3FD2-4AD7-B0E1-5564CED1E5FA}"/>
              </a:ext>
            </a:extLst>
          </p:cNvPr>
          <p:cNvSpPr txBox="1"/>
          <p:nvPr/>
        </p:nvSpPr>
        <p:spPr>
          <a:xfrm>
            <a:off x="6128192" y="5969206"/>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9" name="Connector: Curved 88">
            <a:extLst>
              <a:ext uri="{FF2B5EF4-FFF2-40B4-BE49-F238E27FC236}">
                <a16:creationId xmlns:a16="http://schemas.microsoft.com/office/drawing/2014/main" id="{EEA35C59-1AE5-4300-A1F5-255FDB53C4FB}"/>
              </a:ext>
            </a:extLst>
          </p:cNvPr>
          <p:cNvCxnSpPr>
            <a:cxnSpLocks/>
            <a:endCxn id="88" idx="3"/>
          </p:cNvCxnSpPr>
          <p:nvPr/>
        </p:nvCxnSpPr>
        <p:spPr>
          <a:xfrm rot="5400000">
            <a:off x="7233039" y="5576163"/>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Arc 89">
            <a:extLst>
              <a:ext uri="{FF2B5EF4-FFF2-40B4-BE49-F238E27FC236}">
                <a16:creationId xmlns:a16="http://schemas.microsoft.com/office/drawing/2014/main" id="{937F71A4-4399-43F7-B52D-9C78EF07577A}"/>
              </a:ext>
            </a:extLst>
          </p:cNvPr>
          <p:cNvSpPr/>
          <p:nvPr/>
        </p:nvSpPr>
        <p:spPr>
          <a:xfrm rot="19386979">
            <a:off x="4898475" y="3639001"/>
            <a:ext cx="4565518" cy="3588738"/>
          </a:xfrm>
          <a:prstGeom prst="arc">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300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P spid="20" grpId="0"/>
      <p:bldP spid="21" grpId="0"/>
      <p:bldP spid="25" grpId="0"/>
      <p:bldP spid="26" grpId="0"/>
      <p:bldP spid="78" grpId="0"/>
      <p:bldP spid="79" grpId="0"/>
      <p:bldP spid="81" grpId="0" animBg="1"/>
      <p:bldP spid="83" grpId="0"/>
      <p:bldP spid="84" grpId="0"/>
      <p:bldP spid="87" grpId="0"/>
      <p:bldP spid="88" grpId="0"/>
      <p:bldP spid="9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130C9B9E-3C8D-4346-BB31-D0FB7152E0BB}"/>
              </a:ext>
            </a:extLst>
          </p:cNvPr>
          <p:cNvSpPr/>
          <p:nvPr/>
        </p:nvSpPr>
        <p:spPr>
          <a:xfrm>
            <a:off x="6381231" y="2292122"/>
            <a:ext cx="4187094" cy="2815648"/>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8A11A0DC-C030-4FD6-B0D0-F4E034705985}"/>
              </a:ext>
            </a:extLst>
          </p:cNvPr>
          <p:cNvSpPr/>
          <p:nvPr/>
        </p:nvSpPr>
        <p:spPr>
          <a:xfrm>
            <a:off x="798825" y="2292122"/>
            <a:ext cx="4171509" cy="2815648"/>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96E95-F6C0-489B-A325-7883157E0BCF}"/>
              </a:ext>
            </a:extLst>
          </p:cNvPr>
          <p:cNvSpPr>
            <a:spLocks noGrp="1"/>
          </p:cNvSpPr>
          <p:nvPr>
            <p:ph type="title"/>
          </p:nvPr>
        </p:nvSpPr>
        <p:spPr>
          <a:xfrm>
            <a:off x="358366" y="120681"/>
            <a:ext cx="10515600" cy="1325563"/>
          </a:xfrm>
        </p:spPr>
        <p:txBody>
          <a:bodyPr>
            <a:normAutofit/>
          </a:bodyPr>
          <a:lstStyle/>
          <a:p>
            <a:r>
              <a:rPr lang="fr-FR" sz="3400" dirty="0"/>
              <a:t>Limites des modèles existants pour la modélisation des cultures associées</a:t>
            </a:r>
            <a:endParaRPr lang="en-US" sz="3400" dirty="0"/>
          </a:p>
        </p:txBody>
      </p:sp>
      <p:sp>
        <p:nvSpPr>
          <p:cNvPr id="3" name="Content Placeholder 2">
            <a:extLst>
              <a:ext uri="{FF2B5EF4-FFF2-40B4-BE49-F238E27FC236}">
                <a16:creationId xmlns:a16="http://schemas.microsoft.com/office/drawing/2014/main" id="{1B05FE7A-3E3F-4200-BAFE-A15222A35BA0}"/>
              </a:ext>
            </a:extLst>
          </p:cNvPr>
          <p:cNvSpPr>
            <a:spLocks noGrp="1"/>
          </p:cNvSpPr>
          <p:nvPr>
            <p:ph idx="1"/>
          </p:nvPr>
        </p:nvSpPr>
        <p:spPr>
          <a:xfrm>
            <a:off x="1005306" y="2416974"/>
            <a:ext cx="3679478" cy="2616774"/>
          </a:xfrm>
        </p:spPr>
        <p:txBody>
          <a:bodyPr>
            <a:normAutofit/>
          </a:bodyPr>
          <a:lstStyle/>
          <a:p>
            <a:r>
              <a:rPr lang="fr-FR" sz="2000" dirty="0"/>
              <a:t>Difficultés à prendre en compte l’</a:t>
            </a:r>
            <a:r>
              <a:rPr lang="fr-FR" sz="2000" b="1" dirty="0"/>
              <a:t>hétérogénéité</a:t>
            </a:r>
            <a:r>
              <a:rPr lang="fr-FR" sz="2000" dirty="0"/>
              <a:t> spatiale et temporelle</a:t>
            </a:r>
          </a:p>
          <a:p>
            <a:r>
              <a:rPr lang="fr-FR" sz="2000" dirty="0"/>
              <a:t>Difficultés à simuler les </a:t>
            </a:r>
            <a:r>
              <a:rPr lang="fr-FR" sz="2000" b="1" dirty="0"/>
              <a:t>interactions</a:t>
            </a:r>
            <a:r>
              <a:rPr lang="fr-FR" sz="2000" dirty="0"/>
              <a:t> émergentes de cette hétérogénéité</a:t>
            </a:r>
          </a:p>
          <a:p>
            <a:r>
              <a:rPr lang="fr-FR" sz="2000" dirty="0"/>
              <a:t>Besoin de données pour calibration</a:t>
            </a:r>
          </a:p>
          <a:p>
            <a:pPr marL="0" indent="0">
              <a:buNone/>
            </a:pPr>
            <a:endParaRPr lang="en-US" dirty="0"/>
          </a:p>
        </p:txBody>
      </p:sp>
      <p:sp>
        <p:nvSpPr>
          <p:cNvPr id="4" name="Content Placeholder 6">
            <a:extLst>
              <a:ext uri="{FF2B5EF4-FFF2-40B4-BE49-F238E27FC236}">
                <a16:creationId xmlns:a16="http://schemas.microsoft.com/office/drawing/2014/main" id="{D018D9DC-6D86-456B-BFCA-9D996F23E751}"/>
              </a:ext>
            </a:extLst>
          </p:cNvPr>
          <p:cNvSpPr txBox="1">
            <a:spLocks/>
          </p:cNvSpPr>
          <p:nvPr/>
        </p:nvSpPr>
        <p:spPr>
          <a:xfrm>
            <a:off x="406216" y="1403653"/>
            <a:ext cx="2695620"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2400" b="1" dirty="0">
                <a:solidFill>
                  <a:schemeClr val="tx1"/>
                </a:solidFill>
              </a:rPr>
              <a:t>Modèles de culture</a:t>
            </a:r>
            <a:endParaRPr lang="fr-FR" sz="2400" dirty="0">
              <a:solidFill>
                <a:schemeClr val="tx1"/>
              </a:solidFill>
            </a:endParaRPr>
          </a:p>
          <a:p>
            <a:endParaRPr lang="en-US" dirty="0"/>
          </a:p>
        </p:txBody>
      </p:sp>
      <p:sp>
        <p:nvSpPr>
          <p:cNvPr id="5" name="Content Placeholder 7">
            <a:extLst>
              <a:ext uri="{FF2B5EF4-FFF2-40B4-BE49-F238E27FC236}">
                <a16:creationId xmlns:a16="http://schemas.microsoft.com/office/drawing/2014/main" id="{45E945E3-CBAB-481A-A690-563DBBC339DA}"/>
              </a:ext>
            </a:extLst>
          </p:cNvPr>
          <p:cNvSpPr txBox="1">
            <a:spLocks/>
          </p:cNvSpPr>
          <p:nvPr/>
        </p:nvSpPr>
        <p:spPr>
          <a:xfrm>
            <a:off x="8183929" y="1305045"/>
            <a:ext cx="3328217" cy="1210538"/>
          </a:xfrm>
          <a:prstGeom prst="rect">
            <a:avLst/>
          </a:prstGeom>
          <a:ln w="28575">
            <a:no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FSPM</a:t>
            </a:r>
          </a:p>
          <a:p>
            <a:endParaRPr lang="en-US" dirty="0"/>
          </a:p>
        </p:txBody>
      </p:sp>
      <p:cxnSp>
        <p:nvCxnSpPr>
          <p:cNvPr id="6" name="Straight Connector 5">
            <a:extLst>
              <a:ext uri="{FF2B5EF4-FFF2-40B4-BE49-F238E27FC236}">
                <a16:creationId xmlns:a16="http://schemas.microsoft.com/office/drawing/2014/main" id="{9D400E3B-0961-4904-8E1E-E942111220C3}"/>
              </a:ext>
            </a:extLst>
          </p:cNvPr>
          <p:cNvCxnSpPr>
            <a:cxnSpLocks/>
          </p:cNvCxnSpPr>
          <p:nvPr/>
        </p:nvCxnSpPr>
        <p:spPr>
          <a:xfrm>
            <a:off x="5663953" y="2296113"/>
            <a:ext cx="0" cy="30182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2FB6AA6-890E-4DFF-A74A-31844B9EA43F}"/>
              </a:ext>
            </a:extLst>
          </p:cNvPr>
          <p:cNvSpPr txBox="1"/>
          <p:nvPr/>
        </p:nvSpPr>
        <p:spPr>
          <a:xfrm>
            <a:off x="6688390" y="2644765"/>
            <a:ext cx="3379065" cy="2246769"/>
          </a:xfrm>
          <a:prstGeom prst="rect">
            <a:avLst/>
          </a:prstGeom>
          <a:noFill/>
        </p:spPr>
        <p:txBody>
          <a:bodyPr wrap="square" rtlCol="0">
            <a:spAutoFit/>
          </a:bodyPr>
          <a:lstStyle/>
          <a:p>
            <a:pPr marL="342900" indent="-342900">
              <a:buFont typeface="Arial" panose="020B0604020202020204" pitchFamily="34" charset="0"/>
              <a:buChar char="•"/>
            </a:pPr>
            <a:r>
              <a:rPr lang="fr-FR" sz="2000" b="1" dirty="0"/>
              <a:t>Complexes</a:t>
            </a:r>
          </a:p>
          <a:p>
            <a:pPr marL="342900" indent="-342900">
              <a:buFont typeface="Arial" panose="020B0604020202020204" pitchFamily="34" charset="0"/>
              <a:buChar char="•"/>
            </a:pPr>
            <a:r>
              <a:rPr lang="fr-FR" sz="2000" dirty="0"/>
              <a:t>Intègrent </a:t>
            </a:r>
            <a:r>
              <a:rPr lang="fr-FR" sz="2000" b="1" dirty="0"/>
              <a:t>peu de processus </a:t>
            </a:r>
            <a:r>
              <a:rPr lang="fr-FR" sz="2000" dirty="0"/>
              <a:t>à la fois</a:t>
            </a:r>
          </a:p>
          <a:p>
            <a:pPr marL="342900" indent="-342900">
              <a:buFont typeface="Arial" panose="020B0604020202020204" pitchFamily="34" charset="0"/>
              <a:buChar char="•"/>
            </a:pPr>
            <a:r>
              <a:rPr lang="fr-FR" sz="2000" dirty="0"/>
              <a:t>Ne simulent pas toujours l’ensemble du </a:t>
            </a:r>
            <a:r>
              <a:rPr lang="fr-FR" sz="2000" b="1" dirty="0"/>
              <a:t>cycle de développement</a:t>
            </a:r>
            <a:endParaRPr lang="en-US" dirty="0"/>
          </a:p>
          <a:p>
            <a:pPr marL="342900" indent="-342900">
              <a:buFont typeface="Arial" panose="020B0604020202020204" pitchFamily="34" charset="0"/>
              <a:buChar char="•"/>
            </a:pPr>
            <a:r>
              <a:rPr lang="fr-FR" sz="2000" dirty="0"/>
              <a:t>Besoin de mesures </a:t>
            </a:r>
          </a:p>
        </p:txBody>
      </p:sp>
      <p:sp>
        <p:nvSpPr>
          <p:cNvPr id="10" name="TextBox 9">
            <a:extLst>
              <a:ext uri="{FF2B5EF4-FFF2-40B4-BE49-F238E27FC236}">
                <a16:creationId xmlns:a16="http://schemas.microsoft.com/office/drawing/2014/main" id="{55FA22D2-B079-4D92-8652-2054AAB6232A}"/>
              </a:ext>
            </a:extLst>
          </p:cNvPr>
          <p:cNvSpPr txBox="1"/>
          <p:nvPr/>
        </p:nvSpPr>
        <p:spPr>
          <a:xfrm>
            <a:off x="10067455" y="6151072"/>
            <a:ext cx="1855959" cy="307777"/>
          </a:xfrm>
          <a:prstGeom prst="rect">
            <a:avLst/>
          </a:prstGeom>
          <a:noFill/>
        </p:spPr>
        <p:txBody>
          <a:bodyPr wrap="square" rtlCol="0">
            <a:spAutoFit/>
          </a:bodyPr>
          <a:lstStyle/>
          <a:p>
            <a:r>
              <a:rPr lang="fr-FR" sz="1400" dirty="0"/>
              <a:t>(</a:t>
            </a:r>
            <a:r>
              <a:rPr lang="fr-FR" sz="1400" dirty="0" err="1"/>
              <a:t>Gaudio</a:t>
            </a:r>
            <a:r>
              <a:rPr lang="fr-FR" sz="1400" dirty="0"/>
              <a:t> et al., 2019)</a:t>
            </a:r>
            <a:endParaRPr lang="en-US" sz="1400" dirty="0"/>
          </a:p>
        </p:txBody>
      </p:sp>
      <p:sp>
        <p:nvSpPr>
          <p:cNvPr id="11" name="Slide Number Placeholder 10">
            <a:extLst>
              <a:ext uri="{FF2B5EF4-FFF2-40B4-BE49-F238E27FC236}">
                <a16:creationId xmlns:a16="http://schemas.microsoft.com/office/drawing/2014/main" id="{252B2EDF-C232-4BB8-BCFF-E351BAD12D99}"/>
              </a:ext>
            </a:extLst>
          </p:cNvPr>
          <p:cNvSpPr>
            <a:spLocks noGrp="1"/>
          </p:cNvSpPr>
          <p:nvPr>
            <p:ph type="sldNum" sz="quarter" idx="12"/>
          </p:nvPr>
        </p:nvSpPr>
        <p:spPr/>
        <p:txBody>
          <a:bodyPr/>
          <a:lstStyle/>
          <a:p>
            <a:fld id="{27C6CCC6-2BE5-4E42-96A4-D1E8E81A3D8E}" type="slidenum">
              <a:rPr lang="fr-FR" smtClean="0"/>
              <a:t>6</a:t>
            </a:fld>
            <a:endParaRPr lang="fr-FR"/>
          </a:p>
        </p:txBody>
      </p:sp>
    </p:spTree>
    <p:extLst>
      <p:ext uri="{BB962C8B-B14F-4D97-AF65-F5344CB8AC3E}">
        <p14:creationId xmlns:p14="http://schemas.microsoft.com/office/powerpoint/2010/main" val="353216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3" grpId="0"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a:extLst>
              <a:ext uri="{FF2B5EF4-FFF2-40B4-BE49-F238E27FC236}">
                <a16:creationId xmlns:a16="http://schemas.microsoft.com/office/drawing/2014/main" id="{C88BBBA9-A5C2-4BC6-8458-4BB860E4A4E2}"/>
              </a:ext>
            </a:extLst>
          </p:cNvPr>
          <p:cNvPicPr>
            <a:picLocks noChangeAspect="1"/>
          </p:cNvPicPr>
          <p:nvPr/>
        </p:nvPicPr>
        <p:blipFill rotWithShape="1">
          <a:blip r:embed="rId3">
            <a:clrChange>
              <a:clrFrom>
                <a:srgbClr val="FFFFFF"/>
              </a:clrFrom>
              <a:clrTo>
                <a:srgbClr val="FFFFFF">
                  <a:alpha val="0"/>
                </a:srgbClr>
              </a:clrTo>
            </a:clrChange>
          </a:blip>
          <a:srcRect l="38253" t="5366" r="2760" b="9134"/>
          <a:stretch/>
        </p:blipFill>
        <p:spPr>
          <a:xfrm>
            <a:off x="5929358" y="3417914"/>
            <a:ext cx="3182608" cy="2317794"/>
          </a:xfrm>
          <a:prstGeom prst="rect">
            <a:avLst/>
          </a:prstGeom>
        </p:spPr>
      </p:pic>
      <p:pic>
        <p:nvPicPr>
          <p:cNvPr id="82" name="Picture 81">
            <a:extLst>
              <a:ext uri="{FF2B5EF4-FFF2-40B4-BE49-F238E27FC236}">
                <a16:creationId xmlns:a16="http://schemas.microsoft.com/office/drawing/2014/main" id="{19AF0B9C-DDAF-467D-8E7E-E8B8D9D76B40}"/>
              </a:ext>
            </a:extLst>
          </p:cNvPr>
          <p:cNvPicPr>
            <a:picLocks noChangeAspect="1"/>
          </p:cNvPicPr>
          <p:nvPr/>
        </p:nvPicPr>
        <p:blipFill rotWithShape="1">
          <a:blip r:embed="rId3">
            <a:clrChange>
              <a:clrFrom>
                <a:srgbClr val="FFFFFF"/>
              </a:clrFrom>
              <a:clrTo>
                <a:srgbClr val="FFFFFF">
                  <a:alpha val="0"/>
                </a:srgbClr>
              </a:clrTo>
            </a:clrChange>
          </a:blip>
          <a:srcRect l="38253" t="5366" r="2760" b="9134"/>
          <a:stretch/>
        </p:blipFill>
        <p:spPr>
          <a:xfrm>
            <a:off x="5929359" y="3417915"/>
            <a:ext cx="3182608" cy="2317794"/>
          </a:xfrm>
          <a:prstGeom prst="rect">
            <a:avLst/>
          </a:prstGeom>
        </p:spPr>
      </p:pic>
      <p:pic>
        <p:nvPicPr>
          <p:cNvPr id="86" name="Picture 85">
            <a:extLst>
              <a:ext uri="{FF2B5EF4-FFF2-40B4-BE49-F238E27FC236}">
                <a16:creationId xmlns:a16="http://schemas.microsoft.com/office/drawing/2014/main" id="{8F6AFA72-AA82-4A68-B058-C74C3B2EB7FD}"/>
              </a:ext>
            </a:extLst>
          </p:cNvPr>
          <p:cNvPicPr>
            <a:picLocks noChangeAspect="1"/>
          </p:cNvPicPr>
          <p:nvPr/>
        </p:nvPicPr>
        <p:blipFill rotWithShape="1">
          <a:blip r:embed="rId3">
            <a:clrChange>
              <a:clrFrom>
                <a:srgbClr val="FFFFFF"/>
              </a:clrFrom>
              <a:clrTo>
                <a:srgbClr val="FFFFFF">
                  <a:alpha val="0"/>
                </a:srgbClr>
              </a:clrTo>
            </a:clrChange>
          </a:blip>
          <a:srcRect l="38253" t="5366" r="2760" b="9134"/>
          <a:stretch/>
        </p:blipFill>
        <p:spPr>
          <a:xfrm>
            <a:off x="5929358" y="3417914"/>
            <a:ext cx="3182608" cy="2317794"/>
          </a:xfrm>
          <a:prstGeom prst="rect">
            <a:avLst/>
          </a:prstGeom>
        </p:spPr>
      </p:pic>
      <p:sp>
        <p:nvSpPr>
          <p:cNvPr id="24" name="Cube 23">
            <a:extLst>
              <a:ext uri="{FF2B5EF4-FFF2-40B4-BE49-F238E27FC236}">
                <a16:creationId xmlns:a16="http://schemas.microsoft.com/office/drawing/2014/main" id="{6F78F734-9A89-4595-8ABB-DCD995E81BD9}"/>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1710C2A-A9D2-4F13-A70E-2407430808E9}"/>
              </a:ext>
            </a:extLst>
          </p:cNvPr>
          <p:cNvSpPr>
            <a:spLocks noGrp="1"/>
          </p:cNvSpPr>
          <p:nvPr>
            <p:ph type="title"/>
          </p:nvPr>
        </p:nvSpPr>
        <p:spPr>
          <a:xfrm>
            <a:off x="241146" y="119517"/>
            <a:ext cx="10515600" cy="1325563"/>
          </a:xfrm>
        </p:spPr>
        <p:txBody>
          <a:bodyPr>
            <a:normAutofit/>
          </a:bodyPr>
          <a:lstStyle/>
          <a:p>
            <a:r>
              <a:rPr lang="fr-FR" sz="3400" dirty="0"/>
              <a:t>Formalisme intermédiaire</a:t>
            </a:r>
            <a:endParaRPr lang="en-US" sz="3400" dirty="0"/>
          </a:p>
        </p:txBody>
      </p:sp>
      <p:pic>
        <p:nvPicPr>
          <p:cNvPr id="4" name="Picture 3">
            <a:extLst>
              <a:ext uri="{FF2B5EF4-FFF2-40B4-BE49-F238E27FC236}">
                <a16:creationId xmlns:a16="http://schemas.microsoft.com/office/drawing/2014/main" id="{0F0AEAEF-4C34-40CF-8868-0919062D8C6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005275" y="3766493"/>
            <a:ext cx="2050956" cy="2430242"/>
          </a:xfrm>
          <a:prstGeom prst="rect">
            <a:avLst/>
          </a:prstGeom>
        </p:spPr>
      </p:pic>
      <p:sp>
        <p:nvSpPr>
          <p:cNvPr id="5" name="Content Placeholder 6">
            <a:extLst>
              <a:ext uri="{FF2B5EF4-FFF2-40B4-BE49-F238E27FC236}">
                <a16:creationId xmlns:a16="http://schemas.microsoft.com/office/drawing/2014/main" id="{D21B5EC0-062A-4394-8D83-2853B8191B7B}"/>
              </a:ext>
            </a:extLst>
          </p:cNvPr>
          <p:cNvSpPr txBox="1">
            <a:spLocks/>
          </p:cNvSpPr>
          <p:nvPr/>
        </p:nvSpPr>
        <p:spPr>
          <a:xfrm>
            <a:off x="406216" y="1403653"/>
            <a:ext cx="2695620"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2400" b="1" dirty="0">
                <a:solidFill>
                  <a:schemeClr val="tx1"/>
                </a:solidFill>
              </a:rPr>
              <a:t>Modèles de culture</a:t>
            </a:r>
            <a:endParaRPr lang="fr-FR" sz="2400" dirty="0">
              <a:solidFill>
                <a:schemeClr val="tx1"/>
              </a:solidFill>
            </a:endParaRPr>
          </a:p>
          <a:p>
            <a:endParaRPr lang="en-US" dirty="0"/>
          </a:p>
        </p:txBody>
      </p:sp>
      <p:sp>
        <p:nvSpPr>
          <p:cNvPr id="6" name="Content Placeholder 7">
            <a:extLst>
              <a:ext uri="{FF2B5EF4-FFF2-40B4-BE49-F238E27FC236}">
                <a16:creationId xmlns:a16="http://schemas.microsoft.com/office/drawing/2014/main" id="{DCD6D5EB-6032-4892-95D9-3D3CE4BDFC77}"/>
              </a:ext>
            </a:extLst>
          </p:cNvPr>
          <p:cNvSpPr txBox="1">
            <a:spLocks/>
          </p:cNvSpPr>
          <p:nvPr/>
        </p:nvSpPr>
        <p:spPr>
          <a:xfrm>
            <a:off x="8183929" y="1305045"/>
            <a:ext cx="3328217" cy="1210538"/>
          </a:xfrm>
          <a:prstGeom prst="rect">
            <a:avLst/>
          </a:prstGeom>
          <a:ln w="28575">
            <a:no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FSPM</a:t>
            </a:r>
          </a:p>
          <a:p>
            <a:endParaRPr lang="en-US" dirty="0"/>
          </a:p>
        </p:txBody>
      </p:sp>
      <p:cxnSp>
        <p:nvCxnSpPr>
          <p:cNvPr id="7" name="Straight Connector 6">
            <a:extLst>
              <a:ext uri="{FF2B5EF4-FFF2-40B4-BE49-F238E27FC236}">
                <a16:creationId xmlns:a16="http://schemas.microsoft.com/office/drawing/2014/main" id="{8C446F34-7D69-4E79-9312-D1CA2C0A0370}"/>
              </a:ext>
            </a:extLst>
          </p:cNvPr>
          <p:cNvCxnSpPr>
            <a:cxnSpLocks/>
          </p:cNvCxnSpPr>
          <p:nvPr/>
        </p:nvCxnSpPr>
        <p:spPr>
          <a:xfrm>
            <a:off x="5663953" y="2784980"/>
            <a:ext cx="0" cy="34594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D625E52-E342-4DD8-8F9C-04451EB87800}"/>
              </a:ext>
            </a:extLst>
          </p:cNvPr>
          <p:cNvSpPr txBox="1"/>
          <p:nvPr/>
        </p:nvSpPr>
        <p:spPr>
          <a:xfrm>
            <a:off x="2747894" y="2947279"/>
            <a:ext cx="2498689" cy="369332"/>
          </a:xfrm>
          <a:prstGeom prst="rect">
            <a:avLst/>
          </a:prstGeom>
          <a:noFill/>
        </p:spPr>
        <p:txBody>
          <a:bodyPr wrap="square" rtlCol="0">
            <a:spAutoFit/>
          </a:bodyPr>
          <a:lstStyle/>
          <a:p>
            <a:r>
              <a:rPr lang="en-US" dirty="0">
                <a:solidFill>
                  <a:schemeClr val="tx1">
                    <a:lumMod val="65000"/>
                    <a:lumOff val="35000"/>
                  </a:schemeClr>
                </a:solidFill>
                <a:latin typeface="Arial"/>
              </a:rPr>
              <a:t>Volume </a:t>
            </a:r>
            <a:r>
              <a:rPr lang="en-US" dirty="0" err="1">
                <a:solidFill>
                  <a:schemeClr val="tx1">
                    <a:lumMod val="65000"/>
                    <a:lumOff val="35000"/>
                  </a:schemeClr>
                </a:solidFill>
                <a:latin typeface="Arial"/>
              </a:rPr>
              <a:t>homogène</a:t>
            </a:r>
            <a:endParaRPr lang="en-US" dirty="0">
              <a:solidFill>
                <a:schemeClr val="tx1">
                  <a:lumMod val="65000"/>
                  <a:lumOff val="35000"/>
                </a:schemeClr>
              </a:solidFill>
            </a:endParaRPr>
          </a:p>
        </p:txBody>
      </p:sp>
      <p:cxnSp>
        <p:nvCxnSpPr>
          <p:cNvPr id="10" name="Straight Arrow Connector 9">
            <a:extLst>
              <a:ext uri="{FF2B5EF4-FFF2-40B4-BE49-F238E27FC236}">
                <a16:creationId xmlns:a16="http://schemas.microsoft.com/office/drawing/2014/main" id="{E02590CA-CDE1-4998-B2AC-D3C48BFA258D}"/>
              </a:ext>
            </a:extLst>
          </p:cNvPr>
          <p:cNvCxnSpPr>
            <a:cxnSpLocks/>
          </p:cNvCxnSpPr>
          <p:nvPr/>
        </p:nvCxnSpPr>
        <p:spPr>
          <a:xfrm flipH="1">
            <a:off x="10576361" y="3748192"/>
            <a:ext cx="508797" cy="599424"/>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3280290C-A86C-406A-A894-5AF5C114813A}"/>
              </a:ext>
            </a:extLst>
          </p:cNvPr>
          <p:cNvCxnSpPr>
            <a:cxnSpLocks/>
          </p:cNvCxnSpPr>
          <p:nvPr/>
        </p:nvCxnSpPr>
        <p:spPr>
          <a:xfrm flipH="1">
            <a:off x="10644614" y="3766493"/>
            <a:ext cx="796587" cy="994223"/>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3E1C64C2-FC87-4836-86EF-FA197FE43A9C}"/>
              </a:ext>
            </a:extLst>
          </p:cNvPr>
          <p:cNvCxnSpPr>
            <a:cxnSpLocks/>
          </p:cNvCxnSpPr>
          <p:nvPr/>
        </p:nvCxnSpPr>
        <p:spPr>
          <a:xfrm>
            <a:off x="1902790" y="3008734"/>
            <a:ext cx="752892" cy="860711"/>
          </a:xfrm>
          <a:prstGeom prst="straightConnector1">
            <a:avLst/>
          </a:prstGeom>
          <a:ln w="38100">
            <a:gradFill flip="none" rotWithShape="1">
              <a:gsLst>
                <a:gs pos="36000">
                  <a:srgbClr val="FFC000"/>
                </a:gs>
                <a:gs pos="73000">
                  <a:schemeClr val="accent3">
                    <a:lumMod val="45000"/>
                    <a:lumOff val="55000"/>
                  </a:schemeClr>
                </a:gs>
                <a:gs pos="88000">
                  <a:schemeClr val="accent3">
                    <a:lumMod val="45000"/>
                    <a:lumOff val="55000"/>
                  </a:schemeClr>
                </a:gs>
                <a:gs pos="100000">
                  <a:schemeClr val="accent3">
                    <a:lumMod val="30000"/>
                    <a:lumOff val="70000"/>
                  </a:schemeClr>
                </a:gs>
              </a:gsLst>
              <a:lin ang="5400000" scaled="1"/>
              <a:tileRect/>
            </a:gradFill>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09882676-B23C-4852-98D7-2DEB50D040BC}"/>
              </a:ext>
            </a:extLst>
          </p:cNvPr>
          <p:cNvSpPr txBox="1"/>
          <p:nvPr/>
        </p:nvSpPr>
        <p:spPr>
          <a:xfrm>
            <a:off x="679854" y="2299263"/>
            <a:ext cx="2488815" cy="369332"/>
          </a:xfrm>
          <a:prstGeom prst="rect">
            <a:avLst/>
          </a:prstGeom>
          <a:noFill/>
        </p:spPr>
        <p:txBody>
          <a:bodyPr wrap="square" rtlCol="0">
            <a:spAutoFit/>
          </a:bodyPr>
          <a:lstStyle/>
          <a:p>
            <a:r>
              <a:rPr lang="en-US" dirty="0" err="1">
                <a:latin typeface="Arial"/>
              </a:rPr>
              <a:t>Loi</a:t>
            </a:r>
            <a:r>
              <a:rPr lang="en-US" dirty="0">
                <a:latin typeface="Arial"/>
              </a:rPr>
              <a:t> de Beer-Lambert :</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1A51747-E9EF-4D36-9241-05F118D6650D}"/>
                  </a:ext>
                </a:extLst>
              </p:cNvPr>
              <p:cNvSpPr txBox="1"/>
              <p:nvPr/>
            </p:nvSpPr>
            <p:spPr>
              <a:xfrm>
                <a:off x="877471" y="2639402"/>
                <a:ext cx="16807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solidFill>
                            <a:schemeClr val="tx1"/>
                          </a:solidFill>
                          <a:latin typeface="Cambria Math" panose="02040503050406030204" pitchFamily="18" charset="0"/>
                        </a:rPr>
                        <m:t>exp</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𝑘</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𝐿𝐴𝐼</m:t>
                      </m:r>
                      <m:r>
                        <a:rPr lang="fr-FR" b="0" i="1" smtClean="0">
                          <a:solidFill>
                            <a:schemeClr val="tx1"/>
                          </a:solidFill>
                          <a:latin typeface="Cambria Math" panose="02040503050406030204" pitchFamily="18" charset="0"/>
                        </a:rPr>
                        <m:t>)</m:t>
                      </m:r>
                    </m:oMath>
                  </m:oMathPara>
                </a14:m>
                <a:endParaRPr lang="en-US" dirty="0">
                  <a:solidFill>
                    <a:schemeClr val="tx1"/>
                  </a:solidFill>
                  <a:latin typeface="Arial"/>
                </a:endParaRPr>
              </a:p>
            </p:txBody>
          </p:sp>
        </mc:Choice>
        <mc:Fallback>
          <p:sp>
            <p:nvSpPr>
              <p:cNvPr id="14" name="TextBox 13">
                <a:extLst>
                  <a:ext uri="{FF2B5EF4-FFF2-40B4-BE49-F238E27FC236}">
                    <a16:creationId xmlns:a16="http://schemas.microsoft.com/office/drawing/2014/main" id="{01A51747-E9EF-4D36-9241-05F118D6650D}"/>
                  </a:ext>
                </a:extLst>
              </p:cNvPr>
              <p:cNvSpPr txBox="1">
                <a:spLocks noRot="1" noChangeAspect="1" noMove="1" noResize="1" noEditPoints="1" noAdjustHandles="1" noChangeArrowheads="1" noChangeShapeType="1" noTextEdit="1"/>
              </p:cNvSpPr>
              <p:nvPr/>
            </p:nvSpPr>
            <p:spPr>
              <a:xfrm>
                <a:off x="877471" y="2639402"/>
                <a:ext cx="1680750" cy="369332"/>
              </a:xfrm>
              <a:prstGeom prst="rect">
                <a:avLst/>
              </a:prstGeom>
              <a:blipFill>
                <a:blip r:embed="rId5"/>
                <a:stretch>
                  <a:fillRect b="-1311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8C71A7DB-00DA-44C4-963E-5214A862D06F}"/>
              </a:ext>
            </a:extLst>
          </p:cNvPr>
          <p:cNvSpPr txBox="1"/>
          <p:nvPr/>
        </p:nvSpPr>
        <p:spPr>
          <a:xfrm>
            <a:off x="1961051" y="6265533"/>
            <a:ext cx="1716723" cy="276999"/>
          </a:xfrm>
          <a:prstGeom prst="rect">
            <a:avLst/>
          </a:prstGeom>
          <a:noFill/>
        </p:spPr>
        <p:txBody>
          <a:bodyPr wrap="square" rtlCol="0">
            <a:spAutoFit/>
          </a:bodyPr>
          <a:lstStyle/>
          <a:p>
            <a:r>
              <a:rPr lang="fr-FR" sz="1200" dirty="0">
                <a:latin typeface="Arial"/>
              </a:rPr>
              <a:t>(Sinoquet et al., 1991)</a:t>
            </a:r>
            <a:endParaRPr lang="en-US" sz="1200" dirty="0">
              <a:latin typeface="Arial"/>
            </a:endParaRPr>
          </a:p>
        </p:txBody>
      </p:sp>
      <p:sp>
        <p:nvSpPr>
          <p:cNvPr id="21" name="TextBox 20">
            <a:extLst>
              <a:ext uri="{FF2B5EF4-FFF2-40B4-BE49-F238E27FC236}">
                <a16:creationId xmlns:a16="http://schemas.microsoft.com/office/drawing/2014/main" id="{765C8F31-1EA5-40B9-9B11-3F9DCA02D1C7}"/>
              </a:ext>
            </a:extLst>
          </p:cNvPr>
          <p:cNvSpPr txBox="1"/>
          <p:nvPr/>
        </p:nvSpPr>
        <p:spPr>
          <a:xfrm>
            <a:off x="9848037" y="2297999"/>
            <a:ext cx="2097568" cy="369332"/>
          </a:xfrm>
          <a:prstGeom prst="rect">
            <a:avLst/>
          </a:prstGeom>
          <a:noFill/>
        </p:spPr>
        <p:txBody>
          <a:bodyPr wrap="square" rtlCol="0">
            <a:spAutoFit/>
          </a:bodyPr>
          <a:lstStyle/>
          <a:p>
            <a:r>
              <a:rPr lang="fr-FR" dirty="0">
                <a:latin typeface="Arial"/>
              </a:rPr>
              <a:t>Transfert radiatif</a:t>
            </a:r>
            <a:endParaRPr lang="en-US" dirty="0">
              <a:latin typeface="Arial"/>
            </a:endParaRPr>
          </a:p>
        </p:txBody>
      </p:sp>
      <p:sp>
        <p:nvSpPr>
          <p:cNvPr id="23" name="Cube 22">
            <a:extLst>
              <a:ext uri="{FF2B5EF4-FFF2-40B4-BE49-F238E27FC236}">
                <a16:creationId xmlns:a16="http://schemas.microsoft.com/office/drawing/2014/main" id="{D06427FA-DFF3-483D-80F2-F3667E33AF5C}"/>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D7626B3E-6D10-4CFB-8665-4C9DE56506C7}"/>
              </a:ext>
            </a:extLst>
          </p:cNvPr>
          <p:cNvSpPr txBox="1"/>
          <p:nvPr/>
        </p:nvSpPr>
        <p:spPr>
          <a:xfrm>
            <a:off x="8364600" y="6265532"/>
            <a:ext cx="1568942" cy="276999"/>
          </a:xfrm>
          <a:prstGeom prst="rect">
            <a:avLst/>
          </a:prstGeom>
          <a:noFill/>
        </p:spPr>
        <p:txBody>
          <a:bodyPr wrap="square" rtlCol="0">
            <a:spAutoFit/>
          </a:bodyPr>
          <a:lstStyle/>
          <a:p>
            <a:r>
              <a:rPr lang="fr-FR" sz="1200" dirty="0">
                <a:latin typeface="Arial"/>
              </a:rPr>
              <a:t>(</a:t>
            </a:r>
            <a:r>
              <a:rPr lang="fr-FR" sz="1200" dirty="0" err="1">
                <a:latin typeface="Arial"/>
              </a:rPr>
              <a:t>Chelle</a:t>
            </a:r>
            <a:r>
              <a:rPr lang="fr-FR" sz="1200" dirty="0">
                <a:latin typeface="Arial"/>
              </a:rPr>
              <a:t> et al., 1998)</a:t>
            </a:r>
            <a:endParaRPr lang="en-US" sz="1200" dirty="0">
              <a:latin typeface="Arial"/>
            </a:endParaRPr>
          </a:p>
        </p:txBody>
      </p:sp>
      <p:sp>
        <p:nvSpPr>
          <p:cNvPr id="26" name="TextBox 25">
            <a:extLst>
              <a:ext uri="{FF2B5EF4-FFF2-40B4-BE49-F238E27FC236}">
                <a16:creationId xmlns:a16="http://schemas.microsoft.com/office/drawing/2014/main" id="{C798B1BD-2D9E-4979-A30E-F026947B2AAA}"/>
              </a:ext>
            </a:extLst>
          </p:cNvPr>
          <p:cNvSpPr txBox="1"/>
          <p:nvPr/>
        </p:nvSpPr>
        <p:spPr>
          <a:xfrm>
            <a:off x="0" y="3901783"/>
            <a:ext cx="1086605" cy="307777"/>
          </a:xfrm>
          <a:prstGeom prst="rect">
            <a:avLst/>
          </a:prstGeom>
          <a:noFill/>
        </p:spPr>
        <p:txBody>
          <a:bodyPr wrap="square" rtlCol="0">
            <a:spAutoFit/>
          </a:bodyPr>
          <a:lstStyle/>
          <a:p>
            <a:r>
              <a:rPr lang="en-US" sz="1400" dirty="0">
                <a:solidFill>
                  <a:schemeClr val="tx1">
                    <a:lumMod val="65000"/>
                    <a:lumOff val="35000"/>
                  </a:schemeClr>
                </a:solidFill>
                <a:latin typeface="Arial"/>
              </a:rPr>
              <a:t>Calibration</a:t>
            </a:r>
          </a:p>
        </p:txBody>
      </p:sp>
      <p:cxnSp>
        <p:nvCxnSpPr>
          <p:cNvPr id="27" name="Connector: Curved 26">
            <a:extLst>
              <a:ext uri="{FF2B5EF4-FFF2-40B4-BE49-F238E27FC236}">
                <a16:creationId xmlns:a16="http://schemas.microsoft.com/office/drawing/2014/main" id="{222D83EA-C71A-4D0F-BD6E-141E77E96BC0}"/>
              </a:ext>
            </a:extLst>
          </p:cNvPr>
          <p:cNvCxnSpPr>
            <a:cxnSpLocks/>
            <a:stCxn id="26" idx="3"/>
            <a:endCxn id="14" idx="2"/>
          </p:cNvCxnSpPr>
          <p:nvPr/>
        </p:nvCxnSpPr>
        <p:spPr>
          <a:xfrm flipV="1">
            <a:off x="1086605" y="3008734"/>
            <a:ext cx="631241" cy="1046938"/>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Slide Number Placeholder 39">
            <a:extLst>
              <a:ext uri="{FF2B5EF4-FFF2-40B4-BE49-F238E27FC236}">
                <a16:creationId xmlns:a16="http://schemas.microsoft.com/office/drawing/2014/main" id="{024C812E-B971-490C-A1E8-E06AD0859B01}"/>
              </a:ext>
            </a:extLst>
          </p:cNvPr>
          <p:cNvSpPr>
            <a:spLocks noGrp="1"/>
          </p:cNvSpPr>
          <p:nvPr>
            <p:ph type="sldNum" sz="quarter" idx="12"/>
          </p:nvPr>
        </p:nvSpPr>
        <p:spPr/>
        <p:txBody>
          <a:bodyPr/>
          <a:lstStyle/>
          <a:p>
            <a:fld id="{27C6CCC6-2BE5-4E42-96A4-D1E8E81A3D8E}" type="slidenum">
              <a:rPr lang="fr-FR" smtClean="0"/>
              <a:t>7</a:t>
            </a:fld>
            <a:endParaRPr lang="fr-FR"/>
          </a:p>
        </p:txBody>
      </p:sp>
      <p:pic>
        <p:nvPicPr>
          <p:cNvPr id="42" name="Picture 41">
            <a:extLst>
              <a:ext uri="{FF2B5EF4-FFF2-40B4-BE49-F238E27FC236}">
                <a16:creationId xmlns:a16="http://schemas.microsoft.com/office/drawing/2014/main" id="{3BB2F3C5-AABA-4FA9-AC3D-EC7CEE2ED17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992107" y="2633431"/>
            <a:ext cx="2723238" cy="689969"/>
          </a:xfrm>
          <a:prstGeom prst="rect">
            <a:avLst/>
          </a:prstGeom>
        </p:spPr>
      </p:pic>
      <p:sp>
        <p:nvSpPr>
          <p:cNvPr id="78" name="TextBox 77">
            <a:extLst>
              <a:ext uri="{FF2B5EF4-FFF2-40B4-BE49-F238E27FC236}">
                <a16:creationId xmlns:a16="http://schemas.microsoft.com/office/drawing/2014/main" id="{287E720D-F25F-4A14-8EF1-A88691AE5BC3}"/>
              </a:ext>
            </a:extLst>
          </p:cNvPr>
          <p:cNvSpPr txBox="1"/>
          <p:nvPr/>
        </p:nvSpPr>
        <p:spPr>
          <a:xfrm>
            <a:off x="6245486" y="2931833"/>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79" name="TextBox 78">
            <a:extLst>
              <a:ext uri="{FF2B5EF4-FFF2-40B4-BE49-F238E27FC236}">
                <a16:creationId xmlns:a16="http://schemas.microsoft.com/office/drawing/2014/main" id="{613392D5-5DC6-475F-A481-92505B051CEF}"/>
              </a:ext>
            </a:extLst>
          </p:cNvPr>
          <p:cNvSpPr txBox="1"/>
          <p:nvPr/>
        </p:nvSpPr>
        <p:spPr>
          <a:xfrm>
            <a:off x="6128192" y="5969206"/>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0" name="Connector: Curved 79">
            <a:extLst>
              <a:ext uri="{FF2B5EF4-FFF2-40B4-BE49-F238E27FC236}">
                <a16:creationId xmlns:a16="http://schemas.microsoft.com/office/drawing/2014/main" id="{D83F060A-16CC-4EB9-B279-97F7FF18350F}"/>
              </a:ext>
            </a:extLst>
          </p:cNvPr>
          <p:cNvCxnSpPr>
            <a:cxnSpLocks/>
            <a:endCxn id="79" idx="3"/>
          </p:cNvCxnSpPr>
          <p:nvPr/>
        </p:nvCxnSpPr>
        <p:spPr>
          <a:xfrm rot="5400000">
            <a:off x="7233039" y="5576163"/>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Sun 80">
            <a:extLst>
              <a:ext uri="{FF2B5EF4-FFF2-40B4-BE49-F238E27FC236}">
                <a16:creationId xmlns:a16="http://schemas.microsoft.com/office/drawing/2014/main" id="{34D12E64-C3C1-4175-A488-3F7FCD900A8D}"/>
              </a:ext>
            </a:extLst>
          </p:cNvPr>
          <p:cNvSpPr/>
          <p:nvPr/>
        </p:nvSpPr>
        <p:spPr>
          <a:xfrm>
            <a:off x="7669957" y="3261923"/>
            <a:ext cx="427332" cy="369332"/>
          </a:xfrm>
          <a:prstGeom prst="su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D78C5542-4652-4858-B894-D5DB8A598FFC}"/>
              </a:ext>
            </a:extLst>
          </p:cNvPr>
          <p:cNvSpPr txBox="1"/>
          <p:nvPr/>
        </p:nvSpPr>
        <p:spPr>
          <a:xfrm>
            <a:off x="6245487" y="2931834"/>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84" name="TextBox 83">
            <a:extLst>
              <a:ext uri="{FF2B5EF4-FFF2-40B4-BE49-F238E27FC236}">
                <a16:creationId xmlns:a16="http://schemas.microsoft.com/office/drawing/2014/main" id="{526F1650-CC29-4341-924B-F13161520E11}"/>
              </a:ext>
            </a:extLst>
          </p:cNvPr>
          <p:cNvSpPr txBox="1"/>
          <p:nvPr/>
        </p:nvSpPr>
        <p:spPr>
          <a:xfrm>
            <a:off x="6128193" y="5969207"/>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5" name="Connector: Curved 84">
            <a:extLst>
              <a:ext uri="{FF2B5EF4-FFF2-40B4-BE49-F238E27FC236}">
                <a16:creationId xmlns:a16="http://schemas.microsoft.com/office/drawing/2014/main" id="{E6C0A95C-037A-4A26-A403-9ED282205957}"/>
              </a:ext>
            </a:extLst>
          </p:cNvPr>
          <p:cNvCxnSpPr>
            <a:cxnSpLocks/>
            <a:endCxn id="84" idx="3"/>
          </p:cNvCxnSpPr>
          <p:nvPr/>
        </p:nvCxnSpPr>
        <p:spPr>
          <a:xfrm rot="5400000">
            <a:off x="7233040" y="5576164"/>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151A4277-9C08-4853-B4ED-30477A836CED}"/>
              </a:ext>
            </a:extLst>
          </p:cNvPr>
          <p:cNvSpPr txBox="1"/>
          <p:nvPr/>
        </p:nvSpPr>
        <p:spPr>
          <a:xfrm>
            <a:off x="6245486" y="2931833"/>
            <a:ext cx="2575479" cy="369332"/>
          </a:xfrm>
          <a:prstGeom prst="rect">
            <a:avLst/>
          </a:prstGeom>
          <a:noFill/>
        </p:spPr>
        <p:txBody>
          <a:bodyPr wrap="square" rtlCol="0">
            <a:spAutoFit/>
          </a:bodyPr>
          <a:lstStyle/>
          <a:p>
            <a:r>
              <a:rPr lang="fr-FR" dirty="0">
                <a:solidFill>
                  <a:schemeClr val="tx1">
                    <a:lumMod val="65000"/>
                    <a:lumOff val="35000"/>
                  </a:schemeClr>
                </a:solidFill>
                <a:latin typeface="Arial"/>
              </a:rPr>
              <a:t>Répartition hétérogène</a:t>
            </a:r>
            <a:endParaRPr lang="en-US" dirty="0">
              <a:solidFill>
                <a:schemeClr val="tx1">
                  <a:lumMod val="65000"/>
                  <a:lumOff val="35000"/>
                </a:schemeClr>
              </a:solidFill>
              <a:latin typeface="Arial"/>
            </a:endParaRPr>
          </a:p>
        </p:txBody>
      </p:sp>
      <p:sp>
        <p:nvSpPr>
          <p:cNvPr id="88" name="TextBox 87">
            <a:extLst>
              <a:ext uri="{FF2B5EF4-FFF2-40B4-BE49-F238E27FC236}">
                <a16:creationId xmlns:a16="http://schemas.microsoft.com/office/drawing/2014/main" id="{0100C028-3FD2-4AD7-B0E1-5564CED1E5FA}"/>
              </a:ext>
            </a:extLst>
          </p:cNvPr>
          <p:cNvSpPr txBox="1"/>
          <p:nvPr/>
        </p:nvSpPr>
        <p:spPr>
          <a:xfrm>
            <a:off x="6128192" y="5969206"/>
            <a:ext cx="1158289" cy="307777"/>
          </a:xfrm>
          <a:prstGeom prst="rect">
            <a:avLst/>
          </a:prstGeom>
          <a:noFill/>
        </p:spPr>
        <p:txBody>
          <a:bodyPr wrap="square" rtlCol="0">
            <a:spAutoFit/>
          </a:bodyPr>
          <a:lstStyle/>
          <a:p>
            <a:r>
              <a:rPr lang="en-US" sz="1400" dirty="0" err="1">
                <a:solidFill>
                  <a:schemeClr val="tx1">
                    <a:lumMod val="65000"/>
                    <a:lumOff val="35000"/>
                  </a:schemeClr>
                </a:solidFill>
                <a:latin typeface="Arial"/>
              </a:rPr>
              <a:t>Émergence</a:t>
            </a:r>
            <a:endParaRPr lang="en-US" sz="1400" dirty="0">
              <a:solidFill>
                <a:schemeClr val="tx1">
                  <a:lumMod val="65000"/>
                  <a:lumOff val="35000"/>
                </a:schemeClr>
              </a:solidFill>
              <a:latin typeface="Arial"/>
            </a:endParaRPr>
          </a:p>
        </p:txBody>
      </p:sp>
      <p:cxnSp>
        <p:nvCxnSpPr>
          <p:cNvPr id="89" name="Connector: Curved 88">
            <a:extLst>
              <a:ext uri="{FF2B5EF4-FFF2-40B4-BE49-F238E27FC236}">
                <a16:creationId xmlns:a16="http://schemas.microsoft.com/office/drawing/2014/main" id="{EEA35C59-1AE5-4300-A1F5-255FDB53C4FB}"/>
              </a:ext>
            </a:extLst>
          </p:cNvPr>
          <p:cNvCxnSpPr>
            <a:cxnSpLocks/>
            <a:endCxn id="88" idx="3"/>
          </p:cNvCxnSpPr>
          <p:nvPr/>
        </p:nvCxnSpPr>
        <p:spPr>
          <a:xfrm rot="5400000">
            <a:off x="7233039" y="5576163"/>
            <a:ext cx="600374" cy="493490"/>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Arc 89">
            <a:extLst>
              <a:ext uri="{FF2B5EF4-FFF2-40B4-BE49-F238E27FC236}">
                <a16:creationId xmlns:a16="http://schemas.microsoft.com/office/drawing/2014/main" id="{937F71A4-4399-43F7-B52D-9C78EF07577A}"/>
              </a:ext>
            </a:extLst>
          </p:cNvPr>
          <p:cNvSpPr/>
          <p:nvPr/>
        </p:nvSpPr>
        <p:spPr>
          <a:xfrm rot="19386979">
            <a:off x="4898475" y="3639001"/>
            <a:ext cx="4565518" cy="3588738"/>
          </a:xfrm>
          <a:prstGeom prst="arc">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Rectangle 35">
            <a:extLst>
              <a:ext uri="{FF2B5EF4-FFF2-40B4-BE49-F238E27FC236}">
                <a16:creationId xmlns:a16="http://schemas.microsoft.com/office/drawing/2014/main" id="{583F4B1B-AE02-4F66-B8F4-C08BF5830D9B}"/>
              </a:ext>
            </a:extLst>
          </p:cNvPr>
          <p:cNvSpPr/>
          <p:nvPr/>
        </p:nvSpPr>
        <p:spPr>
          <a:xfrm>
            <a:off x="0" y="1305045"/>
            <a:ext cx="12191999" cy="555295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C28194A8-36DB-473D-A2B3-93004466B408}"/>
              </a:ext>
            </a:extLst>
          </p:cNvPr>
          <p:cNvPicPr>
            <a:picLocks noChangeAspect="1"/>
          </p:cNvPicPr>
          <p:nvPr/>
        </p:nvPicPr>
        <p:blipFill>
          <a:blip r:embed="rId7"/>
          <a:stretch>
            <a:fillRect/>
          </a:stretch>
        </p:blipFill>
        <p:spPr>
          <a:xfrm>
            <a:off x="3803373" y="2439386"/>
            <a:ext cx="3596496" cy="2862088"/>
          </a:xfrm>
          <a:prstGeom prst="rect">
            <a:avLst/>
          </a:prstGeom>
        </p:spPr>
      </p:pic>
      <p:sp>
        <p:nvSpPr>
          <p:cNvPr id="38" name="TextBox 37">
            <a:extLst>
              <a:ext uri="{FF2B5EF4-FFF2-40B4-BE49-F238E27FC236}">
                <a16:creationId xmlns:a16="http://schemas.microsoft.com/office/drawing/2014/main" id="{B0CD1165-2AD5-42DB-B3DE-724F1A1A8C57}"/>
              </a:ext>
            </a:extLst>
          </p:cNvPr>
          <p:cNvSpPr txBox="1"/>
          <p:nvPr/>
        </p:nvSpPr>
        <p:spPr>
          <a:xfrm>
            <a:off x="4922849" y="5341468"/>
            <a:ext cx="1429646" cy="276999"/>
          </a:xfrm>
          <a:prstGeom prst="rect">
            <a:avLst/>
          </a:prstGeom>
          <a:noFill/>
        </p:spPr>
        <p:txBody>
          <a:bodyPr wrap="square" rtlCol="0">
            <a:spAutoFit/>
          </a:bodyPr>
          <a:lstStyle/>
          <a:p>
            <a:r>
              <a:rPr lang="en-US" sz="1200" dirty="0">
                <a:latin typeface="Arial"/>
              </a:rPr>
              <a:t>(</a:t>
            </a:r>
            <a:r>
              <a:rPr lang="en-US" sz="1200" dirty="0" err="1">
                <a:latin typeface="Arial"/>
              </a:rPr>
              <a:t>Vezy</a:t>
            </a:r>
            <a:r>
              <a:rPr lang="en-US" sz="1200" dirty="0">
                <a:latin typeface="Arial"/>
              </a:rPr>
              <a:t> et al., 2023)</a:t>
            </a:r>
          </a:p>
        </p:txBody>
      </p:sp>
      <p:pic>
        <p:nvPicPr>
          <p:cNvPr id="39" name="Picture 38">
            <a:extLst>
              <a:ext uri="{FF2B5EF4-FFF2-40B4-BE49-F238E27FC236}">
                <a16:creationId xmlns:a16="http://schemas.microsoft.com/office/drawing/2014/main" id="{BBFFC7B4-0BAF-449F-8E12-16F6659633BA}"/>
              </a:ext>
            </a:extLst>
          </p:cNvPr>
          <p:cNvPicPr>
            <a:picLocks noChangeAspect="1"/>
          </p:cNvPicPr>
          <p:nvPr/>
        </p:nvPicPr>
        <p:blipFill>
          <a:blip r:embed="rId8"/>
          <a:stretch>
            <a:fillRect/>
          </a:stretch>
        </p:blipFill>
        <p:spPr>
          <a:xfrm>
            <a:off x="4219349" y="5329871"/>
            <a:ext cx="484622" cy="422491"/>
          </a:xfrm>
          <a:prstGeom prst="rect">
            <a:avLst/>
          </a:prstGeom>
        </p:spPr>
      </p:pic>
      <p:sp>
        <p:nvSpPr>
          <p:cNvPr id="41" name="TextBox 40">
            <a:extLst>
              <a:ext uri="{FF2B5EF4-FFF2-40B4-BE49-F238E27FC236}">
                <a16:creationId xmlns:a16="http://schemas.microsoft.com/office/drawing/2014/main" id="{9BEC6A8D-5D4B-4217-B92C-9D7913D985AF}"/>
              </a:ext>
            </a:extLst>
          </p:cNvPr>
          <p:cNvSpPr txBox="1"/>
          <p:nvPr/>
        </p:nvSpPr>
        <p:spPr>
          <a:xfrm>
            <a:off x="4316143" y="2107008"/>
            <a:ext cx="2695620" cy="369332"/>
          </a:xfrm>
          <a:prstGeom prst="rect">
            <a:avLst/>
          </a:prstGeom>
          <a:noFill/>
        </p:spPr>
        <p:txBody>
          <a:bodyPr wrap="square" rtlCol="0">
            <a:spAutoFit/>
          </a:bodyPr>
          <a:lstStyle/>
          <a:p>
            <a:r>
              <a:rPr lang="en-US" dirty="0" err="1">
                <a:latin typeface="Arial"/>
              </a:rPr>
              <a:t>Transfert</a:t>
            </a:r>
            <a:r>
              <a:rPr lang="en-US" dirty="0">
                <a:latin typeface="Arial"/>
              </a:rPr>
              <a:t> </a:t>
            </a:r>
            <a:r>
              <a:rPr lang="en-US" dirty="0" err="1">
                <a:latin typeface="Arial"/>
              </a:rPr>
              <a:t>radiatif</a:t>
            </a:r>
            <a:r>
              <a:rPr lang="en-US" dirty="0">
                <a:latin typeface="Arial"/>
              </a:rPr>
              <a:t> (2.5D)</a:t>
            </a:r>
          </a:p>
        </p:txBody>
      </p:sp>
    </p:spTree>
    <p:extLst>
      <p:ext uri="{BB962C8B-B14F-4D97-AF65-F5344CB8AC3E}">
        <p14:creationId xmlns:p14="http://schemas.microsoft.com/office/powerpoint/2010/main" val="3792980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AD72CD-059B-4E49-9B5E-C673452ACD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22245" y="4110457"/>
            <a:ext cx="1836179" cy="1890991"/>
          </a:xfrm>
          <a:prstGeom prst="rect">
            <a:avLst/>
          </a:prstGeom>
        </p:spPr>
      </p:pic>
      <p:pic>
        <p:nvPicPr>
          <p:cNvPr id="10" name="Picture 9">
            <a:extLst>
              <a:ext uri="{FF2B5EF4-FFF2-40B4-BE49-F238E27FC236}">
                <a16:creationId xmlns:a16="http://schemas.microsoft.com/office/drawing/2014/main" id="{29BED7AA-B7E2-4445-A9DA-83ADB64DD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9137" y="1606777"/>
            <a:ext cx="3400182" cy="1855488"/>
          </a:xfrm>
          <a:prstGeom prst="rect">
            <a:avLst/>
          </a:prstGeom>
        </p:spPr>
      </p:pic>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401552" y="275391"/>
            <a:ext cx="10073227" cy="1104373"/>
          </a:xfrm>
        </p:spPr>
        <p:txBody>
          <a:bodyPr>
            <a:normAutofit/>
          </a:bodyPr>
          <a:lstStyle/>
          <a:p>
            <a:r>
              <a:rPr lang="fr-FR" sz="3400" dirty="0"/>
              <a:t>Approches hybrides pour des cultures en mélanges</a:t>
            </a:r>
          </a:p>
        </p:txBody>
      </p:sp>
      <p:sp>
        <p:nvSpPr>
          <p:cNvPr id="20" name="Isosceles Triangle 19">
            <a:extLst>
              <a:ext uri="{FF2B5EF4-FFF2-40B4-BE49-F238E27FC236}">
                <a16:creationId xmlns:a16="http://schemas.microsoft.com/office/drawing/2014/main" id="{18CD990F-2249-45CF-8025-5A727DB85478}"/>
              </a:ext>
            </a:extLst>
          </p:cNvPr>
          <p:cNvSpPr/>
          <p:nvPr/>
        </p:nvSpPr>
        <p:spPr>
          <a:xfrm rot="5400000">
            <a:off x="5911477" y="1951396"/>
            <a:ext cx="1013320" cy="3833322"/>
          </a:xfrm>
          <a:prstGeom prst="triangle">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CCA21D79-8FA5-4080-9C6D-8D7B0ED3D848}"/>
              </a:ext>
            </a:extLst>
          </p:cNvPr>
          <p:cNvSpPr txBox="1"/>
          <p:nvPr/>
        </p:nvSpPr>
        <p:spPr>
          <a:xfrm>
            <a:off x="4262952" y="4894495"/>
            <a:ext cx="1617201" cy="492443"/>
          </a:xfrm>
          <a:prstGeom prst="rect">
            <a:avLst/>
          </a:prstGeom>
          <a:noFill/>
        </p:spPr>
        <p:txBody>
          <a:bodyPr wrap="square" rtlCol="0">
            <a:spAutoFit/>
          </a:bodyPr>
          <a:lstStyle/>
          <a:p>
            <a:r>
              <a:rPr lang="en-US" sz="1400" dirty="0">
                <a:solidFill>
                  <a:schemeClr val="tx1">
                    <a:lumMod val="65000"/>
                    <a:lumOff val="35000"/>
                  </a:schemeClr>
                </a:solidFill>
                <a:latin typeface="Arial"/>
              </a:rPr>
              <a:t>Hi-</a:t>
            </a:r>
            <a:r>
              <a:rPr lang="en-US" sz="1400" dirty="0" err="1">
                <a:solidFill>
                  <a:schemeClr val="tx1">
                    <a:lumMod val="65000"/>
                    <a:lumOff val="35000"/>
                  </a:schemeClr>
                </a:solidFill>
                <a:latin typeface="Arial"/>
              </a:rPr>
              <a:t>sAFe</a:t>
            </a:r>
            <a:endParaRPr lang="en-US" sz="1400" dirty="0">
              <a:solidFill>
                <a:schemeClr val="tx1">
                  <a:lumMod val="65000"/>
                  <a:lumOff val="35000"/>
                </a:schemeClr>
              </a:solidFill>
              <a:latin typeface="Arial"/>
            </a:endParaRPr>
          </a:p>
          <a:p>
            <a:r>
              <a:rPr lang="fr-FR" sz="1200" dirty="0">
                <a:solidFill>
                  <a:schemeClr val="tx1">
                    <a:lumMod val="65000"/>
                    <a:lumOff val="35000"/>
                  </a:schemeClr>
                </a:solidFill>
                <a:latin typeface="Arial"/>
              </a:rPr>
              <a:t>(</a:t>
            </a:r>
            <a:r>
              <a:rPr lang="fr-FR" sz="1200" dirty="0" err="1">
                <a:solidFill>
                  <a:schemeClr val="tx1">
                    <a:lumMod val="65000"/>
                    <a:lumOff val="35000"/>
                  </a:schemeClr>
                </a:solidFill>
                <a:latin typeface="Arial"/>
              </a:rPr>
              <a:t>Dupraz</a:t>
            </a:r>
            <a:r>
              <a:rPr lang="fr-FR" sz="1200" dirty="0">
                <a:solidFill>
                  <a:schemeClr val="tx1">
                    <a:lumMod val="65000"/>
                    <a:lumOff val="35000"/>
                  </a:schemeClr>
                </a:solidFill>
                <a:latin typeface="Arial"/>
              </a:rPr>
              <a:t> et al., 2019)</a:t>
            </a:r>
            <a:endParaRPr lang="en-US" sz="1200" dirty="0">
              <a:solidFill>
                <a:schemeClr val="tx1">
                  <a:lumMod val="65000"/>
                  <a:lumOff val="35000"/>
                </a:schemeClr>
              </a:solidFill>
              <a:latin typeface="Arial"/>
            </a:endParaRPr>
          </a:p>
        </p:txBody>
      </p:sp>
      <p:sp>
        <p:nvSpPr>
          <p:cNvPr id="16" name="TextBox 15">
            <a:extLst>
              <a:ext uri="{FF2B5EF4-FFF2-40B4-BE49-F238E27FC236}">
                <a16:creationId xmlns:a16="http://schemas.microsoft.com/office/drawing/2014/main" id="{DED48F25-7AEA-4698-9E84-0901FEECDA63}"/>
              </a:ext>
            </a:extLst>
          </p:cNvPr>
          <p:cNvSpPr txBox="1"/>
          <p:nvPr/>
        </p:nvSpPr>
        <p:spPr>
          <a:xfrm>
            <a:off x="4262952" y="2169756"/>
            <a:ext cx="1588529" cy="892552"/>
          </a:xfrm>
          <a:prstGeom prst="rect">
            <a:avLst/>
          </a:prstGeom>
          <a:noFill/>
        </p:spPr>
        <p:txBody>
          <a:bodyPr wrap="square" rtlCol="0">
            <a:spAutoFit/>
          </a:bodyPr>
          <a:lstStyle/>
          <a:p>
            <a:r>
              <a:rPr lang="en-US" sz="1400" dirty="0" err="1">
                <a:solidFill>
                  <a:schemeClr val="tx1">
                    <a:lumMod val="65000"/>
                    <a:lumOff val="35000"/>
                  </a:schemeClr>
                </a:solidFill>
                <a:latin typeface="Arial"/>
              </a:rPr>
              <a:t>FlorSys</a:t>
            </a:r>
            <a:r>
              <a:rPr lang="en-US" sz="1400" dirty="0">
                <a:solidFill>
                  <a:schemeClr val="tx1">
                    <a:lumMod val="65000"/>
                    <a:lumOff val="35000"/>
                  </a:schemeClr>
                </a:solidFill>
                <a:latin typeface="Arial"/>
              </a:rPr>
              <a:t> </a:t>
            </a:r>
          </a:p>
          <a:p>
            <a:r>
              <a:rPr lang="fr-FR" sz="1200" dirty="0">
                <a:solidFill>
                  <a:schemeClr val="tx1">
                    <a:lumMod val="65000"/>
                    <a:lumOff val="35000"/>
                  </a:schemeClr>
                </a:solidFill>
                <a:latin typeface="Arial"/>
              </a:rPr>
              <a:t>(Pagès et al., 2020 ; Colbach et al., 2021)</a:t>
            </a:r>
            <a:endParaRPr lang="en-US" sz="1200" dirty="0">
              <a:solidFill>
                <a:schemeClr val="tx1">
                  <a:lumMod val="65000"/>
                  <a:lumOff val="35000"/>
                </a:schemeClr>
              </a:solidFill>
              <a:latin typeface="Arial"/>
            </a:endParaRPr>
          </a:p>
          <a:p>
            <a:endParaRPr lang="en-US" sz="1400" dirty="0">
              <a:solidFill>
                <a:schemeClr val="tx1">
                  <a:lumMod val="65000"/>
                  <a:lumOff val="35000"/>
                </a:schemeClr>
              </a:solidFill>
            </a:endParaRPr>
          </a:p>
        </p:txBody>
      </p:sp>
      <p:sp>
        <p:nvSpPr>
          <p:cNvPr id="23" name="TextBox 22">
            <a:extLst>
              <a:ext uri="{FF2B5EF4-FFF2-40B4-BE49-F238E27FC236}">
                <a16:creationId xmlns:a16="http://schemas.microsoft.com/office/drawing/2014/main" id="{9EEE7610-0CA3-4460-B979-BFC157DB8B0D}"/>
              </a:ext>
            </a:extLst>
          </p:cNvPr>
          <p:cNvSpPr txBox="1"/>
          <p:nvPr/>
        </p:nvSpPr>
        <p:spPr>
          <a:xfrm>
            <a:off x="7556953" y="3355507"/>
            <a:ext cx="1562366" cy="276999"/>
          </a:xfrm>
          <a:prstGeom prst="rect">
            <a:avLst/>
          </a:prstGeom>
          <a:noFill/>
        </p:spPr>
        <p:txBody>
          <a:bodyPr wrap="square" rtlCol="0">
            <a:spAutoFit/>
          </a:bodyPr>
          <a:lstStyle/>
          <a:p>
            <a:r>
              <a:rPr lang="en-US" sz="1200" dirty="0" err="1">
                <a:solidFill>
                  <a:schemeClr val="tx1">
                    <a:lumMod val="65000"/>
                    <a:lumOff val="35000"/>
                  </a:schemeClr>
                </a:solidFill>
                <a:latin typeface="Arial"/>
              </a:rPr>
              <a:t>Gaudio</a:t>
            </a:r>
            <a:r>
              <a:rPr lang="en-US" sz="1200" dirty="0">
                <a:solidFill>
                  <a:schemeClr val="tx1">
                    <a:lumMod val="65000"/>
                    <a:lumOff val="35000"/>
                  </a:schemeClr>
                </a:solidFill>
                <a:latin typeface="Arial"/>
              </a:rPr>
              <a:t> et al. (2022)</a:t>
            </a:r>
            <a:endParaRPr lang="en-US" sz="1200" dirty="0">
              <a:solidFill>
                <a:schemeClr val="tx1">
                  <a:lumMod val="65000"/>
                  <a:lumOff val="35000"/>
                </a:schemeClr>
              </a:solidFill>
            </a:endParaRPr>
          </a:p>
        </p:txBody>
      </p:sp>
      <p:grpSp>
        <p:nvGrpSpPr>
          <p:cNvPr id="36" name="Group 35">
            <a:extLst>
              <a:ext uri="{FF2B5EF4-FFF2-40B4-BE49-F238E27FC236}">
                <a16:creationId xmlns:a16="http://schemas.microsoft.com/office/drawing/2014/main" id="{A04044BA-3FB4-4C6D-BB8D-8F10E4A80F0E}"/>
              </a:ext>
            </a:extLst>
          </p:cNvPr>
          <p:cNvGrpSpPr/>
          <p:nvPr/>
        </p:nvGrpSpPr>
        <p:grpSpPr>
          <a:xfrm>
            <a:off x="477586" y="2187473"/>
            <a:ext cx="2850574" cy="2420839"/>
            <a:chOff x="477586" y="2187473"/>
            <a:chExt cx="2850574" cy="2420839"/>
          </a:xfrm>
        </p:grpSpPr>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481785" y="2187473"/>
              <a:ext cx="2842176" cy="534567"/>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Modèles de culture</a:t>
              </a:r>
              <a:endParaRPr lang="fr-FR" sz="2400" dirty="0">
                <a:solidFill>
                  <a:schemeClr val="tx1"/>
                </a:solidFill>
              </a:endParaRPr>
            </a:p>
          </p:txBody>
        </p:sp>
        <p:sp>
          <p:nvSpPr>
            <p:cNvPr id="32" name="Cube 31">
              <a:extLst>
                <a:ext uri="{FF2B5EF4-FFF2-40B4-BE49-F238E27FC236}">
                  <a16:creationId xmlns:a16="http://schemas.microsoft.com/office/drawing/2014/main" id="{19EDA022-05F5-4C37-B464-F0759C535685}"/>
                </a:ext>
              </a:extLst>
            </p:cNvPr>
            <p:cNvSpPr/>
            <p:nvPr/>
          </p:nvSpPr>
          <p:spPr>
            <a:xfrm>
              <a:off x="477586" y="3369568"/>
              <a:ext cx="2850574" cy="123874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3" name="Cube 32">
              <a:extLst>
                <a:ext uri="{FF2B5EF4-FFF2-40B4-BE49-F238E27FC236}">
                  <a16:creationId xmlns:a16="http://schemas.microsoft.com/office/drawing/2014/main" id="{7A08C8D6-701B-4CCC-853A-0026AF20F220}"/>
                </a:ext>
              </a:extLst>
            </p:cNvPr>
            <p:cNvSpPr/>
            <p:nvPr/>
          </p:nvSpPr>
          <p:spPr>
            <a:xfrm>
              <a:off x="477586" y="3163231"/>
              <a:ext cx="2850574" cy="123874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sp>
        <p:nvSpPr>
          <p:cNvPr id="11" name="TextBox 10">
            <a:extLst>
              <a:ext uri="{FF2B5EF4-FFF2-40B4-BE49-F238E27FC236}">
                <a16:creationId xmlns:a16="http://schemas.microsoft.com/office/drawing/2014/main" id="{38E8DA8D-26C0-4D96-9BD4-3F40BB53F73B}"/>
              </a:ext>
            </a:extLst>
          </p:cNvPr>
          <p:cNvSpPr txBox="1"/>
          <p:nvPr/>
        </p:nvSpPr>
        <p:spPr>
          <a:xfrm>
            <a:off x="742789" y="5674179"/>
            <a:ext cx="2320169" cy="646331"/>
          </a:xfrm>
          <a:prstGeom prst="rect">
            <a:avLst/>
          </a:prstGeom>
          <a:solidFill>
            <a:srgbClr val="E8E8E8">
              <a:alpha val="58039"/>
            </a:srgbClr>
          </a:solidFill>
        </p:spPr>
        <p:txBody>
          <a:bodyPr wrap="square" rtlCol="0">
            <a:spAutoFit/>
          </a:bodyPr>
          <a:lstStyle/>
          <a:p>
            <a:r>
              <a:rPr lang="fr-FR" dirty="0"/>
              <a:t>Pas d’hétérogénéité au sein de la parcelle</a:t>
            </a:r>
            <a:endParaRPr lang="en-US" dirty="0"/>
          </a:p>
        </p:txBody>
      </p:sp>
      <p:grpSp>
        <p:nvGrpSpPr>
          <p:cNvPr id="35" name="Group 34">
            <a:extLst>
              <a:ext uri="{FF2B5EF4-FFF2-40B4-BE49-F238E27FC236}">
                <a16:creationId xmlns:a16="http://schemas.microsoft.com/office/drawing/2014/main" id="{04830019-7119-4864-824C-94730EF07374}"/>
              </a:ext>
            </a:extLst>
          </p:cNvPr>
          <p:cNvGrpSpPr/>
          <p:nvPr/>
        </p:nvGrpSpPr>
        <p:grpSpPr>
          <a:xfrm>
            <a:off x="9508115" y="2187473"/>
            <a:ext cx="2218522" cy="2851649"/>
            <a:chOff x="9508115" y="2368341"/>
            <a:chExt cx="2218522" cy="2851649"/>
          </a:xfrm>
        </p:grpSpPr>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10008485" y="2368341"/>
              <a:ext cx="1217782" cy="623702"/>
            </a:xfrm>
            <a:prstGeom prst="rect">
              <a:avLst/>
            </a:prstGeom>
            <a:ln w="28575">
              <a:noFill/>
            </a:ln>
          </p:spPr>
          <p:txBody>
            <a:bodyPr vert="horz" lIns="91440" tIns="45720" rIns="91440" bIns="45720" rtlCol="0" anchor="ctr">
              <a:normAutofit/>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2400" b="1" dirty="0">
                  <a:solidFill>
                    <a:schemeClr val="tx1"/>
                  </a:solidFill>
                </a:rPr>
                <a:t>FSPM</a:t>
              </a:r>
            </a:p>
          </p:txBody>
        </p:sp>
        <p:pic>
          <p:nvPicPr>
            <p:cNvPr id="28" name="Picture 27">
              <a:extLst>
                <a:ext uri="{FF2B5EF4-FFF2-40B4-BE49-F238E27FC236}">
                  <a16:creationId xmlns:a16="http://schemas.microsoft.com/office/drawing/2014/main" id="{24A86C74-C963-45A8-B4F3-C7C162C4410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508115" y="2591194"/>
              <a:ext cx="2218522" cy="2628796"/>
            </a:xfrm>
            <a:prstGeom prst="rect">
              <a:avLst/>
            </a:prstGeom>
          </p:spPr>
        </p:pic>
      </p:grpSp>
      <p:sp>
        <p:nvSpPr>
          <p:cNvPr id="12" name="TextBox 11">
            <a:extLst>
              <a:ext uri="{FF2B5EF4-FFF2-40B4-BE49-F238E27FC236}">
                <a16:creationId xmlns:a16="http://schemas.microsoft.com/office/drawing/2014/main" id="{3441BA58-E6BC-4688-848A-E2A340D98CBD}"/>
              </a:ext>
            </a:extLst>
          </p:cNvPr>
          <p:cNvSpPr txBox="1"/>
          <p:nvPr/>
        </p:nvSpPr>
        <p:spPr>
          <a:xfrm>
            <a:off x="9777039" y="5674179"/>
            <a:ext cx="1680675" cy="646331"/>
          </a:xfrm>
          <a:prstGeom prst="rect">
            <a:avLst/>
          </a:prstGeom>
          <a:solidFill>
            <a:srgbClr val="E8E8E8">
              <a:alpha val="58039"/>
            </a:srgbClr>
          </a:solidFill>
        </p:spPr>
        <p:txBody>
          <a:bodyPr wrap="square" rtlCol="0">
            <a:spAutoFit/>
          </a:bodyPr>
          <a:lstStyle/>
          <a:p>
            <a:r>
              <a:rPr lang="fr-FR" dirty="0"/>
              <a:t>Hétérogénéité entre organes</a:t>
            </a:r>
            <a:endParaRPr lang="en-US" dirty="0"/>
          </a:p>
        </p:txBody>
      </p:sp>
      <p:sp>
        <p:nvSpPr>
          <p:cNvPr id="34" name="TextBox 33">
            <a:extLst>
              <a:ext uri="{FF2B5EF4-FFF2-40B4-BE49-F238E27FC236}">
                <a16:creationId xmlns:a16="http://schemas.microsoft.com/office/drawing/2014/main" id="{BFB8AB19-D738-4665-A13D-D077DA44980A}"/>
              </a:ext>
            </a:extLst>
          </p:cNvPr>
          <p:cNvSpPr txBox="1"/>
          <p:nvPr/>
        </p:nvSpPr>
        <p:spPr>
          <a:xfrm>
            <a:off x="5388992" y="5674178"/>
            <a:ext cx="1680675" cy="646331"/>
          </a:xfrm>
          <a:prstGeom prst="rect">
            <a:avLst/>
          </a:prstGeom>
          <a:solidFill>
            <a:srgbClr val="E8E8E8">
              <a:alpha val="58039"/>
            </a:srgbClr>
          </a:solidFill>
        </p:spPr>
        <p:txBody>
          <a:bodyPr wrap="square" rtlCol="0">
            <a:spAutoFit/>
          </a:bodyPr>
          <a:lstStyle/>
          <a:p>
            <a:r>
              <a:rPr lang="fr-FR" dirty="0"/>
              <a:t>Hétérogénéité entre plantes</a:t>
            </a:r>
            <a:endParaRPr lang="en-US" dirty="0"/>
          </a:p>
        </p:txBody>
      </p:sp>
      <p:sp>
        <p:nvSpPr>
          <p:cNvPr id="13" name="Slide Number Placeholder 12">
            <a:extLst>
              <a:ext uri="{FF2B5EF4-FFF2-40B4-BE49-F238E27FC236}">
                <a16:creationId xmlns:a16="http://schemas.microsoft.com/office/drawing/2014/main" id="{4E9F7463-E094-42FE-961D-09A1C0CB26D6}"/>
              </a:ext>
            </a:extLst>
          </p:cNvPr>
          <p:cNvSpPr>
            <a:spLocks noGrp="1"/>
          </p:cNvSpPr>
          <p:nvPr>
            <p:ph type="sldNum" sz="quarter" idx="12"/>
          </p:nvPr>
        </p:nvSpPr>
        <p:spPr/>
        <p:txBody>
          <a:bodyPr/>
          <a:lstStyle/>
          <a:p>
            <a:fld id="{27C6CCC6-2BE5-4E42-96A4-D1E8E81A3D8E}" type="slidenum">
              <a:rPr lang="fr-FR" smtClean="0"/>
              <a:t>8</a:t>
            </a:fld>
            <a:endParaRPr lang="fr-FR" dirty="0"/>
          </a:p>
        </p:txBody>
      </p:sp>
    </p:spTree>
    <p:extLst>
      <p:ext uri="{BB962C8B-B14F-4D97-AF65-F5344CB8AC3E}">
        <p14:creationId xmlns:p14="http://schemas.microsoft.com/office/powerpoint/2010/main" val="38740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3" grpId="0"/>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233656"/>
            <a:ext cx="10515600" cy="1325563"/>
          </a:xfrm>
        </p:spPr>
        <p:txBody>
          <a:bodyPr/>
          <a:lstStyle/>
          <a:p>
            <a:r>
              <a:rPr lang="fr-FR" sz="3600" dirty="0"/>
              <a:t>Ma thèse : </a:t>
            </a:r>
            <a:br>
              <a:rPr lang="fr-FR" dirty="0"/>
            </a:br>
            <a:r>
              <a:rPr lang="fr-FR" sz="2800" dirty="0"/>
              <a:t>Modélisation hybride multi-échelle pour les cultures associées</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20128" y="3296454"/>
            <a:ext cx="3106856" cy="2984270"/>
          </a:xfrm>
        </p:spPr>
        <p:txBody>
          <a:bodyPr>
            <a:normAutofit/>
          </a:bodyPr>
          <a:lstStyle/>
          <a:p>
            <a:pPr marL="0" indent="0">
              <a:buNone/>
            </a:pPr>
            <a:r>
              <a:rPr lang="fr-FR" b="1" dirty="0"/>
              <a:t>Chapitre I </a:t>
            </a:r>
          </a:p>
          <a:p>
            <a:pPr marL="0" indent="0">
              <a:buNone/>
            </a:pPr>
            <a:r>
              <a:rPr lang="fr-FR" sz="2400" dirty="0"/>
              <a:t>Conception d’un modèle architecturé 3D+t contraint par la trajectoire prédite par un modèle de culture</a:t>
            </a:r>
          </a:p>
        </p:txBody>
      </p:sp>
      <p:sp>
        <p:nvSpPr>
          <p:cNvPr id="6" name="Espace réservé du contenu 2">
            <a:extLst>
              <a:ext uri="{FF2B5EF4-FFF2-40B4-BE49-F238E27FC236}">
                <a16:creationId xmlns:a16="http://schemas.microsoft.com/office/drawing/2014/main" id="{6A1F6667-290D-49AD-9176-73ACA1C1F769}"/>
              </a:ext>
            </a:extLst>
          </p:cNvPr>
          <p:cNvSpPr txBox="1">
            <a:spLocks/>
          </p:cNvSpPr>
          <p:nvPr/>
        </p:nvSpPr>
        <p:spPr>
          <a:xfrm>
            <a:off x="4240155" y="3296453"/>
            <a:ext cx="3406889" cy="2984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a:t>Chapitre II </a:t>
            </a:r>
          </a:p>
          <a:p>
            <a:pPr marL="0" indent="0">
              <a:buNone/>
            </a:pPr>
            <a:r>
              <a:rPr lang="fr-FR" sz="2400" dirty="0"/>
              <a:t>Méthode de comparaison des processus d’acquisition des ressources à différentes échelles</a:t>
            </a:r>
          </a:p>
        </p:txBody>
      </p:sp>
      <p:sp>
        <p:nvSpPr>
          <p:cNvPr id="7" name="Espace réservé du contenu 2">
            <a:extLst>
              <a:ext uri="{FF2B5EF4-FFF2-40B4-BE49-F238E27FC236}">
                <a16:creationId xmlns:a16="http://schemas.microsoft.com/office/drawing/2014/main" id="{13CA4DC9-2347-420C-BEAC-087797A0488F}"/>
              </a:ext>
            </a:extLst>
          </p:cNvPr>
          <p:cNvSpPr txBox="1">
            <a:spLocks/>
          </p:cNvSpPr>
          <p:nvPr/>
        </p:nvSpPr>
        <p:spPr>
          <a:xfrm>
            <a:off x="8264982" y="3296454"/>
            <a:ext cx="3406890" cy="29842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a:t>Chapitre III </a:t>
            </a:r>
          </a:p>
          <a:p>
            <a:pPr marL="0" indent="0">
              <a:buNone/>
            </a:pPr>
            <a:r>
              <a:rPr lang="fr-FR" sz="2400" dirty="0"/>
              <a:t>Proposition d'approches de modélisation multi-échelles</a:t>
            </a:r>
          </a:p>
        </p:txBody>
      </p:sp>
      <p:sp>
        <p:nvSpPr>
          <p:cNvPr id="9" name="TextBox 8">
            <a:extLst>
              <a:ext uri="{FF2B5EF4-FFF2-40B4-BE49-F238E27FC236}">
                <a16:creationId xmlns:a16="http://schemas.microsoft.com/office/drawing/2014/main" id="{4B023A90-5157-4005-A976-38BB0A6FFD60}"/>
              </a:ext>
            </a:extLst>
          </p:cNvPr>
          <p:cNvSpPr txBox="1"/>
          <p:nvPr/>
        </p:nvSpPr>
        <p:spPr>
          <a:xfrm>
            <a:off x="1705630" y="1713070"/>
            <a:ext cx="7903436" cy="954107"/>
          </a:xfrm>
          <a:prstGeom prst="rect">
            <a:avLst/>
          </a:prstGeom>
          <a:noFill/>
        </p:spPr>
        <p:txBody>
          <a:bodyPr wrap="square" rtlCol="0">
            <a:spAutoFit/>
          </a:bodyPr>
          <a:lstStyle/>
          <a:p>
            <a:pPr algn="ctr"/>
            <a:r>
              <a:rPr lang="fr-FR" sz="2800" i="1" dirty="0"/>
              <a:t>A quelles échelles spatiales et temporelles modéliser les processus des cultures associées ?</a:t>
            </a:r>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9</a:t>
            </a:fld>
            <a:endParaRPr lang="fr-FR"/>
          </a:p>
        </p:txBody>
      </p:sp>
      <p:cxnSp>
        <p:nvCxnSpPr>
          <p:cNvPr id="12" name="Straight Connector 11">
            <a:extLst>
              <a:ext uri="{FF2B5EF4-FFF2-40B4-BE49-F238E27FC236}">
                <a16:creationId xmlns:a16="http://schemas.microsoft.com/office/drawing/2014/main" id="{7BE4670F-68F8-4BBA-938A-27C68360489B}"/>
              </a:ext>
            </a:extLst>
          </p:cNvPr>
          <p:cNvCxnSpPr>
            <a:cxnSpLocks/>
          </p:cNvCxnSpPr>
          <p:nvPr/>
        </p:nvCxnSpPr>
        <p:spPr>
          <a:xfrm>
            <a:off x="3825105" y="3262431"/>
            <a:ext cx="0" cy="30182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B6F2BB-E856-45C2-9146-AA2ADFD6B03A}"/>
              </a:ext>
            </a:extLst>
          </p:cNvPr>
          <p:cNvCxnSpPr>
            <a:cxnSpLocks/>
          </p:cNvCxnSpPr>
          <p:nvPr/>
        </p:nvCxnSpPr>
        <p:spPr>
          <a:xfrm>
            <a:off x="7944931" y="3262431"/>
            <a:ext cx="0" cy="30182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Espace réservé du contenu 2">
            <a:extLst>
              <a:ext uri="{FF2B5EF4-FFF2-40B4-BE49-F238E27FC236}">
                <a16:creationId xmlns:a16="http://schemas.microsoft.com/office/drawing/2014/main" id="{0EAAFBDF-41A8-4BF9-864D-E1C5949CB3A0}"/>
              </a:ext>
            </a:extLst>
          </p:cNvPr>
          <p:cNvSpPr txBox="1">
            <a:spLocks/>
          </p:cNvSpPr>
          <p:nvPr/>
        </p:nvSpPr>
        <p:spPr>
          <a:xfrm>
            <a:off x="520128" y="3296453"/>
            <a:ext cx="3106856" cy="2984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Chapitre I </a:t>
            </a:r>
          </a:p>
          <a:p>
            <a:pPr marL="0" indent="0">
              <a:buFont typeface="Arial" panose="020B0604020202020204" pitchFamily="34" charset="0"/>
              <a:buNone/>
            </a:pPr>
            <a:r>
              <a:rPr lang="fr-FR" sz="2400" dirty="0"/>
              <a:t>Conception d’un modèle architecturé 3D+t contraint par la trajectoire prédite par un modèle de culture</a:t>
            </a:r>
          </a:p>
        </p:txBody>
      </p:sp>
    </p:spTree>
    <p:extLst>
      <p:ext uri="{BB962C8B-B14F-4D97-AF65-F5344CB8AC3E}">
        <p14:creationId xmlns:p14="http://schemas.microsoft.com/office/powerpoint/2010/main" val="377802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Rounded Corners 70">
            <a:extLst>
              <a:ext uri="{FF2B5EF4-FFF2-40B4-BE49-F238E27FC236}">
                <a16:creationId xmlns:a16="http://schemas.microsoft.com/office/drawing/2014/main" id="{98FA9DEF-2C85-4E1B-A835-FAE59D9A31EE}"/>
              </a:ext>
            </a:extLst>
          </p:cNvPr>
          <p:cNvSpPr/>
          <p:nvPr/>
        </p:nvSpPr>
        <p:spPr>
          <a:xfrm>
            <a:off x="708290" y="4311373"/>
            <a:ext cx="7476133" cy="213979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2C3BD86A-3B90-4676-AA29-C7A00090BA3B}"/>
              </a:ext>
            </a:extLst>
          </p:cNvPr>
          <p:cNvSpPr/>
          <p:nvPr/>
        </p:nvSpPr>
        <p:spPr>
          <a:xfrm>
            <a:off x="741925" y="1778048"/>
            <a:ext cx="7476133" cy="213979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C4770B10-4669-4D62-AD03-8CD628EE04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267" y="5054843"/>
            <a:ext cx="2380141" cy="1539235"/>
          </a:xfrm>
          <a:prstGeom prst="rect">
            <a:avLst/>
          </a:prstGeom>
        </p:spPr>
      </p:pic>
      <p:sp>
        <p:nvSpPr>
          <p:cNvPr id="2" name="Title 1">
            <a:extLst>
              <a:ext uri="{FF2B5EF4-FFF2-40B4-BE49-F238E27FC236}">
                <a16:creationId xmlns:a16="http://schemas.microsoft.com/office/drawing/2014/main" id="{9262876C-27CC-480E-A920-14AF3E44FCDA}"/>
              </a:ext>
            </a:extLst>
          </p:cNvPr>
          <p:cNvSpPr>
            <a:spLocks noGrp="1"/>
          </p:cNvSpPr>
          <p:nvPr>
            <p:ph type="title"/>
          </p:nvPr>
        </p:nvSpPr>
        <p:spPr/>
        <p:txBody>
          <a:bodyPr>
            <a:noAutofit/>
          </a:bodyPr>
          <a:lstStyle/>
          <a:p>
            <a:r>
              <a:rPr lang="fr-FR" sz="3300" dirty="0">
                <a:solidFill>
                  <a:schemeClr val="tx1">
                    <a:lumMod val="65000"/>
                    <a:lumOff val="35000"/>
                  </a:schemeClr>
                </a:solidFill>
              </a:rPr>
              <a:t>Chapitre I : Conception d’un modèle architecturé 3D+t contraint par la trajectoire prédite par un modèle de culture</a:t>
            </a:r>
            <a:endParaRPr lang="en-US" sz="3300" dirty="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797E7A36-C957-4541-97C6-80337EDE5D0E}"/>
              </a:ext>
            </a:extLst>
          </p:cNvPr>
          <p:cNvSpPr>
            <a:spLocks noGrp="1"/>
          </p:cNvSpPr>
          <p:nvPr>
            <p:ph idx="1"/>
          </p:nvPr>
        </p:nvSpPr>
        <p:spPr>
          <a:xfrm>
            <a:off x="877250" y="1884468"/>
            <a:ext cx="7222617" cy="1888701"/>
          </a:xfrm>
        </p:spPr>
        <p:txBody>
          <a:bodyPr>
            <a:normAutofit fontScale="85000" lnSpcReduction="20000"/>
          </a:bodyPr>
          <a:lstStyle/>
          <a:p>
            <a:pPr marL="0" indent="0">
              <a:buNone/>
            </a:pPr>
            <a:r>
              <a:rPr lang="fr-FR" i="1" dirty="0"/>
              <a:t>Q1 : Comment définir un </a:t>
            </a:r>
            <a:r>
              <a:rPr lang="fr-FR" b="1" i="1" dirty="0"/>
              <a:t>modèle paramétrique 3D </a:t>
            </a:r>
            <a:r>
              <a:rPr lang="fr-FR" i="1" dirty="0"/>
              <a:t>de l'architecture d’une plante qui suit la </a:t>
            </a:r>
            <a:r>
              <a:rPr lang="fr-FR" b="1" i="1" dirty="0"/>
              <a:t>trajectoire temporelle </a:t>
            </a:r>
            <a:r>
              <a:rPr lang="fr-FR" i="1" dirty="0"/>
              <a:t>exacte d'un </a:t>
            </a:r>
            <a:r>
              <a:rPr lang="fr-FR" b="1" i="1" dirty="0"/>
              <a:t>modèle de culture </a:t>
            </a:r>
            <a:r>
              <a:rPr lang="fr-FR" i="1" dirty="0"/>
              <a:t>?​</a:t>
            </a:r>
          </a:p>
          <a:p>
            <a:r>
              <a:rPr lang="fr-FR" dirty="0"/>
              <a:t>H1 : Peu de paramètres architecturaux suffisent. </a:t>
            </a:r>
          </a:p>
          <a:p>
            <a:r>
              <a:rPr lang="fr-FR" dirty="0"/>
              <a:t>H1 bis : Contrainte de la croissance par les sorties d’un modèle de culture.</a:t>
            </a:r>
          </a:p>
          <a:p>
            <a:endParaRPr lang="fr-FR" dirty="0"/>
          </a:p>
        </p:txBody>
      </p:sp>
      <p:sp>
        <p:nvSpPr>
          <p:cNvPr id="5" name="Cube 4">
            <a:extLst>
              <a:ext uri="{FF2B5EF4-FFF2-40B4-BE49-F238E27FC236}">
                <a16:creationId xmlns:a16="http://schemas.microsoft.com/office/drawing/2014/main" id="{4B104424-2D31-40F3-B657-5DB7E94A7BF0}"/>
              </a:ext>
            </a:extLst>
          </p:cNvPr>
          <p:cNvSpPr/>
          <p:nvPr/>
        </p:nvSpPr>
        <p:spPr>
          <a:xfrm>
            <a:off x="8655627" y="2031962"/>
            <a:ext cx="2850574" cy="123874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6" name="Cube 5">
            <a:extLst>
              <a:ext uri="{FF2B5EF4-FFF2-40B4-BE49-F238E27FC236}">
                <a16:creationId xmlns:a16="http://schemas.microsoft.com/office/drawing/2014/main" id="{E3AFF47B-AFFF-48BE-9DC0-28C0433ED67C}"/>
              </a:ext>
            </a:extLst>
          </p:cNvPr>
          <p:cNvSpPr/>
          <p:nvPr/>
        </p:nvSpPr>
        <p:spPr>
          <a:xfrm>
            <a:off x="8655627" y="1825625"/>
            <a:ext cx="2850574" cy="123874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141FD0C5-A935-4AD4-86F7-8645DF0A07B1}"/>
              </a:ext>
            </a:extLst>
          </p:cNvPr>
          <p:cNvPicPr>
            <a:picLocks noChangeAspect="1"/>
          </p:cNvPicPr>
          <p:nvPr/>
        </p:nvPicPr>
        <p:blipFill>
          <a:blip r:embed="rId4">
            <a:clrChange>
              <a:clrFrom>
                <a:srgbClr val="FFFFFF"/>
              </a:clrFrom>
              <a:clrTo>
                <a:srgbClr val="FFFFFF">
                  <a:alpha val="0"/>
                </a:srgbClr>
              </a:clrTo>
            </a:clrChange>
          </a:blip>
          <a:stretch>
            <a:fillRect/>
          </a:stretch>
        </p:blipFill>
        <p:spPr>
          <a:xfrm flipH="1">
            <a:off x="10456334" y="2637649"/>
            <a:ext cx="1951139" cy="2311965"/>
          </a:xfrm>
          <a:prstGeom prst="rect">
            <a:avLst/>
          </a:prstGeom>
        </p:spPr>
      </p:pic>
      <p:pic>
        <p:nvPicPr>
          <p:cNvPr id="11" name="Picture 10">
            <a:extLst>
              <a:ext uri="{FF2B5EF4-FFF2-40B4-BE49-F238E27FC236}">
                <a16:creationId xmlns:a16="http://schemas.microsoft.com/office/drawing/2014/main" id="{DA75021A-7751-4B50-8E61-B05B50EFE642}"/>
              </a:ext>
            </a:extLst>
          </p:cNvPr>
          <p:cNvPicPr>
            <a:picLocks noChangeAspect="1"/>
          </p:cNvPicPr>
          <p:nvPr/>
        </p:nvPicPr>
        <p:blipFill>
          <a:blip r:embed="rId5">
            <a:clrChange>
              <a:clrFrom>
                <a:srgbClr val="FFFFFF"/>
              </a:clrFrom>
              <a:clrTo>
                <a:srgbClr val="FFFFFF">
                  <a:alpha val="0"/>
                </a:srgbClr>
              </a:clrTo>
            </a:clrChange>
          </a:blip>
          <a:stretch>
            <a:fillRect/>
          </a:stretch>
        </p:blipFill>
        <p:spPr>
          <a:xfrm flipH="1">
            <a:off x="9664577" y="3507681"/>
            <a:ext cx="1583514" cy="1299822"/>
          </a:xfrm>
          <a:prstGeom prst="rect">
            <a:avLst/>
          </a:prstGeom>
        </p:spPr>
      </p:pic>
      <p:pic>
        <p:nvPicPr>
          <p:cNvPr id="12" name="Picture 11">
            <a:extLst>
              <a:ext uri="{FF2B5EF4-FFF2-40B4-BE49-F238E27FC236}">
                <a16:creationId xmlns:a16="http://schemas.microsoft.com/office/drawing/2014/main" id="{98C959AA-2EE9-4829-8188-54799E4DD77B}"/>
              </a:ext>
            </a:extLst>
          </p:cNvPr>
          <p:cNvPicPr>
            <a:picLocks noChangeAspect="1"/>
          </p:cNvPicPr>
          <p:nvPr/>
        </p:nvPicPr>
        <p:blipFill>
          <a:blip r:embed="rId6">
            <a:clrChange>
              <a:clrFrom>
                <a:srgbClr val="FFFFFF"/>
              </a:clrFrom>
              <a:clrTo>
                <a:srgbClr val="FFFFFF">
                  <a:alpha val="0"/>
                </a:srgbClr>
              </a:clrTo>
            </a:clrChange>
          </a:blip>
          <a:stretch>
            <a:fillRect/>
          </a:stretch>
        </p:blipFill>
        <p:spPr>
          <a:xfrm flipH="1">
            <a:off x="8791385" y="4449377"/>
            <a:ext cx="217717" cy="202888"/>
          </a:xfrm>
          <a:prstGeom prst="rect">
            <a:avLst/>
          </a:prstGeom>
        </p:spPr>
      </p:pic>
      <p:pic>
        <p:nvPicPr>
          <p:cNvPr id="13" name="Picture 12">
            <a:extLst>
              <a:ext uri="{FF2B5EF4-FFF2-40B4-BE49-F238E27FC236}">
                <a16:creationId xmlns:a16="http://schemas.microsoft.com/office/drawing/2014/main" id="{45DBE47B-8D8B-4D59-B574-CCED8BEA414D}"/>
              </a:ext>
            </a:extLst>
          </p:cNvPr>
          <p:cNvPicPr>
            <a:picLocks noChangeAspect="1"/>
          </p:cNvPicPr>
          <p:nvPr/>
        </p:nvPicPr>
        <p:blipFill>
          <a:blip r:embed="rId7">
            <a:clrChange>
              <a:clrFrom>
                <a:srgbClr val="FFFFFF"/>
              </a:clrFrom>
              <a:clrTo>
                <a:srgbClr val="FFFFFF">
                  <a:alpha val="0"/>
                </a:srgbClr>
              </a:clrTo>
            </a:clrChange>
          </a:blip>
          <a:stretch>
            <a:fillRect/>
          </a:stretch>
        </p:blipFill>
        <p:spPr>
          <a:xfrm flipH="1">
            <a:off x="8933451" y="4239646"/>
            <a:ext cx="534039" cy="460268"/>
          </a:xfrm>
          <a:prstGeom prst="rect">
            <a:avLst/>
          </a:prstGeom>
        </p:spPr>
      </p:pic>
      <p:pic>
        <p:nvPicPr>
          <p:cNvPr id="14" name="Picture 13">
            <a:extLst>
              <a:ext uri="{FF2B5EF4-FFF2-40B4-BE49-F238E27FC236}">
                <a16:creationId xmlns:a16="http://schemas.microsoft.com/office/drawing/2014/main" id="{49A31052-C84D-4B7A-AB91-330148122780}"/>
              </a:ext>
            </a:extLst>
          </p:cNvPr>
          <p:cNvPicPr>
            <a:picLocks noChangeAspect="1"/>
          </p:cNvPicPr>
          <p:nvPr/>
        </p:nvPicPr>
        <p:blipFill>
          <a:blip r:embed="rId8">
            <a:clrChange>
              <a:clrFrom>
                <a:srgbClr val="FFFFFF"/>
              </a:clrFrom>
              <a:clrTo>
                <a:srgbClr val="FFFFFF">
                  <a:alpha val="0"/>
                </a:srgbClr>
              </a:clrTo>
            </a:clrChange>
          </a:blip>
          <a:stretch>
            <a:fillRect/>
          </a:stretch>
        </p:blipFill>
        <p:spPr>
          <a:xfrm flipH="1">
            <a:off x="9137108" y="3879825"/>
            <a:ext cx="1044794" cy="927678"/>
          </a:xfrm>
          <a:prstGeom prst="rect">
            <a:avLst/>
          </a:prstGeom>
        </p:spPr>
      </p:pic>
      <p:cxnSp>
        <p:nvCxnSpPr>
          <p:cNvPr id="15" name="Straight Connector 14">
            <a:extLst>
              <a:ext uri="{FF2B5EF4-FFF2-40B4-BE49-F238E27FC236}">
                <a16:creationId xmlns:a16="http://schemas.microsoft.com/office/drawing/2014/main" id="{1606D7F9-B19A-43DE-B421-0A15C230BC1A}"/>
              </a:ext>
            </a:extLst>
          </p:cNvPr>
          <p:cNvCxnSpPr>
            <a:cxnSpLocks/>
          </p:cNvCxnSpPr>
          <p:nvPr/>
        </p:nvCxnSpPr>
        <p:spPr>
          <a:xfrm flipV="1">
            <a:off x="11459523" y="3395052"/>
            <a:ext cx="365535" cy="609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561133-0138-4385-8068-0732F337C241}"/>
              </a:ext>
            </a:extLst>
          </p:cNvPr>
          <p:cNvCxnSpPr>
            <a:cxnSpLocks/>
          </p:cNvCxnSpPr>
          <p:nvPr/>
        </p:nvCxnSpPr>
        <p:spPr>
          <a:xfrm flipH="1" flipV="1">
            <a:off x="11709167" y="3419298"/>
            <a:ext cx="422859" cy="353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69AA985A-08A2-4461-838F-CE350544001E}"/>
              </a:ext>
            </a:extLst>
          </p:cNvPr>
          <p:cNvSpPr/>
          <p:nvPr/>
        </p:nvSpPr>
        <p:spPr>
          <a:xfrm>
            <a:off x="11542824" y="3064369"/>
            <a:ext cx="641324" cy="1635545"/>
          </a:xfrm>
          <a:custGeom>
            <a:avLst/>
            <a:gdLst>
              <a:gd name="connsiteX0" fmla="*/ 83975 w 784169"/>
              <a:gd name="connsiteY0" fmla="*/ 0 h 2500604"/>
              <a:gd name="connsiteX1" fmla="*/ 783771 w 784169"/>
              <a:gd name="connsiteY1" fmla="*/ 1045028 h 2500604"/>
              <a:gd name="connsiteX2" fmla="*/ 0 w 784169"/>
              <a:gd name="connsiteY2" fmla="*/ 2500604 h 2500604"/>
              <a:gd name="connsiteX3" fmla="*/ 0 w 784169"/>
              <a:gd name="connsiteY3" fmla="*/ 2500604 h 2500604"/>
            </a:gdLst>
            <a:ahLst/>
            <a:cxnLst>
              <a:cxn ang="0">
                <a:pos x="connsiteX0" y="connsiteY0"/>
              </a:cxn>
              <a:cxn ang="0">
                <a:pos x="connsiteX1" y="connsiteY1"/>
              </a:cxn>
              <a:cxn ang="0">
                <a:pos x="connsiteX2" y="connsiteY2"/>
              </a:cxn>
              <a:cxn ang="0">
                <a:pos x="connsiteX3" y="connsiteY3"/>
              </a:cxn>
            </a:cxnLst>
            <a:rect l="l" t="t" r="r" b="b"/>
            <a:pathLst>
              <a:path w="784169" h="2500604">
                <a:moveTo>
                  <a:pt x="83975" y="0"/>
                </a:moveTo>
                <a:cubicBezTo>
                  <a:pt x="440871" y="314130"/>
                  <a:pt x="797767" y="628261"/>
                  <a:pt x="783771" y="1045028"/>
                </a:cubicBezTo>
                <a:cubicBezTo>
                  <a:pt x="769775" y="1461795"/>
                  <a:pt x="0" y="2500604"/>
                  <a:pt x="0" y="2500604"/>
                </a:cubicBezTo>
                <a:lnTo>
                  <a:pt x="0" y="2500604"/>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1"/>
              </a:solidFill>
            </a:endParaRPr>
          </a:p>
        </p:txBody>
      </p:sp>
      <p:sp>
        <p:nvSpPr>
          <p:cNvPr id="18" name="Arc 17">
            <a:extLst>
              <a:ext uri="{FF2B5EF4-FFF2-40B4-BE49-F238E27FC236}">
                <a16:creationId xmlns:a16="http://schemas.microsoft.com/office/drawing/2014/main" id="{56909CDF-F331-4252-881F-AD96C61CB5C3}"/>
              </a:ext>
            </a:extLst>
          </p:cNvPr>
          <p:cNvSpPr/>
          <p:nvPr/>
        </p:nvSpPr>
        <p:spPr>
          <a:xfrm rot="18690826">
            <a:off x="11069034" y="3602856"/>
            <a:ext cx="442791" cy="377790"/>
          </a:xfrm>
          <a:prstGeom prst="arc">
            <a:avLst>
              <a:gd name="adj1" fmla="val 17638337"/>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E782D67-6267-4D5B-85AA-B6F97588FB41}"/>
              </a:ext>
            </a:extLst>
          </p:cNvPr>
          <p:cNvCxnSpPr>
            <a:cxnSpLocks/>
          </p:cNvCxnSpPr>
          <p:nvPr/>
        </p:nvCxnSpPr>
        <p:spPr>
          <a:xfrm>
            <a:off x="11002244" y="3149600"/>
            <a:ext cx="47330" cy="150266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ACD046DF-24BE-420A-BBDB-1EF87D760DFF}"/>
              </a:ext>
            </a:extLst>
          </p:cNvPr>
          <p:cNvSpPr/>
          <p:nvPr/>
        </p:nvSpPr>
        <p:spPr>
          <a:xfrm rot="7300895">
            <a:off x="11582292" y="3174144"/>
            <a:ext cx="436754" cy="422518"/>
          </a:xfrm>
          <a:prstGeom prst="arc">
            <a:avLst>
              <a:gd name="adj1" fmla="val 17638337"/>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row: Curved Up 20">
            <a:extLst>
              <a:ext uri="{FF2B5EF4-FFF2-40B4-BE49-F238E27FC236}">
                <a16:creationId xmlns:a16="http://schemas.microsoft.com/office/drawing/2014/main" id="{DF582206-EE2D-4AD3-98BD-41046F5E3E7C}"/>
              </a:ext>
            </a:extLst>
          </p:cNvPr>
          <p:cNvSpPr/>
          <p:nvPr/>
        </p:nvSpPr>
        <p:spPr>
          <a:xfrm rot="20289679">
            <a:off x="11354008" y="4117414"/>
            <a:ext cx="341513" cy="159551"/>
          </a:xfrm>
          <a:prstGeom prst="curvedUpArrow">
            <a:avLst>
              <a:gd name="adj1" fmla="val 0"/>
              <a:gd name="adj2" fmla="val 14674"/>
              <a:gd name="adj3" fmla="val 1330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38" name="Straight Arrow Connector 37">
            <a:extLst>
              <a:ext uri="{FF2B5EF4-FFF2-40B4-BE49-F238E27FC236}">
                <a16:creationId xmlns:a16="http://schemas.microsoft.com/office/drawing/2014/main" id="{ABF60FE1-521F-4AB0-A846-6FA3B99CF35C}"/>
              </a:ext>
            </a:extLst>
          </p:cNvPr>
          <p:cNvCxnSpPr/>
          <p:nvPr/>
        </p:nvCxnSpPr>
        <p:spPr>
          <a:xfrm flipH="1">
            <a:off x="8933451" y="2637649"/>
            <a:ext cx="731126" cy="1697112"/>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7BE3EB87-7007-449A-978A-0095A4B64760}"/>
              </a:ext>
            </a:extLst>
          </p:cNvPr>
          <p:cNvCxnSpPr>
            <a:cxnSpLocks/>
          </p:cNvCxnSpPr>
          <p:nvPr/>
        </p:nvCxnSpPr>
        <p:spPr>
          <a:xfrm flipH="1">
            <a:off x="9220200" y="2637649"/>
            <a:ext cx="592667" cy="1601997"/>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6E7F1F68-FF5F-4294-8783-BB9114A5CA33}"/>
              </a:ext>
            </a:extLst>
          </p:cNvPr>
          <p:cNvCxnSpPr>
            <a:cxnSpLocks/>
          </p:cNvCxnSpPr>
          <p:nvPr/>
        </p:nvCxnSpPr>
        <p:spPr>
          <a:xfrm flipH="1">
            <a:off x="9664577" y="2542534"/>
            <a:ext cx="300690" cy="1552463"/>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627ABDD0-CD34-48E9-A10E-D56C4D502DDA}"/>
              </a:ext>
            </a:extLst>
          </p:cNvPr>
          <p:cNvCxnSpPr>
            <a:cxnSpLocks/>
          </p:cNvCxnSpPr>
          <p:nvPr/>
        </p:nvCxnSpPr>
        <p:spPr>
          <a:xfrm>
            <a:off x="10103667" y="2372008"/>
            <a:ext cx="305977" cy="130148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5370FE0B-375D-42A8-8547-5F7B21142491}"/>
              </a:ext>
            </a:extLst>
          </p:cNvPr>
          <p:cNvCxnSpPr>
            <a:cxnSpLocks/>
          </p:cNvCxnSpPr>
          <p:nvPr/>
        </p:nvCxnSpPr>
        <p:spPr>
          <a:xfrm>
            <a:off x="10261354" y="2154264"/>
            <a:ext cx="914646" cy="917015"/>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pic>
        <p:nvPicPr>
          <p:cNvPr id="56" name="Picture 55">
            <a:extLst>
              <a:ext uri="{FF2B5EF4-FFF2-40B4-BE49-F238E27FC236}">
                <a16:creationId xmlns:a16="http://schemas.microsoft.com/office/drawing/2014/main" id="{0F469E84-50E5-4785-8EC4-E0797262D78E}"/>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230340" y="4949614"/>
            <a:ext cx="2850573" cy="2083111"/>
          </a:xfrm>
          <a:prstGeom prst="rect">
            <a:avLst/>
          </a:prstGeom>
        </p:spPr>
      </p:pic>
      <p:sp>
        <p:nvSpPr>
          <p:cNvPr id="57" name="Cross 56">
            <a:extLst>
              <a:ext uri="{FF2B5EF4-FFF2-40B4-BE49-F238E27FC236}">
                <a16:creationId xmlns:a16="http://schemas.microsoft.com/office/drawing/2014/main" id="{BE8AC55E-ED29-4487-A92A-6594BCD5DA28}"/>
              </a:ext>
            </a:extLst>
          </p:cNvPr>
          <p:cNvSpPr/>
          <p:nvPr/>
        </p:nvSpPr>
        <p:spPr>
          <a:xfrm>
            <a:off x="11216012" y="4811863"/>
            <a:ext cx="275576" cy="275143"/>
          </a:xfrm>
          <a:prstGeom prst="plus">
            <a:avLst>
              <a:gd name="adj" fmla="val 4486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59AADD3F-6CDF-46C6-95A8-8439B8C7A420}"/>
              </a:ext>
            </a:extLst>
          </p:cNvPr>
          <p:cNvCxnSpPr>
            <a:cxnSpLocks/>
          </p:cNvCxnSpPr>
          <p:nvPr/>
        </p:nvCxnSpPr>
        <p:spPr>
          <a:xfrm flipH="1">
            <a:off x="9200470" y="5024409"/>
            <a:ext cx="1303589" cy="53819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66" name="Slide Number Placeholder 65">
            <a:extLst>
              <a:ext uri="{FF2B5EF4-FFF2-40B4-BE49-F238E27FC236}">
                <a16:creationId xmlns:a16="http://schemas.microsoft.com/office/drawing/2014/main" id="{4C88C5F7-5295-4E01-B64C-B35BA61C53D8}"/>
              </a:ext>
            </a:extLst>
          </p:cNvPr>
          <p:cNvSpPr>
            <a:spLocks noGrp="1"/>
          </p:cNvSpPr>
          <p:nvPr>
            <p:ph type="sldNum" sz="quarter" idx="12"/>
          </p:nvPr>
        </p:nvSpPr>
        <p:spPr/>
        <p:txBody>
          <a:bodyPr/>
          <a:lstStyle/>
          <a:p>
            <a:fld id="{27C6CCC6-2BE5-4E42-96A4-D1E8E81A3D8E}" type="slidenum">
              <a:rPr lang="fr-FR" smtClean="0"/>
              <a:t>10</a:t>
            </a:fld>
            <a:endParaRPr lang="fr-FR"/>
          </a:p>
        </p:txBody>
      </p:sp>
      <p:sp>
        <p:nvSpPr>
          <p:cNvPr id="69" name="TextBox 68">
            <a:extLst>
              <a:ext uri="{FF2B5EF4-FFF2-40B4-BE49-F238E27FC236}">
                <a16:creationId xmlns:a16="http://schemas.microsoft.com/office/drawing/2014/main" id="{CC930EFE-CD9A-4D1A-B00F-FE5C88C38139}"/>
              </a:ext>
            </a:extLst>
          </p:cNvPr>
          <p:cNvSpPr txBox="1"/>
          <p:nvPr/>
        </p:nvSpPr>
        <p:spPr>
          <a:xfrm>
            <a:off x="838200" y="4487081"/>
            <a:ext cx="7139526" cy="1788375"/>
          </a:xfrm>
          <a:prstGeom prst="rect">
            <a:avLst/>
          </a:prstGeom>
          <a:noFill/>
        </p:spPr>
        <p:txBody>
          <a:bodyPr wrap="square" rtlCol="0">
            <a:spAutoFit/>
          </a:bodyPr>
          <a:lstStyle/>
          <a:p>
            <a:pPr>
              <a:lnSpc>
                <a:spcPct val="70000"/>
              </a:lnSpc>
              <a:spcBef>
                <a:spcPts val="1000"/>
              </a:spcBef>
            </a:pPr>
            <a:r>
              <a:rPr lang="fr-FR" sz="2400" i="1" dirty="0"/>
              <a:t>Q2 : Comment l'</a:t>
            </a:r>
            <a:r>
              <a:rPr lang="fr-FR" sz="2400" b="1" i="1" dirty="0"/>
              <a:t>hétérogénéité</a:t>
            </a:r>
            <a:r>
              <a:rPr lang="fr-FR" sz="2400" i="1" dirty="0"/>
              <a:t> </a:t>
            </a:r>
            <a:r>
              <a:rPr lang="fr-FR" sz="2400" b="1" i="1" dirty="0"/>
              <a:t>spatiale et temporelle </a:t>
            </a:r>
            <a:r>
              <a:rPr lang="fr-FR" sz="2400" i="1" dirty="0"/>
              <a:t>entre les organes et les plantes influence-t-elle des </a:t>
            </a:r>
            <a:r>
              <a:rPr lang="fr-FR" sz="2400" b="1" i="1" dirty="0"/>
              <a:t>processus</a:t>
            </a:r>
            <a:r>
              <a:rPr lang="fr-FR" sz="2400" i="1" dirty="0"/>
              <a:t> comme l’interception de la lumière ?​</a:t>
            </a:r>
          </a:p>
          <a:p>
            <a:pPr marL="228600" indent="-228600">
              <a:lnSpc>
                <a:spcPct val="70000"/>
              </a:lnSpc>
              <a:spcBef>
                <a:spcPts val="1000"/>
              </a:spcBef>
              <a:buFont typeface="Arial" panose="020B0604020202020204" pitchFamily="34" charset="0"/>
              <a:buChar char="•"/>
            </a:pPr>
            <a:r>
              <a:rPr lang="fr-FR" sz="2400" dirty="0"/>
              <a:t>H2 : Des </a:t>
            </a:r>
            <a:r>
              <a:rPr lang="fr-FR" sz="2400" b="1" dirty="0"/>
              <a:t>traits architecturaux </a:t>
            </a:r>
            <a:r>
              <a:rPr lang="fr-FR" sz="2400" dirty="0"/>
              <a:t>(G), les </a:t>
            </a:r>
            <a:r>
              <a:rPr lang="fr-FR" sz="2400" b="1" dirty="0"/>
              <a:t>dates de semis </a:t>
            </a:r>
            <a:r>
              <a:rPr lang="fr-FR" sz="2400" dirty="0"/>
              <a:t>et l’</a:t>
            </a:r>
            <a:r>
              <a:rPr lang="fr-FR" sz="2400" b="1" dirty="0"/>
              <a:t>arrangement spatial </a:t>
            </a:r>
            <a:r>
              <a:rPr lang="fr-FR" sz="2400" dirty="0"/>
              <a:t>(M) influencent les dynamiques d’ombrage.</a:t>
            </a:r>
            <a:endParaRPr lang="en-US" sz="2400" dirty="0"/>
          </a:p>
        </p:txBody>
      </p:sp>
      <p:pic>
        <p:nvPicPr>
          <p:cNvPr id="70" name="Picture 69">
            <a:extLst>
              <a:ext uri="{FF2B5EF4-FFF2-40B4-BE49-F238E27FC236}">
                <a16:creationId xmlns:a16="http://schemas.microsoft.com/office/drawing/2014/main" id="{CB34E88F-4FC9-4A94-98C7-1E46C0F46D10}"/>
              </a:ext>
            </a:extLst>
          </p:cNvPr>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46171" y="2023445"/>
            <a:ext cx="957888" cy="745024"/>
          </a:xfrm>
          <a:prstGeom prst="rect">
            <a:avLst/>
          </a:prstGeom>
        </p:spPr>
      </p:pic>
    </p:spTree>
    <p:extLst>
      <p:ext uri="{BB962C8B-B14F-4D97-AF65-F5344CB8AC3E}">
        <p14:creationId xmlns:p14="http://schemas.microsoft.com/office/powerpoint/2010/main" val="172970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68" grpId="0" animBg="1"/>
      <p:bldP spid="3" grpId="0" build="p"/>
      <p:bldP spid="5" grpId="0" animBg="1"/>
      <p:bldP spid="6" grpId="0" animBg="1"/>
      <p:bldP spid="17" grpId="0" animBg="1"/>
      <p:bldP spid="18" grpId="0" animBg="1"/>
      <p:bldP spid="20" grpId="0" animBg="1"/>
      <p:bldP spid="21" grpId="0" animBg="1"/>
      <p:bldP spid="57" grpId="0" animBg="1"/>
      <p:bldP spid="6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B3475-3ED7-4576-993B-7543A9FFF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4746" y="1230185"/>
            <a:ext cx="2649859" cy="3139900"/>
          </a:xfrm>
          <a:prstGeom prst="rect">
            <a:avLst/>
          </a:prstGeom>
        </p:spPr>
      </p:pic>
      <p:sp>
        <p:nvSpPr>
          <p:cNvPr id="20" name="Rectangle: Rounded Corners 19">
            <a:extLst>
              <a:ext uri="{FF2B5EF4-FFF2-40B4-BE49-F238E27FC236}">
                <a16:creationId xmlns:a16="http://schemas.microsoft.com/office/drawing/2014/main" id="{0CC33863-B2B6-497F-9BAC-3109C3B0122C}"/>
              </a:ext>
            </a:extLst>
          </p:cNvPr>
          <p:cNvSpPr/>
          <p:nvPr/>
        </p:nvSpPr>
        <p:spPr>
          <a:xfrm>
            <a:off x="708289" y="4311373"/>
            <a:ext cx="7476133" cy="213979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A165B4CA-5167-4CE9-9AED-8FDE59397A34}"/>
              </a:ext>
            </a:extLst>
          </p:cNvPr>
          <p:cNvSpPr/>
          <p:nvPr/>
        </p:nvSpPr>
        <p:spPr>
          <a:xfrm>
            <a:off x="741200" y="1732018"/>
            <a:ext cx="7476133" cy="213979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745214-D205-460D-823E-A515D1A0D470}"/>
              </a:ext>
            </a:extLst>
          </p:cNvPr>
          <p:cNvSpPr>
            <a:spLocks noGrp="1"/>
          </p:cNvSpPr>
          <p:nvPr>
            <p:ph type="title"/>
          </p:nvPr>
        </p:nvSpPr>
        <p:spPr/>
        <p:txBody>
          <a:bodyPr>
            <a:normAutofit/>
          </a:bodyPr>
          <a:lstStyle/>
          <a:p>
            <a:r>
              <a:rPr lang="fr-FR" sz="3600" dirty="0">
                <a:solidFill>
                  <a:schemeClr val="tx1">
                    <a:lumMod val="65000"/>
                    <a:lumOff val="35000"/>
                  </a:schemeClr>
                </a:solidFill>
              </a:rPr>
              <a:t>Chapitre II : Méthode de comparaison des processus d’acquisition des ressources à différentes échelles</a:t>
            </a:r>
            <a:endParaRPr lang="en-US" sz="3600" dirty="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9C861150-4CF0-41D0-ADF7-0EB3837AB0F2}"/>
              </a:ext>
            </a:extLst>
          </p:cNvPr>
          <p:cNvSpPr>
            <a:spLocks noGrp="1"/>
          </p:cNvSpPr>
          <p:nvPr>
            <p:ph idx="1"/>
          </p:nvPr>
        </p:nvSpPr>
        <p:spPr>
          <a:xfrm>
            <a:off x="941030" y="1957783"/>
            <a:ext cx="7148404" cy="1688262"/>
          </a:xfrm>
        </p:spPr>
        <p:txBody>
          <a:bodyPr>
            <a:normAutofit fontScale="92500" lnSpcReduction="10000"/>
          </a:bodyPr>
          <a:lstStyle/>
          <a:p>
            <a:pPr marL="0" indent="0">
              <a:buNone/>
            </a:pPr>
            <a:r>
              <a:rPr lang="fr-FR" sz="2600" i="1" dirty="0"/>
              <a:t>Q1 : En quoi la </a:t>
            </a:r>
            <a:r>
              <a:rPr lang="fr-FR" sz="2600" b="1" i="1" dirty="0"/>
              <a:t>prise en compte de l'architecture des plantes </a:t>
            </a:r>
            <a:r>
              <a:rPr lang="fr-FR" sz="2600" i="1" dirty="0"/>
              <a:t>peut-elle être intéressante pour la modélisation des cultures associées ?​</a:t>
            </a:r>
          </a:p>
          <a:p>
            <a:r>
              <a:rPr lang="fr-FR" sz="2600" dirty="0"/>
              <a:t>H1 : Permet de mieux représenter les interactions plante-plante pour l'acquisition des ressources​.</a:t>
            </a:r>
          </a:p>
          <a:p>
            <a:endParaRPr lang="fr-FR" dirty="0"/>
          </a:p>
          <a:p>
            <a:endParaRPr lang="fr-FR" dirty="0"/>
          </a:p>
          <a:p>
            <a:pPr marL="0" indent="0">
              <a:buNone/>
            </a:pPr>
            <a:endParaRPr lang="fr-FR" dirty="0"/>
          </a:p>
        </p:txBody>
      </p:sp>
      <p:cxnSp>
        <p:nvCxnSpPr>
          <p:cNvPr id="11" name="Straight Arrow Connector 10">
            <a:extLst>
              <a:ext uri="{FF2B5EF4-FFF2-40B4-BE49-F238E27FC236}">
                <a16:creationId xmlns:a16="http://schemas.microsoft.com/office/drawing/2014/main" id="{6326A624-8EE5-4A1D-8067-364321AACB43}"/>
              </a:ext>
            </a:extLst>
          </p:cNvPr>
          <p:cNvCxnSpPr/>
          <p:nvPr/>
        </p:nvCxnSpPr>
        <p:spPr>
          <a:xfrm>
            <a:off x="9758742" y="3340226"/>
            <a:ext cx="411032" cy="0"/>
          </a:xfrm>
          <a:prstGeom prst="straightConnector1">
            <a:avLst/>
          </a:prstGeom>
          <a:ln w="38100">
            <a:solidFill>
              <a:srgbClr val="C28745"/>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2D8C71B5-7108-492B-8DBB-29EFF16EB1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6013" t="7778" r="4814"/>
          <a:stretch/>
        </p:blipFill>
        <p:spPr>
          <a:xfrm>
            <a:off x="10416204" y="3884535"/>
            <a:ext cx="893633" cy="1644552"/>
          </a:xfrm>
          <a:prstGeom prst="rect">
            <a:avLst/>
          </a:prstGeom>
        </p:spPr>
      </p:pic>
      <p:pic>
        <p:nvPicPr>
          <p:cNvPr id="15" name="Image 28" descr="Une image contenant légume, Tige, plante&#10;&#10;Description générée automatiquement">
            <a:extLst>
              <a:ext uri="{FF2B5EF4-FFF2-40B4-BE49-F238E27FC236}">
                <a16:creationId xmlns:a16="http://schemas.microsoft.com/office/drawing/2014/main" id="{83B9469B-C771-4A76-9FC5-C70985CA1054}"/>
              </a:ext>
            </a:extLst>
          </p:cNvPr>
          <p:cNvPicPr>
            <a:picLocks noChangeAspect="1"/>
          </p:cNvPicPr>
          <p:nvPr/>
        </p:nvPicPr>
        <p:blipFill>
          <a:blip r:embed="rId4"/>
          <a:stretch>
            <a:fillRect/>
          </a:stretch>
        </p:blipFill>
        <p:spPr>
          <a:xfrm>
            <a:off x="8510582" y="2295709"/>
            <a:ext cx="961238" cy="2765126"/>
          </a:xfrm>
          <a:prstGeom prst="rect">
            <a:avLst/>
          </a:prstGeom>
        </p:spPr>
      </p:pic>
      <p:cxnSp>
        <p:nvCxnSpPr>
          <p:cNvPr id="16" name="Straight Arrow Connector 15">
            <a:extLst>
              <a:ext uri="{FF2B5EF4-FFF2-40B4-BE49-F238E27FC236}">
                <a16:creationId xmlns:a16="http://schemas.microsoft.com/office/drawing/2014/main" id="{57578015-DFEC-44AF-B505-E35AA10F51FB}"/>
              </a:ext>
            </a:extLst>
          </p:cNvPr>
          <p:cNvCxnSpPr/>
          <p:nvPr/>
        </p:nvCxnSpPr>
        <p:spPr>
          <a:xfrm>
            <a:off x="9775371" y="4436533"/>
            <a:ext cx="411032" cy="0"/>
          </a:xfrm>
          <a:prstGeom prst="straightConnector1">
            <a:avLst/>
          </a:prstGeom>
          <a:ln w="38100">
            <a:solidFill>
              <a:srgbClr val="C2874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B2AC06B-70AA-4C78-9640-411F5127F3AC}"/>
              </a:ext>
            </a:extLst>
          </p:cNvPr>
          <p:cNvSpPr txBox="1"/>
          <p:nvPr/>
        </p:nvSpPr>
        <p:spPr>
          <a:xfrm>
            <a:off x="10207703" y="5492726"/>
            <a:ext cx="1851164" cy="215444"/>
          </a:xfrm>
          <a:prstGeom prst="rect">
            <a:avLst/>
          </a:prstGeom>
          <a:noFill/>
        </p:spPr>
        <p:txBody>
          <a:bodyPr wrap="square" rtlCol="0">
            <a:spAutoFit/>
          </a:bodyPr>
          <a:lstStyle/>
          <a:p>
            <a:r>
              <a:rPr lang="fr-FR" sz="800" dirty="0"/>
              <a:t>(source : </a:t>
            </a:r>
            <a:r>
              <a:rPr lang="fr-FR" sz="800" dirty="0" err="1"/>
              <a:t>Dunbabin</a:t>
            </a:r>
            <a:r>
              <a:rPr lang="fr-FR" sz="800" dirty="0"/>
              <a:t> et al., 2013)</a:t>
            </a:r>
            <a:endParaRPr lang="en-US" sz="800" dirty="0"/>
          </a:p>
        </p:txBody>
      </p:sp>
      <p:sp>
        <p:nvSpPr>
          <p:cNvPr id="18" name="Slide Number Placeholder 17">
            <a:extLst>
              <a:ext uri="{FF2B5EF4-FFF2-40B4-BE49-F238E27FC236}">
                <a16:creationId xmlns:a16="http://schemas.microsoft.com/office/drawing/2014/main" id="{117A0097-ACA9-48F2-B653-657007F261C6}"/>
              </a:ext>
            </a:extLst>
          </p:cNvPr>
          <p:cNvSpPr>
            <a:spLocks noGrp="1"/>
          </p:cNvSpPr>
          <p:nvPr>
            <p:ph type="sldNum" sz="quarter" idx="12"/>
          </p:nvPr>
        </p:nvSpPr>
        <p:spPr/>
        <p:txBody>
          <a:bodyPr/>
          <a:lstStyle/>
          <a:p>
            <a:fld id="{27C6CCC6-2BE5-4E42-96A4-D1E8E81A3D8E}" type="slidenum">
              <a:rPr lang="fr-FR" smtClean="0"/>
              <a:t>11</a:t>
            </a:fld>
            <a:endParaRPr lang="fr-FR"/>
          </a:p>
        </p:txBody>
      </p:sp>
      <p:sp>
        <p:nvSpPr>
          <p:cNvPr id="21" name="TextBox 20">
            <a:extLst>
              <a:ext uri="{FF2B5EF4-FFF2-40B4-BE49-F238E27FC236}">
                <a16:creationId xmlns:a16="http://schemas.microsoft.com/office/drawing/2014/main" id="{A6F7CEEC-29B3-46B3-A667-B2C2D3A6A7E6}"/>
              </a:ext>
            </a:extLst>
          </p:cNvPr>
          <p:cNvSpPr txBox="1"/>
          <p:nvPr/>
        </p:nvSpPr>
        <p:spPr>
          <a:xfrm>
            <a:off x="908655" y="4606185"/>
            <a:ext cx="7213154" cy="1550168"/>
          </a:xfrm>
          <a:prstGeom prst="rect">
            <a:avLst/>
          </a:prstGeom>
          <a:noFill/>
        </p:spPr>
        <p:txBody>
          <a:bodyPr wrap="square" rtlCol="0">
            <a:spAutoFit/>
          </a:bodyPr>
          <a:lstStyle/>
          <a:p>
            <a:pPr lvl="0">
              <a:lnSpc>
                <a:spcPct val="90000"/>
              </a:lnSpc>
              <a:spcBef>
                <a:spcPts val="1000"/>
              </a:spcBef>
            </a:pPr>
            <a:r>
              <a:rPr lang="fr-FR" sz="2400" i="1" dirty="0">
                <a:solidFill>
                  <a:prstClr val="black"/>
                </a:solidFill>
              </a:rPr>
              <a:t>Q2 : Quels sont les </a:t>
            </a:r>
            <a:r>
              <a:rPr lang="fr-FR" sz="2400" b="1" i="1" dirty="0">
                <a:solidFill>
                  <a:prstClr val="black"/>
                </a:solidFill>
              </a:rPr>
              <a:t>critères de comparaison des modèles </a:t>
            </a:r>
            <a:r>
              <a:rPr lang="fr-FR" sz="2400" i="1" dirty="0">
                <a:solidFill>
                  <a:prstClr val="black"/>
                </a:solidFill>
              </a:rPr>
              <a:t>à différentes échelles pour les cultures associées ?​</a:t>
            </a:r>
          </a:p>
          <a:p>
            <a:pPr marL="228600" lvl="0" indent="-228600">
              <a:lnSpc>
                <a:spcPct val="90000"/>
              </a:lnSpc>
              <a:spcBef>
                <a:spcPts val="1000"/>
              </a:spcBef>
              <a:buFont typeface="Arial" panose="020B0604020202020204" pitchFamily="34" charset="0"/>
              <a:buChar char="•"/>
            </a:pPr>
            <a:r>
              <a:rPr lang="fr-FR" sz="2400" dirty="0">
                <a:solidFill>
                  <a:prstClr val="black"/>
                </a:solidFill>
              </a:rPr>
              <a:t>H2 : La variabilité de la réponse des plantes aux interactions plante-plante​, à l’échelle de l’organe.</a:t>
            </a:r>
          </a:p>
        </p:txBody>
      </p:sp>
    </p:spTree>
    <p:extLst>
      <p:ext uri="{BB962C8B-B14F-4D97-AF65-F5344CB8AC3E}">
        <p14:creationId xmlns:p14="http://schemas.microsoft.com/office/powerpoint/2010/main" val="14429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3" grpId="0" build="p"/>
      <p:bldP spid="17"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2194452-45C3-4C48-BADD-7EE9B0A29D8A}"/>
              </a:ext>
            </a:extLst>
          </p:cNvPr>
          <p:cNvSpPr/>
          <p:nvPr/>
        </p:nvSpPr>
        <p:spPr>
          <a:xfrm>
            <a:off x="741925" y="1778048"/>
            <a:ext cx="7476133" cy="213979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447C5D-F899-4001-9832-CEE3E574EA59}"/>
              </a:ext>
            </a:extLst>
          </p:cNvPr>
          <p:cNvSpPr>
            <a:spLocks noGrp="1"/>
          </p:cNvSpPr>
          <p:nvPr>
            <p:ph type="title"/>
          </p:nvPr>
        </p:nvSpPr>
        <p:spPr/>
        <p:txBody>
          <a:bodyPr>
            <a:normAutofit/>
          </a:bodyPr>
          <a:lstStyle/>
          <a:p>
            <a:pPr marL="0" indent="0"/>
            <a:r>
              <a:rPr lang="fr-FR" sz="3600" dirty="0">
                <a:solidFill>
                  <a:schemeClr val="tx1">
                    <a:lumMod val="65000"/>
                    <a:lumOff val="35000"/>
                  </a:schemeClr>
                </a:solidFill>
              </a:rPr>
              <a:t>Chapitre III : Proposition d'approches de modélisation multi-échelles</a:t>
            </a:r>
            <a:endParaRPr lang="en-US" sz="3600" dirty="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6BCF50A2-E12E-4657-AABB-593572809587}"/>
              </a:ext>
            </a:extLst>
          </p:cNvPr>
          <p:cNvSpPr>
            <a:spLocks noGrp="1"/>
          </p:cNvSpPr>
          <p:nvPr>
            <p:ph idx="1"/>
          </p:nvPr>
        </p:nvSpPr>
        <p:spPr>
          <a:xfrm>
            <a:off x="879352" y="2031545"/>
            <a:ext cx="7201277" cy="1632798"/>
          </a:xfrm>
        </p:spPr>
        <p:txBody>
          <a:bodyPr/>
          <a:lstStyle/>
          <a:p>
            <a:pPr marL="0" indent="0" fontAlgn="base">
              <a:buNone/>
            </a:pPr>
            <a:r>
              <a:rPr lang="fr-FR" sz="2400" i="1" dirty="0"/>
              <a:t>Q1 : Comment </a:t>
            </a:r>
            <a:r>
              <a:rPr lang="fr-FR" sz="2400" b="1" i="1" dirty="0"/>
              <a:t>améliorer la précision des modèles de culture</a:t>
            </a:r>
            <a:r>
              <a:rPr lang="fr-FR" sz="2400" i="1" dirty="0"/>
              <a:t>, au regard des analyses précédentes ?​</a:t>
            </a:r>
          </a:p>
          <a:p>
            <a:pPr fontAlgn="base"/>
            <a:r>
              <a:rPr lang="fr-FR" sz="2400" dirty="0"/>
              <a:t>H1 : Avec des approches multi-échelles qui peuvent permettre de trouver de nouveaux formalismes </a:t>
            </a:r>
            <a:endParaRPr lang="fr-FR" dirty="0"/>
          </a:p>
        </p:txBody>
      </p:sp>
      <p:sp>
        <p:nvSpPr>
          <p:cNvPr id="4" name="Slide Number Placeholder 3">
            <a:extLst>
              <a:ext uri="{FF2B5EF4-FFF2-40B4-BE49-F238E27FC236}">
                <a16:creationId xmlns:a16="http://schemas.microsoft.com/office/drawing/2014/main" id="{42893C46-584E-4010-A790-3D812B99024E}"/>
              </a:ext>
            </a:extLst>
          </p:cNvPr>
          <p:cNvSpPr>
            <a:spLocks noGrp="1"/>
          </p:cNvSpPr>
          <p:nvPr>
            <p:ph type="sldNum" sz="quarter" idx="12"/>
          </p:nvPr>
        </p:nvSpPr>
        <p:spPr/>
        <p:txBody>
          <a:bodyPr/>
          <a:lstStyle/>
          <a:p>
            <a:fld id="{27C6CCC6-2BE5-4E42-96A4-D1E8E81A3D8E}" type="slidenum">
              <a:rPr lang="fr-FR" smtClean="0"/>
              <a:t>12</a:t>
            </a:fld>
            <a:endParaRPr lang="fr-FR"/>
          </a:p>
        </p:txBody>
      </p:sp>
    </p:spTree>
    <p:extLst>
      <p:ext uri="{BB962C8B-B14F-4D97-AF65-F5344CB8AC3E}">
        <p14:creationId xmlns:p14="http://schemas.microsoft.com/office/powerpoint/2010/main" val="6004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912CE24-5697-4C9B-807D-6977CA5F3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7191" y="2765458"/>
            <a:ext cx="3824809" cy="2473501"/>
          </a:xfrm>
          <a:prstGeom prst="rect">
            <a:avLst/>
          </a:prstGeom>
        </p:spPr>
      </p:pic>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38200" y="365125"/>
            <a:ext cx="10515600" cy="1243941"/>
          </a:xfrm>
        </p:spPr>
        <p:txBody>
          <a:bodyPr>
            <a:normAutofit/>
          </a:bodyPr>
          <a:lstStyle/>
          <a:p>
            <a:r>
              <a:rPr lang="fr-FR" sz="3600" dirty="0"/>
              <a:t>Chapitre I :</a:t>
            </a:r>
            <a:br>
              <a:rPr lang="fr-FR" sz="3600" dirty="0"/>
            </a:br>
            <a:r>
              <a:rPr lang="fr-FR" sz="2800" dirty="0"/>
              <a:t>Modèle </a:t>
            </a:r>
            <a:r>
              <a:rPr lang="fr-FR" sz="2800" dirty="0" err="1"/>
              <a:t>ArchiCrop</a:t>
            </a:r>
            <a:endParaRPr lang="en-US" sz="2800" dirty="0"/>
          </a:p>
        </p:txBody>
      </p:sp>
      <p:sp>
        <p:nvSpPr>
          <p:cNvPr id="4" name="Content Placeholder 8">
            <a:extLst>
              <a:ext uri="{FF2B5EF4-FFF2-40B4-BE49-F238E27FC236}">
                <a16:creationId xmlns:a16="http://schemas.microsoft.com/office/drawing/2014/main" id="{41DC497A-1332-4E6A-8D52-2F25F570365E}"/>
              </a:ext>
            </a:extLst>
          </p:cNvPr>
          <p:cNvSpPr txBox="1">
            <a:spLocks/>
          </p:cNvSpPr>
          <p:nvPr/>
        </p:nvSpPr>
        <p:spPr>
          <a:xfrm>
            <a:off x="3062367" y="1828794"/>
            <a:ext cx="5978586" cy="10042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err="1"/>
              <a:t>Modèle</a:t>
            </a:r>
            <a:r>
              <a:rPr lang="en-US" sz="2400" dirty="0"/>
              <a:t> </a:t>
            </a:r>
            <a:r>
              <a:rPr lang="en-US" sz="2400" dirty="0" err="1"/>
              <a:t>paramétrique</a:t>
            </a:r>
            <a:r>
              <a:rPr lang="en-US" sz="2400" dirty="0"/>
              <a:t> 3D+t architecture</a:t>
            </a:r>
          </a:p>
          <a:p>
            <a:pPr marL="0" indent="0" algn="ctr">
              <a:buNone/>
            </a:pPr>
            <a:r>
              <a:rPr lang="fr-FR" sz="2400" dirty="0"/>
              <a:t>(topologie, géométrie, développement)</a:t>
            </a:r>
          </a:p>
          <a:p>
            <a:pPr algn="ctr"/>
            <a:endParaRPr lang="fr-FR" sz="2400" dirty="0"/>
          </a:p>
          <a:p>
            <a:pPr algn="ctr"/>
            <a:endParaRPr lang="en-US" sz="2400" dirty="0"/>
          </a:p>
          <a:p>
            <a:endParaRPr lang="fr-FR" sz="2400" dirty="0"/>
          </a:p>
          <a:p>
            <a:endParaRPr lang="en-US" sz="2400" dirty="0"/>
          </a:p>
        </p:txBody>
      </p:sp>
      <p:pic>
        <p:nvPicPr>
          <p:cNvPr id="5" name="Picture 4">
            <a:extLst>
              <a:ext uri="{FF2B5EF4-FFF2-40B4-BE49-F238E27FC236}">
                <a16:creationId xmlns:a16="http://schemas.microsoft.com/office/drawing/2014/main" id="{3D79AD46-1C61-41C0-A2DD-70CDDC282A7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29737" y="1701427"/>
            <a:ext cx="3468388" cy="4109800"/>
          </a:xfrm>
          <a:prstGeom prst="rect">
            <a:avLst/>
          </a:prstGeom>
        </p:spPr>
      </p:pic>
      <p:cxnSp>
        <p:nvCxnSpPr>
          <p:cNvPr id="6" name="Straight Connector 5">
            <a:extLst>
              <a:ext uri="{FF2B5EF4-FFF2-40B4-BE49-F238E27FC236}">
                <a16:creationId xmlns:a16="http://schemas.microsoft.com/office/drawing/2014/main" id="{972C75BA-1E2C-48C4-AE4A-A072BE795F23}"/>
              </a:ext>
            </a:extLst>
          </p:cNvPr>
          <p:cNvCxnSpPr>
            <a:cxnSpLocks/>
          </p:cNvCxnSpPr>
          <p:nvPr/>
        </p:nvCxnSpPr>
        <p:spPr>
          <a:xfrm flipV="1">
            <a:off x="2036499" y="2698400"/>
            <a:ext cx="771261" cy="11884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739BB4C-384D-4B14-B336-60B87DD4CD68}"/>
              </a:ext>
            </a:extLst>
          </p:cNvPr>
          <p:cNvCxnSpPr>
            <a:cxnSpLocks/>
          </p:cNvCxnSpPr>
          <p:nvPr/>
        </p:nvCxnSpPr>
        <p:spPr>
          <a:xfrm flipH="1" flipV="1">
            <a:off x="2487720" y="2853848"/>
            <a:ext cx="863407" cy="704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reeform: Shape 7">
            <a:extLst>
              <a:ext uri="{FF2B5EF4-FFF2-40B4-BE49-F238E27FC236}">
                <a16:creationId xmlns:a16="http://schemas.microsoft.com/office/drawing/2014/main" id="{AF47B1E1-C0EB-4744-8D57-918136A57A9D}"/>
              </a:ext>
            </a:extLst>
          </p:cNvPr>
          <p:cNvSpPr/>
          <p:nvPr/>
        </p:nvSpPr>
        <p:spPr>
          <a:xfrm rot="228378">
            <a:off x="2754762" y="2571735"/>
            <a:ext cx="937382" cy="2651760"/>
          </a:xfrm>
          <a:custGeom>
            <a:avLst/>
            <a:gdLst>
              <a:gd name="connsiteX0" fmla="*/ 83975 w 784169"/>
              <a:gd name="connsiteY0" fmla="*/ 0 h 2500604"/>
              <a:gd name="connsiteX1" fmla="*/ 783771 w 784169"/>
              <a:gd name="connsiteY1" fmla="*/ 1045028 h 2500604"/>
              <a:gd name="connsiteX2" fmla="*/ 0 w 784169"/>
              <a:gd name="connsiteY2" fmla="*/ 2500604 h 2500604"/>
              <a:gd name="connsiteX3" fmla="*/ 0 w 784169"/>
              <a:gd name="connsiteY3" fmla="*/ 2500604 h 2500604"/>
            </a:gdLst>
            <a:ahLst/>
            <a:cxnLst>
              <a:cxn ang="0">
                <a:pos x="connsiteX0" y="connsiteY0"/>
              </a:cxn>
              <a:cxn ang="0">
                <a:pos x="connsiteX1" y="connsiteY1"/>
              </a:cxn>
              <a:cxn ang="0">
                <a:pos x="connsiteX2" y="connsiteY2"/>
              </a:cxn>
              <a:cxn ang="0">
                <a:pos x="connsiteX3" y="connsiteY3"/>
              </a:cxn>
            </a:cxnLst>
            <a:rect l="l" t="t" r="r" b="b"/>
            <a:pathLst>
              <a:path w="784169" h="2500604">
                <a:moveTo>
                  <a:pt x="83975" y="0"/>
                </a:moveTo>
                <a:cubicBezTo>
                  <a:pt x="440871" y="314130"/>
                  <a:pt x="797767" y="628261"/>
                  <a:pt x="783771" y="1045028"/>
                </a:cubicBezTo>
                <a:cubicBezTo>
                  <a:pt x="769775" y="1461795"/>
                  <a:pt x="0" y="2500604"/>
                  <a:pt x="0" y="2500604"/>
                </a:cubicBezTo>
                <a:lnTo>
                  <a:pt x="0" y="2500604"/>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1"/>
              </a:solidFill>
            </a:endParaRPr>
          </a:p>
        </p:txBody>
      </p:sp>
      <p:sp>
        <p:nvSpPr>
          <p:cNvPr id="9" name="Arc 8">
            <a:extLst>
              <a:ext uri="{FF2B5EF4-FFF2-40B4-BE49-F238E27FC236}">
                <a16:creationId xmlns:a16="http://schemas.microsoft.com/office/drawing/2014/main" id="{ADB54231-0FA5-4599-BAB0-0A7F9F548BD1}"/>
              </a:ext>
            </a:extLst>
          </p:cNvPr>
          <p:cNvSpPr/>
          <p:nvPr/>
        </p:nvSpPr>
        <p:spPr>
          <a:xfrm rot="18690826">
            <a:off x="1562276" y="3646154"/>
            <a:ext cx="560488" cy="502920"/>
          </a:xfrm>
          <a:prstGeom prst="arc">
            <a:avLst>
              <a:gd name="adj1" fmla="val 17638337"/>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09ECA113-F62B-4B90-997C-7C9852392978}"/>
              </a:ext>
            </a:extLst>
          </p:cNvPr>
          <p:cNvCxnSpPr/>
          <p:nvPr/>
        </p:nvCxnSpPr>
        <p:spPr>
          <a:xfrm>
            <a:off x="788920" y="2552096"/>
            <a:ext cx="0" cy="263347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4246D9D4-5570-4F40-BE30-7014BAA3EA57}"/>
              </a:ext>
            </a:extLst>
          </p:cNvPr>
          <p:cNvSpPr/>
          <p:nvPr/>
        </p:nvSpPr>
        <p:spPr>
          <a:xfrm rot="7300895">
            <a:off x="2394982" y="2676145"/>
            <a:ext cx="560488" cy="502920"/>
          </a:xfrm>
          <a:prstGeom prst="arc">
            <a:avLst>
              <a:gd name="adj1" fmla="val 17638337"/>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065785D-7AA4-4251-BE0E-D4F9375E2CE7}"/>
              </a:ext>
            </a:extLst>
          </p:cNvPr>
          <p:cNvCxnSpPr/>
          <p:nvPr/>
        </p:nvCxnSpPr>
        <p:spPr>
          <a:xfrm>
            <a:off x="6044144" y="2698400"/>
            <a:ext cx="0" cy="65822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17AB6BA-A1BB-4182-B751-BA0F914AC6C7}"/>
              </a:ext>
            </a:extLst>
          </p:cNvPr>
          <p:cNvCxnSpPr/>
          <p:nvPr/>
        </p:nvCxnSpPr>
        <p:spPr>
          <a:xfrm>
            <a:off x="6071737" y="3935910"/>
            <a:ext cx="0" cy="65822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5207851C-5DB3-4244-8B98-0C60E18D0552}"/>
              </a:ext>
            </a:extLst>
          </p:cNvPr>
          <p:cNvCxnSpPr>
            <a:cxnSpLocks/>
          </p:cNvCxnSpPr>
          <p:nvPr/>
        </p:nvCxnSpPr>
        <p:spPr>
          <a:xfrm rot="10800000">
            <a:off x="3036399" y="4987637"/>
            <a:ext cx="403918" cy="353604"/>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1" name="Connector: Curved 30">
            <a:extLst>
              <a:ext uri="{FF2B5EF4-FFF2-40B4-BE49-F238E27FC236}">
                <a16:creationId xmlns:a16="http://schemas.microsoft.com/office/drawing/2014/main" id="{BE5BA974-F68D-4AA7-9E89-99DA42C86B19}"/>
              </a:ext>
            </a:extLst>
          </p:cNvPr>
          <p:cNvCxnSpPr>
            <a:cxnSpLocks/>
          </p:cNvCxnSpPr>
          <p:nvPr/>
        </p:nvCxnSpPr>
        <p:spPr>
          <a:xfrm flipV="1">
            <a:off x="8044873" y="4002209"/>
            <a:ext cx="996080" cy="754518"/>
          </a:xfrm>
          <a:prstGeom prst="curvedConnector3">
            <a:avLst>
              <a:gd name="adj1" fmla="val -1000"/>
            </a:avLst>
          </a:prstGeom>
          <a:ln>
            <a:tailEnd type="triangle"/>
          </a:ln>
        </p:spPr>
        <p:style>
          <a:lnRef idx="2">
            <a:schemeClr val="dk1"/>
          </a:lnRef>
          <a:fillRef idx="0">
            <a:schemeClr val="dk1"/>
          </a:fillRef>
          <a:effectRef idx="1">
            <a:schemeClr val="dk1"/>
          </a:effectRef>
          <a:fontRef idx="minor">
            <a:schemeClr val="tx1"/>
          </a:fontRef>
        </p:style>
      </p:cxnSp>
      <p:sp>
        <p:nvSpPr>
          <p:cNvPr id="35" name="Arrow: Curved Up 34">
            <a:extLst>
              <a:ext uri="{FF2B5EF4-FFF2-40B4-BE49-F238E27FC236}">
                <a16:creationId xmlns:a16="http://schemas.microsoft.com/office/drawing/2014/main" id="{9C2DC426-BEE6-4E1B-8C12-0647B9E867FA}"/>
              </a:ext>
            </a:extLst>
          </p:cNvPr>
          <p:cNvSpPr/>
          <p:nvPr/>
        </p:nvSpPr>
        <p:spPr>
          <a:xfrm rot="20289679">
            <a:off x="1866018" y="4550781"/>
            <a:ext cx="406501" cy="204752"/>
          </a:xfrm>
          <a:prstGeom prst="curvedUpArrow">
            <a:avLst>
              <a:gd name="adj1" fmla="val 0"/>
              <a:gd name="adj2" fmla="val 14674"/>
              <a:gd name="adj3" fmla="val 1330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6" name="Slide Number Placeholder 35">
            <a:extLst>
              <a:ext uri="{FF2B5EF4-FFF2-40B4-BE49-F238E27FC236}">
                <a16:creationId xmlns:a16="http://schemas.microsoft.com/office/drawing/2014/main" id="{72F7F9DB-4A27-4E7B-B1BB-E8B0AC069E64}"/>
              </a:ext>
            </a:extLst>
          </p:cNvPr>
          <p:cNvSpPr>
            <a:spLocks noGrp="1"/>
          </p:cNvSpPr>
          <p:nvPr>
            <p:ph type="sldNum" sz="quarter" idx="12"/>
          </p:nvPr>
        </p:nvSpPr>
        <p:spPr/>
        <p:txBody>
          <a:bodyPr/>
          <a:lstStyle/>
          <a:p>
            <a:fld id="{27C6CCC6-2BE5-4E42-96A4-D1E8E81A3D8E}" type="slidenum">
              <a:rPr lang="fr-FR" smtClean="0"/>
              <a:t>13</a:t>
            </a:fld>
            <a:endParaRPr lang="fr-FR"/>
          </a:p>
        </p:txBody>
      </p:sp>
      <p:sp>
        <p:nvSpPr>
          <p:cNvPr id="37" name="TextBox 36">
            <a:extLst>
              <a:ext uri="{FF2B5EF4-FFF2-40B4-BE49-F238E27FC236}">
                <a16:creationId xmlns:a16="http://schemas.microsoft.com/office/drawing/2014/main" id="{941CFB15-F5D2-48C0-926D-0B650621A026}"/>
              </a:ext>
            </a:extLst>
          </p:cNvPr>
          <p:cNvSpPr txBox="1"/>
          <p:nvPr/>
        </p:nvSpPr>
        <p:spPr>
          <a:xfrm>
            <a:off x="3306030" y="4725584"/>
            <a:ext cx="5491260" cy="1200329"/>
          </a:xfrm>
          <a:prstGeom prst="rect">
            <a:avLst/>
          </a:prstGeom>
          <a:noFill/>
        </p:spPr>
        <p:txBody>
          <a:bodyPr wrap="square" rtlCol="0">
            <a:spAutoFit/>
          </a:bodyPr>
          <a:lstStyle/>
          <a:p>
            <a:pPr lvl="0" algn="ctr"/>
            <a:r>
              <a:rPr lang="en-US" sz="2400">
                <a:solidFill>
                  <a:prstClr val="black"/>
                </a:solidFill>
              </a:rPr>
              <a:t>Mais la considération d’aspects </a:t>
            </a:r>
            <a:r>
              <a:rPr lang="en-US" sz="2400" b="1">
                <a:solidFill>
                  <a:prstClr val="black"/>
                </a:solidFill>
              </a:rPr>
              <a:t>spatiaux et structuraux </a:t>
            </a:r>
            <a:r>
              <a:rPr lang="en-US" sz="2400">
                <a:solidFill>
                  <a:prstClr val="black"/>
                </a:solidFill>
              </a:rPr>
              <a:t>ajoute des </a:t>
            </a:r>
            <a:r>
              <a:rPr lang="en-US" sz="2400" b="1">
                <a:solidFill>
                  <a:prstClr val="black"/>
                </a:solidFill>
              </a:rPr>
              <a:t>degrés de liberté </a:t>
            </a:r>
            <a:r>
              <a:rPr lang="en-US" sz="2400">
                <a:solidFill>
                  <a:prstClr val="black"/>
                </a:solidFill>
              </a:rPr>
              <a:t>et permet de créer de la </a:t>
            </a:r>
            <a:r>
              <a:rPr lang="en-US" sz="2400" b="1">
                <a:solidFill>
                  <a:prstClr val="black"/>
                </a:solidFill>
              </a:rPr>
              <a:t>variabilité</a:t>
            </a:r>
            <a:r>
              <a:rPr lang="en-US" sz="2400">
                <a:solidFill>
                  <a:prstClr val="black"/>
                </a:solidFill>
              </a:rPr>
              <a:t> </a:t>
            </a:r>
            <a:endParaRPr lang="en-US" sz="2400" dirty="0">
              <a:solidFill>
                <a:prstClr val="black"/>
              </a:solidFill>
            </a:endParaRPr>
          </a:p>
        </p:txBody>
      </p:sp>
      <p:sp>
        <p:nvSpPr>
          <p:cNvPr id="39" name="TextBox 38">
            <a:extLst>
              <a:ext uri="{FF2B5EF4-FFF2-40B4-BE49-F238E27FC236}">
                <a16:creationId xmlns:a16="http://schemas.microsoft.com/office/drawing/2014/main" id="{40035215-607B-4940-BB71-CCA60F71A55D}"/>
              </a:ext>
            </a:extLst>
          </p:cNvPr>
          <p:cNvSpPr txBox="1"/>
          <p:nvPr/>
        </p:nvSpPr>
        <p:spPr>
          <a:xfrm>
            <a:off x="3686096" y="3417447"/>
            <a:ext cx="4731127" cy="461665"/>
          </a:xfrm>
          <a:prstGeom prst="rect">
            <a:avLst/>
          </a:prstGeom>
          <a:noFill/>
        </p:spPr>
        <p:txBody>
          <a:bodyPr wrap="square" rtlCol="0">
            <a:spAutoFit/>
          </a:bodyPr>
          <a:lstStyle/>
          <a:p>
            <a:pPr lvl="0" algn="ctr"/>
            <a:r>
              <a:rPr lang="fr-FR" sz="2400">
                <a:solidFill>
                  <a:prstClr val="black"/>
                </a:solidFill>
              </a:rPr>
              <a:t>Contraint par un modèle de culture</a:t>
            </a:r>
            <a:endParaRPr lang="fr-FR" sz="2400" dirty="0">
              <a:solidFill>
                <a:prstClr val="black"/>
              </a:solidFill>
            </a:endParaRPr>
          </a:p>
        </p:txBody>
      </p:sp>
    </p:spTree>
    <p:extLst>
      <p:ext uri="{BB962C8B-B14F-4D97-AF65-F5344CB8AC3E}">
        <p14:creationId xmlns:p14="http://schemas.microsoft.com/office/powerpoint/2010/main" val="320423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1" grpId="0" animBg="1"/>
      <p:bldP spid="35" grpId="0" animBg="1"/>
      <p:bldP spid="37" grpId="0"/>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5B8419BE-1BD5-4F25-9C32-BE44A01A1B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42761"/>
            <a:ext cx="7146956" cy="4870743"/>
          </a:xfrm>
          <a:prstGeom prst="rect">
            <a:avLst/>
          </a:prstGeom>
        </p:spPr>
      </p:pic>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38200" y="365126"/>
            <a:ext cx="10515600" cy="984232"/>
          </a:xfrm>
        </p:spPr>
        <p:txBody>
          <a:bodyPr>
            <a:normAutofit fontScale="90000"/>
          </a:bodyPr>
          <a:lstStyle/>
          <a:p>
            <a:r>
              <a:rPr lang="fr-FR" sz="4000" dirty="0"/>
              <a:t>Chapitre I :</a:t>
            </a:r>
            <a:br>
              <a:rPr lang="fr-FR" sz="3600" dirty="0"/>
            </a:br>
            <a:r>
              <a:rPr lang="fr-FR" sz="3100" dirty="0"/>
              <a:t>Contraindre la croissance par l’évolution temporelle du LAI</a:t>
            </a:r>
            <a:endParaRPr lang="en-US" sz="3100" dirty="0"/>
          </a:p>
        </p:txBody>
      </p:sp>
      <p:sp>
        <p:nvSpPr>
          <p:cNvPr id="3" name="Content Placeholder 2">
            <a:extLst>
              <a:ext uri="{FF2B5EF4-FFF2-40B4-BE49-F238E27FC236}">
                <a16:creationId xmlns:a16="http://schemas.microsoft.com/office/drawing/2014/main" id="{357A093A-1D8D-4836-8E02-6EFCC6E8D13C}"/>
              </a:ext>
            </a:extLst>
          </p:cNvPr>
          <p:cNvSpPr>
            <a:spLocks noGrp="1"/>
          </p:cNvSpPr>
          <p:nvPr>
            <p:ph idx="1"/>
          </p:nvPr>
        </p:nvSpPr>
        <p:spPr>
          <a:xfrm>
            <a:off x="8284651" y="2152169"/>
            <a:ext cx="3455963" cy="1609661"/>
          </a:xfrm>
        </p:spPr>
        <p:txBody>
          <a:bodyPr>
            <a:normAutofit/>
          </a:bodyPr>
          <a:lstStyle/>
          <a:p>
            <a:pPr marL="0" indent="0">
              <a:buNone/>
            </a:pPr>
            <a:r>
              <a:rPr lang="fr-FR" sz="2000" dirty="0"/>
              <a:t>Comment distribuer une variable temporelle intégrative sur n éléments en croissance ?</a:t>
            </a:r>
          </a:p>
        </p:txBody>
      </p:sp>
      <p:pic>
        <p:nvPicPr>
          <p:cNvPr id="5" name="Picture 4">
            <a:extLst>
              <a:ext uri="{FF2B5EF4-FFF2-40B4-BE49-F238E27FC236}">
                <a16:creationId xmlns:a16="http://schemas.microsoft.com/office/drawing/2014/main" id="{570C9826-3F92-4266-BF88-D88B1BD424EF}"/>
              </a:ext>
            </a:extLst>
          </p:cNvPr>
          <p:cNvPicPr>
            <a:picLocks noChangeAspect="1"/>
          </p:cNvPicPr>
          <p:nvPr/>
        </p:nvPicPr>
        <p:blipFill>
          <a:blip r:embed="rId4">
            <a:clrChange>
              <a:clrFrom>
                <a:srgbClr val="FFFFFF"/>
              </a:clrFrom>
              <a:clrTo>
                <a:srgbClr val="FFFFFF">
                  <a:alpha val="0"/>
                </a:srgbClr>
              </a:clrTo>
            </a:clrChange>
          </a:blip>
          <a:stretch>
            <a:fillRect/>
          </a:stretch>
        </p:blipFill>
        <p:spPr>
          <a:xfrm rot="21404812">
            <a:off x="4720059" y="3260145"/>
            <a:ext cx="3585213" cy="2942910"/>
          </a:xfrm>
          <a:prstGeom prst="rect">
            <a:avLst/>
          </a:prstGeom>
        </p:spPr>
      </p:pic>
      <p:cxnSp>
        <p:nvCxnSpPr>
          <p:cNvPr id="7" name="Straight Connector 6">
            <a:extLst>
              <a:ext uri="{FF2B5EF4-FFF2-40B4-BE49-F238E27FC236}">
                <a16:creationId xmlns:a16="http://schemas.microsoft.com/office/drawing/2014/main" id="{4AB019D5-829B-4FD9-AA8A-77680837A39A}"/>
              </a:ext>
            </a:extLst>
          </p:cNvPr>
          <p:cNvCxnSpPr>
            <a:cxnSpLocks/>
          </p:cNvCxnSpPr>
          <p:nvPr/>
        </p:nvCxnSpPr>
        <p:spPr>
          <a:xfrm flipV="1">
            <a:off x="5583173" y="2352041"/>
            <a:ext cx="486961" cy="708011"/>
          </a:xfrm>
          <a:prstGeom prst="line">
            <a:avLst/>
          </a:prstGeom>
          <a:ln w="38100">
            <a:solidFill>
              <a:srgbClr val="F39200"/>
            </a:solidFill>
          </a:ln>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18F614B6-F5C1-4FA7-A0CE-FAB114BF40CC}"/>
              </a:ext>
            </a:extLst>
          </p:cNvPr>
          <p:cNvCxnSpPr>
            <a:cxnSpLocks/>
          </p:cNvCxnSpPr>
          <p:nvPr/>
        </p:nvCxnSpPr>
        <p:spPr>
          <a:xfrm flipV="1">
            <a:off x="5610605" y="3053564"/>
            <a:ext cx="514890" cy="6484"/>
          </a:xfrm>
          <a:prstGeom prst="line">
            <a:avLst/>
          </a:prstGeom>
          <a:ln w="38100">
            <a:solidFill>
              <a:srgbClr val="F39200"/>
            </a:solidFill>
            <a:prstDash val="sysDot"/>
          </a:ln>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9872DAFF-E30B-48E5-820D-A3C3806EA930}"/>
              </a:ext>
            </a:extLst>
          </p:cNvPr>
          <p:cNvCxnSpPr>
            <a:cxnSpLocks/>
          </p:cNvCxnSpPr>
          <p:nvPr/>
        </p:nvCxnSpPr>
        <p:spPr>
          <a:xfrm flipH="1" flipV="1">
            <a:off x="6070134" y="2352041"/>
            <a:ext cx="2336" cy="708009"/>
          </a:xfrm>
          <a:prstGeom prst="line">
            <a:avLst/>
          </a:prstGeom>
          <a:ln w="38100">
            <a:solidFill>
              <a:srgbClr val="F39200"/>
            </a:solidFill>
            <a:prstDash val="sysDot"/>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7196810F-CC65-43BE-9205-D203369353E8}"/>
              </a:ext>
            </a:extLst>
          </p:cNvPr>
          <p:cNvSpPr txBox="1"/>
          <p:nvPr/>
        </p:nvSpPr>
        <p:spPr>
          <a:xfrm>
            <a:off x="5712517" y="3089434"/>
            <a:ext cx="454865" cy="369332"/>
          </a:xfrm>
          <a:prstGeom prst="rect">
            <a:avLst/>
          </a:prstGeom>
          <a:noFill/>
        </p:spPr>
        <p:txBody>
          <a:bodyPr wrap="square" rtlCol="0">
            <a:spAutoFit/>
          </a:bodyPr>
          <a:lstStyle/>
          <a:p>
            <a:r>
              <a:rPr lang="en-US" dirty="0"/>
              <a:t>dt</a:t>
            </a:r>
          </a:p>
        </p:txBody>
      </p:sp>
      <p:sp>
        <p:nvSpPr>
          <p:cNvPr id="11" name="TextBox 10">
            <a:extLst>
              <a:ext uri="{FF2B5EF4-FFF2-40B4-BE49-F238E27FC236}">
                <a16:creationId xmlns:a16="http://schemas.microsoft.com/office/drawing/2014/main" id="{3A73CB44-0D22-4E39-8454-9A6BF46DB670}"/>
              </a:ext>
            </a:extLst>
          </p:cNvPr>
          <p:cNvSpPr txBox="1"/>
          <p:nvPr/>
        </p:nvSpPr>
        <p:spPr>
          <a:xfrm>
            <a:off x="6191093" y="2527037"/>
            <a:ext cx="718457" cy="369332"/>
          </a:xfrm>
          <a:prstGeom prst="rect">
            <a:avLst/>
          </a:prstGeom>
          <a:noFill/>
        </p:spPr>
        <p:txBody>
          <a:bodyPr wrap="square" rtlCol="0">
            <a:spAutoFit/>
          </a:bodyPr>
          <a:lstStyle/>
          <a:p>
            <a:r>
              <a:rPr lang="en-US" dirty="0" err="1"/>
              <a:t>dLAI</a:t>
            </a:r>
            <a:endParaRPr lang="en-US" dirty="0"/>
          </a:p>
        </p:txBody>
      </p:sp>
      <p:cxnSp>
        <p:nvCxnSpPr>
          <p:cNvPr id="12" name="Straight Connector 11">
            <a:extLst>
              <a:ext uri="{FF2B5EF4-FFF2-40B4-BE49-F238E27FC236}">
                <a16:creationId xmlns:a16="http://schemas.microsoft.com/office/drawing/2014/main" id="{8958CEAC-BDC1-4CCC-81FD-72125E807C2A}"/>
              </a:ext>
            </a:extLst>
          </p:cNvPr>
          <p:cNvCxnSpPr>
            <a:cxnSpLocks/>
          </p:cNvCxnSpPr>
          <p:nvPr/>
        </p:nvCxnSpPr>
        <p:spPr>
          <a:xfrm flipV="1">
            <a:off x="6502614" y="3943271"/>
            <a:ext cx="176785" cy="408314"/>
          </a:xfrm>
          <a:prstGeom prst="line">
            <a:avLst/>
          </a:prstGeom>
          <a:ln w="76200">
            <a:solidFill>
              <a:srgbClr val="F39200"/>
            </a:solidFill>
          </a:ln>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4AB309AA-A21D-484D-BF60-A6FA2003F523}"/>
              </a:ext>
            </a:extLst>
          </p:cNvPr>
          <p:cNvCxnSpPr>
            <a:cxnSpLocks/>
          </p:cNvCxnSpPr>
          <p:nvPr/>
        </p:nvCxnSpPr>
        <p:spPr>
          <a:xfrm flipH="1" flipV="1">
            <a:off x="6267840" y="4127428"/>
            <a:ext cx="181958" cy="358981"/>
          </a:xfrm>
          <a:prstGeom prst="line">
            <a:avLst/>
          </a:prstGeom>
          <a:ln w="76200">
            <a:solidFill>
              <a:srgbClr val="F39200"/>
            </a:solidFill>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BB26ABD6-F837-475E-A349-2E38814762BE}"/>
              </a:ext>
            </a:extLst>
          </p:cNvPr>
          <p:cNvCxnSpPr>
            <a:cxnSpLocks/>
          </p:cNvCxnSpPr>
          <p:nvPr/>
        </p:nvCxnSpPr>
        <p:spPr>
          <a:xfrm flipH="1">
            <a:off x="6316627" y="2978605"/>
            <a:ext cx="167042" cy="11688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6F1258BB-D892-46C0-88D1-756218FD5D4D}"/>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21242277">
            <a:off x="2462636" y="5352410"/>
            <a:ext cx="492930" cy="459356"/>
          </a:xfrm>
          <a:prstGeom prst="rect">
            <a:avLst/>
          </a:prstGeom>
        </p:spPr>
      </p:pic>
      <p:pic>
        <p:nvPicPr>
          <p:cNvPr id="16" name="Picture 15">
            <a:extLst>
              <a:ext uri="{FF2B5EF4-FFF2-40B4-BE49-F238E27FC236}">
                <a16:creationId xmlns:a16="http://schemas.microsoft.com/office/drawing/2014/main" id="{348DA25F-AA81-4262-994A-1F00F7D656BA}"/>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21433908">
            <a:off x="2764066" y="4918566"/>
            <a:ext cx="1209111" cy="1042087"/>
          </a:xfrm>
          <a:prstGeom prst="rect">
            <a:avLst/>
          </a:prstGeom>
        </p:spPr>
      </p:pic>
      <p:pic>
        <p:nvPicPr>
          <p:cNvPr id="17" name="Picture 16">
            <a:extLst>
              <a:ext uri="{FF2B5EF4-FFF2-40B4-BE49-F238E27FC236}">
                <a16:creationId xmlns:a16="http://schemas.microsoft.com/office/drawing/2014/main" id="{7AE2D87E-90EF-4348-9021-92030C9B7403}"/>
              </a:ext>
            </a:extLst>
          </p:cNvPr>
          <p:cNvPicPr>
            <a:picLocks noChangeAspect="1"/>
          </p:cNvPicPr>
          <p:nvPr/>
        </p:nvPicPr>
        <p:blipFill>
          <a:blip r:embed="rId7">
            <a:clrChange>
              <a:clrFrom>
                <a:srgbClr val="FFFFFF"/>
              </a:clrFrom>
              <a:clrTo>
                <a:srgbClr val="FFFFFF">
                  <a:alpha val="0"/>
                </a:srgbClr>
              </a:clrTo>
            </a:clrChange>
          </a:blip>
          <a:stretch>
            <a:fillRect/>
          </a:stretch>
        </p:blipFill>
        <p:spPr>
          <a:xfrm rot="21426792">
            <a:off x="3424966" y="4185663"/>
            <a:ext cx="2365504" cy="2100344"/>
          </a:xfrm>
          <a:prstGeom prst="rect">
            <a:avLst/>
          </a:prstGeom>
        </p:spPr>
      </p:pic>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9D1EE4B-0A89-46ED-B87B-6303130DA271}"/>
                  </a:ext>
                </a:extLst>
              </p:cNvPr>
              <p:cNvSpPr txBox="1"/>
              <p:nvPr/>
            </p:nvSpPr>
            <p:spPr>
              <a:xfrm>
                <a:off x="8284651" y="4019273"/>
                <a:ext cx="3619503" cy="15342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𝐿𝐴</m:t>
                          </m:r>
                        </m:num>
                        <m:den>
                          <m:r>
                            <a:rPr lang="en-US"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𝑡</m:t>
                          </m:r>
                        </m:den>
                      </m:f>
                      <m:r>
                        <m:rPr>
                          <m:nor/>
                        </m:rPr>
                        <a:rPr lang="fr-FR" b="0" i="0" smtClean="0"/>
                        <m:t> </m:t>
                      </m:r>
                      <m:r>
                        <m:rPr>
                          <m:nor/>
                        </m:rPr>
                        <a:rPr lang="en-US"/>
                        <m:t>= </m:t>
                      </m:r>
                      <m:nary>
                        <m:naryPr>
                          <m:chr m:val="∑"/>
                          <m:supHide m:val="on"/>
                          <m:ctrlPr>
                            <a:rPr lang="en-US" i="1" smtClean="0">
                              <a:latin typeface="Cambria Math" panose="02040503050406030204" pitchFamily="18" charset="0"/>
                            </a:rPr>
                          </m:ctrlPr>
                        </m:naryPr>
                        <m:sub>
                          <m:r>
                            <m:rPr>
                              <m:brk m:alnAt="23"/>
                            </m:rPr>
                            <a:rPr lang="fr-FR" b="0" i="1" smtClean="0">
                              <a:latin typeface="Cambria Math" panose="02040503050406030204" pitchFamily="18" charset="0"/>
                            </a:rPr>
                            <m:t>𝑘</m:t>
                          </m:r>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𝐺</m:t>
                          </m:r>
                        </m:sub>
                        <m:sup/>
                        <m:e>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𝐿𝐴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𝑡</m:t>
                              </m:r>
                              <m:r>
                                <a:rPr lang="fr-FR" b="0"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𝑡</m:t>
                              </m:r>
                            </m:den>
                          </m:f>
                        </m:e>
                      </m:nary>
                    </m:oMath>
                  </m:oMathPara>
                </a14:m>
                <a:endParaRPr lang="fr-FR" dirty="0"/>
              </a:p>
              <a:p>
                <a:endParaRPr lang="fr-FR" sz="1400" dirty="0"/>
              </a:p>
              <a:p>
                <a14:m>
                  <m:oMath xmlns:m="http://schemas.openxmlformats.org/officeDocument/2006/math">
                    <m:r>
                      <a:rPr lang="fr-FR" sz="1400" i="1">
                        <a:latin typeface="Cambria Math" panose="02040503050406030204" pitchFamily="18" charset="0"/>
                        <a:ea typeface="Cambria Math" panose="02040503050406030204" pitchFamily="18" charset="0"/>
                      </a:rPr>
                      <m:t>𝐿𝐴</m:t>
                    </m:r>
                    <m:r>
                      <a:rPr lang="fr-FR" sz="1400" i="1">
                        <a:latin typeface="Cambria Math" panose="02040503050406030204" pitchFamily="18" charset="0"/>
                        <a:ea typeface="Cambria Math" panose="02040503050406030204" pitchFamily="18" charset="0"/>
                      </a:rPr>
                      <m:t> </m:t>
                    </m:r>
                  </m:oMath>
                </a14:m>
                <a:r>
                  <a:rPr lang="fr-FR" sz="1400" dirty="0"/>
                  <a:t>: surface foliaire d’une plante, </a:t>
                </a:r>
                <a14:m>
                  <m:oMath xmlns:m="http://schemas.openxmlformats.org/officeDocument/2006/math">
                    <m:r>
                      <a:rPr lang="fr-FR" sz="1400" i="1">
                        <a:latin typeface="Cambria Math" panose="02040503050406030204" pitchFamily="18" charset="0"/>
                        <a:ea typeface="Cambria Math" panose="02040503050406030204" pitchFamily="18" charset="0"/>
                      </a:rPr>
                      <m:t>𝐿𝐴</m:t>
                    </m:r>
                    <m:r>
                      <a:rPr lang="fr-FR" sz="1400" b="0" i="1" smtClean="0">
                        <a:latin typeface="Cambria Math" panose="02040503050406030204" pitchFamily="18" charset="0"/>
                        <a:ea typeface="Cambria Math" panose="02040503050406030204" pitchFamily="18" charset="0"/>
                      </a:rPr>
                      <m:t>=</m:t>
                    </m:r>
                    <m:r>
                      <a:rPr lang="fr-FR" sz="1400" b="0" i="1" smtClean="0">
                        <a:latin typeface="Cambria Math" panose="02040503050406030204" pitchFamily="18" charset="0"/>
                        <a:ea typeface="Cambria Math" panose="02040503050406030204" pitchFamily="18" charset="0"/>
                      </a:rPr>
                      <m:t>𝑓</m:t>
                    </m:r>
                    <m:r>
                      <a:rPr lang="fr-FR" sz="1400" b="0" i="1" smtClean="0">
                        <a:latin typeface="Cambria Math" panose="02040503050406030204" pitchFamily="18" charset="0"/>
                        <a:ea typeface="Cambria Math" panose="02040503050406030204" pitchFamily="18" charset="0"/>
                      </a:rPr>
                      <m:t>(</m:t>
                    </m:r>
                    <m:r>
                      <a:rPr lang="fr-FR" sz="1400" b="0" i="1" smtClean="0">
                        <a:latin typeface="Cambria Math" panose="02040503050406030204" pitchFamily="18" charset="0"/>
                        <a:ea typeface="Cambria Math" panose="02040503050406030204" pitchFamily="18" charset="0"/>
                      </a:rPr>
                      <m:t>𝐿𝐴𝐼</m:t>
                    </m:r>
                    <m:r>
                      <a:rPr lang="fr-FR" sz="1400" b="0" i="1" smtClean="0">
                        <a:latin typeface="Cambria Math" panose="02040503050406030204" pitchFamily="18" charset="0"/>
                        <a:ea typeface="Cambria Math" panose="02040503050406030204" pitchFamily="18" charset="0"/>
                      </a:rPr>
                      <m:t>)</m:t>
                    </m:r>
                  </m:oMath>
                </a14:m>
                <a:endParaRPr lang="fr-FR" sz="1400" dirty="0"/>
              </a:p>
              <a:p>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fr-FR" sz="1400" i="1">
                            <a:latin typeface="Cambria Math" panose="02040503050406030204" pitchFamily="18" charset="0"/>
                            <a:ea typeface="Cambria Math" panose="02040503050406030204" pitchFamily="18" charset="0"/>
                          </a:rPr>
                          <m:t>𝐿𝐴</m:t>
                        </m:r>
                      </m:e>
                      <m:sub>
                        <m:r>
                          <a:rPr lang="fr-FR" sz="1400" i="1">
                            <a:latin typeface="Cambria Math" panose="02040503050406030204" pitchFamily="18" charset="0"/>
                            <a:ea typeface="Cambria Math" panose="02040503050406030204" pitchFamily="18" charset="0"/>
                          </a:rPr>
                          <m:t>𝑘</m:t>
                        </m:r>
                      </m:sub>
                    </m:sSub>
                  </m:oMath>
                </a14:m>
                <a:r>
                  <a:rPr lang="fr-FR" sz="1400" dirty="0"/>
                  <a:t>: surface foliaire d’une feuille</a:t>
                </a:r>
              </a:p>
              <a:p>
                <a:r>
                  <a:rPr lang="fr-FR" sz="1400" dirty="0"/>
                  <a:t>G: ensemble des feuilles en croissance</a:t>
                </a:r>
                <a:endParaRPr lang="en-US" sz="1400" dirty="0"/>
              </a:p>
            </p:txBody>
          </p:sp>
        </mc:Choice>
        <mc:Fallback>
          <p:sp>
            <p:nvSpPr>
              <p:cNvPr id="18" name="TextBox 17">
                <a:extLst>
                  <a:ext uri="{FF2B5EF4-FFF2-40B4-BE49-F238E27FC236}">
                    <a16:creationId xmlns:a16="http://schemas.microsoft.com/office/drawing/2014/main" id="{09D1EE4B-0A89-46ED-B87B-6303130DA271}"/>
                  </a:ext>
                </a:extLst>
              </p:cNvPr>
              <p:cNvSpPr txBox="1">
                <a:spLocks noRot="1" noChangeAspect="1" noMove="1" noResize="1" noEditPoints="1" noAdjustHandles="1" noChangeArrowheads="1" noChangeShapeType="1" noTextEdit="1"/>
              </p:cNvSpPr>
              <p:nvPr/>
            </p:nvSpPr>
            <p:spPr>
              <a:xfrm>
                <a:off x="8284651" y="4019273"/>
                <a:ext cx="3619503" cy="1534266"/>
              </a:xfrm>
              <a:prstGeom prst="rect">
                <a:avLst/>
              </a:prstGeom>
              <a:blipFill>
                <a:blip r:embed="rId8"/>
                <a:stretch>
                  <a:fillRect l="-3030" b="-6349"/>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4D50F7FB-A8B2-464B-B9CD-FF976BD0457D}"/>
              </a:ext>
            </a:extLst>
          </p:cNvPr>
          <p:cNvCxnSpPr>
            <a:cxnSpLocks/>
          </p:cNvCxnSpPr>
          <p:nvPr/>
        </p:nvCxnSpPr>
        <p:spPr>
          <a:xfrm>
            <a:off x="6502614" y="2978605"/>
            <a:ext cx="121853" cy="96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32D3F066-FCCD-4614-A3C2-893620911D98}"/>
              </a:ext>
            </a:extLst>
          </p:cNvPr>
          <p:cNvSpPr txBox="1"/>
          <p:nvPr/>
        </p:nvSpPr>
        <p:spPr>
          <a:xfrm>
            <a:off x="1934760" y="2306225"/>
            <a:ext cx="2749358" cy="523220"/>
          </a:xfrm>
          <a:prstGeom prst="rect">
            <a:avLst/>
          </a:prstGeom>
          <a:noFill/>
        </p:spPr>
        <p:txBody>
          <a:bodyPr wrap="square" rtlCol="0">
            <a:spAutoFit/>
          </a:bodyPr>
          <a:lstStyle/>
          <a:p>
            <a:r>
              <a:rPr lang="fr-FR" sz="1400" dirty="0">
                <a:solidFill>
                  <a:schemeClr val="tx1">
                    <a:lumMod val="65000"/>
                    <a:lumOff val="35000"/>
                  </a:schemeClr>
                </a:solidFill>
              </a:rPr>
              <a:t>(not </a:t>
            </a:r>
            <a:r>
              <a:rPr lang="fr-FR" sz="1400" dirty="0" err="1">
                <a:solidFill>
                  <a:schemeClr val="tx1">
                    <a:lumMod val="65000"/>
                    <a:lumOff val="35000"/>
                  </a:schemeClr>
                </a:solidFill>
              </a:rPr>
              <a:t>constrained</a:t>
            </a:r>
            <a:r>
              <a:rPr lang="fr-FR" sz="1400" dirty="0">
                <a:solidFill>
                  <a:schemeClr val="tx1">
                    <a:lumMod val="65000"/>
                    <a:lumOff val="35000"/>
                  </a:schemeClr>
                </a:solidFill>
              </a:rPr>
              <a:t> </a:t>
            </a:r>
            <a:r>
              <a:rPr lang="fr-FR" sz="1400" dirty="0" err="1">
                <a:solidFill>
                  <a:schemeClr val="tx1">
                    <a:lumMod val="65000"/>
                    <a:lumOff val="35000"/>
                  </a:schemeClr>
                </a:solidFill>
              </a:rPr>
              <a:t>yet</a:t>
            </a:r>
            <a:r>
              <a:rPr lang="fr-FR" sz="1400" dirty="0">
                <a:solidFill>
                  <a:schemeClr val="tx1">
                    <a:lumMod val="65000"/>
                    <a:lumOff val="35000"/>
                  </a:schemeClr>
                </a:solidFill>
              </a:rPr>
              <a:t> by STICS and </a:t>
            </a:r>
            <a:r>
              <a:rPr lang="fr-FR" sz="1400" dirty="0" err="1">
                <a:solidFill>
                  <a:schemeClr val="tx1">
                    <a:lumMod val="65000"/>
                    <a:lumOff val="35000"/>
                  </a:schemeClr>
                </a:solidFill>
              </a:rPr>
              <a:t>with</a:t>
            </a:r>
            <a:r>
              <a:rPr lang="fr-FR" sz="1400" dirty="0">
                <a:solidFill>
                  <a:schemeClr val="tx1">
                    <a:lumMod val="65000"/>
                    <a:lumOff val="35000"/>
                  </a:schemeClr>
                </a:solidFill>
              </a:rPr>
              <a:t> approximative </a:t>
            </a:r>
            <a:r>
              <a:rPr lang="fr-FR" sz="1400" dirty="0" err="1">
                <a:solidFill>
                  <a:schemeClr val="tx1">
                    <a:lumMod val="65000"/>
                    <a:lumOff val="35000"/>
                  </a:schemeClr>
                </a:solidFill>
              </a:rPr>
              <a:t>parameters</a:t>
            </a:r>
            <a:r>
              <a:rPr lang="fr-FR" sz="1400" dirty="0">
                <a:solidFill>
                  <a:schemeClr val="tx1">
                    <a:lumMod val="65000"/>
                    <a:lumOff val="35000"/>
                  </a:schemeClr>
                </a:solidFill>
              </a:rPr>
              <a:t>)</a:t>
            </a:r>
            <a:endParaRPr lang="en-US" sz="1400" dirty="0">
              <a:solidFill>
                <a:schemeClr val="tx1">
                  <a:lumMod val="65000"/>
                  <a:lumOff val="35000"/>
                </a:schemeClr>
              </a:solidFill>
            </a:endParaRPr>
          </a:p>
        </p:txBody>
      </p:sp>
      <p:sp>
        <p:nvSpPr>
          <p:cNvPr id="37" name="Slide Number Placeholder 36">
            <a:extLst>
              <a:ext uri="{FF2B5EF4-FFF2-40B4-BE49-F238E27FC236}">
                <a16:creationId xmlns:a16="http://schemas.microsoft.com/office/drawing/2014/main" id="{453FDDC7-4767-4DFA-9BE3-E09B365A86A1}"/>
              </a:ext>
            </a:extLst>
          </p:cNvPr>
          <p:cNvSpPr>
            <a:spLocks noGrp="1"/>
          </p:cNvSpPr>
          <p:nvPr>
            <p:ph type="sldNum" sz="quarter" idx="12"/>
          </p:nvPr>
        </p:nvSpPr>
        <p:spPr/>
        <p:txBody>
          <a:bodyPr/>
          <a:lstStyle/>
          <a:p>
            <a:fld id="{27C6CCC6-2BE5-4E42-96A4-D1E8E81A3D8E}" type="slidenum">
              <a:rPr lang="fr-FR" smtClean="0"/>
              <a:t>14</a:t>
            </a:fld>
            <a:endParaRPr lang="fr-FR"/>
          </a:p>
        </p:txBody>
      </p:sp>
    </p:spTree>
    <p:extLst>
      <p:ext uri="{BB962C8B-B14F-4D97-AF65-F5344CB8AC3E}">
        <p14:creationId xmlns:p14="http://schemas.microsoft.com/office/powerpoint/2010/main" val="191732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8"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Picture 219">
            <a:extLst>
              <a:ext uri="{FF2B5EF4-FFF2-40B4-BE49-F238E27FC236}">
                <a16:creationId xmlns:a16="http://schemas.microsoft.com/office/drawing/2014/main" id="{4B4DD7E6-3892-4F35-91CE-45F8F79F89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0062" y="1977431"/>
            <a:ext cx="957888" cy="745024"/>
          </a:xfrm>
          <a:prstGeom prst="rect">
            <a:avLst/>
          </a:prstGeom>
        </p:spPr>
      </p:pic>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46667" y="216561"/>
            <a:ext cx="10515600" cy="804049"/>
          </a:xfrm>
        </p:spPr>
        <p:txBody>
          <a:bodyPr>
            <a:normAutofit fontScale="90000"/>
          </a:bodyPr>
          <a:lstStyle/>
          <a:p>
            <a:r>
              <a:rPr lang="fr-FR" sz="4000" dirty="0"/>
              <a:t>Chapitre I :</a:t>
            </a:r>
            <a:br>
              <a:rPr lang="fr-FR" sz="3600" dirty="0"/>
            </a:br>
            <a:r>
              <a:rPr lang="fr-FR" sz="3100" dirty="0"/>
              <a:t>Simulations (application </a:t>
            </a:r>
            <a:r>
              <a:rPr lang="fr-FR" sz="3200" dirty="0"/>
              <a:t>à l’interception de la lumière)</a:t>
            </a:r>
            <a:endParaRPr lang="en-US" sz="3100" dirty="0"/>
          </a:p>
        </p:txBody>
      </p:sp>
      <p:sp>
        <p:nvSpPr>
          <p:cNvPr id="4" name="Oval 3">
            <a:extLst>
              <a:ext uri="{FF2B5EF4-FFF2-40B4-BE49-F238E27FC236}">
                <a16:creationId xmlns:a16="http://schemas.microsoft.com/office/drawing/2014/main" id="{BF8D5E98-A9ED-4B1A-9C6F-B88D4E769A89}"/>
              </a:ext>
            </a:extLst>
          </p:cNvPr>
          <p:cNvSpPr/>
          <p:nvPr/>
        </p:nvSpPr>
        <p:spPr>
          <a:xfrm>
            <a:off x="2054429" y="1677870"/>
            <a:ext cx="2380023" cy="1254806"/>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a:t>avec un modèle de culture</a:t>
            </a:r>
            <a:endParaRPr lang="en-US" dirty="0"/>
          </a:p>
        </p:txBody>
      </p:sp>
      <p:sp>
        <p:nvSpPr>
          <p:cNvPr id="5" name="Rectangle 4">
            <a:extLst>
              <a:ext uri="{FF2B5EF4-FFF2-40B4-BE49-F238E27FC236}">
                <a16:creationId xmlns:a16="http://schemas.microsoft.com/office/drawing/2014/main" id="{79D4566C-F405-4F07-8D2E-F52ED3947024}"/>
              </a:ext>
            </a:extLst>
          </p:cNvPr>
          <p:cNvSpPr/>
          <p:nvPr/>
        </p:nvSpPr>
        <p:spPr>
          <a:xfrm>
            <a:off x="1682904"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EBF9CE5-DC5E-48A3-B8B9-B31C65039BB9}"/>
              </a:ext>
            </a:extLst>
          </p:cNvPr>
          <p:cNvSpPr/>
          <p:nvPr/>
        </p:nvSpPr>
        <p:spPr>
          <a:xfrm>
            <a:off x="9168076" y="4608847"/>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2787645-0609-4C97-828C-951F3723F437}"/>
              </a:ext>
            </a:extLst>
          </p:cNvPr>
          <p:cNvSpPr/>
          <p:nvPr/>
        </p:nvSpPr>
        <p:spPr>
          <a:xfrm>
            <a:off x="6606589"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9C765D-3852-4392-8288-6665CC1D38E7}"/>
              </a:ext>
            </a:extLst>
          </p:cNvPr>
          <p:cNvSpPr/>
          <p:nvPr/>
        </p:nvSpPr>
        <p:spPr>
          <a:xfrm>
            <a:off x="4183180"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42B5A41-A22A-417D-A522-612CB7DCCC4E}"/>
              </a:ext>
            </a:extLst>
          </p:cNvPr>
          <p:cNvCxnSpPr>
            <a:cxnSpLocks/>
            <a:stCxn id="92" idx="4"/>
            <a:endCxn id="5" idx="0"/>
          </p:cNvCxnSpPr>
          <p:nvPr/>
        </p:nvCxnSpPr>
        <p:spPr>
          <a:xfrm flipH="1">
            <a:off x="2372786" y="3872988"/>
            <a:ext cx="3723214"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B21AAE8C-16B6-45AB-B5B6-B63150A72E70}"/>
              </a:ext>
            </a:extLst>
          </p:cNvPr>
          <p:cNvCxnSpPr>
            <a:cxnSpLocks/>
            <a:stCxn id="92" idx="4"/>
            <a:endCxn id="11" idx="0"/>
          </p:cNvCxnSpPr>
          <p:nvPr/>
        </p:nvCxnSpPr>
        <p:spPr>
          <a:xfrm flipH="1">
            <a:off x="4873062" y="3872988"/>
            <a:ext cx="1222938"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D1E4AE1B-DFA6-42CB-9FFD-2AD3532E486F}"/>
              </a:ext>
            </a:extLst>
          </p:cNvPr>
          <p:cNvCxnSpPr>
            <a:cxnSpLocks/>
            <a:stCxn id="92" idx="4"/>
            <a:endCxn id="9" idx="0"/>
          </p:cNvCxnSpPr>
          <p:nvPr/>
        </p:nvCxnSpPr>
        <p:spPr>
          <a:xfrm>
            <a:off x="6096000" y="3872988"/>
            <a:ext cx="1200471"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27" name="Straight Arrow Connector 26">
            <a:extLst>
              <a:ext uri="{FF2B5EF4-FFF2-40B4-BE49-F238E27FC236}">
                <a16:creationId xmlns:a16="http://schemas.microsoft.com/office/drawing/2014/main" id="{F7505169-CEE1-4B66-BC70-52E39E7938F9}"/>
              </a:ext>
            </a:extLst>
          </p:cNvPr>
          <p:cNvCxnSpPr>
            <a:cxnSpLocks/>
            <a:stCxn id="92" idx="4"/>
            <a:endCxn id="6" idx="0"/>
          </p:cNvCxnSpPr>
          <p:nvPr/>
        </p:nvCxnSpPr>
        <p:spPr>
          <a:xfrm>
            <a:off x="6096000" y="3872988"/>
            <a:ext cx="3761958" cy="735859"/>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42" name="Rectangle 41">
            <a:extLst>
              <a:ext uri="{FF2B5EF4-FFF2-40B4-BE49-F238E27FC236}">
                <a16:creationId xmlns:a16="http://schemas.microsoft.com/office/drawing/2014/main" id="{0EDDB2B7-9672-4059-ACEE-25FCB7BB4263}"/>
              </a:ext>
            </a:extLst>
          </p:cNvPr>
          <p:cNvSpPr/>
          <p:nvPr/>
        </p:nvSpPr>
        <p:spPr>
          <a:xfrm>
            <a:off x="5073288" y="1968715"/>
            <a:ext cx="2045424" cy="72244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Sorties dynamiques</a:t>
            </a:r>
          </a:p>
          <a:p>
            <a:pPr algn="ctr"/>
            <a:r>
              <a:rPr lang="fr-FR" dirty="0"/>
              <a:t>Ex : LAI(t)</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42" idx="1"/>
          </p:cNvCxnSpPr>
          <p:nvPr/>
        </p:nvCxnSpPr>
        <p:spPr>
          <a:xfrm>
            <a:off x="4434452" y="2305273"/>
            <a:ext cx="638836" cy="24665"/>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7986353" y="2744500"/>
            <a:ext cx="3819365" cy="1477328"/>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dirty="0"/>
              <a:t>Plan expérimental :</a:t>
            </a:r>
          </a:p>
          <a:p>
            <a:pPr algn="ctr"/>
            <a:r>
              <a:rPr lang="fr-FR" dirty="0"/>
              <a:t>Espace des degrés de liberté = </a:t>
            </a:r>
          </a:p>
          <a:p>
            <a:pPr algn="ctr"/>
            <a:r>
              <a:rPr lang="fr-FR" dirty="0"/>
              <a:t>espace morphologique graminée x </a:t>
            </a:r>
          </a:p>
          <a:p>
            <a:pPr algn="ctr"/>
            <a:r>
              <a:rPr lang="fr-FR" dirty="0"/>
              <a:t>espace morphologique légumineuse x</a:t>
            </a:r>
          </a:p>
          <a:p>
            <a:pPr algn="ctr"/>
            <a:r>
              <a:rPr lang="fr-FR" dirty="0"/>
              <a:t> (en rangées, en damier)</a:t>
            </a:r>
            <a:endParaRPr lang="en-US" dirty="0"/>
          </a:p>
        </p:txBody>
      </p:sp>
      <p:sp>
        <p:nvSpPr>
          <p:cNvPr id="65" name="TextBox 64">
            <a:extLst>
              <a:ext uri="{FF2B5EF4-FFF2-40B4-BE49-F238E27FC236}">
                <a16:creationId xmlns:a16="http://schemas.microsoft.com/office/drawing/2014/main" id="{86A4256E-1A87-4F38-A81E-888E51C6EAD7}"/>
              </a:ext>
            </a:extLst>
          </p:cNvPr>
          <p:cNvSpPr txBox="1"/>
          <p:nvPr/>
        </p:nvSpPr>
        <p:spPr>
          <a:xfrm>
            <a:off x="3349869" y="4718338"/>
            <a:ext cx="481693" cy="646331"/>
          </a:xfrm>
          <a:prstGeom prst="rect">
            <a:avLst/>
          </a:prstGeom>
          <a:noFill/>
        </p:spPr>
        <p:txBody>
          <a:bodyPr wrap="square" rtlCol="0">
            <a:spAutoFit/>
          </a:bodyPr>
          <a:lstStyle/>
          <a:p>
            <a:r>
              <a:rPr lang="fr-FR" sz="3600" dirty="0"/>
              <a:t>…</a:t>
            </a:r>
            <a:endParaRPr lang="en-US" sz="3600" dirty="0"/>
          </a:p>
        </p:txBody>
      </p:sp>
      <p:sp>
        <p:nvSpPr>
          <p:cNvPr id="67" name="TextBox 66">
            <a:extLst>
              <a:ext uri="{FF2B5EF4-FFF2-40B4-BE49-F238E27FC236}">
                <a16:creationId xmlns:a16="http://schemas.microsoft.com/office/drawing/2014/main" id="{41F1DBFA-0852-4C3F-9207-66B00DC74CB1}"/>
              </a:ext>
            </a:extLst>
          </p:cNvPr>
          <p:cNvSpPr txBox="1"/>
          <p:nvPr/>
        </p:nvSpPr>
        <p:spPr>
          <a:xfrm>
            <a:off x="5841810" y="4690684"/>
            <a:ext cx="481693" cy="646331"/>
          </a:xfrm>
          <a:prstGeom prst="rect">
            <a:avLst/>
          </a:prstGeom>
          <a:noFill/>
        </p:spPr>
        <p:txBody>
          <a:bodyPr wrap="square" rtlCol="0">
            <a:spAutoFit/>
          </a:bodyPr>
          <a:lstStyle/>
          <a:p>
            <a:r>
              <a:rPr lang="fr-FR" sz="3600" dirty="0"/>
              <a:t>…</a:t>
            </a:r>
            <a:endParaRPr lang="en-US" sz="3600" dirty="0"/>
          </a:p>
        </p:txBody>
      </p:sp>
      <p:sp>
        <p:nvSpPr>
          <p:cNvPr id="69" name="TextBox 68">
            <a:extLst>
              <a:ext uri="{FF2B5EF4-FFF2-40B4-BE49-F238E27FC236}">
                <a16:creationId xmlns:a16="http://schemas.microsoft.com/office/drawing/2014/main" id="{EABA472D-1620-4E72-B651-F4736512CA3B}"/>
              </a:ext>
            </a:extLst>
          </p:cNvPr>
          <p:cNvSpPr txBox="1"/>
          <p:nvPr/>
        </p:nvSpPr>
        <p:spPr>
          <a:xfrm>
            <a:off x="8336368" y="4711479"/>
            <a:ext cx="481693" cy="646331"/>
          </a:xfrm>
          <a:prstGeom prst="rect">
            <a:avLst/>
          </a:prstGeom>
          <a:noFill/>
        </p:spPr>
        <p:txBody>
          <a:bodyPr wrap="square" rtlCol="0">
            <a:spAutoFit/>
          </a:bodyPr>
          <a:lstStyle/>
          <a:p>
            <a:r>
              <a:rPr lang="fr-FR" sz="3600" dirty="0"/>
              <a:t>…</a:t>
            </a:r>
            <a:endParaRPr lang="en-US" sz="3600" dirty="0"/>
          </a:p>
        </p:txBody>
      </p:sp>
      <p:sp>
        <p:nvSpPr>
          <p:cNvPr id="92" name="Oval 91">
            <a:extLst>
              <a:ext uri="{FF2B5EF4-FFF2-40B4-BE49-F238E27FC236}">
                <a16:creationId xmlns:a16="http://schemas.microsoft.com/office/drawing/2014/main" id="{CB597C63-2200-4969-99FD-7D38A391A978}"/>
              </a:ext>
            </a:extLst>
          </p:cNvPr>
          <p:cNvSpPr/>
          <p:nvPr/>
        </p:nvSpPr>
        <p:spPr>
          <a:xfrm>
            <a:off x="5302430" y="3098791"/>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42" idx="2"/>
            <a:endCxn id="92" idx="0"/>
          </p:cNvCxnSpPr>
          <p:nvPr/>
        </p:nvCxnSpPr>
        <p:spPr>
          <a:xfrm>
            <a:off x="6096000" y="2691160"/>
            <a:ext cx="0" cy="407631"/>
          </a:xfrm>
          <a:prstGeom prst="straightConnector1">
            <a:avLst/>
          </a:prstGeom>
          <a:ln w="38100">
            <a:solidFill>
              <a:srgbClr val="F39200"/>
            </a:solidFill>
            <a:tailEnd type="triangle"/>
          </a:ln>
        </p:spPr>
        <p:style>
          <a:lnRef idx="2">
            <a:schemeClr val="accent1"/>
          </a:lnRef>
          <a:fillRef idx="0">
            <a:schemeClr val="accent1"/>
          </a:fillRef>
          <a:effectRef idx="1">
            <a:schemeClr val="accent1"/>
          </a:effectRef>
          <a:fontRef idx="minor">
            <a:schemeClr val="tx1"/>
          </a:fontRef>
        </p:style>
      </p:cxnSp>
      <p:pic>
        <p:nvPicPr>
          <p:cNvPr id="124" name="Picture 123">
            <a:extLst>
              <a:ext uri="{FF2B5EF4-FFF2-40B4-BE49-F238E27FC236}">
                <a16:creationId xmlns:a16="http://schemas.microsoft.com/office/drawing/2014/main" id="{4ECAED75-C499-4F96-BC85-77DF5228C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4772" y="3055206"/>
            <a:ext cx="371475" cy="323850"/>
          </a:xfrm>
          <a:prstGeom prst="rect">
            <a:avLst/>
          </a:prstGeom>
        </p:spPr>
      </p:pic>
      <p:pic>
        <p:nvPicPr>
          <p:cNvPr id="126" name="Picture 125">
            <a:extLst>
              <a:ext uri="{FF2B5EF4-FFF2-40B4-BE49-F238E27FC236}">
                <a16:creationId xmlns:a16="http://schemas.microsoft.com/office/drawing/2014/main" id="{56D22FEB-6BDD-4A9C-BEDE-2C7D16185B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2440" y="5357810"/>
            <a:ext cx="361229" cy="271802"/>
          </a:xfrm>
          <a:prstGeom prst="rect">
            <a:avLst/>
          </a:prstGeom>
        </p:spPr>
      </p:pic>
      <p:pic>
        <p:nvPicPr>
          <p:cNvPr id="128" name="Picture 127">
            <a:extLst>
              <a:ext uri="{FF2B5EF4-FFF2-40B4-BE49-F238E27FC236}">
                <a16:creationId xmlns:a16="http://schemas.microsoft.com/office/drawing/2014/main" id="{740E9354-AE0A-4596-B016-BD384A7D04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47424" y="5341245"/>
            <a:ext cx="397295" cy="269423"/>
          </a:xfrm>
          <a:prstGeom prst="rect">
            <a:avLst/>
          </a:prstGeom>
        </p:spPr>
      </p:pic>
      <p:pic>
        <p:nvPicPr>
          <p:cNvPr id="130" name="Picture 129">
            <a:extLst>
              <a:ext uri="{FF2B5EF4-FFF2-40B4-BE49-F238E27FC236}">
                <a16:creationId xmlns:a16="http://schemas.microsoft.com/office/drawing/2014/main" id="{CC747376-BDB5-4827-9693-F9EA8651EAE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23774" y="5397316"/>
            <a:ext cx="416614" cy="269424"/>
          </a:xfrm>
          <a:prstGeom prst="rect">
            <a:avLst/>
          </a:prstGeom>
        </p:spPr>
      </p:pic>
      <p:pic>
        <p:nvPicPr>
          <p:cNvPr id="131" name="Picture 130">
            <a:extLst>
              <a:ext uri="{FF2B5EF4-FFF2-40B4-BE49-F238E27FC236}">
                <a16:creationId xmlns:a16="http://schemas.microsoft.com/office/drawing/2014/main" id="{4385BD66-DDFE-40AE-A635-20BC9BFEDCC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23309" y="5070055"/>
            <a:ext cx="653266" cy="422467"/>
          </a:xfrm>
          <a:prstGeom prst="rect">
            <a:avLst/>
          </a:prstGeom>
        </p:spPr>
      </p:pic>
      <p:pic>
        <p:nvPicPr>
          <p:cNvPr id="132" name="Picture 131">
            <a:extLst>
              <a:ext uri="{FF2B5EF4-FFF2-40B4-BE49-F238E27FC236}">
                <a16:creationId xmlns:a16="http://schemas.microsoft.com/office/drawing/2014/main" id="{1260FC77-CA41-48C3-8F3A-6A90B2A4DC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10836" y="4661727"/>
            <a:ext cx="843936" cy="545773"/>
          </a:xfrm>
          <a:prstGeom prst="rect">
            <a:avLst/>
          </a:prstGeom>
        </p:spPr>
      </p:pic>
      <p:pic>
        <p:nvPicPr>
          <p:cNvPr id="133" name="Picture 132">
            <a:extLst>
              <a:ext uri="{FF2B5EF4-FFF2-40B4-BE49-F238E27FC236}">
                <a16:creationId xmlns:a16="http://schemas.microsoft.com/office/drawing/2014/main" id="{BE549EE7-0840-4C44-B015-93DAD5F7EA3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434452" y="5012911"/>
            <a:ext cx="630149" cy="474147"/>
          </a:xfrm>
          <a:prstGeom prst="rect">
            <a:avLst/>
          </a:prstGeom>
        </p:spPr>
      </p:pic>
      <p:pic>
        <p:nvPicPr>
          <p:cNvPr id="134" name="Picture 133">
            <a:extLst>
              <a:ext uri="{FF2B5EF4-FFF2-40B4-BE49-F238E27FC236}">
                <a16:creationId xmlns:a16="http://schemas.microsoft.com/office/drawing/2014/main" id="{F16F5D76-8DFF-4E47-B63B-97B8EBFECE8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30042" y="4666958"/>
            <a:ext cx="803734" cy="604759"/>
          </a:xfrm>
          <a:prstGeom prst="rect">
            <a:avLst/>
          </a:prstGeom>
        </p:spPr>
      </p:pic>
      <p:pic>
        <p:nvPicPr>
          <p:cNvPr id="135" name="Picture 134">
            <a:extLst>
              <a:ext uri="{FF2B5EF4-FFF2-40B4-BE49-F238E27FC236}">
                <a16:creationId xmlns:a16="http://schemas.microsoft.com/office/drawing/2014/main" id="{0278D9FB-F953-4BFD-8B07-C5F14771D89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80641" y="5012911"/>
            <a:ext cx="669656" cy="454123"/>
          </a:xfrm>
          <a:prstGeom prst="rect">
            <a:avLst/>
          </a:prstGeom>
        </p:spPr>
      </p:pic>
      <p:pic>
        <p:nvPicPr>
          <p:cNvPr id="136" name="Picture 135">
            <a:extLst>
              <a:ext uri="{FF2B5EF4-FFF2-40B4-BE49-F238E27FC236}">
                <a16:creationId xmlns:a16="http://schemas.microsoft.com/office/drawing/2014/main" id="{33462E59-67AA-4D21-BE33-5693924DD83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193857" y="4664516"/>
            <a:ext cx="763235" cy="517583"/>
          </a:xfrm>
          <a:prstGeom prst="rect">
            <a:avLst/>
          </a:prstGeom>
        </p:spPr>
      </p:pic>
      <p:pic>
        <p:nvPicPr>
          <p:cNvPr id="141" name="Picture 140">
            <a:extLst>
              <a:ext uri="{FF2B5EF4-FFF2-40B4-BE49-F238E27FC236}">
                <a16:creationId xmlns:a16="http://schemas.microsoft.com/office/drawing/2014/main" id="{B5E2A249-16C7-419A-A927-58B8EB5EF7F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218570" y="5357810"/>
            <a:ext cx="557728" cy="281812"/>
          </a:xfrm>
          <a:prstGeom prst="rect">
            <a:avLst/>
          </a:prstGeom>
        </p:spPr>
      </p:pic>
      <p:pic>
        <p:nvPicPr>
          <p:cNvPr id="142" name="Picture 141">
            <a:extLst>
              <a:ext uri="{FF2B5EF4-FFF2-40B4-BE49-F238E27FC236}">
                <a16:creationId xmlns:a16="http://schemas.microsoft.com/office/drawing/2014/main" id="{B820FC9F-205E-43F1-AF33-0AB427A6CD5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391511" y="5036187"/>
            <a:ext cx="843204" cy="426059"/>
          </a:xfrm>
          <a:prstGeom prst="rect">
            <a:avLst/>
          </a:prstGeom>
        </p:spPr>
      </p:pic>
      <p:pic>
        <p:nvPicPr>
          <p:cNvPr id="143" name="Picture 142">
            <a:extLst>
              <a:ext uri="{FF2B5EF4-FFF2-40B4-BE49-F238E27FC236}">
                <a16:creationId xmlns:a16="http://schemas.microsoft.com/office/drawing/2014/main" id="{F9F4E463-158F-40F0-9717-CCD9AF21FDC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14946" y="4725812"/>
            <a:ext cx="921114" cy="465426"/>
          </a:xfrm>
          <a:prstGeom prst="rect">
            <a:avLst/>
          </a:prstGeom>
        </p:spPr>
      </p:pic>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6889569" y="3483164"/>
            <a:ext cx="1096784" cy="2726"/>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57" name="Straight Arrow Connector 156">
            <a:extLst>
              <a:ext uri="{FF2B5EF4-FFF2-40B4-BE49-F238E27FC236}">
                <a16:creationId xmlns:a16="http://schemas.microsoft.com/office/drawing/2014/main" id="{78B7F9FD-41BA-40F5-9F27-D00FC533B4FF}"/>
              </a:ext>
            </a:extLst>
          </p:cNvPr>
          <p:cNvCxnSpPr>
            <a:cxnSpLocks/>
          </p:cNvCxnSpPr>
          <p:nvPr/>
        </p:nvCxnSpPr>
        <p:spPr>
          <a:xfrm>
            <a:off x="830919" y="3602362"/>
            <a:ext cx="815810" cy="791838"/>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159" name="Rectangle 158">
            <a:extLst>
              <a:ext uri="{FF2B5EF4-FFF2-40B4-BE49-F238E27FC236}">
                <a16:creationId xmlns:a16="http://schemas.microsoft.com/office/drawing/2014/main" id="{3444B9E2-20D6-43E7-9D90-B3AE905FDF86}"/>
              </a:ext>
            </a:extLst>
          </p:cNvPr>
          <p:cNvSpPr/>
          <p:nvPr/>
        </p:nvSpPr>
        <p:spPr>
          <a:xfrm>
            <a:off x="1464733" y="4394200"/>
            <a:ext cx="9287934" cy="1506917"/>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0" name="Straight Arrow Connector 159">
            <a:extLst>
              <a:ext uri="{FF2B5EF4-FFF2-40B4-BE49-F238E27FC236}">
                <a16:creationId xmlns:a16="http://schemas.microsoft.com/office/drawing/2014/main" id="{919C5013-02BF-41E9-BB1E-3424C33C7527}"/>
              </a:ext>
            </a:extLst>
          </p:cNvPr>
          <p:cNvCxnSpPr>
            <a:cxnSpLocks/>
          </p:cNvCxnSpPr>
          <p:nvPr/>
        </p:nvCxnSpPr>
        <p:spPr>
          <a:xfrm>
            <a:off x="1107499" y="3579966"/>
            <a:ext cx="815810" cy="791838"/>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200" name="Straight Arrow Connector 199">
            <a:extLst>
              <a:ext uri="{FF2B5EF4-FFF2-40B4-BE49-F238E27FC236}">
                <a16:creationId xmlns:a16="http://schemas.microsoft.com/office/drawing/2014/main" id="{859E96C2-2B50-4FD6-A0C4-2EC1E2152EF0}"/>
              </a:ext>
            </a:extLst>
          </p:cNvPr>
          <p:cNvCxnSpPr>
            <a:stCxn id="159" idx="2"/>
          </p:cNvCxnSpPr>
          <p:nvPr/>
        </p:nvCxnSpPr>
        <p:spPr>
          <a:xfrm flipH="1">
            <a:off x="6104467" y="5901117"/>
            <a:ext cx="4233" cy="288016"/>
          </a:xfrm>
          <a:prstGeom prst="straightConnector1">
            <a:avLst/>
          </a:prstGeom>
          <a:ln>
            <a:solidFill>
              <a:srgbClr val="C28745"/>
            </a:solidFill>
            <a:tailEnd type="triangle"/>
          </a:ln>
        </p:spPr>
        <p:style>
          <a:lnRef idx="2">
            <a:schemeClr val="accent1"/>
          </a:lnRef>
          <a:fillRef idx="0">
            <a:schemeClr val="accent1"/>
          </a:fillRef>
          <a:effectRef idx="1">
            <a:schemeClr val="accent1"/>
          </a:effectRef>
          <a:fontRef idx="minor">
            <a:schemeClr val="tx1"/>
          </a:fontRef>
        </p:style>
      </p:cxnSp>
      <p:sp>
        <p:nvSpPr>
          <p:cNvPr id="201" name="TextBox 200">
            <a:extLst>
              <a:ext uri="{FF2B5EF4-FFF2-40B4-BE49-F238E27FC236}">
                <a16:creationId xmlns:a16="http://schemas.microsoft.com/office/drawing/2014/main" id="{2EFB5AF9-A77D-4F24-9406-406CF30C088D}"/>
              </a:ext>
            </a:extLst>
          </p:cNvPr>
          <p:cNvSpPr txBox="1"/>
          <p:nvPr/>
        </p:nvSpPr>
        <p:spPr>
          <a:xfrm>
            <a:off x="4992765" y="6261580"/>
            <a:ext cx="2223404" cy="369332"/>
          </a:xfrm>
          <a:prstGeom prst="rect">
            <a:avLst/>
          </a:prstGeom>
          <a:noFill/>
        </p:spPr>
        <p:txBody>
          <a:bodyPr wrap="square" rtlCol="0">
            <a:spAutoFit/>
          </a:bodyPr>
          <a:lstStyle/>
          <a:p>
            <a:r>
              <a:rPr lang="fr-FR" dirty="0"/>
              <a:t>Analyse de sensibilité</a:t>
            </a:r>
            <a:endParaRPr lang="en-US" dirty="0"/>
          </a:p>
        </p:txBody>
      </p:sp>
      <p:cxnSp>
        <p:nvCxnSpPr>
          <p:cNvPr id="204" name="Straight Arrow Connector 203">
            <a:extLst>
              <a:ext uri="{FF2B5EF4-FFF2-40B4-BE49-F238E27FC236}">
                <a16:creationId xmlns:a16="http://schemas.microsoft.com/office/drawing/2014/main" id="{A4CF316E-4158-4B25-99AF-D5043814E356}"/>
              </a:ext>
            </a:extLst>
          </p:cNvPr>
          <p:cNvCxnSpPr/>
          <p:nvPr/>
        </p:nvCxnSpPr>
        <p:spPr>
          <a:xfrm flipV="1">
            <a:off x="2210836" y="5271717"/>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5" name="TextBox 204">
            <a:extLst>
              <a:ext uri="{FF2B5EF4-FFF2-40B4-BE49-F238E27FC236}">
                <a16:creationId xmlns:a16="http://schemas.microsoft.com/office/drawing/2014/main" id="{CD975A2B-6D09-40AA-A8FC-DE6269C029C1}"/>
              </a:ext>
            </a:extLst>
          </p:cNvPr>
          <p:cNvSpPr txBox="1"/>
          <p:nvPr/>
        </p:nvSpPr>
        <p:spPr>
          <a:xfrm>
            <a:off x="2692280" y="5334507"/>
            <a:ext cx="280037" cy="369332"/>
          </a:xfrm>
          <a:prstGeom prst="rect">
            <a:avLst/>
          </a:prstGeom>
          <a:noFill/>
        </p:spPr>
        <p:txBody>
          <a:bodyPr wrap="square" rtlCol="0">
            <a:spAutoFit/>
          </a:bodyPr>
          <a:lstStyle/>
          <a:p>
            <a:r>
              <a:rPr lang="fr-FR" dirty="0"/>
              <a:t>t</a:t>
            </a:r>
            <a:endParaRPr lang="en-US" dirty="0"/>
          </a:p>
        </p:txBody>
      </p:sp>
      <p:cxnSp>
        <p:nvCxnSpPr>
          <p:cNvPr id="206" name="Straight Arrow Connector 205">
            <a:extLst>
              <a:ext uri="{FF2B5EF4-FFF2-40B4-BE49-F238E27FC236}">
                <a16:creationId xmlns:a16="http://schemas.microsoft.com/office/drawing/2014/main" id="{C81E0E6A-9519-483D-92A5-7E8BEFFB5CC7}"/>
              </a:ext>
            </a:extLst>
          </p:cNvPr>
          <p:cNvCxnSpPr/>
          <p:nvPr/>
        </p:nvCxnSpPr>
        <p:spPr>
          <a:xfrm flipV="1">
            <a:off x="4684974" y="5278293"/>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7" name="TextBox 206">
            <a:extLst>
              <a:ext uri="{FF2B5EF4-FFF2-40B4-BE49-F238E27FC236}">
                <a16:creationId xmlns:a16="http://schemas.microsoft.com/office/drawing/2014/main" id="{93B209DF-DE8F-454E-9529-F9BAD5E69D03}"/>
              </a:ext>
            </a:extLst>
          </p:cNvPr>
          <p:cNvSpPr txBox="1"/>
          <p:nvPr/>
        </p:nvSpPr>
        <p:spPr>
          <a:xfrm>
            <a:off x="5166418" y="5341083"/>
            <a:ext cx="280037" cy="369332"/>
          </a:xfrm>
          <a:prstGeom prst="rect">
            <a:avLst/>
          </a:prstGeom>
          <a:noFill/>
        </p:spPr>
        <p:txBody>
          <a:bodyPr wrap="square" rtlCol="0">
            <a:spAutoFit/>
          </a:bodyPr>
          <a:lstStyle/>
          <a:p>
            <a:r>
              <a:rPr lang="fr-FR" dirty="0"/>
              <a:t>t</a:t>
            </a:r>
            <a:endParaRPr lang="en-US" dirty="0"/>
          </a:p>
        </p:txBody>
      </p:sp>
      <p:cxnSp>
        <p:nvCxnSpPr>
          <p:cNvPr id="208" name="Straight Arrow Connector 207">
            <a:extLst>
              <a:ext uri="{FF2B5EF4-FFF2-40B4-BE49-F238E27FC236}">
                <a16:creationId xmlns:a16="http://schemas.microsoft.com/office/drawing/2014/main" id="{2AD937EE-4E7F-42CF-913C-66027B220868}"/>
              </a:ext>
            </a:extLst>
          </p:cNvPr>
          <p:cNvCxnSpPr/>
          <p:nvPr/>
        </p:nvCxnSpPr>
        <p:spPr>
          <a:xfrm flipV="1">
            <a:off x="7118851" y="5257691"/>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9" name="TextBox 208">
            <a:extLst>
              <a:ext uri="{FF2B5EF4-FFF2-40B4-BE49-F238E27FC236}">
                <a16:creationId xmlns:a16="http://schemas.microsoft.com/office/drawing/2014/main" id="{30C14C37-AF6E-4E8A-A014-1BDBBE783319}"/>
              </a:ext>
            </a:extLst>
          </p:cNvPr>
          <p:cNvSpPr txBox="1"/>
          <p:nvPr/>
        </p:nvSpPr>
        <p:spPr>
          <a:xfrm>
            <a:off x="7600295" y="5320481"/>
            <a:ext cx="280037" cy="369332"/>
          </a:xfrm>
          <a:prstGeom prst="rect">
            <a:avLst/>
          </a:prstGeom>
          <a:noFill/>
        </p:spPr>
        <p:txBody>
          <a:bodyPr wrap="square" rtlCol="0">
            <a:spAutoFit/>
          </a:bodyPr>
          <a:lstStyle/>
          <a:p>
            <a:r>
              <a:rPr lang="fr-FR" dirty="0"/>
              <a:t>t</a:t>
            </a:r>
            <a:endParaRPr lang="en-US" dirty="0"/>
          </a:p>
        </p:txBody>
      </p:sp>
      <p:cxnSp>
        <p:nvCxnSpPr>
          <p:cNvPr id="210" name="Straight Arrow Connector 209">
            <a:extLst>
              <a:ext uri="{FF2B5EF4-FFF2-40B4-BE49-F238E27FC236}">
                <a16:creationId xmlns:a16="http://schemas.microsoft.com/office/drawing/2014/main" id="{C2378359-1768-4E50-B686-1B0CCF8C6629}"/>
              </a:ext>
            </a:extLst>
          </p:cNvPr>
          <p:cNvCxnSpPr/>
          <p:nvPr/>
        </p:nvCxnSpPr>
        <p:spPr>
          <a:xfrm flipV="1">
            <a:off x="9772174" y="5251993"/>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1" name="TextBox 210">
            <a:extLst>
              <a:ext uri="{FF2B5EF4-FFF2-40B4-BE49-F238E27FC236}">
                <a16:creationId xmlns:a16="http://schemas.microsoft.com/office/drawing/2014/main" id="{9B3A2B44-2E20-4F22-9D81-C74589008C8A}"/>
              </a:ext>
            </a:extLst>
          </p:cNvPr>
          <p:cNvSpPr txBox="1"/>
          <p:nvPr/>
        </p:nvSpPr>
        <p:spPr>
          <a:xfrm>
            <a:off x="10253618" y="5314783"/>
            <a:ext cx="280037" cy="369332"/>
          </a:xfrm>
          <a:prstGeom prst="rect">
            <a:avLst/>
          </a:prstGeom>
          <a:noFill/>
        </p:spPr>
        <p:txBody>
          <a:bodyPr wrap="square" rtlCol="0">
            <a:spAutoFit/>
          </a:bodyPr>
          <a:lstStyle/>
          <a:p>
            <a:r>
              <a:rPr lang="fr-FR" dirty="0"/>
              <a:t>t</a:t>
            </a:r>
            <a:endParaRPr lang="en-US" dirty="0"/>
          </a:p>
        </p:txBody>
      </p: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15</a:t>
            </a:fld>
            <a:endParaRPr lang="fr-FR"/>
          </a:p>
        </p:txBody>
      </p:sp>
      <p:pic>
        <p:nvPicPr>
          <p:cNvPr id="224" name="Picture 223">
            <a:extLst>
              <a:ext uri="{FF2B5EF4-FFF2-40B4-BE49-F238E27FC236}">
                <a16:creationId xmlns:a16="http://schemas.microsoft.com/office/drawing/2014/main" id="{9A52910E-2E94-45C5-B775-59D316B8D6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52146" y="1977316"/>
            <a:ext cx="957888" cy="745024"/>
          </a:xfrm>
          <a:prstGeom prst="rect">
            <a:avLst/>
          </a:prstGeom>
        </p:spPr>
      </p:pic>
      <p:sp>
        <p:nvSpPr>
          <p:cNvPr id="225" name="Rectangle 224">
            <a:extLst>
              <a:ext uri="{FF2B5EF4-FFF2-40B4-BE49-F238E27FC236}">
                <a16:creationId xmlns:a16="http://schemas.microsoft.com/office/drawing/2014/main" id="{67F96804-BA90-4859-AE40-3D2391C4C00B}"/>
              </a:ext>
            </a:extLst>
          </p:cNvPr>
          <p:cNvSpPr/>
          <p:nvPr/>
        </p:nvSpPr>
        <p:spPr>
          <a:xfrm>
            <a:off x="5055372" y="1968600"/>
            <a:ext cx="2045424" cy="72244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Sorties dynamiques</a:t>
            </a:r>
          </a:p>
          <a:p>
            <a:pPr algn="ctr"/>
            <a:r>
              <a:rPr lang="fr-FR" dirty="0"/>
              <a:t>Ex : LAI(t)</a:t>
            </a:r>
            <a:endParaRPr lang="en-US" dirty="0"/>
          </a:p>
        </p:txBody>
      </p:sp>
      <p:cxnSp>
        <p:nvCxnSpPr>
          <p:cNvPr id="226" name="Straight Arrow Connector 225">
            <a:extLst>
              <a:ext uri="{FF2B5EF4-FFF2-40B4-BE49-F238E27FC236}">
                <a16:creationId xmlns:a16="http://schemas.microsoft.com/office/drawing/2014/main" id="{01C1EC90-E397-4094-98BC-412379380CAB}"/>
              </a:ext>
            </a:extLst>
          </p:cNvPr>
          <p:cNvCxnSpPr>
            <a:cxnSpLocks/>
            <a:endCxn id="225" idx="1"/>
          </p:cNvCxnSpPr>
          <p:nvPr/>
        </p:nvCxnSpPr>
        <p:spPr>
          <a:xfrm>
            <a:off x="4416536" y="2305158"/>
            <a:ext cx="638836" cy="24665"/>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238" name="Oval 237">
            <a:extLst>
              <a:ext uri="{FF2B5EF4-FFF2-40B4-BE49-F238E27FC236}">
                <a16:creationId xmlns:a16="http://schemas.microsoft.com/office/drawing/2014/main" id="{7E59C841-DA20-43A0-AC13-FC78E25D7229}"/>
              </a:ext>
            </a:extLst>
          </p:cNvPr>
          <p:cNvSpPr/>
          <p:nvPr/>
        </p:nvSpPr>
        <p:spPr>
          <a:xfrm>
            <a:off x="2054429" y="1713600"/>
            <a:ext cx="2380023" cy="1254806"/>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a:t>avec un modèle de culture</a:t>
            </a:r>
            <a:endParaRPr lang="en-US" dirty="0"/>
          </a:p>
        </p:txBody>
      </p:sp>
    </p:spTree>
    <p:extLst>
      <p:ext uri="{BB962C8B-B14F-4D97-AF65-F5344CB8AC3E}">
        <p14:creationId xmlns:p14="http://schemas.microsoft.com/office/powerpoint/2010/main" val="161985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4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4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0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0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0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0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5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6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0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1" grpId="0" animBg="1"/>
      <p:bldP spid="64" grpId="0" animBg="1"/>
      <p:bldP spid="65" grpId="0"/>
      <p:bldP spid="67" grpId="0"/>
      <p:bldP spid="69" grpId="0"/>
      <p:bldP spid="92" grpId="0" animBg="1"/>
      <p:bldP spid="159" grpId="0" animBg="1"/>
      <p:bldP spid="201" grpId="0"/>
      <p:bldP spid="205" grpId="0"/>
      <p:bldP spid="207" grpId="0"/>
      <p:bldP spid="209" grpId="0"/>
      <p:bldP spid="211" grpId="0"/>
      <p:bldP spid="225" grpId="0" animBg="1"/>
      <p:bldP spid="2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85A7AF-C4EA-54F1-05C6-EEC68190E0F0}"/>
              </a:ext>
            </a:extLst>
          </p:cNvPr>
          <p:cNvSpPr>
            <a:spLocks noGrp="1"/>
          </p:cNvSpPr>
          <p:nvPr>
            <p:ph type="title"/>
          </p:nvPr>
        </p:nvSpPr>
        <p:spPr>
          <a:xfrm>
            <a:off x="838200" y="111121"/>
            <a:ext cx="10515600" cy="1325563"/>
          </a:xfrm>
        </p:spPr>
        <p:txBody>
          <a:bodyPr>
            <a:normAutofit/>
          </a:bodyPr>
          <a:lstStyle/>
          <a:p>
            <a:r>
              <a:rPr lang="fr-FR" sz="3400" dirty="0"/>
              <a:t>Organisation du temps</a:t>
            </a:r>
          </a:p>
        </p:txBody>
      </p:sp>
      <p:sp>
        <p:nvSpPr>
          <p:cNvPr id="13" name="Slide Number Placeholder 12">
            <a:extLst>
              <a:ext uri="{FF2B5EF4-FFF2-40B4-BE49-F238E27FC236}">
                <a16:creationId xmlns:a16="http://schemas.microsoft.com/office/drawing/2014/main" id="{0D8FF298-5D6F-4DCF-BF30-057F41D8D740}"/>
              </a:ext>
            </a:extLst>
          </p:cNvPr>
          <p:cNvSpPr>
            <a:spLocks noGrp="1"/>
          </p:cNvSpPr>
          <p:nvPr>
            <p:ph type="sldNum" sz="quarter" idx="12"/>
          </p:nvPr>
        </p:nvSpPr>
        <p:spPr/>
        <p:txBody>
          <a:bodyPr/>
          <a:lstStyle/>
          <a:p>
            <a:fld id="{27C6CCC6-2BE5-4E42-96A4-D1E8E81A3D8E}" type="slidenum">
              <a:rPr lang="fr-FR" smtClean="0"/>
              <a:t>16</a:t>
            </a:fld>
            <a:endParaRPr lang="fr-FR"/>
          </a:p>
        </p:txBody>
      </p:sp>
      <p:pic>
        <p:nvPicPr>
          <p:cNvPr id="19" name="Picture 18">
            <a:extLst>
              <a:ext uri="{FF2B5EF4-FFF2-40B4-BE49-F238E27FC236}">
                <a16:creationId xmlns:a16="http://schemas.microsoft.com/office/drawing/2014/main" id="{02D0AEA0-43DA-4FA6-878C-CEA545B07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0384"/>
            <a:ext cx="12192000" cy="4037231"/>
          </a:xfrm>
          <a:prstGeom prst="rect">
            <a:avLst/>
          </a:prstGeom>
        </p:spPr>
      </p:pic>
    </p:spTree>
    <p:extLst>
      <p:ext uri="{BB962C8B-B14F-4D97-AF65-F5344CB8AC3E}">
        <p14:creationId xmlns:p14="http://schemas.microsoft.com/office/powerpoint/2010/main" val="2669298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478CB-EC9D-4703-BD69-FE5212BFDF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C2CF6D-FD8B-4466-B8B5-9FFE44B91FC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4DECB16-EACF-4320-A3F0-63C8E832E02C}"/>
              </a:ext>
            </a:extLst>
          </p:cNvPr>
          <p:cNvSpPr>
            <a:spLocks noGrp="1"/>
          </p:cNvSpPr>
          <p:nvPr>
            <p:ph type="sldNum" sz="quarter" idx="12"/>
          </p:nvPr>
        </p:nvSpPr>
        <p:spPr/>
        <p:txBody>
          <a:bodyPr/>
          <a:lstStyle/>
          <a:p>
            <a:fld id="{27C6CCC6-2BE5-4E42-96A4-D1E8E81A3D8E}" type="slidenum">
              <a:rPr lang="fr-FR" smtClean="0"/>
              <a:t>17</a:t>
            </a:fld>
            <a:endParaRPr lang="fr-FR"/>
          </a:p>
        </p:txBody>
      </p:sp>
      <p:pic>
        <p:nvPicPr>
          <p:cNvPr id="5" name="Picture 4">
            <a:extLst>
              <a:ext uri="{FF2B5EF4-FFF2-40B4-BE49-F238E27FC236}">
                <a16:creationId xmlns:a16="http://schemas.microsoft.com/office/drawing/2014/main" id="{A23317C6-2C57-463E-BC69-0CDAC36FF791}"/>
              </a:ext>
            </a:extLst>
          </p:cNvPr>
          <p:cNvPicPr/>
          <p:nvPr/>
        </p:nvPicPr>
        <p:blipFill>
          <a:blip r:embed="rId2">
            <a:extLst>
              <a:ext uri="{28A0092B-C50C-407E-A947-70E740481C1C}">
                <a14:useLocalDpi xmlns:a14="http://schemas.microsoft.com/office/drawing/2010/main" val="0"/>
              </a:ext>
            </a:extLst>
          </a:blip>
          <a:stretch>
            <a:fillRect/>
          </a:stretch>
        </p:blipFill>
        <p:spPr>
          <a:xfrm>
            <a:off x="2395775" y="503674"/>
            <a:ext cx="7400450" cy="5600700"/>
          </a:xfrm>
          <a:prstGeom prst="rect">
            <a:avLst/>
          </a:prstGeom>
        </p:spPr>
      </p:pic>
    </p:spTree>
    <p:extLst>
      <p:ext uri="{BB962C8B-B14F-4D97-AF65-F5344CB8AC3E}">
        <p14:creationId xmlns:p14="http://schemas.microsoft.com/office/powerpoint/2010/main" val="231292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59">
            <a:extLst>
              <a:ext uri="{FF2B5EF4-FFF2-40B4-BE49-F238E27FC236}">
                <a16:creationId xmlns:a16="http://schemas.microsoft.com/office/drawing/2014/main" id="{5EE2099C-C543-4E6A-867E-9AA0F9AECF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0062" y="1977431"/>
            <a:ext cx="957888" cy="745024"/>
          </a:xfrm>
          <a:prstGeom prst="rect">
            <a:avLst/>
          </a:prstGeom>
        </p:spPr>
      </p:pic>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46667" y="216561"/>
            <a:ext cx="10515600" cy="1267793"/>
          </a:xfrm>
        </p:spPr>
        <p:txBody>
          <a:bodyPr>
            <a:normAutofit fontScale="90000"/>
          </a:bodyPr>
          <a:lstStyle/>
          <a:p>
            <a:r>
              <a:rPr lang="fr-FR" sz="4000" dirty="0"/>
              <a:t>Chapitre II :</a:t>
            </a:r>
            <a:br>
              <a:rPr lang="fr-FR" sz="3600" dirty="0"/>
            </a:br>
            <a:r>
              <a:rPr lang="fr-FR" sz="3100" dirty="0"/>
              <a:t>Simulations pour chaque processus étudié (ex : pour </a:t>
            </a:r>
            <a:r>
              <a:rPr lang="fr-FR" sz="3200" dirty="0"/>
              <a:t>l’interception de la lumière)</a:t>
            </a:r>
            <a:endParaRPr lang="en-US" sz="3100" dirty="0"/>
          </a:p>
        </p:txBody>
      </p:sp>
      <p:sp>
        <p:nvSpPr>
          <p:cNvPr id="4" name="Oval 3">
            <a:extLst>
              <a:ext uri="{FF2B5EF4-FFF2-40B4-BE49-F238E27FC236}">
                <a16:creationId xmlns:a16="http://schemas.microsoft.com/office/drawing/2014/main" id="{BF8D5E98-A9ED-4B1A-9C6F-B88D4E769A89}"/>
              </a:ext>
            </a:extLst>
          </p:cNvPr>
          <p:cNvSpPr/>
          <p:nvPr/>
        </p:nvSpPr>
        <p:spPr>
          <a:xfrm>
            <a:off x="2683296" y="1166087"/>
            <a:ext cx="2135127" cy="1254806"/>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a:t>avec un modèle de culture</a:t>
            </a:r>
            <a:endParaRPr lang="en-US" dirty="0"/>
          </a:p>
        </p:txBody>
      </p:sp>
      <p:sp>
        <p:nvSpPr>
          <p:cNvPr id="5" name="Rectangle 4">
            <a:extLst>
              <a:ext uri="{FF2B5EF4-FFF2-40B4-BE49-F238E27FC236}">
                <a16:creationId xmlns:a16="http://schemas.microsoft.com/office/drawing/2014/main" id="{79D4566C-F405-4F07-8D2E-F52ED3947024}"/>
              </a:ext>
            </a:extLst>
          </p:cNvPr>
          <p:cNvSpPr/>
          <p:nvPr/>
        </p:nvSpPr>
        <p:spPr>
          <a:xfrm>
            <a:off x="1682904"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EBF9CE5-DC5E-48A3-B8B9-B31C65039BB9}"/>
              </a:ext>
            </a:extLst>
          </p:cNvPr>
          <p:cNvSpPr/>
          <p:nvPr/>
        </p:nvSpPr>
        <p:spPr>
          <a:xfrm>
            <a:off x="9168076" y="4608847"/>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2787645-0609-4C97-828C-951F3723F437}"/>
              </a:ext>
            </a:extLst>
          </p:cNvPr>
          <p:cNvSpPr/>
          <p:nvPr/>
        </p:nvSpPr>
        <p:spPr>
          <a:xfrm>
            <a:off x="6606589"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9C765D-3852-4392-8288-6665CC1D38E7}"/>
              </a:ext>
            </a:extLst>
          </p:cNvPr>
          <p:cNvSpPr/>
          <p:nvPr/>
        </p:nvSpPr>
        <p:spPr>
          <a:xfrm>
            <a:off x="4183180" y="4611450"/>
            <a:ext cx="1379764" cy="1077686"/>
          </a:xfrm>
          <a:prstGeom prst="rect">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42B5A41-A22A-417D-A522-612CB7DCCC4E}"/>
              </a:ext>
            </a:extLst>
          </p:cNvPr>
          <p:cNvCxnSpPr>
            <a:cxnSpLocks/>
            <a:stCxn id="92" idx="4"/>
            <a:endCxn id="5" idx="0"/>
          </p:cNvCxnSpPr>
          <p:nvPr/>
        </p:nvCxnSpPr>
        <p:spPr>
          <a:xfrm flipH="1">
            <a:off x="2372786" y="3872988"/>
            <a:ext cx="3723214"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B21AAE8C-16B6-45AB-B5B6-B63150A72E70}"/>
              </a:ext>
            </a:extLst>
          </p:cNvPr>
          <p:cNvCxnSpPr>
            <a:cxnSpLocks/>
            <a:stCxn id="92" idx="4"/>
            <a:endCxn id="11" idx="0"/>
          </p:cNvCxnSpPr>
          <p:nvPr/>
        </p:nvCxnSpPr>
        <p:spPr>
          <a:xfrm flipH="1">
            <a:off x="4873062" y="3872988"/>
            <a:ext cx="1222938"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D1E4AE1B-DFA6-42CB-9FFD-2AD3532E486F}"/>
              </a:ext>
            </a:extLst>
          </p:cNvPr>
          <p:cNvCxnSpPr>
            <a:cxnSpLocks/>
            <a:stCxn id="92" idx="4"/>
            <a:endCxn id="9" idx="0"/>
          </p:cNvCxnSpPr>
          <p:nvPr/>
        </p:nvCxnSpPr>
        <p:spPr>
          <a:xfrm>
            <a:off x="6096000" y="3872988"/>
            <a:ext cx="1200471" cy="73846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27" name="Straight Arrow Connector 26">
            <a:extLst>
              <a:ext uri="{FF2B5EF4-FFF2-40B4-BE49-F238E27FC236}">
                <a16:creationId xmlns:a16="http://schemas.microsoft.com/office/drawing/2014/main" id="{F7505169-CEE1-4B66-BC70-52E39E7938F9}"/>
              </a:ext>
            </a:extLst>
          </p:cNvPr>
          <p:cNvCxnSpPr>
            <a:cxnSpLocks/>
            <a:stCxn id="92" idx="4"/>
            <a:endCxn id="6" idx="0"/>
          </p:cNvCxnSpPr>
          <p:nvPr/>
        </p:nvCxnSpPr>
        <p:spPr>
          <a:xfrm>
            <a:off x="6096000" y="3872988"/>
            <a:ext cx="3761958" cy="735859"/>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42" name="Rectangle 41">
            <a:extLst>
              <a:ext uri="{FF2B5EF4-FFF2-40B4-BE49-F238E27FC236}">
                <a16:creationId xmlns:a16="http://schemas.microsoft.com/office/drawing/2014/main" id="{0EDDB2B7-9672-4059-ACEE-25FCB7BB4263}"/>
              </a:ext>
            </a:extLst>
          </p:cNvPr>
          <p:cNvSpPr/>
          <p:nvPr/>
        </p:nvSpPr>
        <p:spPr>
          <a:xfrm>
            <a:off x="5073288" y="1968715"/>
            <a:ext cx="2045424" cy="72244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Sorties dynamiques</a:t>
            </a:r>
          </a:p>
          <a:p>
            <a:pPr algn="ctr"/>
            <a:r>
              <a:rPr lang="fr-FR" dirty="0"/>
              <a:t>Ex : LAI(t)</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42" idx="1"/>
          </p:cNvCxnSpPr>
          <p:nvPr/>
        </p:nvCxnSpPr>
        <p:spPr>
          <a:xfrm>
            <a:off x="4818423" y="1793490"/>
            <a:ext cx="254865" cy="536448"/>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491090" y="2744500"/>
            <a:ext cx="3305574"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dirty="0"/>
              <a:t>Plan expérimental :</a:t>
            </a:r>
          </a:p>
          <a:p>
            <a:pPr algn="ctr"/>
            <a:r>
              <a:rPr lang="fr-FR" dirty="0"/>
              <a:t>Espace des degrés de liberté = </a:t>
            </a:r>
            <a:r>
              <a:rPr lang="fr-FR" dirty="0" err="1"/>
              <a:t>morphospace</a:t>
            </a:r>
            <a:r>
              <a:rPr lang="fr-FR" dirty="0"/>
              <a:t> graminée x </a:t>
            </a:r>
            <a:r>
              <a:rPr lang="fr-FR" dirty="0" err="1"/>
              <a:t>morphospace</a:t>
            </a:r>
            <a:r>
              <a:rPr lang="fr-FR" dirty="0"/>
              <a:t> légumineuse x</a:t>
            </a:r>
          </a:p>
          <a:p>
            <a:pPr algn="ctr"/>
            <a:r>
              <a:rPr lang="fr-FR" dirty="0"/>
              <a:t> (en rangées, en damier)</a:t>
            </a:r>
            <a:endParaRPr lang="en-US" dirty="0"/>
          </a:p>
        </p:txBody>
      </p:sp>
      <p:sp>
        <p:nvSpPr>
          <p:cNvPr id="65" name="TextBox 64">
            <a:extLst>
              <a:ext uri="{FF2B5EF4-FFF2-40B4-BE49-F238E27FC236}">
                <a16:creationId xmlns:a16="http://schemas.microsoft.com/office/drawing/2014/main" id="{86A4256E-1A87-4F38-A81E-888E51C6EAD7}"/>
              </a:ext>
            </a:extLst>
          </p:cNvPr>
          <p:cNvSpPr txBox="1"/>
          <p:nvPr/>
        </p:nvSpPr>
        <p:spPr>
          <a:xfrm>
            <a:off x="3349869" y="4718338"/>
            <a:ext cx="481693" cy="646331"/>
          </a:xfrm>
          <a:prstGeom prst="rect">
            <a:avLst/>
          </a:prstGeom>
          <a:noFill/>
        </p:spPr>
        <p:txBody>
          <a:bodyPr wrap="square" rtlCol="0">
            <a:spAutoFit/>
          </a:bodyPr>
          <a:lstStyle/>
          <a:p>
            <a:r>
              <a:rPr lang="fr-FR" sz="3600" dirty="0"/>
              <a:t>…</a:t>
            </a:r>
            <a:endParaRPr lang="en-US" sz="3600" dirty="0"/>
          </a:p>
        </p:txBody>
      </p:sp>
      <p:sp>
        <p:nvSpPr>
          <p:cNvPr id="67" name="TextBox 66">
            <a:extLst>
              <a:ext uri="{FF2B5EF4-FFF2-40B4-BE49-F238E27FC236}">
                <a16:creationId xmlns:a16="http://schemas.microsoft.com/office/drawing/2014/main" id="{41F1DBFA-0852-4C3F-9207-66B00DC74CB1}"/>
              </a:ext>
            </a:extLst>
          </p:cNvPr>
          <p:cNvSpPr txBox="1"/>
          <p:nvPr/>
        </p:nvSpPr>
        <p:spPr>
          <a:xfrm>
            <a:off x="5841810" y="4690684"/>
            <a:ext cx="481693" cy="646331"/>
          </a:xfrm>
          <a:prstGeom prst="rect">
            <a:avLst/>
          </a:prstGeom>
          <a:noFill/>
        </p:spPr>
        <p:txBody>
          <a:bodyPr wrap="square" rtlCol="0">
            <a:spAutoFit/>
          </a:bodyPr>
          <a:lstStyle/>
          <a:p>
            <a:r>
              <a:rPr lang="fr-FR" sz="3600" dirty="0"/>
              <a:t>…</a:t>
            </a:r>
            <a:endParaRPr lang="en-US" sz="3600" dirty="0"/>
          </a:p>
        </p:txBody>
      </p:sp>
      <p:sp>
        <p:nvSpPr>
          <p:cNvPr id="69" name="TextBox 68">
            <a:extLst>
              <a:ext uri="{FF2B5EF4-FFF2-40B4-BE49-F238E27FC236}">
                <a16:creationId xmlns:a16="http://schemas.microsoft.com/office/drawing/2014/main" id="{EABA472D-1620-4E72-B651-F4736512CA3B}"/>
              </a:ext>
            </a:extLst>
          </p:cNvPr>
          <p:cNvSpPr txBox="1"/>
          <p:nvPr/>
        </p:nvSpPr>
        <p:spPr>
          <a:xfrm>
            <a:off x="8336368" y="4711479"/>
            <a:ext cx="481693" cy="646331"/>
          </a:xfrm>
          <a:prstGeom prst="rect">
            <a:avLst/>
          </a:prstGeom>
          <a:noFill/>
        </p:spPr>
        <p:txBody>
          <a:bodyPr wrap="square" rtlCol="0">
            <a:spAutoFit/>
          </a:bodyPr>
          <a:lstStyle/>
          <a:p>
            <a:r>
              <a:rPr lang="fr-FR" sz="3600" dirty="0"/>
              <a:t>…</a:t>
            </a:r>
            <a:endParaRPr lang="en-US" sz="3600" dirty="0"/>
          </a:p>
        </p:txBody>
      </p:sp>
      <p:sp>
        <p:nvSpPr>
          <p:cNvPr id="92" name="Oval 91">
            <a:extLst>
              <a:ext uri="{FF2B5EF4-FFF2-40B4-BE49-F238E27FC236}">
                <a16:creationId xmlns:a16="http://schemas.microsoft.com/office/drawing/2014/main" id="{CB597C63-2200-4969-99FD-7D38A391A978}"/>
              </a:ext>
            </a:extLst>
          </p:cNvPr>
          <p:cNvSpPr/>
          <p:nvPr/>
        </p:nvSpPr>
        <p:spPr>
          <a:xfrm>
            <a:off x="5302430" y="3098791"/>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42" idx="2"/>
            <a:endCxn id="92" idx="0"/>
          </p:cNvCxnSpPr>
          <p:nvPr/>
        </p:nvCxnSpPr>
        <p:spPr>
          <a:xfrm>
            <a:off x="6096000" y="2691160"/>
            <a:ext cx="0" cy="407631"/>
          </a:xfrm>
          <a:prstGeom prst="straightConnector1">
            <a:avLst/>
          </a:prstGeom>
          <a:ln w="38100">
            <a:solidFill>
              <a:srgbClr val="F39200"/>
            </a:solidFill>
            <a:tailEnd type="triangle"/>
          </a:ln>
        </p:spPr>
        <p:style>
          <a:lnRef idx="2">
            <a:schemeClr val="accent1"/>
          </a:lnRef>
          <a:fillRef idx="0">
            <a:schemeClr val="accent1"/>
          </a:fillRef>
          <a:effectRef idx="1">
            <a:schemeClr val="accent1"/>
          </a:effectRef>
          <a:fontRef idx="minor">
            <a:schemeClr val="tx1"/>
          </a:fontRef>
        </p:style>
      </p:cxnSp>
      <p:pic>
        <p:nvPicPr>
          <p:cNvPr id="124" name="Picture 123">
            <a:extLst>
              <a:ext uri="{FF2B5EF4-FFF2-40B4-BE49-F238E27FC236}">
                <a16:creationId xmlns:a16="http://schemas.microsoft.com/office/drawing/2014/main" id="{4ECAED75-C499-4F96-BC85-77DF5228C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6026" y="2527192"/>
            <a:ext cx="371475" cy="323850"/>
          </a:xfrm>
          <a:prstGeom prst="rect">
            <a:avLst/>
          </a:prstGeom>
        </p:spPr>
      </p:pic>
      <p:pic>
        <p:nvPicPr>
          <p:cNvPr id="126" name="Picture 125">
            <a:extLst>
              <a:ext uri="{FF2B5EF4-FFF2-40B4-BE49-F238E27FC236}">
                <a16:creationId xmlns:a16="http://schemas.microsoft.com/office/drawing/2014/main" id="{56D22FEB-6BDD-4A9C-BEDE-2C7D16185B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2440" y="5357810"/>
            <a:ext cx="361229" cy="271802"/>
          </a:xfrm>
          <a:prstGeom prst="rect">
            <a:avLst/>
          </a:prstGeom>
        </p:spPr>
      </p:pic>
      <p:pic>
        <p:nvPicPr>
          <p:cNvPr id="128" name="Picture 127">
            <a:extLst>
              <a:ext uri="{FF2B5EF4-FFF2-40B4-BE49-F238E27FC236}">
                <a16:creationId xmlns:a16="http://schemas.microsoft.com/office/drawing/2014/main" id="{740E9354-AE0A-4596-B016-BD384A7D04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47424" y="5341245"/>
            <a:ext cx="397295" cy="269423"/>
          </a:xfrm>
          <a:prstGeom prst="rect">
            <a:avLst/>
          </a:prstGeom>
        </p:spPr>
      </p:pic>
      <p:pic>
        <p:nvPicPr>
          <p:cNvPr id="130" name="Picture 129">
            <a:extLst>
              <a:ext uri="{FF2B5EF4-FFF2-40B4-BE49-F238E27FC236}">
                <a16:creationId xmlns:a16="http://schemas.microsoft.com/office/drawing/2014/main" id="{CC747376-BDB5-4827-9693-F9EA8651EAE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23774" y="5397316"/>
            <a:ext cx="416614" cy="269424"/>
          </a:xfrm>
          <a:prstGeom prst="rect">
            <a:avLst/>
          </a:prstGeom>
        </p:spPr>
      </p:pic>
      <p:pic>
        <p:nvPicPr>
          <p:cNvPr id="131" name="Picture 130">
            <a:extLst>
              <a:ext uri="{FF2B5EF4-FFF2-40B4-BE49-F238E27FC236}">
                <a16:creationId xmlns:a16="http://schemas.microsoft.com/office/drawing/2014/main" id="{4385BD66-DDFE-40AE-A635-20BC9BFEDCC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23309" y="5070055"/>
            <a:ext cx="653266" cy="422467"/>
          </a:xfrm>
          <a:prstGeom prst="rect">
            <a:avLst/>
          </a:prstGeom>
        </p:spPr>
      </p:pic>
      <p:pic>
        <p:nvPicPr>
          <p:cNvPr id="132" name="Picture 131">
            <a:extLst>
              <a:ext uri="{FF2B5EF4-FFF2-40B4-BE49-F238E27FC236}">
                <a16:creationId xmlns:a16="http://schemas.microsoft.com/office/drawing/2014/main" id="{1260FC77-CA41-48C3-8F3A-6A90B2A4DC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10836" y="4661727"/>
            <a:ext cx="843936" cy="545773"/>
          </a:xfrm>
          <a:prstGeom prst="rect">
            <a:avLst/>
          </a:prstGeom>
        </p:spPr>
      </p:pic>
      <p:pic>
        <p:nvPicPr>
          <p:cNvPr id="133" name="Picture 132">
            <a:extLst>
              <a:ext uri="{FF2B5EF4-FFF2-40B4-BE49-F238E27FC236}">
                <a16:creationId xmlns:a16="http://schemas.microsoft.com/office/drawing/2014/main" id="{BE549EE7-0840-4C44-B015-93DAD5F7EA3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434452" y="5012911"/>
            <a:ext cx="630149" cy="474147"/>
          </a:xfrm>
          <a:prstGeom prst="rect">
            <a:avLst/>
          </a:prstGeom>
        </p:spPr>
      </p:pic>
      <p:pic>
        <p:nvPicPr>
          <p:cNvPr id="134" name="Picture 133">
            <a:extLst>
              <a:ext uri="{FF2B5EF4-FFF2-40B4-BE49-F238E27FC236}">
                <a16:creationId xmlns:a16="http://schemas.microsoft.com/office/drawing/2014/main" id="{F16F5D76-8DFF-4E47-B63B-97B8EBFECE8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30042" y="4666958"/>
            <a:ext cx="803734" cy="604759"/>
          </a:xfrm>
          <a:prstGeom prst="rect">
            <a:avLst/>
          </a:prstGeom>
        </p:spPr>
      </p:pic>
      <p:pic>
        <p:nvPicPr>
          <p:cNvPr id="135" name="Picture 134">
            <a:extLst>
              <a:ext uri="{FF2B5EF4-FFF2-40B4-BE49-F238E27FC236}">
                <a16:creationId xmlns:a16="http://schemas.microsoft.com/office/drawing/2014/main" id="{0278D9FB-F953-4BFD-8B07-C5F14771D89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80641" y="5012911"/>
            <a:ext cx="669656" cy="454123"/>
          </a:xfrm>
          <a:prstGeom prst="rect">
            <a:avLst/>
          </a:prstGeom>
        </p:spPr>
      </p:pic>
      <p:pic>
        <p:nvPicPr>
          <p:cNvPr id="136" name="Picture 135">
            <a:extLst>
              <a:ext uri="{FF2B5EF4-FFF2-40B4-BE49-F238E27FC236}">
                <a16:creationId xmlns:a16="http://schemas.microsoft.com/office/drawing/2014/main" id="{33462E59-67AA-4D21-BE33-5693924DD83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193857" y="4664516"/>
            <a:ext cx="763235" cy="517583"/>
          </a:xfrm>
          <a:prstGeom prst="rect">
            <a:avLst/>
          </a:prstGeom>
        </p:spPr>
      </p:pic>
      <p:pic>
        <p:nvPicPr>
          <p:cNvPr id="141" name="Picture 140">
            <a:extLst>
              <a:ext uri="{FF2B5EF4-FFF2-40B4-BE49-F238E27FC236}">
                <a16:creationId xmlns:a16="http://schemas.microsoft.com/office/drawing/2014/main" id="{B5E2A249-16C7-419A-A927-58B8EB5EF7F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218570" y="5357810"/>
            <a:ext cx="557728" cy="281812"/>
          </a:xfrm>
          <a:prstGeom prst="rect">
            <a:avLst/>
          </a:prstGeom>
        </p:spPr>
      </p:pic>
      <p:pic>
        <p:nvPicPr>
          <p:cNvPr id="142" name="Picture 141">
            <a:extLst>
              <a:ext uri="{FF2B5EF4-FFF2-40B4-BE49-F238E27FC236}">
                <a16:creationId xmlns:a16="http://schemas.microsoft.com/office/drawing/2014/main" id="{B820FC9F-205E-43F1-AF33-0AB427A6CD5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391511" y="5036187"/>
            <a:ext cx="843204" cy="426059"/>
          </a:xfrm>
          <a:prstGeom prst="rect">
            <a:avLst/>
          </a:prstGeom>
        </p:spPr>
      </p:pic>
      <p:pic>
        <p:nvPicPr>
          <p:cNvPr id="143" name="Picture 142">
            <a:extLst>
              <a:ext uri="{FF2B5EF4-FFF2-40B4-BE49-F238E27FC236}">
                <a16:creationId xmlns:a16="http://schemas.microsoft.com/office/drawing/2014/main" id="{F9F4E463-158F-40F0-9717-CCD9AF21FDC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14946" y="4725812"/>
            <a:ext cx="921114" cy="465426"/>
          </a:xfrm>
          <a:prstGeom prst="rect">
            <a:avLst/>
          </a:prstGeom>
        </p:spPr>
      </p:pic>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6889569" y="3483164"/>
            <a:ext cx="1601521" cy="2726"/>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57" name="Straight Arrow Connector 156">
            <a:extLst>
              <a:ext uri="{FF2B5EF4-FFF2-40B4-BE49-F238E27FC236}">
                <a16:creationId xmlns:a16="http://schemas.microsoft.com/office/drawing/2014/main" id="{78B7F9FD-41BA-40F5-9F27-D00FC533B4FF}"/>
              </a:ext>
            </a:extLst>
          </p:cNvPr>
          <p:cNvCxnSpPr>
            <a:cxnSpLocks/>
          </p:cNvCxnSpPr>
          <p:nvPr/>
        </p:nvCxnSpPr>
        <p:spPr>
          <a:xfrm>
            <a:off x="830919" y="3602362"/>
            <a:ext cx="815810" cy="791838"/>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159" name="Rectangle 158">
            <a:extLst>
              <a:ext uri="{FF2B5EF4-FFF2-40B4-BE49-F238E27FC236}">
                <a16:creationId xmlns:a16="http://schemas.microsoft.com/office/drawing/2014/main" id="{3444B9E2-20D6-43E7-9D90-B3AE905FDF86}"/>
              </a:ext>
            </a:extLst>
          </p:cNvPr>
          <p:cNvSpPr/>
          <p:nvPr/>
        </p:nvSpPr>
        <p:spPr>
          <a:xfrm>
            <a:off x="1464733" y="4394200"/>
            <a:ext cx="9287934" cy="1506917"/>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0" name="Straight Arrow Connector 159">
            <a:extLst>
              <a:ext uri="{FF2B5EF4-FFF2-40B4-BE49-F238E27FC236}">
                <a16:creationId xmlns:a16="http://schemas.microsoft.com/office/drawing/2014/main" id="{919C5013-02BF-41E9-BB1E-3424C33C7527}"/>
              </a:ext>
            </a:extLst>
          </p:cNvPr>
          <p:cNvCxnSpPr>
            <a:cxnSpLocks/>
          </p:cNvCxnSpPr>
          <p:nvPr/>
        </p:nvCxnSpPr>
        <p:spPr>
          <a:xfrm>
            <a:off x="1107499" y="3579966"/>
            <a:ext cx="815810" cy="791838"/>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62" name="Straight Arrow Connector 161">
            <a:extLst>
              <a:ext uri="{FF2B5EF4-FFF2-40B4-BE49-F238E27FC236}">
                <a16:creationId xmlns:a16="http://schemas.microsoft.com/office/drawing/2014/main" id="{26CF396E-2500-4E9E-B552-8474C72BE12E}"/>
              </a:ext>
            </a:extLst>
          </p:cNvPr>
          <p:cNvCxnSpPr>
            <a:cxnSpLocks/>
            <a:stCxn id="4" idx="2"/>
            <a:endCxn id="165" idx="3"/>
          </p:cNvCxnSpPr>
          <p:nvPr/>
        </p:nvCxnSpPr>
        <p:spPr>
          <a:xfrm flipH="1">
            <a:off x="2449856" y="1793490"/>
            <a:ext cx="233440" cy="520864"/>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165" name="Rectangle 164">
            <a:extLst>
              <a:ext uri="{FF2B5EF4-FFF2-40B4-BE49-F238E27FC236}">
                <a16:creationId xmlns:a16="http://schemas.microsoft.com/office/drawing/2014/main" id="{D6514200-8107-40DE-A121-D1E57855B1DB}"/>
              </a:ext>
            </a:extLst>
          </p:cNvPr>
          <p:cNvSpPr/>
          <p:nvPr/>
        </p:nvSpPr>
        <p:spPr>
          <a:xfrm>
            <a:off x="199429" y="1953131"/>
            <a:ext cx="2250427" cy="72244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Sorties dynamiques</a:t>
            </a:r>
          </a:p>
          <a:p>
            <a:pPr algn="ctr"/>
            <a:r>
              <a:rPr lang="fr-FR" dirty="0"/>
              <a:t>Ex : PAR intercepté (t)</a:t>
            </a:r>
            <a:endParaRPr lang="en-US" dirty="0"/>
          </a:p>
        </p:txBody>
      </p:sp>
      <p:cxnSp>
        <p:nvCxnSpPr>
          <p:cNvPr id="7" name="Straight Arrow Connector 6">
            <a:extLst>
              <a:ext uri="{FF2B5EF4-FFF2-40B4-BE49-F238E27FC236}">
                <a16:creationId xmlns:a16="http://schemas.microsoft.com/office/drawing/2014/main" id="{84B5AAD4-D1FD-4B14-A6F7-2F0DCA9BC83F}"/>
              </a:ext>
            </a:extLst>
          </p:cNvPr>
          <p:cNvCxnSpPr>
            <a:stCxn id="165" idx="2"/>
          </p:cNvCxnSpPr>
          <p:nvPr/>
        </p:nvCxnSpPr>
        <p:spPr>
          <a:xfrm>
            <a:off x="1324643" y="2675576"/>
            <a:ext cx="1358653" cy="1718624"/>
          </a:xfrm>
          <a:prstGeom prst="straightConnector1">
            <a:avLst/>
          </a:prstGeom>
          <a:ln w="57150">
            <a:solidFill>
              <a:srgbClr val="C2874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7CD506A-6FC1-49DD-880B-AA91B278BA0F}"/>
              </a:ext>
            </a:extLst>
          </p:cNvPr>
          <p:cNvSpPr txBox="1"/>
          <p:nvPr/>
        </p:nvSpPr>
        <p:spPr>
          <a:xfrm>
            <a:off x="2003969" y="3274354"/>
            <a:ext cx="1428010" cy="369332"/>
          </a:xfrm>
          <a:prstGeom prst="rect">
            <a:avLst/>
          </a:prstGeom>
          <a:noFill/>
        </p:spPr>
        <p:txBody>
          <a:bodyPr wrap="square" rtlCol="0">
            <a:spAutoFit/>
          </a:bodyPr>
          <a:lstStyle/>
          <a:p>
            <a:r>
              <a:rPr lang="fr-FR" dirty="0"/>
              <a:t>comparaison</a:t>
            </a:r>
            <a:endParaRPr lang="en-US" dirty="0"/>
          </a:p>
        </p:txBody>
      </p:sp>
      <p:cxnSp>
        <p:nvCxnSpPr>
          <p:cNvPr id="12" name="Straight Arrow Connector 11">
            <a:extLst>
              <a:ext uri="{FF2B5EF4-FFF2-40B4-BE49-F238E27FC236}">
                <a16:creationId xmlns:a16="http://schemas.microsoft.com/office/drawing/2014/main" id="{C4A79933-8ACB-4014-ADE8-D5DA28CBCEAA}"/>
              </a:ext>
            </a:extLst>
          </p:cNvPr>
          <p:cNvCxnSpPr/>
          <p:nvPr/>
        </p:nvCxnSpPr>
        <p:spPr>
          <a:xfrm flipV="1">
            <a:off x="2210836" y="5271717"/>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AF04FADB-00F6-4099-8B0D-257F12792D9C}"/>
              </a:ext>
            </a:extLst>
          </p:cNvPr>
          <p:cNvSpPr txBox="1"/>
          <p:nvPr/>
        </p:nvSpPr>
        <p:spPr>
          <a:xfrm>
            <a:off x="2692280" y="5334507"/>
            <a:ext cx="280037" cy="369332"/>
          </a:xfrm>
          <a:prstGeom prst="rect">
            <a:avLst/>
          </a:prstGeom>
          <a:noFill/>
        </p:spPr>
        <p:txBody>
          <a:bodyPr wrap="square" rtlCol="0">
            <a:spAutoFit/>
          </a:bodyPr>
          <a:lstStyle/>
          <a:p>
            <a:r>
              <a:rPr lang="fr-FR" dirty="0"/>
              <a:t>t</a:t>
            </a:r>
            <a:endParaRPr lang="en-US" dirty="0"/>
          </a:p>
        </p:txBody>
      </p:sp>
      <p:cxnSp>
        <p:nvCxnSpPr>
          <p:cNvPr id="48" name="Straight Arrow Connector 47">
            <a:extLst>
              <a:ext uri="{FF2B5EF4-FFF2-40B4-BE49-F238E27FC236}">
                <a16:creationId xmlns:a16="http://schemas.microsoft.com/office/drawing/2014/main" id="{46C937C4-D36C-4A94-8348-6AEE274BD8FA}"/>
              </a:ext>
            </a:extLst>
          </p:cNvPr>
          <p:cNvCxnSpPr/>
          <p:nvPr/>
        </p:nvCxnSpPr>
        <p:spPr>
          <a:xfrm flipV="1">
            <a:off x="4684974" y="5278293"/>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4A81AF33-36C6-4F39-BDC7-BFA54CDA13A5}"/>
              </a:ext>
            </a:extLst>
          </p:cNvPr>
          <p:cNvSpPr txBox="1"/>
          <p:nvPr/>
        </p:nvSpPr>
        <p:spPr>
          <a:xfrm>
            <a:off x="5166418" y="5341083"/>
            <a:ext cx="280037" cy="369332"/>
          </a:xfrm>
          <a:prstGeom prst="rect">
            <a:avLst/>
          </a:prstGeom>
          <a:noFill/>
        </p:spPr>
        <p:txBody>
          <a:bodyPr wrap="square" rtlCol="0">
            <a:spAutoFit/>
          </a:bodyPr>
          <a:lstStyle/>
          <a:p>
            <a:r>
              <a:rPr lang="fr-FR" dirty="0"/>
              <a:t>t</a:t>
            </a:r>
            <a:endParaRPr lang="en-US" dirty="0"/>
          </a:p>
        </p:txBody>
      </p:sp>
      <p:cxnSp>
        <p:nvCxnSpPr>
          <p:cNvPr id="50" name="Straight Arrow Connector 49">
            <a:extLst>
              <a:ext uri="{FF2B5EF4-FFF2-40B4-BE49-F238E27FC236}">
                <a16:creationId xmlns:a16="http://schemas.microsoft.com/office/drawing/2014/main" id="{CB19EB73-11AE-46F7-9353-4BDF5CBD3C0C}"/>
              </a:ext>
            </a:extLst>
          </p:cNvPr>
          <p:cNvCxnSpPr/>
          <p:nvPr/>
        </p:nvCxnSpPr>
        <p:spPr>
          <a:xfrm flipV="1">
            <a:off x="7118851" y="5257691"/>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TextBox 50">
            <a:extLst>
              <a:ext uri="{FF2B5EF4-FFF2-40B4-BE49-F238E27FC236}">
                <a16:creationId xmlns:a16="http://schemas.microsoft.com/office/drawing/2014/main" id="{C3B582B0-C6F0-411F-A465-319F64A3B814}"/>
              </a:ext>
            </a:extLst>
          </p:cNvPr>
          <p:cNvSpPr txBox="1"/>
          <p:nvPr/>
        </p:nvSpPr>
        <p:spPr>
          <a:xfrm>
            <a:off x="7600295" y="5320481"/>
            <a:ext cx="280037" cy="369332"/>
          </a:xfrm>
          <a:prstGeom prst="rect">
            <a:avLst/>
          </a:prstGeom>
          <a:noFill/>
        </p:spPr>
        <p:txBody>
          <a:bodyPr wrap="square" rtlCol="0">
            <a:spAutoFit/>
          </a:bodyPr>
          <a:lstStyle/>
          <a:p>
            <a:r>
              <a:rPr lang="fr-FR" dirty="0"/>
              <a:t>t</a:t>
            </a:r>
            <a:endParaRPr lang="en-US" dirty="0"/>
          </a:p>
        </p:txBody>
      </p:sp>
      <p:cxnSp>
        <p:nvCxnSpPr>
          <p:cNvPr id="52" name="Straight Arrow Connector 51">
            <a:extLst>
              <a:ext uri="{FF2B5EF4-FFF2-40B4-BE49-F238E27FC236}">
                <a16:creationId xmlns:a16="http://schemas.microsoft.com/office/drawing/2014/main" id="{4C4B2D13-5139-4B9C-8170-FA29F392121B}"/>
              </a:ext>
            </a:extLst>
          </p:cNvPr>
          <p:cNvCxnSpPr/>
          <p:nvPr/>
        </p:nvCxnSpPr>
        <p:spPr>
          <a:xfrm flipV="1">
            <a:off x="9772174" y="5251993"/>
            <a:ext cx="752497" cy="3679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45FB3E04-4547-4FEA-801B-6423B634E6E1}"/>
              </a:ext>
            </a:extLst>
          </p:cNvPr>
          <p:cNvSpPr txBox="1"/>
          <p:nvPr/>
        </p:nvSpPr>
        <p:spPr>
          <a:xfrm>
            <a:off x="10253618" y="5314783"/>
            <a:ext cx="280037" cy="369332"/>
          </a:xfrm>
          <a:prstGeom prst="rect">
            <a:avLst/>
          </a:prstGeom>
          <a:noFill/>
        </p:spPr>
        <p:txBody>
          <a:bodyPr wrap="square" rtlCol="0">
            <a:spAutoFit/>
          </a:bodyPr>
          <a:lstStyle/>
          <a:p>
            <a:r>
              <a:rPr lang="fr-FR" dirty="0"/>
              <a:t>t</a:t>
            </a:r>
            <a:endParaRPr lang="en-US" dirty="0"/>
          </a:p>
        </p:txBody>
      </p:sp>
      <p:sp>
        <p:nvSpPr>
          <p:cNvPr id="16" name="TextBox 15">
            <a:extLst>
              <a:ext uri="{FF2B5EF4-FFF2-40B4-BE49-F238E27FC236}">
                <a16:creationId xmlns:a16="http://schemas.microsoft.com/office/drawing/2014/main" id="{E31CED04-1B89-400E-B9C8-072DAC0D0936}"/>
              </a:ext>
            </a:extLst>
          </p:cNvPr>
          <p:cNvSpPr txBox="1"/>
          <p:nvPr/>
        </p:nvSpPr>
        <p:spPr>
          <a:xfrm>
            <a:off x="724276" y="6192570"/>
            <a:ext cx="9047898" cy="369332"/>
          </a:xfrm>
          <a:prstGeom prst="rect">
            <a:avLst/>
          </a:prstGeom>
          <a:noFill/>
        </p:spPr>
        <p:txBody>
          <a:bodyPr wrap="square" rtlCol="0">
            <a:spAutoFit/>
          </a:bodyPr>
          <a:lstStyle/>
          <a:p>
            <a:r>
              <a:rPr lang="fr-FR" dirty="0"/>
              <a:t>Autres processus : acquisition de l’eau et de l’azote (+ allocation de l’azote dans les organes)</a:t>
            </a:r>
            <a:endParaRPr lang="en-US" dirty="0"/>
          </a:p>
        </p:txBody>
      </p:sp>
      <p:sp>
        <p:nvSpPr>
          <p:cNvPr id="21" name="Slide Number Placeholder 20">
            <a:extLst>
              <a:ext uri="{FF2B5EF4-FFF2-40B4-BE49-F238E27FC236}">
                <a16:creationId xmlns:a16="http://schemas.microsoft.com/office/drawing/2014/main" id="{5B26D734-FD4C-4D5E-A0FC-7E52E1C0A76A}"/>
              </a:ext>
            </a:extLst>
          </p:cNvPr>
          <p:cNvSpPr>
            <a:spLocks noGrp="1"/>
          </p:cNvSpPr>
          <p:nvPr>
            <p:ph type="sldNum" sz="quarter" idx="12"/>
          </p:nvPr>
        </p:nvSpPr>
        <p:spPr/>
        <p:txBody>
          <a:bodyPr/>
          <a:lstStyle/>
          <a:p>
            <a:fld id="{27C6CCC6-2BE5-4E42-96A4-D1E8E81A3D8E}" type="slidenum">
              <a:rPr lang="fr-FR" smtClean="0"/>
              <a:t>18</a:t>
            </a:fld>
            <a:endParaRPr lang="fr-FR"/>
          </a:p>
        </p:txBody>
      </p:sp>
      <p:sp>
        <p:nvSpPr>
          <p:cNvPr id="59" name="TextBox 58">
            <a:extLst>
              <a:ext uri="{FF2B5EF4-FFF2-40B4-BE49-F238E27FC236}">
                <a16:creationId xmlns:a16="http://schemas.microsoft.com/office/drawing/2014/main" id="{05FF5E20-04EC-4F4D-990B-8847310CD84B}"/>
              </a:ext>
            </a:extLst>
          </p:cNvPr>
          <p:cNvSpPr txBox="1"/>
          <p:nvPr/>
        </p:nvSpPr>
        <p:spPr>
          <a:xfrm>
            <a:off x="7986353" y="2744500"/>
            <a:ext cx="3819365" cy="1477328"/>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dirty="0"/>
              <a:t>Plan expérimental :</a:t>
            </a:r>
          </a:p>
          <a:p>
            <a:pPr algn="ctr"/>
            <a:r>
              <a:rPr lang="fr-FR" dirty="0"/>
              <a:t>Espace des degrés de liberté = </a:t>
            </a:r>
          </a:p>
          <a:p>
            <a:pPr algn="ctr"/>
            <a:r>
              <a:rPr lang="fr-FR" dirty="0"/>
              <a:t>espace morphologique graminée x </a:t>
            </a:r>
          </a:p>
          <a:p>
            <a:pPr algn="ctr"/>
            <a:r>
              <a:rPr lang="fr-FR" dirty="0"/>
              <a:t>espace morphologique légumineuse x</a:t>
            </a:r>
          </a:p>
          <a:p>
            <a:pPr algn="ctr"/>
            <a:r>
              <a:rPr lang="fr-FR" dirty="0"/>
              <a:t> (en rangées, en damier)</a:t>
            </a:r>
            <a:endParaRPr lang="en-US" dirty="0"/>
          </a:p>
        </p:txBody>
      </p:sp>
    </p:spTree>
    <p:extLst>
      <p:ext uri="{BB962C8B-B14F-4D97-AF65-F5344CB8AC3E}">
        <p14:creationId xmlns:p14="http://schemas.microsoft.com/office/powerpoint/2010/main" val="32745920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AAEAEC55338B4CBD1310BC20ECA43B" ma:contentTypeVersion="6" ma:contentTypeDescription="Crée un document." ma:contentTypeScope="" ma:versionID="f3bee9aad377d983e5ace40107548819">
  <xsd:schema xmlns:xsd="http://www.w3.org/2001/XMLSchema" xmlns:xs="http://www.w3.org/2001/XMLSchema" xmlns:p="http://schemas.microsoft.com/office/2006/metadata/properties" xmlns:ns2="5e11a331-0175-485c-b5bc-7baf3794bcc4" xmlns:ns3="6123b362-d884-4010-ad19-191a22b79bf5" targetNamespace="http://schemas.microsoft.com/office/2006/metadata/properties" ma:root="true" ma:fieldsID="da4ddf064b527fafbeea9bca5b83bae1" ns2:_="" ns3:_="">
    <xsd:import namespace="5e11a331-0175-485c-b5bc-7baf3794bcc4"/>
    <xsd:import namespace="6123b362-d884-4010-ad19-191a22b79bf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11a331-0175-485c-b5bc-7baf3794bc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23b362-d884-4010-ad19-191a22b79bf5"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367EEE-588A-43EA-B4CA-B132941618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11a331-0175-485c-b5bc-7baf3794bcc4"/>
    <ds:schemaRef ds:uri="6123b362-d884-4010-ad19-191a22b79b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1A9BF6-46C8-4A93-8A6C-1B6AB6A487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4205</TotalTime>
  <Words>1610</Words>
  <Application>Microsoft Office PowerPoint</Application>
  <PresentationFormat>Widescreen</PresentationFormat>
  <Paragraphs>252</Paragraphs>
  <Slides>18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Cambria Math</vt:lpstr>
      <vt:lpstr>Courier New,monospace</vt:lpstr>
      <vt:lpstr>Thème Office</vt:lpstr>
      <vt:lpstr>Comité de Suivi Individuel de 1ère année Thèse : Environnement de modélisation hybride multi-échelle pour les cultures associées :  obtenir le meilleur des modèles de plantes et de culture</vt:lpstr>
      <vt:lpstr>Motivations du sujet</vt:lpstr>
      <vt:lpstr>Système de cultures associées</vt:lpstr>
      <vt:lpstr>État de l’art des modèles de plantes et de cultures</vt:lpstr>
      <vt:lpstr>Exemple de processus : l’interception de la lumière</vt:lpstr>
      <vt:lpstr>Limites des modèles existants pour la modélisation des cultures associées</vt:lpstr>
      <vt:lpstr>Formalisme intermédiaire</vt:lpstr>
      <vt:lpstr>Approches hybrides pour des cultures en mélanges</vt:lpstr>
      <vt:lpstr>Ma thèse :  Modélisation hybride multi-échelle pour les cultures associées</vt:lpstr>
      <vt:lpstr>Chapitre I : Conception d’un modèle architecturé 3D+t contraint par la trajectoire prédite par un modèle de culture</vt:lpstr>
      <vt:lpstr>Chapitre II : Méthode de comparaison des processus d’acquisition des ressources à différentes échelles</vt:lpstr>
      <vt:lpstr>Chapitre III : Proposition d'approches de modélisation multi-échelles</vt:lpstr>
      <vt:lpstr>Chapitre I : Modèle ArchiCrop</vt:lpstr>
      <vt:lpstr>Chapitre I : Contraindre la croissance par l’évolution temporelle du LAI</vt:lpstr>
      <vt:lpstr>Chapitre I : Simulations (application à l’interception de la lumière)</vt:lpstr>
      <vt:lpstr>Organisation du temps</vt:lpstr>
      <vt:lpstr>PowerPoint Presentation</vt:lpstr>
      <vt:lpstr>Chapitre II : Simulations pour chaque processus étudié (ex : pour l’interception de la lumière)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braud</dc:creator>
  <cp:lastModifiedBy>Oriane BRAUD</cp:lastModifiedBy>
  <cp:revision>871</cp:revision>
  <dcterms:created xsi:type="dcterms:W3CDTF">2024-06-25T09:40:25Z</dcterms:created>
  <dcterms:modified xsi:type="dcterms:W3CDTF">2024-06-28T11:37:12Z</dcterms:modified>
</cp:coreProperties>
</file>