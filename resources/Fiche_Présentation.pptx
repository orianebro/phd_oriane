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61" r:id="rId5"/>
  </p:sldIdLst>
  <p:sldSz cx="9144000" cy="5143500" type="screen16x9"/>
  <p:notesSz cx="7772400" cy="100584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beyre" initials="FaR" lastIdx="1" clrIdx="0">
    <p:extLst>
      <p:ext uri="{19B8F6BF-5375-455C-9EA6-DF929625EA0E}">
        <p15:presenceInfo xmlns:p15="http://schemas.microsoft.com/office/powerpoint/2012/main" userId="ribeyre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F7964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4"/>
  </p:normalViewPr>
  <p:slideViewPr>
    <p:cSldViewPr snapToGrid="0">
      <p:cViewPr varScale="1">
        <p:scale>
          <a:sx n="108" d="100"/>
          <a:sy n="108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402138" y="0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47313E-F015-4EB3-9DF9-DC45F19AE2FE}" type="datetimeFigureOut">
              <a:rPr lang="fr-FR" smtClean="0"/>
              <a:t>18/03/2024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9950" y="1257300"/>
            <a:ext cx="6032500" cy="339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777875" y="4840288"/>
            <a:ext cx="6216650" cy="3960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402138" y="9553575"/>
            <a:ext cx="3368675" cy="504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6457F1-4C0D-474B-A9A3-FB7B4670226C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3085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b46567c749_2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b46567c749_2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510878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311760" y="444960"/>
            <a:ext cx="8519760" cy="26528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311760" y="2936520"/>
            <a:ext cx="851976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77120" y="115236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311760" y="293652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4677120" y="2936520"/>
            <a:ext cx="415728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311760" y="418320"/>
            <a:ext cx="8519760" cy="62532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endParaRPr lang="en-US" sz="4400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3192480" y="115236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6073200" y="115236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311760" y="293652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3192480" y="293652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6073200" y="2936520"/>
            <a:ext cx="2743200" cy="16290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189" lvl="0" indent="-342892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378" lvl="1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566" lvl="2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754" lvl="3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5943" lvl="4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132" lvl="5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320" lvl="6" indent="-317492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509" lvl="7" indent="-317492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697" lvl="8" indent="-31749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24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19760" cy="572040"/>
          </a:xfrm>
          <a:prstGeom prst="rect">
            <a:avLst/>
          </a:prstGeom>
        </p:spPr>
        <p:txBody>
          <a:bodyPr lIns="0" tIns="0" rIns="0" bIns="0" anchor="ctr"/>
          <a:lstStyle/>
          <a:p>
            <a:pPr algn="ctr"/>
            <a:r>
              <a:rPr lang="en-US" sz="440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19760" cy="34156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eg"/><Relationship Id="rId13" Type="http://schemas.openxmlformats.org/officeDocument/2006/relationships/image" Target="../media/image9.PNG"/><Relationship Id="rId18" Type="http://schemas.openxmlformats.org/officeDocument/2006/relationships/image" Target="../media/image14.svg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12" Type="http://schemas.openxmlformats.org/officeDocument/2006/relationships/image" Target="../media/image8.png"/><Relationship Id="rId17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github.com/orianebro" TargetMode="External"/><Relationship Id="rId11" Type="http://schemas.openxmlformats.org/officeDocument/2006/relationships/image" Target="../media/image7.png"/><Relationship Id="rId5" Type="http://schemas.openxmlformats.org/officeDocument/2006/relationships/image" Target="../media/image2.jpg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hyperlink" Target="mailto:marc.jaeger@cirad.fr" TargetMode="External"/><Relationship Id="rId9" Type="http://schemas.openxmlformats.org/officeDocument/2006/relationships/image" Target="../media/image5.png"/><Relationship Id="rId1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7B80AD5-06D2-47CB-B7C4-988F4B3438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0493" y="4018902"/>
            <a:ext cx="1569161" cy="805629"/>
          </a:xfrm>
          <a:prstGeom prst="rect">
            <a:avLst/>
          </a:prstGeom>
        </p:spPr>
      </p:pic>
      <p:sp>
        <p:nvSpPr>
          <p:cNvPr id="442" name="Google Shape;442;p22"/>
          <p:cNvSpPr txBox="1"/>
          <p:nvPr/>
        </p:nvSpPr>
        <p:spPr>
          <a:xfrm>
            <a:off x="4190727" y="94055"/>
            <a:ext cx="4960039" cy="1420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fr-FR" sz="1000" dirty="0">
                <a:solidFill>
                  <a:schemeClr val="dk1"/>
                </a:solidFill>
              </a:rPr>
              <a:t>Doctorante (2023-2026)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fr-FR" sz="1000" dirty="0">
                <a:solidFill>
                  <a:schemeClr val="dk1"/>
                </a:solidFill>
              </a:rPr>
              <a:t>AMAP/AGAP</a:t>
            </a:r>
            <a:endParaRPr lang="fr-FR" sz="1200" dirty="0">
              <a:solidFill>
                <a:schemeClr val="dk1"/>
              </a:solidFill>
            </a:endParaRPr>
          </a:p>
          <a:p>
            <a:pPr>
              <a:lnSpc>
                <a:spcPct val="114999"/>
              </a:lnSpc>
              <a:buSzPts val="1100"/>
            </a:pPr>
            <a:endParaRPr lang="fr" sz="1000" dirty="0">
              <a:solidFill>
                <a:schemeClr val="dk1"/>
              </a:solidFill>
            </a:endParaRPr>
          </a:p>
        </p:txBody>
      </p:sp>
      <p:sp>
        <p:nvSpPr>
          <p:cNvPr id="443" name="Google Shape;443;p22"/>
          <p:cNvSpPr txBox="1"/>
          <p:nvPr/>
        </p:nvSpPr>
        <p:spPr>
          <a:xfrm>
            <a:off x="156275" y="1670127"/>
            <a:ext cx="26472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b="1" dirty="0">
                <a:solidFill>
                  <a:schemeClr val="dk1"/>
                </a:solidFill>
              </a:rPr>
              <a:t>Mes activités</a:t>
            </a:r>
            <a:endParaRPr b="1" dirty="0">
              <a:solidFill>
                <a:schemeClr val="dk1"/>
              </a:solidFill>
            </a:endParaRPr>
          </a:p>
        </p:txBody>
      </p:sp>
      <p:sp>
        <p:nvSpPr>
          <p:cNvPr id="444" name="Google Shape;444;p22"/>
          <p:cNvSpPr txBox="1"/>
          <p:nvPr/>
        </p:nvSpPr>
        <p:spPr>
          <a:xfrm>
            <a:off x="5866834" y="3270650"/>
            <a:ext cx="3476847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dirty="0">
                <a:solidFill>
                  <a:schemeClr val="dk1"/>
                </a:solidFill>
              </a:rPr>
              <a:t>Mes ressources au quotidien</a:t>
            </a:r>
            <a:endParaRPr sz="1600" b="1" dirty="0">
              <a:solidFill>
                <a:schemeClr val="dk1"/>
              </a:solidFill>
            </a:endParaRPr>
          </a:p>
        </p:txBody>
      </p:sp>
      <p:sp>
        <p:nvSpPr>
          <p:cNvPr id="445" name="Google Shape;445;p22"/>
          <p:cNvSpPr txBox="1"/>
          <p:nvPr/>
        </p:nvSpPr>
        <p:spPr>
          <a:xfrm>
            <a:off x="1537391" y="195029"/>
            <a:ext cx="2613080" cy="1347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 b="1" dirty="0">
                <a:solidFill>
                  <a:schemeClr val="dk1"/>
                </a:solidFill>
              </a:rPr>
              <a:t>Oriane Braud</a:t>
            </a:r>
            <a:endParaRPr sz="14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 dirty="0"/>
              <a:t>Bat. 1, bureau 102</a:t>
            </a:r>
            <a:endParaRPr sz="11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dk1"/>
                </a:solidFill>
                <a:hlinkClick r:id="rId4"/>
              </a:rPr>
              <a:t>oriane.braud@cirad.fr</a:t>
            </a:r>
            <a:endParaRPr lang="fr" sz="1100" dirty="0">
              <a:solidFill>
                <a:schemeClr val="dk1"/>
              </a:solidFill>
              <a:hlinkClick r:id="rId4"/>
            </a:endParaRPr>
          </a:p>
          <a:p>
            <a:r>
              <a:rPr lang="fr" sz="1100" dirty="0">
                <a:solidFill>
                  <a:schemeClr val="dk1"/>
                </a:solidFill>
              </a:rPr>
              <a:t>Plante Numérique </a:t>
            </a:r>
          </a:p>
          <a:p>
            <a:r>
              <a:rPr lang="fr" sz="1100" dirty="0">
                <a:solidFill>
                  <a:schemeClr val="dk1"/>
                </a:solidFill>
              </a:rPr>
              <a:t>Thème FSPM</a:t>
            </a:r>
            <a:endParaRPr lang="fr" dirty="0">
              <a:solidFill>
                <a:schemeClr val="dk1"/>
              </a:solidFill>
            </a:endParaRPr>
          </a:p>
        </p:txBody>
      </p:sp>
      <p:sp>
        <p:nvSpPr>
          <p:cNvPr id="448" name="Google Shape;448;p22"/>
          <p:cNvSpPr txBox="1"/>
          <p:nvPr/>
        </p:nvSpPr>
        <p:spPr>
          <a:xfrm>
            <a:off x="4190513" y="654539"/>
            <a:ext cx="3458400" cy="6001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</a:rPr>
              <a:t>Parcours: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dirty="0">
                <a:solidFill>
                  <a:schemeClr val="dk1"/>
                </a:solidFill>
              </a:rPr>
              <a:t>Ing</a:t>
            </a:r>
            <a:r>
              <a:rPr lang="fr-FR" sz="900" dirty="0" err="1">
                <a:solidFill>
                  <a:schemeClr val="dk1"/>
                </a:solidFill>
              </a:rPr>
              <a:t>énieure</a:t>
            </a:r>
            <a:r>
              <a:rPr lang="fr-FR" sz="900" dirty="0">
                <a:solidFill>
                  <a:schemeClr val="dk1"/>
                </a:solidFill>
              </a:rPr>
              <a:t> en bio-informatique et modélisation</a:t>
            </a:r>
            <a:endParaRPr lang="fr" sz="9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900" dirty="0">
                <a:solidFill>
                  <a:schemeClr val="dk1"/>
                </a:solidFill>
              </a:rPr>
              <a:t>   </a:t>
            </a:r>
            <a:endParaRPr sz="900" dirty="0">
              <a:solidFill>
                <a:schemeClr val="dk1"/>
              </a:solidFill>
            </a:endParaRPr>
          </a:p>
        </p:txBody>
      </p:sp>
      <p:sp>
        <p:nvSpPr>
          <p:cNvPr id="450" name="Google Shape;450;p22"/>
          <p:cNvSpPr txBox="1"/>
          <p:nvPr/>
        </p:nvSpPr>
        <p:spPr>
          <a:xfrm>
            <a:off x="5866834" y="1828127"/>
            <a:ext cx="26472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 b="1" dirty="0">
                <a:solidFill>
                  <a:schemeClr val="dk1"/>
                </a:solidFill>
              </a:rPr>
              <a:t>Mes outils préférés</a:t>
            </a:r>
            <a:endParaRPr sz="1600" b="1" dirty="0">
              <a:solidFill>
                <a:schemeClr val="dk1"/>
              </a:solidFill>
            </a:endParaRPr>
          </a:p>
        </p:txBody>
      </p:sp>
      <p:cxnSp>
        <p:nvCxnSpPr>
          <p:cNvPr id="451" name="Google Shape;451;p22"/>
          <p:cNvCxnSpPr/>
          <p:nvPr/>
        </p:nvCxnSpPr>
        <p:spPr>
          <a:xfrm>
            <a:off x="152400" y="1704975"/>
            <a:ext cx="88296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2" name="Google Shape;452;p22"/>
          <p:cNvCxnSpPr/>
          <p:nvPr/>
        </p:nvCxnSpPr>
        <p:spPr>
          <a:xfrm>
            <a:off x="5921850" y="3221611"/>
            <a:ext cx="295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3" name="Google Shape;453;p22"/>
          <p:cNvCxnSpPr>
            <a:cxnSpLocks/>
          </p:cNvCxnSpPr>
          <p:nvPr/>
        </p:nvCxnSpPr>
        <p:spPr>
          <a:xfrm>
            <a:off x="5695900" y="1950000"/>
            <a:ext cx="0" cy="2863005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22"/>
          <p:cNvCxnSpPr/>
          <p:nvPr/>
        </p:nvCxnSpPr>
        <p:spPr>
          <a:xfrm>
            <a:off x="4098182" y="151230"/>
            <a:ext cx="0" cy="1306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455" name="Google Shape;455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10738" y="151230"/>
            <a:ext cx="1406679" cy="550701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2"/>
          <p:cNvSpPr txBox="1"/>
          <p:nvPr/>
        </p:nvSpPr>
        <p:spPr>
          <a:xfrm>
            <a:off x="5951575" y="2281846"/>
            <a:ext cx="3000000" cy="4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 err="1">
                <a:solidFill>
                  <a:schemeClr val="dk1"/>
                </a:solidFill>
              </a:rPr>
              <a:t>OpenAlea</a:t>
            </a:r>
            <a:r>
              <a:rPr lang="fr-FR" sz="1100" dirty="0">
                <a:solidFill>
                  <a:schemeClr val="dk1"/>
                </a:solidFill>
              </a:rPr>
              <a:t> (modeling platform)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solidFill>
                  <a:schemeClr val="dk1"/>
                </a:solidFill>
              </a:rPr>
              <a:t>STICS (</a:t>
            </a:r>
            <a:r>
              <a:rPr lang="fr-FR" sz="1100" dirty="0" err="1">
                <a:solidFill>
                  <a:schemeClr val="dk1"/>
                </a:solidFill>
              </a:rPr>
              <a:t>crop</a:t>
            </a:r>
            <a:r>
              <a:rPr lang="fr-FR" sz="1100" dirty="0">
                <a:solidFill>
                  <a:schemeClr val="dk1"/>
                </a:solidFill>
              </a:rPr>
              <a:t> model)</a:t>
            </a:r>
          </a:p>
          <a:p>
            <a:pPr lvl="0"/>
            <a:r>
              <a:rPr lang="fr-FR" sz="1100" dirty="0">
                <a:solidFill>
                  <a:schemeClr val="dk1"/>
                </a:solidFill>
              </a:rPr>
              <a:t>GitHub (</a:t>
            </a:r>
            <a:r>
              <a:rPr lang="fr-FR" sz="1100" dirty="0">
                <a:solidFill>
                  <a:schemeClr val="dk1"/>
                </a:solidFill>
                <a:hlinkClick r:id="rId6"/>
              </a:rPr>
              <a:t>https://github.com/orianebro</a:t>
            </a:r>
            <a:r>
              <a:rPr lang="fr-FR" sz="1100" dirty="0">
                <a:solidFill>
                  <a:schemeClr val="dk1"/>
                </a:solidFill>
              </a:rPr>
              <a:t>)</a:t>
            </a:r>
            <a:endParaRPr sz="1100" dirty="0">
              <a:solidFill>
                <a:schemeClr val="dk1"/>
              </a:solidFill>
            </a:endParaRPr>
          </a:p>
        </p:txBody>
      </p:sp>
      <p:sp>
        <p:nvSpPr>
          <p:cNvPr id="460" name="Google Shape;460;p22"/>
          <p:cNvSpPr txBox="1"/>
          <p:nvPr/>
        </p:nvSpPr>
        <p:spPr>
          <a:xfrm>
            <a:off x="1587795" y="1717461"/>
            <a:ext cx="4051333" cy="9848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Mod</a:t>
            </a:r>
            <a:r>
              <a:rPr lang="fr-FR" sz="1300" dirty="0" err="1">
                <a:solidFill>
                  <a:schemeClr val="dk1"/>
                </a:solidFill>
              </a:rPr>
              <a:t>élisation</a:t>
            </a:r>
            <a:r>
              <a:rPr lang="fr-FR" sz="1300" dirty="0">
                <a:solidFill>
                  <a:schemeClr val="dk1"/>
                </a:solidFill>
              </a:rPr>
              <a:t> multi-échelle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300" dirty="0">
                <a:solidFill>
                  <a:schemeClr val="dk1"/>
                </a:solidFill>
              </a:rPr>
              <a:t>pour les cultures intercalaires :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dirty="0">
                <a:solidFill>
                  <a:schemeClr val="dk1"/>
                </a:solidFill>
              </a:rPr>
              <a:t>donner de </a:t>
            </a:r>
            <a:r>
              <a:rPr lang="en-US" sz="1300" dirty="0" err="1">
                <a:solidFill>
                  <a:schemeClr val="dk1"/>
                </a:solidFill>
              </a:rPr>
              <a:t>l’architecture</a:t>
            </a:r>
            <a:r>
              <a:rPr lang="en-US" sz="1300" dirty="0">
                <a:solidFill>
                  <a:schemeClr val="dk1"/>
                </a:solidFill>
              </a:rPr>
              <a:t> aux </a:t>
            </a:r>
            <a:r>
              <a:rPr lang="en-US" sz="1300" dirty="0" err="1">
                <a:solidFill>
                  <a:schemeClr val="dk1"/>
                </a:solidFill>
              </a:rPr>
              <a:t>modèles</a:t>
            </a:r>
            <a:r>
              <a:rPr lang="en-US" sz="1300" dirty="0">
                <a:solidFill>
                  <a:schemeClr val="dk1"/>
                </a:solidFill>
              </a:rPr>
              <a:t> de cultures pour </a:t>
            </a:r>
            <a:r>
              <a:rPr lang="en-US" sz="1300" dirty="0" err="1">
                <a:solidFill>
                  <a:schemeClr val="dk1"/>
                </a:solidFill>
              </a:rPr>
              <a:t>évaluer</a:t>
            </a:r>
            <a:r>
              <a:rPr lang="en-US" sz="1300" dirty="0">
                <a:solidFill>
                  <a:schemeClr val="dk1"/>
                </a:solidFill>
              </a:rPr>
              <a:t> et revoir </a:t>
            </a:r>
            <a:r>
              <a:rPr lang="en-US" sz="1300" dirty="0" err="1">
                <a:solidFill>
                  <a:schemeClr val="dk1"/>
                </a:solidFill>
              </a:rPr>
              <a:t>leurs</a:t>
            </a:r>
            <a:r>
              <a:rPr lang="en-US" sz="1300" dirty="0">
                <a:solidFill>
                  <a:schemeClr val="dk1"/>
                </a:solidFill>
              </a:rPr>
              <a:t> </a:t>
            </a:r>
            <a:r>
              <a:rPr lang="en-US" sz="1300" dirty="0" err="1">
                <a:solidFill>
                  <a:schemeClr val="dk1"/>
                </a:solidFill>
              </a:rPr>
              <a:t>formalismes</a:t>
            </a:r>
            <a:endParaRPr sz="1300" dirty="0">
              <a:solidFill>
                <a:schemeClr val="dk1"/>
              </a:solidFill>
            </a:endParaRPr>
          </a:p>
        </p:txBody>
      </p:sp>
      <p:sp>
        <p:nvSpPr>
          <p:cNvPr id="462" name="Google Shape;462;p22"/>
          <p:cNvSpPr txBox="1"/>
          <p:nvPr/>
        </p:nvSpPr>
        <p:spPr>
          <a:xfrm>
            <a:off x="5921850" y="3717857"/>
            <a:ext cx="3000000" cy="813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solidFill>
                  <a:schemeClr val="dk1"/>
                </a:solidFill>
              </a:rPr>
              <a:t>Réseau MaCS4Plants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FR" sz="1100" dirty="0">
                <a:solidFill>
                  <a:schemeClr val="dk1"/>
                </a:solidFill>
              </a:rPr>
              <a:t>ED I2S</a:t>
            </a:r>
            <a:endParaRPr sz="11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dk1"/>
              </a:solidFill>
            </a:endParaRPr>
          </a:p>
        </p:txBody>
      </p:sp>
      <p:pic>
        <p:nvPicPr>
          <p:cNvPr id="26" name="Google Shape;83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071066" y="196267"/>
            <a:ext cx="863692" cy="3894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17361F8-0076-40A1-B3F2-943C0F941AAC}"/>
              </a:ext>
            </a:extLst>
          </p:cNvPr>
          <p:cNvSpPr/>
          <p:nvPr/>
        </p:nvSpPr>
        <p:spPr>
          <a:xfrm>
            <a:off x="381275" y="195029"/>
            <a:ext cx="940108" cy="117185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755AD98-EF5E-4C0E-9A11-87F2635F66F3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478" t="17578" r="35704" b="50318"/>
          <a:stretch/>
        </p:blipFill>
        <p:spPr>
          <a:xfrm>
            <a:off x="213551" y="179581"/>
            <a:ext cx="1174438" cy="1230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3A3AD51-ABAE-401B-95AC-18BE95A9261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5402" y="745881"/>
            <a:ext cx="1369648" cy="542523"/>
          </a:xfrm>
          <a:prstGeom prst="rect">
            <a:avLst/>
          </a:prstGeom>
        </p:spPr>
      </p:pic>
      <p:pic>
        <p:nvPicPr>
          <p:cNvPr id="24" name="Picture 10" descr="https://lh6.googleusercontent.com/Ozco87Vt_y9uLKGfX1QqBFEQ7eheIvG7ivj1v-x5bj35GsbVSyHXjjfz4ruRPRb6l2xYN4qi1yGixkIVDNbZl8GKd8TAHkgMPQrCPfTSG6HcdHDODFeSaIs3IXyoblY3XqBq-OnAjsM">
            <a:extLst>
              <a:ext uri="{FF2B5EF4-FFF2-40B4-BE49-F238E27FC236}">
                <a16:creationId xmlns:a16="http://schemas.microsoft.com/office/drawing/2014/main" id="{96CCFCDA-4DC9-4065-B088-7B249EDCD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946" y="1775702"/>
            <a:ext cx="926679" cy="463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A diagram of a plant&#10;&#10;Description automatically generated">
            <a:extLst>
              <a:ext uri="{FF2B5EF4-FFF2-40B4-BE49-F238E27FC236}">
                <a16:creationId xmlns:a16="http://schemas.microsoft.com/office/drawing/2014/main" id="{DB3D1C11-C6E4-48E3-A8AA-D5D816440AB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6156"/>
          <a:stretch/>
        </p:blipFill>
        <p:spPr bwMode="auto">
          <a:xfrm>
            <a:off x="1479875" y="4124204"/>
            <a:ext cx="2012909" cy="1005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AutoShape 2" descr="A graph with a line&#10;&#10;Description automatically generated">
            <a:extLst>
              <a:ext uri="{FF2B5EF4-FFF2-40B4-BE49-F238E27FC236}">
                <a16:creationId xmlns:a16="http://schemas.microsoft.com/office/drawing/2014/main" id="{C0C786E7-E0EE-4533-B7D4-036BBCBE8B3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2725" y="-45339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7" name="Picture 3" descr="A diagram of a plant growth process&#10;&#10;Description automatically generated">
            <a:extLst>
              <a:ext uri="{FF2B5EF4-FFF2-40B4-BE49-F238E27FC236}">
                <a16:creationId xmlns:a16="http://schemas.microsoft.com/office/drawing/2014/main" id="{0522A35E-7FE8-4355-86EF-D86766B17A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86" r="10008"/>
          <a:stretch/>
        </p:blipFill>
        <p:spPr bwMode="auto">
          <a:xfrm>
            <a:off x="-1" y="4159170"/>
            <a:ext cx="2119424" cy="976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51CE34B-2207-43A9-BFA3-4AC48C7FF7CE}"/>
              </a:ext>
            </a:extLst>
          </p:cNvPr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2653482"/>
            <a:ext cx="3491655" cy="1457417"/>
          </a:xfrm>
          <a:prstGeom prst="rect">
            <a:avLst/>
          </a:prstGeom>
        </p:spPr>
      </p:pic>
      <p:sp>
        <p:nvSpPr>
          <p:cNvPr id="13" name="Arrow: Curved Left 12">
            <a:extLst>
              <a:ext uri="{FF2B5EF4-FFF2-40B4-BE49-F238E27FC236}">
                <a16:creationId xmlns:a16="http://schemas.microsoft.com/office/drawing/2014/main" id="{D6D8ACCA-4DE1-461C-90A6-46D968B23CCD}"/>
              </a:ext>
            </a:extLst>
          </p:cNvPr>
          <p:cNvSpPr/>
          <p:nvPr/>
        </p:nvSpPr>
        <p:spPr>
          <a:xfrm>
            <a:off x="3625034" y="3474335"/>
            <a:ext cx="333435" cy="1055135"/>
          </a:xfrm>
          <a:prstGeom prst="curved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0279D64-7601-4B2E-A0CF-7D734797177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3750" y="1046022"/>
            <a:ext cx="1029719" cy="29564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7CFCA73-A2A7-449C-94F5-B224A5BE1440}"/>
              </a:ext>
            </a:extLst>
          </p:cNvPr>
          <p:cNvSpPr txBox="1"/>
          <p:nvPr/>
        </p:nvSpPr>
        <p:spPr>
          <a:xfrm>
            <a:off x="3501254" y="3025311"/>
            <a:ext cx="65538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Crop model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3A85C2F-EF88-4C57-8FFD-5F8CEE701123}"/>
              </a:ext>
            </a:extLst>
          </p:cNvPr>
          <p:cNvSpPr txBox="1"/>
          <p:nvPr/>
        </p:nvSpPr>
        <p:spPr>
          <a:xfrm>
            <a:off x="3501254" y="4622524"/>
            <a:ext cx="855175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dirty="0"/>
              <a:t>FSPM </a:t>
            </a:r>
            <a:r>
              <a:rPr lang="en-US" sz="1050" dirty="0" err="1"/>
              <a:t>dynamique</a:t>
            </a:r>
            <a:endParaRPr lang="en-US" sz="105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C80C1E-87FF-43C3-9EF1-D1E6C1FE66F1}"/>
              </a:ext>
            </a:extLst>
          </p:cNvPr>
          <p:cNvSpPr txBox="1"/>
          <p:nvPr/>
        </p:nvSpPr>
        <p:spPr>
          <a:xfrm>
            <a:off x="-82864" y="5021452"/>
            <a:ext cx="243396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dirty="0">
                <a:solidFill>
                  <a:schemeClr val="bg1">
                    <a:lumMod val="50000"/>
                  </a:schemeClr>
                </a:solidFill>
              </a:rPr>
              <a:t>https://nutrien-ekonomics.com/infographics/sorghum-growth/​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CB51CD0-58A6-4043-933F-67D794D041A3}"/>
              </a:ext>
            </a:extLst>
          </p:cNvPr>
          <p:cNvGrpSpPr/>
          <p:nvPr/>
        </p:nvGrpSpPr>
        <p:grpSpPr>
          <a:xfrm>
            <a:off x="4093428" y="3198756"/>
            <a:ext cx="1576230" cy="801336"/>
            <a:chOff x="4005998" y="2577802"/>
            <a:chExt cx="1576230" cy="80133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FF5B7147-4579-407B-9586-BE1ED86616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5998" y="2582691"/>
              <a:ext cx="1576230" cy="796447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FA6AADC-A2CD-4443-97E8-9095DCD9542E}"/>
                </a:ext>
              </a:extLst>
            </p:cNvPr>
            <p:cNvSpPr/>
            <p:nvPr/>
          </p:nvSpPr>
          <p:spPr>
            <a:xfrm rot="836154">
              <a:off x="4711686" y="2672673"/>
              <a:ext cx="270287" cy="650347"/>
            </a:xfrm>
            <a:prstGeom prst="ellipse">
              <a:avLst/>
            </a:prstGeom>
            <a:solidFill>
              <a:srgbClr val="9BBB59">
                <a:alpha val="25098"/>
              </a:srgb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55CAC40D-2687-4DF6-BCD4-38B9A01FAB71}"/>
                </a:ext>
              </a:extLst>
            </p:cNvPr>
            <p:cNvSpPr/>
            <p:nvPr/>
          </p:nvSpPr>
          <p:spPr>
            <a:xfrm>
              <a:off x="5191403" y="2660428"/>
              <a:ext cx="350446" cy="696301"/>
            </a:xfrm>
            <a:prstGeom prst="ellipse">
              <a:avLst/>
            </a:prstGeom>
            <a:solidFill>
              <a:srgbClr val="9BBB59">
                <a:alpha val="25098"/>
              </a:srgb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A197713C-0DBA-494C-959B-63CFBEE6B980}"/>
                </a:ext>
              </a:extLst>
            </p:cNvPr>
            <p:cNvSpPr/>
            <p:nvPr/>
          </p:nvSpPr>
          <p:spPr>
            <a:xfrm rot="18519696">
              <a:off x="3995074" y="2780956"/>
              <a:ext cx="740776" cy="334467"/>
            </a:xfrm>
            <a:prstGeom prst="ellipse">
              <a:avLst/>
            </a:prstGeom>
            <a:solidFill>
              <a:srgbClr val="9BBB59">
                <a:alpha val="25098"/>
              </a:srgbClr>
            </a:solidFill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/>
                <a:t>cereal</a:t>
              </a:r>
              <a:endParaRPr lang="en-US" dirty="0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D798D969-52F4-4651-A06F-460BE8B179B3}"/>
                </a:ext>
              </a:extLst>
            </p:cNvPr>
            <p:cNvSpPr/>
            <p:nvPr/>
          </p:nvSpPr>
          <p:spPr>
            <a:xfrm rot="386626">
              <a:off x="4969777" y="2759169"/>
              <a:ext cx="263618" cy="595987"/>
            </a:xfrm>
            <a:prstGeom prst="ellipse">
              <a:avLst/>
            </a:prstGeom>
            <a:solidFill>
              <a:srgbClr val="F79646">
                <a:alpha val="25098"/>
              </a:srgb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Oval 43">
              <a:extLst>
                <a:ext uri="{FF2B5EF4-FFF2-40B4-BE49-F238E27FC236}">
                  <a16:creationId xmlns:a16="http://schemas.microsoft.com/office/drawing/2014/main" id="{043BD76A-BC71-4603-B35D-19C632E56B14}"/>
                </a:ext>
              </a:extLst>
            </p:cNvPr>
            <p:cNvSpPr/>
            <p:nvPr/>
          </p:nvSpPr>
          <p:spPr>
            <a:xfrm rot="17275854">
              <a:off x="4247264" y="2911712"/>
              <a:ext cx="681917" cy="218717"/>
            </a:xfrm>
            <a:prstGeom prst="ellipse">
              <a:avLst/>
            </a:prstGeom>
            <a:solidFill>
              <a:srgbClr val="F79646">
                <a:alpha val="25098"/>
              </a:srgbClr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/>
                <a:t>legume</a:t>
              </a:r>
              <a:endParaRPr lang="en-US" sz="900" dirty="0"/>
            </a:p>
          </p:txBody>
        </p:sp>
      </p:grp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9B21DC-EC20-4629-9C6C-126A803C38BF}"/>
              </a:ext>
            </a:extLst>
          </p:cNvPr>
          <p:cNvCxnSpPr/>
          <p:nvPr/>
        </p:nvCxnSpPr>
        <p:spPr>
          <a:xfrm>
            <a:off x="4242621" y="4813005"/>
            <a:ext cx="12863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2C3DC78A-4A55-40E8-85D0-43317375E27A}"/>
              </a:ext>
            </a:extLst>
          </p:cNvPr>
          <p:cNvSpPr txBox="1"/>
          <p:nvPr/>
        </p:nvSpPr>
        <p:spPr>
          <a:xfrm>
            <a:off x="5475648" y="4718087"/>
            <a:ext cx="23075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t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A2734AB1-7665-4054-9C31-50E540710C89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0455" y="2517342"/>
            <a:ext cx="371475" cy="323850"/>
          </a:xfrm>
          <a:prstGeom prst="rect">
            <a:avLst/>
          </a:prstGeom>
        </p:spPr>
      </p:pic>
      <p:pic>
        <p:nvPicPr>
          <p:cNvPr id="32" name="Graphic 31">
            <a:extLst>
              <a:ext uri="{FF2B5EF4-FFF2-40B4-BE49-F238E27FC236}">
                <a16:creationId xmlns:a16="http://schemas.microsoft.com/office/drawing/2014/main" id="{64D02CBD-F0BC-4BC3-A5CE-5BDF1B6EA6A9}"/>
              </a:ext>
            </a:extLst>
          </p:cNvPr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838888" y="2105744"/>
            <a:ext cx="601923" cy="4660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92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1303a39-3540-4d40-8ec1-b2bdb3a5cc59">
      <Terms xmlns="http://schemas.microsoft.com/office/infopath/2007/PartnerControls"/>
    </lcf76f155ced4ddcb4097134ff3c332f>
    <TaxCatchAll xmlns="74bf7e5a-a6a5-4d68-8c18-a1fec327601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5F16CBEB0627418E7AFD1D63400D8C" ma:contentTypeVersion="12" ma:contentTypeDescription="Crée un document." ma:contentTypeScope="" ma:versionID="29b35a1a60f8325e76b5e8527c8fb5bf">
  <xsd:schema xmlns:xsd="http://www.w3.org/2001/XMLSchema" xmlns:xs="http://www.w3.org/2001/XMLSchema" xmlns:p="http://schemas.microsoft.com/office/2006/metadata/properties" xmlns:ns2="11303a39-3540-4d40-8ec1-b2bdb3a5cc59" xmlns:ns3="74bf7e5a-a6a5-4d68-8c18-a1fec3276016" targetNamespace="http://schemas.microsoft.com/office/2006/metadata/properties" ma:root="true" ma:fieldsID="db575ac4b623b4d31a664c7dd630fc83" ns2:_="" ns3:_="">
    <xsd:import namespace="11303a39-3540-4d40-8ec1-b2bdb3a5cc59"/>
    <xsd:import namespace="74bf7e5a-a6a5-4d68-8c18-a1fec32760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1303a39-3540-4d40-8ec1-b2bdb3a5cc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5" nillable="true" ma:taxonomy="true" ma:internalName="lcf76f155ced4ddcb4097134ff3c332f" ma:taxonomyFieldName="MediaServiceImageTags" ma:displayName="Balises d’images" ma:readOnly="false" ma:fieldId="{5cf76f15-5ced-4ddc-b409-7134ff3c332f}" ma:taxonomyMulti="true" ma:sspId="9e3a0ad9-0a94-465f-8466-410c9be2349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bf7e5a-a6a5-4d68-8c18-a1fec3276016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061486c5-c0c7-4b41-8186-51e6c03cac6d}" ma:internalName="TaxCatchAll" ma:showField="CatchAllData" ma:web="74bf7e5a-a6a5-4d68-8c18-a1fec32760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8729751-EB45-4DB2-9304-E6E824F169BA}">
  <ds:schemaRefs>
    <ds:schemaRef ds:uri="http://schemas.microsoft.com/office/2006/documentManagement/types"/>
    <ds:schemaRef ds:uri="http://purl.org/dc/elements/1.1/"/>
    <ds:schemaRef ds:uri="http://www.w3.org/XML/1998/namespace"/>
    <ds:schemaRef ds:uri="http://purl.org/dc/terms/"/>
    <ds:schemaRef ds:uri="http://schemas.microsoft.com/office/infopath/2007/PartnerControls"/>
    <ds:schemaRef ds:uri="http://purl.org/dc/dcmitype/"/>
    <ds:schemaRef ds:uri="11303a39-3540-4d40-8ec1-b2bdb3a5cc59"/>
    <ds:schemaRef ds:uri="http://schemas.microsoft.com/office/2006/metadata/properties"/>
    <ds:schemaRef ds:uri="http://schemas.openxmlformats.org/package/2006/metadata/core-properties"/>
    <ds:schemaRef ds:uri="74bf7e5a-a6a5-4d68-8c18-a1fec3276016"/>
  </ds:schemaRefs>
</ds:datastoreItem>
</file>

<file path=customXml/itemProps2.xml><?xml version="1.0" encoding="utf-8"?>
<ds:datastoreItem xmlns:ds="http://schemas.openxmlformats.org/officeDocument/2006/customXml" ds:itemID="{D8CE6A8D-97F1-44A1-8F8A-B5C447EC0D8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51CA2CA-410F-4118-9F73-F18C06B013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1303a39-3540-4d40-8ec1-b2bdb3a5cc59"/>
    <ds:schemaRef ds:uri="74bf7e5a-a6a5-4d68-8c18-a1fec32760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8805</TotalTime>
  <Words>107</Words>
  <Application>Microsoft Office PowerPoint</Application>
  <PresentationFormat>On-screen Show (16:9)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DejaVu Sans</vt:lpstr>
      <vt:lpstr>Symbol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U051-H449</dc:creator>
  <dc:description/>
  <cp:lastModifiedBy>Oriane BRAUD</cp:lastModifiedBy>
  <cp:revision>69</cp:revision>
  <dcterms:modified xsi:type="dcterms:W3CDTF">2024-03-21T14:26:44Z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1</vt:i4>
  </property>
  <property fmtid="{D5CDD505-2E9C-101B-9397-08002B2CF9AE}" pid="8" name="PresentationFormat">
    <vt:lpwstr>Affichage à l'écran (16:9)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</vt:i4>
  </property>
  <property fmtid="{D5CDD505-2E9C-101B-9397-08002B2CF9AE}" pid="12" name="xd_ProgID">
    <vt:lpwstr/>
  </property>
  <property fmtid="{D5CDD505-2E9C-101B-9397-08002B2CF9AE}" pid="13" name="ContentTypeId">
    <vt:lpwstr>0x010100EC5F16CBEB0627418E7AFD1D63400D8C</vt:lpwstr>
  </property>
  <property fmtid="{D5CDD505-2E9C-101B-9397-08002B2CF9AE}" pid="14" name="_SourceUrl">
    <vt:lpwstr/>
  </property>
  <property fmtid="{D5CDD505-2E9C-101B-9397-08002B2CF9AE}" pid="15" name="_SharedFileIndex">
    <vt:lpwstr/>
  </property>
  <property fmtid="{D5CDD505-2E9C-101B-9397-08002B2CF9AE}" pid="16" name="ComplianceAssetId">
    <vt:lpwstr/>
  </property>
  <property fmtid="{D5CDD505-2E9C-101B-9397-08002B2CF9AE}" pid="17" name="TemplateUrl">
    <vt:lpwstr/>
  </property>
  <property fmtid="{D5CDD505-2E9C-101B-9397-08002B2CF9AE}" pid="18" name="_ExtendedDescription">
    <vt:lpwstr/>
  </property>
  <property fmtid="{D5CDD505-2E9C-101B-9397-08002B2CF9AE}" pid="19" name="TriggerFlowInfo">
    <vt:lpwstr/>
  </property>
  <property fmtid="{D5CDD505-2E9C-101B-9397-08002B2CF9AE}" pid="20" name="xd_Signature">
    <vt:lpwstr/>
  </property>
  <property fmtid="{D5CDD505-2E9C-101B-9397-08002B2CF9AE}" pid="21" name="MediaServiceImageTags">
    <vt:lpwstr/>
  </property>
</Properties>
</file>