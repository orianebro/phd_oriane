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9667-78B7-4953-AE32-3A8A9D928D9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F66D-8CED-4238-ABB7-63321DC40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3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Faker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1F66D-8CED-4238-ABB7-63321DC40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5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E06B-A39F-4476-9737-3B0C7EE0F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5A938-F8AD-4772-8F12-6BD44550C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CFC79-11C1-4B8B-B206-CE874740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2D177-EEF0-425E-B4BA-DB3CCBBC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91312-09DD-4F46-9D35-E3CCA0DF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C024-38E2-4A15-8E1B-1C0E7392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5BF7-4050-4F8B-9F89-71DAB14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147D8-F0EA-41C1-933D-348B5ABA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6B508-35C6-4374-B1AC-8263B40A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CA8C1-A610-41D7-8A52-5E0F9F69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4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CAE7-8C5E-4817-8261-9E393FCA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4143A-7A4C-4AA5-B16C-7D640BD57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F05A-5308-4867-9B23-5F066E92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DD01A-B4D6-4953-A4E8-E2F57442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9B457-4D20-4BEC-A0B4-454D0ADD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2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E3B5-1234-4865-9034-40D702D5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13EE-798B-478B-8E9A-C52F8D953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8973C-5D88-4177-8A42-33CB2228F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E705B-B2BD-4F43-9AB1-C4696E90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8016F-644F-4E8B-9A53-3A959C020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7EF3B-CC6C-447D-BD41-D2218E95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0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F341-FB08-4755-868E-26783AE3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8DAA6-EBF0-4E24-8FE7-6B13EAD1B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DF850-23FD-4904-9A86-5E55FFCC1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AC1DB-371E-43D3-B598-313FE822B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345A4-8170-486C-A218-C43DD7079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2C0FA-04E8-4DCF-A0B0-E910E57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5066E-646A-4278-A10A-953CAF23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4F0A9-31C0-415F-B2F6-252076D5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0BE3-42EF-41CC-8DD7-AD127DE9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E9DE0-EEDA-46B8-9D9B-4F6FD03D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53CC9-2B15-4B1B-B251-33766F6C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00DA7-286E-45E4-8F18-7126A607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4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702E9-1707-465E-AD53-CB3B60EF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F3DEC-4AD9-4C75-8C5B-39F2E7C4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1D666-8EBE-4D08-A01E-70D22B75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3A0C-6E0B-45DB-A871-9F1081EC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49BB-35D1-4206-9257-DD5F3985A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19811-B8F6-46F3-A686-D2D9F9B46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A5CAD-E867-4865-93E0-2E48ACC7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D6494-6209-4169-A341-69977180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D4CD-B767-429D-BF3B-E59A2ABB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6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19DE-0553-4F7F-8C25-5C4DCAA2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A0BAC-A8A8-4560-9886-7BCF3C38C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16EA9-2934-45C1-B0BD-6E7ECDD4A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457F8-2505-4953-8F72-4E571267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06E45-57AD-44A7-9110-C8250018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01E33-E05D-47C0-B380-E9F8B3E1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3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58DB-BB21-45BE-AC47-09EF3384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EC92A-073E-4FC3-8F5D-F803B8A7E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21327-56E8-4624-9F94-CCFADDB9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6030-F063-451A-B661-421BADDB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D0130-BA78-4895-AC2C-DF1E74DD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37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F0BB9-4EED-4404-9A7C-143EA5475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D2456-52AA-436A-B98D-C83D4F9B1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71159-AD89-46F5-AE43-444D5B64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CEFD-E5E4-4BCD-BF57-CDD6069B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8D39-03A0-4674-85A4-889872EF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0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D2E69-23C7-40FF-939F-747075A1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78D97-816F-4E20-B5AB-B5366F1A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9CFD9-96DA-410D-8680-8A8CC331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48257-2DD2-4F76-8747-97FCD229C5E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8E531-6060-4238-8F0D-3E84A8F92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88BF-3D10-4BD1-829B-39E1560FC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A15EC-D79C-4CBE-930E-628EB2B13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0BAD-CA83-4BD6-8573-D2A0FB0A6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Multiscale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8F4E0-54C9-45BA-9B3F-06AF5DDE2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5C7E-62F2-43A2-903C-D8C496A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Multiscale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CD8C-1CF4-4BF6-8D96-14753A4C9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9286"/>
            <a:ext cx="10906957" cy="51167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Looking at a system at a finer scale is considering more elements, more details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to be closer to the physical “reality” (at the extreme, apply laws of physics on every particle)</a:t>
            </a:r>
          </a:p>
          <a:p>
            <a:endParaRPr lang="en-US" dirty="0"/>
          </a:p>
          <a:p>
            <a:r>
              <a:rPr lang="en-US" dirty="0"/>
              <a:t>Looking at a system at a broader scale is considering emergent properties </a:t>
            </a:r>
            <a:r>
              <a:rPr lang="en-US" i="1" dirty="0"/>
              <a:t>(emergence occurs when a complex system has implicit properties or behaviors that its parts do not have on their own, and emerge only when they interact with each other based on simple explicit rules.)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 modeling is always about capturing emerging properties from finer scale processes, looking for trends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Trade-off : adding precision / reducing complexity of the system</a:t>
            </a:r>
          </a:p>
        </p:txBody>
      </p:sp>
    </p:spTree>
    <p:extLst>
      <p:ext uri="{BB962C8B-B14F-4D97-AF65-F5344CB8AC3E}">
        <p14:creationId xmlns:p14="http://schemas.microsoft.com/office/powerpoint/2010/main" val="47634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DB84-1566-448D-977F-9FA44E2C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2126"/>
            <a:ext cx="10515600" cy="1325563"/>
          </a:xfrm>
        </p:spPr>
        <p:txBody>
          <a:bodyPr/>
          <a:lstStyle/>
          <a:p>
            <a:r>
              <a:rPr lang="en-US" dirty="0"/>
              <a:t>Through </a:t>
            </a:r>
            <a:r>
              <a:rPr lang="en-US" dirty="0" err="1"/>
              <a:t>ArchiCrop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2131-62A1-4F96-9C23-54FA24987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20932"/>
            <a:ext cx="8979762" cy="57438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Models : Crop model      </a:t>
            </a:r>
            <a:r>
              <a:rPr lang="en-US" dirty="0">
                <a:sym typeface="Wingdings" panose="05000000000000000000" pitchFamily="2" charset="2"/>
              </a:rPr>
              <a:t>                          </a:t>
            </a:r>
            <a:r>
              <a:rPr lang="en-US" dirty="0" err="1">
                <a:sym typeface="Wingdings" panose="05000000000000000000" pitchFamily="2" charset="2"/>
              </a:rPr>
              <a:t>ArchiCrop</a:t>
            </a:r>
            <a:r>
              <a:rPr lang="en-US" dirty="0">
                <a:sym typeface="Wingdings" panose="05000000000000000000" pitchFamily="2" charset="2"/>
              </a:rPr>
              <a:t> (SPPM)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Scales :   Canopy              </a:t>
            </a:r>
            <a:r>
              <a:rPr lang="en-US" dirty="0">
                <a:sym typeface="Wingdings" panose="05000000000000000000" pitchFamily="2" charset="2"/>
              </a:rPr>
              <a:t>    </a:t>
            </a:r>
            <a:r>
              <a:rPr lang="en-US" dirty="0"/>
              <a:t>plant </a:t>
            </a:r>
            <a:r>
              <a:rPr lang="en-US" dirty="0">
                <a:sym typeface="Wingdings" panose="05000000000000000000" pitchFamily="2" charset="2"/>
              </a:rPr>
              <a:t> axis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phytomer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/>
              <a:t>organ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dirty="0" err="1"/>
              <a:t>Degrees</a:t>
            </a:r>
            <a:r>
              <a:rPr lang="fr-FR" dirty="0"/>
              <a:t> of </a:t>
            </a:r>
            <a:r>
              <a:rPr lang="fr-FR" dirty="0" err="1"/>
              <a:t>freedom</a:t>
            </a:r>
            <a:r>
              <a:rPr lang="fr-FR" dirty="0"/>
              <a:t>* in SPPM not </a:t>
            </a:r>
            <a:r>
              <a:rPr lang="fr-FR" dirty="0" err="1"/>
              <a:t>considered</a:t>
            </a:r>
            <a:r>
              <a:rPr lang="fr-FR" dirty="0"/>
              <a:t> in </a:t>
            </a:r>
            <a:r>
              <a:rPr lang="fr-FR" dirty="0" err="1"/>
              <a:t>crop</a:t>
            </a:r>
            <a:r>
              <a:rPr lang="fr-FR" dirty="0"/>
              <a:t> model :</a:t>
            </a:r>
            <a:endParaRPr lang="en-US" dirty="0"/>
          </a:p>
          <a:p>
            <a:pPr lvl="1"/>
            <a:r>
              <a:rPr lang="en-US" dirty="0"/>
              <a:t>Plant architectural parameters : </a:t>
            </a:r>
            <a:r>
              <a:rPr lang="en-US" sz="1600" dirty="0"/>
              <a:t># leaves, # tillers, Phyllotactic angle, Leaf insertion angle, Leaf curvature, Leaf shape, Leaf and internode lengths = f(plant height), Axis diameter, etc. </a:t>
            </a:r>
            <a:r>
              <a:rPr lang="en-US" sz="1600" dirty="0" err="1"/>
              <a:t>cf</a:t>
            </a:r>
            <a:r>
              <a:rPr lang="en-US" sz="1600" dirty="0"/>
              <a:t> exp design</a:t>
            </a:r>
          </a:p>
          <a:p>
            <a:pPr marL="457200" lvl="1" indent="0">
              <a:buNone/>
            </a:pP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en-US" dirty="0"/>
              <a:t>MC** to create different individuals for a given species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Plants in crop : explicit spatial configuration</a:t>
            </a:r>
            <a:r>
              <a:rPr lang="en-US" dirty="0"/>
              <a:t>, random plant orientation, different species for intercrops, importance of </a:t>
            </a:r>
            <a:r>
              <a:rPr lang="en-US" dirty="0" err="1"/>
              <a:t>neighbourhood</a:t>
            </a:r>
            <a:r>
              <a:rPr lang="en-US" dirty="0"/>
              <a:t> for resource acquisition</a:t>
            </a:r>
          </a:p>
          <a:p>
            <a:pPr lvl="1"/>
            <a:r>
              <a:rPr lang="en-US" u="sng" dirty="0"/>
              <a:t>between simulations : </a:t>
            </a:r>
            <a:r>
              <a:rPr lang="en-US" dirty="0"/>
              <a:t>different sowing patterns, different distributions for parameters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Varying them imply introducing a heterogeneity that cannot be considered in crop models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57B5069D-053D-4195-A12B-D14E8DDCF20B}"/>
              </a:ext>
            </a:extLst>
          </p:cNvPr>
          <p:cNvSpPr/>
          <p:nvPr/>
        </p:nvSpPr>
        <p:spPr>
          <a:xfrm rot="16200000">
            <a:off x="7071281" y="-954560"/>
            <a:ext cx="132745" cy="48116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46522-8168-400A-891F-63592AFECCC3}"/>
              </a:ext>
            </a:extLst>
          </p:cNvPr>
          <p:cNvSpPr txBox="1"/>
          <p:nvPr/>
        </p:nvSpPr>
        <p:spPr>
          <a:xfrm>
            <a:off x="10141259" y="2386573"/>
            <a:ext cx="2050742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*values </a:t>
            </a:r>
            <a:r>
              <a:rPr lang="fr-FR" dirty="0" err="1"/>
              <a:t>that</a:t>
            </a:r>
            <a:r>
              <a:rPr lang="fr-FR" dirty="0"/>
              <a:t> are free to </a:t>
            </a:r>
            <a:r>
              <a:rPr lang="fr-FR" dirty="0" err="1"/>
              <a:t>vary</a:t>
            </a:r>
            <a:r>
              <a:rPr lang="fr-FR" dirty="0"/>
              <a:t>, </a:t>
            </a:r>
            <a:r>
              <a:rPr lang="fr-FR" dirty="0" err="1"/>
              <a:t>independently</a:t>
            </a:r>
            <a:r>
              <a:rPr lang="fr-FR" dirty="0"/>
              <a:t> of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constraint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2072F-397D-4BB3-85E9-1F82E6EFF437}"/>
              </a:ext>
            </a:extLst>
          </p:cNvPr>
          <p:cNvSpPr txBox="1"/>
          <p:nvPr/>
        </p:nvSpPr>
        <p:spPr>
          <a:xfrm>
            <a:off x="9863094" y="1234699"/>
            <a:ext cx="153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fruit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194483-724D-4EFE-93A4-19A29481DBF9}"/>
              </a:ext>
            </a:extLst>
          </p:cNvPr>
          <p:cNvCxnSpPr>
            <a:cxnSpLocks/>
          </p:cNvCxnSpPr>
          <p:nvPr/>
        </p:nvCxnSpPr>
        <p:spPr>
          <a:xfrm flipH="1">
            <a:off x="9594542" y="1396089"/>
            <a:ext cx="386919" cy="2908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EE807B-B92B-4DE9-B671-CA6F486C5C13}"/>
              </a:ext>
            </a:extLst>
          </p:cNvPr>
          <p:cNvCxnSpPr>
            <a:cxnSpLocks/>
          </p:cNvCxnSpPr>
          <p:nvPr/>
        </p:nvCxnSpPr>
        <p:spPr>
          <a:xfrm flipH="1">
            <a:off x="9603419" y="1690237"/>
            <a:ext cx="395058" cy="2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DB0D63-BAC6-43C9-9908-571B76CA4FFE}"/>
              </a:ext>
            </a:extLst>
          </p:cNvPr>
          <p:cNvCxnSpPr>
            <a:cxnSpLocks/>
          </p:cNvCxnSpPr>
          <p:nvPr/>
        </p:nvCxnSpPr>
        <p:spPr>
          <a:xfrm flipH="1" flipV="1">
            <a:off x="9594542" y="1686910"/>
            <a:ext cx="386919" cy="2637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F1CDBD-88CC-4A89-A3BB-614BBA4FD643}"/>
              </a:ext>
            </a:extLst>
          </p:cNvPr>
          <p:cNvSpPr txBox="1"/>
          <p:nvPr/>
        </p:nvSpPr>
        <p:spPr>
          <a:xfrm>
            <a:off x="10141258" y="3805743"/>
            <a:ext cx="2050742" cy="203132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**MC = Monte Carlo experiment = repeated random sampling of parameters in distribution for simulations </a:t>
            </a:r>
          </a:p>
        </p:txBody>
      </p:sp>
    </p:spTree>
    <p:extLst>
      <p:ext uri="{BB962C8B-B14F-4D97-AF65-F5344CB8AC3E}">
        <p14:creationId xmlns:p14="http://schemas.microsoft.com/office/powerpoint/2010/main" val="155956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FE71-EC29-4506-AB26-37E2A342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scales</a:t>
            </a:r>
            <a:r>
              <a:rPr lang="fr-FR" dirty="0"/>
              <a:t> of </a:t>
            </a:r>
            <a:r>
              <a:rPr lang="fr-FR" dirty="0" err="1"/>
              <a:t>heterogeneity</a:t>
            </a:r>
            <a:r>
              <a:rPr lang="fr-FR" dirty="0"/>
              <a:t> for a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intercrop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C23FC-D5BF-49FE-B3E7-563A4EF9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520" y="1825624"/>
            <a:ext cx="3565124" cy="3070209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Intercrop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homogeneous</a:t>
            </a:r>
            <a:r>
              <a:rPr lang="fr-FR" dirty="0"/>
              <a:t> </a:t>
            </a:r>
            <a:r>
              <a:rPr lang="fr-FR" dirty="0" err="1"/>
              <a:t>canopie</a:t>
            </a:r>
            <a:r>
              <a:rPr lang="fr-FR" b="1" dirty="0" err="1"/>
              <a:t>s</a:t>
            </a:r>
            <a:r>
              <a:rPr lang="fr-FR" dirty="0"/>
              <a:t> (= </a:t>
            </a:r>
            <a:r>
              <a:rPr lang="fr-FR" dirty="0" err="1"/>
              <a:t>same</a:t>
            </a:r>
            <a:r>
              <a:rPr lang="fr-FR" dirty="0"/>
              <a:t> plant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species</a:t>
            </a:r>
            <a:r>
              <a:rPr lang="fr-FR" dirty="0"/>
              <a:t>)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only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b="1" dirty="0" err="1">
                <a:sym typeface="Wingdings" panose="05000000000000000000" pitchFamily="2" charset="2"/>
              </a:rPr>
              <a:t>interspecific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b="1" dirty="0" err="1">
                <a:sym typeface="Wingdings" panose="05000000000000000000" pitchFamily="2" charset="2"/>
              </a:rPr>
              <a:t>heterogeneity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dirty="0">
                <a:sym typeface="Wingdings" panose="05000000000000000000" pitchFamily="2" charset="2"/>
              </a:rPr>
              <a:t>and on explicit </a:t>
            </a:r>
            <a:r>
              <a:rPr lang="fr-FR" b="1" dirty="0">
                <a:sym typeface="Wingdings" panose="05000000000000000000" pitchFamily="2" charset="2"/>
              </a:rPr>
              <a:t>spatial configuration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between</a:t>
            </a:r>
            <a:r>
              <a:rPr lang="fr-FR" dirty="0">
                <a:sym typeface="Wingdings" panose="05000000000000000000" pitchFamily="2" charset="2"/>
              </a:rPr>
              <a:t> simulations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D8E0C-ED5A-44EA-A762-E60539567E54}"/>
              </a:ext>
            </a:extLst>
          </p:cNvPr>
          <p:cNvSpPr/>
          <p:nvPr/>
        </p:nvSpPr>
        <p:spPr>
          <a:xfrm flipH="1">
            <a:off x="1903520" y="5249954"/>
            <a:ext cx="372862" cy="10619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9871E-68F8-4DB3-8DD8-87F5D0579FA8}"/>
              </a:ext>
            </a:extLst>
          </p:cNvPr>
          <p:cNvSpPr/>
          <p:nvPr/>
        </p:nvSpPr>
        <p:spPr>
          <a:xfrm flipH="1">
            <a:off x="2276383" y="5249954"/>
            <a:ext cx="372862" cy="10619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9F1D1-A385-4222-939E-44A8AA5D7EE5}"/>
              </a:ext>
            </a:extLst>
          </p:cNvPr>
          <p:cNvSpPr/>
          <p:nvPr/>
        </p:nvSpPr>
        <p:spPr>
          <a:xfrm flipH="1">
            <a:off x="2658116" y="5249954"/>
            <a:ext cx="372862" cy="10619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746ED-0BAA-4F9B-86EB-6A23FE42AF23}"/>
              </a:ext>
            </a:extLst>
          </p:cNvPr>
          <p:cNvSpPr/>
          <p:nvPr/>
        </p:nvSpPr>
        <p:spPr>
          <a:xfrm flipH="1">
            <a:off x="3039857" y="5249954"/>
            <a:ext cx="372862" cy="10619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6D122C-508B-41DF-8EAD-5383887EDBFF}"/>
              </a:ext>
            </a:extLst>
          </p:cNvPr>
          <p:cNvSpPr txBox="1">
            <a:spLocks/>
          </p:cNvSpPr>
          <p:nvPr/>
        </p:nvSpPr>
        <p:spPr>
          <a:xfrm>
            <a:off x="6707825" y="1825625"/>
            <a:ext cx="3565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Intercrop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unique plants </a:t>
            </a:r>
            <a:r>
              <a:rPr lang="fr-FR" dirty="0">
                <a:sym typeface="Wingdings" panose="05000000000000000000" pitchFamily="2" charset="2"/>
              </a:rPr>
              <a:t> + </a:t>
            </a:r>
            <a:r>
              <a:rPr lang="fr-FR" b="1" dirty="0" err="1">
                <a:sym typeface="Wingdings" panose="05000000000000000000" pitchFamily="2" charset="2"/>
              </a:rPr>
              <a:t>intraspecific</a:t>
            </a:r>
            <a:r>
              <a:rPr lang="fr-FR" b="1" dirty="0">
                <a:sym typeface="Wingdings" panose="05000000000000000000" pitchFamily="2" charset="2"/>
              </a:rPr>
              <a:t> </a:t>
            </a:r>
            <a:r>
              <a:rPr lang="fr-FR" b="1" dirty="0" err="1">
                <a:sym typeface="Wingdings" panose="05000000000000000000" pitchFamily="2" charset="2"/>
              </a:rPr>
              <a:t>heterogeneity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925DA6-E92D-4ED0-9465-A2F8CC42D8FC}"/>
              </a:ext>
            </a:extLst>
          </p:cNvPr>
          <p:cNvSpPr/>
          <p:nvPr/>
        </p:nvSpPr>
        <p:spPr>
          <a:xfrm>
            <a:off x="6757398" y="3710866"/>
            <a:ext cx="861134" cy="2601034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9D6FB8-2364-4189-AF12-CE9CE60D5899}"/>
              </a:ext>
            </a:extLst>
          </p:cNvPr>
          <p:cNvSpPr/>
          <p:nvPr/>
        </p:nvSpPr>
        <p:spPr>
          <a:xfrm>
            <a:off x="7618532" y="3710866"/>
            <a:ext cx="861134" cy="2601034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9B74D-03C7-495A-822B-BAE86BDD3FB9}"/>
              </a:ext>
            </a:extLst>
          </p:cNvPr>
          <p:cNvSpPr/>
          <p:nvPr/>
        </p:nvSpPr>
        <p:spPr>
          <a:xfrm>
            <a:off x="8479666" y="3710866"/>
            <a:ext cx="861134" cy="2601034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E039B-77C5-418A-A627-C44263B6DF1A}"/>
              </a:ext>
            </a:extLst>
          </p:cNvPr>
          <p:cNvSpPr/>
          <p:nvPr/>
        </p:nvSpPr>
        <p:spPr>
          <a:xfrm>
            <a:off x="9340800" y="3710866"/>
            <a:ext cx="861134" cy="2601034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389F9-3977-47A6-8B65-014951082EB2}"/>
              </a:ext>
            </a:extLst>
          </p:cNvPr>
          <p:cNvSpPr/>
          <p:nvPr/>
        </p:nvSpPr>
        <p:spPr>
          <a:xfrm flipH="1">
            <a:off x="3618383" y="5250264"/>
            <a:ext cx="372862" cy="10619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018F0-57F8-4417-822A-F8E18802698E}"/>
              </a:ext>
            </a:extLst>
          </p:cNvPr>
          <p:cNvSpPr/>
          <p:nvPr/>
        </p:nvSpPr>
        <p:spPr>
          <a:xfrm flipH="1">
            <a:off x="3991246" y="5250264"/>
            <a:ext cx="372862" cy="10619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4CF50-E944-41B9-9D08-673723F583BB}"/>
              </a:ext>
            </a:extLst>
          </p:cNvPr>
          <p:cNvSpPr/>
          <p:nvPr/>
        </p:nvSpPr>
        <p:spPr>
          <a:xfrm flipH="1">
            <a:off x="4372979" y="5250264"/>
            <a:ext cx="372862" cy="10619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D60275-43D7-4950-8DC8-A36BD92B5A41}"/>
              </a:ext>
            </a:extLst>
          </p:cNvPr>
          <p:cNvSpPr/>
          <p:nvPr/>
        </p:nvSpPr>
        <p:spPr>
          <a:xfrm flipH="1">
            <a:off x="4754720" y="5250264"/>
            <a:ext cx="372862" cy="106194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A15BD-95E6-42D1-B1F2-32B3A5C56B7D}"/>
              </a:ext>
            </a:extLst>
          </p:cNvPr>
          <p:cNvSpPr/>
          <p:nvPr/>
        </p:nvSpPr>
        <p:spPr>
          <a:xfrm flipH="1">
            <a:off x="3618382" y="5958014"/>
            <a:ext cx="372862" cy="3539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2EBDB2-4C91-4D18-A62B-6DE612FEB3E3}"/>
              </a:ext>
            </a:extLst>
          </p:cNvPr>
          <p:cNvSpPr/>
          <p:nvPr/>
        </p:nvSpPr>
        <p:spPr>
          <a:xfrm flipH="1">
            <a:off x="3618382" y="5249954"/>
            <a:ext cx="372862" cy="3539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7EE099-6B27-4649-BED4-973F15AAE608}"/>
              </a:ext>
            </a:extLst>
          </p:cNvPr>
          <p:cNvSpPr/>
          <p:nvPr/>
        </p:nvSpPr>
        <p:spPr>
          <a:xfrm flipH="1">
            <a:off x="4374461" y="5959488"/>
            <a:ext cx="372862" cy="3539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B7EE6A-3DBE-4FEF-A5FB-6B0FA4620B93}"/>
              </a:ext>
            </a:extLst>
          </p:cNvPr>
          <p:cNvSpPr/>
          <p:nvPr/>
        </p:nvSpPr>
        <p:spPr>
          <a:xfrm flipH="1">
            <a:off x="4374461" y="5251428"/>
            <a:ext cx="372862" cy="3539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D62830-75AD-403D-8E21-D9F997E09E5B}"/>
              </a:ext>
            </a:extLst>
          </p:cNvPr>
          <p:cNvSpPr/>
          <p:nvPr/>
        </p:nvSpPr>
        <p:spPr>
          <a:xfrm flipH="1">
            <a:off x="3991246" y="5249955"/>
            <a:ext cx="372862" cy="353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A057CD-A397-477E-AFC3-116A7D681B6D}"/>
              </a:ext>
            </a:extLst>
          </p:cNvPr>
          <p:cNvSpPr/>
          <p:nvPr/>
        </p:nvSpPr>
        <p:spPr>
          <a:xfrm flipH="1">
            <a:off x="3991246" y="5958014"/>
            <a:ext cx="372862" cy="353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8D1066-C62B-4ED5-96ED-FC6F2637FE1A}"/>
              </a:ext>
            </a:extLst>
          </p:cNvPr>
          <p:cNvSpPr/>
          <p:nvPr/>
        </p:nvSpPr>
        <p:spPr>
          <a:xfrm flipH="1">
            <a:off x="4756202" y="5249954"/>
            <a:ext cx="372862" cy="353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53ED22-F80C-43E8-8073-F3E10C8037CD}"/>
              </a:ext>
            </a:extLst>
          </p:cNvPr>
          <p:cNvSpPr/>
          <p:nvPr/>
        </p:nvSpPr>
        <p:spPr>
          <a:xfrm flipH="1">
            <a:off x="4757677" y="5958014"/>
            <a:ext cx="372862" cy="353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9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A0DE-35A5-4495-A3C5-CB6E03FA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</a:t>
            </a:r>
            <a:r>
              <a:rPr lang="en-US" dirty="0" err="1"/>
              <a:t>eterogeneity</a:t>
            </a:r>
            <a:r>
              <a:rPr lang="en-US" dirty="0"/>
              <a:t> between plants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D7AD2-D6AB-494B-A34E-D7D774B5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Distribute</a:t>
            </a:r>
            <a:r>
              <a:rPr lang="fr-FR" dirty="0"/>
              <a:t> </a:t>
            </a:r>
            <a:r>
              <a:rPr lang="fr-FR" dirty="0" err="1"/>
              <a:t>height</a:t>
            </a:r>
            <a:r>
              <a:rPr lang="fr-FR" dirty="0"/>
              <a:t> of </a:t>
            </a:r>
            <a:r>
              <a:rPr lang="fr-FR" dirty="0" err="1"/>
              <a:t>canopy</a:t>
            </a:r>
            <a:r>
              <a:rPr lang="fr-FR" dirty="0"/>
              <a:t> </a:t>
            </a:r>
            <a:r>
              <a:rPr lang="fr-FR" dirty="0" err="1"/>
              <a:t>among</a:t>
            </a:r>
            <a:r>
              <a:rPr lang="fr-FR" dirty="0"/>
              <a:t> plants </a:t>
            </a:r>
            <a:r>
              <a:rPr lang="fr-FR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H0: </a:t>
            </a:r>
            <a:r>
              <a:rPr lang="fr-FR" dirty="0" err="1">
                <a:sym typeface="Wingdings" panose="05000000000000000000" pitchFamily="2" charset="2"/>
              </a:rPr>
              <a:t>same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height</a:t>
            </a:r>
            <a:r>
              <a:rPr lang="fr-FR" dirty="0">
                <a:sym typeface="Wingdings" panose="05000000000000000000" pitchFamily="2" charset="2"/>
              </a:rPr>
              <a:t> gain for all plants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H1: </a:t>
            </a:r>
            <a:r>
              <a:rPr lang="fr-FR" dirty="0" err="1">
                <a:sym typeface="Wingdings" panose="05000000000000000000" pitchFamily="2" charset="2"/>
              </a:rPr>
              <a:t>Gaussian</a:t>
            </a:r>
            <a:r>
              <a:rPr lang="fr-FR" dirty="0">
                <a:sym typeface="Wingdings" panose="05000000000000000000" pitchFamily="2" charset="2"/>
              </a:rPr>
              <a:t> distribution </a:t>
            </a:r>
            <a:r>
              <a:rPr lang="fr-FR" dirty="0" err="1">
                <a:sym typeface="Wingdings" panose="05000000000000000000" pitchFamily="2" charset="2"/>
              </a:rPr>
              <a:t>around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crop</a:t>
            </a:r>
            <a:r>
              <a:rPr lang="fr-FR" dirty="0">
                <a:sym typeface="Wingdings" panose="05000000000000000000" pitchFamily="2" charset="2"/>
              </a:rPr>
              <a:t> model value </a:t>
            </a:r>
          </a:p>
          <a:p>
            <a:endParaRPr lang="fr-FR" dirty="0"/>
          </a:p>
          <a:p>
            <a:r>
              <a:rPr lang="fr-FR" dirty="0" err="1"/>
              <a:t>Distribute</a:t>
            </a:r>
            <a:r>
              <a:rPr lang="fr-FR" dirty="0"/>
              <a:t> L</a:t>
            </a:r>
            <a:r>
              <a:rPr lang="en-US" dirty="0"/>
              <a:t>AI of canopy among plants </a:t>
            </a:r>
            <a:r>
              <a:rPr lang="en-US" dirty="0">
                <a:sym typeface="Wingdings" panose="05000000000000000000" pitchFamily="2" charset="2"/>
              </a:rPr>
              <a:t>: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H0: LA (LAI x density) gain distributed equally among all plants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H1 (stochastic): Random distribution among plants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H2: different values proportional to light intercepted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21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7740-F365-4E03-807A-5A2E832D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21"/>
            <a:ext cx="10515600" cy="1325563"/>
          </a:xfrm>
        </p:spPr>
        <p:txBody>
          <a:bodyPr/>
          <a:lstStyle/>
          <a:p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organs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B1C9B-183A-4DBC-AC79-43BAF9A2A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884"/>
            <a:ext cx="10515600" cy="5121795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Distribution of gain </a:t>
            </a:r>
            <a:r>
              <a:rPr lang="fr-FR" dirty="0" err="1"/>
              <a:t>among</a:t>
            </a:r>
            <a:r>
              <a:rPr lang="fr-FR" dirty="0"/>
              <a:t> </a:t>
            </a:r>
            <a:r>
              <a:rPr lang="fr-FR" dirty="0" err="1"/>
              <a:t>growing</a:t>
            </a:r>
            <a:r>
              <a:rPr lang="fr-FR" dirty="0"/>
              <a:t> </a:t>
            </a:r>
            <a:r>
              <a:rPr lang="fr-FR" dirty="0" err="1"/>
              <a:t>vegetative</a:t>
            </a:r>
            <a:r>
              <a:rPr lang="fr-FR" dirty="0"/>
              <a:t> </a:t>
            </a:r>
            <a:r>
              <a:rPr lang="fr-FR" dirty="0" err="1"/>
              <a:t>organs</a:t>
            </a:r>
            <a:r>
              <a:rPr lang="fr-FR" dirty="0"/>
              <a:t> in a plant :</a:t>
            </a:r>
          </a:p>
          <a:p>
            <a:pPr lvl="1"/>
            <a:r>
              <a:rPr lang="fr-FR" dirty="0"/>
              <a:t>H0: All </a:t>
            </a:r>
            <a:r>
              <a:rPr lang="fr-FR" dirty="0" err="1"/>
              <a:t>growing</a:t>
            </a:r>
            <a:r>
              <a:rPr lang="fr-FR" dirty="0"/>
              <a:t> </a:t>
            </a:r>
            <a:r>
              <a:rPr lang="fr-FR" dirty="0" err="1"/>
              <a:t>vegetative</a:t>
            </a:r>
            <a:r>
              <a:rPr lang="fr-FR" dirty="0"/>
              <a:t> </a:t>
            </a:r>
            <a:r>
              <a:rPr lang="fr-FR" dirty="0" err="1"/>
              <a:t>organs</a:t>
            </a:r>
            <a:r>
              <a:rPr lang="fr-FR" dirty="0"/>
              <a:t> of a </a:t>
            </a:r>
            <a:r>
              <a:rPr lang="fr-FR" dirty="0" err="1"/>
              <a:t>given</a:t>
            </a:r>
            <a:r>
              <a:rPr lang="fr-FR" dirty="0"/>
              <a:t> type </a:t>
            </a:r>
            <a:r>
              <a:rPr lang="fr-FR" dirty="0" err="1"/>
              <a:t>grow</a:t>
            </a:r>
            <a:r>
              <a:rPr lang="fr-FR" dirty="0"/>
              <a:t> at the </a:t>
            </a:r>
            <a:r>
              <a:rPr lang="fr-FR" dirty="0" err="1"/>
              <a:t>same</a:t>
            </a:r>
            <a:r>
              <a:rPr lang="fr-FR" dirty="0"/>
              <a:t> speed (i.e. </a:t>
            </a:r>
            <a:r>
              <a:rPr lang="fr-FR" dirty="0" err="1"/>
              <a:t>same</a:t>
            </a:r>
            <a:r>
              <a:rPr lang="fr-FR" dirty="0"/>
              <a:t> gain for all).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deterministic</a:t>
            </a:r>
            <a:r>
              <a:rPr lang="fr-FR" dirty="0">
                <a:sym typeface="Wingdings" panose="05000000000000000000" pitchFamily="2" charset="2"/>
              </a:rPr>
              <a:t> </a:t>
            </a:r>
            <a:endParaRPr lang="fr-FR" dirty="0"/>
          </a:p>
          <a:p>
            <a:pPr lvl="1"/>
            <a:r>
              <a:rPr lang="fr-FR" dirty="0"/>
              <a:t>H1: Growing </a:t>
            </a:r>
            <a:r>
              <a:rPr lang="fr-FR" dirty="0" err="1"/>
              <a:t>vegetative</a:t>
            </a:r>
            <a:r>
              <a:rPr lang="fr-FR" dirty="0"/>
              <a:t> </a:t>
            </a:r>
            <a:r>
              <a:rPr lang="fr-FR" dirty="0" err="1"/>
              <a:t>organs</a:t>
            </a:r>
            <a:r>
              <a:rPr lang="fr-FR" dirty="0"/>
              <a:t> </a:t>
            </a:r>
            <a:r>
              <a:rPr lang="fr-FR" dirty="0" err="1"/>
              <a:t>receive</a:t>
            </a:r>
            <a:r>
              <a:rPr lang="fr-FR" dirty="0"/>
              <a:t> a gain </a:t>
            </a:r>
            <a:r>
              <a:rPr lang="fr-FR" dirty="0" err="1"/>
              <a:t>proportional</a:t>
            </a:r>
            <a:r>
              <a:rPr lang="fr-FR" dirty="0"/>
              <a:t> to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sink</a:t>
            </a:r>
            <a:r>
              <a:rPr lang="fr-FR" dirty="0"/>
              <a:t> </a:t>
            </a:r>
            <a:r>
              <a:rPr lang="fr-FR" dirty="0" err="1"/>
              <a:t>strength</a:t>
            </a:r>
            <a:r>
              <a:rPr lang="fr-FR" dirty="0"/>
              <a:t>, </a:t>
            </a:r>
            <a:r>
              <a:rPr lang="fr-FR" dirty="0" err="1"/>
              <a:t>related</a:t>
            </a:r>
            <a:r>
              <a:rPr lang="fr-FR" dirty="0"/>
              <a:t> to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 </a:t>
            </a:r>
            <a:r>
              <a:rPr lang="fr-FR" dirty="0" err="1"/>
              <a:t>until</a:t>
            </a:r>
            <a:r>
              <a:rPr lang="fr-FR" dirty="0"/>
              <a:t> end of </a:t>
            </a:r>
            <a:r>
              <a:rPr lang="fr-FR" dirty="0" err="1"/>
              <a:t>growth</a:t>
            </a:r>
            <a:r>
              <a:rPr lang="fr-FR" dirty="0"/>
              <a:t>.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deterministic</a:t>
            </a: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>
                <a:sym typeface="Wingdings" panose="05000000000000000000" pitchFamily="2" charset="2"/>
              </a:rPr>
              <a:t>H2 (</a:t>
            </a:r>
            <a:r>
              <a:rPr lang="fr-FR" dirty="0" err="1">
                <a:sym typeface="Wingdings" panose="05000000000000000000" pitchFamily="2" charset="2"/>
              </a:rPr>
              <a:t>stochastic</a:t>
            </a:r>
            <a:r>
              <a:rPr lang="fr-FR" dirty="0">
                <a:sym typeface="Wingdings" panose="05000000000000000000" pitchFamily="2" charset="2"/>
              </a:rPr>
              <a:t>): </a:t>
            </a:r>
            <a:r>
              <a:rPr lang="fr-FR" dirty="0" err="1">
                <a:sym typeface="Wingdings" panose="05000000000000000000" pitchFamily="2" charset="2"/>
              </a:rPr>
              <a:t>Random</a:t>
            </a:r>
            <a:r>
              <a:rPr lang="fr-FR" dirty="0">
                <a:sym typeface="Wingdings" panose="05000000000000000000" pitchFamily="2" charset="2"/>
              </a:rPr>
              <a:t> distribution </a:t>
            </a:r>
            <a:r>
              <a:rPr lang="fr-FR" dirty="0" err="1">
                <a:sym typeface="Wingdings" panose="05000000000000000000" pitchFamily="2" charset="2"/>
              </a:rPr>
              <a:t>among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organs</a:t>
            </a:r>
            <a:r>
              <a:rPr lang="fr-FR" dirty="0">
                <a:sym typeface="Wingdings" panose="05000000000000000000" pitchFamily="2" charset="2"/>
              </a:rPr>
              <a:t>  not </a:t>
            </a:r>
            <a:r>
              <a:rPr lang="fr-FR" dirty="0" err="1">
                <a:sym typeface="Wingdings" panose="05000000000000000000" pitchFamily="2" charset="2"/>
              </a:rPr>
              <a:t>very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realistic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in a plant :</a:t>
            </a:r>
          </a:p>
          <a:p>
            <a:pPr lvl="1"/>
            <a:r>
              <a:rPr lang="fr-FR" dirty="0"/>
              <a:t>H0: </a:t>
            </a:r>
            <a:r>
              <a:rPr lang="fr-FR" dirty="0" err="1"/>
              <a:t>Development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fixed</a:t>
            </a:r>
            <a:r>
              <a:rPr lang="fr-FR" dirty="0"/>
              <a:t> (</a:t>
            </a:r>
            <a:r>
              <a:rPr lang="fr-FR" dirty="0" err="1"/>
              <a:t>phyllochron</a:t>
            </a:r>
            <a:r>
              <a:rPr lang="fr-FR" dirty="0"/>
              <a:t>, </a:t>
            </a:r>
            <a:r>
              <a:rPr lang="fr-FR" dirty="0" err="1"/>
              <a:t>elongation</a:t>
            </a:r>
            <a:r>
              <a:rPr lang="fr-FR" dirty="0"/>
              <a:t> times, etc.) and a plant </a:t>
            </a:r>
            <a:r>
              <a:rPr lang="fr-FR" dirty="0" err="1"/>
              <a:t>does</a:t>
            </a:r>
            <a:r>
              <a:rPr lang="fr-FR" dirty="0"/>
              <a:t> not have a </a:t>
            </a:r>
            <a:r>
              <a:rPr lang="fr-FR" dirty="0" err="1"/>
              <a:t>defined</a:t>
            </a:r>
            <a:r>
              <a:rPr lang="fr-FR" dirty="0"/>
              <a:t> final structure (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boundaries</a:t>
            </a:r>
            <a:r>
              <a:rPr lang="fr-FR" dirty="0"/>
              <a:t> /</a:t>
            </a:r>
            <a:r>
              <a:rPr lang="fr-FR" dirty="0" err="1"/>
              <a:t>organ</a:t>
            </a:r>
            <a:r>
              <a:rPr lang="fr-FR" dirty="0"/>
              <a:t>).</a:t>
            </a:r>
          </a:p>
          <a:p>
            <a:pPr lvl="1"/>
            <a:r>
              <a:rPr lang="fr-FR" dirty="0"/>
              <a:t>H1: </a:t>
            </a:r>
            <a:r>
              <a:rPr lang="fr-FR" dirty="0" err="1"/>
              <a:t>Development</a:t>
            </a:r>
            <a:r>
              <a:rPr lang="fr-FR" dirty="0"/>
              <a:t> </a:t>
            </a:r>
            <a:r>
              <a:rPr lang="fr-FR" dirty="0" err="1"/>
              <a:t>adapts</a:t>
            </a:r>
            <a:r>
              <a:rPr lang="fr-FR" dirty="0"/>
              <a:t> to </a:t>
            </a:r>
            <a:r>
              <a:rPr lang="fr-FR" dirty="0" err="1"/>
              <a:t>reach</a:t>
            </a:r>
            <a:r>
              <a:rPr lang="fr-FR" dirty="0"/>
              <a:t> a </a:t>
            </a:r>
            <a:r>
              <a:rPr lang="fr-FR" dirty="0" err="1"/>
              <a:t>defined</a:t>
            </a:r>
            <a:r>
              <a:rPr lang="fr-FR" dirty="0"/>
              <a:t> final structure (</a:t>
            </a:r>
            <a:r>
              <a:rPr lang="fr-FR" dirty="0" err="1"/>
              <a:t>with</a:t>
            </a:r>
            <a:r>
              <a:rPr lang="fr-FR" dirty="0"/>
              <a:t> final </a:t>
            </a:r>
            <a:r>
              <a:rPr lang="fr-FR" dirty="0" err="1"/>
              <a:t>height</a:t>
            </a:r>
            <a:r>
              <a:rPr lang="fr-FR" dirty="0"/>
              <a:t> and total LA </a:t>
            </a:r>
            <a:r>
              <a:rPr lang="fr-FR" dirty="0" err="1"/>
              <a:t>given</a:t>
            </a:r>
            <a:r>
              <a:rPr lang="fr-FR" dirty="0"/>
              <a:t> by </a:t>
            </a:r>
            <a:r>
              <a:rPr lang="fr-FR" dirty="0" err="1"/>
              <a:t>crop</a:t>
            </a:r>
            <a:r>
              <a:rPr lang="fr-FR" dirty="0"/>
              <a:t> model, and </a:t>
            </a:r>
            <a:r>
              <a:rPr lang="fr-FR" dirty="0" err="1"/>
              <a:t>leaf</a:t>
            </a:r>
            <a:r>
              <a:rPr lang="fr-FR" dirty="0"/>
              <a:t> </a:t>
            </a:r>
            <a:r>
              <a:rPr lang="fr-FR" dirty="0" err="1"/>
              <a:t>lengths</a:t>
            </a:r>
            <a:r>
              <a:rPr lang="fr-FR" dirty="0"/>
              <a:t>, etc. </a:t>
            </a:r>
            <a:r>
              <a:rPr lang="fr-FR" dirty="0" err="1"/>
              <a:t>fixed</a:t>
            </a:r>
            <a:r>
              <a:rPr lang="fr-FR" dirty="0"/>
              <a:t>).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sz="2400" dirty="0" err="1">
                <a:sym typeface="Wingdings" panose="05000000000000000000" pitchFamily="2" charset="2"/>
              </a:rPr>
              <a:t>depends</a:t>
            </a:r>
            <a:r>
              <a:rPr lang="fr-FR" sz="2400" dirty="0">
                <a:sym typeface="Wingdings" panose="05000000000000000000" pitchFamily="2" charset="2"/>
              </a:rPr>
              <a:t> on how </a:t>
            </a:r>
            <a:r>
              <a:rPr lang="fr-FR" sz="2400" dirty="0" err="1">
                <a:sym typeface="Wingdings" panose="05000000000000000000" pitchFamily="2" charset="2"/>
              </a:rPr>
              <a:t>we</a:t>
            </a:r>
            <a:r>
              <a:rPr lang="fr-FR" sz="2400" dirty="0">
                <a:sym typeface="Wingdings" panose="05000000000000000000" pitchFamily="2" charset="2"/>
              </a:rPr>
              <a:t> </a:t>
            </a:r>
            <a:r>
              <a:rPr lang="fr-FR" sz="2400" dirty="0" err="1">
                <a:sym typeface="Wingdings" panose="05000000000000000000" pitchFamily="2" charset="2"/>
              </a:rPr>
              <a:t>consider</a:t>
            </a:r>
            <a:r>
              <a:rPr lang="fr-FR" sz="2400" dirty="0">
                <a:sym typeface="Wingdings" panose="05000000000000000000" pitchFamily="2" charset="2"/>
              </a:rPr>
              <a:t> stresses can affect </a:t>
            </a:r>
            <a:r>
              <a:rPr lang="fr-FR" sz="2400" dirty="0" err="1">
                <a:sym typeface="Wingdings" panose="05000000000000000000" pitchFamily="2" charset="2"/>
              </a:rPr>
              <a:t>growth</a:t>
            </a:r>
            <a:r>
              <a:rPr lang="fr-FR" sz="2400" dirty="0">
                <a:sym typeface="Wingdings" panose="05000000000000000000" pitchFamily="2" charset="2"/>
              </a:rPr>
              <a:t> and/or </a:t>
            </a:r>
            <a:r>
              <a:rPr lang="fr-FR" sz="2400" dirty="0" err="1">
                <a:sym typeface="Wingdings" panose="05000000000000000000" pitchFamily="2" charset="2"/>
              </a:rPr>
              <a:t>development</a:t>
            </a:r>
            <a:r>
              <a:rPr lang="fr-FR" sz="2400" dirty="0">
                <a:sym typeface="Wingdings" panose="05000000000000000000" pitchFamily="2" charset="2"/>
              </a:rPr>
              <a:t> (</a:t>
            </a:r>
            <a:r>
              <a:rPr lang="fr-FR" sz="2400" dirty="0" err="1">
                <a:sym typeface="Wingdings" panose="05000000000000000000" pitchFamily="2" charset="2"/>
              </a:rPr>
              <a:t>depending</a:t>
            </a:r>
            <a:r>
              <a:rPr lang="fr-FR" sz="2400" dirty="0">
                <a:sym typeface="Wingdings" panose="05000000000000000000" pitchFamily="2" charset="2"/>
              </a:rPr>
              <a:t> on nature and </a:t>
            </a:r>
            <a:r>
              <a:rPr lang="fr-FR" sz="2400" dirty="0" err="1">
                <a:sym typeface="Wingdings" panose="05000000000000000000" pitchFamily="2" charset="2"/>
              </a:rPr>
              <a:t>temporality</a:t>
            </a:r>
            <a:r>
              <a:rPr lang="fr-FR" sz="2400" dirty="0">
                <a:sym typeface="Wingdings" panose="05000000000000000000" pitchFamily="2" charset="2"/>
              </a:rPr>
              <a:t> of stress)</a:t>
            </a:r>
          </a:p>
          <a:p>
            <a:pPr marL="0" indent="0">
              <a:buNone/>
            </a:pPr>
            <a:r>
              <a:rPr lang="fr-FR" sz="1900" dirty="0">
                <a:sym typeface="Wingdings" panose="05000000000000000000" pitchFamily="2" charset="2"/>
              </a:rPr>
              <a:t>(</a:t>
            </a:r>
            <a:r>
              <a:rPr lang="fr-FR" sz="1900" dirty="0" err="1">
                <a:sym typeface="Wingdings" panose="05000000000000000000" pitchFamily="2" charset="2"/>
              </a:rPr>
              <a:t>Ask</a:t>
            </a:r>
            <a:r>
              <a:rPr lang="fr-FR" sz="1900" dirty="0">
                <a:sym typeface="Wingdings" panose="05000000000000000000" pitchFamily="2" charset="2"/>
              </a:rPr>
              <a:t> Nathalie Colbach for </a:t>
            </a:r>
            <a:r>
              <a:rPr lang="fr-FR" sz="1900" dirty="0" err="1">
                <a:sym typeface="Wingdings" panose="05000000000000000000" pitchFamily="2" charset="2"/>
              </a:rPr>
              <a:t>morphological</a:t>
            </a:r>
            <a:r>
              <a:rPr lang="fr-FR" sz="1900" dirty="0">
                <a:sym typeface="Wingdings" panose="05000000000000000000" pitchFamily="2" charset="2"/>
              </a:rPr>
              <a:t> changes </a:t>
            </a:r>
            <a:r>
              <a:rPr lang="fr-FR" sz="1900" dirty="0" err="1">
                <a:sym typeface="Wingdings" panose="05000000000000000000" pitchFamily="2" charset="2"/>
              </a:rPr>
              <a:t>related</a:t>
            </a:r>
            <a:r>
              <a:rPr lang="fr-FR" sz="1900" dirty="0">
                <a:sym typeface="Wingdings" panose="05000000000000000000" pitchFamily="2" charset="2"/>
              </a:rPr>
              <a:t> to stresses)</a:t>
            </a:r>
            <a:endParaRPr lang="fr-FR" sz="1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5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9484-D245-42A3-9142-2831FBE1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858" y="0"/>
            <a:ext cx="10515600" cy="1325563"/>
          </a:xfrm>
        </p:spPr>
        <p:txBody>
          <a:bodyPr/>
          <a:lstStyle/>
          <a:p>
            <a:r>
              <a:rPr lang="en-US" dirty="0"/>
              <a:t>Parameters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C62EB0-16C7-4454-861D-ADA9BA9E3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724657"/>
              </p:ext>
            </p:extLst>
          </p:nvPr>
        </p:nvGraphicFramePr>
        <p:xfrm>
          <a:off x="283464" y="219725"/>
          <a:ext cx="8327168" cy="641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92636">
                  <a:extLst>
                    <a:ext uri="{9D8B030D-6E8A-4147-A177-3AD203B41FA5}">
                      <a16:colId xmlns:a16="http://schemas.microsoft.com/office/drawing/2014/main" val="3599088718"/>
                    </a:ext>
                  </a:extLst>
                </a:gridCol>
                <a:gridCol w="1937904">
                  <a:extLst>
                    <a:ext uri="{9D8B030D-6E8A-4147-A177-3AD203B41FA5}">
                      <a16:colId xmlns:a16="http://schemas.microsoft.com/office/drawing/2014/main" val="2721368628"/>
                    </a:ext>
                  </a:extLst>
                </a:gridCol>
                <a:gridCol w="1996628">
                  <a:extLst>
                    <a:ext uri="{9D8B030D-6E8A-4147-A177-3AD203B41FA5}">
                      <a16:colId xmlns:a16="http://schemas.microsoft.com/office/drawing/2014/main" val="424114692"/>
                    </a:ext>
                  </a:extLst>
                </a:gridCol>
              </a:tblGrid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GRAMINEAE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Intraspecific variability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Inter-plot variability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911611161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367722864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Geometry &amp; topology: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725920184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233972872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MAIN STEM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414784957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# leaves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 (distrib in given range)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 (different ranges)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4021935963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# tillers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 (depending on density)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663847655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Final plant height (in cm) </a:t>
                      </a:r>
                      <a:endParaRPr lang="en-US" sz="12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given by crop model</a:t>
                      </a:r>
                      <a:endParaRPr lang="en-US" sz="12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0138135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q --&gt; internode length geometric distribution along stem</a:t>
                      </a:r>
                      <a:endParaRPr lang="en-US" sz="1200" b="0" i="0" u="none" strike="noStrike" dirty="0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862014374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Axis diameters, base and top (in cm)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535012565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Phyllotactic angle (+/- deviation, in degrees)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44826506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Leaf insertion angle (in degrees)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4120410920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Max leaf length (in cm)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88446723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alpha --&gt; leaf 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65901537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Leaf width/length 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529806805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scurv, curvature --&gt; leaf curvature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387234140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rmax, skew --&gt; leaf length bell shape distribution along stem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39847201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953734808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58895889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TILLER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587882284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Reduction factor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797160396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Maximal order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x (depending on density)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1099350290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857298273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3189532993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Development: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55462489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extLst>
                  <a:ext uri="{0D108BD9-81ED-4DB2-BD59-A6C34878D82A}">
                    <a16:rowId xmlns:a16="http://schemas.microsoft.com/office/drawing/2014/main" val="2296914750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Phyllochron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x (if H1)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x (if H0)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ctr"/>
                </a:tc>
                <a:extLst>
                  <a:ext uri="{0D108BD9-81ED-4DB2-BD59-A6C34878D82A}">
                    <a16:rowId xmlns:a16="http://schemas.microsoft.com/office/drawing/2014/main" val="2821618846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Leaf elongation rate (in phyllochron)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68700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Internode elongation rate (in phyllochron)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41716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Tiller appearance rate (in phyllochron)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723274"/>
                  </a:ext>
                </a:extLst>
              </a:tr>
              <a:tr h="207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Leaf life span until senescence (in °</a:t>
                      </a:r>
                      <a:r>
                        <a:rPr lang="en-US" sz="1200" u="none" strike="noStrike" dirty="0" err="1">
                          <a:effectLst/>
                        </a:rPr>
                        <a:t>C.d</a:t>
                      </a:r>
                      <a:r>
                        <a:rPr lang="en-US" sz="1200" u="none" strike="noStrike" dirty="0">
                          <a:effectLst/>
                        </a:rPr>
                        <a:t> ?)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103" marR="6103" marT="6103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899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CB616D-1C4A-40BD-AE79-95F60C7B7862}"/>
              </a:ext>
            </a:extLst>
          </p:cNvPr>
          <p:cNvSpPr txBox="1"/>
          <p:nvPr/>
        </p:nvSpPr>
        <p:spPr>
          <a:xfrm>
            <a:off x="9125712" y="1476184"/>
            <a:ext cx="2350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of this column = </a:t>
            </a:r>
            <a:r>
              <a:rPr lang="en-US" dirty="0" err="1"/>
              <a:t>nb</a:t>
            </a:r>
            <a:r>
              <a:rPr lang="en-US" dirty="0"/>
              <a:t> of simulations AC</a:t>
            </a:r>
          </a:p>
          <a:p>
            <a:r>
              <a:rPr lang="fr-FR" dirty="0"/>
              <a:t>(test </a:t>
            </a:r>
            <a:r>
              <a:rPr lang="fr-FR" dirty="0" err="1"/>
              <a:t>parameters</a:t>
            </a:r>
            <a:r>
              <a:rPr lang="fr-FR" dirty="0"/>
              <a:t> one by one for </a:t>
            </a:r>
            <a:r>
              <a:rPr lang="fr-FR" dirty="0" err="1"/>
              <a:t>sensitivity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)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8183D0-B8C1-402A-A0E6-5BF1270363C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293608" y="438912"/>
            <a:ext cx="832104" cy="1775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29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11255</TotalTime>
  <Words>765</Words>
  <Application>Microsoft Office PowerPoint</Application>
  <PresentationFormat>Widescreen</PresentationFormat>
  <Paragraphs>97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 Narrow</vt:lpstr>
      <vt:lpstr>Arial</vt:lpstr>
      <vt:lpstr>Calibri</vt:lpstr>
      <vt:lpstr>Calibri Light</vt:lpstr>
      <vt:lpstr>Wingdings</vt:lpstr>
      <vt:lpstr>Office Theme</vt:lpstr>
      <vt:lpstr>Multiscale approach</vt:lpstr>
      <vt:lpstr>Multiscale approach</vt:lpstr>
      <vt:lpstr>Through ArchiCrop</vt:lpstr>
      <vt:lpstr>Different scales of heterogeneity for a simulated intercrop</vt:lpstr>
      <vt:lpstr>Heterogeneity between plants</vt:lpstr>
      <vt:lpstr>Heterogeneity between organs</vt:lpstr>
      <vt:lpstr>Parameters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Multiscale approach</dc:title>
  <dc:creator>Oriane BRAUD</dc:creator>
  <cp:lastModifiedBy>Oriane BRAUD</cp:lastModifiedBy>
  <cp:revision>40</cp:revision>
  <dcterms:created xsi:type="dcterms:W3CDTF">2024-09-05T14:25:38Z</dcterms:created>
  <dcterms:modified xsi:type="dcterms:W3CDTF">2024-09-18T10:06:15Z</dcterms:modified>
</cp:coreProperties>
</file>