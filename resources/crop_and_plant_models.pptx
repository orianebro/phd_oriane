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98" r:id="rId2"/>
    <p:sldId id="299" r:id="rId3"/>
    <p:sldId id="274" r:id="rId4"/>
    <p:sldId id="263"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94660"/>
  </p:normalViewPr>
  <p:slideViewPr>
    <p:cSldViewPr snapToGrid="0">
      <p:cViewPr varScale="1">
        <p:scale>
          <a:sx n="78" d="100"/>
          <a:sy n="78" d="100"/>
        </p:scale>
        <p:origin x="82" y="2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B1E321-E88C-45A6-996C-4B599279C9F4}" type="datetimeFigureOut">
              <a:rPr lang="en-US" smtClean="0"/>
              <a:t>11/22/2024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E39A79-B079-44A2-8778-E7750E055FD8}" type="slidenum">
              <a:rPr lang="en-US" smtClean="0"/>
              <a:t>‹#›</a:t>
            </a:fld>
            <a:endParaRPr lang="en-US"/>
          </a:p>
        </p:txBody>
      </p:sp>
    </p:spTree>
    <p:extLst>
      <p:ext uri="{BB962C8B-B14F-4D97-AF65-F5344CB8AC3E}">
        <p14:creationId xmlns:p14="http://schemas.microsoft.com/office/powerpoint/2010/main" val="4200996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Pour étudier ces systèmes complexes, on peut utiliser des modèles de culture. </a:t>
            </a:r>
          </a:p>
          <a:p>
            <a:r>
              <a:rPr lang="fr-FR" dirty="0"/>
              <a:t>Ce sont des modèles qui sont utilisés pour faire de la prédiction ou comme outil d’aide à la décision. </a:t>
            </a:r>
          </a:p>
          <a:p>
            <a:r>
              <a:rPr lang="fr-FR" dirty="0"/>
              <a:t>Les modèles de culture sont définis à l’échelle de la parcelle (du m² ou de l’hectare), et reposent sur des hypothèses d’homogénéité du couvert en considérant une plante moyenne. </a:t>
            </a:r>
          </a:p>
          <a:p>
            <a:r>
              <a:rPr lang="fr-FR" dirty="0"/>
              <a:t>Ces modèles peuvent simuler plusieurs processus sur tout le cycle de développement des cultures. </a:t>
            </a:r>
          </a:p>
          <a:p>
            <a:r>
              <a:rPr lang="fr-FR" dirty="0"/>
              <a:t>Certains modèles de cultures ont été adaptés et calibrés pour certaines cultures associées, comme les modèles STICS et APSIM. </a:t>
            </a:r>
          </a:p>
          <a:p>
            <a:r>
              <a:rPr lang="fr-FR" dirty="0"/>
              <a:t>Les modèles de culture présentent aussi des limites dues à l’échelle qu’ils considèrent : ils ne considèrent pas explicitement l’hétérogénéité du couvert et les interactions </a:t>
            </a:r>
            <a:r>
              <a:rPr lang="fr-FR" dirty="0" err="1"/>
              <a:t>plant-plante</a:t>
            </a:r>
            <a:r>
              <a:rPr lang="fr-FR" dirty="0"/>
              <a:t>.</a:t>
            </a: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1</a:t>
            </a:fld>
            <a:endParaRPr lang="en-US"/>
          </a:p>
        </p:txBody>
      </p:sp>
    </p:spTree>
    <p:extLst>
      <p:ext uri="{BB962C8B-B14F-4D97-AF65-F5344CB8AC3E}">
        <p14:creationId xmlns:p14="http://schemas.microsoft.com/office/powerpoint/2010/main" val="35410114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Comme autre type de modèle, il y a les FSPM, les modèles de plantes structure-fonction, qui intègrent des connaissances en écophysiologie à l’échelle de l’organe. </a:t>
            </a:r>
          </a:p>
          <a:p>
            <a:r>
              <a:rPr lang="fr-FR" dirty="0"/>
              <a:t>C’est donc à l’échelle de l’organe que vont être calculés les processus, en considérant l’architecture 3D de la plante. </a:t>
            </a:r>
          </a:p>
          <a:p>
            <a:r>
              <a:rPr lang="fr-FR" dirty="0"/>
              <a:t>Donc les FSPM peuvent représenter explicitement des cultures hétérogènes et les interactions plante-plante émergentes par leurs interactions avec le milieu. </a:t>
            </a:r>
          </a:p>
          <a:p>
            <a:r>
              <a:rPr lang="fr-FR" dirty="0"/>
              <a:t>Par contre, les FSPM sont des modèles complexes, qui font des calculs sur un grand nombre d’éléments et sur des pas de temps courts. </a:t>
            </a:r>
          </a:p>
          <a:p>
            <a:r>
              <a:rPr lang="fr-FR" dirty="0"/>
              <a:t>Ils sont souvent utilisés pour simuler peu de processus à la fois, et parfois on manque de connaissances pour simuler un cycle de développement complet. </a:t>
            </a:r>
          </a:p>
          <a:p>
            <a:r>
              <a:rPr lang="fr-FR" dirty="0"/>
              <a:t>En plus, pour développer un FSPM, il faut avoir beaucoup de mesures 3D qui sont parfois difficile à obtenir. </a:t>
            </a:r>
          </a:p>
          <a:p>
            <a:r>
              <a:rPr lang="fr-FR" dirty="0"/>
              <a:t>Comme exemples de FSPM pour des mélanges, dans </a:t>
            </a:r>
            <a:r>
              <a:rPr lang="fr-FR" dirty="0" err="1"/>
              <a:t>OpenAlea</a:t>
            </a:r>
            <a:r>
              <a:rPr lang="fr-FR" dirty="0"/>
              <a:t> il y a Virtual </a:t>
            </a:r>
            <a:r>
              <a:rPr lang="fr-FR" dirty="0" err="1"/>
              <a:t>GrassLand</a:t>
            </a:r>
            <a:r>
              <a:rPr lang="fr-FR" dirty="0"/>
              <a:t> qui modélise des mélanges céréales-légumineuses, et SIMBAL qui modélise les dynamiques carbone-azote dans les mélanges colza-féverole.</a:t>
            </a: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2</a:t>
            </a:fld>
            <a:endParaRPr lang="en-US"/>
          </a:p>
        </p:txBody>
      </p:sp>
    </p:spTree>
    <p:extLst>
      <p:ext uri="{BB962C8B-B14F-4D97-AF65-F5344CB8AC3E}">
        <p14:creationId xmlns:p14="http://schemas.microsoft.com/office/powerpoint/2010/main" val="3617500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Comme autre type de modèle de plantes 3D, on peut aussi citer les modèles paramétriques, conçus pour l’infographie et surtout pour les arbres. </a:t>
            </a:r>
          </a:p>
          <a:p>
            <a:r>
              <a:rPr lang="fr-FR" dirty="0"/>
              <a:t>Alors que précédemment on avait des modèles dont les résultats émergeaient des processus modélisés, pour les modèles paramétriques c’est différent, ils ne prennent pas en compte les processus, mais sont contraints par des paramètres, des enveloppes ou encore des esquisses comme avec </a:t>
            </a:r>
            <a:r>
              <a:rPr lang="fr-FR" dirty="0" err="1"/>
              <a:t>TreeSketch</a:t>
            </a:r>
            <a:r>
              <a:rPr lang="fr-FR" dirty="0"/>
              <a:t>. </a:t>
            </a:r>
          </a:p>
          <a:p>
            <a:r>
              <a:rPr lang="fr-FR" dirty="0"/>
              <a:t>Ce sont donc des modèles faciles à utiliser par des non-spécialistes pour représenter la structure 3D d’une plante, mais on s’éloigne de la réalité biologique et on considère pas du tout les interactions avec l’environnement.</a:t>
            </a:r>
            <a:endParaRPr lang="en-US" dirty="0"/>
          </a:p>
        </p:txBody>
      </p:sp>
      <p:sp>
        <p:nvSpPr>
          <p:cNvPr id="4" name="Slide Number Placeholder 3"/>
          <p:cNvSpPr>
            <a:spLocks noGrp="1"/>
          </p:cNvSpPr>
          <p:nvPr>
            <p:ph type="sldNum" sz="quarter" idx="5"/>
          </p:nvPr>
        </p:nvSpPr>
        <p:spPr/>
        <p:txBody>
          <a:bodyPr/>
          <a:lstStyle/>
          <a:p>
            <a:fld id="{A9A0A799-F059-4133-8369-1F74AA1BF689}" type="slidenum">
              <a:rPr lang="en-US" smtClean="0"/>
              <a:t>3</a:t>
            </a:fld>
            <a:endParaRPr lang="en-US"/>
          </a:p>
        </p:txBody>
      </p:sp>
    </p:spTree>
    <p:extLst>
      <p:ext uri="{BB962C8B-B14F-4D97-AF65-F5344CB8AC3E}">
        <p14:creationId xmlns:p14="http://schemas.microsoft.com/office/powerpoint/2010/main" val="4127846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EE8AC-00C0-4494-8950-C5631329D6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C5F7A2B-B060-4483-BA66-4921227CF1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BBDA4B-82E2-4F69-BB05-0A9FD4FFE7AD}"/>
              </a:ext>
            </a:extLst>
          </p:cNvPr>
          <p:cNvSpPr>
            <a:spLocks noGrp="1"/>
          </p:cNvSpPr>
          <p:nvPr>
            <p:ph type="dt" sz="half" idx="10"/>
          </p:nvPr>
        </p:nvSpPr>
        <p:spPr/>
        <p:txBody>
          <a:bodyPr/>
          <a:lstStyle/>
          <a:p>
            <a:fld id="{AB9942E7-577F-456A-8990-5140E3DA14E8}" type="datetimeFigureOut">
              <a:rPr lang="en-US" smtClean="0"/>
              <a:t>11/22/2024</a:t>
            </a:fld>
            <a:endParaRPr lang="en-US"/>
          </a:p>
        </p:txBody>
      </p:sp>
      <p:sp>
        <p:nvSpPr>
          <p:cNvPr id="5" name="Footer Placeholder 4">
            <a:extLst>
              <a:ext uri="{FF2B5EF4-FFF2-40B4-BE49-F238E27FC236}">
                <a16:creationId xmlns:a16="http://schemas.microsoft.com/office/drawing/2014/main" id="{3436F9EF-E768-40B4-B7B0-C9FEE903DF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930F56-866D-4A6A-B7D2-19BE8A2FE7F7}"/>
              </a:ext>
            </a:extLst>
          </p:cNvPr>
          <p:cNvSpPr>
            <a:spLocks noGrp="1"/>
          </p:cNvSpPr>
          <p:nvPr>
            <p:ph type="sldNum" sz="quarter" idx="12"/>
          </p:nvPr>
        </p:nvSpPr>
        <p:spPr/>
        <p:txBody>
          <a:bodyPr/>
          <a:lstStyle/>
          <a:p>
            <a:fld id="{76D40796-8441-43BD-AAA0-A5584A533044}" type="slidenum">
              <a:rPr lang="en-US" smtClean="0"/>
              <a:t>‹#›</a:t>
            </a:fld>
            <a:endParaRPr lang="en-US"/>
          </a:p>
        </p:txBody>
      </p:sp>
    </p:spTree>
    <p:extLst>
      <p:ext uri="{BB962C8B-B14F-4D97-AF65-F5344CB8AC3E}">
        <p14:creationId xmlns:p14="http://schemas.microsoft.com/office/powerpoint/2010/main" val="3155023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A7C55-EE85-40F5-82BD-E071CA3978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6988F9-DC5E-41FD-8DE2-FA049E143A5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0811EE-035B-43E0-9075-2DA47B314BF4}"/>
              </a:ext>
            </a:extLst>
          </p:cNvPr>
          <p:cNvSpPr>
            <a:spLocks noGrp="1"/>
          </p:cNvSpPr>
          <p:nvPr>
            <p:ph type="dt" sz="half" idx="10"/>
          </p:nvPr>
        </p:nvSpPr>
        <p:spPr/>
        <p:txBody>
          <a:bodyPr/>
          <a:lstStyle/>
          <a:p>
            <a:fld id="{AB9942E7-577F-456A-8990-5140E3DA14E8}" type="datetimeFigureOut">
              <a:rPr lang="en-US" smtClean="0"/>
              <a:t>11/22/2024</a:t>
            </a:fld>
            <a:endParaRPr lang="en-US"/>
          </a:p>
        </p:txBody>
      </p:sp>
      <p:sp>
        <p:nvSpPr>
          <p:cNvPr id="5" name="Footer Placeholder 4">
            <a:extLst>
              <a:ext uri="{FF2B5EF4-FFF2-40B4-BE49-F238E27FC236}">
                <a16:creationId xmlns:a16="http://schemas.microsoft.com/office/drawing/2014/main" id="{FC47C32E-D67E-49D6-91D3-932511FD20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D7E0A2-2130-439F-B944-78173C185367}"/>
              </a:ext>
            </a:extLst>
          </p:cNvPr>
          <p:cNvSpPr>
            <a:spLocks noGrp="1"/>
          </p:cNvSpPr>
          <p:nvPr>
            <p:ph type="sldNum" sz="quarter" idx="12"/>
          </p:nvPr>
        </p:nvSpPr>
        <p:spPr/>
        <p:txBody>
          <a:bodyPr/>
          <a:lstStyle/>
          <a:p>
            <a:fld id="{76D40796-8441-43BD-AAA0-A5584A533044}" type="slidenum">
              <a:rPr lang="en-US" smtClean="0"/>
              <a:t>‹#›</a:t>
            </a:fld>
            <a:endParaRPr lang="en-US"/>
          </a:p>
        </p:txBody>
      </p:sp>
    </p:spTree>
    <p:extLst>
      <p:ext uri="{BB962C8B-B14F-4D97-AF65-F5344CB8AC3E}">
        <p14:creationId xmlns:p14="http://schemas.microsoft.com/office/powerpoint/2010/main" val="3372801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9B6D5-E63F-4B5F-B3BB-35FA734466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1D11DB7-B63B-4342-A516-9E0CAC226A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01F6229-EE9E-4FCD-B11D-65074675B36D}"/>
              </a:ext>
            </a:extLst>
          </p:cNvPr>
          <p:cNvSpPr>
            <a:spLocks noGrp="1"/>
          </p:cNvSpPr>
          <p:nvPr>
            <p:ph type="dt" sz="half" idx="10"/>
          </p:nvPr>
        </p:nvSpPr>
        <p:spPr/>
        <p:txBody>
          <a:bodyPr/>
          <a:lstStyle/>
          <a:p>
            <a:fld id="{AB9942E7-577F-456A-8990-5140E3DA14E8}" type="datetimeFigureOut">
              <a:rPr lang="en-US" smtClean="0"/>
              <a:t>11/22/2024</a:t>
            </a:fld>
            <a:endParaRPr lang="en-US"/>
          </a:p>
        </p:txBody>
      </p:sp>
      <p:sp>
        <p:nvSpPr>
          <p:cNvPr id="5" name="Footer Placeholder 4">
            <a:extLst>
              <a:ext uri="{FF2B5EF4-FFF2-40B4-BE49-F238E27FC236}">
                <a16:creationId xmlns:a16="http://schemas.microsoft.com/office/drawing/2014/main" id="{F6100533-86A1-4601-BE2A-919C4E6E20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8AF1FE-481B-46AD-A443-C3875A11CF78}"/>
              </a:ext>
            </a:extLst>
          </p:cNvPr>
          <p:cNvSpPr>
            <a:spLocks noGrp="1"/>
          </p:cNvSpPr>
          <p:nvPr>
            <p:ph type="sldNum" sz="quarter" idx="12"/>
          </p:nvPr>
        </p:nvSpPr>
        <p:spPr/>
        <p:txBody>
          <a:bodyPr/>
          <a:lstStyle/>
          <a:p>
            <a:fld id="{76D40796-8441-43BD-AAA0-A5584A533044}" type="slidenum">
              <a:rPr lang="en-US" smtClean="0"/>
              <a:t>‹#›</a:t>
            </a:fld>
            <a:endParaRPr lang="en-US"/>
          </a:p>
        </p:txBody>
      </p:sp>
    </p:spTree>
    <p:extLst>
      <p:ext uri="{BB962C8B-B14F-4D97-AF65-F5344CB8AC3E}">
        <p14:creationId xmlns:p14="http://schemas.microsoft.com/office/powerpoint/2010/main" val="1928341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23816-0968-438F-A13E-C24FA69E6E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4EB2AD-02DF-4D47-AEEE-74C8E7FF238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C6EE06F-7AB0-46FA-A330-1E76B200C5C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63620E5-05A5-4495-A649-167A642FB129}"/>
              </a:ext>
            </a:extLst>
          </p:cNvPr>
          <p:cNvSpPr>
            <a:spLocks noGrp="1"/>
          </p:cNvSpPr>
          <p:nvPr>
            <p:ph type="dt" sz="half" idx="10"/>
          </p:nvPr>
        </p:nvSpPr>
        <p:spPr/>
        <p:txBody>
          <a:bodyPr/>
          <a:lstStyle/>
          <a:p>
            <a:fld id="{AB9942E7-577F-456A-8990-5140E3DA14E8}" type="datetimeFigureOut">
              <a:rPr lang="en-US" smtClean="0"/>
              <a:t>11/22/2024</a:t>
            </a:fld>
            <a:endParaRPr lang="en-US"/>
          </a:p>
        </p:txBody>
      </p:sp>
      <p:sp>
        <p:nvSpPr>
          <p:cNvPr id="6" name="Footer Placeholder 5">
            <a:extLst>
              <a:ext uri="{FF2B5EF4-FFF2-40B4-BE49-F238E27FC236}">
                <a16:creationId xmlns:a16="http://schemas.microsoft.com/office/drawing/2014/main" id="{73D9053A-DD11-47E8-B1F8-677FDB02C8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F585E5-ECAE-45C4-B8EE-0DC02ED0ADAD}"/>
              </a:ext>
            </a:extLst>
          </p:cNvPr>
          <p:cNvSpPr>
            <a:spLocks noGrp="1"/>
          </p:cNvSpPr>
          <p:nvPr>
            <p:ph type="sldNum" sz="quarter" idx="12"/>
          </p:nvPr>
        </p:nvSpPr>
        <p:spPr/>
        <p:txBody>
          <a:bodyPr/>
          <a:lstStyle/>
          <a:p>
            <a:fld id="{76D40796-8441-43BD-AAA0-A5584A533044}" type="slidenum">
              <a:rPr lang="en-US" smtClean="0"/>
              <a:t>‹#›</a:t>
            </a:fld>
            <a:endParaRPr lang="en-US"/>
          </a:p>
        </p:txBody>
      </p:sp>
    </p:spTree>
    <p:extLst>
      <p:ext uri="{BB962C8B-B14F-4D97-AF65-F5344CB8AC3E}">
        <p14:creationId xmlns:p14="http://schemas.microsoft.com/office/powerpoint/2010/main" val="10743315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25655-DEE3-4F70-9863-2422C9B11D3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18D20C-555A-4CD3-A3D8-6D0667631B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A9C2D83-F963-46ED-95FB-053298FAA47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CF6907-05DD-4C60-8565-4D1F61062C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EF4C262-CF60-4FDE-B42B-902EC1B542B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EEB9903-81E8-4E9A-9D71-B28B93D569AE}"/>
              </a:ext>
            </a:extLst>
          </p:cNvPr>
          <p:cNvSpPr>
            <a:spLocks noGrp="1"/>
          </p:cNvSpPr>
          <p:nvPr>
            <p:ph type="dt" sz="half" idx="10"/>
          </p:nvPr>
        </p:nvSpPr>
        <p:spPr/>
        <p:txBody>
          <a:bodyPr/>
          <a:lstStyle/>
          <a:p>
            <a:fld id="{AB9942E7-577F-456A-8990-5140E3DA14E8}" type="datetimeFigureOut">
              <a:rPr lang="en-US" smtClean="0"/>
              <a:t>11/22/2024</a:t>
            </a:fld>
            <a:endParaRPr lang="en-US"/>
          </a:p>
        </p:txBody>
      </p:sp>
      <p:sp>
        <p:nvSpPr>
          <p:cNvPr id="8" name="Footer Placeholder 7">
            <a:extLst>
              <a:ext uri="{FF2B5EF4-FFF2-40B4-BE49-F238E27FC236}">
                <a16:creationId xmlns:a16="http://schemas.microsoft.com/office/drawing/2014/main" id="{45B8DC18-469E-4BFA-B8F5-5299DB87BF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D70F5E1-FC3D-421F-B517-B7D3C0B35B8D}"/>
              </a:ext>
            </a:extLst>
          </p:cNvPr>
          <p:cNvSpPr>
            <a:spLocks noGrp="1"/>
          </p:cNvSpPr>
          <p:nvPr>
            <p:ph type="sldNum" sz="quarter" idx="12"/>
          </p:nvPr>
        </p:nvSpPr>
        <p:spPr/>
        <p:txBody>
          <a:bodyPr/>
          <a:lstStyle/>
          <a:p>
            <a:fld id="{76D40796-8441-43BD-AAA0-A5584A533044}" type="slidenum">
              <a:rPr lang="en-US" smtClean="0"/>
              <a:t>‹#›</a:t>
            </a:fld>
            <a:endParaRPr lang="en-US"/>
          </a:p>
        </p:txBody>
      </p:sp>
    </p:spTree>
    <p:extLst>
      <p:ext uri="{BB962C8B-B14F-4D97-AF65-F5344CB8AC3E}">
        <p14:creationId xmlns:p14="http://schemas.microsoft.com/office/powerpoint/2010/main" val="856518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8E8E6-4B98-4E7A-8252-292AFAB0E56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FB8F494-B131-404D-AE64-BB32FB7043B1}"/>
              </a:ext>
            </a:extLst>
          </p:cNvPr>
          <p:cNvSpPr>
            <a:spLocks noGrp="1"/>
          </p:cNvSpPr>
          <p:nvPr>
            <p:ph type="dt" sz="half" idx="10"/>
          </p:nvPr>
        </p:nvSpPr>
        <p:spPr/>
        <p:txBody>
          <a:bodyPr/>
          <a:lstStyle/>
          <a:p>
            <a:fld id="{AB9942E7-577F-456A-8990-5140E3DA14E8}" type="datetimeFigureOut">
              <a:rPr lang="en-US" smtClean="0"/>
              <a:t>11/22/2024</a:t>
            </a:fld>
            <a:endParaRPr lang="en-US"/>
          </a:p>
        </p:txBody>
      </p:sp>
      <p:sp>
        <p:nvSpPr>
          <p:cNvPr id="4" name="Footer Placeholder 3">
            <a:extLst>
              <a:ext uri="{FF2B5EF4-FFF2-40B4-BE49-F238E27FC236}">
                <a16:creationId xmlns:a16="http://schemas.microsoft.com/office/drawing/2014/main" id="{F63E1716-1866-46E7-8174-1CA4DF83A2F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7CA7AA-3D1E-40A2-A975-C988CB4603ED}"/>
              </a:ext>
            </a:extLst>
          </p:cNvPr>
          <p:cNvSpPr>
            <a:spLocks noGrp="1"/>
          </p:cNvSpPr>
          <p:nvPr>
            <p:ph type="sldNum" sz="quarter" idx="12"/>
          </p:nvPr>
        </p:nvSpPr>
        <p:spPr/>
        <p:txBody>
          <a:bodyPr/>
          <a:lstStyle/>
          <a:p>
            <a:fld id="{76D40796-8441-43BD-AAA0-A5584A533044}" type="slidenum">
              <a:rPr lang="en-US" smtClean="0"/>
              <a:t>‹#›</a:t>
            </a:fld>
            <a:endParaRPr lang="en-US"/>
          </a:p>
        </p:txBody>
      </p:sp>
    </p:spTree>
    <p:extLst>
      <p:ext uri="{BB962C8B-B14F-4D97-AF65-F5344CB8AC3E}">
        <p14:creationId xmlns:p14="http://schemas.microsoft.com/office/powerpoint/2010/main" val="1659249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D75EF0-A8FE-485C-BE1A-6BA969D712F2}"/>
              </a:ext>
            </a:extLst>
          </p:cNvPr>
          <p:cNvSpPr>
            <a:spLocks noGrp="1"/>
          </p:cNvSpPr>
          <p:nvPr>
            <p:ph type="dt" sz="half" idx="10"/>
          </p:nvPr>
        </p:nvSpPr>
        <p:spPr/>
        <p:txBody>
          <a:bodyPr/>
          <a:lstStyle/>
          <a:p>
            <a:fld id="{AB9942E7-577F-456A-8990-5140E3DA14E8}" type="datetimeFigureOut">
              <a:rPr lang="en-US" smtClean="0"/>
              <a:t>11/22/2024</a:t>
            </a:fld>
            <a:endParaRPr lang="en-US"/>
          </a:p>
        </p:txBody>
      </p:sp>
      <p:sp>
        <p:nvSpPr>
          <p:cNvPr id="3" name="Footer Placeholder 2">
            <a:extLst>
              <a:ext uri="{FF2B5EF4-FFF2-40B4-BE49-F238E27FC236}">
                <a16:creationId xmlns:a16="http://schemas.microsoft.com/office/drawing/2014/main" id="{DEC397D8-8D9B-418E-8130-8FA39B93160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32C613D-5818-4110-845C-93BBE39E0F6B}"/>
              </a:ext>
            </a:extLst>
          </p:cNvPr>
          <p:cNvSpPr>
            <a:spLocks noGrp="1"/>
          </p:cNvSpPr>
          <p:nvPr>
            <p:ph type="sldNum" sz="quarter" idx="12"/>
          </p:nvPr>
        </p:nvSpPr>
        <p:spPr/>
        <p:txBody>
          <a:bodyPr/>
          <a:lstStyle/>
          <a:p>
            <a:fld id="{76D40796-8441-43BD-AAA0-A5584A533044}" type="slidenum">
              <a:rPr lang="en-US" smtClean="0"/>
              <a:t>‹#›</a:t>
            </a:fld>
            <a:endParaRPr lang="en-US"/>
          </a:p>
        </p:txBody>
      </p:sp>
    </p:spTree>
    <p:extLst>
      <p:ext uri="{BB962C8B-B14F-4D97-AF65-F5344CB8AC3E}">
        <p14:creationId xmlns:p14="http://schemas.microsoft.com/office/powerpoint/2010/main" val="24415037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DB913-3137-4B00-8763-81E8D31CAE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A642AD5-2FCE-48C1-91D7-278D0B776E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F42855-ECAD-4D8D-88B3-42979C4B5E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B1A0166-CC4F-4A72-B0C7-58827E701686}"/>
              </a:ext>
            </a:extLst>
          </p:cNvPr>
          <p:cNvSpPr>
            <a:spLocks noGrp="1"/>
          </p:cNvSpPr>
          <p:nvPr>
            <p:ph type="dt" sz="half" idx="10"/>
          </p:nvPr>
        </p:nvSpPr>
        <p:spPr/>
        <p:txBody>
          <a:bodyPr/>
          <a:lstStyle/>
          <a:p>
            <a:fld id="{AB9942E7-577F-456A-8990-5140E3DA14E8}" type="datetimeFigureOut">
              <a:rPr lang="en-US" smtClean="0"/>
              <a:t>11/22/2024</a:t>
            </a:fld>
            <a:endParaRPr lang="en-US"/>
          </a:p>
        </p:txBody>
      </p:sp>
      <p:sp>
        <p:nvSpPr>
          <p:cNvPr id="6" name="Footer Placeholder 5">
            <a:extLst>
              <a:ext uri="{FF2B5EF4-FFF2-40B4-BE49-F238E27FC236}">
                <a16:creationId xmlns:a16="http://schemas.microsoft.com/office/drawing/2014/main" id="{42EE2028-FCE2-496D-8209-491A4A5D69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DB42FA-AA04-4EED-A764-68F061A23EF0}"/>
              </a:ext>
            </a:extLst>
          </p:cNvPr>
          <p:cNvSpPr>
            <a:spLocks noGrp="1"/>
          </p:cNvSpPr>
          <p:nvPr>
            <p:ph type="sldNum" sz="quarter" idx="12"/>
          </p:nvPr>
        </p:nvSpPr>
        <p:spPr/>
        <p:txBody>
          <a:bodyPr/>
          <a:lstStyle/>
          <a:p>
            <a:fld id="{76D40796-8441-43BD-AAA0-A5584A533044}" type="slidenum">
              <a:rPr lang="en-US" smtClean="0"/>
              <a:t>‹#›</a:t>
            </a:fld>
            <a:endParaRPr lang="en-US"/>
          </a:p>
        </p:txBody>
      </p:sp>
    </p:spTree>
    <p:extLst>
      <p:ext uri="{BB962C8B-B14F-4D97-AF65-F5344CB8AC3E}">
        <p14:creationId xmlns:p14="http://schemas.microsoft.com/office/powerpoint/2010/main" val="336487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49D78-A641-423A-A1A4-577A396FF9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6FFB1EA-506A-4779-9F4E-00F5A489A8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069BADD-D776-4751-9A1C-B4D3DCFD2E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C308215-1716-4491-BAB5-5D62CFBE7793}"/>
              </a:ext>
            </a:extLst>
          </p:cNvPr>
          <p:cNvSpPr>
            <a:spLocks noGrp="1"/>
          </p:cNvSpPr>
          <p:nvPr>
            <p:ph type="dt" sz="half" idx="10"/>
          </p:nvPr>
        </p:nvSpPr>
        <p:spPr/>
        <p:txBody>
          <a:bodyPr/>
          <a:lstStyle/>
          <a:p>
            <a:fld id="{AB9942E7-577F-456A-8990-5140E3DA14E8}" type="datetimeFigureOut">
              <a:rPr lang="en-US" smtClean="0"/>
              <a:t>11/22/2024</a:t>
            </a:fld>
            <a:endParaRPr lang="en-US"/>
          </a:p>
        </p:txBody>
      </p:sp>
      <p:sp>
        <p:nvSpPr>
          <p:cNvPr id="6" name="Footer Placeholder 5">
            <a:extLst>
              <a:ext uri="{FF2B5EF4-FFF2-40B4-BE49-F238E27FC236}">
                <a16:creationId xmlns:a16="http://schemas.microsoft.com/office/drawing/2014/main" id="{C98D5C5B-990F-4772-B1A5-A03CAF01CF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106AAD-B43E-4FB7-87F2-185A1D057603}"/>
              </a:ext>
            </a:extLst>
          </p:cNvPr>
          <p:cNvSpPr>
            <a:spLocks noGrp="1"/>
          </p:cNvSpPr>
          <p:nvPr>
            <p:ph type="sldNum" sz="quarter" idx="12"/>
          </p:nvPr>
        </p:nvSpPr>
        <p:spPr/>
        <p:txBody>
          <a:bodyPr/>
          <a:lstStyle/>
          <a:p>
            <a:fld id="{76D40796-8441-43BD-AAA0-A5584A533044}" type="slidenum">
              <a:rPr lang="en-US" smtClean="0"/>
              <a:t>‹#›</a:t>
            </a:fld>
            <a:endParaRPr lang="en-US"/>
          </a:p>
        </p:txBody>
      </p:sp>
    </p:spTree>
    <p:extLst>
      <p:ext uri="{BB962C8B-B14F-4D97-AF65-F5344CB8AC3E}">
        <p14:creationId xmlns:p14="http://schemas.microsoft.com/office/powerpoint/2010/main" val="21185157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2776B-67D2-4370-B8B0-7F05259D9AE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19BE4A9-911E-46BF-B786-42364CE4680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322D25-3B69-452E-9DD2-71B74B01697E}"/>
              </a:ext>
            </a:extLst>
          </p:cNvPr>
          <p:cNvSpPr>
            <a:spLocks noGrp="1"/>
          </p:cNvSpPr>
          <p:nvPr>
            <p:ph type="dt" sz="half" idx="10"/>
          </p:nvPr>
        </p:nvSpPr>
        <p:spPr/>
        <p:txBody>
          <a:bodyPr/>
          <a:lstStyle/>
          <a:p>
            <a:fld id="{AB9942E7-577F-456A-8990-5140E3DA14E8}" type="datetimeFigureOut">
              <a:rPr lang="en-US" smtClean="0"/>
              <a:t>11/22/2024</a:t>
            </a:fld>
            <a:endParaRPr lang="en-US"/>
          </a:p>
        </p:txBody>
      </p:sp>
      <p:sp>
        <p:nvSpPr>
          <p:cNvPr id="5" name="Footer Placeholder 4">
            <a:extLst>
              <a:ext uri="{FF2B5EF4-FFF2-40B4-BE49-F238E27FC236}">
                <a16:creationId xmlns:a16="http://schemas.microsoft.com/office/drawing/2014/main" id="{9BDDE823-069F-4475-9D7B-CBCBB4E6B3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D47881-4B16-45D6-AF85-500B62891F45}"/>
              </a:ext>
            </a:extLst>
          </p:cNvPr>
          <p:cNvSpPr>
            <a:spLocks noGrp="1"/>
          </p:cNvSpPr>
          <p:nvPr>
            <p:ph type="sldNum" sz="quarter" idx="12"/>
          </p:nvPr>
        </p:nvSpPr>
        <p:spPr/>
        <p:txBody>
          <a:bodyPr/>
          <a:lstStyle/>
          <a:p>
            <a:fld id="{76D40796-8441-43BD-AAA0-A5584A533044}" type="slidenum">
              <a:rPr lang="en-US" smtClean="0"/>
              <a:t>‹#›</a:t>
            </a:fld>
            <a:endParaRPr lang="en-US"/>
          </a:p>
        </p:txBody>
      </p:sp>
    </p:spTree>
    <p:extLst>
      <p:ext uri="{BB962C8B-B14F-4D97-AF65-F5344CB8AC3E}">
        <p14:creationId xmlns:p14="http://schemas.microsoft.com/office/powerpoint/2010/main" val="2028558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20F6B9-091D-4F05-9533-C51C0832751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290E6DF-B8F1-458B-B353-2710DC8B249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419DBD-B6FD-43FA-93EB-C808E5268F88}"/>
              </a:ext>
            </a:extLst>
          </p:cNvPr>
          <p:cNvSpPr>
            <a:spLocks noGrp="1"/>
          </p:cNvSpPr>
          <p:nvPr>
            <p:ph type="dt" sz="half" idx="10"/>
          </p:nvPr>
        </p:nvSpPr>
        <p:spPr/>
        <p:txBody>
          <a:bodyPr/>
          <a:lstStyle/>
          <a:p>
            <a:fld id="{AB9942E7-577F-456A-8990-5140E3DA14E8}" type="datetimeFigureOut">
              <a:rPr lang="en-US" smtClean="0"/>
              <a:t>11/22/2024</a:t>
            </a:fld>
            <a:endParaRPr lang="en-US"/>
          </a:p>
        </p:txBody>
      </p:sp>
      <p:sp>
        <p:nvSpPr>
          <p:cNvPr id="5" name="Footer Placeholder 4">
            <a:extLst>
              <a:ext uri="{FF2B5EF4-FFF2-40B4-BE49-F238E27FC236}">
                <a16:creationId xmlns:a16="http://schemas.microsoft.com/office/drawing/2014/main" id="{1836BED6-D600-432C-B6F2-6CCEDAC781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8D0D79-CB5E-4F38-8B6F-881F09BE106A}"/>
              </a:ext>
            </a:extLst>
          </p:cNvPr>
          <p:cNvSpPr>
            <a:spLocks noGrp="1"/>
          </p:cNvSpPr>
          <p:nvPr>
            <p:ph type="sldNum" sz="quarter" idx="12"/>
          </p:nvPr>
        </p:nvSpPr>
        <p:spPr/>
        <p:txBody>
          <a:bodyPr/>
          <a:lstStyle/>
          <a:p>
            <a:fld id="{76D40796-8441-43BD-AAA0-A5584A533044}" type="slidenum">
              <a:rPr lang="en-US" smtClean="0"/>
              <a:t>‹#›</a:t>
            </a:fld>
            <a:endParaRPr lang="en-US"/>
          </a:p>
        </p:txBody>
      </p:sp>
    </p:spTree>
    <p:extLst>
      <p:ext uri="{BB962C8B-B14F-4D97-AF65-F5344CB8AC3E}">
        <p14:creationId xmlns:p14="http://schemas.microsoft.com/office/powerpoint/2010/main" val="670686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56239D-57A6-4F27-92EB-FDA5EA24A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7FC0147-E575-4EE4-98FA-4B26CEC9C7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50207D-9B2F-4863-A6C7-B513F16F82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9942E7-577F-456A-8990-5140E3DA14E8}" type="datetimeFigureOut">
              <a:rPr lang="en-US" smtClean="0"/>
              <a:t>11/22/2024</a:t>
            </a:fld>
            <a:endParaRPr lang="en-US"/>
          </a:p>
        </p:txBody>
      </p:sp>
      <p:sp>
        <p:nvSpPr>
          <p:cNvPr id="5" name="Footer Placeholder 4">
            <a:extLst>
              <a:ext uri="{FF2B5EF4-FFF2-40B4-BE49-F238E27FC236}">
                <a16:creationId xmlns:a16="http://schemas.microsoft.com/office/drawing/2014/main" id="{5B7AFEAF-CDDE-4D91-BF74-B8837E5341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368FA8E-F8D2-400C-BD26-527CE4C3C2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D40796-8441-43BD-AAA0-A5584A533044}" type="slidenum">
              <a:rPr lang="en-US" smtClean="0"/>
              <a:t>‹#›</a:t>
            </a:fld>
            <a:endParaRPr lang="en-US"/>
          </a:p>
        </p:txBody>
      </p:sp>
    </p:spTree>
    <p:extLst>
      <p:ext uri="{BB962C8B-B14F-4D97-AF65-F5344CB8AC3E}">
        <p14:creationId xmlns:p14="http://schemas.microsoft.com/office/powerpoint/2010/main" val="21794662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0FF5A-F545-B820-3B51-5271DB8E819E}"/>
              </a:ext>
            </a:extLst>
          </p:cNvPr>
          <p:cNvSpPr>
            <a:spLocks noGrp="1"/>
          </p:cNvSpPr>
          <p:nvPr>
            <p:ph type="title"/>
          </p:nvPr>
        </p:nvSpPr>
        <p:spPr>
          <a:xfrm>
            <a:off x="609627" y="542497"/>
            <a:ext cx="9181151" cy="896121"/>
          </a:xfrm>
        </p:spPr>
        <p:txBody>
          <a:bodyPr>
            <a:normAutofit/>
          </a:bodyPr>
          <a:lstStyle/>
          <a:p>
            <a:r>
              <a:rPr lang="en-US" sz="4000" dirty="0"/>
              <a:t>Crop models</a:t>
            </a:r>
          </a:p>
        </p:txBody>
      </p:sp>
      <p:sp>
        <p:nvSpPr>
          <p:cNvPr id="8" name="Content Placeholder 6">
            <a:extLst>
              <a:ext uri="{FF2B5EF4-FFF2-40B4-BE49-F238E27FC236}">
                <a16:creationId xmlns:a16="http://schemas.microsoft.com/office/drawing/2014/main" id="{0A5D27B1-842E-4F22-A103-CB1C111AB39C}"/>
              </a:ext>
            </a:extLst>
          </p:cNvPr>
          <p:cNvSpPr txBox="1">
            <a:spLocks/>
          </p:cNvSpPr>
          <p:nvPr/>
        </p:nvSpPr>
        <p:spPr>
          <a:xfrm>
            <a:off x="609626" y="990557"/>
            <a:ext cx="2984179" cy="730987"/>
          </a:xfrm>
          <a:prstGeom prst="rect">
            <a:avLst/>
          </a:prstGeom>
          <a:ln w="28575">
            <a:noFill/>
          </a:ln>
        </p:spPr>
        <p:txBody>
          <a:bodyPr vert="horz" lIns="91440" tIns="45720" rIns="91440" bIns="45720" rtlCol="0" anchor="ctr"/>
          <a:lstStyle>
            <a:defPPr>
              <a:defRPr lang="fr-FR"/>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fr-FR" sz="1400" dirty="0">
                <a:solidFill>
                  <a:schemeClr val="tx1"/>
                </a:solidFill>
              </a:rPr>
              <a:t>(Boote et al., 2013; Jones et al., 2017)</a:t>
            </a:r>
          </a:p>
        </p:txBody>
      </p:sp>
      <p:sp>
        <p:nvSpPr>
          <p:cNvPr id="82" name="Slide Number Placeholder 81">
            <a:extLst>
              <a:ext uri="{FF2B5EF4-FFF2-40B4-BE49-F238E27FC236}">
                <a16:creationId xmlns:a16="http://schemas.microsoft.com/office/drawing/2014/main" id="{FE30BE75-671C-4800-ADD5-0E3582D2062B}"/>
              </a:ext>
            </a:extLst>
          </p:cNvPr>
          <p:cNvSpPr>
            <a:spLocks noGrp="1"/>
          </p:cNvSpPr>
          <p:nvPr>
            <p:ph type="sldNum" sz="quarter" idx="12"/>
          </p:nvPr>
        </p:nvSpPr>
        <p:spPr/>
        <p:txBody>
          <a:bodyPr/>
          <a:lstStyle/>
          <a:p>
            <a:fld id="{27C6CCC6-2BE5-4E42-96A4-D1E8E81A3D8E}" type="slidenum">
              <a:rPr lang="fr-FR" smtClean="0"/>
              <a:t>1</a:t>
            </a:fld>
            <a:endParaRPr lang="fr-FR"/>
          </a:p>
        </p:txBody>
      </p:sp>
      <p:sp>
        <p:nvSpPr>
          <p:cNvPr id="3" name="Rectangle 2">
            <a:extLst>
              <a:ext uri="{FF2B5EF4-FFF2-40B4-BE49-F238E27FC236}">
                <a16:creationId xmlns:a16="http://schemas.microsoft.com/office/drawing/2014/main" id="{A7342D65-0316-45DA-9A79-F4B5A7F201C6}"/>
              </a:ext>
            </a:extLst>
          </p:cNvPr>
          <p:cNvSpPr/>
          <p:nvPr/>
        </p:nvSpPr>
        <p:spPr>
          <a:xfrm>
            <a:off x="5701694" y="1228397"/>
            <a:ext cx="5793005" cy="4708981"/>
          </a:xfrm>
          <a:prstGeom prst="rect">
            <a:avLst/>
          </a:prstGeom>
        </p:spPr>
        <p:txBody>
          <a:bodyPr wrap="square">
            <a:spAutoFit/>
          </a:bodyPr>
          <a:lstStyle/>
          <a:p>
            <a:r>
              <a:rPr lang="en-US" sz="2000" u="sng" dirty="0"/>
              <a:t>Objective:</a:t>
            </a:r>
            <a:r>
              <a:rPr lang="en-US" sz="2000" dirty="0"/>
              <a:t> prediction, decision-support tool</a:t>
            </a:r>
          </a:p>
          <a:p>
            <a:endParaRPr lang="en-US" sz="2000" dirty="0"/>
          </a:p>
          <a:p>
            <a:r>
              <a:rPr lang="en-US" sz="2000" u="sng" dirty="0"/>
              <a:t>Characteristics:</a:t>
            </a:r>
            <a:r>
              <a:rPr lang="en-US" sz="2000" dirty="0"/>
              <a:t> </a:t>
            </a:r>
          </a:p>
          <a:p>
            <a:pPr marL="285750" indent="-285750">
              <a:buFont typeface="Arial" panose="020B0604020202020204" pitchFamily="34" charset="0"/>
              <a:buChar char="•"/>
            </a:pPr>
            <a:r>
              <a:rPr lang="en-US" sz="2000" dirty="0"/>
              <a:t>crop scale</a:t>
            </a:r>
          </a:p>
          <a:p>
            <a:pPr marL="285750" indent="-285750">
              <a:buFont typeface="Arial" panose="020B0604020202020204" pitchFamily="34" charset="0"/>
              <a:buChar char="•"/>
            </a:pPr>
            <a:r>
              <a:rPr lang="en-US" sz="2000" dirty="0"/>
              <a:t>homogeneous hypotheses (average plant)</a:t>
            </a:r>
          </a:p>
          <a:p>
            <a:pPr marL="285750" indent="-285750">
              <a:buFont typeface="Arial" panose="020B0604020202020204" pitchFamily="34" charset="0"/>
              <a:buChar char="•"/>
            </a:pPr>
            <a:r>
              <a:rPr lang="en-US" sz="2000" dirty="0"/>
              <a:t>simulate </a:t>
            </a:r>
            <a:r>
              <a:rPr lang="en-US" sz="2000" b="1" dirty="0"/>
              <a:t>multiple processes </a:t>
            </a:r>
            <a:r>
              <a:rPr lang="en-US" sz="2000" dirty="0"/>
              <a:t>through the whole development cycle</a:t>
            </a:r>
          </a:p>
          <a:p>
            <a:pPr marL="285750" indent="-285750">
              <a:buFont typeface="Arial" panose="020B0604020202020204" pitchFamily="34" charset="0"/>
              <a:buChar char="•"/>
            </a:pPr>
            <a:r>
              <a:rPr lang="en-US" sz="2000" dirty="0"/>
              <a:t>some already calibrated for intercrops</a:t>
            </a:r>
          </a:p>
          <a:p>
            <a:pPr marL="285750" indent="-285750">
              <a:buFont typeface="Arial" panose="020B0604020202020204" pitchFamily="34" charset="0"/>
              <a:buChar char="•"/>
            </a:pPr>
            <a:endParaRPr lang="fr-FR" sz="2000" dirty="0"/>
          </a:p>
          <a:p>
            <a:pPr marL="285750" indent="-285750">
              <a:buFont typeface="Arial" panose="020B0604020202020204" pitchFamily="34" charset="0"/>
              <a:buChar char="•"/>
            </a:pPr>
            <a:endParaRPr lang="fr-FR" sz="2000" dirty="0"/>
          </a:p>
          <a:p>
            <a:pPr marL="285750" indent="-285750">
              <a:buFont typeface="Arial" panose="020B0604020202020204" pitchFamily="34" charset="0"/>
              <a:buChar char="•"/>
            </a:pPr>
            <a:endParaRPr lang="fr-FR" sz="2000" dirty="0"/>
          </a:p>
          <a:p>
            <a:pPr marL="285750" indent="-285750">
              <a:buFont typeface="Arial" panose="020B0604020202020204" pitchFamily="34" charset="0"/>
              <a:buChar char="•"/>
            </a:pPr>
            <a:endParaRPr lang="en-US" sz="2000" dirty="0"/>
          </a:p>
          <a:p>
            <a:r>
              <a:rPr lang="en-US" sz="2000" u="sng" dirty="0"/>
              <a:t>Limits:</a:t>
            </a:r>
            <a:r>
              <a:rPr lang="en-US" sz="2000" dirty="0"/>
              <a:t> </a:t>
            </a:r>
          </a:p>
          <a:p>
            <a:pPr marL="285750" indent="-285750">
              <a:buFont typeface="Arial" panose="020B0604020202020204" pitchFamily="34" charset="0"/>
              <a:buChar char="•"/>
            </a:pPr>
            <a:r>
              <a:rPr lang="en-US" sz="2000" b="1" dirty="0"/>
              <a:t>no heterogeneity </a:t>
            </a:r>
          </a:p>
          <a:p>
            <a:pPr marL="285750" indent="-285750">
              <a:buFont typeface="Arial" panose="020B0604020202020204" pitchFamily="34" charset="0"/>
              <a:buChar char="•"/>
            </a:pPr>
            <a:r>
              <a:rPr lang="fr-FR" sz="2000" dirty="0"/>
              <a:t>n</a:t>
            </a:r>
            <a:r>
              <a:rPr lang="en-US" sz="2000" dirty="0"/>
              <a:t>o explicit plant-plant interactions</a:t>
            </a:r>
          </a:p>
        </p:txBody>
      </p:sp>
      <p:grpSp>
        <p:nvGrpSpPr>
          <p:cNvPr id="14" name="Group 13">
            <a:extLst>
              <a:ext uri="{FF2B5EF4-FFF2-40B4-BE49-F238E27FC236}">
                <a16:creationId xmlns:a16="http://schemas.microsoft.com/office/drawing/2014/main" id="{6FA4931E-31D7-4EBE-B7CA-871AB3A9DE52}"/>
              </a:ext>
            </a:extLst>
          </p:cNvPr>
          <p:cNvGrpSpPr/>
          <p:nvPr/>
        </p:nvGrpSpPr>
        <p:grpSpPr>
          <a:xfrm>
            <a:off x="1000565" y="3494635"/>
            <a:ext cx="4030394" cy="2008699"/>
            <a:chOff x="609627" y="3316611"/>
            <a:chExt cx="4419573" cy="2508299"/>
          </a:xfrm>
        </p:grpSpPr>
        <p:sp>
          <p:nvSpPr>
            <p:cNvPr id="15" name="Cube 14">
              <a:extLst>
                <a:ext uri="{FF2B5EF4-FFF2-40B4-BE49-F238E27FC236}">
                  <a16:creationId xmlns:a16="http://schemas.microsoft.com/office/drawing/2014/main" id="{F76E5637-B997-422A-8B21-5B40EEC7B660}"/>
                </a:ext>
              </a:extLst>
            </p:cNvPr>
            <p:cNvSpPr/>
            <p:nvPr/>
          </p:nvSpPr>
          <p:spPr>
            <a:xfrm>
              <a:off x="609627" y="3669906"/>
              <a:ext cx="4419573" cy="2155004"/>
            </a:xfrm>
            <a:prstGeom prst="cube">
              <a:avLst>
                <a:gd name="adj" fmla="val 82867"/>
              </a:avLst>
            </a:prstGeom>
            <a:solidFill>
              <a:srgbClr val="C28745">
                <a:alpha val="64706"/>
              </a:srgbClr>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6" name="Cube 15">
              <a:extLst>
                <a:ext uri="{FF2B5EF4-FFF2-40B4-BE49-F238E27FC236}">
                  <a16:creationId xmlns:a16="http://schemas.microsoft.com/office/drawing/2014/main" id="{261B9085-48C5-495C-AE58-EF0C94904685}"/>
                </a:ext>
              </a:extLst>
            </p:cNvPr>
            <p:cNvSpPr/>
            <p:nvPr/>
          </p:nvSpPr>
          <p:spPr>
            <a:xfrm>
              <a:off x="609627" y="3316611"/>
              <a:ext cx="4419573" cy="2155004"/>
            </a:xfrm>
            <a:prstGeom prst="cube">
              <a:avLst>
                <a:gd name="adj" fmla="val 82867"/>
              </a:avLst>
            </a:prstGeom>
            <a:solidFill>
              <a:srgbClr val="399758">
                <a:alpha val="65098"/>
              </a:srgbClr>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grpSp>
      <p:sp>
        <p:nvSpPr>
          <p:cNvPr id="4" name="Rectangle 3">
            <a:extLst>
              <a:ext uri="{FF2B5EF4-FFF2-40B4-BE49-F238E27FC236}">
                <a16:creationId xmlns:a16="http://schemas.microsoft.com/office/drawing/2014/main" id="{A991B7EC-E2DF-42F5-935B-60E23F56670F}"/>
              </a:ext>
            </a:extLst>
          </p:cNvPr>
          <p:cNvSpPr/>
          <p:nvPr/>
        </p:nvSpPr>
        <p:spPr>
          <a:xfrm>
            <a:off x="2437719" y="4044974"/>
            <a:ext cx="1156086" cy="369332"/>
          </a:xfrm>
          <a:prstGeom prst="rect">
            <a:avLst/>
          </a:prstGeom>
        </p:spPr>
        <p:txBody>
          <a:bodyPr wrap="none">
            <a:spAutoFit/>
          </a:bodyPr>
          <a:lstStyle/>
          <a:p>
            <a:r>
              <a:rPr lang="en-US" dirty="0"/>
              <a:t>1 m</a:t>
            </a:r>
            <a:r>
              <a:rPr lang="fr-FR" dirty="0"/>
              <a:t>² or</a:t>
            </a:r>
            <a:r>
              <a:rPr lang="en-US" dirty="0"/>
              <a:t> ha</a:t>
            </a:r>
          </a:p>
        </p:txBody>
      </p:sp>
      <p:sp>
        <p:nvSpPr>
          <p:cNvPr id="5" name="Rectangle 4">
            <a:extLst>
              <a:ext uri="{FF2B5EF4-FFF2-40B4-BE49-F238E27FC236}">
                <a16:creationId xmlns:a16="http://schemas.microsoft.com/office/drawing/2014/main" id="{78E0B7CE-92C7-49E9-9871-ED7098E26389}"/>
              </a:ext>
            </a:extLst>
          </p:cNvPr>
          <p:cNvSpPr/>
          <p:nvPr/>
        </p:nvSpPr>
        <p:spPr>
          <a:xfrm>
            <a:off x="6006792" y="3777561"/>
            <a:ext cx="3088346" cy="707886"/>
          </a:xfrm>
          <a:prstGeom prst="rect">
            <a:avLst/>
          </a:prstGeom>
        </p:spPr>
        <p:txBody>
          <a:bodyPr wrap="none">
            <a:spAutoFit/>
          </a:bodyPr>
          <a:lstStyle/>
          <a:p>
            <a:r>
              <a:rPr lang="fr-FR" sz="2000" i="1" dirty="0"/>
              <a:t>e.g.: S</a:t>
            </a:r>
            <a:r>
              <a:rPr lang="en-US" sz="2000" i="1" dirty="0"/>
              <a:t>TICS </a:t>
            </a:r>
            <a:r>
              <a:rPr lang="en-US" i="1" dirty="0"/>
              <a:t>(</a:t>
            </a:r>
            <a:r>
              <a:rPr lang="en-US" i="1" dirty="0" err="1"/>
              <a:t>Vezy</a:t>
            </a:r>
            <a:r>
              <a:rPr lang="en-US" i="1" dirty="0"/>
              <a:t> et al., 2023)</a:t>
            </a:r>
            <a:r>
              <a:rPr lang="en-US" sz="2000" i="1" dirty="0"/>
              <a:t>, </a:t>
            </a:r>
          </a:p>
          <a:p>
            <a:r>
              <a:rPr lang="fr-FR" sz="2000" i="1" dirty="0"/>
              <a:t>A</a:t>
            </a:r>
            <a:r>
              <a:rPr lang="en-US" sz="2000" i="1" dirty="0"/>
              <a:t>PSIM </a:t>
            </a:r>
            <a:r>
              <a:rPr lang="en-US" i="1" dirty="0"/>
              <a:t>(</a:t>
            </a:r>
            <a:r>
              <a:rPr lang="fr-FR" i="1" dirty="0" err="1"/>
              <a:t>Githui</a:t>
            </a:r>
            <a:r>
              <a:rPr lang="fr-FR" i="1" dirty="0"/>
              <a:t> et al., 2023</a:t>
            </a:r>
            <a:r>
              <a:rPr lang="en-US" i="1" dirty="0"/>
              <a:t>)</a:t>
            </a:r>
          </a:p>
        </p:txBody>
      </p:sp>
    </p:spTree>
    <p:extLst>
      <p:ext uri="{BB962C8B-B14F-4D97-AF65-F5344CB8AC3E}">
        <p14:creationId xmlns:p14="http://schemas.microsoft.com/office/powerpoint/2010/main" val="5737630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30FF5A-F545-B820-3B51-5271DB8E819E}"/>
              </a:ext>
            </a:extLst>
          </p:cNvPr>
          <p:cNvSpPr>
            <a:spLocks noGrp="1"/>
          </p:cNvSpPr>
          <p:nvPr>
            <p:ph type="title"/>
          </p:nvPr>
        </p:nvSpPr>
        <p:spPr>
          <a:xfrm>
            <a:off x="664848" y="311470"/>
            <a:ext cx="9181151" cy="896121"/>
          </a:xfrm>
        </p:spPr>
        <p:txBody>
          <a:bodyPr>
            <a:normAutofit/>
          </a:bodyPr>
          <a:lstStyle/>
          <a:p>
            <a:r>
              <a:rPr lang="fr-FR" sz="4000" dirty="0"/>
              <a:t>FSPM </a:t>
            </a:r>
            <a:r>
              <a:rPr lang="fr-FR" sz="3200" dirty="0"/>
              <a:t>(</a:t>
            </a:r>
            <a:r>
              <a:rPr lang="fr-FR" sz="3200" b="1" dirty="0" err="1"/>
              <a:t>F</a:t>
            </a:r>
            <a:r>
              <a:rPr lang="fr-FR" sz="3200" dirty="0" err="1"/>
              <a:t>unctional</a:t>
            </a:r>
            <a:r>
              <a:rPr lang="fr-FR" sz="3200" dirty="0"/>
              <a:t>-</a:t>
            </a:r>
            <a:r>
              <a:rPr lang="fr-FR" sz="3200" b="1" dirty="0"/>
              <a:t>S</a:t>
            </a:r>
            <a:r>
              <a:rPr lang="fr-FR" sz="3200" dirty="0"/>
              <a:t>tructural </a:t>
            </a:r>
            <a:r>
              <a:rPr lang="fr-FR" sz="3200" b="1" dirty="0"/>
              <a:t>P</a:t>
            </a:r>
            <a:r>
              <a:rPr lang="fr-FR" sz="3200" dirty="0"/>
              <a:t>lant </a:t>
            </a:r>
            <a:r>
              <a:rPr lang="fr-FR" sz="3200" b="1" dirty="0" err="1"/>
              <a:t>M</a:t>
            </a:r>
            <a:r>
              <a:rPr lang="fr-FR" sz="3200" dirty="0" err="1"/>
              <a:t>odels</a:t>
            </a:r>
            <a:r>
              <a:rPr lang="fr-FR" sz="3200" dirty="0"/>
              <a:t>) </a:t>
            </a:r>
          </a:p>
        </p:txBody>
      </p:sp>
      <p:sp>
        <p:nvSpPr>
          <p:cNvPr id="9" name="Content Placeholder 7">
            <a:extLst>
              <a:ext uri="{FF2B5EF4-FFF2-40B4-BE49-F238E27FC236}">
                <a16:creationId xmlns:a16="http://schemas.microsoft.com/office/drawing/2014/main" id="{3944096A-74EF-4E2D-9E5D-E63FEDC5CCB4}"/>
              </a:ext>
            </a:extLst>
          </p:cNvPr>
          <p:cNvSpPr txBox="1">
            <a:spLocks/>
          </p:cNvSpPr>
          <p:nvPr/>
        </p:nvSpPr>
        <p:spPr>
          <a:xfrm>
            <a:off x="664848" y="1028080"/>
            <a:ext cx="4017852" cy="294283"/>
          </a:xfrm>
          <a:prstGeom prst="rect">
            <a:avLst/>
          </a:prstGeom>
          <a:ln w="28575">
            <a:noFill/>
          </a:ln>
        </p:spPr>
        <p:txBody>
          <a:bodyPr vert="horz" lIns="91440" tIns="45720" rIns="91440" bIns="45720" rtlCol="0" anchor="ctr">
            <a:normAutofit lnSpcReduction="10000"/>
          </a:bodyPr>
          <a:lstStyle>
            <a:defPPr>
              <a:defRPr lang="fr-FR"/>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fr-FR" sz="1400" dirty="0">
                <a:solidFill>
                  <a:schemeClr val="tx1"/>
                </a:solidFill>
              </a:rPr>
              <a:t>(</a:t>
            </a:r>
            <a:r>
              <a:rPr lang="da-DK" sz="1400" dirty="0">
                <a:solidFill>
                  <a:schemeClr val="tx1"/>
                </a:solidFill>
              </a:rPr>
              <a:t>Evers et al., 2019; </a:t>
            </a:r>
            <a:r>
              <a:rPr lang="fr-FR" sz="1400" dirty="0" err="1">
                <a:solidFill>
                  <a:schemeClr val="tx1"/>
                </a:solidFill>
              </a:rPr>
              <a:t>Louarn</a:t>
            </a:r>
            <a:r>
              <a:rPr lang="fr-FR" sz="1400" dirty="0">
                <a:solidFill>
                  <a:schemeClr val="tx1"/>
                </a:solidFill>
              </a:rPr>
              <a:t> and Song, 2020)</a:t>
            </a:r>
          </a:p>
        </p:txBody>
      </p:sp>
      <p:sp>
        <p:nvSpPr>
          <p:cNvPr id="82" name="Slide Number Placeholder 81">
            <a:extLst>
              <a:ext uri="{FF2B5EF4-FFF2-40B4-BE49-F238E27FC236}">
                <a16:creationId xmlns:a16="http://schemas.microsoft.com/office/drawing/2014/main" id="{FE30BE75-671C-4800-ADD5-0E3582D2062B}"/>
              </a:ext>
            </a:extLst>
          </p:cNvPr>
          <p:cNvSpPr>
            <a:spLocks noGrp="1"/>
          </p:cNvSpPr>
          <p:nvPr>
            <p:ph type="sldNum" sz="quarter" idx="12"/>
          </p:nvPr>
        </p:nvSpPr>
        <p:spPr/>
        <p:txBody>
          <a:bodyPr/>
          <a:lstStyle/>
          <a:p>
            <a:fld id="{27C6CCC6-2BE5-4E42-96A4-D1E8E81A3D8E}" type="slidenum">
              <a:rPr lang="fr-FR" smtClean="0"/>
              <a:t>2</a:t>
            </a:fld>
            <a:endParaRPr lang="fr-FR"/>
          </a:p>
        </p:txBody>
      </p:sp>
      <p:sp>
        <p:nvSpPr>
          <p:cNvPr id="19" name="Rectangle 18">
            <a:extLst>
              <a:ext uri="{FF2B5EF4-FFF2-40B4-BE49-F238E27FC236}">
                <a16:creationId xmlns:a16="http://schemas.microsoft.com/office/drawing/2014/main" id="{65E17AAE-D403-4C0C-BA8C-9BB147F88A50}"/>
              </a:ext>
            </a:extLst>
          </p:cNvPr>
          <p:cNvSpPr/>
          <p:nvPr/>
        </p:nvSpPr>
        <p:spPr>
          <a:xfrm>
            <a:off x="664848" y="1958202"/>
            <a:ext cx="8854068" cy="3785652"/>
          </a:xfrm>
          <a:prstGeom prst="rect">
            <a:avLst/>
          </a:prstGeom>
        </p:spPr>
        <p:txBody>
          <a:bodyPr wrap="square">
            <a:spAutoFit/>
          </a:bodyPr>
          <a:lstStyle/>
          <a:p>
            <a:r>
              <a:rPr lang="en-US" sz="2000" u="sng" dirty="0"/>
              <a:t>Objective:</a:t>
            </a:r>
            <a:r>
              <a:rPr lang="en-US" sz="2000" dirty="0"/>
              <a:t> integration of knowledge at organ scale </a:t>
            </a:r>
          </a:p>
          <a:p>
            <a:endParaRPr lang="en-US" sz="2000" dirty="0"/>
          </a:p>
          <a:p>
            <a:r>
              <a:rPr lang="en-US" sz="2000" u="sng" dirty="0"/>
              <a:t>Characteristics: </a:t>
            </a:r>
          </a:p>
          <a:p>
            <a:pPr marL="285750" indent="-285750">
              <a:buFont typeface="Arial" panose="020B0604020202020204" pitchFamily="34" charset="0"/>
              <a:buChar char="•"/>
            </a:pPr>
            <a:r>
              <a:rPr lang="en-US" sz="2000" dirty="0"/>
              <a:t>organ scale </a:t>
            </a:r>
          </a:p>
          <a:p>
            <a:pPr marL="285750" indent="-285750">
              <a:buFont typeface="Arial" panose="020B0604020202020204" pitchFamily="34" charset="0"/>
              <a:buChar char="•"/>
            </a:pPr>
            <a:r>
              <a:rPr lang="en-US" sz="2000" b="1" dirty="0"/>
              <a:t>3D plant structure </a:t>
            </a:r>
            <a:r>
              <a:rPr lang="en-US" sz="2000" dirty="0"/>
              <a:t>influence and emerges from plant processes</a:t>
            </a:r>
          </a:p>
          <a:p>
            <a:pPr marL="285750" indent="-285750">
              <a:buFont typeface="Arial" panose="020B0604020202020204" pitchFamily="34" charset="0"/>
              <a:buChar char="•"/>
            </a:pPr>
            <a:r>
              <a:rPr lang="en-US" sz="2000" dirty="0"/>
              <a:t>enable to represent heterogeneous crops</a:t>
            </a:r>
          </a:p>
          <a:p>
            <a:pPr marL="285750" indent="-285750">
              <a:buFont typeface="Arial" panose="020B0604020202020204" pitchFamily="34" charset="0"/>
              <a:buChar char="•"/>
            </a:pPr>
            <a:endParaRPr lang="fr-FR" sz="2000" dirty="0"/>
          </a:p>
          <a:p>
            <a:r>
              <a:rPr lang="fr-FR" sz="2000" u="sng" dirty="0"/>
              <a:t>Limits:</a:t>
            </a:r>
          </a:p>
          <a:p>
            <a:pPr marL="285750" indent="-285750">
              <a:buFont typeface="Arial" panose="020B0604020202020204" pitchFamily="34" charset="0"/>
              <a:buChar char="•"/>
            </a:pPr>
            <a:r>
              <a:rPr lang="fr-FR" sz="2000" b="1" dirty="0" err="1"/>
              <a:t>complexity</a:t>
            </a:r>
            <a:r>
              <a:rPr lang="fr-FR" sz="2000" dirty="0"/>
              <a:t> </a:t>
            </a:r>
          </a:p>
          <a:p>
            <a:pPr marL="285750" indent="-285750">
              <a:buFont typeface="Arial" panose="020B0604020202020204" pitchFamily="34" charset="0"/>
              <a:buChar char="•"/>
            </a:pPr>
            <a:r>
              <a:rPr lang="fr-FR" sz="2000" dirty="0" err="1"/>
              <a:t>consider</a:t>
            </a:r>
            <a:r>
              <a:rPr lang="fr-FR" sz="2000" dirty="0"/>
              <a:t> few </a:t>
            </a:r>
            <a:r>
              <a:rPr lang="fr-FR" sz="2000" dirty="0" err="1"/>
              <a:t>processes</a:t>
            </a:r>
            <a:r>
              <a:rPr lang="fr-FR" sz="2000" dirty="0"/>
              <a:t> at the </a:t>
            </a:r>
            <a:r>
              <a:rPr lang="fr-FR" sz="2000" dirty="0" err="1"/>
              <a:t>same</a:t>
            </a:r>
            <a:r>
              <a:rPr lang="fr-FR" sz="2000" dirty="0"/>
              <a:t> time</a:t>
            </a:r>
          </a:p>
          <a:p>
            <a:pPr marL="285750" indent="-285750">
              <a:buFont typeface="Arial" panose="020B0604020202020204" pitchFamily="34" charset="0"/>
              <a:buChar char="•"/>
            </a:pPr>
            <a:r>
              <a:rPr lang="fr-FR" sz="2000" dirty="0" err="1"/>
              <a:t>cannot</a:t>
            </a:r>
            <a:r>
              <a:rPr lang="fr-FR" sz="2000" dirty="0"/>
              <a:t> </a:t>
            </a:r>
            <a:r>
              <a:rPr lang="fr-FR" sz="2000" dirty="0" err="1"/>
              <a:t>always</a:t>
            </a:r>
            <a:r>
              <a:rPr lang="fr-FR" sz="2000" dirty="0"/>
              <a:t> </a:t>
            </a:r>
            <a:r>
              <a:rPr lang="fr-FR" sz="2000" dirty="0" err="1"/>
              <a:t>simulate</a:t>
            </a:r>
            <a:r>
              <a:rPr lang="fr-FR" sz="2000" dirty="0"/>
              <a:t> </a:t>
            </a:r>
            <a:r>
              <a:rPr lang="fr-FR" sz="2000" dirty="0" err="1"/>
              <a:t>whole</a:t>
            </a:r>
            <a:r>
              <a:rPr lang="fr-FR" sz="2000" dirty="0"/>
              <a:t> </a:t>
            </a:r>
            <a:r>
              <a:rPr lang="fr-FR" sz="2000" dirty="0" err="1"/>
              <a:t>development</a:t>
            </a:r>
            <a:r>
              <a:rPr lang="fr-FR" sz="2000" dirty="0"/>
              <a:t> cycle</a:t>
            </a:r>
          </a:p>
          <a:p>
            <a:pPr marL="285750" indent="-285750">
              <a:buFont typeface="Arial" panose="020B0604020202020204" pitchFamily="34" charset="0"/>
              <a:buChar char="•"/>
            </a:pPr>
            <a:r>
              <a:rPr lang="fr-FR" sz="2000" dirty="0" err="1">
                <a:sym typeface="Wingdings" panose="05000000000000000000" pitchFamily="2" charset="2"/>
              </a:rPr>
              <a:t>need</a:t>
            </a:r>
            <a:r>
              <a:rPr lang="fr-FR" sz="2000" dirty="0">
                <a:sym typeface="Wingdings" panose="05000000000000000000" pitchFamily="2" charset="2"/>
              </a:rPr>
              <a:t> </a:t>
            </a:r>
            <a:r>
              <a:rPr lang="fr-FR" sz="2000" b="1" dirty="0">
                <a:sym typeface="Wingdings" panose="05000000000000000000" pitchFamily="2" charset="2"/>
              </a:rPr>
              <a:t>lots of 3D </a:t>
            </a:r>
            <a:r>
              <a:rPr lang="fr-FR" sz="2000" b="1" dirty="0" err="1">
                <a:sym typeface="Wingdings" panose="05000000000000000000" pitchFamily="2" charset="2"/>
              </a:rPr>
              <a:t>measures</a:t>
            </a:r>
            <a:r>
              <a:rPr lang="fr-FR" sz="2000" b="1" dirty="0">
                <a:sym typeface="Wingdings" panose="05000000000000000000" pitchFamily="2" charset="2"/>
              </a:rPr>
              <a:t> </a:t>
            </a:r>
            <a:r>
              <a:rPr lang="fr-FR" sz="2000" dirty="0">
                <a:sym typeface="Wingdings" panose="05000000000000000000" pitchFamily="2" charset="2"/>
              </a:rPr>
              <a:t>(hard to </a:t>
            </a:r>
            <a:r>
              <a:rPr lang="fr-FR" sz="2000" dirty="0" err="1">
                <a:sym typeface="Wingdings" panose="05000000000000000000" pitchFamily="2" charset="2"/>
              </a:rPr>
              <a:t>get</a:t>
            </a:r>
            <a:r>
              <a:rPr lang="fr-FR" sz="2000" dirty="0">
                <a:sym typeface="Wingdings" panose="05000000000000000000" pitchFamily="2" charset="2"/>
              </a:rPr>
              <a:t>)</a:t>
            </a:r>
            <a:endParaRPr lang="en-US" sz="2000" dirty="0"/>
          </a:p>
        </p:txBody>
      </p:sp>
      <p:pic>
        <p:nvPicPr>
          <p:cNvPr id="4" name="Picture 3">
            <a:extLst>
              <a:ext uri="{FF2B5EF4-FFF2-40B4-BE49-F238E27FC236}">
                <a16:creationId xmlns:a16="http://schemas.microsoft.com/office/drawing/2014/main" id="{8BDC890E-5D70-44A9-8DD3-0EFCDCD7BC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78017" y="496153"/>
            <a:ext cx="2575783" cy="2530059"/>
          </a:xfrm>
          <a:prstGeom prst="rect">
            <a:avLst/>
          </a:prstGeom>
        </p:spPr>
      </p:pic>
      <p:sp>
        <p:nvSpPr>
          <p:cNvPr id="5" name="Rectangle 4">
            <a:extLst>
              <a:ext uri="{FF2B5EF4-FFF2-40B4-BE49-F238E27FC236}">
                <a16:creationId xmlns:a16="http://schemas.microsoft.com/office/drawing/2014/main" id="{1E1673D4-AF18-49DF-82F2-A993990254E8}"/>
              </a:ext>
            </a:extLst>
          </p:cNvPr>
          <p:cNvSpPr/>
          <p:nvPr/>
        </p:nvSpPr>
        <p:spPr>
          <a:xfrm>
            <a:off x="9023795" y="3037646"/>
            <a:ext cx="2084225" cy="646331"/>
          </a:xfrm>
          <a:prstGeom prst="rect">
            <a:avLst/>
          </a:prstGeom>
        </p:spPr>
        <p:txBody>
          <a:bodyPr wrap="none">
            <a:spAutoFit/>
          </a:bodyPr>
          <a:lstStyle/>
          <a:p>
            <a:pPr algn="ctr"/>
            <a:r>
              <a:rPr lang="fr-FR" sz="2000" i="1" dirty="0"/>
              <a:t>V</a:t>
            </a:r>
            <a:r>
              <a:rPr lang="en-US" sz="2000" i="1" dirty="0" err="1"/>
              <a:t>irtual</a:t>
            </a:r>
            <a:r>
              <a:rPr lang="en-US" sz="2000" i="1" dirty="0"/>
              <a:t> </a:t>
            </a:r>
            <a:r>
              <a:rPr lang="en-US" sz="2000" i="1" dirty="0" err="1"/>
              <a:t>GrassLand</a:t>
            </a:r>
            <a:r>
              <a:rPr lang="en-US" sz="2000" i="1" dirty="0"/>
              <a:t> </a:t>
            </a:r>
          </a:p>
          <a:p>
            <a:pPr algn="ctr"/>
            <a:r>
              <a:rPr lang="en-US" sz="1600" i="1" dirty="0"/>
              <a:t>(</a:t>
            </a:r>
            <a:r>
              <a:rPr lang="en-US" sz="1600" i="1" dirty="0" err="1"/>
              <a:t>Louarn</a:t>
            </a:r>
            <a:r>
              <a:rPr lang="en-US" sz="1600" i="1" dirty="0"/>
              <a:t> et al., 2014)</a:t>
            </a:r>
            <a:endParaRPr lang="en-US" sz="1600" dirty="0"/>
          </a:p>
        </p:txBody>
      </p:sp>
      <p:pic>
        <p:nvPicPr>
          <p:cNvPr id="10" name="Picture 9">
            <a:extLst>
              <a:ext uri="{FF2B5EF4-FFF2-40B4-BE49-F238E27FC236}">
                <a16:creationId xmlns:a16="http://schemas.microsoft.com/office/drawing/2014/main" id="{EEB096DD-4BD3-43A2-97AB-E13E0F14B2D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98056" y="3695411"/>
            <a:ext cx="3461848" cy="2376430"/>
          </a:xfrm>
          <a:prstGeom prst="rect">
            <a:avLst/>
          </a:prstGeom>
        </p:spPr>
      </p:pic>
      <p:sp>
        <p:nvSpPr>
          <p:cNvPr id="15" name="Rectangle 14">
            <a:extLst>
              <a:ext uri="{FF2B5EF4-FFF2-40B4-BE49-F238E27FC236}">
                <a16:creationId xmlns:a16="http://schemas.microsoft.com/office/drawing/2014/main" id="{77F72D28-7A0F-4802-BE31-05C8EBC2CD75}"/>
              </a:ext>
            </a:extLst>
          </p:cNvPr>
          <p:cNvSpPr/>
          <p:nvPr/>
        </p:nvSpPr>
        <p:spPr>
          <a:xfrm>
            <a:off x="8180648" y="6107452"/>
            <a:ext cx="2096664" cy="646331"/>
          </a:xfrm>
          <a:prstGeom prst="rect">
            <a:avLst/>
          </a:prstGeom>
        </p:spPr>
        <p:txBody>
          <a:bodyPr wrap="none">
            <a:spAutoFit/>
          </a:bodyPr>
          <a:lstStyle/>
          <a:p>
            <a:pPr algn="ctr"/>
            <a:r>
              <a:rPr lang="fr-FR" sz="2000" i="1" dirty="0"/>
              <a:t>SIMBAL</a:t>
            </a:r>
            <a:endParaRPr lang="en-US" sz="2000" i="1" dirty="0"/>
          </a:p>
          <a:p>
            <a:pPr algn="ctr"/>
            <a:r>
              <a:rPr lang="en-US" sz="1600" i="1" dirty="0"/>
              <a:t>(</a:t>
            </a:r>
            <a:r>
              <a:rPr lang="en-US" sz="1600" i="1" dirty="0" err="1"/>
              <a:t>Perthame</a:t>
            </a:r>
            <a:r>
              <a:rPr lang="en-US" sz="1600" i="1" dirty="0"/>
              <a:t> et al., 2023)</a:t>
            </a:r>
            <a:endParaRPr lang="en-US" sz="1600" dirty="0"/>
          </a:p>
        </p:txBody>
      </p:sp>
      <p:pic>
        <p:nvPicPr>
          <p:cNvPr id="16" name="Graphic 15">
            <a:extLst>
              <a:ext uri="{FF2B5EF4-FFF2-40B4-BE49-F238E27FC236}">
                <a16:creationId xmlns:a16="http://schemas.microsoft.com/office/drawing/2014/main" id="{EEAA3CC1-A076-43CF-B9CF-F66C4127764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897120" y="5767043"/>
            <a:ext cx="1202056" cy="930624"/>
          </a:xfrm>
          <a:prstGeom prst="rect">
            <a:avLst/>
          </a:prstGeom>
        </p:spPr>
      </p:pic>
    </p:spTree>
    <p:extLst>
      <p:ext uri="{BB962C8B-B14F-4D97-AF65-F5344CB8AC3E}">
        <p14:creationId xmlns:p14="http://schemas.microsoft.com/office/powerpoint/2010/main" val="791221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165ED3D-3230-49E3-8660-65D703D2BCE4}"/>
              </a:ext>
            </a:extLst>
          </p:cNvPr>
          <p:cNvSpPr>
            <a:spLocks noGrp="1"/>
          </p:cNvSpPr>
          <p:nvPr>
            <p:ph type="sldNum" sz="quarter" idx="12"/>
          </p:nvPr>
        </p:nvSpPr>
        <p:spPr/>
        <p:txBody>
          <a:bodyPr/>
          <a:lstStyle/>
          <a:p>
            <a:fld id="{4D0921BC-FC9B-4B20-AD4C-0D7EEBC2A9A8}" type="slidenum">
              <a:rPr lang="en-US" smtClean="0"/>
              <a:t>3</a:t>
            </a:fld>
            <a:endParaRPr lang="en-US"/>
          </a:p>
        </p:txBody>
      </p:sp>
      <p:sp>
        <p:nvSpPr>
          <p:cNvPr id="8" name="Title 1">
            <a:extLst>
              <a:ext uri="{FF2B5EF4-FFF2-40B4-BE49-F238E27FC236}">
                <a16:creationId xmlns:a16="http://schemas.microsoft.com/office/drawing/2014/main" id="{B82B70B0-6F28-4241-A580-5ACAC2536C2E}"/>
              </a:ext>
            </a:extLst>
          </p:cNvPr>
          <p:cNvSpPr txBox="1">
            <a:spLocks/>
          </p:cNvSpPr>
          <p:nvPr/>
        </p:nvSpPr>
        <p:spPr>
          <a:xfrm>
            <a:off x="838200" y="25715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Parametric 3D plant models</a:t>
            </a:r>
          </a:p>
        </p:txBody>
      </p:sp>
      <p:sp>
        <p:nvSpPr>
          <p:cNvPr id="2" name="Rectangle 1">
            <a:extLst>
              <a:ext uri="{FF2B5EF4-FFF2-40B4-BE49-F238E27FC236}">
                <a16:creationId xmlns:a16="http://schemas.microsoft.com/office/drawing/2014/main" id="{8E8D08FC-2001-4E1A-B58C-9FC29BB0A560}"/>
              </a:ext>
            </a:extLst>
          </p:cNvPr>
          <p:cNvSpPr/>
          <p:nvPr/>
        </p:nvSpPr>
        <p:spPr>
          <a:xfrm>
            <a:off x="838197" y="1461153"/>
            <a:ext cx="6096000" cy="2862322"/>
          </a:xfrm>
          <a:prstGeom prst="rect">
            <a:avLst/>
          </a:prstGeom>
        </p:spPr>
        <p:txBody>
          <a:bodyPr>
            <a:spAutoFit/>
          </a:bodyPr>
          <a:lstStyle/>
          <a:p>
            <a:r>
              <a:rPr lang="en-US" sz="2000" u="sng" dirty="0"/>
              <a:t>Objective:</a:t>
            </a:r>
            <a:r>
              <a:rPr lang="en-US" sz="2000" dirty="0"/>
              <a:t> computer graphics</a:t>
            </a:r>
          </a:p>
          <a:p>
            <a:endParaRPr lang="en-US" sz="2000" dirty="0"/>
          </a:p>
          <a:p>
            <a:r>
              <a:rPr lang="en-US" sz="2000" u="sng" dirty="0"/>
              <a:t>Characteristics: </a:t>
            </a:r>
          </a:p>
          <a:p>
            <a:pPr marL="285750" indent="-285750">
              <a:buFont typeface="Arial" panose="020B0604020202020204" pitchFamily="34" charset="0"/>
              <a:buChar char="•"/>
            </a:pPr>
            <a:r>
              <a:rPr lang="en-US" sz="2000" b="1" dirty="0"/>
              <a:t>3D plant structure </a:t>
            </a:r>
          </a:p>
          <a:p>
            <a:pPr marL="285750" indent="-285750">
              <a:buFont typeface="Arial" panose="020B0604020202020204" pitchFamily="34" charset="0"/>
              <a:buChar char="•"/>
            </a:pPr>
            <a:r>
              <a:rPr lang="en-US" sz="2000" b="1" dirty="0"/>
              <a:t>easy to use </a:t>
            </a:r>
            <a:r>
              <a:rPr lang="en-US" sz="2000" dirty="0"/>
              <a:t>for non-specialists</a:t>
            </a:r>
          </a:p>
          <a:p>
            <a:pPr marL="285750" indent="-285750">
              <a:buFont typeface="Arial" panose="020B0604020202020204" pitchFamily="34" charset="0"/>
              <a:buChar char="•"/>
            </a:pPr>
            <a:endParaRPr lang="fr-FR" sz="2000" dirty="0"/>
          </a:p>
          <a:p>
            <a:r>
              <a:rPr lang="fr-FR" sz="2000" u="sng" dirty="0"/>
              <a:t>Limits:</a:t>
            </a:r>
            <a:endParaRPr lang="fr-FR" sz="2000" dirty="0"/>
          </a:p>
          <a:p>
            <a:pPr marL="342900" indent="-342900">
              <a:buFont typeface="Arial" panose="020B0604020202020204" pitchFamily="34" charset="0"/>
              <a:buChar char="•"/>
            </a:pPr>
            <a:r>
              <a:rPr lang="fr-FR" sz="2000" dirty="0"/>
              <a:t>no </a:t>
            </a:r>
            <a:r>
              <a:rPr lang="fr-FR" sz="2000" dirty="0" err="1"/>
              <a:t>botanical</a:t>
            </a:r>
            <a:r>
              <a:rPr lang="fr-FR" sz="2000" dirty="0"/>
              <a:t> </a:t>
            </a:r>
            <a:r>
              <a:rPr lang="fr-FR" sz="2000" dirty="0" err="1"/>
              <a:t>accuracy</a:t>
            </a:r>
            <a:endParaRPr lang="fr-FR" sz="2000" dirty="0"/>
          </a:p>
          <a:p>
            <a:pPr marL="342900" indent="-342900">
              <a:buFont typeface="Arial" panose="020B0604020202020204" pitchFamily="34" charset="0"/>
              <a:buChar char="•"/>
            </a:pPr>
            <a:r>
              <a:rPr lang="fr-FR" sz="2000" dirty="0"/>
              <a:t>no </a:t>
            </a:r>
            <a:r>
              <a:rPr lang="fr-FR" sz="2000" dirty="0" err="1"/>
              <a:t>consideration</a:t>
            </a:r>
            <a:r>
              <a:rPr lang="fr-FR" sz="2000" dirty="0"/>
              <a:t> of </a:t>
            </a:r>
            <a:r>
              <a:rPr lang="fr-FR" sz="2000" dirty="0" err="1"/>
              <a:t>environment</a:t>
            </a:r>
            <a:endParaRPr lang="fr-FR" sz="2000" dirty="0"/>
          </a:p>
        </p:txBody>
      </p:sp>
      <p:pic>
        <p:nvPicPr>
          <p:cNvPr id="6" name="Picture 5">
            <a:extLst>
              <a:ext uri="{FF2B5EF4-FFF2-40B4-BE49-F238E27FC236}">
                <a16:creationId xmlns:a16="http://schemas.microsoft.com/office/drawing/2014/main" id="{167F340F-5AC4-4435-B922-6DA1716E705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92046" y="660894"/>
            <a:ext cx="2181027" cy="2718145"/>
          </a:xfrm>
          <a:prstGeom prst="rect">
            <a:avLst/>
          </a:prstGeom>
        </p:spPr>
      </p:pic>
      <p:pic>
        <p:nvPicPr>
          <p:cNvPr id="9" name="Picture 8">
            <a:extLst>
              <a:ext uri="{FF2B5EF4-FFF2-40B4-BE49-F238E27FC236}">
                <a16:creationId xmlns:a16="http://schemas.microsoft.com/office/drawing/2014/main" id="{3E537469-C3FB-4426-AB97-44E40DBF09D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73179" y="4395611"/>
            <a:ext cx="5365595" cy="2002471"/>
          </a:xfrm>
          <a:prstGeom prst="rect">
            <a:avLst/>
          </a:prstGeom>
        </p:spPr>
      </p:pic>
      <p:sp>
        <p:nvSpPr>
          <p:cNvPr id="10" name="Rectangle 9">
            <a:extLst>
              <a:ext uri="{FF2B5EF4-FFF2-40B4-BE49-F238E27FC236}">
                <a16:creationId xmlns:a16="http://schemas.microsoft.com/office/drawing/2014/main" id="{2E06841E-3BC1-4FDF-9954-990431A04ECA}"/>
              </a:ext>
            </a:extLst>
          </p:cNvPr>
          <p:cNvSpPr/>
          <p:nvPr/>
        </p:nvSpPr>
        <p:spPr>
          <a:xfrm>
            <a:off x="8992046" y="3384756"/>
            <a:ext cx="2192139" cy="646331"/>
          </a:xfrm>
          <a:prstGeom prst="rect">
            <a:avLst/>
          </a:prstGeom>
        </p:spPr>
        <p:txBody>
          <a:bodyPr wrap="none">
            <a:spAutoFit/>
          </a:bodyPr>
          <a:lstStyle/>
          <a:p>
            <a:pPr algn="ctr"/>
            <a:r>
              <a:rPr lang="en-US" sz="2000" i="1" dirty="0"/>
              <a:t>parametric trees </a:t>
            </a:r>
          </a:p>
          <a:p>
            <a:pPr algn="ctr"/>
            <a:r>
              <a:rPr lang="en-US" sz="1600" i="1" dirty="0"/>
              <a:t>(Weber and Penn, 1995)</a:t>
            </a:r>
          </a:p>
        </p:txBody>
      </p:sp>
      <p:sp>
        <p:nvSpPr>
          <p:cNvPr id="11" name="Rectangle 10">
            <a:extLst>
              <a:ext uri="{FF2B5EF4-FFF2-40B4-BE49-F238E27FC236}">
                <a16:creationId xmlns:a16="http://schemas.microsoft.com/office/drawing/2014/main" id="{B985193E-0B23-461F-9DCB-5008D9DBA1EF}"/>
              </a:ext>
            </a:extLst>
          </p:cNvPr>
          <p:cNvSpPr/>
          <p:nvPr/>
        </p:nvSpPr>
        <p:spPr>
          <a:xfrm>
            <a:off x="9138774" y="5181082"/>
            <a:ext cx="1887569" cy="646331"/>
          </a:xfrm>
          <a:prstGeom prst="rect">
            <a:avLst/>
          </a:prstGeom>
        </p:spPr>
        <p:txBody>
          <a:bodyPr wrap="none">
            <a:spAutoFit/>
          </a:bodyPr>
          <a:lstStyle/>
          <a:p>
            <a:pPr algn="ctr"/>
            <a:r>
              <a:rPr lang="en-US" sz="2000" i="1" dirty="0" err="1"/>
              <a:t>TreeSketch</a:t>
            </a:r>
            <a:r>
              <a:rPr lang="en-US" sz="2000" i="1" dirty="0"/>
              <a:t> </a:t>
            </a:r>
          </a:p>
          <a:p>
            <a:pPr algn="ctr"/>
            <a:r>
              <a:rPr lang="en-US" sz="1600" i="1" dirty="0"/>
              <a:t>(</a:t>
            </a:r>
            <a:r>
              <a:rPr lang="en-US" sz="1600" i="1" dirty="0" err="1"/>
              <a:t>Longay</a:t>
            </a:r>
            <a:r>
              <a:rPr lang="en-US" sz="1600" i="1" dirty="0"/>
              <a:t> et al., 2012)</a:t>
            </a:r>
          </a:p>
        </p:txBody>
      </p:sp>
    </p:spTree>
    <p:extLst>
      <p:ext uri="{BB962C8B-B14F-4D97-AF65-F5344CB8AC3E}">
        <p14:creationId xmlns:p14="http://schemas.microsoft.com/office/powerpoint/2010/main" val="3106090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35D36B1F-93AF-4CCA-A609-69CC961733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77370" y="3414218"/>
            <a:ext cx="1806097" cy="3033023"/>
          </a:xfrm>
          <a:prstGeom prst="rect">
            <a:avLst/>
          </a:prstGeom>
        </p:spPr>
      </p:pic>
      <p:pic>
        <p:nvPicPr>
          <p:cNvPr id="86" name="Picture 85">
            <a:extLst>
              <a:ext uri="{FF2B5EF4-FFF2-40B4-BE49-F238E27FC236}">
                <a16:creationId xmlns:a16="http://schemas.microsoft.com/office/drawing/2014/main" id="{8F6AFA72-AA82-4A68-B058-C74C3B2EB7FD}"/>
              </a:ext>
            </a:extLst>
          </p:cNvPr>
          <p:cNvPicPr>
            <a:picLocks noChangeAspect="1"/>
          </p:cNvPicPr>
          <p:nvPr/>
        </p:nvPicPr>
        <p:blipFill rotWithShape="1">
          <a:blip r:embed="rId3">
            <a:clrChange>
              <a:clrFrom>
                <a:srgbClr val="FFFFFF"/>
              </a:clrFrom>
              <a:clrTo>
                <a:srgbClr val="FFFFFF">
                  <a:alpha val="0"/>
                </a:srgbClr>
              </a:clrTo>
            </a:clrChange>
          </a:blip>
          <a:srcRect l="38253" t="5366" r="2760" b="9134"/>
          <a:stretch/>
        </p:blipFill>
        <p:spPr>
          <a:xfrm>
            <a:off x="5929358" y="3634230"/>
            <a:ext cx="3182608" cy="2317794"/>
          </a:xfrm>
          <a:prstGeom prst="rect">
            <a:avLst/>
          </a:prstGeom>
        </p:spPr>
      </p:pic>
      <p:sp>
        <p:nvSpPr>
          <p:cNvPr id="2" name="Title 1">
            <a:extLst>
              <a:ext uri="{FF2B5EF4-FFF2-40B4-BE49-F238E27FC236}">
                <a16:creationId xmlns:a16="http://schemas.microsoft.com/office/drawing/2014/main" id="{E1710C2A-A9D2-4F13-A70E-2407430808E9}"/>
              </a:ext>
            </a:extLst>
          </p:cNvPr>
          <p:cNvSpPr>
            <a:spLocks noGrp="1"/>
          </p:cNvSpPr>
          <p:nvPr>
            <p:ph type="title"/>
          </p:nvPr>
        </p:nvSpPr>
        <p:spPr>
          <a:xfrm>
            <a:off x="241146" y="119517"/>
            <a:ext cx="10515600" cy="1325563"/>
          </a:xfrm>
        </p:spPr>
        <p:txBody>
          <a:bodyPr>
            <a:normAutofit/>
          </a:bodyPr>
          <a:lstStyle/>
          <a:p>
            <a:r>
              <a:rPr lang="fr-FR" sz="3400" dirty="0"/>
              <a:t>Light interception in </a:t>
            </a:r>
            <a:r>
              <a:rPr lang="fr-FR" sz="3400" dirty="0" err="1"/>
              <a:t>both</a:t>
            </a:r>
            <a:r>
              <a:rPr lang="fr-FR" sz="3400" dirty="0"/>
              <a:t> </a:t>
            </a:r>
            <a:r>
              <a:rPr lang="fr-FR" sz="3400" dirty="0" err="1"/>
              <a:t>approaches</a:t>
            </a:r>
            <a:endParaRPr lang="en-US" sz="3400" dirty="0"/>
          </a:p>
        </p:txBody>
      </p:sp>
      <p:sp>
        <p:nvSpPr>
          <p:cNvPr id="5" name="Content Placeholder 6">
            <a:extLst>
              <a:ext uri="{FF2B5EF4-FFF2-40B4-BE49-F238E27FC236}">
                <a16:creationId xmlns:a16="http://schemas.microsoft.com/office/drawing/2014/main" id="{D21B5EC0-062A-4394-8D83-2853B8191B7B}"/>
              </a:ext>
            </a:extLst>
          </p:cNvPr>
          <p:cNvSpPr txBox="1">
            <a:spLocks/>
          </p:cNvSpPr>
          <p:nvPr/>
        </p:nvSpPr>
        <p:spPr>
          <a:xfrm>
            <a:off x="406216" y="1403653"/>
            <a:ext cx="2695620" cy="1013321"/>
          </a:xfrm>
          <a:prstGeom prst="rect">
            <a:avLst/>
          </a:prstGeom>
          <a:ln w="28575">
            <a:noFill/>
          </a:ln>
        </p:spPr>
        <p:txBody>
          <a:bodyPr vert="horz" lIns="91440" tIns="45720" rIns="91440" bIns="45720" rtlCol="0" anchor="ctr"/>
          <a:lstStyle>
            <a:defPPr>
              <a:defRPr lang="fr-FR"/>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fr-FR" sz="2400" b="1" dirty="0" err="1">
                <a:solidFill>
                  <a:schemeClr val="tx1"/>
                </a:solidFill>
              </a:rPr>
              <a:t>Crop</a:t>
            </a:r>
            <a:r>
              <a:rPr lang="fr-FR" sz="2400" b="1" dirty="0">
                <a:solidFill>
                  <a:schemeClr val="tx1"/>
                </a:solidFill>
              </a:rPr>
              <a:t> </a:t>
            </a:r>
            <a:r>
              <a:rPr lang="fr-FR" sz="2400" b="1" dirty="0" err="1">
                <a:solidFill>
                  <a:schemeClr val="tx1"/>
                </a:solidFill>
              </a:rPr>
              <a:t>models</a:t>
            </a:r>
            <a:endParaRPr lang="fr-FR" sz="2400" dirty="0">
              <a:solidFill>
                <a:schemeClr val="tx1"/>
              </a:solidFill>
            </a:endParaRPr>
          </a:p>
          <a:p>
            <a:endParaRPr lang="en-US" dirty="0"/>
          </a:p>
        </p:txBody>
      </p:sp>
      <p:sp>
        <p:nvSpPr>
          <p:cNvPr id="6" name="Content Placeholder 7">
            <a:extLst>
              <a:ext uri="{FF2B5EF4-FFF2-40B4-BE49-F238E27FC236}">
                <a16:creationId xmlns:a16="http://schemas.microsoft.com/office/drawing/2014/main" id="{DCD6D5EB-6032-4892-95D9-3D3CE4BDFC77}"/>
              </a:ext>
            </a:extLst>
          </p:cNvPr>
          <p:cNvSpPr txBox="1">
            <a:spLocks/>
          </p:cNvSpPr>
          <p:nvPr/>
        </p:nvSpPr>
        <p:spPr>
          <a:xfrm>
            <a:off x="8183929" y="1305045"/>
            <a:ext cx="3328217" cy="1210538"/>
          </a:xfrm>
          <a:prstGeom prst="rect">
            <a:avLst/>
          </a:prstGeom>
          <a:ln w="28575">
            <a:noFill/>
          </a:ln>
        </p:spPr>
        <p:txBody>
          <a:bodyPr vert="horz" lIns="91440" tIns="45720" rIns="91440" bIns="45720" rtlCol="0" anchor="ctr"/>
          <a:lstStyle>
            <a:defPPr>
              <a:defRPr lang="fr-FR"/>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2400" b="1" dirty="0">
                <a:solidFill>
                  <a:schemeClr val="tx1"/>
                </a:solidFill>
              </a:rPr>
              <a:t>FSPM</a:t>
            </a:r>
          </a:p>
          <a:p>
            <a:endParaRPr lang="en-US" dirty="0"/>
          </a:p>
        </p:txBody>
      </p:sp>
      <p:cxnSp>
        <p:nvCxnSpPr>
          <p:cNvPr id="7" name="Straight Connector 6">
            <a:extLst>
              <a:ext uri="{FF2B5EF4-FFF2-40B4-BE49-F238E27FC236}">
                <a16:creationId xmlns:a16="http://schemas.microsoft.com/office/drawing/2014/main" id="{8C446F34-7D69-4E79-9312-D1CA2C0A0370}"/>
              </a:ext>
            </a:extLst>
          </p:cNvPr>
          <p:cNvCxnSpPr>
            <a:cxnSpLocks/>
          </p:cNvCxnSpPr>
          <p:nvPr/>
        </p:nvCxnSpPr>
        <p:spPr>
          <a:xfrm>
            <a:off x="5663953" y="2784980"/>
            <a:ext cx="0" cy="345943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D625E52-E342-4DD8-8F9C-04451EB87800}"/>
              </a:ext>
            </a:extLst>
          </p:cNvPr>
          <p:cNvSpPr txBox="1"/>
          <p:nvPr/>
        </p:nvSpPr>
        <p:spPr>
          <a:xfrm>
            <a:off x="2561278" y="2947279"/>
            <a:ext cx="2498689" cy="369332"/>
          </a:xfrm>
          <a:prstGeom prst="rect">
            <a:avLst/>
          </a:prstGeom>
          <a:noFill/>
        </p:spPr>
        <p:txBody>
          <a:bodyPr wrap="square" rtlCol="0">
            <a:spAutoFit/>
          </a:bodyPr>
          <a:lstStyle/>
          <a:p>
            <a:r>
              <a:rPr lang="en-US" dirty="0">
                <a:solidFill>
                  <a:schemeClr val="tx1">
                    <a:lumMod val="65000"/>
                    <a:lumOff val="35000"/>
                  </a:schemeClr>
                </a:solidFill>
                <a:latin typeface="Arial"/>
              </a:rPr>
              <a:t>Homogeneous volume</a:t>
            </a:r>
            <a:endParaRPr lang="en-US" dirty="0">
              <a:solidFill>
                <a:schemeClr val="tx1">
                  <a:lumMod val="65000"/>
                  <a:lumOff val="35000"/>
                </a:schemeClr>
              </a:solidFill>
            </a:endParaRPr>
          </a:p>
        </p:txBody>
      </p:sp>
      <p:cxnSp>
        <p:nvCxnSpPr>
          <p:cNvPr id="10" name="Straight Arrow Connector 9">
            <a:extLst>
              <a:ext uri="{FF2B5EF4-FFF2-40B4-BE49-F238E27FC236}">
                <a16:creationId xmlns:a16="http://schemas.microsoft.com/office/drawing/2014/main" id="{E02590CA-CDE1-4998-B2AC-D3C48BFA258D}"/>
              </a:ext>
            </a:extLst>
          </p:cNvPr>
          <p:cNvCxnSpPr>
            <a:cxnSpLocks/>
          </p:cNvCxnSpPr>
          <p:nvPr/>
        </p:nvCxnSpPr>
        <p:spPr>
          <a:xfrm flipH="1">
            <a:off x="10684513" y="3748192"/>
            <a:ext cx="508797" cy="599424"/>
          </a:xfrm>
          <a:prstGeom prst="straightConnector1">
            <a:avLst/>
          </a:prstGeom>
          <a:ln w="38100">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1" name="Straight Arrow Connector 10">
            <a:extLst>
              <a:ext uri="{FF2B5EF4-FFF2-40B4-BE49-F238E27FC236}">
                <a16:creationId xmlns:a16="http://schemas.microsoft.com/office/drawing/2014/main" id="{3280290C-A86C-406A-A894-5AF5C114813A}"/>
              </a:ext>
            </a:extLst>
          </p:cNvPr>
          <p:cNvCxnSpPr>
            <a:cxnSpLocks/>
          </p:cNvCxnSpPr>
          <p:nvPr/>
        </p:nvCxnSpPr>
        <p:spPr>
          <a:xfrm flipH="1">
            <a:off x="10644614" y="3766493"/>
            <a:ext cx="796587" cy="994223"/>
          </a:xfrm>
          <a:prstGeom prst="straightConnector1">
            <a:avLst/>
          </a:prstGeom>
          <a:ln w="38100">
            <a:solidFill>
              <a:srgbClr val="FFC000"/>
            </a:solidFill>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a:extLst>
              <a:ext uri="{FF2B5EF4-FFF2-40B4-BE49-F238E27FC236}">
                <a16:creationId xmlns:a16="http://schemas.microsoft.com/office/drawing/2014/main" id="{3E1C64C2-FC87-4836-86EF-FA197FE43A9C}"/>
              </a:ext>
            </a:extLst>
          </p:cNvPr>
          <p:cNvCxnSpPr>
            <a:cxnSpLocks/>
          </p:cNvCxnSpPr>
          <p:nvPr/>
        </p:nvCxnSpPr>
        <p:spPr>
          <a:xfrm>
            <a:off x="1902790" y="3008734"/>
            <a:ext cx="752892" cy="860711"/>
          </a:xfrm>
          <a:prstGeom prst="straightConnector1">
            <a:avLst/>
          </a:prstGeom>
          <a:ln w="38100">
            <a:gradFill flip="none" rotWithShape="1">
              <a:gsLst>
                <a:gs pos="36000">
                  <a:srgbClr val="FFC000"/>
                </a:gs>
                <a:gs pos="73000">
                  <a:schemeClr val="accent3">
                    <a:lumMod val="45000"/>
                    <a:lumOff val="55000"/>
                  </a:schemeClr>
                </a:gs>
                <a:gs pos="88000">
                  <a:schemeClr val="accent3">
                    <a:lumMod val="45000"/>
                    <a:lumOff val="55000"/>
                  </a:schemeClr>
                </a:gs>
                <a:gs pos="100000">
                  <a:schemeClr val="accent3">
                    <a:lumMod val="30000"/>
                    <a:lumOff val="70000"/>
                  </a:schemeClr>
                </a:gs>
              </a:gsLst>
              <a:lin ang="5400000" scaled="1"/>
              <a:tileRect/>
            </a:gradFill>
            <a:tailEnd type="triangle"/>
          </a:ln>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id="{09882676-B23C-4852-98D7-2DEB50D040BC}"/>
              </a:ext>
            </a:extLst>
          </p:cNvPr>
          <p:cNvSpPr txBox="1"/>
          <p:nvPr/>
        </p:nvSpPr>
        <p:spPr>
          <a:xfrm>
            <a:off x="679854" y="2299263"/>
            <a:ext cx="2488815" cy="369332"/>
          </a:xfrm>
          <a:prstGeom prst="rect">
            <a:avLst/>
          </a:prstGeom>
          <a:noFill/>
        </p:spPr>
        <p:txBody>
          <a:bodyPr wrap="square" rtlCol="0">
            <a:spAutoFit/>
          </a:bodyPr>
          <a:lstStyle/>
          <a:p>
            <a:r>
              <a:rPr lang="en-US" dirty="0">
                <a:latin typeface="Arial"/>
              </a:rPr>
              <a:t>Beer-Lambert law :</a:t>
            </a: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01A51747-E9EF-4D36-9241-05F118D6650D}"/>
                  </a:ext>
                </a:extLst>
              </p:cNvPr>
              <p:cNvSpPr txBox="1"/>
              <p:nvPr/>
            </p:nvSpPr>
            <p:spPr>
              <a:xfrm>
                <a:off x="657917" y="2619959"/>
                <a:ext cx="16807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fr-FR" b="0" i="0" smtClean="0">
                          <a:solidFill>
                            <a:schemeClr val="tx1"/>
                          </a:solidFill>
                          <a:latin typeface="Cambria Math" panose="02040503050406030204" pitchFamily="18" charset="0"/>
                        </a:rPr>
                        <m:t>exp</m:t>
                      </m:r>
                      <m:r>
                        <a:rPr lang="fr-FR" b="0" i="1" smtClean="0">
                          <a:solidFill>
                            <a:schemeClr val="tx1"/>
                          </a:solidFill>
                          <a:latin typeface="Cambria Math" panose="02040503050406030204" pitchFamily="18" charset="0"/>
                        </a:rPr>
                        <m:t>⁡(−</m:t>
                      </m:r>
                      <m:r>
                        <a:rPr lang="fr-FR" b="0" i="1" smtClean="0">
                          <a:solidFill>
                            <a:schemeClr val="tx1"/>
                          </a:solidFill>
                          <a:latin typeface="Cambria Math" panose="02040503050406030204" pitchFamily="18" charset="0"/>
                        </a:rPr>
                        <m:t>𝑘</m:t>
                      </m:r>
                      <m:r>
                        <a:rPr lang="fr-FR" b="0" i="1" smtClean="0">
                          <a:solidFill>
                            <a:schemeClr val="tx1"/>
                          </a:solidFill>
                          <a:latin typeface="Cambria Math" panose="02040503050406030204" pitchFamily="18" charset="0"/>
                        </a:rPr>
                        <m:t>∗</m:t>
                      </m:r>
                      <m:r>
                        <a:rPr lang="fr-FR" b="0" i="1" smtClean="0">
                          <a:solidFill>
                            <a:schemeClr val="tx1"/>
                          </a:solidFill>
                          <a:latin typeface="Cambria Math" panose="02040503050406030204" pitchFamily="18" charset="0"/>
                        </a:rPr>
                        <m:t>𝐿𝐴𝐼</m:t>
                      </m:r>
                      <m:r>
                        <a:rPr lang="fr-FR" b="0" i="1" smtClean="0">
                          <a:solidFill>
                            <a:schemeClr val="tx1"/>
                          </a:solidFill>
                          <a:latin typeface="Cambria Math" panose="02040503050406030204" pitchFamily="18" charset="0"/>
                        </a:rPr>
                        <m:t>)</m:t>
                      </m:r>
                    </m:oMath>
                  </m:oMathPara>
                </a14:m>
                <a:endParaRPr lang="en-US" dirty="0">
                  <a:solidFill>
                    <a:schemeClr val="tx1"/>
                  </a:solidFill>
                  <a:latin typeface="Arial"/>
                </a:endParaRPr>
              </a:p>
            </p:txBody>
          </p:sp>
        </mc:Choice>
        <mc:Fallback>
          <p:sp>
            <p:nvSpPr>
              <p:cNvPr id="14" name="TextBox 13">
                <a:extLst>
                  <a:ext uri="{FF2B5EF4-FFF2-40B4-BE49-F238E27FC236}">
                    <a16:creationId xmlns:a16="http://schemas.microsoft.com/office/drawing/2014/main" id="{01A51747-E9EF-4D36-9241-05F118D6650D}"/>
                  </a:ext>
                </a:extLst>
              </p:cNvPr>
              <p:cNvSpPr txBox="1">
                <a:spLocks noRot="1" noChangeAspect="1" noMove="1" noResize="1" noEditPoints="1" noAdjustHandles="1" noChangeArrowheads="1" noChangeShapeType="1" noTextEdit="1"/>
              </p:cNvSpPr>
              <p:nvPr/>
            </p:nvSpPr>
            <p:spPr>
              <a:xfrm>
                <a:off x="657917" y="2619959"/>
                <a:ext cx="1680750" cy="369332"/>
              </a:xfrm>
              <a:prstGeom prst="rect">
                <a:avLst/>
              </a:prstGeom>
              <a:blipFill>
                <a:blip r:embed="rId4"/>
                <a:stretch>
                  <a:fillRect b="-15000"/>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8C71A7DB-00DA-44C4-963E-5214A862D06F}"/>
              </a:ext>
            </a:extLst>
          </p:cNvPr>
          <p:cNvSpPr txBox="1"/>
          <p:nvPr/>
        </p:nvSpPr>
        <p:spPr>
          <a:xfrm>
            <a:off x="1961051" y="6265533"/>
            <a:ext cx="1716723" cy="276999"/>
          </a:xfrm>
          <a:prstGeom prst="rect">
            <a:avLst/>
          </a:prstGeom>
          <a:noFill/>
        </p:spPr>
        <p:txBody>
          <a:bodyPr wrap="square" rtlCol="0">
            <a:spAutoFit/>
          </a:bodyPr>
          <a:lstStyle/>
          <a:p>
            <a:r>
              <a:rPr lang="fr-FR" sz="1200" dirty="0">
                <a:latin typeface="Arial"/>
              </a:rPr>
              <a:t>(Sinoquet et al., 1991)</a:t>
            </a:r>
            <a:endParaRPr lang="en-US" sz="1200" dirty="0">
              <a:latin typeface="Arial"/>
            </a:endParaRPr>
          </a:p>
        </p:txBody>
      </p:sp>
      <p:sp>
        <p:nvSpPr>
          <p:cNvPr id="21" name="TextBox 20">
            <a:extLst>
              <a:ext uri="{FF2B5EF4-FFF2-40B4-BE49-F238E27FC236}">
                <a16:creationId xmlns:a16="http://schemas.microsoft.com/office/drawing/2014/main" id="{765C8F31-1EA5-40B9-9B11-3F9DCA02D1C7}"/>
              </a:ext>
            </a:extLst>
          </p:cNvPr>
          <p:cNvSpPr txBox="1"/>
          <p:nvPr/>
        </p:nvSpPr>
        <p:spPr>
          <a:xfrm>
            <a:off x="9560564" y="2280642"/>
            <a:ext cx="2097568" cy="369332"/>
          </a:xfrm>
          <a:prstGeom prst="rect">
            <a:avLst/>
          </a:prstGeom>
          <a:noFill/>
        </p:spPr>
        <p:txBody>
          <a:bodyPr wrap="square" rtlCol="0">
            <a:spAutoFit/>
          </a:bodyPr>
          <a:lstStyle/>
          <a:p>
            <a:r>
              <a:rPr lang="fr-FR" dirty="0">
                <a:latin typeface="Arial"/>
              </a:rPr>
              <a:t>Radiative </a:t>
            </a:r>
            <a:r>
              <a:rPr lang="fr-FR" dirty="0" err="1">
                <a:latin typeface="Arial"/>
              </a:rPr>
              <a:t>transfer</a:t>
            </a:r>
            <a:endParaRPr lang="en-US" dirty="0">
              <a:latin typeface="Arial"/>
            </a:endParaRPr>
          </a:p>
        </p:txBody>
      </p:sp>
      <p:sp>
        <p:nvSpPr>
          <p:cNvPr id="25" name="TextBox 24">
            <a:extLst>
              <a:ext uri="{FF2B5EF4-FFF2-40B4-BE49-F238E27FC236}">
                <a16:creationId xmlns:a16="http://schemas.microsoft.com/office/drawing/2014/main" id="{D7626B3E-6D10-4CFB-8665-4C9DE56506C7}"/>
              </a:ext>
            </a:extLst>
          </p:cNvPr>
          <p:cNvSpPr txBox="1"/>
          <p:nvPr/>
        </p:nvSpPr>
        <p:spPr>
          <a:xfrm>
            <a:off x="8364600" y="6265532"/>
            <a:ext cx="1568942" cy="276999"/>
          </a:xfrm>
          <a:prstGeom prst="rect">
            <a:avLst/>
          </a:prstGeom>
          <a:noFill/>
        </p:spPr>
        <p:txBody>
          <a:bodyPr wrap="square" rtlCol="0">
            <a:spAutoFit/>
          </a:bodyPr>
          <a:lstStyle/>
          <a:p>
            <a:r>
              <a:rPr lang="fr-FR" sz="1200" dirty="0">
                <a:latin typeface="Arial"/>
              </a:rPr>
              <a:t>(</a:t>
            </a:r>
            <a:r>
              <a:rPr lang="fr-FR" sz="1200" dirty="0" err="1">
                <a:latin typeface="Arial"/>
              </a:rPr>
              <a:t>Chelle</a:t>
            </a:r>
            <a:r>
              <a:rPr lang="fr-FR" sz="1200" dirty="0">
                <a:latin typeface="Arial"/>
              </a:rPr>
              <a:t> et al., 1998)</a:t>
            </a:r>
            <a:endParaRPr lang="en-US" sz="1200" dirty="0">
              <a:latin typeface="Arial"/>
            </a:endParaRPr>
          </a:p>
        </p:txBody>
      </p:sp>
      <p:sp>
        <p:nvSpPr>
          <p:cNvPr id="26" name="TextBox 25">
            <a:extLst>
              <a:ext uri="{FF2B5EF4-FFF2-40B4-BE49-F238E27FC236}">
                <a16:creationId xmlns:a16="http://schemas.microsoft.com/office/drawing/2014/main" id="{C798B1BD-2D9E-4979-A30E-F026947B2AAA}"/>
              </a:ext>
            </a:extLst>
          </p:cNvPr>
          <p:cNvSpPr txBox="1"/>
          <p:nvPr/>
        </p:nvSpPr>
        <p:spPr>
          <a:xfrm>
            <a:off x="73878" y="3882390"/>
            <a:ext cx="1086605" cy="523220"/>
          </a:xfrm>
          <a:prstGeom prst="rect">
            <a:avLst/>
          </a:prstGeom>
          <a:noFill/>
        </p:spPr>
        <p:txBody>
          <a:bodyPr wrap="square" rtlCol="0">
            <a:spAutoFit/>
          </a:bodyPr>
          <a:lstStyle/>
          <a:p>
            <a:r>
              <a:rPr lang="en-US" sz="1400" dirty="0">
                <a:solidFill>
                  <a:schemeClr val="tx1">
                    <a:lumMod val="65000"/>
                    <a:lumOff val="35000"/>
                  </a:schemeClr>
                </a:solidFill>
                <a:latin typeface="Arial"/>
              </a:rPr>
              <a:t>Parameter to calibrate</a:t>
            </a:r>
          </a:p>
        </p:txBody>
      </p:sp>
      <p:cxnSp>
        <p:nvCxnSpPr>
          <p:cNvPr id="27" name="Connector: Curved 26">
            <a:extLst>
              <a:ext uri="{FF2B5EF4-FFF2-40B4-BE49-F238E27FC236}">
                <a16:creationId xmlns:a16="http://schemas.microsoft.com/office/drawing/2014/main" id="{222D83EA-C71A-4D0F-BD6E-141E77E96BC0}"/>
              </a:ext>
            </a:extLst>
          </p:cNvPr>
          <p:cNvCxnSpPr>
            <a:cxnSpLocks/>
            <a:stCxn id="26" idx="3"/>
            <a:endCxn id="14" idx="2"/>
          </p:cNvCxnSpPr>
          <p:nvPr/>
        </p:nvCxnSpPr>
        <p:spPr>
          <a:xfrm flipV="1">
            <a:off x="1160483" y="2989291"/>
            <a:ext cx="337809" cy="1154709"/>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Slide Number Placeholder 39">
            <a:extLst>
              <a:ext uri="{FF2B5EF4-FFF2-40B4-BE49-F238E27FC236}">
                <a16:creationId xmlns:a16="http://schemas.microsoft.com/office/drawing/2014/main" id="{024C812E-B971-490C-A1E8-E06AD0859B01}"/>
              </a:ext>
            </a:extLst>
          </p:cNvPr>
          <p:cNvSpPr>
            <a:spLocks noGrp="1"/>
          </p:cNvSpPr>
          <p:nvPr>
            <p:ph type="sldNum" sz="quarter" idx="12"/>
          </p:nvPr>
        </p:nvSpPr>
        <p:spPr/>
        <p:txBody>
          <a:bodyPr/>
          <a:lstStyle/>
          <a:p>
            <a:fld id="{27C6CCC6-2BE5-4E42-96A4-D1E8E81A3D8E}" type="slidenum">
              <a:rPr lang="fr-FR" smtClean="0"/>
              <a:t>4</a:t>
            </a:fld>
            <a:endParaRPr lang="fr-FR"/>
          </a:p>
        </p:txBody>
      </p:sp>
      <p:pic>
        <p:nvPicPr>
          <p:cNvPr id="42" name="Picture 41">
            <a:extLst>
              <a:ext uri="{FF2B5EF4-FFF2-40B4-BE49-F238E27FC236}">
                <a16:creationId xmlns:a16="http://schemas.microsoft.com/office/drawing/2014/main" id="{3BB2F3C5-AABA-4FA9-AC3D-EC7CEE2ED17A}"/>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766175" y="2663749"/>
            <a:ext cx="2723238" cy="689969"/>
          </a:xfrm>
          <a:prstGeom prst="rect">
            <a:avLst/>
          </a:prstGeom>
        </p:spPr>
      </p:pic>
      <p:sp>
        <p:nvSpPr>
          <p:cNvPr id="78" name="TextBox 77">
            <a:extLst>
              <a:ext uri="{FF2B5EF4-FFF2-40B4-BE49-F238E27FC236}">
                <a16:creationId xmlns:a16="http://schemas.microsoft.com/office/drawing/2014/main" id="{287E720D-F25F-4A14-8EF1-A88691AE5BC3}"/>
              </a:ext>
            </a:extLst>
          </p:cNvPr>
          <p:cNvSpPr txBox="1"/>
          <p:nvPr/>
        </p:nvSpPr>
        <p:spPr>
          <a:xfrm>
            <a:off x="6072737" y="2904624"/>
            <a:ext cx="3008267" cy="646331"/>
          </a:xfrm>
          <a:prstGeom prst="rect">
            <a:avLst/>
          </a:prstGeom>
          <a:noFill/>
        </p:spPr>
        <p:txBody>
          <a:bodyPr wrap="square" rtlCol="0">
            <a:spAutoFit/>
          </a:bodyPr>
          <a:lstStyle/>
          <a:p>
            <a:r>
              <a:rPr lang="en-US" dirty="0">
                <a:solidFill>
                  <a:schemeClr val="tx1">
                    <a:lumMod val="65000"/>
                    <a:lumOff val="35000"/>
                  </a:schemeClr>
                </a:solidFill>
                <a:latin typeface="Arial"/>
              </a:rPr>
              <a:t>Heterogeneous organ distribution</a:t>
            </a:r>
          </a:p>
        </p:txBody>
      </p:sp>
      <p:sp>
        <p:nvSpPr>
          <p:cNvPr id="79" name="TextBox 78">
            <a:extLst>
              <a:ext uri="{FF2B5EF4-FFF2-40B4-BE49-F238E27FC236}">
                <a16:creationId xmlns:a16="http://schemas.microsoft.com/office/drawing/2014/main" id="{613392D5-5DC6-475F-A481-92505B051CEF}"/>
              </a:ext>
            </a:extLst>
          </p:cNvPr>
          <p:cNvSpPr txBox="1"/>
          <p:nvPr/>
        </p:nvSpPr>
        <p:spPr>
          <a:xfrm>
            <a:off x="6981629" y="2096739"/>
            <a:ext cx="1190481" cy="523220"/>
          </a:xfrm>
          <a:prstGeom prst="rect">
            <a:avLst/>
          </a:prstGeom>
          <a:noFill/>
        </p:spPr>
        <p:txBody>
          <a:bodyPr wrap="square" rtlCol="0">
            <a:spAutoFit/>
          </a:bodyPr>
          <a:lstStyle/>
          <a:p>
            <a:r>
              <a:rPr lang="en-US" sz="1400" dirty="0">
                <a:solidFill>
                  <a:schemeClr val="tx1">
                    <a:lumMod val="65000"/>
                    <a:lumOff val="35000"/>
                  </a:schemeClr>
                </a:solidFill>
                <a:latin typeface="Arial"/>
              </a:rPr>
              <a:t>Computation on 3D scene</a:t>
            </a:r>
          </a:p>
        </p:txBody>
      </p:sp>
      <p:cxnSp>
        <p:nvCxnSpPr>
          <p:cNvPr id="80" name="Connector: Curved 79">
            <a:extLst>
              <a:ext uri="{FF2B5EF4-FFF2-40B4-BE49-F238E27FC236}">
                <a16:creationId xmlns:a16="http://schemas.microsoft.com/office/drawing/2014/main" id="{D83F060A-16CC-4EB9-B279-97F7FF18350F}"/>
              </a:ext>
            </a:extLst>
          </p:cNvPr>
          <p:cNvCxnSpPr>
            <a:cxnSpLocks/>
          </p:cNvCxnSpPr>
          <p:nvPr/>
        </p:nvCxnSpPr>
        <p:spPr>
          <a:xfrm rot="10800000">
            <a:off x="8190305" y="2411565"/>
            <a:ext cx="509037" cy="504339"/>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1" name="Sun 80">
            <a:extLst>
              <a:ext uri="{FF2B5EF4-FFF2-40B4-BE49-F238E27FC236}">
                <a16:creationId xmlns:a16="http://schemas.microsoft.com/office/drawing/2014/main" id="{34D12E64-C3C1-4175-A488-3F7FCD900A8D}"/>
              </a:ext>
            </a:extLst>
          </p:cNvPr>
          <p:cNvSpPr/>
          <p:nvPr/>
        </p:nvSpPr>
        <p:spPr>
          <a:xfrm>
            <a:off x="7669957" y="3478239"/>
            <a:ext cx="427332" cy="369332"/>
          </a:xfrm>
          <a:prstGeom prst="su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Arc 89">
            <a:extLst>
              <a:ext uri="{FF2B5EF4-FFF2-40B4-BE49-F238E27FC236}">
                <a16:creationId xmlns:a16="http://schemas.microsoft.com/office/drawing/2014/main" id="{937F71A4-4399-43F7-B52D-9C78EF07577A}"/>
              </a:ext>
            </a:extLst>
          </p:cNvPr>
          <p:cNvSpPr/>
          <p:nvPr/>
        </p:nvSpPr>
        <p:spPr>
          <a:xfrm rot="19386979">
            <a:off x="4898475" y="3855317"/>
            <a:ext cx="4565518" cy="3588738"/>
          </a:xfrm>
          <a:prstGeom prst="arc">
            <a:avLst/>
          </a:prstGeom>
          <a:ln>
            <a:solidFill>
              <a:srgbClr val="FFC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nvGrpSpPr>
          <p:cNvPr id="31" name="Group 30">
            <a:extLst>
              <a:ext uri="{FF2B5EF4-FFF2-40B4-BE49-F238E27FC236}">
                <a16:creationId xmlns:a16="http://schemas.microsoft.com/office/drawing/2014/main" id="{81BAA647-2B04-4BAC-A6C3-18CCFB2DA690}"/>
              </a:ext>
            </a:extLst>
          </p:cNvPr>
          <p:cNvGrpSpPr/>
          <p:nvPr/>
        </p:nvGrpSpPr>
        <p:grpSpPr>
          <a:xfrm>
            <a:off x="1000565" y="3494635"/>
            <a:ext cx="4030394" cy="2008699"/>
            <a:chOff x="609627" y="3316611"/>
            <a:chExt cx="4419573" cy="2508299"/>
          </a:xfrm>
        </p:grpSpPr>
        <p:sp>
          <p:nvSpPr>
            <p:cNvPr id="32" name="Cube 31">
              <a:extLst>
                <a:ext uri="{FF2B5EF4-FFF2-40B4-BE49-F238E27FC236}">
                  <a16:creationId xmlns:a16="http://schemas.microsoft.com/office/drawing/2014/main" id="{00134C98-7CF1-438F-8FAC-A9D5AC113CC2}"/>
                </a:ext>
              </a:extLst>
            </p:cNvPr>
            <p:cNvSpPr/>
            <p:nvPr/>
          </p:nvSpPr>
          <p:spPr>
            <a:xfrm>
              <a:off x="609627" y="3669906"/>
              <a:ext cx="4419573" cy="2155004"/>
            </a:xfrm>
            <a:prstGeom prst="cube">
              <a:avLst>
                <a:gd name="adj" fmla="val 82867"/>
              </a:avLst>
            </a:prstGeom>
            <a:solidFill>
              <a:srgbClr val="C28745">
                <a:alpha val="64706"/>
              </a:srgbClr>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3" name="Cube 32">
              <a:extLst>
                <a:ext uri="{FF2B5EF4-FFF2-40B4-BE49-F238E27FC236}">
                  <a16:creationId xmlns:a16="http://schemas.microsoft.com/office/drawing/2014/main" id="{499C9538-767E-4D28-884B-04CE6D8968B5}"/>
                </a:ext>
              </a:extLst>
            </p:cNvPr>
            <p:cNvSpPr/>
            <p:nvPr/>
          </p:nvSpPr>
          <p:spPr>
            <a:xfrm>
              <a:off x="609627" y="3316611"/>
              <a:ext cx="4419573" cy="2155004"/>
            </a:xfrm>
            <a:prstGeom prst="cube">
              <a:avLst>
                <a:gd name="adj" fmla="val 82867"/>
              </a:avLst>
            </a:prstGeom>
            <a:solidFill>
              <a:srgbClr val="399758">
                <a:alpha val="65098"/>
              </a:srgbClr>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grpSp>
    </p:spTree>
    <p:extLst>
      <p:ext uri="{BB962C8B-B14F-4D97-AF65-F5344CB8AC3E}">
        <p14:creationId xmlns:p14="http://schemas.microsoft.com/office/powerpoint/2010/main" val="430038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689</Words>
  <Application>Microsoft Office PowerPoint</Application>
  <PresentationFormat>Widescreen</PresentationFormat>
  <Paragraphs>86</Paragraphs>
  <Slides>4</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Calibri</vt:lpstr>
      <vt:lpstr>Calibri Light</vt:lpstr>
      <vt:lpstr>Cambria Math</vt:lpstr>
      <vt:lpstr>Wingdings</vt:lpstr>
      <vt:lpstr>Office Theme</vt:lpstr>
      <vt:lpstr>Crop models</vt:lpstr>
      <vt:lpstr>FSPM (Functional-Structural Plant Models) </vt:lpstr>
      <vt:lpstr>PowerPoint Presentation</vt:lpstr>
      <vt:lpstr>Light interception in both approaches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Crop models</dc:title>
  <dc:creator>Oriane BRAUD</dc:creator>
  <cp:lastModifiedBy>Oriane BRAUD</cp:lastModifiedBy>
  <cp:revision>4</cp:revision>
  <dcterms:created xsi:type="dcterms:W3CDTF">2024-11-21T14:29:55Z</dcterms:created>
  <dcterms:modified xsi:type="dcterms:W3CDTF">2024-11-22T08:46:21Z</dcterms:modified>
</cp:coreProperties>
</file>