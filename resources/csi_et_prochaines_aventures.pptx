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9" r:id="rId4"/>
    <p:sldId id="262" r:id="rId5"/>
    <p:sldId id="260" r:id="rId6"/>
    <p:sldId id="261" r:id="rId7"/>
    <p:sldId id="266" r:id="rId8"/>
    <p:sldId id="265" r:id="rId9"/>
    <p:sldId id="263" r:id="rId10"/>
    <p:sldId id="267"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43"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AF40C5-500D-4B22-9E9A-99DF29FEC16E}" type="datetimeFigureOut">
              <a:rPr lang="en-US" smtClean="0"/>
              <a:t>7/4/2024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781828-4B38-41B9-B2B9-7D8011A65AB1}" type="slidenum">
              <a:rPr lang="en-US" smtClean="0"/>
              <a:t>‹#›</a:t>
            </a:fld>
            <a:endParaRPr lang="en-US"/>
          </a:p>
        </p:txBody>
      </p:sp>
    </p:spTree>
    <p:extLst>
      <p:ext uri="{BB962C8B-B14F-4D97-AF65-F5344CB8AC3E}">
        <p14:creationId xmlns:p14="http://schemas.microsoft.com/office/powerpoint/2010/main" val="3740777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Par organe : géométrie, fonction, </a:t>
            </a:r>
            <a:r>
              <a:rPr lang="fr-FR" dirty="0" err="1"/>
              <a:t>etc</a:t>
            </a:r>
            <a:endParaRPr lang="en-US" dirty="0"/>
          </a:p>
        </p:txBody>
      </p:sp>
      <p:sp>
        <p:nvSpPr>
          <p:cNvPr id="4" name="Slide Number Placeholder 3"/>
          <p:cNvSpPr>
            <a:spLocks noGrp="1"/>
          </p:cNvSpPr>
          <p:nvPr>
            <p:ph type="sldNum" sz="quarter" idx="5"/>
          </p:nvPr>
        </p:nvSpPr>
        <p:spPr/>
        <p:txBody>
          <a:bodyPr/>
          <a:lstStyle/>
          <a:p>
            <a:fld id="{99781828-4B38-41B9-B2B9-7D8011A65AB1}" type="slidenum">
              <a:rPr lang="en-US" smtClean="0"/>
              <a:t>4</a:t>
            </a:fld>
            <a:endParaRPr lang="en-US"/>
          </a:p>
        </p:txBody>
      </p:sp>
    </p:spTree>
    <p:extLst>
      <p:ext uri="{BB962C8B-B14F-4D97-AF65-F5344CB8AC3E}">
        <p14:creationId xmlns:p14="http://schemas.microsoft.com/office/powerpoint/2010/main" val="36837191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dirty="0"/>
              <a:t>Arbre de décision </a:t>
            </a:r>
            <a:r>
              <a:rPr lang="fr-FR" dirty="0">
                <a:sym typeface="Wingdings" panose="05000000000000000000" pitchFamily="2" charset="2"/>
              </a:rPr>
              <a:t> différentes hypothèses, donc de contraintes, </a:t>
            </a:r>
            <a:endParaRPr lang="en-US" dirty="0"/>
          </a:p>
        </p:txBody>
      </p:sp>
      <p:sp>
        <p:nvSpPr>
          <p:cNvPr id="4" name="Slide Number Placeholder 3"/>
          <p:cNvSpPr>
            <a:spLocks noGrp="1"/>
          </p:cNvSpPr>
          <p:nvPr>
            <p:ph type="sldNum" sz="quarter" idx="5"/>
          </p:nvPr>
        </p:nvSpPr>
        <p:spPr/>
        <p:txBody>
          <a:bodyPr/>
          <a:lstStyle/>
          <a:p>
            <a:fld id="{99781828-4B38-41B9-B2B9-7D8011A65AB1}" type="slidenum">
              <a:rPr lang="en-US" smtClean="0"/>
              <a:t>5</a:t>
            </a:fld>
            <a:endParaRPr lang="en-US"/>
          </a:p>
        </p:txBody>
      </p:sp>
    </p:spTree>
    <p:extLst>
      <p:ext uri="{BB962C8B-B14F-4D97-AF65-F5344CB8AC3E}">
        <p14:creationId xmlns:p14="http://schemas.microsoft.com/office/powerpoint/2010/main" val="16587907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DA1EFA-E8E0-4BCD-9A93-8EF9705FB9C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8740937-0774-4C46-B70C-B8C66B2592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CF2009-070E-4DEF-AD29-969B4C724215}"/>
              </a:ext>
            </a:extLst>
          </p:cNvPr>
          <p:cNvSpPr>
            <a:spLocks noGrp="1"/>
          </p:cNvSpPr>
          <p:nvPr>
            <p:ph type="dt" sz="half" idx="10"/>
          </p:nvPr>
        </p:nvSpPr>
        <p:spPr/>
        <p:txBody>
          <a:bodyPr/>
          <a:lstStyle/>
          <a:p>
            <a:fld id="{54CD5B96-96DF-4B3A-9064-696AE38F7687}" type="datetimeFigureOut">
              <a:rPr lang="en-US" smtClean="0"/>
              <a:t>7/4/2024</a:t>
            </a:fld>
            <a:endParaRPr lang="en-US"/>
          </a:p>
        </p:txBody>
      </p:sp>
      <p:sp>
        <p:nvSpPr>
          <p:cNvPr id="5" name="Footer Placeholder 4">
            <a:extLst>
              <a:ext uri="{FF2B5EF4-FFF2-40B4-BE49-F238E27FC236}">
                <a16:creationId xmlns:a16="http://schemas.microsoft.com/office/drawing/2014/main" id="{BE08EF40-4FE5-4FFA-8186-2D04ED0860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29FC0-A673-4D14-8C7C-B6A83A151DD5}"/>
              </a:ext>
            </a:extLst>
          </p:cNvPr>
          <p:cNvSpPr>
            <a:spLocks noGrp="1"/>
          </p:cNvSpPr>
          <p:nvPr>
            <p:ph type="sldNum" sz="quarter" idx="12"/>
          </p:nvPr>
        </p:nvSpPr>
        <p:spPr/>
        <p:txBody>
          <a:bodyPr/>
          <a:lstStyle/>
          <a:p>
            <a:fld id="{C9450147-7C9E-43B1-842C-2D04EA856E3F}" type="slidenum">
              <a:rPr lang="en-US" smtClean="0"/>
              <a:t>‹#›</a:t>
            </a:fld>
            <a:endParaRPr lang="en-US"/>
          </a:p>
        </p:txBody>
      </p:sp>
    </p:spTree>
    <p:extLst>
      <p:ext uri="{BB962C8B-B14F-4D97-AF65-F5344CB8AC3E}">
        <p14:creationId xmlns:p14="http://schemas.microsoft.com/office/powerpoint/2010/main" val="19612739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39467-09C5-4F3C-8884-2A9F8E6E27D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A89303-B02E-425A-B5FF-A361867AFEF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B3FB7F-3537-4456-9B3A-2F5DE567B41F}"/>
              </a:ext>
            </a:extLst>
          </p:cNvPr>
          <p:cNvSpPr>
            <a:spLocks noGrp="1"/>
          </p:cNvSpPr>
          <p:nvPr>
            <p:ph type="dt" sz="half" idx="10"/>
          </p:nvPr>
        </p:nvSpPr>
        <p:spPr/>
        <p:txBody>
          <a:bodyPr/>
          <a:lstStyle/>
          <a:p>
            <a:fld id="{54CD5B96-96DF-4B3A-9064-696AE38F7687}" type="datetimeFigureOut">
              <a:rPr lang="en-US" smtClean="0"/>
              <a:t>7/4/2024</a:t>
            </a:fld>
            <a:endParaRPr lang="en-US"/>
          </a:p>
        </p:txBody>
      </p:sp>
      <p:sp>
        <p:nvSpPr>
          <p:cNvPr id="5" name="Footer Placeholder 4">
            <a:extLst>
              <a:ext uri="{FF2B5EF4-FFF2-40B4-BE49-F238E27FC236}">
                <a16:creationId xmlns:a16="http://schemas.microsoft.com/office/drawing/2014/main" id="{64BCDB72-6420-45B2-8078-7652644406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3D35D4-AB64-4D59-9599-CD224A23F0FD}"/>
              </a:ext>
            </a:extLst>
          </p:cNvPr>
          <p:cNvSpPr>
            <a:spLocks noGrp="1"/>
          </p:cNvSpPr>
          <p:nvPr>
            <p:ph type="sldNum" sz="quarter" idx="12"/>
          </p:nvPr>
        </p:nvSpPr>
        <p:spPr/>
        <p:txBody>
          <a:bodyPr/>
          <a:lstStyle/>
          <a:p>
            <a:fld id="{C9450147-7C9E-43B1-842C-2D04EA856E3F}" type="slidenum">
              <a:rPr lang="en-US" smtClean="0"/>
              <a:t>‹#›</a:t>
            </a:fld>
            <a:endParaRPr lang="en-US"/>
          </a:p>
        </p:txBody>
      </p:sp>
    </p:spTree>
    <p:extLst>
      <p:ext uri="{BB962C8B-B14F-4D97-AF65-F5344CB8AC3E}">
        <p14:creationId xmlns:p14="http://schemas.microsoft.com/office/powerpoint/2010/main" val="1988841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F7D58F-F070-495C-9949-1A8EF1AC105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94B9787-0B58-4576-BA07-4C69C97265B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EC509D70-E49F-4B2D-BAE6-3CA034E99A0D}"/>
              </a:ext>
            </a:extLst>
          </p:cNvPr>
          <p:cNvSpPr>
            <a:spLocks noGrp="1"/>
          </p:cNvSpPr>
          <p:nvPr>
            <p:ph type="dt" sz="half" idx="10"/>
          </p:nvPr>
        </p:nvSpPr>
        <p:spPr/>
        <p:txBody>
          <a:bodyPr/>
          <a:lstStyle/>
          <a:p>
            <a:fld id="{54CD5B96-96DF-4B3A-9064-696AE38F7687}" type="datetimeFigureOut">
              <a:rPr lang="en-US" smtClean="0"/>
              <a:t>7/4/2024</a:t>
            </a:fld>
            <a:endParaRPr lang="en-US"/>
          </a:p>
        </p:txBody>
      </p:sp>
      <p:sp>
        <p:nvSpPr>
          <p:cNvPr id="5" name="Footer Placeholder 4">
            <a:extLst>
              <a:ext uri="{FF2B5EF4-FFF2-40B4-BE49-F238E27FC236}">
                <a16:creationId xmlns:a16="http://schemas.microsoft.com/office/drawing/2014/main" id="{74F1249C-D958-4D19-97F3-C2F3C9A523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3B7B22-5156-4DA4-A0A6-AB8EA4F2D415}"/>
              </a:ext>
            </a:extLst>
          </p:cNvPr>
          <p:cNvSpPr>
            <a:spLocks noGrp="1"/>
          </p:cNvSpPr>
          <p:nvPr>
            <p:ph type="sldNum" sz="quarter" idx="12"/>
          </p:nvPr>
        </p:nvSpPr>
        <p:spPr/>
        <p:txBody>
          <a:bodyPr/>
          <a:lstStyle/>
          <a:p>
            <a:fld id="{C9450147-7C9E-43B1-842C-2D04EA856E3F}" type="slidenum">
              <a:rPr lang="en-US" smtClean="0"/>
              <a:t>‹#›</a:t>
            </a:fld>
            <a:endParaRPr lang="en-US"/>
          </a:p>
        </p:txBody>
      </p:sp>
    </p:spTree>
    <p:extLst>
      <p:ext uri="{BB962C8B-B14F-4D97-AF65-F5344CB8AC3E}">
        <p14:creationId xmlns:p14="http://schemas.microsoft.com/office/powerpoint/2010/main" val="1100017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39396-4AA8-4541-9904-265E0B2724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70CCBF-A327-4614-A28E-8638E895CBD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FE10531-41B3-41EB-842D-86D89EAE961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5397085-9DDB-45BA-8747-C8ECF00E90F5}"/>
              </a:ext>
            </a:extLst>
          </p:cNvPr>
          <p:cNvSpPr>
            <a:spLocks noGrp="1"/>
          </p:cNvSpPr>
          <p:nvPr>
            <p:ph type="dt" sz="half" idx="10"/>
          </p:nvPr>
        </p:nvSpPr>
        <p:spPr/>
        <p:txBody>
          <a:bodyPr/>
          <a:lstStyle/>
          <a:p>
            <a:fld id="{54CD5B96-96DF-4B3A-9064-696AE38F7687}" type="datetimeFigureOut">
              <a:rPr lang="en-US" smtClean="0"/>
              <a:t>7/4/2024</a:t>
            </a:fld>
            <a:endParaRPr lang="en-US"/>
          </a:p>
        </p:txBody>
      </p:sp>
      <p:sp>
        <p:nvSpPr>
          <p:cNvPr id="6" name="Footer Placeholder 5">
            <a:extLst>
              <a:ext uri="{FF2B5EF4-FFF2-40B4-BE49-F238E27FC236}">
                <a16:creationId xmlns:a16="http://schemas.microsoft.com/office/drawing/2014/main" id="{B6E8FC74-6DAD-4B98-A0C0-5835D16893E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D9EFDE-2AE6-4B2E-8B7B-17D5D7F35DE5}"/>
              </a:ext>
            </a:extLst>
          </p:cNvPr>
          <p:cNvSpPr>
            <a:spLocks noGrp="1"/>
          </p:cNvSpPr>
          <p:nvPr>
            <p:ph type="sldNum" sz="quarter" idx="12"/>
          </p:nvPr>
        </p:nvSpPr>
        <p:spPr/>
        <p:txBody>
          <a:bodyPr/>
          <a:lstStyle/>
          <a:p>
            <a:fld id="{C9450147-7C9E-43B1-842C-2D04EA856E3F}" type="slidenum">
              <a:rPr lang="en-US" smtClean="0"/>
              <a:t>‹#›</a:t>
            </a:fld>
            <a:endParaRPr lang="en-US"/>
          </a:p>
        </p:txBody>
      </p:sp>
    </p:spTree>
    <p:extLst>
      <p:ext uri="{BB962C8B-B14F-4D97-AF65-F5344CB8AC3E}">
        <p14:creationId xmlns:p14="http://schemas.microsoft.com/office/powerpoint/2010/main" val="33359808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C19B7-1907-4334-8540-1815128CA7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8A2874-FBEC-4D2E-805D-F8D44EFAEF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2F7C0852-F1CE-4E56-8FCF-AE7D8C2A7DAD}"/>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03B48B-3D72-44CA-92B1-EF505F165D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1A240577-D26D-404D-BD4E-FD3C3F0481B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079754-2235-4D13-A75D-547AFC631840}"/>
              </a:ext>
            </a:extLst>
          </p:cNvPr>
          <p:cNvSpPr>
            <a:spLocks noGrp="1"/>
          </p:cNvSpPr>
          <p:nvPr>
            <p:ph type="dt" sz="half" idx="10"/>
          </p:nvPr>
        </p:nvSpPr>
        <p:spPr/>
        <p:txBody>
          <a:bodyPr/>
          <a:lstStyle/>
          <a:p>
            <a:fld id="{54CD5B96-96DF-4B3A-9064-696AE38F7687}" type="datetimeFigureOut">
              <a:rPr lang="en-US" smtClean="0"/>
              <a:t>7/4/2024</a:t>
            </a:fld>
            <a:endParaRPr lang="en-US"/>
          </a:p>
        </p:txBody>
      </p:sp>
      <p:sp>
        <p:nvSpPr>
          <p:cNvPr id="8" name="Footer Placeholder 7">
            <a:extLst>
              <a:ext uri="{FF2B5EF4-FFF2-40B4-BE49-F238E27FC236}">
                <a16:creationId xmlns:a16="http://schemas.microsoft.com/office/drawing/2014/main" id="{C64B0E3A-AE99-44C6-AC5A-C50BAD5A8E6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5F43C5A-8FDE-421F-B82C-3A5BFF3F4095}"/>
              </a:ext>
            </a:extLst>
          </p:cNvPr>
          <p:cNvSpPr>
            <a:spLocks noGrp="1"/>
          </p:cNvSpPr>
          <p:nvPr>
            <p:ph type="sldNum" sz="quarter" idx="12"/>
          </p:nvPr>
        </p:nvSpPr>
        <p:spPr/>
        <p:txBody>
          <a:bodyPr/>
          <a:lstStyle/>
          <a:p>
            <a:fld id="{C9450147-7C9E-43B1-842C-2D04EA856E3F}" type="slidenum">
              <a:rPr lang="en-US" smtClean="0"/>
              <a:t>‹#›</a:t>
            </a:fld>
            <a:endParaRPr lang="en-US"/>
          </a:p>
        </p:txBody>
      </p:sp>
    </p:spTree>
    <p:extLst>
      <p:ext uri="{BB962C8B-B14F-4D97-AF65-F5344CB8AC3E}">
        <p14:creationId xmlns:p14="http://schemas.microsoft.com/office/powerpoint/2010/main" val="42490617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0B5AC-C989-47D0-889F-85FFF33CB49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2F9CEFA-067C-4B9B-A02A-B9531B965E8C}"/>
              </a:ext>
            </a:extLst>
          </p:cNvPr>
          <p:cNvSpPr>
            <a:spLocks noGrp="1"/>
          </p:cNvSpPr>
          <p:nvPr>
            <p:ph type="dt" sz="half" idx="10"/>
          </p:nvPr>
        </p:nvSpPr>
        <p:spPr/>
        <p:txBody>
          <a:bodyPr/>
          <a:lstStyle/>
          <a:p>
            <a:fld id="{54CD5B96-96DF-4B3A-9064-696AE38F7687}" type="datetimeFigureOut">
              <a:rPr lang="en-US" smtClean="0"/>
              <a:t>7/4/2024</a:t>
            </a:fld>
            <a:endParaRPr lang="en-US"/>
          </a:p>
        </p:txBody>
      </p:sp>
      <p:sp>
        <p:nvSpPr>
          <p:cNvPr id="4" name="Footer Placeholder 3">
            <a:extLst>
              <a:ext uri="{FF2B5EF4-FFF2-40B4-BE49-F238E27FC236}">
                <a16:creationId xmlns:a16="http://schemas.microsoft.com/office/drawing/2014/main" id="{2E3CAE97-AFD6-46ED-81E9-CBC28F620E1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DA464C-268B-4CCA-BCB3-0EBF6EF73B73}"/>
              </a:ext>
            </a:extLst>
          </p:cNvPr>
          <p:cNvSpPr>
            <a:spLocks noGrp="1"/>
          </p:cNvSpPr>
          <p:nvPr>
            <p:ph type="sldNum" sz="quarter" idx="12"/>
          </p:nvPr>
        </p:nvSpPr>
        <p:spPr/>
        <p:txBody>
          <a:bodyPr/>
          <a:lstStyle/>
          <a:p>
            <a:fld id="{C9450147-7C9E-43B1-842C-2D04EA856E3F}" type="slidenum">
              <a:rPr lang="en-US" smtClean="0"/>
              <a:t>‹#›</a:t>
            </a:fld>
            <a:endParaRPr lang="en-US"/>
          </a:p>
        </p:txBody>
      </p:sp>
    </p:spTree>
    <p:extLst>
      <p:ext uri="{BB962C8B-B14F-4D97-AF65-F5344CB8AC3E}">
        <p14:creationId xmlns:p14="http://schemas.microsoft.com/office/powerpoint/2010/main" val="4002338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BD5928-FD5D-48A5-9FFF-7303DA52E355}"/>
              </a:ext>
            </a:extLst>
          </p:cNvPr>
          <p:cNvSpPr>
            <a:spLocks noGrp="1"/>
          </p:cNvSpPr>
          <p:nvPr>
            <p:ph type="dt" sz="half" idx="10"/>
          </p:nvPr>
        </p:nvSpPr>
        <p:spPr/>
        <p:txBody>
          <a:bodyPr/>
          <a:lstStyle/>
          <a:p>
            <a:fld id="{54CD5B96-96DF-4B3A-9064-696AE38F7687}" type="datetimeFigureOut">
              <a:rPr lang="en-US" smtClean="0"/>
              <a:t>7/4/2024</a:t>
            </a:fld>
            <a:endParaRPr lang="en-US"/>
          </a:p>
        </p:txBody>
      </p:sp>
      <p:sp>
        <p:nvSpPr>
          <p:cNvPr id="3" name="Footer Placeholder 2">
            <a:extLst>
              <a:ext uri="{FF2B5EF4-FFF2-40B4-BE49-F238E27FC236}">
                <a16:creationId xmlns:a16="http://schemas.microsoft.com/office/drawing/2014/main" id="{01B34AE5-0188-439D-9728-AE6F1A237F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9EDFE39-926A-493F-8E07-0E107E44B371}"/>
              </a:ext>
            </a:extLst>
          </p:cNvPr>
          <p:cNvSpPr>
            <a:spLocks noGrp="1"/>
          </p:cNvSpPr>
          <p:nvPr>
            <p:ph type="sldNum" sz="quarter" idx="12"/>
          </p:nvPr>
        </p:nvSpPr>
        <p:spPr/>
        <p:txBody>
          <a:bodyPr/>
          <a:lstStyle/>
          <a:p>
            <a:fld id="{C9450147-7C9E-43B1-842C-2D04EA856E3F}" type="slidenum">
              <a:rPr lang="en-US" smtClean="0"/>
              <a:t>‹#›</a:t>
            </a:fld>
            <a:endParaRPr lang="en-US"/>
          </a:p>
        </p:txBody>
      </p:sp>
    </p:spTree>
    <p:extLst>
      <p:ext uri="{BB962C8B-B14F-4D97-AF65-F5344CB8AC3E}">
        <p14:creationId xmlns:p14="http://schemas.microsoft.com/office/powerpoint/2010/main" val="3315863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6936A-1BEF-47C1-99EA-C14B4F82B2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266EF44-274F-4821-8647-18441625D5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D4109A-93DF-49BC-A7B3-97DA56EEBE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915FEDA3-5EF8-423B-A783-256F4BA272D4}"/>
              </a:ext>
            </a:extLst>
          </p:cNvPr>
          <p:cNvSpPr>
            <a:spLocks noGrp="1"/>
          </p:cNvSpPr>
          <p:nvPr>
            <p:ph type="dt" sz="half" idx="10"/>
          </p:nvPr>
        </p:nvSpPr>
        <p:spPr/>
        <p:txBody>
          <a:bodyPr/>
          <a:lstStyle/>
          <a:p>
            <a:fld id="{54CD5B96-96DF-4B3A-9064-696AE38F7687}" type="datetimeFigureOut">
              <a:rPr lang="en-US" smtClean="0"/>
              <a:t>7/4/2024</a:t>
            </a:fld>
            <a:endParaRPr lang="en-US"/>
          </a:p>
        </p:txBody>
      </p:sp>
      <p:sp>
        <p:nvSpPr>
          <p:cNvPr id="6" name="Footer Placeholder 5">
            <a:extLst>
              <a:ext uri="{FF2B5EF4-FFF2-40B4-BE49-F238E27FC236}">
                <a16:creationId xmlns:a16="http://schemas.microsoft.com/office/drawing/2014/main" id="{AC0B92F3-E7B7-4625-9CB9-F53FE5ECF8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2B1656-41BD-462A-BA61-8FD16D63D93C}"/>
              </a:ext>
            </a:extLst>
          </p:cNvPr>
          <p:cNvSpPr>
            <a:spLocks noGrp="1"/>
          </p:cNvSpPr>
          <p:nvPr>
            <p:ph type="sldNum" sz="quarter" idx="12"/>
          </p:nvPr>
        </p:nvSpPr>
        <p:spPr/>
        <p:txBody>
          <a:bodyPr/>
          <a:lstStyle/>
          <a:p>
            <a:fld id="{C9450147-7C9E-43B1-842C-2D04EA856E3F}" type="slidenum">
              <a:rPr lang="en-US" smtClean="0"/>
              <a:t>‹#›</a:t>
            </a:fld>
            <a:endParaRPr lang="en-US"/>
          </a:p>
        </p:txBody>
      </p:sp>
    </p:spTree>
    <p:extLst>
      <p:ext uri="{BB962C8B-B14F-4D97-AF65-F5344CB8AC3E}">
        <p14:creationId xmlns:p14="http://schemas.microsoft.com/office/powerpoint/2010/main" val="3760050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03F7F-B3FB-4BF4-8CE9-0369A97275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884068-583C-4417-8271-7B4C26B1E0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1E6596E-7919-4475-B32A-38CF8AA85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8B38B88-446E-4FE9-913D-4060D9DBF786}"/>
              </a:ext>
            </a:extLst>
          </p:cNvPr>
          <p:cNvSpPr>
            <a:spLocks noGrp="1"/>
          </p:cNvSpPr>
          <p:nvPr>
            <p:ph type="dt" sz="half" idx="10"/>
          </p:nvPr>
        </p:nvSpPr>
        <p:spPr/>
        <p:txBody>
          <a:bodyPr/>
          <a:lstStyle/>
          <a:p>
            <a:fld id="{54CD5B96-96DF-4B3A-9064-696AE38F7687}" type="datetimeFigureOut">
              <a:rPr lang="en-US" smtClean="0"/>
              <a:t>7/4/2024</a:t>
            </a:fld>
            <a:endParaRPr lang="en-US"/>
          </a:p>
        </p:txBody>
      </p:sp>
      <p:sp>
        <p:nvSpPr>
          <p:cNvPr id="6" name="Footer Placeholder 5">
            <a:extLst>
              <a:ext uri="{FF2B5EF4-FFF2-40B4-BE49-F238E27FC236}">
                <a16:creationId xmlns:a16="http://schemas.microsoft.com/office/drawing/2014/main" id="{81591DFB-BF26-48D0-BE4A-EC813D24D3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F5ED6C-DCBE-48A0-BAF9-D7ED216954C0}"/>
              </a:ext>
            </a:extLst>
          </p:cNvPr>
          <p:cNvSpPr>
            <a:spLocks noGrp="1"/>
          </p:cNvSpPr>
          <p:nvPr>
            <p:ph type="sldNum" sz="quarter" idx="12"/>
          </p:nvPr>
        </p:nvSpPr>
        <p:spPr/>
        <p:txBody>
          <a:bodyPr/>
          <a:lstStyle/>
          <a:p>
            <a:fld id="{C9450147-7C9E-43B1-842C-2D04EA856E3F}" type="slidenum">
              <a:rPr lang="en-US" smtClean="0"/>
              <a:t>‹#›</a:t>
            </a:fld>
            <a:endParaRPr lang="en-US"/>
          </a:p>
        </p:txBody>
      </p:sp>
    </p:spTree>
    <p:extLst>
      <p:ext uri="{BB962C8B-B14F-4D97-AF65-F5344CB8AC3E}">
        <p14:creationId xmlns:p14="http://schemas.microsoft.com/office/powerpoint/2010/main" val="248345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E63EE9-D54B-4B7C-BD0C-AC61768CD91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25166E-5FC6-44F5-AF5A-696149703A9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73E9EB-D460-4B7E-BECB-45DA84EC4899}"/>
              </a:ext>
            </a:extLst>
          </p:cNvPr>
          <p:cNvSpPr>
            <a:spLocks noGrp="1"/>
          </p:cNvSpPr>
          <p:nvPr>
            <p:ph type="dt" sz="half" idx="10"/>
          </p:nvPr>
        </p:nvSpPr>
        <p:spPr/>
        <p:txBody>
          <a:bodyPr/>
          <a:lstStyle/>
          <a:p>
            <a:fld id="{54CD5B96-96DF-4B3A-9064-696AE38F7687}" type="datetimeFigureOut">
              <a:rPr lang="en-US" smtClean="0"/>
              <a:t>7/4/2024</a:t>
            </a:fld>
            <a:endParaRPr lang="en-US"/>
          </a:p>
        </p:txBody>
      </p:sp>
      <p:sp>
        <p:nvSpPr>
          <p:cNvPr id="5" name="Footer Placeholder 4">
            <a:extLst>
              <a:ext uri="{FF2B5EF4-FFF2-40B4-BE49-F238E27FC236}">
                <a16:creationId xmlns:a16="http://schemas.microsoft.com/office/drawing/2014/main" id="{C3641CF2-D7D4-4CB1-8577-27B5D50A66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360E5A-208E-437D-8EF7-3600CB121154}"/>
              </a:ext>
            </a:extLst>
          </p:cNvPr>
          <p:cNvSpPr>
            <a:spLocks noGrp="1"/>
          </p:cNvSpPr>
          <p:nvPr>
            <p:ph type="sldNum" sz="quarter" idx="12"/>
          </p:nvPr>
        </p:nvSpPr>
        <p:spPr/>
        <p:txBody>
          <a:bodyPr/>
          <a:lstStyle/>
          <a:p>
            <a:fld id="{C9450147-7C9E-43B1-842C-2D04EA856E3F}" type="slidenum">
              <a:rPr lang="en-US" smtClean="0"/>
              <a:t>‹#›</a:t>
            </a:fld>
            <a:endParaRPr lang="en-US"/>
          </a:p>
        </p:txBody>
      </p:sp>
    </p:spTree>
    <p:extLst>
      <p:ext uri="{BB962C8B-B14F-4D97-AF65-F5344CB8AC3E}">
        <p14:creationId xmlns:p14="http://schemas.microsoft.com/office/powerpoint/2010/main" val="22248312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E9A5B7-8BAF-49B2-B8B6-4AA1774C0D2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B131D9A-20B0-4D0F-8796-A213D4630246}"/>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D72BC46-B290-428A-96B3-8F6AF84417A9}"/>
              </a:ext>
            </a:extLst>
          </p:cNvPr>
          <p:cNvSpPr>
            <a:spLocks noGrp="1"/>
          </p:cNvSpPr>
          <p:nvPr>
            <p:ph type="dt" sz="half" idx="10"/>
          </p:nvPr>
        </p:nvSpPr>
        <p:spPr/>
        <p:txBody>
          <a:bodyPr/>
          <a:lstStyle/>
          <a:p>
            <a:fld id="{54CD5B96-96DF-4B3A-9064-696AE38F7687}" type="datetimeFigureOut">
              <a:rPr lang="en-US" smtClean="0"/>
              <a:t>7/4/2024</a:t>
            </a:fld>
            <a:endParaRPr lang="en-US"/>
          </a:p>
        </p:txBody>
      </p:sp>
      <p:sp>
        <p:nvSpPr>
          <p:cNvPr id="5" name="Footer Placeholder 4">
            <a:extLst>
              <a:ext uri="{FF2B5EF4-FFF2-40B4-BE49-F238E27FC236}">
                <a16:creationId xmlns:a16="http://schemas.microsoft.com/office/drawing/2014/main" id="{51607EFE-E55F-4219-BB47-4BC2CBAB64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B6D82D-9291-47A1-B0D9-2C7E4036F3B6}"/>
              </a:ext>
            </a:extLst>
          </p:cNvPr>
          <p:cNvSpPr>
            <a:spLocks noGrp="1"/>
          </p:cNvSpPr>
          <p:nvPr>
            <p:ph type="sldNum" sz="quarter" idx="12"/>
          </p:nvPr>
        </p:nvSpPr>
        <p:spPr/>
        <p:txBody>
          <a:bodyPr/>
          <a:lstStyle/>
          <a:p>
            <a:fld id="{C9450147-7C9E-43B1-842C-2D04EA856E3F}" type="slidenum">
              <a:rPr lang="en-US" smtClean="0"/>
              <a:t>‹#›</a:t>
            </a:fld>
            <a:endParaRPr lang="en-US"/>
          </a:p>
        </p:txBody>
      </p:sp>
    </p:spTree>
    <p:extLst>
      <p:ext uri="{BB962C8B-B14F-4D97-AF65-F5344CB8AC3E}">
        <p14:creationId xmlns:p14="http://schemas.microsoft.com/office/powerpoint/2010/main" val="18981479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B284C15-7988-48AF-9585-7FDDF9499F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81D503B-8A84-4073-B74F-926E23B6F5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0CA31-CB80-45ED-A173-614F80983A6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CD5B96-96DF-4B3A-9064-696AE38F7687}" type="datetimeFigureOut">
              <a:rPr lang="en-US" smtClean="0"/>
              <a:t>7/4/2024</a:t>
            </a:fld>
            <a:endParaRPr lang="en-US"/>
          </a:p>
        </p:txBody>
      </p:sp>
      <p:sp>
        <p:nvSpPr>
          <p:cNvPr id="5" name="Footer Placeholder 4">
            <a:extLst>
              <a:ext uri="{FF2B5EF4-FFF2-40B4-BE49-F238E27FC236}">
                <a16:creationId xmlns:a16="http://schemas.microsoft.com/office/drawing/2014/main" id="{EE40BCE0-69E8-4651-ADFE-BD514231CB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0C2C9CD-A87E-4833-8029-D2DE70C0F3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9450147-7C9E-43B1-842C-2D04EA856E3F}" type="slidenum">
              <a:rPr lang="en-US" smtClean="0"/>
              <a:t>‹#›</a:t>
            </a:fld>
            <a:endParaRPr lang="en-US"/>
          </a:p>
        </p:txBody>
      </p:sp>
    </p:spTree>
    <p:extLst>
      <p:ext uri="{BB962C8B-B14F-4D97-AF65-F5344CB8AC3E}">
        <p14:creationId xmlns:p14="http://schemas.microsoft.com/office/powerpoint/2010/main" val="34230909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45AAF-BFE8-4AAA-A4DC-4CA1C0D05101}"/>
              </a:ext>
            </a:extLst>
          </p:cNvPr>
          <p:cNvSpPr>
            <a:spLocks noGrp="1"/>
          </p:cNvSpPr>
          <p:nvPr>
            <p:ph type="ctrTitle"/>
          </p:nvPr>
        </p:nvSpPr>
        <p:spPr/>
        <p:txBody>
          <a:bodyPr/>
          <a:lstStyle/>
          <a:p>
            <a:r>
              <a:rPr lang="fr-FR" dirty="0"/>
              <a:t>Retours sur le CSI et prochaines aventures</a:t>
            </a:r>
            <a:endParaRPr lang="en-US" dirty="0"/>
          </a:p>
        </p:txBody>
      </p:sp>
      <p:sp>
        <p:nvSpPr>
          <p:cNvPr id="3" name="Subtitle 2">
            <a:extLst>
              <a:ext uri="{FF2B5EF4-FFF2-40B4-BE49-F238E27FC236}">
                <a16:creationId xmlns:a16="http://schemas.microsoft.com/office/drawing/2014/main" id="{79DBC5A9-4F3A-4D46-85DC-6A857F46D3E2}"/>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789697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83C16-3C75-4D93-BBA9-F1C2ACAA17D4}"/>
              </a:ext>
            </a:extLst>
          </p:cNvPr>
          <p:cNvSpPr>
            <a:spLocks noGrp="1"/>
          </p:cNvSpPr>
          <p:nvPr>
            <p:ph type="title"/>
          </p:nvPr>
        </p:nvSpPr>
        <p:spPr/>
        <p:txBody>
          <a:bodyPr/>
          <a:lstStyle/>
          <a:p>
            <a:r>
              <a:rPr lang="fr-FR" dirty="0"/>
              <a:t>Mes impressions sur le CSI</a:t>
            </a:r>
            <a:endParaRPr lang="en-US" dirty="0"/>
          </a:p>
        </p:txBody>
      </p:sp>
      <p:sp>
        <p:nvSpPr>
          <p:cNvPr id="3" name="Content Placeholder 2">
            <a:extLst>
              <a:ext uri="{FF2B5EF4-FFF2-40B4-BE49-F238E27FC236}">
                <a16:creationId xmlns:a16="http://schemas.microsoft.com/office/drawing/2014/main" id="{4FC1D122-A1DE-4F7B-8BAE-E65C513D50BB}"/>
              </a:ext>
            </a:extLst>
          </p:cNvPr>
          <p:cNvSpPr>
            <a:spLocks noGrp="1"/>
          </p:cNvSpPr>
          <p:nvPr>
            <p:ph idx="1"/>
          </p:nvPr>
        </p:nvSpPr>
        <p:spPr/>
        <p:txBody>
          <a:bodyPr>
            <a:normAutofit fontScale="92500"/>
          </a:bodyPr>
          <a:lstStyle/>
          <a:p>
            <a:r>
              <a:rPr lang="fr-FR" dirty="0"/>
              <a:t>Globalement bien, mais vraisemblablement pas ma meilleure prestation</a:t>
            </a:r>
          </a:p>
          <a:p>
            <a:endParaRPr lang="fr-FR" dirty="0"/>
          </a:p>
          <a:p>
            <a:r>
              <a:rPr lang="fr-FR" dirty="0"/>
              <a:t>J’avais l’impression de ne pas être stressée, mais je l’étais : j’avais du mal à répondre aux questions, alors que je connaissais la plupart des réponses, ou du moins j’avais des éléments de réponse, que je ne donnais même pas si je savais que je n’avais pas la réponse exhaustive, parce que la réflexion n’est pas « aboutie », c’est-à-dire que je n’ai pas fait de choix bien arrêté.</a:t>
            </a:r>
          </a:p>
          <a:p>
            <a:pPr lvl="1"/>
            <a:r>
              <a:rPr lang="fr-FR" dirty="0"/>
              <a:t>Ex : les questions sur les paramètres de mon modèle </a:t>
            </a:r>
          </a:p>
          <a:p>
            <a:endParaRPr lang="fr-FR" dirty="0"/>
          </a:p>
          <a:p>
            <a:r>
              <a:rPr lang="fr-FR" dirty="0"/>
              <a:t>Par ailleurs, il faut que je vous avoue que je ne sais pas travailler.</a:t>
            </a:r>
          </a:p>
          <a:p>
            <a:endParaRPr lang="en-US" dirty="0"/>
          </a:p>
        </p:txBody>
      </p:sp>
    </p:spTree>
    <p:extLst>
      <p:ext uri="{BB962C8B-B14F-4D97-AF65-F5344CB8AC3E}">
        <p14:creationId xmlns:p14="http://schemas.microsoft.com/office/powerpoint/2010/main" val="9517843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2DAC8-4927-4D77-B161-D75F73167161}"/>
              </a:ext>
            </a:extLst>
          </p:cNvPr>
          <p:cNvSpPr>
            <a:spLocks noGrp="1"/>
          </p:cNvSpPr>
          <p:nvPr>
            <p:ph type="title"/>
          </p:nvPr>
        </p:nvSpPr>
        <p:spPr>
          <a:xfrm>
            <a:off x="838200" y="148308"/>
            <a:ext cx="10515600" cy="1325563"/>
          </a:xfrm>
        </p:spPr>
        <p:txBody>
          <a:bodyPr/>
          <a:lstStyle/>
          <a:p>
            <a:r>
              <a:rPr lang="fr-FR" dirty="0"/>
              <a:t>Prochaines étapes </a:t>
            </a:r>
            <a:endParaRPr lang="en-US" dirty="0"/>
          </a:p>
        </p:txBody>
      </p:sp>
      <p:sp>
        <p:nvSpPr>
          <p:cNvPr id="3" name="Content Placeholder 2">
            <a:extLst>
              <a:ext uri="{FF2B5EF4-FFF2-40B4-BE49-F238E27FC236}">
                <a16:creationId xmlns:a16="http://schemas.microsoft.com/office/drawing/2014/main" id="{A816C726-6710-41E1-A469-5AD9103A69C4}"/>
              </a:ext>
            </a:extLst>
          </p:cNvPr>
          <p:cNvSpPr>
            <a:spLocks noGrp="1"/>
          </p:cNvSpPr>
          <p:nvPr>
            <p:ph idx="1"/>
          </p:nvPr>
        </p:nvSpPr>
        <p:spPr>
          <a:xfrm>
            <a:off x="838200" y="1473872"/>
            <a:ext cx="10515600" cy="5134318"/>
          </a:xfrm>
        </p:spPr>
        <p:txBody>
          <a:bodyPr>
            <a:normAutofit fontScale="77500" lnSpcReduction="20000"/>
          </a:bodyPr>
          <a:lstStyle/>
          <a:p>
            <a:r>
              <a:rPr lang="fr-FR" dirty="0"/>
              <a:t>Définir le modèle, entrées et sorties </a:t>
            </a:r>
          </a:p>
          <a:p>
            <a:r>
              <a:rPr lang="fr-FR" dirty="0"/>
              <a:t>Formaliser le modèle et la contrainte sur la hauteur et le LAI</a:t>
            </a:r>
          </a:p>
          <a:p>
            <a:endParaRPr lang="fr-FR" dirty="0"/>
          </a:p>
          <a:p>
            <a:r>
              <a:rPr lang="fr-FR" dirty="0"/>
              <a:t>Gestion de la ramification</a:t>
            </a:r>
          </a:p>
          <a:p>
            <a:r>
              <a:rPr lang="fr-FR" dirty="0"/>
              <a:t>Gestion de la sénescence</a:t>
            </a:r>
          </a:p>
          <a:p>
            <a:r>
              <a:rPr lang="fr-FR" dirty="0"/>
              <a:t>Modifications pour le niébé </a:t>
            </a:r>
          </a:p>
          <a:p>
            <a:endParaRPr lang="fr-FR" dirty="0"/>
          </a:p>
          <a:p>
            <a:r>
              <a:rPr lang="fr-FR" dirty="0"/>
              <a:t>Design expérimental </a:t>
            </a:r>
            <a:r>
              <a:rPr lang="fr-FR" dirty="0" err="1"/>
              <a:t>GxG</a:t>
            </a:r>
            <a:r>
              <a:rPr lang="fr-FR" dirty="0"/>
              <a:t> à l’échelle de l’organe</a:t>
            </a:r>
          </a:p>
          <a:p>
            <a:r>
              <a:rPr lang="fr-FR" dirty="0"/>
              <a:t>Design expérimental </a:t>
            </a:r>
            <a:r>
              <a:rPr lang="fr-FR" dirty="0" err="1"/>
              <a:t>ExM</a:t>
            </a:r>
            <a:r>
              <a:rPr lang="fr-FR" dirty="0"/>
              <a:t> à l’échelle de la culture</a:t>
            </a:r>
          </a:p>
          <a:p>
            <a:r>
              <a:rPr lang="fr-FR" dirty="0"/>
              <a:t>Simulations</a:t>
            </a:r>
          </a:p>
          <a:p>
            <a:endParaRPr lang="fr-FR" dirty="0"/>
          </a:p>
          <a:p>
            <a:r>
              <a:rPr lang="fr-FR" dirty="0"/>
              <a:t>Analyses</a:t>
            </a:r>
          </a:p>
          <a:p>
            <a:endParaRPr lang="fr-FR" dirty="0"/>
          </a:p>
          <a:p>
            <a:pPr marL="0" indent="0">
              <a:buNone/>
            </a:pPr>
            <a:r>
              <a:rPr lang="fr-FR" dirty="0">
                <a:sym typeface="Wingdings" panose="05000000000000000000" pitchFamily="2" charset="2"/>
              </a:rPr>
              <a:t></a:t>
            </a:r>
            <a:r>
              <a:rPr lang="en-US" dirty="0">
                <a:sym typeface="Wingdings" panose="05000000000000000000" pitchFamily="2" charset="2"/>
              </a:rPr>
              <a:t> </a:t>
            </a:r>
            <a:r>
              <a:rPr lang="fr-FR" dirty="0">
                <a:sym typeface="Wingdings" panose="05000000000000000000" pitchFamily="2" charset="2"/>
              </a:rPr>
              <a:t>Soumission</a:t>
            </a:r>
            <a:r>
              <a:rPr lang="en-US" dirty="0">
                <a:sym typeface="Wingdings" panose="05000000000000000000" pitchFamily="2" charset="2"/>
              </a:rPr>
              <a:t> article 11/2024</a:t>
            </a:r>
            <a:endParaRPr lang="fr-FR" dirty="0"/>
          </a:p>
          <a:p>
            <a:endParaRPr lang="fr-FR" dirty="0"/>
          </a:p>
          <a:p>
            <a:endParaRPr lang="fr-FR" dirty="0"/>
          </a:p>
          <a:p>
            <a:endParaRPr lang="fr-FR" dirty="0"/>
          </a:p>
          <a:p>
            <a:endParaRPr lang="fr-FR" dirty="0"/>
          </a:p>
          <a:p>
            <a:endParaRPr lang="en-US" dirty="0"/>
          </a:p>
        </p:txBody>
      </p:sp>
    </p:spTree>
    <p:extLst>
      <p:ext uri="{BB962C8B-B14F-4D97-AF65-F5344CB8AC3E}">
        <p14:creationId xmlns:p14="http://schemas.microsoft.com/office/powerpoint/2010/main" val="6522201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BA049-4EE0-42A6-B36E-413AEEB6FCC4}"/>
              </a:ext>
            </a:extLst>
          </p:cNvPr>
          <p:cNvSpPr>
            <a:spLocks noGrp="1"/>
          </p:cNvSpPr>
          <p:nvPr>
            <p:ph type="title"/>
          </p:nvPr>
        </p:nvSpPr>
        <p:spPr/>
        <p:txBody>
          <a:bodyPr>
            <a:normAutofit/>
          </a:bodyPr>
          <a:lstStyle/>
          <a:p>
            <a:r>
              <a:rPr lang="fr-FR" dirty="0"/>
              <a:t>Définir le modèle, entrées et sorties</a:t>
            </a:r>
          </a:p>
        </p:txBody>
      </p:sp>
      <p:graphicFrame>
        <p:nvGraphicFramePr>
          <p:cNvPr id="4" name="Content Placeholder 3">
            <a:extLst>
              <a:ext uri="{FF2B5EF4-FFF2-40B4-BE49-F238E27FC236}">
                <a16:creationId xmlns:a16="http://schemas.microsoft.com/office/drawing/2014/main" id="{E2DF686C-B4E2-46FE-87A4-5F5E8D6AB3B8}"/>
              </a:ext>
            </a:extLst>
          </p:cNvPr>
          <p:cNvGraphicFramePr>
            <a:graphicFrameLocks noGrp="1"/>
          </p:cNvGraphicFramePr>
          <p:nvPr>
            <p:ph idx="1"/>
            <p:extLst>
              <p:ext uri="{D42A27DB-BD31-4B8C-83A1-F6EECF244321}">
                <p14:modId xmlns:p14="http://schemas.microsoft.com/office/powerpoint/2010/main" val="3472205938"/>
              </p:ext>
            </p:extLst>
          </p:nvPr>
        </p:nvGraphicFramePr>
        <p:xfrm>
          <a:off x="838200" y="1825625"/>
          <a:ext cx="10515600" cy="457708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258169204"/>
                    </a:ext>
                  </a:extLst>
                </a:gridCol>
                <a:gridCol w="2103120">
                  <a:extLst>
                    <a:ext uri="{9D8B030D-6E8A-4147-A177-3AD203B41FA5}">
                      <a16:colId xmlns:a16="http://schemas.microsoft.com/office/drawing/2014/main" val="837178054"/>
                    </a:ext>
                  </a:extLst>
                </a:gridCol>
                <a:gridCol w="2103120">
                  <a:extLst>
                    <a:ext uri="{9D8B030D-6E8A-4147-A177-3AD203B41FA5}">
                      <a16:colId xmlns:a16="http://schemas.microsoft.com/office/drawing/2014/main" val="1072837223"/>
                    </a:ext>
                  </a:extLst>
                </a:gridCol>
                <a:gridCol w="2103120">
                  <a:extLst>
                    <a:ext uri="{9D8B030D-6E8A-4147-A177-3AD203B41FA5}">
                      <a16:colId xmlns:a16="http://schemas.microsoft.com/office/drawing/2014/main" val="2895919820"/>
                    </a:ext>
                  </a:extLst>
                </a:gridCol>
                <a:gridCol w="2103120">
                  <a:extLst>
                    <a:ext uri="{9D8B030D-6E8A-4147-A177-3AD203B41FA5}">
                      <a16:colId xmlns:a16="http://schemas.microsoft.com/office/drawing/2014/main" val="67778795"/>
                    </a:ext>
                  </a:extLst>
                </a:gridCol>
              </a:tblGrid>
              <a:tr h="370840">
                <a:tc>
                  <a:txBody>
                    <a:bodyPr/>
                    <a:lstStyle/>
                    <a:p>
                      <a:r>
                        <a:rPr lang="fr-FR" dirty="0"/>
                        <a:t>Tâche</a:t>
                      </a:r>
                      <a:endParaRPr lang="en-US" dirty="0"/>
                    </a:p>
                  </a:txBody>
                  <a:tcPr/>
                </a:tc>
                <a:tc>
                  <a:txBody>
                    <a:bodyPr/>
                    <a:lstStyle/>
                    <a:p>
                      <a:r>
                        <a:rPr lang="fr-FR" dirty="0"/>
                        <a:t>Rendu / Résultat</a:t>
                      </a:r>
                      <a:endParaRPr lang="en-US" dirty="0"/>
                    </a:p>
                  </a:txBody>
                  <a:tcPr/>
                </a:tc>
                <a:tc>
                  <a:txBody>
                    <a:bodyPr/>
                    <a:lstStyle/>
                    <a:p>
                      <a:r>
                        <a:rPr lang="fr-FR" dirty="0"/>
                        <a:t>Temps</a:t>
                      </a:r>
                      <a:endParaRPr lang="en-US" dirty="0"/>
                    </a:p>
                  </a:txBody>
                  <a:tcPr/>
                </a:tc>
                <a:tc>
                  <a:txBody>
                    <a:bodyPr/>
                    <a:lstStyle/>
                    <a:p>
                      <a:r>
                        <a:rPr lang="fr-FR" dirty="0"/>
                        <a:t>échéance</a:t>
                      </a:r>
                      <a:endParaRPr lang="en-US" dirty="0"/>
                    </a:p>
                  </a:txBody>
                  <a:tcPr/>
                </a:tc>
                <a:tc>
                  <a:txBody>
                    <a:bodyPr/>
                    <a:lstStyle/>
                    <a:p>
                      <a:r>
                        <a:rPr lang="fr-FR" dirty="0"/>
                        <a:t>Personnes ressources</a:t>
                      </a:r>
                      <a:endParaRPr lang="en-US" dirty="0"/>
                    </a:p>
                  </a:txBody>
                  <a:tcPr/>
                </a:tc>
                <a:extLst>
                  <a:ext uri="{0D108BD9-81ED-4DB2-BD59-A6C34878D82A}">
                    <a16:rowId xmlns:a16="http://schemas.microsoft.com/office/drawing/2014/main" val="665057055"/>
                  </a:ext>
                </a:extLst>
              </a:tr>
              <a:tr h="370840">
                <a:tc>
                  <a:txBody>
                    <a:bodyPr/>
                    <a:lstStyle/>
                    <a:p>
                      <a:r>
                        <a:rPr lang="fr-FR" dirty="0"/>
                        <a:t>Définir le modèle (générateur de modèle)</a:t>
                      </a:r>
                      <a:endParaRPr lang="en-US" dirty="0"/>
                    </a:p>
                  </a:txBody>
                  <a:tcPr/>
                </a:tc>
                <a:tc>
                  <a:txBody>
                    <a:bodyPr/>
                    <a:lstStyle/>
                    <a:p>
                      <a:r>
                        <a:rPr lang="fr-FR" dirty="0"/>
                        <a:t>1 slide</a:t>
                      </a:r>
                      <a:endParaRPr lang="en-US" dirty="0"/>
                    </a:p>
                  </a:txBody>
                  <a:tcPr/>
                </a:tc>
                <a:tc>
                  <a:txBody>
                    <a:bodyPr/>
                    <a:lstStyle/>
                    <a:p>
                      <a:r>
                        <a:rPr lang="fr-FR" dirty="0"/>
                        <a:t>1j</a:t>
                      </a:r>
                      <a:endParaRPr lang="en-US" dirty="0"/>
                    </a:p>
                  </a:txBody>
                  <a:tcPr/>
                </a:tc>
                <a:tc>
                  <a:txBody>
                    <a:bodyPr/>
                    <a:lstStyle/>
                    <a:p>
                      <a:r>
                        <a:rPr lang="fr-FR" dirty="0"/>
                        <a:t>Lundi 8/7 soir</a:t>
                      </a:r>
                      <a:endParaRPr lang="en-US" dirty="0"/>
                    </a:p>
                  </a:txBody>
                  <a:tcPr/>
                </a:tc>
                <a:tc>
                  <a:txBody>
                    <a:bodyPr/>
                    <a:lstStyle/>
                    <a:p>
                      <a:r>
                        <a:rPr lang="fr-FR" dirty="0"/>
                        <a:t>Christophe (</a:t>
                      </a:r>
                      <a:r>
                        <a:rPr lang="fr-FR" dirty="0" err="1"/>
                        <a:t>cf</a:t>
                      </a:r>
                      <a:r>
                        <a:rPr lang="fr-FR" dirty="0"/>
                        <a:t> thèse)</a:t>
                      </a:r>
                      <a:endParaRPr lang="en-US" dirty="0"/>
                    </a:p>
                  </a:txBody>
                  <a:tcPr/>
                </a:tc>
                <a:extLst>
                  <a:ext uri="{0D108BD9-81ED-4DB2-BD59-A6C34878D82A}">
                    <a16:rowId xmlns:a16="http://schemas.microsoft.com/office/drawing/2014/main" val="2609922498"/>
                  </a:ext>
                </a:extLst>
              </a:tr>
              <a:tr h="370840">
                <a:tc>
                  <a:txBody>
                    <a:bodyPr/>
                    <a:lstStyle/>
                    <a:p>
                      <a:r>
                        <a:rPr lang="fr-FR" dirty="0"/>
                        <a:t>Définir les entrées et sorties du modèle</a:t>
                      </a:r>
                      <a:endParaRPr lang="en-US" dirty="0"/>
                    </a:p>
                  </a:txBody>
                  <a:tcPr/>
                </a:tc>
                <a:tc>
                  <a:txBody>
                    <a:bodyPr/>
                    <a:lstStyle/>
                    <a:p>
                      <a:r>
                        <a:rPr lang="fr-FR" dirty="0"/>
                        <a:t>2 tableaux (découper les paramètres en fonction des échelles plante/axe/organe)</a:t>
                      </a:r>
                      <a:endParaRPr lang="en-US" dirty="0"/>
                    </a:p>
                  </a:txBody>
                  <a:tcPr/>
                </a:tc>
                <a:tc>
                  <a:txBody>
                    <a:bodyPr/>
                    <a:lstStyle/>
                    <a:p>
                      <a:r>
                        <a:rPr lang="fr-FR" dirty="0"/>
                        <a:t>2j</a:t>
                      </a:r>
                      <a:endParaRPr lang="en-US" dirty="0"/>
                    </a:p>
                  </a:txBody>
                  <a:tcPr/>
                </a:tc>
                <a:tc>
                  <a:txBody>
                    <a:bodyPr/>
                    <a:lstStyle/>
                    <a:p>
                      <a:r>
                        <a:rPr lang="fr-FR" dirty="0"/>
                        <a:t>Mercredi 10/7 soir</a:t>
                      </a:r>
                      <a:endParaRPr lang="en-US" dirty="0"/>
                    </a:p>
                  </a:txBody>
                  <a:tcPr/>
                </a:tc>
                <a:tc>
                  <a:txBody>
                    <a:bodyPr/>
                    <a:lstStyle/>
                    <a:p>
                      <a:r>
                        <a:rPr lang="fr-FR" dirty="0"/>
                        <a:t>Christophe</a:t>
                      </a:r>
                      <a:endParaRPr lang="en-US" dirty="0"/>
                    </a:p>
                  </a:txBody>
                  <a:tcPr/>
                </a:tc>
                <a:extLst>
                  <a:ext uri="{0D108BD9-81ED-4DB2-BD59-A6C34878D82A}">
                    <a16:rowId xmlns:a16="http://schemas.microsoft.com/office/drawing/2014/main" val="2624637996"/>
                  </a:ext>
                </a:extLst>
              </a:tr>
              <a:tr h="370840">
                <a:tc>
                  <a:txBody>
                    <a:bodyPr/>
                    <a:lstStyle/>
                    <a:p>
                      <a:r>
                        <a:rPr lang="fr-FR" dirty="0"/>
                        <a:t>Faire une figure du modèle conceptuel (haut niveau)</a:t>
                      </a:r>
                      <a:endParaRPr lang="en-US" dirty="0"/>
                    </a:p>
                  </a:txBody>
                  <a:tcPr/>
                </a:tc>
                <a:tc>
                  <a:txBody>
                    <a:bodyPr/>
                    <a:lstStyle/>
                    <a:p>
                      <a:r>
                        <a:rPr lang="fr-FR" dirty="0"/>
                        <a:t>1 figure</a:t>
                      </a:r>
                      <a:endParaRPr lang="en-US" dirty="0"/>
                    </a:p>
                  </a:txBody>
                  <a:tcPr/>
                </a:tc>
                <a:tc>
                  <a:txBody>
                    <a:bodyPr/>
                    <a:lstStyle/>
                    <a:p>
                      <a:r>
                        <a:rPr lang="fr-FR" dirty="0"/>
                        <a:t>1j</a:t>
                      </a:r>
                      <a:endParaRPr lang="en-US" dirty="0"/>
                    </a:p>
                  </a:txBody>
                  <a:tcPr/>
                </a:tc>
                <a:tc>
                  <a:txBody>
                    <a:bodyPr/>
                    <a:lstStyle/>
                    <a:p>
                      <a:r>
                        <a:rPr lang="fr-FR" dirty="0"/>
                        <a:t>Vendredi 12/7 soir</a:t>
                      </a:r>
                      <a:endParaRPr lang="en-US" dirty="0"/>
                    </a:p>
                  </a:txBody>
                  <a:tcPr/>
                </a:tc>
                <a:tc>
                  <a:txBody>
                    <a:bodyPr/>
                    <a:lstStyle/>
                    <a:p>
                      <a:r>
                        <a:rPr lang="fr-FR" dirty="0"/>
                        <a:t>Christophe</a:t>
                      </a:r>
                      <a:endParaRPr lang="en-US" dirty="0"/>
                    </a:p>
                  </a:txBody>
                  <a:tcPr/>
                </a:tc>
                <a:extLst>
                  <a:ext uri="{0D108BD9-81ED-4DB2-BD59-A6C34878D82A}">
                    <a16:rowId xmlns:a16="http://schemas.microsoft.com/office/drawing/2014/main" val="305857971"/>
                  </a:ext>
                </a:extLst>
              </a:tr>
              <a:tr h="370840">
                <a:tc>
                  <a:txBody>
                    <a:bodyPr/>
                    <a:lstStyle/>
                    <a:p>
                      <a:r>
                        <a:rPr lang="fr-FR" b="1" dirty="0"/>
                        <a:t>TOTAL</a:t>
                      </a:r>
                      <a:endParaRPr lang="en-US" b="1" dirty="0"/>
                    </a:p>
                  </a:txBody>
                  <a:tcPr/>
                </a:tc>
                <a:tc>
                  <a:txBody>
                    <a:bodyPr/>
                    <a:lstStyle/>
                    <a:p>
                      <a:endParaRPr lang="en-US" b="1" dirty="0"/>
                    </a:p>
                  </a:txBody>
                  <a:tcPr/>
                </a:tc>
                <a:tc>
                  <a:txBody>
                    <a:bodyPr/>
                    <a:lstStyle/>
                    <a:p>
                      <a:r>
                        <a:rPr lang="fr-FR" b="1" dirty="0"/>
                        <a:t>4j</a:t>
                      </a:r>
                      <a:endParaRPr lang="en-US" b="1" dirty="0"/>
                    </a:p>
                  </a:txBody>
                  <a:tcPr/>
                </a:tc>
                <a:tc>
                  <a:txBody>
                    <a:bodyPr/>
                    <a:lstStyle/>
                    <a:p>
                      <a:endParaRPr lang="en-US" b="1" dirty="0"/>
                    </a:p>
                  </a:txBody>
                  <a:tcPr/>
                </a:tc>
                <a:tc>
                  <a:txBody>
                    <a:bodyPr/>
                    <a:lstStyle/>
                    <a:p>
                      <a:endParaRPr lang="en-US" b="1" dirty="0"/>
                    </a:p>
                  </a:txBody>
                  <a:tcPr/>
                </a:tc>
                <a:extLst>
                  <a:ext uri="{0D108BD9-81ED-4DB2-BD59-A6C34878D82A}">
                    <a16:rowId xmlns:a16="http://schemas.microsoft.com/office/drawing/2014/main" val="2144555628"/>
                  </a:ext>
                </a:extLst>
              </a:tr>
            </a:tbl>
          </a:graphicData>
        </a:graphic>
      </p:graphicFrame>
    </p:spTree>
    <p:extLst>
      <p:ext uri="{BB962C8B-B14F-4D97-AF65-F5344CB8AC3E}">
        <p14:creationId xmlns:p14="http://schemas.microsoft.com/office/powerpoint/2010/main" val="41634247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ADA66-8B57-4E7B-9F7E-265A37919C7F}"/>
              </a:ext>
            </a:extLst>
          </p:cNvPr>
          <p:cNvSpPr>
            <a:spLocks noGrp="1"/>
          </p:cNvSpPr>
          <p:nvPr>
            <p:ph type="title"/>
          </p:nvPr>
        </p:nvSpPr>
        <p:spPr>
          <a:xfrm>
            <a:off x="838200" y="-2520"/>
            <a:ext cx="10515600" cy="1325563"/>
          </a:xfrm>
        </p:spPr>
        <p:txBody>
          <a:bodyPr/>
          <a:lstStyle/>
          <a:p>
            <a:r>
              <a:rPr lang="fr-FR" dirty="0"/>
              <a:t>Formaliser le modèle et la contrainte sur la hauteur et le LAI</a:t>
            </a:r>
            <a:endParaRPr lang="en-US" dirty="0"/>
          </a:p>
        </p:txBody>
      </p:sp>
      <p:graphicFrame>
        <p:nvGraphicFramePr>
          <p:cNvPr id="4" name="Content Placeholder 3">
            <a:extLst>
              <a:ext uri="{FF2B5EF4-FFF2-40B4-BE49-F238E27FC236}">
                <a16:creationId xmlns:a16="http://schemas.microsoft.com/office/drawing/2014/main" id="{CB09FAF5-0D7D-4630-9E6B-A78FF3901A37}"/>
              </a:ext>
            </a:extLst>
          </p:cNvPr>
          <p:cNvGraphicFramePr>
            <a:graphicFrameLocks noGrp="1"/>
          </p:cNvGraphicFramePr>
          <p:nvPr>
            <p:ph idx="1"/>
            <p:extLst>
              <p:ext uri="{D42A27DB-BD31-4B8C-83A1-F6EECF244321}">
                <p14:modId xmlns:p14="http://schemas.microsoft.com/office/powerpoint/2010/main" val="3034331993"/>
              </p:ext>
            </p:extLst>
          </p:nvPr>
        </p:nvGraphicFramePr>
        <p:xfrm>
          <a:off x="838200" y="1391989"/>
          <a:ext cx="10515600" cy="878332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091421050"/>
                    </a:ext>
                  </a:extLst>
                </a:gridCol>
                <a:gridCol w="2103120">
                  <a:extLst>
                    <a:ext uri="{9D8B030D-6E8A-4147-A177-3AD203B41FA5}">
                      <a16:colId xmlns:a16="http://schemas.microsoft.com/office/drawing/2014/main" val="3851595240"/>
                    </a:ext>
                  </a:extLst>
                </a:gridCol>
                <a:gridCol w="2103120">
                  <a:extLst>
                    <a:ext uri="{9D8B030D-6E8A-4147-A177-3AD203B41FA5}">
                      <a16:colId xmlns:a16="http://schemas.microsoft.com/office/drawing/2014/main" val="972166667"/>
                    </a:ext>
                  </a:extLst>
                </a:gridCol>
                <a:gridCol w="2103120">
                  <a:extLst>
                    <a:ext uri="{9D8B030D-6E8A-4147-A177-3AD203B41FA5}">
                      <a16:colId xmlns:a16="http://schemas.microsoft.com/office/drawing/2014/main" val="3837708444"/>
                    </a:ext>
                  </a:extLst>
                </a:gridCol>
                <a:gridCol w="2103120">
                  <a:extLst>
                    <a:ext uri="{9D8B030D-6E8A-4147-A177-3AD203B41FA5}">
                      <a16:colId xmlns:a16="http://schemas.microsoft.com/office/drawing/2014/main" val="677764305"/>
                    </a:ext>
                  </a:extLst>
                </a:gridCol>
              </a:tblGrid>
              <a:tr h="370840">
                <a:tc>
                  <a:txBody>
                    <a:bodyPr/>
                    <a:lstStyle/>
                    <a:p>
                      <a:r>
                        <a:rPr lang="fr-FR" dirty="0"/>
                        <a:t>Tâche</a:t>
                      </a:r>
                      <a:endParaRPr lang="en-US" dirty="0"/>
                    </a:p>
                  </a:txBody>
                  <a:tcPr/>
                </a:tc>
                <a:tc>
                  <a:txBody>
                    <a:bodyPr/>
                    <a:lstStyle/>
                    <a:p>
                      <a:r>
                        <a:rPr lang="fr-FR" dirty="0"/>
                        <a:t>Rendu / Résultat</a:t>
                      </a:r>
                      <a:endParaRPr lang="en-US" dirty="0"/>
                    </a:p>
                  </a:txBody>
                  <a:tcPr/>
                </a:tc>
                <a:tc>
                  <a:txBody>
                    <a:bodyPr/>
                    <a:lstStyle/>
                    <a:p>
                      <a:r>
                        <a:rPr lang="fr-FR" dirty="0"/>
                        <a:t>Temps</a:t>
                      </a:r>
                      <a:endParaRPr lang="en-US" dirty="0"/>
                    </a:p>
                  </a:txBody>
                  <a:tcPr/>
                </a:tc>
                <a:tc>
                  <a:txBody>
                    <a:bodyPr/>
                    <a:lstStyle/>
                    <a:p>
                      <a:r>
                        <a:rPr lang="fr-FR" dirty="0"/>
                        <a:t>échéance</a:t>
                      </a:r>
                      <a:endParaRPr lang="en-US" dirty="0"/>
                    </a:p>
                  </a:txBody>
                  <a:tcPr/>
                </a:tc>
                <a:tc>
                  <a:txBody>
                    <a:bodyPr/>
                    <a:lstStyle/>
                    <a:p>
                      <a:r>
                        <a:rPr lang="fr-FR" dirty="0"/>
                        <a:t>Personnes ressources</a:t>
                      </a:r>
                      <a:endParaRPr lang="en-US" dirty="0"/>
                    </a:p>
                  </a:txBody>
                  <a:tcPr/>
                </a:tc>
                <a:extLst>
                  <a:ext uri="{0D108BD9-81ED-4DB2-BD59-A6C34878D82A}">
                    <a16:rowId xmlns:a16="http://schemas.microsoft.com/office/drawing/2014/main" val="580974070"/>
                  </a:ext>
                </a:extLst>
              </a:tr>
              <a:tr h="370840">
                <a:tc>
                  <a:txBody>
                    <a:bodyPr/>
                    <a:lstStyle/>
                    <a:p>
                      <a:r>
                        <a:rPr lang="fr-FR" dirty="0"/>
                        <a:t>Modèle de croissance d’un entrenœud</a:t>
                      </a:r>
                      <a:endParaRPr lang="en-US" dirty="0"/>
                    </a:p>
                  </a:txBody>
                  <a:tcPr/>
                </a:tc>
                <a:tc>
                  <a:txBody>
                    <a:bodyPr/>
                    <a:lstStyle/>
                    <a:p>
                      <a:r>
                        <a:rPr lang="fr-FR" dirty="0"/>
                        <a:t>Équations et animation</a:t>
                      </a:r>
                    </a:p>
                    <a:p>
                      <a:r>
                        <a:rPr lang="fr-FR" dirty="0"/>
                        <a:t>1 slide</a:t>
                      </a:r>
                      <a:endParaRPr lang="en-US" dirty="0"/>
                    </a:p>
                  </a:txBody>
                  <a:tcPr/>
                </a:tc>
                <a:tc>
                  <a:txBody>
                    <a:bodyPr/>
                    <a:lstStyle/>
                    <a:p>
                      <a:r>
                        <a:rPr lang="fr-FR" dirty="0"/>
                        <a:t>2j</a:t>
                      </a:r>
                      <a:endParaRPr lang="en-US" dirty="0"/>
                    </a:p>
                  </a:txBody>
                  <a:tcPr/>
                </a:tc>
                <a:tc>
                  <a:txBody>
                    <a:bodyPr/>
                    <a:lstStyle/>
                    <a:p>
                      <a:r>
                        <a:rPr lang="fr-FR" dirty="0"/>
                        <a:t>Mardi 16/7 soir</a:t>
                      </a:r>
                      <a:endParaRPr lang="en-US" dirty="0"/>
                    </a:p>
                  </a:txBody>
                  <a:tcPr/>
                </a:tc>
                <a:tc>
                  <a:txBody>
                    <a:bodyPr/>
                    <a:lstStyle/>
                    <a:p>
                      <a:r>
                        <a:rPr lang="fr-FR" dirty="0"/>
                        <a:t>Christophe</a:t>
                      </a:r>
                      <a:endParaRPr lang="en-US" dirty="0"/>
                    </a:p>
                  </a:txBody>
                  <a:tcPr/>
                </a:tc>
                <a:extLst>
                  <a:ext uri="{0D108BD9-81ED-4DB2-BD59-A6C34878D82A}">
                    <a16:rowId xmlns:a16="http://schemas.microsoft.com/office/drawing/2014/main" val="3158609359"/>
                  </a:ext>
                </a:extLst>
              </a:tr>
              <a:tr h="370840">
                <a:tc>
                  <a:txBody>
                    <a:bodyPr/>
                    <a:lstStyle/>
                    <a:p>
                      <a:r>
                        <a:rPr lang="fr-FR" dirty="0"/>
                        <a:t>Modèle de croissance de 2 entrenœuds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Équations et animation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Arbre de décision</a:t>
                      </a:r>
                      <a:endParaRPr lang="en-US" dirty="0"/>
                    </a:p>
                    <a:p>
                      <a:r>
                        <a:rPr lang="fr-FR" dirty="0"/>
                        <a:t>1 slide</a:t>
                      </a:r>
                      <a:endParaRPr lang="en-US" dirty="0"/>
                    </a:p>
                  </a:txBody>
                  <a:tcPr/>
                </a:tc>
                <a:tc>
                  <a:txBody>
                    <a:bodyPr/>
                    <a:lstStyle/>
                    <a:p>
                      <a:r>
                        <a:rPr lang="fr-FR" dirty="0"/>
                        <a:t>1j</a:t>
                      </a:r>
                      <a:endParaRPr lang="en-US" dirty="0"/>
                    </a:p>
                  </a:txBody>
                  <a:tcPr/>
                </a:tc>
                <a:tc>
                  <a:txBody>
                    <a:bodyPr/>
                    <a:lstStyle/>
                    <a:p>
                      <a:r>
                        <a:rPr lang="fr-FR" dirty="0"/>
                        <a:t>Mercredi 17/7 soir</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Christophe</a:t>
                      </a:r>
                      <a:endParaRPr lang="en-US" dirty="0"/>
                    </a:p>
                    <a:p>
                      <a:endParaRPr lang="en-US" dirty="0"/>
                    </a:p>
                  </a:txBody>
                  <a:tcPr/>
                </a:tc>
                <a:extLst>
                  <a:ext uri="{0D108BD9-81ED-4DB2-BD59-A6C34878D82A}">
                    <a16:rowId xmlns:a16="http://schemas.microsoft.com/office/drawing/2014/main" val="200757048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Modèle de croissance de n entrenœuds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Équations et animation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Arbre de décision</a:t>
                      </a:r>
                      <a:endParaRPr lang="en-US" dirty="0"/>
                    </a:p>
                    <a:p>
                      <a:r>
                        <a:rPr lang="fr-FR" dirty="0"/>
                        <a:t>1 slide</a:t>
                      </a:r>
                      <a:endParaRPr lang="en-US" dirty="0"/>
                    </a:p>
                  </a:txBody>
                  <a:tcPr/>
                </a:tc>
                <a:tc>
                  <a:txBody>
                    <a:bodyPr/>
                    <a:lstStyle/>
                    <a:p>
                      <a:r>
                        <a:rPr lang="fr-FR" dirty="0"/>
                        <a:t>1j</a:t>
                      </a:r>
                      <a:endParaRPr lang="en-US" dirty="0"/>
                    </a:p>
                  </a:txBody>
                  <a:tcPr/>
                </a:tc>
                <a:tc>
                  <a:txBody>
                    <a:bodyPr/>
                    <a:lstStyle/>
                    <a:p>
                      <a:r>
                        <a:rPr lang="fr-FR" dirty="0"/>
                        <a:t>Jeudi 18/7 soir</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Christophe</a:t>
                      </a:r>
                      <a:endParaRPr lang="en-US" dirty="0"/>
                    </a:p>
                    <a:p>
                      <a:endParaRPr lang="en-US" dirty="0"/>
                    </a:p>
                  </a:txBody>
                  <a:tcPr/>
                </a:tc>
                <a:extLst>
                  <a:ext uri="{0D108BD9-81ED-4DB2-BD59-A6C34878D82A}">
                    <a16:rowId xmlns:a16="http://schemas.microsoft.com/office/drawing/2014/main" val="3284706646"/>
                  </a:ext>
                </a:extLst>
              </a:tr>
              <a:tr h="370840">
                <a:tc>
                  <a:txBody>
                    <a:bodyPr/>
                    <a:lstStyle/>
                    <a:p>
                      <a:r>
                        <a:rPr lang="fr-FR" dirty="0"/>
                        <a:t>Modèle de croissance d’une feuille</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Équations et animation</a:t>
                      </a:r>
                      <a:endParaRPr lang="en-US" dirty="0"/>
                    </a:p>
                    <a:p>
                      <a:r>
                        <a:rPr lang="fr-FR" dirty="0"/>
                        <a:t>1 slide</a:t>
                      </a:r>
                      <a:endParaRPr lang="en-US" dirty="0"/>
                    </a:p>
                  </a:txBody>
                  <a:tcPr/>
                </a:tc>
                <a:tc>
                  <a:txBody>
                    <a:bodyPr/>
                    <a:lstStyle/>
                    <a:p>
                      <a:r>
                        <a:rPr lang="fr-FR" dirty="0"/>
                        <a:t>2j</a:t>
                      </a:r>
                      <a:endParaRPr lang="en-US" dirty="0"/>
                    </a:p>
                  </a:txBody>
                  <a:tcPr/>
                </a:tc>
                <a:tc>
                  <a:txBody>
                    <a:bodyPr/>
                    <a:lstStyle/>
                    <a:p>
                      <a:r>
                        <a:rPr lang="fr-FR" dirty="0"/>
                        <a:t>Après les vacances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Christophe</a:t>
                      </a:r>
                      <a:endParaRPr lang="en-US" dirty="0"/>
                    </a:p>
                    <a:p>
                      <a:endParaRPr lang="en-US" dirty="0"/>
                    </a:p>
                  </a:txBody>
                  <a:tcPr/>
                </a:tc>
                <a:extLst>
                  <a:ext uri="{0D108BD9-81ED-4DB2-BD59-A6C34878D82A}">
                    <a16:rowId xmlns:a16="http://schemas.microsoft.com/office/drawing/2014/main" val="361234641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Modèle de croissance de 2 feuilles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Équations et animation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Arbre de décision</a:t>
                      </a:r>
                      <a:endParaRPr lang="en-US" dirty="0"/>
                    </a:p>
                    <a:p>
                      <a:r>
                        <a:rPr lang="fr-FR" dirty="0"/>
                        <a:t>1 slide</a:t>
                      </a:r>
                      <a:endParaRPr lang="en-US" dirty="0"/>
                    </a:p>
                  </a:txBody>
                  <a:tcPr/>
                </a:tc>
                <a:tc>
                  <a:txBody>
                    <a:bodyPr/>
                    <a:lstStyle/>
                    <a:p>
                      <a:r>
                        <a:rPr lang="fr-FR" dirty="0"/>
                        <a:t>2j</a:t>
                      </a:r>
                      <a:endParaRPr lang="en-US" dirty="0"/>
                    </a:p>
                  </a:txBody>
                  <a:tcPr/>
                </a:tc>
                <a:tc>
                  <a:txBody>
                    <a:bodyPr/>
                    <a:lstStyle/>
                    <a:p>
                      <a:r>
                        <a:rPr lang="fr-FR" dirty="0"/>
                        <a:t>Après les vacances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Christophe</a:t>
                      </a:r>
                      <a:endParaRPr lang="en-US" dirty="0"/>
                    </a:p>
                    <a:p>
                      <a:endParaRPr lang="en-US" dirty="0"/>
                    </a:p>
                  </a:txBody>
                  <a:tcPr/>
                </a:tc>
                <a:extLst>
                  <a:ext uri="{0D108BD9-81ED-4DB2-BD59-A6C34878D82A}">
                    <a16:rowId xmlns:a16="http://schemas.microsoft.com/office/drawing/2014/main" val="17551783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Raconter une histoire sur une plante entière (assemblage)</a:t>
                      </a:r>
                      <a:endParaRPr lang="en-US" dirty="0"/>
                    </a:p>
                  </a:txBody>
                  <a:tcPr/>
                </a:tc>
                <a:tc>
                  <a:txBody>
                    <a:bodyPr/>
                    <a:lstStyle/>
                    <a:p>
                      <a:r>
                        <a:rPr lang="fr-FR" dirty="0"/>
                        <a:t>1 slide</a:t>
                      </a:r>
                    </a:p>
                    <a:p>
                      <a:r>
                        <a:rPr lang="fr-FR" dirty="0"/>
                        <a:t>Animation</a:t>
                      </a:r>
                      <a:endParaRPr lang="en-US" dirty="0"/>
                    </a:p>
                  </a:txBody>
                  <a:tcPr/>
                </a:tc>
                <a:tc>
                  <a:txBody>
                    <a:bodyPr/>
                    <a:lstStyle/>
                    <a:p>
                      <a:r>
                        <a:rPr lang="fr-FR" dirty="0"/>
                        <a:t>1j</a:t>
                      </a:r>
                      <a:endParaRPr lang="en-US" dirty="0"/>
                    </a:p>
                  </a:txBody>
                  <a:tcPr/>
                </a:tc>
                <a:tc>
                  <a:txBody>
                    <a:bodyPr/>
                    <a:lstStyle/>
                    <a:p>
                      <a:r>
                        <a:rPr lang="fr-FR" dirty="0"/>
                        <a:t>Après les vacances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Christophe</a:t>
                      </a:r>
                      <a:endParaRPr lang="en-US" dirty="0"/>
                    </a:p>
                    <a:p>
                      <a:endParaRPr lang="en-US" dirty="0"/>
                    </a:p>
                  </a:txBody>
                  <a:tcPr/>
                </a:tc>
                <a:extLst>
                  <a:ext uri="{0D108BD9-81ED-4DB2-BD59-A6C34878D82A}">
                    <a16:rowId xmlns:a16="http://schemas.microsoft.com/office/drawing/2014/main" val="389220853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Modèle de croissance de n feuilles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Équations et animation</a:t>
                      </a:r>
                    </a:p>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Arbre de décision</a:t>
                      </a:r>
                      <a:endParaRPr lang="en-US" dirty="0"/>
                    </a:p>
                    <a:p>
                      <a:r>
                        <a:rPr lang="fr-FR" dirty="0"/>
                        <a:t>1 slide</a:t>
                      </a:r>
                      <a:endParaRPr lang="en-US" dirty="0"/>
                    </a:p>
                  </a:txBody>
                  <a:tcPr/>
                </a:tc>
                <a:tc>
                  <a:txBody>
                    <a:bodyPr/>
                    <a:lstStyle/>
                    <a:p>
                      <a:r>
                        <a:rPr lang="fr-FR" dirty="0"/>
                        <a:t>2j</a:t>
                      </a:r>
                      <a:endParaRPr lang="en-US" dirty="0"/>
                    </a:p>
                  </a:txBody>
                  <a:tcPr/>
                </a:tc>
                <a:tc>
                  <a:txBody>
                    <a:bodyPr/>
                    <a:lstStyle/>
                    <a:p>
                      <a:r>
                        <a:rPr lang="fr-FR" dirty="0"/>
                        <a:t>Après les vacances</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Christophe</a:t>
                      </a:r>
                      <a:endParaRPr lang="en-US" dirty="0"/>
                    </a:p>
                    <a:p>
                      <a:endParaRPr lang="en-US" dirty="0"/>
                    </a:p>
                  </a:txBody>
                  <a:tcPr/>
                </a:tc>
                <a:extLst>
                  <a:ext uri="{0D108BD9-81ED-4DB2-BD59-A6C34878D82A}">
                    <a16:rowId xmlns:a16="http://schemas.microsoft.com/office/drawing/2014/main" val="410258966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TOTAL</a:t>
                      </a:r>
                      <a:endParaRPr lang="en-US" b="1" dirty="0"/>
                    </a:p>
                  </a:txBody>
                  <a:tcPr/>
                </a:tc>
                <a:tc>
                  <a:txBody>
                    <a:bodyPr/>
                    <a:lstStyle/>
                    <a:p>
                      <a:endParaRPr lang="en-US" b="1" dirty="0"/>
                    </a:p>
                  </a:txBody>
                  <a:tcPr/>
                </a:tc>
                <a:tc>
                  <a:txBody>
                    <a:bodyPr/>
                    <a:lstStyle/>
                    <a:p>
                      <a:r>
                        <a:rPr lang="fr-FR" b="1" dirty="0"/>
                        <a:t>11j</a:t>
                      </a:r>
                      <a:endParaRPr lang="en-US" b="1" dirty="0"/>
                    </a:p>
                  </a:txBody>
                  <a:tcPr/>
                </a:tc>
                <a:tc>
                  <a:txBody>
                    <a:bodyPr/>
                    <a:lstStyle/>
                    <a:p>
                      <a:endParaRPr lang="en-US" b="1" dirty="0"/>
                    </a:p>
                  </a:txBody>
                  <a:tcPr/>
                </a:tc>
                <a:tc>
                  <a:txBody>
                    <a:bodyPr/>
                    <a:lstStyle/>
                    <a:p>
                      <a:endParaRPr lang="en-US" b="1" dirty="0"/>
                    </a:p>
                  </a:txBody>
                  <a:tcPr/>
                </a:tc>
                <a:extLst>
                  <a:ext uri="{0D108BD9-81ED-4DB2-BD59-A6C34878D82A}">
                    <a16:rowId xmlns:a16="http://schemas.microsoft.com/office/drawing/2014/main" val="1338776387"/>
                  </a:ext>
                </a:extLst>
              </a:tr>
            </a:tbl>
          </a:graphicData>
        </a:graphic>
      </p:graphicFrame>
    </p:spTree>
    <p:extLst>
      <p:ext uri="{BB962C8B-B14F-4D97-AF65-F5344CB8AC3E}">
        <p14:creationId xmlns:p14="http://schemas.microsoft.com/office/powerpoint/2010/main" val="810325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BA049-4EE0-42A6-B36E-413AEEB6FCC4}"/>
              </a:ext>
            </a:extLst>
          </p:cNvPr>
          <p:cNvSpPr>
            <a:spLocks noGrp="1"/>
          </p:cNvSpPr>
          <p:nvPr>
            <p:ph type="title"/>
          </p:nvPr>
        </p:nvSpPr>
        <p:spPr/>
        <p:txBody>
          <a:bodyPr>
            <a:normAutofit/>
          </a:bodyPr>
          <a:lstStyle/>
          <a:p>
            <a:r>
              <a:rPr lang="fr-FR" dirty="0"/>
              <a:t>Gestion de la ramification</a:t>
            </a:r>
            <a:endParaRPr lang="en-US" dirty="0"/>
          </a:p>
        </p:txBody>
      </p:sp>
      <p:graphicFrame>
        <p:nvGraphicFramePr>
          <p:cNvPr id="4" name="Content Placeholder 3">
            <a:extLst>
              <a:ext uri="{FF2B5EF4-FFF2-40B4-BE49-F238E27FC236}">
                <a16:creationId xmlns:a16="http://schemas.microsoft.com/office/drawing/2014/main" id="{E2DF686C-B4E2-46FE-87A4-5F5E8D6AB3B8}"/>
              </a:ext>
            </a:extLst>
          </p:cNvPr>
          <p:cNvGraphicFramePr>
            <a:graphicFrameLocks noGrp="1"/>
          </p:cNvGraphicFramePr>
          <p:nvPr>
            <p:ph idx="1"/>
            <p:extLst>
              <p:ext uri="{D42A27DB-BD31-4B8C-83A1-F6EECF244321}">
                <p14:modId xmlns:p14="http://schemas.microsoft.com/office/powerpoint/2010/main" val="2398175501"/>
              </p:ext>
            </p:extLst>
          </p:nvPr>
        </p:nvGraphicFramePr>
        <p:xfrm>
          <a:off x="838200" y="1825625"/>
          <a:ext cx="10515600" cy="39370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258169204"/>
                    </a:ext>
                  </a:extLst>
                </a:gridCol>
                <a:gridCol w="2103120">
                  <a:extLst>
                    <a:ext uri="{9D8B030D-6E8A-4147-A177-3AD203B41FA5}">
                      <a16:colId xmlns:a16="http://schemas.microsoft.com/office/drawing/2014/main" val="837178054"/>
                    </a:ext>
                  </a:extLst>
                </a:gridCol>
                <a:gridCol w="2103120">
                  <a:extLst>
                    <a:ext uri="{9D8B030D-6E8A-4147-A177-3AD203B41FA5}">
                      <a16:colId xmlns:a16="http://schemas.microsoft.com/office/drawing/2014/main" val="1072837223"/>
                    </a:ext>
                  </a:extLst>
                </a:gridCol>
                <a:gridCol w="2103120">
                  <a:extLst>
                    <a:ext uri="{9D8B030D-6E8A-4147-A177-3AD203B41FA5}">
                      <a16:colId xmlns:a16="http://schemas.microsoft.com/office/drawing/2014/main" val="2895919820"/>
                    </a:ext>
                  </a:extLst>
                </a:gridCol>
                <a:gridCol w="2103120">
                  <a:extLst>
                    <a:ext uri="{9D8B030D-6E8A-4147-A177-3AD203B41FA5}">
                      <a16:colId xmlns:a16="http://schemas.microsoft.com/office/drawing/2014/main" val="67778795"/>
                    </a:ext>
                  </a:extLst>
                </a:gridCol>
              </a:tblGrid>
              <a:tr h="370840">
                <a:tc>
                  <a:txBody>
                    <a:bodyPr/>
                    <a:lstStyle/>
                    <a:p>
                      <a:r>
                        <a:rPr lang="fr-FR" dirty="0"/>
                        <a:t>Tâche</a:t>
                      </a:r>
                      <a:endParaRPr lang="en-US" dirty="0"/>
                    </a:p>
                  </a:txBody>
                  <a:tcPr/>
                </a:tc>
                <a:tc>
                  <a:txBody>
                    <a:bodyPr/>
                    <a:lstStyle/>
                    <a:p>
                      <a:r>
                        <a:rPr lang="fr-FR" dirty="0"/>
                        <a:t>Rendu / Résultat</a:t>
                      </a:r>
                      <a:endParaRPr lang="en-US" dirty="0"/>
                    </a:p>
                  </a:txBody>
                  <a:tcPr/>
                </a:tc>
                <a:tc>
                  <a:txBody>
                    <a:bodyPr/>
                    <a:lstStyle/>
                    <a:p>
                      <a:r>
                        <a:rPr lang="fr-FR" dirty="0"/>
                        <a:t>Temps</a:t>
                      </a:r>
                      <a:endParaRPr lang="en-US" dirty="0"/>
                    </a:p>
                  </a:txBody>
                  <a:tcPr/>
                </a:tc>
                <a:tc>
                  <a:txBody>
                    <a:bodyPr/>
                    <a:lstStyle/>
                    <a:p>
                      <a:r>
                        <a:rPr lang="fr-FR" dirty="0"/>
                        <a:t>échéance</a:t>
                      </a:r>
                      <a:endParaRPr lang="en-US" dirty="0"/>
                    </a:p>
                  </a:txBody>
                  <a:tcPr/>
                </a:tc>
                <a:tc>
                  <a:txBody>
                    <a:bodyPr/>
                    <a:lstStyle/>
                    <a:p>
                      <a:r>
                        <a:rPr lang="fr-FR" dirty="0"/>
                        <a:t>Personnes ressources</a:t>
                      </a:r>
                      <a:endParaRPr lang="en-US" dirty="0"/>
                    </a:p>
                  </a:txBody>
                  <a:tcPr/>
                </a:tc>
                <a:extLst>
                  <a:ext uri="{0D108BD9-81ED-4DB2-BD59-A6C34878D82A}">
                    <a16:rowId xmlns:a16="http://schemas.microsoft.com/office/drawing/2014/main" val="665057055"/>
                  </a:ext>
                </a:extLst>
              </a:tr>
              <a:tr h="370840">
                <a:tc>
                  <a:txBody>
                    <a:bodyPr/>
                    <a:lstStyle/>
                    <a:p>
                      <a:r>
                        <a:rPr lang="fr-FR" dirty="0"/>
                        <a:t>Définir les paramètres concernés par la ramification (+ temporalité et topologie)</a:t>
                      </a:r>
                      <a:endParaRPr lang="en-US" dirty="0"/>
                    </a:p>
                  </a:txBody>
                  <a:tcPr/>
                </a:tc>
                <a:tc>
                  <a:txBody>
                    <a:bodyPr/>
                    <a:lstStyle/>
                    <a:p>
                      <a:r>
                        <a:rPr lang="fr-FR" dirty="0"/>
                        <a:t>Tableau de paramètres (nom, unité, </a:t>
                      </a:r>
                      <a:r>
                        <a:rPr lang="fr-FR" dirty="0" err="1"/>
                        <a:t>etc</a:t>
                      </a:r>
                      <a:r>
                        <a:rPr lang="fr-FR" dirty="0"/>
                        <a:t>)</a:t>
                      </a:r>
                      <a:endParaRPr lang="en-US" dirty="0"/>
                    </a:p>
                  </a:txBody>
                  <a:tcPr/>
                </a:tc>
                <a:tc>
                  <a:txBody>
                    <a:bodyPr/>
                    <a:lstStyle/>
                    <a:p>
                      <a:r>
                        <a:rPr lang="fr-FR" dirty="0"/>
                        <a:t>1/2j</a:t>
                      </a:r>
                      <a:endParaRPr lang="en-US" dirty="0"/>
                    </a:p>
                  </a:txBody>
                  <a:tcPr/>
                </a:tc>
                <a:tc>
                  <a:txBody>
                    <a:bodyPr/>
                    <a:lstStyle/>
                    <a:p>
                      <a:r>
                        <a:rPr lang="fr-FR" dirty="0"/>
                        <a:t>Après les vacances</a:t>
                      </a:r>
                      <a:endParaRPr lang="en-US" dirty="0"/>
                    </a:p>
                  </a:txBody>
                  <a:tcPr/>
                </a:tc>
                <a:tc>
                  <a:txBody>
                    <a:bodyPr/>
                    <a:lstStyle/>
                    <a:p>
                      <a:endParaRPr lang="en-US" dirty="0"/>
                    </a:p>
                  </a:txBody>
                  <a:tcPr/>
                </a:tc>
                <a:extLst>
                  <a:ext uri="{0D108BD9-81ED-4DB2-BD59-A6C34878D82A}">
                    <a16:rowId xmlns:a16="http://schemas.microsoft.com/office/drawing/2014/main" val="2624637996"/>
                  </a:ext>
                </a:extLst>
              </a:tr>
              <a:tr h="370840">
                <a:tc>
                  <a:txBody>
                    <a:bodyPr/>
                    <a:lstStyle/>
                    <a:p>
                      <a:r>
                        <a:rPr lang="fr-FR" dirty="0"/>
                        <a:t>Rajouter des axes dans un MTG, prenant en compte les paramètres</a:t>
                      </a:r>
                      <a:endParaRPr lang="en-US" dirty="0"/>
                    </a:p>
                  </a:txBody>
                  <a:tcPr/>
                </a:tc>
                <a:tc>
                  <a:txBody>
                    <a:bodyPr/>
                    <a:lstStyle/>
                    <a:p>
                      <a:r>
                        <a:rPr lang="fr-FR" dirty="0"/>
                        <a:t>1 slide</a:t>
                      </a:r>
                    </a:p>
                    <a:p>
                      <a:r>
                        <a:rPr lang="fr-FR" dirty="0"/>
                        <a:t>Image + lignes de code</a:t>
                      </a:r>
                      <a:endParaRPr lang="en-US" dirty="0"/>
                    </a:p>
                  </a:txBody>
                  <a:tcPr/>
                </a:tc>
                <a:tc>
                  <a:txBody>
                    <a:bodyPr/>
                    <a:lstStyle/>
                    <a:p>
                      <a:r>
                        <a:rPr lang="fr-FR" dirty="0"/>
                        <a:t>1j</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Après les vacances</a:t>
                      </a:r>
                      <a:endParaRPr lang="en-US" dirty="0"/>
                    </a:p>
                  </a:txBody>
                  <a:tcPr/>
                </a:tc>
                <a:tc>
                  <a:txBody>
                    <a:bodyPr/>
                    <a:lstStyle/>
                    <a:p>
                      <a:r>
                        <a:rPr lang="fr-FR" dirty="0"/>
                        <a:t>Christophe</a:t>
                      </a:r>
                    </a:p>
                    <a:p>
                      <a:r>
                        <a:rPr lang="fr-FR" dirty="0"/>
                        <a:t>Thomas</a:t>
                      </a:r>
                      <a:endParaRPr lang="en-US" dirty="0"/>
                    </a:p>
                  </a:txBody>
                  <a:tcPr/>
                </a:tc>
                <a:extLst>
                  <a:ext uri="{0D108BD9-81ED-4DB2-BD59-A6C34878D82A}">
                    <a16:rowId xmlns:a16="http://schemas.microsoft.com/office/drawing/2014/main" val="3058579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TOTAL</a:t>
                      </a:r>
                      <a:endParaRPr lang="en-US" b="1" dirty="0"/>
                    </a:p>
                  </a:txBody>
                  <a:tcPr/>
                </a:tc>
                <a:tc>
                  <a:txBody>
                    <a:bodyPr/>
                    <a:lstStyle/>
                    <a:p>
                      <a:endParaRPr lang="en-US" b="1" dirty="0"/>
                    </a:p>
                  </a:txBody>
                  <a:tcPr/>
                </a:tc>
                <a:tc>
                  <a:txBody>
                    <a:bodyPr/>
                    <a:lstStyle/>
                    <a:p>
                      <a:r>
                        <a:rPr lang="fr-FR" b="1" dirty="0"/>
                        <a:t>2j</a:t>
                      </a:r>
                      <a:endParaRPr lang="en-US" b="1" dirty="0"/>
                    </a:p>
                  </a:txBody>
                  <a:tcPr/>
                </a:tc>
                <a:tc>
                  <a:txBody>
                    <a:bodyPr/>
                    <a:lstStyle/>
                    <a:p>
                      <a:endParaRPr lang="en-US" b="1" dirty="0"/>
                    </a:p>
                  </a:txBody>
                  <a:tcPr/>
                </a:tc>
                <a:tc>
                  <a:txBody>
                    <a:bodyPr/>
                    <a:lstStyle/>
                    <a:p>
                      <a:endParaRPr lang="en-US" b="1" dirty="0"/>
                    </a:p>
                  </a:txBody>
                  <a:tcPr/>
                </a:tc>
                <a:extLst>
                  <a:ext uri="{0D108BD9-81ED-4DB2-BD59-A6C34878D82A}">
                    <a16:rowId xmlns:a16="http://schemas.microsoft.com/office/drawing/2014/main" val="1079848599"/>
                  </a:ext>
                </a:extLst>
              </a:tr>
            </a:tbl>
          </a:graphicData>
        </a:graphic>
      </p:graphicFrame>
    </p:spTree>
    <p:extLst>
      <p:ext uri="{BB962C8B-B14F-4D97-AF65-F5344CB8AC3E}">
        <p14:creationId xmlns:p14="http://schemas.microsoft.com/office/powerpoint/2010/main" val="29105757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BA049-4EE0-42A6-B36E-413AEEB6FCC4}"/>
              </a:ext>
            </a:extLst>
          </p:cNvPr>
          <p:cNvSpPr>
            <a:spLocks noGrp="1"/>
          </p:cNvSpPr>
          <p:nvPr>
            <p:ph type="title"/>
          </p:nvPr>
        </p:nvSpPr>
        <p:spPr/>
        <p:txBody>
          <a:bodyPr>
            <a:normAutofit/>
          </a:bodyPr>
          <a:lstStyle/>
          <a:p>
            <a:r>
              <a:rPr lang="fr-FR" dirty="0"/>
              <a:t>Gestion de la sénescence</a:t>
            </a:r>
            <a:endParaRPr lang="en-US" dirty="0"/>
          </a:p>
        </p:txBody>
      </p:sp>
      <p:graphicFrame>
        <p:nvGraphicFramePr>
          <p:cNvPr id="4" name="Content Placeholder 3">
            <a:extLst>
              <a:ext uri="{FF2B5EF4-FFF2-40B4-BE49-F238E27FC236}">
                <a16:creationId xmlns:a16="http://schemas.microsoft.com/office/drawing/2014/main" id="{E2DF686C-B4E2-46FE-87A4-5F5E8D6AB3B8}"/>
              </a:ext>
            </a:extLst>
          </p:cNvPr>
          <p:cNvGraphicFramePr>
            <a:graphicFrameLocks noGrp="1"/>
          </p:cNvGraphicFramePr>
          <p:nvPr>
            <p:ph idx="1"/>
            <p:extLst>
              <p:ext uri="{D42A27DB-BD31-4B8C-83A1-F6EECF244321}">
                <p14:modId xmlns:p14="http://schemas.microsoft.com/office/powerpoint/2010/main" val="226588925"/>
              </p:ext>
            </p:extLst>
          </p:nvPr>
        </p:nvGraphicFramePr>
        <p:xfrm>
          <a:off x="838200" y="1825625"/>
          <a:ext cx="10515600" cy="512572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258169204"/>
                    </a:ext>
                  </a:extLst>
                </a:gridCol>
                <a:gridCol w="2103120">
                  <a:extLst>
                    <a:ext uri="{9D8B030D-6E8A-4147-A177-3AD203B41FA5}">
                      <a16:colId xmlns:a16="http://schemas.microsoft.com/office/drawing/2014/main" val="837178054"/>
                    </a:ext>
                  </a:extLst>
                </a:gridCol>
                <a:gridCol w="2103120">
                  <a:extLst>
                    <a:ext uri="{9D8B030D-6E8A-4147-A177-3AD203B41FA5}">
                      <a16:colId xmlns:a16="http://schemas.microsoft.com/office/drawing/2014/main" val="1072837223"/>
                    </a:ext>
                  </a:extLst>
                </a:gridCol>
                <a:gridCol w="2103120">
                  <a:extLst>
                    <a:ext uri="{9D8B030D-6E8A-4147-A177-3AD203B41FA5}">
                      <a16:colId xmlns:a16="http://schemas.microsoft.com/office/drawing/2014/main" val="2895919820"/>
                    </a:ext>
                  </a:extLst>
                </a:gridCol>
                <a:gridCol w="2103120">
                  <a:extLst>
                    <a:ext uri="{9D8B030D-6E8A-4147-A177-3AD203B41FA5}">
                      <a16:colId xmlns:a16="http://schemas.microsoft.com/office/drawing/2014/main" val="67778795"/>
                    </a:ext>
                  </a:extLst>
                </a:gridCol>
              </a:tblGrid>
              <a:tr h="370840">
                <a:tc>
                  <a:txBody>
                    <a:bodyPr/>
                    <a:lstStyle/>
                    <a:p>
                      <a:r>
                        <a:rPr lang="fr-FR" dirty="0"/>
                        <a:t>Tâche</a:t>
                      </a:r>
                      <a:endParaRPr lang="en-US" dirty="0"/>
                    </a:p>
                  </a:txBody>
                  <a:tcPr/>
                </a:tc>
                <a:tc>
                  <a:txBody>
                    <a:bodyPr/>
                    <a:lstStyle/>
                    <a:p>
                      <a:r>
                        <a:rPr lang="fr-FR" dirty="0"/>
                        <a:t>Rendu / Résultat</a:t>
                      </a:r>
                      <a:endParaRPr lang="en-US" dirty="0"/>
                    </a:p>
                  </a:txBody>
                  <a:tcPr/>
                </a:tc>
                <a:tc>
                  <a:txBody>
                    <a:bodyPr/>
                    <a:lstStyle/>
                    <a:p>
                      <a:r>
                        <a:rPr lang="fr-FR" dirty="0"/>
                        <a:t>Temps</a:t>
                      </a:r>
                      <a:endParaRPr lang="en-US" dirty="0"/>
                    </a:p>
                  </a:txBody>
                  <a:tcPr/>
                </a:tc>
                <a:tc>
                  <a:txBody>
                    <a:bodyPr/>
                    <a:lstStyle/>
                    <a:p>
                      <a:r>
                        <a:rPr lang="fr-FR" dirty="0"/>
                        <a:t>échéance</a:t>
                      </a:r>
                      <a:endParaRPr lang="en-US" dirty="0"/>
                    </a:p>
                  </a:txBody>
                  <a:tcPr/>
                </a:tc>
                <a:tc>
                  <a:txBody>
                    <a:bodyPr/>
                    <a:lstStyle/>
                    <a:p>
                      <a:r>
                        <a:rPr lang="fr-FR" dirty="0"/>
                        <a:t>Personnes ressources</a:t>
                      </a:r>
                      <a:endParaRPr lang="en-US" dirty="0"/>
                    </a:p>
                  </a:txBody>
                  <a:tcPr/>
                </a:tc>
                <a:extLst>
                  <a:ext uri="{0D108BD9-81ED-4DB2-BD59-A6C34878D82A}">
                    <a16:rowId xmlns:a16="http://schemas.microsoft.com/office/drawing/2014/main" val="665057055"/>
                  </a:ext>
                </a:extLst>
              </a:tr>
              <a:tr h="370840">
                <a:tc>
                  <a:txBody>
                    <a:bodyPr/>
                    <a:lstStyle/>
                    <a:p>
                      <a:r>
                        <a:rPr lang="fr-FR" dirty="0"/>
                        <a:t>Définir une stratégie de gestion de la sénescence (pour les feuilles, les éléments de feuilles, les ramifications ?)</a:t>
                      </a:r>
                      <a:endParaRPr lang="en-US" dirty="0"/>
                    </a:p>
                  </a:txBody>
                  <a:tcPr/>
                </a:tc>
                <a:tc>
                  <a:txBody>
                    <a:bodyPr/>
                    <a:lstStyle/>
                    <a:p>
                      <a:r>
                        <a:rPr lang="fr-FR" dirty="0"/>
                        <a:t>1 slide</a:t>
                      </a:r>
                      <a:endParaRPr lang="en-US" dirty="0"/>
                    </a:p>
                  </a:txBody>
                  <a:tcPr/>
                </a:tc>
                <a:tc>
                  <a:txBody>
                    <a:bodyPr/>
                    <a:lstStyle/>
                    <a:p>
                      <a:r>
                        <a:rPr lang="fr-FR" dirty="0"/>
                        <a:t>2j</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Après les vacances</a:t>
                      </a:r>
                      <a:endParaRPr lang="en-US" dirty="0"/>
                    </a:p>
                  </a:txBody>
                  <a:tcPr/>
                </a:tc>
                <a:tc>
                  <a:txBody>
                    <a:bodyPr/>
                    <a:lstStyle/>
                    <a:p>
                      <a:r>
                        <a:rPr lang="fr-FR" dirty="0"/>
                        <a:t>Rémi</a:t>
                      </a:r>
                    </a:p>
                    <a:p>
                      <a:r>
                        <a:rPr lang="fr-FR" dirty="0"/>
                        <a:t>Christophe</a:t>
                      </a:r>
                      <a:endParaRPr lang="en-US" dirty="0"/>
                    </a:p>
                  </a:txBody>
                  <a:tcPr/>
                </a:tc>
                <a:extLst>
                  <a:ext uri="{0D108BD9-81ED-4DB2-BD59-A6C34878D82A}">
                    <a16:rowId xmlns:a16="http://schemas.microsoft.com/office/drawing/2014/main" val="2832622149"/>
                  </a:ext>
                </a:extLst>
              </a:tr>
              <a:tr h="370840">
                <a:tc>
                  <a:txBody>
                    <a:bodyPr/>
                    <a:lstStyle/>
                    <a:p>
                      <a:r>
                        <a:rPr lang="fr-FR" dirty="0"/>
                        <a:t>Définir les paramètres concernés par la sénescence (+ temporalité et topologie)</a:t>
                      </a:r>
                      <a:endParaRPr lang="en-US" dirty="0"/>
                    </a:p>
                  </a:txBody>
                  <a:tcPr/>
                </a:tc>
                <a:tc>
                  <a:txBody>
                    <a:bodyPr/>
                    <a:lstStyle/>
                    <a:p>
                      <a:r>
                        <a:rPr lang="fr-FR" dirty="0"/>
                        <a:t>Tableau de paramètres (nom, unité, </a:t>
                      </a:r>
                      <a:r>
                        <a:rPr lang="fr-FR" dirty="0" err="1"/>
                        <a:t>etc</a:t>
                      </a:r>
                      <a:r>
                        <a:rPr lang="fr-FR" dirty="0"/>
                        <a:t>)</a:t>
                      </a:r>
                      <a:endParaRPr lang="en-US" dirty="0"/>
                    </a:p>
                  </a:txBody>
                  <a:tcPr/>
                </a:tc>
                <a:tc>
                  <a:txBody>
                    <a:bodyPr/>
                    <a:lstStyle/>
                    <a:p>
                      <a:r>
                        <a:rPr lang="fr-FR" dirty="0"/>
                        <a:t>1/2j</a:t>
                      </a:r>
                      <a:endParaRPr lang="en-US" dirty="0"/>
                    </a:p>
                  </a:txBody>
                  <a:tcPr/>
                </a:tc>
                <a:tc>
                  <a:txBody>
                    <a:bodyPr/>
                    <a:lstStyle/>
                    <a:p>
                      <a:r>
                        <a:rPr lang="fr-FR" dirty="0"/>
                        <a:t>Après les vacances</a:t>
                      </a:r>
                      <a:endParaRPr lang="en-US" dirty="0"/>
                    </a:p>
                  </a:txBody>
                  <a:tcPr/>
                </a:tc>
                <a:tc>
                  <a:txBody>
                    <a:bodyPr/>
                    <a:lstStyle/>
                    <a:p>
                      <a:endParaRPr lang="en-US" dirty="0"/>
                    </a:p>
                  </a:txBody>
                  <a:tcPr/>
                </a:tc>
                <a:extLst>
                  <a:ext uri="{0D108BD9-81ED-4DB2-BD59-A6C34878D82A}">
                    <a16:rowId xmlns:a16="http://schemas.microsoft.com/office/drawing/2014/main" val="2624637996"/>
                  </a:ext>
                </a:extLst>
              </a:tr>
              <a:tr h="370840">
                <a:tc>
                  <a:txBody>
                    <a:bodyPr/>
                    <a:lstStyle/>
                    <a:p>
                      <a:r>
                        <a:rPr lang="fr-FR" dirty="0"/>
                        <a:t>Implémenter la sénescence</a:t>
                      </a:r>
                      <a:endParaRPr lang="en-US" dirty="0"/>
                    </a:p>
                  </a:txBody>
                  <a:tcPr/>
                </a:tc>
                <a:tc>
                  <a:txBody>
                    <a:bodyPr/>
                    <a:lstStyle/>
                    <a:p>
                      <a:r>
                        <a:rPr lang="fr-FR" dirty="0"/>
                        <a:t>Animation + lignes de code</a:t>
                      </a:r>
                      <a:endParaRPr lang="en-US" dirty="0"/>
                    </a:p>
                  </a:txBody>
                  <a:tcPr/>
                </a:tc>
                <a:tc>
                  <a:txBody>
                    <a:bodyPr/>
                    <a:lstStyle/>
                    <a:p>
                      <a:r>
                        <a:rPr lang="fr-FR" dirty="0"/>
                        <a:t>1j</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Après les vacances</a:t>
                      </a:r>
                      <a:endParaRPr lang="en-US" dirty="0"/>
                    </a:p>
                  </a:txBody>
                  <a:tcPr/>
                </a:tc>
                <a:tc>
                  <a:txBody>
                    <a:bodyPr/>
                    <a:lstStyle/>
                    <a:p>
                      <a:r>
                        <a:rPr lang="fr-FR" dirty="0"/>
                        <a:t>Christophe</a:t>
                      </a:r>
                    </a:p>
                    <a:p>
                      <a:r>
                        <a:rPr lang="fr-FR" dirty="0"/>
                        <a:t>Thomas</a:t>
                      </a:r>
                      <a:endParaRPr lang="en-US" dirty="0"/>
                    </a:p>
                  </a:txBody>
                  <a:tcPr/>
                </a:tc>
                <a:extLst>
                  <a:ext uri="{0D108BD9-81ED-4DB2-BD59-A6C34878D82A}">
                    <a16:rowId xmlns:a16="http://schemas.microsoft.com/office/drawing/2014/main" val="3058579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TOTAL</a:t>
                      </a:r>
                      <a:endParaRPr lang="en-US" b="1" dirty="0"/>
                    </a:p>
                  </a:txBody>
                  <a:tcPr/>
                </a:tc>
                <a:tc>
                  <a:txBody>
                    <a:bodyPr/>
                    <a:lstStyle/>
                    <a:p>
                      <a:endParaRPr lang="en-US" b="1" dirty="0"/>
                    </a:p>
                  </a:txBody>
                  <a:tcPr/>
                </a:tc>
                <a:tc>
                  <a:txBody>
                    <a:bodyPr/>
                    <a:lstStyle/>
                    <a:p>
                      <a:r>
                        <a:rPr lang="fr-FR" b="1" dirty="0"/>
                        <a:t>4j</a:t>
                      </a:r>
                      <a:endParaRPr lang="en-US" b="1" dirty="0"/>
                    </a:p>
                  </a:txBody>
                  <a:tcPr/>
                </a:tc>
                <a:tc>
                  <a:txBody>
                    <a:bodyPr/>
                    <a:lstStyle/>
                    <a:p>
                      <a:endParaRPr lang="en-US" b="1" dirty="0"/>
                    </a:p>
                  </a:txBody>
                  <a:tcPr/>
                </a:tc>
                <a:tc>
                  <a:txBody>
                    <a:bodyPr/>
                    <a:lstStyle/>
                    <a:p>
                      <a:endParaRPr lang="en-US" b="1" dirty="0"/>
                    </a:p>
                  </a:txBody>
                  <a:tcPr/>
                </a:tc>
                <a:extLst>
                  <a:ext uri="{0D108BD9-81ED-4DB2-BD59-A6C34878D82A}">
                    <a16:rowId xmlns:a16="http://schemas.microsoft.com/office/drawing/2014/main" val="1079848599"/>
                  </a:ext>
                </a:extLst>
              </a:tr>
            </a:tbl>
          </a:graphicData>
        </a:graphic>
      </p:graphicFrame>
    </p:spTree>
    <p:extLst>
      <p:ext uri="{BB962C8B-B14F-4D97-AF65-F5344CB8AC3E}">
        <p14:creationId xmlns:p14="http://schemas.microsoft.com/office/powerpoint/2010/main" val="13140999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BA049-4EE0-42A6-B36E-413AEEB6FCC4}"/>
              </a:ext>
            </a:extLst>
          </p:cNvPr>
          <p:cNvSpPr>
            <a:spLocks noGrp="1"/>
          </p:cNvSpPr>
          <p:nvPr>
            <p:ph type="title"/>
          </p:nvPr>
        </p:nvSpPr>
        <p:spPr>
          <a:xfrm>
            <a:off x="838200" y="-2527"/>
            <a:ext cx="10515600" cy="1325563"/>
          </a:xfrm>
        </p:spPr>
        <p:txBody>
          <a:bodyPr>
            <a:normAutofit/>
          </a:bodyPr>
          <a:lstStyle/>
          <a:p>
            <a:r>
              <a:rPr lang="fr-FR" dirty="0"/>
              <a:t>Modifications pour le niébé</a:t>
            </a:r>
          </a:p>
        </p:txBody>
      </p:sp>
      <p:graphicFrame>
        <p:nvGraphicFramePr>
          <p:cNvPr id="4" name="Content Placeholder 3">
            <a:extLst>
              <a:ext uri="{FF2B5EF4-FFF2-40B4-BE49-F238E27FC236}">
                <a16:creationId xmlns:a16="http://schemas.microsoft.com/office/drawing/2014/main" id="{E2DF686C-B4E2-46FE-87A4-5F5E8D6AB3B8}"/>
              </a:ext>
            </a:extLst>
          </p:cNvPr>
          <p:cNvGraphicFramePr>
            <a:graphicFrameLocks noGrp="1"/>
          </p:cNvGraphicFramePr>
          <p:nvPr>
            <p:ph idx="1"/>
            <p:extLst>
              <p:ext uri="{D42A27DB-BD31-4B8C-83A1-F6EECF244321}">
                <p14:modId xmlns:p14="http://schemas.microsoft.com/office/powerpoint/2010/main" val="3756571192"/>
              </p:ext>
            </p:extLst>
          </p:nvPr>
        </p:nvGraphicFramePr>
        <p:xfrm>
          <a:off x="838200" y="1165745"/>
          <a:ext cx="10515600" cy="79603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258169204"/>
                    </a:ext>
                  </a:extLst>
                </a:gridCol>
                <a:gridCol w="2103120">
                  <a:extLst>
                    <a:ext uri="{9D8B030D-6E8A-4147-A177-3AD203B41FA5}">
                      <a16:colId xmlns:a16="http://schemas.microsoft.com/office/drawing/2014/main" val="837178054"/>
                    </a:ext>
                  </a:extLst>
                </a:gridCol>
                <a:gridCol w="2103120">
                  <a:extLst>
                    <a:ext uri="{9D8B030D-6E8A-4147-A177-3AD203B41FA5}">
                      <a16:colId xmlns:a16="http://schemas.microsoft.com/office/drawing/2014/main" val="1072837223"/>
                    </a:ext>
                  </a:extLst>
                </a:gridCol>
                <a:gridCol w="2103120">
                  <a:extLst>
                    <a:ext uri="{9D8B030D-6E8A-4147-A177-3AD203B41FA5}">
                      <a16:colId xmlns:a16="http://schemas.microsoft.com/office/drawing/2014/main" val="2895919820"/>
                    </a:ext>
                  </a:extLst>
                </a:gridCol>
                <a:gridCol w="2103120">
                  <a:extLst>
                    <a:ext uri="{9D8B030D-6E8A-4147-A177-3AD203B41FA5}">
                      <a16:colId xmlns:a16="http://schemas.microsoft.com/office/drawing/2014/main" val="67778795"/>
                    </a:ext>
                  </a:extLst>
                </a:gridCol>
              </a:tblGrid>
              <a:tr h="370840">
                <a:tc>
                  <a:txBody>
                    <a:bodyPr/>
                    <a:lstStyle/>
                    <a:p>
                      <a:r>
                        <a:rPr lang="fr-FR" dirty="0"/>
                        <a:t>Tâche</a:t>
                      </a:r>
                      <a:endParaRPr lang="en-US" dirty="0"/>
                    </a:p>
                  </a:txBody>
                  <a:tcPr/>
                </a:tc>
                <a:tc>
                  <a:txBody>
                    <a:bodyPr/>
                    <a:lstStyle/>
                    <a:p>
                      <a:r>
                        <a:rPr lang="fr-FR" dirty="0"/>
                        <a:t>Rendu / Résultat</a:t>
                      </a:r>
                      <a:endParaRPr lang="en-US" dirty="0"/>
                    </a:p>
                  </a:txBody>
                  <a:tcPr/>
                </a:tc>
                <a:tc>
                  <a:txBody>
                    <a:bodyPr/>
                    <a:lstStyle/>
                    <a:p>
                      <a:r>
                        <a:rPr lang="fr-FR" dirty="0"/>
                        <a:t>Temps</a:t>
                      </a:r>
                      <a:endParaRPr lang="en-US" dirty="0"/>
                    </a:p>
                  </a:txBody>
                  <a:tcPr/>
                </a:tc>
                <a:tc>
                  <a:txBody>
                    <a:bodyPr/>
                    <a:lstStyle/>
                    <a:p>
                      <a:r>
                        <a:rPr lang="fr-FR" dirty="0"/>
                        <a:t>échéance</a:t>
                      </a:r>
                      <a:endParaRPr lang="en-US" dirty="0"/>
                    </a:p>
                  </a:txBody>
                  <a:tcPr/>
                </a:tc>
                <a:tc>
                  <a:txBody>
                    <a:bodyPr/>
                    <a:lstStyle/>
                    <a:p>
                      <a:r>
                        <a:rPr lang="fr-FR" dirty="0"/>
                        <a:t>Personnes ressources</a:t>
                      </a:r>
                      <a:endParaRPr lang="en-US" dirty="0"/>
                    </a:p>
                  </a:txBody>
                  <a:tcPr/>
                </a:tc>
                <a:extLst>
                  <a:ext uri="{0D108BD9-81ED-4DB2-BD59-A6C34878D82A}">
                    <a16:rowId xmlns:a16="http://schemas.microsoft.com/office/drawing/2014/main" val="665057055"/>
                  </a:ext>
                </a:extLst>
              </a:tr>
              <a:tr h="370840">
                <a:tc>
                  <a:txBody>
                    <a:bodyPr/>
                    <a:lstStyle/>
                    <a:p>
                      <a:r>
                        <a:rPr lang="fr-FR" dirty="0"/>
                        <a:t>Trouver une manière de modéliser les feuilles de niébé (si possible similaire à celle pour les graminées)</a:t>
                      </a:r>
                      <a:endParaRPr lang="en-US" dirty="0"/>
                    </a:p>
                  </a:txBody>
                  <a:tcPr/>
                </a:tc>
                <a:tc>
                  <a:txBody>
                    <a:bodyPr/>
                    <a:lstStyle/>
                    <a:p>
                      <a:r>
                        <a:rPr lang="fr-FR" dirty="0"/>
                        <a:t>1 slide</a:t>
                      </a:r>
                    </a:p>
                    <a:p>
                      <a:r>
                        <a:rPr lang="fr-FR" dirty="0"/>
                        <a:t>Équations + paramètres</a:t>
                      </a:r>
                    </a:p>
                    <a:p>
                      <a:r>
                        <a:rPr lang="fr-FR" dirty="0"/>
                        <a:t>1 figure</a:t>
                      </a:r>
                      <a:endParaRPr lang="en-US" dirty="0"/>
                    </a:p>
                  </a:txBody>
                  <a:tcPr/>
                </a:tc>
                <a:tc>
                  <a:txBody>
                    <a:bodyPr/>
                    <a:lstStyle/>
                    <a:p>
                      <a:r>
                        <a:rPr lang="fr-FR" dirty="0"/>
                        <a:t>2j</a:t>
                      </a:r>
                      <a:endParaRPr lang="en-US" dirty="0"/>
                    </a:p>
                  </a:txBody>
                  <a:tcPr/>
                </a:tc>
                <a:tc>
                  <a:txBody>
                    <a:bodyPr/>
                    <a:lstStyle/>
                    <a:p>
                      <a:r>
                        <a:rPr lang="fr-FR" dirty="0"/>
                        <a:t>Après les vacances</a:t>
                      </a:r>
                      <a:endParaRPr lang="en-US" dirty="0"/>
                    </a:p>
                  </a:txBody>
                  <a:tcPr/>
                </a:tc>
                <a:tc>
                  <a:txBody>
                    <a:bodyPr/>
                    <a:lstStyle/>
                    <a:p>
                      <a:r>
                        <a:rPr lang="fr-FR" dirty="0"/>
                        <a:t>Christophe</a:t>
                      </a:r>
                    </a:p>
                    <a:p>
                      <a:r>
                        <a:rPr lang="fr-FR" dirty="0"/>
                        <a:t>Rémi</a:t>
                      </a:r>
                      <a:endParaRPr lang="en-US" dirty="0"/>
                    </a:p>
                  </a:txBody>
                  <a:tcPr/>
                </a:tc>
                <a:extLst>
                  <a:ext uri="{0D108BD9-81ED-4DB2-BD59-A6C34878D82A}">
                    <a16:rowId xmlns:a16="http://schemas.microsoft.com/office/drawing/2014/main" val="2624637996"/>
                  </a:ext>
                </a:extLst>
              </a:tr>
              <a:tr h="370840">
                <a:tc>
                  <a:txBody>
                    <a:bodyPr/>
                    <a:lstStyle/>
                    <a:p>
                      <a:r>
                        <a:rPr lang="fr-FR" dirty="0"/>
                        <a:t>Trouver une manière de modéliser des gousses de niébé (si possible similaire à celle pour les graminées)</a:t>
                      </a:r>
                      <a:endParaRPr lang="en-US" dirty="0"/>
                    </a:p>
                  </a:txBody>
                  <a:tcPr/>
                </a:tc>
                <a:tc>
                  <a:txBody>
                    <a:bodyPr/>
                    <a:lstStyle/>
                    <a:p>
                      <a:r>
                        <a:rPr lang="fr-FR" dirty="0"/>
                        <a:t>1 slide</a:t>
                      </a:r>
                    </a:p>
                    <a:p>
                      <a:r>
                        <a:rPr lang="fr-FR" dirty="0"/>
                        <a:t>Équations + paramètres</a:t>
                      </a:r>
                    </a:p>
                    <a:p>
                      <a:r>
                        <a:rPr lang="fr-FR" dirty="0"/>
                        <a:t>1 figure</a:t>
                      </a:r>
                      <a:endParaRPr lang="en-US" dirty="0"/>
                    </a:p>
                  </a:txBody>
                  <a:tcPr/>
                </a:tc>
                <a:tc>
                  <a:txBody>
                    <a:bodyPr/>
                    <a:lstStyle/>
                    <a:p>
                      <a:r>
                        <a:rPr lang="fr-FR" dirty="0"/>
                        <a:t>1j</a:t>
                      </a:r>
                      <a:endParaRPr lang="en-US" dirty="0"/>
                    </a:p>
                  </a:txBody>
                  <a:tcPr/>
                </a:tc>
                <a:tc>
                  <a:txBody>
                    <a:bodyPr/>
                    <a:lstStyle/>
                    <a:p>
                      <a:r>
                        <a:rPr lang="fr-FR" dirty="0"/>
                        <a:t>Après les vacances</a:t>
                      </a:r>
                      <a:endParaRPr lang="en-US" dirty="0"/>
                    </a:p>
                  </a:txBody>
                  <a:tcPr/>
                </a:tc>
                <a:tc>
                  <a:txBody>
                    <a:bodyPr/>
                    <a:lstStyle/>
                    <a:p>
                      <a:endParaRPr lang="en-US" dirty="0"/>
                    </a:p>
                  </a:txBody>
                  <a:tcPr/>
                </a:tc>
                <a:extLst>
                  <a:ext uri="{0D108BD9-81ED-4DB2-BD59-A6C34878D82A}">
                    <a16:rowId xmlns:a16="http://schemas.microsoft.com/office/drawing/2014/main" val="1136332488"/>
                  </a:ext>
                </a:extLst>
              </a:tr>
              <a:tr h="370840">
                <a:tc>
                  <a:txBody>
                    <a:bodyPr/>
                    <a:lstStyle/>
                    <a:p>
                      <a:r>
                        <a:rPr lang="fr-FR" dirty="0"/>
                        <a:t>Déterminer la topologie du niébé et les différences avec les graminées</a:t>
                      </a:r>
                      <a:endParaRPr lang="en-US" dirty="0"/>
                    </a:p>
                  </a:txBody>
                  <a:tcPr/>
                </a:tc>
                <a:tc>
                  <a:txBody>
                    <a:bodyPr/>
                    <a:lstStyle/>
                    <a:p>
                      <a:r>
                        <a:rPr lang="fr-FR" dirty="0"/>
                        <a:t>1 figure</a:t>
                      </a:r>
                      <a:endParaRPr lang="en-US" dirty="0"/>
                    </a:p>
                  </a:txBody>
                  <a:tcPr/>
                </a:tc>
                <a:tc>
                  <a:txBody>
                    <a:bodyPr/>
                    <a:lstStyle/>
                    <a:p>
                      <a:r>
                        <a:rPr lang="fr-FR" dirty="0"/>
                        <a:t>1j</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Après les vacances</a:t>
                      </a:r>
                      <a:endParaRPr lang="en-US" dirty="0"/>
                    </a:p>
                    <a:p>
                      <a:endParaRPr lang="en-US" dirty="0"/>
                    </a:p>
                  </a:txBody>
                  <a:tcPr/>
                </a:tc>
                <a:tc>
                  <a:txBody>
                    <a:bodyPr/>
                    <a:lstStyle/>
                    <a:p>
                      <a:endParaRPr lang="en-US" dirty="0"/>
                    </a:p>
                  </a:txBody>
                  <a:tcPr/>
                </a:tc>
                <a:extLst>
                  <a:ext uri="{0D108BD9-81ED-4DB2-BD59-A6C34878D82A}">
                    <a16:rowId xmlns:a16="http://schemas.microsoft.com/office/drawing/2014/main" val="305857971"/>
                  </a:ext>
                </a:extLst>
              </a:tr>
              <a:tr h="370840">
                <a:tc>
                  <a:txBody>
                    <a:bodyPr/>
                    <a:lstStyle/>
                    <a:p>
                      <a:r>
                        <a:rPr lang="fr-FR" dirty="0"/>
                        <a:t>Voir comment on gère l’implémentation des organes et topologie différents (modules ? </a:t>
                      </a:r>
                      <a:r>
                        <a:rPr lang="fr-FR" dirty="0" err="1"/>
                        <a:t>Etc</a:t>
                      </a:r>
                      <a:r>
                        <a:rPr lang="fr-FR" dirty="0"/>
                        <a:t>)</a:t>
                      </a:r>
                      <a:endParaRPr lang="en-US" dirty="0"/>
                    </a:p>
                  </a:txBody>
                  <a:tcPr/>
                </a:tc>
                <a:tc>
                  <a:txBody>
                    <a:bodyPr/>
                    <a:lstStyle/>
                    <a:p>
                      <a:r>
                        <a:rPr lang="fr-FR" dirty="0"/>
                        <a:t>1 slide</a:t>
                      </a:r>
                      <a:endParaRPr lang="en-US" dirty="0"/>
                    </a:p>
                  </a:txBody>
                  <a:tcPr/>
                </a:tc>
                <a:tc>
                  <a:txBody>
                    <a:bodyPr/>
                    <a:lstStyle/>
                    <a:p>
                      <a:r>
                        <a:rPr lang="fr-FR" dirty="0"/>
                        <a:t>2j</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Après les vacances</a:t>
                      </a:r>
                      <a:endParaRPr lang="en-US" dirty="0"/>
                    </a:p>
                  </a:txBody>
                  <a:tcPr/>
                </a:tc>
                <a:tc>
                  <a:txBody>
                    <a:bodyPr/>
                    <a:lstStyle/>
                    <a:p>
                      <a:r>
                        <a:rPr lang="fr-FR" dirty="0"/>
                        <a:t>Thomas</a:t>
                      </a:r>
                    </a:p>
                    <a:p>
                      <a:r>
                        <a:rPr lang="fr-FR" dirty="0"/>
                        <a:t>Christophe</a:t>
                      </a:r>
                      <a:endParaRPr lang="en-US" dirty="0"/>
                    </a:p>
                  </a:txBody>
                  <a:tcPr/>
                </a:tc>
                <a:extLst>
                  <a:ext uri="{0D108BD9-81ED-4DB2-BD59-A6C34878D82A}">
                    <a16:rowId xmlns:a16="http://schemas.microsoft.com/office/drawing/2014/main" val="107984859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TOTAL</a:t>
                      </a:r>
                      <a:endParaRPr lang="en-US" b="1" dirty="0"/>
                    </a:p>
                  </a:txBody>
                  <a:tcPr/>
                </a:tc>
                <a:tc>
                  <a:txBody>
                    <a:bodyPr/>
                    <a:lstStyle/>
                    <a:p>
                      <a:endParaRPr lang="en-US" b="1" dirty="0"/>
                    </a:p>
                  </a:txBody>
                  <a:tcPr/>
                </a:tc>
                <a:tc>
                  <a:txBody>
                    <a:bodyPr/>
                    <a:lstStyle/>
                    <a:p>
                      <a:r>
                        <a:rPr lang="fr-FR" b="1" dirty="0"/>
                        <a:t>6j</a:t>
                      </a:r>
                      <a:endParaRPr lang="en-US" b="1" dirty="0"/>
                    </a:p>
                  </a:txBody>
                  <a:tcPr/>
                </a:tc>
                <a:tc>
                  <a:txBody>
                    <a:bodyPr/>
                    <a:lstStyle/>
                    <a:p>
                      <a:endParaRPr lang="en-US" b="1" dirty="0"/>
                    </a:p>
                  </a:txBody>
                  <a:tcPr/>
                </a:tc>
                <a:tc>
                  <a:txBody>
                    <a:bodyPr/>
                    <a:lstStyle/>
                    <a:p>
                      <a:endParaRPr lang="en-US" b="1" dirty="0"/>
                    </a:p>
                  </a:txBody>
                  <a:tcPr/>
                </a:tc>
                <a:extLst>
                  <a:ext uri="{0D108BD9-81ED-4DB2-BD59-A6C34878D82A}">
                    <a16:rowId xmlns:a16="http://schemas.microsoft.com/office/drawing/2014/main" val="2302292016"/>
                  </a:ext>
                </a:extLst>
              </a:tr>
            </a:tbl>
          </a:graphicData>
        </a:graphic>
      </p:graphicFrame>
    </p:spTree>
    <p:extLst>
      <p:ext uri="{BB962C8B-B14F-4D97-AF65-F5344CB8AC3E}">
        <p14:creationId xmlns:p14="http://schemas.microsoft.com/office/powerpoint/2010/main" val="26697134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BA049-4EE0-42A6-B36E-413AEEB6FCC4}"/>
              </a:ext>
            </a:extLst>
          </p:cNvPr>
          <p:cNvSpPr>
            <a:spLocks noGrp="1"/>
          </p:cNvSpPr>
          <p:nvPr>
            <p:ph type="title"/>
          </p:nvPr>
        </p:nvSpPr>
        <p:spPr>
          <a:xfrm>
            <a:off x="838200" y="63465"/>
            <a:ext cx="10515600" cy="1325563"/>
          </a:xfrm>
        </p:spPr>
        <p:txBody>
          <a:bodyPr>
            <a:normAutofit/>
          </a:bodyPr>
          <a:lstStyle/>
          <a:p>
            <a:r>
              <a:rPr lang="fr-FR" dirty="0"/>
              <a:t>Design expérimental </a:t>
            </a:r>
            <a:r>
              <a:rPr lang="fr-FR" dirty="0" err="1"/>
              <a:t>GxG</a:t>
            </a:r>
            <a:r>
              <a:rPr lang="fr-FR" dirty="0"/>
              <a:t> à l’échelle de l’organe</a:t>
            </a:r>
          </a:p>
        </p:txBody>
      </p:sp>
      <p:graphicFrame>
        <p:nvGraphicFramePr>
          <p:cNvPr id="4" name="Content Placeholder 3">
            <a:extLst>
              <a:ext uri="{FF2B5EF4-FFF2-40B4-BE49-F238E27FC236}">
                <a16:creationId xmlns:a16="http://schemas.microsoft.com/office/drawing/2014/main" id="{E2DF686C-B4E2-46FE-87A4-5F5E8D6AB3B8}"/>
              </a:ext>
            </a:extLst>
          </p:cNvPr>
          <p:cNvGraphicFramePr>
            <a:graphicFrameLocks noGrp="1"/>
          </p:cNvGraphicFramePr>
          <p:nvPr>
            <p:ph idx="1"/>
            <p:extLst>
              <p:ext uri="{D42A27DB-BD31-4B8C-83A1-F6EECF244321}">
                <p14:modId xmlns:p14="http://schemas.microsoft.com/office/powerpoint/2010/main" val="2335085246"/>
              </p:ext>
            </p:extLst>
          </p:nvPr>
        </p:nvGraphicFramePr>
        <p:xfrm>
          <a:off x="838200" y="1448551"/>
          <a:ext cx="10515600" cy="659384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258169204"/>
                    </a:ext>
                  </a:extLst>
                </a:gridCol>
                <a:gridCol w="2103120">
                  <a:extLst>
                    <a:ext uri="{9D8B030D-6E8A-4147-A177-3AD203B41FA5}">
                      <a16:colId xmlns:a16="http://schemas.microsoft.com/office/drawing/2014/main" val="837178054"/>
                    </a:ext>
                  </a:extLst>
                </a:gridCol>
                <a:gridCol w="2103120">
                  <a:extLst>
                    <a:ext uri="{9D8B030D-6E8A-4147-A177-3AD203B41FA5}">
                      <a16:colId xmlns:a16="http://schemas.microsoft.com/office/drawing/2014/main" val="1072837223"/>
                    </a:ext>
                  </a:extLst>
                </a:gridCol>
                <a:gridCol w="2103120">
                  <a:extLst>
                    <a:ext uri="{9D8B030D-6E8A-4147-A177-3AD203B41FA5}">
                      <a16:colId xmlns:a16="http://schemas.microsoft.com/office/drawing/2014/main" val="2895919820"/>
                    </a:ext>
                  </a:extLst>
                </a:gridCol>
                <a:gridCol w="2103120">
                  <a:extLst>
                    <a:ext uri="{9D8B030D-6E8A-4147-A177-3AD203B41FA5}">
                      <a16:colId xmlns:a16="http://schemas.microsoft.com/office/drawing/2014/main" val="67778795"/>
                    </a:ext>
                  </a:extLst>
                </a:gridCol>
              </a:tblGrid>
              <a:tr h="370840">
                <a:tc>
                  <a:txBody>
                    <a:bodyPr/>
                    <a:lstStyle/>
                    <a:p>
                      <a:r>
                        <a:rPr lang="fr-FR" dirty="0"/>
                        <a:t>Tâche</a:t>
                      </a:r>
                      <a:endParaRPr lang="en-US" dirty="0"/>
                    </a:p>
                  </a:txBody>
                  <a:tcPr/>
                </a:tc>
                <a:tc>
                  <a:txBody>
                    <a:bodyPr/>
                    <a:lstStyle/>
                    <a:p>
                      <a:r>
                        <a:rPr lang="fr-FR" dirty="0"/>
                        <a:t>Rendu / Résultat</a:t>
                      </a:r>
                      <a:endParaRPr lang="en-US" dirty="0"/>
                    </a:p>
                  </a:txBody>
                  <a:tcPr/>
                </a:tc>
                <a:tc>
                  <a:txBody>
                    <a:bodyPr/>
                    <a:lstStyle/>
                    <a:p>
                      <a:r>
                        <a:rPr lang="fr-FR" dirty="0"/>
                        <a:t>Temps</a:t>
                      </a:r>
                      <a:endParaRPr lang="en-US" dirty="0"/>
                    </a:p>
                  </a:txBody>
                  <a:tcPr/>
                </a:tc>
                <a:tc>
                  <a:txBody>
                    <a:bodyPr/>
                    <a:lstStyle/>
                    <a:p>
                      <a:r>
                        <a:rPr lang="fr-FR" dirty="0"/>
                        <a:t>échéance</a:t>
                      </a:r>
                      <a:endParaRPr lang="en-US" dirty="0"/>
                    </a:p>
                  </a:txBody>
                  <a:tcPr/>
                </a:tc>
                <a:tc>
                  <a:txBody>
                    <a:bodyPr/>
                    <a:lstStyle/>
                    <a:p>
                      <a:r>
                        <a:rPr lang="fr-FR" dirty="0"/>
                        <a:t>Personnes ressources</a:t>
                      </a:r>
                      <a:endParaRPr lang="en-US" dirty="0"/>
                    </a:p>
                  </a:txBody>
                  <a:tcPr/>
                </a:tc>
                <a:extLst>
                  <a:ext uri="{0D108BD9-81ED-4DB2-BD59-A6C34878D82A}">
                    <a16:rowId xmlns:a16="http://schemas.microsoft.com/office/drawing/2014/main" val="665057055"/>
                  </a:ext>
                </a:extLst>
              </a:tr>
              <a:tr h="370840">
                <a:tc>
                  <a:txBody>
                    <a:bodyPr/>
                    <a:lstStyle/>
                    <a:p>
                      <a:r>
                        <a:rPr lang="fr-FR" dirty="0"/>
                        <a:t>Trouver dans la littérature les valeurs de traits architecturaux et développementaux du sorgho</a:t>
                      </a:r>
                      <a:endParaRPr lang="en-US" dirty="0"/>
                    </a:p>
                  </a:txBody>
                  <a:tcPr/>
                </a:tc>
                <a:tc>
                  <a:txBody>
                    <a:bodyPr/>
                    <a:lstStyle/>
                    <a:p>
                      <a:r>
                        <a:rPr lang="fr-FR" dirty="0"/>
                        <a:t>Tableau avec traits + valeurs (intervalles) + sources</a:t>
                      </a:r>
                      <a:endParaRPr lang="en-US" dirty="0"/>
                    </a:p>
                  </a:txBody>
                  <a:tcPr/>
                </a:tc>
                <a:tc>
                  <a:txBody>
                    <a:bodyPr/>
                    <a:lstStyle/>
                    <a:p>
                      <a:r>
                        <a:rPr lang="fr-FR" dirty="0"/>
                        <a:t>1j</a:t>
                      </a:r>
                      <a:endParaRPr lang="en-US" dirty="0"/>
                    </a:p>
                  </a:txBody>
                  <a:tcPr/>
                </a:tc>
                <a:tc>
                  <a:txBody>
                    <a:bodyPr/>
                    <a:lstStyle/>
                    <a:p>
                      <a:r>
                        <a:rPr lang="fr-FR" dirty="0"/>
                        <a:t>Après les vacances</a:t>
                      </a:r>
                      <a:endParaRPr lang="en-US" dirty="0"/>
                    </a:p>
                  </a:txBody>
                  <a:tcPr/>
                </a:tc>
                <a:tc>
                  <a:txBody>
                    <a:bodyPr/>
                    <a:lstStyle/>
                    <a:p>
                      <a:r>
                        <a:rPr lang="fr-FR" dirty="0"/>
                        <a:t>Myriam</a:t>
                      </a:r>
                      <a:endParaRPr lang="en-US" dirty="0"/>
                    </a:p>
                  </a:txBody>
                  <a:tcPr/>
                </a:tc>
                <a:extLst>
                  <a:ext uri="{0D108BD9-81ED-4DB2-BD59-A6C34878D82A}">
                    <a16:rowId xmlns:a16="http://schemas.microsoft.com/office/drawing/2014/main" val="2624637996"/>
                  </a:ext>
                </a:extLst>
              </a:tr>
              <a:tr h="370840">
                <a:tc>
                  <a:txBody>
                    <a:bodyPr/>
                    <a:lstStyle/>
                    <a:p>
                      <a:r>
                        <a:rPr lang="fr-FR" dirty="0"/>
                        <a:t>Trouver dans la littérature les valeurs de traits architecturaux et développementaux du niébé</a:t>
                      </a:r>
                      <a:endParaRPr lang="en-US" dirty="0"/>
                    </a:p>
                  </a:txBody>
                  <a:tcPr/>
                </a:tc>
                <a:tc>
                  <a:txBody>
                    <a:bodyPr/>
                    <a:lstStyle/>
                    <a:p>
                      <a:r>
                        <a:rPr lang="fr-FR" dirty="0"/>
                        <a:t>Tableau avec traits + valeurs (intervalles) + sources</a:t>
                      </a:r>
                      <a:endParaRPr lang="en-US" dirty="0"/>
                    </a:p>
                  </a:txBody>
                  <a:tcPr/>
                </a:tc>
                <a:tc>
                  <a:txBody>
                    <a:bodyPr/>
                    <a:lstStyle/>
                    <a:p>
                      <a:r>
                        <a:rPr lang="fr-FR" dirty="0"/>
                        <a:t>1j</a:t>
                      </a:r>
                      <a:endParaRPr lang="en-US" dirty="0"/>
                    </a:p>
                  </a:txBody>
                  <a:tcPr/>
                </a:tc>
                <a:tc>
                  <a:txBody>
                    <a:bodyPr/>
                    <a:lstStyle/>
                    <a:p>
                      <a:r>
                        <a:rPr lang="fr-FR" dirty="0"/>
                        <a:t>Après les vacances</a:t>
                      </a:r>
                      <a:endParaRPr lang="en-US" dirty="0"/>
                    </a:p>
                  </a:txBody>
                  <a:tcPr/>
                </a:tc>
                <a:tc>
                  <a:txBody>
                    <a:bodyPr/>
                    <a:lstStyle/>
                    <a:p>
                      <a:r>
                        <a:rPr lang="fr-FR" dirty="0"/>
                        <a:t>Myriam</a:t>
                      </a:r>
                      <a:endParaRPr lang="en-US" dirty="0"/>
                    </a:p>
                  </a:txBody>
                  <a:tcPr/>
                </a:tc>
                <a:extLst>
                  <a:ext uri="{0D108BD9-81ED-4DB2-BD59-A6C34878D82A}">
                    <a16:rowId xmlns:a16="http://schemas.microsoft.com/office/drawing/2014/main" val="896163942"/>
                  </a:ext>
                </a:extLst>
              </a:tr>
              <a:tr h="370840">
                <a:tc>
                  <a:txBody>
                    <a:bodyPr/>
                    <a:lstStyle/>
                    <a:p>
                      <a:r>
                        <a:rPr lang="fr-FR" dirty="0"/>
                        <a:t>Faire correspondre les traits architecturaux trouvés aux paramètres du modèle</a:t>
                      </a:r>
                      <a:endParaRPr lang="en-US" dirty="0"/>
                    </a:p>
                  </a:txBody>
                  <a:tcPr/>
                </a:tc>
                <a:tc>
                  <a:txBody>
                    <a:bodyPr/>
                    <a:lstStyle/>
                    <a:p>
                      <a:r>
                        <a:rPr lang="fr-FR" dirty="0"/>
                        <a:t>Tableau des correspondances</a:t>
                      </a:r>
                      <a:endParaRPr lang="en-US" dirty="0"/>
                    </a:p>
                  </a:txBody>
                  <a:tcPr/>
                </a:tc>
                <a:tc>
                  <a:txBody>
                    <a:bodyPr/>
                    <a:lstStyle/>
                    <a:p>
                      <a:r>
                        <a:rPr lang="fr-FR" dirty="0"/>
                        <a:t>1j</a:t>
                      </a:r>
                      <a:endParaRPr lang="en-US" dirty="0"/>
                    </a:p>
                  </a:txBody>
                  <a:tcPr/>
                </a:tc>
                <a:tc>
                  <a:txBody>
                    <a:bodyPr/>
                    <a:lstStyle/>
                    <a:p>
                      <a:r>
                        <a:rPr lang="fr-FR" dirty="0"/>
                        <a:t>Après les vacances</a:t>
                      </a:r>
                      <a:endParaRPr lang="en-US" dirty="0"/>
                    </a:p>
                  </a:txBody>
                  <a:tcPr/>
                </a:tc>
                <a:tc>
                  <a:txBody>
                    <a:bodyPr/>
                    <a:lstStyle/>
                    <a:p>
                      <a:r>
                        <a:rPr lang="fr-FR" dirty="0"/>
                        <a:t>Christophe</a:t>
                      </a:r>
                    </a:p>
                    <a:p>
                      <a:r>
                        <a:rPr lang="fr-FR" dirty="0"/>
                        <a:t>Rémi</a:t>
                      </a:r>
                      <a:endParaRPr lang="en-US" dirty="0"/>
                    </a:p>
                  </a:txBody>
                  <a:tcPr/>
                </a:tc>
                <a:extLst>
                  <a:ext uri="{0D108BD9-81ED-4DB2-BD59-A6C34878D82A}">
                    <a16:rowId xmlns:a16="http://schemas.microsoft.com/office/drawing/2014/main" val="305857971"/>
                  </a:ext>
                </a:extLst>
              </a:tr>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7984859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TOTAL</a:t>
                      </a:r>
                      <a:endParaRPr lang="en-US" b="1" dirty="0"/>
                    </a:p>
                  </a:txBody>
                  <a:tcPr/>
                </a:tc>
                <a:tc>
                  <a:txBody>
                    <a:bodyPr/>
                    <a:lstStyle/>
                    <a:p>
                      <a:endParaRPr lang="en-US" b="1" dirty="0"/>
                    </a:p>
                  </a:txBody>
                  <a:tcPr/>
                </a:tc>
                <a:tc>
                  <a:txBody>
                    <a:bodyPr/>
                    <a:lstStyle/>
                    <a:p>
                      <a:r>
                        <a:rPr lang="fr-FR" b="1" dirty="0"/>
                        <a:t>3j</a:t>
                      </a:r>
                      <a:endParaRPr lang="en-US" b="1" dirty="0"/>
                    </a:p>
                  </a:txBody>
                  <a:tcPr/>
                </a:tc>
                <a:tc>
                  <a:txBody>
                    <a:bodyPr/>
                    <a:lstStyle/>
                    <a:p>
                      <a:endParaRPr lang="en-US" b="1" dirty="0"/>
                    </a:p>
                  </a:txBody>
                  <a:tcPr/>
                </a:tc>
                <a:tc>
                  <a:txBody>
                    <a:bodyPr/>
                    <a:lstStyle/>
                    <a:p>
                      <a:endParaRPr lang="en-US" b="1" dirty="0"/>
                    </a:p>
                  </a:txBody>
                  <a:tcPr/>
                </a:tc>
                <a:extLst>
                  <a:ext uri="{0D108BD9-81ED-4DB2-BD59-A6C34878D82A}">
                    <a16:rowId xmlns:a16="http://schemas.microsoft.com/office/drawing/2014/main" val="1456240292"/>
                  </a:ext>
                </a:extLst>
              </a:tr>
            </a:tbl>
          </a:graphicData>
        </a:graphic>
      </p:graphicFrame>
    </p:spTree>
    <p:extLst>
      <p:ext uri="{BB962C8B-B14F-4D97-AF65-F5344CB8AC3E}">
        <p14:creationId xmlns:p14="http://schemas.microsoft.com/office/powerpoint/2010/main" val="30131904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BA049-4EE0-42A6-B36E-413AEEB6FCC4}"/>
              </a:ext>
            </a:extLst>
          </p:cNvPr>
          <p:cNvSpPr>
            <a:spLocks noGrp="1"/>
          </p:cNvSpPr>
          <p:nvPr>
            <p:ph type="title"/>
          </p:nvPr>
        </p:nvSpPr>
        <p:spPr/>
        <p:txBody>
          <a:bodyPr>
            <a:normAutofit/>
          </a:bodyPr>
          <a:lstStyle/>
          <a:p>
            <a:r>
              <a:rPr lang="fr-FR" dirty="0"/>
              <a:t>Design expérimental </a:t>
            </a:r>
            <a:r>
              <a:rPr lang="fr-FR" dirty="0" err="1"/>
              <a:t>ExM</a:t>
            </a:r>
            <a:r>
              <a:rPr lang="fr-FR" dirty="0"/>
              <a:t> à l’échelle de la culture</a:t>
            </a:r>
          </a:p>
        </p:txBody>
      </p:sp>
      <p:graphicFrame>
        <p:nvGraphicFramePr>
          <p:cNvPr id="4" name="Content Placeholder 3">
            <a:extLst>
              <a:ext uri="{FF2B5EF4-FFF2-40B4-BE49-F238E27FC236}">
                <a16:creationId xmlns:a16="http://schemas.microsoft.com/office/drawing/2014/main" id="{E2DF686C-B4E2-46FE-87A4-5F5E8D6AB3B8}"/>
              </a:ext>
            </a:extLst>
          </p:cNvPr>
          <p:cNvGraphicFramePr>
            <a:graphicFrameLocks noGrp="1"/>
          </p:cNvGraphicFramePr>
          <p:nvPr>
            <p:ph idx="1"/>
            <p:extLst>
              <p:ext uri="{D42A27DB-BD31-4B8C-83A1-F6EECF244321}">
                <p14:modId xmlns:p14="http://schemas.microsoft.com/office/powerpoint/2010/main" val="1194492592"/>
              </p:ext>
            </p:extLst>
          </p:nvPr>
        </p:nvGraphicFramePr>
        <p:xfrm>
          <a:off x="838200" y="1825625"/>
          <a:ext cx="10515600" cy="44043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258169204"/>
                    </a:ext>
                  </a:extLst>
                </a:gridCol>
                <a:gridCol w="2103120">
                  <a:extLst>
                    <a:ext uri="{9D8B030D-6E8A-4147-A177-3AD203B41FA5}">
                      <a16:colId xmlns:a16="http://schemas.microsoft.com/office/drawing/2014/main" val="837178054"/>
                    </a:ext>
                  </a:extLst>
                </a:gridCol>
                <a:gridCol w="2103120">
                  <a:extLst>
                    <a:ext uri="{9D8B030D-6E8A-4147-A177-3AD203B41FA5}">
                      <a16:colId xmlns:a16="http://schemas.microsoft.com/office/drawing/2014/main" val="1072837223"/>
                    </a:ext>
                  </a:extLst>
                </a:gridCol>
                <a:gridCol w="2103120">
                  <a:extLst>
                    <a:ext uri="{9D8B030D-6E8A-4147-A177-3AD203B41FA5}">
                      <a16:colId xmlns:a16="http://schemas.microsoft.com/office/drawing/2014/main" val="2895919820"/>
                    </a:ext>
                  </a:extLst>
                </a:gridCol>
                <a:gridCol w="2103120">
                  <a:extLst>
                    <a:ext uri="{9D8B030D-6E8A-4147-A177-3AD203B41FA5}">
                      <a16:colId xmlns:a16="http://schemas.microsoft.com/office/drawing/2014/main" val="67778795"/>
                    </a:ext>
                  </a:extLst>
                </a:gridCol>
              </a:tblGrid>
              <a:tr h="370840">
                <a:tc>
                  <a:txBody>
                    <a:bodyPr/>
                    <a:lstStyle/>
                    <a:p>
                      <a:r>
                        <a:rPr lang="fr-FR" dirty="0"/>
                        <a:t>Tâche</a:t>
                      </a:r>
                      <a:endParaRPr lang="en-US" dirty="0"/>
                    </a:p>
                  </a:txBody>
                  <a:tcPr/>
                </a:tc>
                <a:tc>
                  <a:txBody>
                    <a:bodyPr/>
                    <a:lstStyle/>
                    <a:p>
                      <a:r>
                        <a:rPr lang="fr-FR" dirty="0"/>
                        <a:t>Rendu / Résultat</a:t>
                      </a:r>
                      <a:endParaRPr lang="en-US" dirty="0"/>
                    </a:p>
                  </a:txBody>
                  <a:tcPr/>
                </a:tc>
                <a:tc>
                  <a:txBody>
                    <a:bodyPr/>
                    <a:lstStyle/>
                    <a:p>
                      <a:r>
                        <a:rPr lang="fr-FR" dirty="0"/>
                        <a:t>Temps</a:t>
                      </a:r>
                      <a:endParaRPr lang="en-US" dirty="0"/>
                    </a:p>
                  </a:txBody>
                  <a:tcPr/>
                </a:tc>
                <a:tc>
                  <a:txBody>
                    <a:bodyPr/>
                    <a:lstStyle/>
                    <a:p>
                      <a:r>
                        <a:rPr lang="fr-FR" dirty="0"/>
                        <a:t>échéance</a:t>
                      </a:r>
                      <a:endParaRPr lang="en-US" dirty="0"/>
                    </a:p>
                  </a:txBody>
                  <a:tcPr/>
                </a:tc>
                <a:tc>
                  <a:txBody>
                    <a:bodyPr/>
                    <a:lstStyle/>
                    <a:p>
                      <a:r>
                        <a:rPr lang="fr-FR" dirty="0"/>
                        <a:t>Personnes ressources</a:t>
                      </a:r>
                      <a:endParaRPr lang="en-US" dirty="0"/>
                    </a:p>
                  </a:txBody>
                  <a:tcPr/>
                </a:tc>
                <a:extLst>
                  <a:ext uri="{0D108BD9-81ED-4DB2-BD59-A6C34878D82A}">
                    <a16:rowId xmlns:a16="http://schemas.microsoft.com/office/drawing/2014/main" val="665057055"/>
                  </a:ext>
                </a:extLst>
              </a:tr>
              <a:tr h="370840">
                <a:tc>
                  <a:txBody>
                    <a:bodyPr/>
                    <a:lstStyle/>
                    <a:p>
                      <a:r>
                        <a:rPr lang="fr-FR" dirty="0"/>
                        <a:t>Chercher les simulations sorgho/niébé déjà run avec STICS</a:t>
                      </a:r>
                      <a:endParaRPr lang="en-US" dirty="0"/>
                    </a:p>
                  </a:txBody>
                  <a:tcPr/>
                </a:tc>
                <a:tc>
                  <a:txBody>
                    <a:bodyPr/>
                    <a:lstStyle/>
                    <a:p>
                      <a:r>
                        <a:rPr lang="fr-FR" dirty="0"/>
                        <a:t>tableau</a:t>
                      </a:r>
                      <a:endParaRPr lang="en-US" dirty="0"/>
                    </a:p>
                  </a:txBody>
                  <a:tcPr/>
                </a:tc>
                <a:tc>
                  <a:txBody>
                    <a:bodyPr/>
                    <a:lstStyle/>
                    <a:p>
                      <a:r>
                        <a:rPr lang="fr-FR" dirty="0"/>
                        <a:t>1j</a:t>
                      </a:r>
                      <a:endParaRPr lang="en-US" dirty="0"/>
                    </a:p>
                  </a:txBody>
                  <a:tcPr/>
                </a:tc>
                <a:tc>
                  <a:txBody>
                    <a:bodyPr/>
                    <a:lstStyle/>
                    <a:p>
                      <a:r>
                        <a:rPr lang="fr-FR" dirty="0"/>
                        <a:t>Après les vacances</a:t>
                      </a:r>
                      <a:endParaRPr lang="en-US" dirty="0"/>
                    </a:p>
                  </a:txBody>
                  <a:tcPr/>
                </a:tc>
                <a:tc>
                  <a:txBody>
                    <a:bodyPr/>
                    <a:lstStyle/>
                    <a:p>
                      <a:r>
                        <a:rPr lang="fr-FR" dirty="0"/>
                        <a:t>Mathilde</a:t>
                      </a:r>
                    </a:p>
                    <a:p>
                      <a:r>
                        <a:rPr lang="fr-FR" dirty="0"/>
                        <a:t>Rémi</a:t>
                      </a:r>
                    </a:p>
                    <a:p>
                      <a:r>
                        <a:rPr lang="fr-FR" dirty="0"/>
                        <a:t>Myriam</a:t>
                      </a:r>
                      <a:endParaRPr lang="en-US" dirty="0"/>
                    </a:p>
                  </a:txBody>
                  <a:tcPr/>
                </a:tc>
                <a:extLst>
                  <a:ext uri="{0D108BD9-81ED-4DB2-BD59-A6C34878D82A}">
                    <a16:rowId xmlns:a16="http://schemas.microsoft.com/office/drawing/2014/main" val="2624637996"/>
                  </a:ext>
                </a:extLst>
              </a:tr>
              <a:tr h="370840">
                <a:tc>
                  <a:txBody>
                    <a:bodyPr/>
                    <a:lstStyle/>
                    <a:p>
                      <a:r>
                        <a:rPr lang="fr-FR" dirty="0"/>
                        <a:t>Déterminer les </a:t>
                      </a:r>
                      <a:r>
                        <a:rPr lang="fr-FR" dirty="0" err="1"/>
                        <a:t>ExM</a:t>
                      </a:r>
                      <a:r>
                        <a:rPr lang="fr-FR" dirty="0"/>
                        <a:t> qu’on veut simuler pour </a:t>
                      </a:r>
                      <a:r>
                        <a:rPr lang="fr-FR" dirty="0" err="1"/>
                        <a:t>GxG</a:t>
                      </a:r>
                      <a:r>
                        <a:rPr lang="fr-FR" dirty="0"/>
                        <a:t> sorgho/niébé (stress, </a:t>
                      </a:r>
                      <a:r>
                        <a:rPr lang="fr-FR" dirty="0" err="1"/>
                        <a:t>etc</a:t>
                      </a:r>
                      <a:r>
                        <a:rPr lang="fr-FR" dirty="0"/>
                        <a:t>)</a:t>
                      </a:r>
                      <a:endParaRPr lang="en-US" dirty="0"/>
                    </a:p>
                  </a:txBody>
                  <a:tcPr/>
                </a:tc>
                <a:tc>
                  <a:txBody>
                    <a:bodyPr/>
                    <a:lstStyle/>
                    <a:p>
                      <a:r>
                        <a:rPr lang="fr-FR" dirty="0"/>
                        <a:t>Tableau</a:t>
                      </a:r>
                    </a:p>
                    <a:p>
                      <a:r>
                        <a:rPr lang="fr-FR" dirty="0"/>
                        <a:t>1 slide</a:t>
                      </a:r>
                      <a:endParaRPr lang="en-US" dirty="0"/>
                    </a:p>
                  </a:txBody>
                  <a:tcPr/>
                </a:tc>
                <a:tc>
                  <a:txBody>
                    <a:bodyPr/>
                    <a:lstStyle/>
                    <a:p>
                      <a:r>
                        <a:rPr lang="fr-FR" dirty="0"/>
                        <a:t>1j</a:t>
                      </a:r>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dirty="0"/>
                        <a:t>Après les vacances</a:t>
                      </a:r>
                      <a:endParaRPr lang="en-US" dirty="0"/>
                    </a:p>
                  </a:txBody>
                  <a:tcPr/>
                </a:tc>
                <a:tc>
                  <a:txBody>
                    <a:bodyPr/>
                    <a:lstStyle/>
                    <a:p>
                      <a:r>
                        <a:rPr lang="fr-FR" dirty="0"/>
                        <a:t>Rémi</a:t>
                      </a:r>
                    </a:p>
                    <a:p>
                      <a:r>
                        <a:rPr lang="fr-FR" dirty="0"/>
                        <a:t>Myriam</a:t>
                      </a:r>
                      <a:endParaRPr lang="en-US" dirty="0"/>
                    </a:p>
                  </a:txBody>
                  <a:tcPr/>
                </a:tc>
                <a:extLst>
                  <a:ext uri="{0D108BD9-81ED-4DB2-BD59-A6C34878D82A}">
                    <a16:rowId xmlns:a16="http://schemas.microsoft.com/office/drawing/2014/main" val="896163942"/>
                  </a:ext>
                </a:extLst>
              </a:tr>
              <a:tr h="370840">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05857971"/>
                  </a:ext>
                </a:extLst>
              </a:tr>
              <a:tr h="370840">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7984859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b="1" dirty="0"/>
                        <a:t>TOTAL</a:t>
                      </a:r>
                      <a:endParaRPr lang="en-US" b="1" dirty="0"/>
                    </a:p>
                  </a:txBody>
                  <a:tcPr/>
                </a:tc>
                <a:tc>
                  <a:txBody>
                    <a:bodyPr/>
                    <a:lstStyle/>
                    <a:p>
                      <a:endParaRPr lang="en-US" b="1" dirty="0"/>
                    </a:p>
                  </a:txBody>
                  <a:tcPr/>
                </a:tc>
                <a:tc>
                  <a:txBody>
                    <a:bodyPr/>
                    <a:lstStyle/>
                    <a:p>
                      <a:r>
                        <a:rPr lang="fr-FR" b="1" dirty="0"/>
                        <a:t>2j</a:t>
                      </a:r>
                      <a:endParaRPr lang="en-US" b="1" dirty="0"/>
                    </a:p>
                  </a:txBody>
                  <a:tcPr/>
                </a:tc>
                <a:tc>
                  <a:txBody>
                    <a:bodyPr/>
                    <a:lstStyle/>
                    <a:p>
                      <a:endParaRPr lang="en-US" b="1" dirty="0"/>
                    </a:p>
                  </a:txBody>
                  <a:tcPr/>
                </a:tc>
                <a:tc>
                  <a:txBody>
                    <a:bodyPr/>
                    <a:lstStyle/>
                    <a:p>
                      <a:endParaRPr lang="en-US" b="1" dirty="0"/>
                    </a:p>
                  </a:txBody>
                  <a:tcPr/>
                </a:tc>
                <a:extLst>
                  <a:ext uri="{0D108BD9-81ED-4DB2-BD59-A6C34878D82A}">
                    <a16:rowId xmlns:a16="http://schemas.microsoft.com/office/drawing/2014/main" val="1456240292"/>
                  </a:ext>
                </a:extLst>
              </a:tr>
            </a:tbl>
          </a:graphicData>
        </a:graphic>
      </p:graphicFrame>
    </p:spTree>
    <p:extLst>
      <p:ext uri="{BB962C8B-B14F-4D97-AF65-F5344CB8AC3E}">
        <p14:creationId xmlns:p14="http://schemas.microsoft.com/office/powerpoint/2010/main" val="36862257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FB41B-D6A3-459D-9954-11CC72ED1447}"/>
              </a:ext>
            </a:extLst>
          </p:cNvPr>
          <p:cNvSpPr>
            <a:spLocks noGrp="1"/>
          </p:cNvSpPr>
          <p:nvPr>
            <p:ph type="title"/>
          </p:nvPr>
        </p:nvSpPr>
        <p:spPr/>
        <p:txBody>
          <a:bodyPr>
            <a:normAutofit fontScale="90000"/>
          </a:bodyPr>
          <a:lstStyle/>
          <a:p>
            <a:r>
              <a:rPr lang="fr-FR" dirty="0"/>
              <a:t>4+11+2+4+6+3+2 = 32j = 6/7 semaines = 2 mois effectifs avant lancement des simulations</a:t>
            </a:r>
            <a:endParaRPr lang="en-US" dirty="0"/>
          </a:p>
        </p:txBody>
      </p:sp>
      <p:pic>
        <p:nvPicPr>
          <p:cNvPr id="5" name="Content Placeholder 4">
            <a:extLst>
              <a:ext uri="{FF2B5EF4-FFF2-40B4-BE49-F238E27FC236}">
                <a16:creationId xmlns:a16="http://schemas.microsoft.com/office/drawing/2014/main" id="{2DAE817C-888F-4CF5-BB37-3AF14CA53A3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778240"/>
            <a:ext cx="15340329" cy="5079760"/>
          </a:xfrm>
        </p:spPr>
      </p:pic>
    </p:spTree>
    <p:extLst>
      <p:ext uri="{BB962C8B-B14F-4D97-AF65-F5344CB8AC3E}">
        <p14:creationId xmlns:p14="http://schemas.microsoft.com/office/powerpoint/2010/main" val="9350003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TotalTime>
  <Words>857</Words>
  <Application>Microsoft Office PowerPoint</Application>
  <PresentationFormat>Widescreen</PresentationFormat>
  <Paragraphs>229</Paragraphs>
  <Slides>11</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Calibri Light</vt:lpstr>
      <vt:lpstr>Wingdings</vt:lpstr>
      <vt:lpstr>Office Theme</vt:lpstr>
      <vt:lpstr>Retours sur le CSI et prochaines aventures</vt:lpstr>
      <vt:lpstr>Mes impressions sur le CSI</vt:lpstr>
      <vt:lpstr>Prochaines étapes </vt:lpstr>
      <vt:lpstr>Définir le modèle, entrées et sorties</vt:lpstr>
      <vt:lpstr>Formaliser le modèle et la contrainte sur la hauteur et le LAI</vt:lpstr>
      <vt:lpstr>Gestion de la ramification</vt:lpstr>
      <vt:lpstr>Gestion de la sénescence</vt:lpstr>
      <vt:lpstr>Modifications pour le niébé</vt:lpstr>
      <vt:lpstr>Design expérimental GxG à l’échelle de l’organe</vt:lpstr>
      <vt:lpstr>Design expérimental ExM à l’échelle de la culture</vt:lpstr>
      <vt:lpstr>4+11+2+4+6+3+2 = 32j = 6/7 semaines = 2 mois effectifs avant lancement des simulations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Retours sur le CSI et prochaines aventures</dc:title>
  <dc:creator>Oriane BRAUD</dc:creator>
  <cp:lastModifiedBy>Oriane BRAUD</cp:lastModifiedBy>
  <cp:revision>62</cp:revision>
  <dcterms:created xsi:type="dcterms:W3CDTF">2024-07-03T11:21:30Z</dcterms:created>
  <dcterms:modified xsi:type="dcterms:W3CDTF">2024-07-04T10:23:29Z</dcterms:modified>
</cp:coreProperties>
</file>