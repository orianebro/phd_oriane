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6"/>
  </p:notesMasterIdLst>
  <p:sldIdLst>
    <p:sldId id="256" r:id="rId2"/>
    <p:sldId id="271" r:id="rId3"/>
    <p:sldId id="259" r:id="rId4"/>
    <p:sldId id="272" r:id="rId5"/>
    <p:sldId id="273" r:id="rId6"/>
    <p:sldId id="274" r:id="rId7"/>
    <p:sldId id="260" r:id="rId8"/>
    <p:sldId id="270" r:id="rId9"/>
    <p:sldId id="263" r:id="rId10"/>
    <p:sldId id="280" r:id="rId11"/>
    <p:sldId id="275" r:id="rId12"/>
    <p:sldId id="281" r:id="rId13"/>
    <p:sldId id="257" r:id="rId14"/>
    <p:sldId id="261" r:id="rId15"/>
    <p:sldId id="276" r:id="rId16"/>
    <p:sldId id="258" r:id="rId17"/>
    <p:sldId id="277" r:id="rId18"/>
    <p:sldId id="282" r:id="rId19"/>
    <p:sldId id="265" r:id="rId20"/>
    <p:sldId id="266" r:id="rId21"/>
    <p:sldId id="278" r:id="rId22"/>
    <p:sldId id="264" r:id="rId23"/>
    <p:sldId id="279" r:id="rId24"/>
    <p:sldId id="269"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997" autoAdjust="0"/>
    <p:restoredTop sz="94660"/>
  </p:normalViewPr>
  <p:slideViewPr>
    <p:cSldViewPr snapToGrid="0">
      <p:cViewPr varScale="1">
        <p:scale>
          <a:sx n="78" d="100"/>
          <a:sy n="78" d="100"/>
        </p:scale>
        <p:origin x="82" y="25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B73D737-6180-4025-A907-7C9E2988EAF4}" type="datetimeFigureOut">
              <a:rPr lang="en-US" smtClean="0"/>
              <a:t>1/29/2024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3731F5F-6158-46BC-A6CE-A998A65CA6BA}" type="slidenum">
              <a:rPr lang="en-US" smtClean="0"/>
              <a:t>‹#›</a:t>
            </a:fld>
            <a:endParaRPr lang="en-US"/>
          </a:p>
        </p:txBody>
      </p:sp>
    </p:spTree>
    <p:extLst>
      <p:ext uri="{BB962C8B-B14F-4D97-AF65-F5344CB8AC3E}">
        <p14:creationId xmlns:p14="http://schemas.microsoft.com/office/powerpoint/2010/main" val="16197863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sym typeface="Wingdings" panose="05000000000000000000" pitchFamily="2" charset="2"/>
              </a:rPr>
              <a:t> </a:t>
            </a:r>
            <a:r>
              <a:rPr lang="fr-FR" dirty="0" err="1">
                <a:sym typeface="Wingdings" panose="05000000000000000000" pitchFamily="2" charset="2"/>
              </a:rPr>
              <a:t>Complexify</a:t>
            </a:r>
            <a:r>
              <a:rPr lang="fr-FR" dirty="0">
                <a:sym typeface="Wingdings" panose="05000000000000000000" pitchFamily="2" charset="2"/>
              </a:rPr>
              <a:t> a </a:t>
            </a:r>
            <a:r>
              <a:rPr lang="fr-FR" dirty="0" err="1">
                <a:sym typeface="Wingdings" panose="05000000000000000000" pitchFamily="2" charset="2"/>
              </a:rPr>
              <a:t>crop</a:t>
            </a:r>
            <a:r>
              <a:rPr lang="fr-FR" dirty="0">
                <a:sym typeface="Wingdings" panose="05000000000000000000" pitchFamily="2" charset="2"/>
              </a:rPr>
              <a:t> model or </a:t>
            </a:r>
            <a:r>
              <a:rPr lang="fr-FR" dirty="0" err="1">
                <a:sym typeface="Wingdings" panose="05000000000000000000" pitchFamily="2" charset="2"/>
              </a:rPr>
              <a:t>simplify</a:t>
            </a:r>
            <a:r>
              <a:rPr lang="fr-FR" dirty="0">
                <a:sym typeface="Wingdings" panose="05000000000000000000" pitchFamily="2" charset="2"/>
              </a:rPr>
              <a:t> a FSPM</a:t>
            </a:r>
            <a:endParaRPr lang="en-US" dirty="0"/>
          </a:p>
        </p:txBody>
      </p:sp>
      <p:sp>
        <p:nvSpPr>
          <p:cNvPr id="4" name="Slide Number Placeholder 3"/>
          <p:cNvSpPr>
            <a:spLocks noGrp="1"/>
          </p:cNvSpPr>
          <p:nvPr>
            <p:ph type="sldNum" sz="quarter" idx="5"/>
          </p:nvPr>
        </p:nvSpPr>
        <p:spPr/>
        <p:txBody>
          <a:bodyPr/>
          <a:lstStyle/>
          <a:p>
            <a:fld id="{B7CF7746-5C39-4AFD-ABCF-6B9C3B0CDCF7}" type="slidenum">
              <a:rPr lang="en-US" smtClean="0"/>
              <a:t>15</a:t>
            </a:fld>
            <a:endParaRPr lang="en-US"/>
          </a:p>
        </p:txBody>
      </p:sp>
    </p:spTree>
    <p:extLst>
      <p:ext uri="{BB962C8B-B14F-4D97-AF65-F5344CB8AC3E}">
        <p14:creationId xmlns:p14="http://schemas.microsoft.com/office/powerpoint/2010/main" val="50052240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027FDF-08D7-45FF-9052-30E5030879E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22BCB2A-88B2-4D7F-A1E5-BDBBF1DCE25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630E229-6227-486F-820A-B25F49FC87BA}"/>
              </a:ext>
            </a:extLst>
          </p:cNvPr>
          <p:cNvSpPr>
            <a:spLocks noGrp="1"/>
          </p:cNvSpPr>
          <p:nvPr>
            <p:ph type="dt" sz="half" idx="10"/>
          </p:nvPr>
        </p:nvSpPr>
        <p:spPr/>
        <p:txBody>
          <a:bodyPr/>
          <a:lstStyle/>
          <a:p>
            <a:fld id="{259A546A-1104-411C-930F-AF07A3D180E4}" type="datetimeFigureOut">
              <a:rPr lang="en-US" smtClean="0"/>
              <a:t>1/29/2024</a:t>
            </a:fld>
            <a:endParaRPr lang="en-US"/>
          </a:p>
        </p:txBody>
      </p:sp>
      <p:sp>
        <p:nvSpPr>
          <p:cNvPr id="5" name="Footer Placeholder 4">
            <a:extLst>
              <a:ext uri="{FF2B5EF4-FFF2-40B4-BE49-F238E27FC236}">
                <a16:creationId xmlns:a16="http://schemas.microsoft.com/office/drawing/2014/main" id="{4021A3BD-0DF9-4973-B2CE-5E676244464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2E9DF4A-EDBB-4C17-B199-CF99BEE6D729}"/>
              </a:ext>
            </a:extLst>
          </p:cNvPr>
          <p:cNvSpPr>
            <a:spLocks noGrp="1"/>
          </p:cNvSpPr>
          <p:nvPr>
            <p:ph type="sldNum" sz="quarter" idx="12"/>
          </p:nvPr>
        </p:nvSpPr>
        <p:spPr/>
        <p:txBody>
          <a:bodyPr/>
          <a:lstStyle/>
          <a:p>
            <a:fld id="{28364E72-BC57-4BB9-9F4F-3E91925B1A96}" type="slidenum">
              <a:rPr lang="en-US" smtClean="0"/>
              <a:t>‹#›</a:t>
            </a:fld>
            <a:endParaRPr lang="en-US"/>
          </a:p>
        </p:txBody>
      </p:sp>
    </p:spTree>
    <p:extLst>
      <p:ext uri="{BB962C8B-B14F-4D97-AF65-F5344CB8AC3E}">
        <p14:creationId xmlns:p14="http://schemas.microsoft.com/office/powerpoint/2010/main" val="5898308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A2F007-F353-43A8-8CBE-096220672B4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711DFB3-6B88-41E8-B8DF-1FEB2A7CE318}"/>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D5E7593-D676-45FA-A7CD-DC0992E40ECA}"/>
              </a:ext>
            </a:extLst>
          </p:cNvPr>
          <p:cNvSpPr>
            <a:spLocks noGrp="1"/>
          </p:cNvSpPr>
          <p:nvPr>
            <p:ph type="dt" sz="half" idx="10"/>
          </p:nvPr>
        </p:nvSpPr>
        <p:spPr/>
        <p:txBody>
          <a:bodyPr/>
          <a:lstStyle/>
          <a:p>
            <a:fld id="{259A546A-1104-411C-930F-AF07A3D180E4}" type="datetimeFigureOut">
              <a:rPr lang="en-US" smtClean="0"/>
              <a:t>1/29/2024</a:t>
            </a:fld>
            <a:endParaRPr lang="en-US"/>
          </a:p>
        </p:txBody>
      </p:sp>
      <p:sp>
        <p:nvSpPr>
          <p:cNvPr id="5" name="Footer Placeholder 4">
            <a:extLst>
              <a:ext uri="{FF2B5EF4-FFF2-40B4-BE49-F238E27FC236}">
                <a16:creationId xmlns:a16="http://schemas.microsoft.com/office/drawing/2014/main" id="{0F793DF9-9CBF-427E-9E8D-CF86E3BB60E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F7BE722-30BE-4D25-848D-4AC17C25F660}"/>
              </a:ext>
            </a:extLst>
          </p:cNvPr>
          <p:cNvSpPr>
            <a:spLocks noGrp="1"/>
          </p:cNvSpPr>
          <p:nvPr>
            <p:ph type="sldNum" sz="quarter" idx="12"/>
          </p:nvPr>
        </p:nvSpPr>
        <p:spPr/>
        <p:txBody>
          <a:bodyPr/>
          <a:lstStyle/>
          <a:p>
            <a:fld id="{28364E72-BC57-4BB9-9F4F-3E91925B1A96}" type="slidenum">
              <a:rPr lang="en-US" smtClean="0"/>
              <a:t>‹#›</a:t>
            </a:fld>
            <a:endParaRPr lang="en-US"/>
          </a:p>
        </p:txBody>
      </p:sp>
    </p:spTree>
    <p:extLst>
      <p:ext uri="{BB962C8B-B14F-4D97-AF65-F5344CB8AC3E}">
        <p14:creationId xmlns:p14="http://schemas.microsoft.com/office/powerpoint/2010/main" val="20045038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E42352-1E54-4310-81E4-CFC9BE980D0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FD55452-D14D-4B1F-A719-FA135F60A46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C3FA84FD-90C5-47CF-B7F9-4DC965216213}"/>
              </a:ext>
            </a:extLst>
          </p:cNvPr>
          <p:cNvSpPr>
            <a:spLocks noGrp="1"/>
          </p:cNvSpPr>
          <p:nvPr>
            <p:ph type="dt" sz="half" idx="10"/>
          </p:nvPr>
        </p:nvSpPr>
        <p:spPr/>
        <p:txBody>
          <a:bodyPr/>
          <a:lstStyle/>
          <a:p>
            <a:fld id="{259A546A-1104-411C-930F-AF07A3D180E4}" type="datetimeFigureOut">
              <a:rPr lang="en-US" smtClean="0"/>
              <a:t>1/29/2024</a:t>
            </a:fld>
            <a:endParaRPr lang="en-US"/>
          </a:p>
        </p:txBody>
      </p:sp>
      <p:sp>
        <p:nvSpPr>
          <p:cNvPr id="5" name="Footer Placeholder 4">
            <a:extLst>
              <a:ext uri="{FF2B5EF4-FFF2-40B4-BE49-F238E27FC236}">
                <a16:creationId xmlns:a16="http://schemas.microsoft.com/office/drawing/2014/main" id="{696B9ED2-2F2D-420A-9436-BFE5FCA746E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74F61D8-BA13-4B3D-AF70-06BF7F484291}"/>
              </a:ext>
            </a:extLst>
          </p:cNvPr>
          <p:cNvSpPr>
            <a:spLocks noGrp="1"/>
          </p:cNvSpPr>
          <p:nvPr>
            <p:ph type="sldNum" sz="quarter" idx="12"/>
          </p:nvPr>
        </p:nvSpPr>
        <p:spPr/>
        <p:txBody>
          <a:bodyPr/>
          <a:lstStyle/>
          <a:p>
            <a:fld id="{28364E72-BC57-4BB9-9F4F-3E91925B1A96}" type="slidenum">
              <a:rPr lang="en-US" smtClean="0"/>
              <a:t>‹#›</a:t>
            </a:fld>
            <a:endParaRPr lang="en-US"/>
          </a:p>
        </p:txBody>
      </p:sp>
    </p:spTree>
    <p:extLst>
      <p:ext uri="{BB962C8B-B14F-4D97-AF65-F5344CB8AC3E}">
        <p14:creationId xmlns:p14="http://schemas.microsoft.com/office/powerpoint/2010/main" val="12485876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DE3970-162E-434E-92AB-E1A72F43F1B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4B89151-F628-4996-AC35-107EF61F5129}"/>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76D9413-F118-4BBB-BF4A-3CEF01925D08}"/>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46FE703-19B5-42FD-BEC9-3CEA0F561227}"/>
              </a:ext>
            </a:extLst>
          </p:cNvPr>
          <p:cNvSpPr>
            <a:spLocks noGrp="1"/>
          </p:cNvSpPr>
          <p:nvPr>
            <p:ph type="dt" sz="half" idx="10"/>
          </p:nvPr>
        </p:nvSpPr>
        <p:spPr/>
        <p:txBody>
          <a:bodyPr/>
          <a:lstStyle/>
          <a:p>
            <a:fld id="{259A546A-1104-411C-930F-AF07A3D180E4}" type="datetimeFigureOut">
              <a:rPr lang="en-US" smtClean="0"/>
              <a:t>1/29/2024</a:t>
            </a:fld>
            <a:endParaRPr lang="en-US"/>
          </a:p>
        </p:txBody>
      </p:sp>
      <p:sp>
        <p:nvSpPr>
          <p:cNvPr id="6" name="Footer Placeholder 5">
            <a:extLst>
              <a:ext uri="{FF2B5EF4-FFF2-40B4-BE49-F238E27FC236}">
                <a16:creationId xmlns:a16="http://schemas.microsoft.com/office/drawing/2014/main" id="{49869BE6-85A8-48E4-A4A0-63E4624A016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45CC35F-0974-4812-B6E7-10A2A381912C}"/>
              </a:ext>
            </a:extLst>
          </p:cNvPr>
          <p:cNvSpPr>
            <a:spLocks noGrp="1"/>
          </p:cNvSpPr>
          <p:nvPr>
            <p:ph type="sldNum" sz="quarter" idx="12"/>
          </p:nvPr>
        </p:nvSpPr>
        <p:spPr/>
        <p:txBody>
          <a:bodyPr/>
          <a:lstStyle/>
          <a:p>
            <a:fld id="{28364E72-BC57-4BB9-9F4F-3E91925B1A96}" type="slidenum">
              <a:rPr lang="en-US" smtClean="0"/>
              <a:t>‹#›</a:t>
            </a:fld>
            <a:endParaRPr lang="en-US"/>
          </a:p>
        </p:txBody>
      </p:sp>
    </p:spTree>
    <p:extLst>
      <p:ext uri="{BB962C8B-B14F-4D97-AF65-F5344CB8AC3E}">
        <p14:creationId xmlns:p14="http://schemas.microsoft.com/office/powerpoint/2010/main" val="32474934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BE0BB2-5A32-481C-A36C-A9FC4941B00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33153F1B-5B4F-4A83-8B1E-D2F73F4449F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5A5C7301-DBBF-4496-969A-73B773C4EF2B}"/>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5E2AD0E-37E8-4669-B248-0921A68E7C2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E89A2D6B-1D61-4AC4-9F0E-2296BC0A057F}"/>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90A5C39-2C93-444B-8650-3033C6395281}"/>
              </a:ext>
            </a:extLst>
          </p:cNvPr>
          <p:cNvSpPr>
            <a:spLocks noGrp="1"/>
          </p:cNvSpPr>
          <p:nvPr>
            <p:ph type="dt" sz="half" idx="10"/>
          </p:nvPr>
        </p:nvSpPr>
        <p:spPr/>
        <p:txBody>
          <a:bodyPr/>
          <a:lstStyle/>
          <a:p>
            <a:fld id="{259A546A-1104-411C-930F-AF07A3D180E4}" type="datetimeFigureOut">
              <a:rPr lang="en-US" smtClean="0"/>
              <a:t>1/29/2024</a:t>
            </a:fld>
            <a:endParaRPr lang="en-US"/>
          </a:p>
        </p:txBody>
      </p:sp>
      <p:sp>
        <p:nvSpPr>
          <p:cNvPr id="8" name="Footer Placeholder 7">
            <a:extLst>
              <a:ext uri="{FF2B5EF4-FFF2-40B4-BE49-F238E27FC236}">
                <a16:creationId xmlns:a16="http://schemas.microsoft.com/office/drawing/2014/main" id="{061DC72E-6A8C-4AAB-9043-7B1ADF43B1F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677CBDF-A031-4CC0-87A5-AD509054B4DA}"/>
              </a:ext>
            </a:extLst>
          </p:cNvPr>
          <p:cNvSpPr>
            <a:spLocks noGrp="1"/>
          </p:cNvSpPr>
          <p:nvPr>
            <p:ph type="sldNum" sz="quarter" idx="12"/>
          </p:nvPr>
        </p:nvSpPr>
        <p:spPr/>
        <p:txBody>
          <a:bodyPr/>
          <a:lstStyle/>
          <a:p>
            <a:fld id="{28364E72-BC57-4BB9-9F4F-3E91925B1A96}" type="slidenum">
              <a:rPr lang="en-US" smtClean="0"/>
              <a:t>‹#›</a:t>
            </a:fld>
            <a:endParaRPr lang="en-US"/>
          </a:p>
        </p:txBody>
      </p:sp>
    </p:spTree>
    <p:extLst>
      <p:ext uri="{BB962C8B-B14F-4D97-AF65-F5344CB8AC3E}">
        <p14:creationId xmlns:p14="http://schemas.microsoft.com/office/powerpoint/2010/main" val="219439188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8B9A8B-00F7-486F-9DAC-4E9B132B3D6A}"/>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1D146C8-0C6C-4FFB-A600-7EEF6DCF2654}"/>
              </a:ext>
            </a:extLst>
          </p:cNvPr>
          <p:cNvSpPr>
            <a:spLocks noGrp="1"/>
          </p:cNvSpPr>
          <p:nvPr>
            <p:ph type="dt" sz="half" idx="10"/>
          </p:nvPr>
        </p:nvSpPr>
        <p:spPr/>
        <p:txBody>
          <a:bodyPr/>
          <a:lstStyle/>
          <a:p>
            <a:fld id="{259A546A-1104-411C-930F-AF07A3D180E4}" type="datetimeFigureOut">
              <a:rPr lang="en-US" smtClean="0"/>
              <a:t>1/29/2024</a:t>
            </a:fld>
            <a:endParaRPr lang="en-US"/>
          </a:p>
        </p:txBody>
      </p:sp>
      <p:sp>
        <p:nvSpPr>
          <p:cNvPr id="4" name="Footer Placeholder 3">
            <a:extLst>
              <a:ext uri="{FF2B5EF4-FFF2-40B4-BE49-F238E27FC236}">
                <a16:creationId xmlns:a16="http://schemas.microsoft.com/office/drawing/2014/main" id="{11615DE4-1F36-4AF9-A9FC-258EFAE1365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49E690C-1948-4DBF-9792-FF5FBBFA4363}"/>
              </a:ext>
            </a:extLst>
          </p:cNvPr>
          <p:cNvSpPr>
            <a:spLocks noGrp="1"/>
          </p:cNvSpPr>
          <p:nvPr>
            <p:ph type="sldNum" sz="quarter" idx="12"/>
          </p:nvPr>
        </p:nvSpPr>
        <p:spPr/>
        <p:txBody>
          <a:bodyPr/>
          <a:lstStyle/>
          <a:p>
            <a:fld id="{28364E72-BC57-4BB9-9F4F-3E91925B1A96}" type="slidenum">
              <a:rPr lang="en-US" smtClean="0"/>
              <a:t>‹#›</a:t>
            </a:fld>
            <a:endParaRPr lang="en-US"/>
          </a:p>
        </p:txBody>
      </p:sp>
    </p:spTree>
    <p:extLst>
      <p:ext uri="{BB962C8B-B14F-4D97-AF65-F5344CB8AC3E}">
        <p14:creationId xmlns:p14="http://schemas.microsoft.com/office/powerpoint/2010/main" val="29498633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AE0B288-79D0-46F6-9A9C-F6E84E4C5F95}"/>
              </a:ext>
            </a:extLst>
          </p:cNvPr>
          <p:cNvSpPr>
            <a:spLocks noGrp="1"/>
          </p:cNvSpPr>
          <p:nvPr>
            <p:ph type="dt" sz="half" idx="10"/>
          </p:nvPr>
        </p:nvSpPr>
        <p:spPr/>
        <p:txBody>
          <a:bodyPr/>
          <a:lstStyle/>
          <a:p>
            <a:fld id="{259A546A-1104-411C-930F-AF07A3D180E4}" type="datetimeFigureOut">
              <a:rPr lang="en-US" smtClean="0"/>
              <a:t>1/29/2024</a:t>
            </a:fld>
            <a:endParaRPr lang="en-US"/>
          </a:p>
        </p:txBody>
      </p:sp>
      <p:sp>
        <p:nvSpPr>
          <p:cNvPr id="3" name="Footer Placeholder 2">
            <a:extLst>
              <a:ext uri="{FF2B5EF4-FFF2-40B4-BE49-F238E27FC236}">
                <a16:creationId xmlns:a16="http://schemas.microsoft.com/office/drawing/2014/main" id="{81D6465B-45E1-4C21-ACF7-62EE312E271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9D92805-43F6-4B34-B06D-B3FC50D01B27}"/>
              </a:ext>
            </a:extLst>
          </p:cNvPr>
          <p:cNvSpPr>
            <a:spLocks noGrp="1"/>
          </p:cNvSpPr>
          <p:nvPr>
            <p:ph type="sldNum" sz="quarter" idx="12"/>
          </p:nvPr>
        </p:nvSpPr>
        <p:spPr/>
        <p:txBody>
          <a:bodyPr/>
          <a:lstStyle/>
          <a:p>
            <a:fld id="{28364E72-BC57-4BB9-9F4F-3E91925B1A96}" type="slidenum">
              <a:rPr lang="en-US" smtClean="0"/>
              <a:t>‹#›</a:t>
            </a:fld>
            <a:endParaRPr lang="en-US"/>
          </a:p>
        </p:txBody>
      </p:sp>
    </p:spTree>
    <p:extLst>
      <p:ext uri="{BB962C8B-B14F-4D97-AF65-F5344CB8AC3E}">
        <p14:creationId xmlns:p14="http://schemas.microsoft.com/office/powerpoint/2010/main" val="5453865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42A459-5F77-498F-98EA-92B11A2F507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1B87F72-413A-4567-A9D6-02EDBF9DA80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7B156BF-1601-404F-B144-473372B2A1E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518ED26C-8690-4D7D-82ED-EED1ED07AD1F}"/>
              </a:ext>
            </a:extLst>
          </p:cNvPr>
          <p:cNvSpPr>
            <a:spLocks noGrp="1"/>
          </p:cNvSpPr>
          <p:nvPr>
            <p:ph type="dt" sz="half" idx="10"/>
          </p:nvPr>
        </p:nvSpPr>
        <p:spPr/>
        <p:txBody>
          <a:bodyPr/>
          <a:lstStyle/>
          <a:p>
            <a:fld id="{259A546A-1104-411C-930F-AF07A3D180E4}" type="datetimeFigureOut">
              <a:rPr lang="en-US" smtClean="0"/>
              <a:t>1/29/2024</a:t>
            </a:fld>
            <a:endParaRPr lang="en-US"/>
          </a:p>
        </p:txBody>
      </p:sp>
      <p:sp>
        <p:nvSpPr>
          <p:cNvPr id="6" name="Footer Placeholder 5">
            <a:extLst>
              <a:ext uri="{FF2B5EF4-FFF2-40B4-BE49-F238E27FC236}">
                <a16:creationId xmlns:a16="http://schemas.microsoft.com/office/drawing/2014/main" id="{3303B4A7-D93D-4636-8F40-CBEB2165232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0911AA8-CBC9-4D66-B5D7-3D7C533D4CDD}"/>
              </a:ext>
            </a:extLst>
          </p:cNvPr>
          <p:cNvSpPr>
            <a:spLocks noGrp="1"/>
          </p:cNvSpPr>
          <p:nvPr>
            <p:ph type="sldNum" sz="quarter" idx="12"/>
          </p:nvPr>
        </p:nvSpPr>
        <p:spPr/>
        <p:txBody>
          <a:bodyPr/>
          <a:lstStyle/>
          <a:p>
            <a:fld id="{28364E72-BC57-4BB9-9F4F-3E91925B1A96}" type="slidenum">
              <a:rPr lang="en-US" smtClean="0"/>
              <a:t>‹#›</a:t>
            </a:fld>
            <a:endParaRPr lang="en-US"/>
          </a:p>
        </p:txBody>
      </p:sp>
    </p:spTree>
    <p:extLst>
      <p:ext uri="{BB962C8B-B14F-4D97-AF65-F5344CB8AC3E}">
        <p14:creationId xmlns:p14="http://schemas.microsoft.com/office/powerpoint/2010/main" val="26976226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E446A8-EAAD-412C-8469-566BDE295D1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E3967C1-8EF2-497E-B851-CF4162CF283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8E4EF09-DE75-4314-8EEB-4CB79D576E1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806413B9-4599-43D1-A41C-B19822C004B0}"/>
              </a:ext>
            </a:extLst>
          </p:cNvPr>
          <p:cNvSpPr>
            <a:spLocks noGrp="1"/>
          </p:cNvSpPr>
          <p:nvPr>
            <p:ph type="dt" sz="half" idx="10"/>
          </p:nvPr>
        </p:nvSpPr>
        <p:spPr/>
        <p:txBody>
          <a:bodyPr/>
          <a:lstStyle/>
          <a:p>
            <a:fld id="{259A546A-1104-411C-930F-AF07A3D180E4}" type="datetimeFigureOut">
              <a:rPr lang="en-US" smtClean="0"/>
              <a:t>1/29/2024</a:t>
            </a:fld>
            <a:endParaRPr lang="en-US"/>
          </a:p>
        </p:txBody>
      </p:sp>
      <p:sp>
        <p:nvSpPr>
          <p:cNvPr id="6" name="Footer Placeholder 5">
            <a:extLst>
              <a:ext uri="{FF2B5EF4-FFF2-40B4-BE49-F238E27FC236}">
                <a16:creationId xmlns:a16="http://schemas.microsoft.com/office/drawing/2014/main" id="{54F0D3A3-31DD-4A5C-8194-4CB40936CB0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5BBF99F-3252-4532-BC20-BA8A3AA71E2B}"/>
              </a:ext>
            </a:extLst>
          </p:cNvPr>
          <p:cNvSpPr>
            <a:spLocks noGrp="1"/>
          </p:cNvSpPr>
          <p:nvPr>
            <p:ph type="sldNum" sz="quarter" idx="12"/>
          </p:nvPr>
        </p:nvSpPr>
        <p:spPr/>
        <p:txBody>
          <a:bodyPr/>
          <a:lstStyle/>
          <a:p>
            <a:fld id="{28364E72-BC57-4BB9-9F4F-3E91925B1A96}" type="slidenum">
              <a:rPr lang="en-US" smtClean="0"/>
              <a:t>‹#›</a:t>
            </a:fld>
            <a:endParaRPr lang="en-US"/>
          </a:p>
        </p:txBody>
      </p:sp>
    </p:spTree>
    <p:extLst>
      <p:ext uri="{BB962C8B-B14F-4D97-AF65-F5344CB8AC3E}">
        <p14:creationId xmlns:p14="http://schemas.microsoft.com/office/powerpoint/2010/main" val="12069271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B90FB4-0528-4340-9C9A-4CA81EFBC21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2866CB1-48A4-4DC0-BF36-9245B92A2DE0}"/>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35C7637-6807-4189-BB39-4E284F42FA28}"/>
              </a:ext>
            </a:extLst>
          </p:cNvPr>
          <p:cNvSpPr>
            <a:spLocks noGrp="1"/>
          </p:cNvSpPr>
          <p:nvPr>
            <p:ph type="dt" sz="half" idx="10"/>
          </p:nvPr>
        </p:nvSpPr>
        <p:spPr/>
        <p:txBody>
          <a:bodyPr/>
          <a:lstStyle/>
          <a:p>
            <a:fld id="{259A546A-1104-411C-930F-AF07A3D180E4}" type="datetimeFigureOut">
              <a:rPr lang="en-US" smtClean="0"/>
              <a:t>1/29/2024</a:t>
            </a:fld>
            <a:endParaRPr lang="en-US"/>
          </a:p>
        </p:txBody>
      </p:sp>
      <p:sp>
        <p:nvSpPr>
          <p:cNvPr id="5" name="Footer Placeholder 4">
            <a:extLst>
              <a:ext uri="{FF2B5EF4-FFF2-40B4-BE49-F238E27FC236}">
                <a16:creationId xmlns:a16="http://schemas.microsoft.com/office/drawing/2014/main" id="{D4881436-0962-4750-B0D3-A96304889D8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F72E7B2-25AB-4793-9BC0-EF9EF8069BF2}"/>
              </a:ext>
            </a:extLst>
          </p:cNvPr>
          <p:cNvSpPr>
            <a:spLocks noGrp="1"/>
          </p:cNvSpPr>
          <p:nvPr>
            <p:ph type="sldNum" sz="quarter" idx="12"/>
          </p:nvPr>
        </p:nvSpPr>
        <p:spPr/>
        <p:txBody>
          <a:bodyPr/>
          <a:lstStyle/>
          <a:p>
            <a:fld id="{28364E72-BC57-4BB9-9F4F-3E91925B1A96}" type="slidenum">
              <a:rPr lang="en-US" smtClean="0"/>
              <a:t>‹#›</a:t>
            </a:fld>
            <a:endParaRPr lang="en-US"/>
          </a:p>
        </p:txBody>
      </p:sp>
    </p:spTree>
    <p:extLst>
      <p:ext uri="{BB962C8B-B14F-4D97-AF65-F5344CB8AC3E}">
        <p14:creationId xmlns:p14="http://schemas.microsoft.com/office/powerpoint/2010/main" val="211480440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E8FB55A-453E-4F6D-8C6B-AF09DF985E35}"/>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FE43D2C-C25D-481D-A4B2-C7558B54D249}"/>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D17B70A-5E58-4A8A-9353-F2A5EE80DA6F}"/>
              </a:ext>
            </a:extLst>
          </p:cNvPr>
          <p:cNvSpPr>
            <a:spLocks noGrp="1"/>
          </p:cNvSpPr>
          <p:nvPr>
            <p:ph type="dt" sz="half" idx="10"/>
          </p:nvPr>
        </p:nvSpPr>
        <p:spPr/>
        <p:txBody>
          <a:bodyPr/>
          <a:lstStyle/>
          <a:p>
            <a:fld id="{259A546A-1104-411C-930F-AF07A3D180E4}" type="datetimeFigureOut">
              <a:rPr lang="en-US" smtClean="0"/>
              <a:t>1/29/2024</a:t>
            </a:fld>
            <a:endParaRPr lang="en-US"/>
          </a:p>
        </p:txBody>
      </p:sp>
      <p:sp>
        <p:nvSpPr>
          <p:cNvPr id="5" name="Footer Placeholder 4">
            <a:extLst>
              <a:ext uri="{FF2B5EF4-FFF2-40B4-BE49-F238E27FC236}">
                <a16:creationId xmlns:a16="http://schemas.microsoft.com/office/drawing/2014/main" id="{CC6B5DA3-24B1-48B0-93E4-6B2AF534491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3EF7500-A2B5-4333-AC14-379EB2466C3E}"/>
              </a:ext>
            </a:extLst>
          </p:cNvPr>
          <p:cNvSpPr>
            <a:spLocks noGrp="1"/>
          </p:cNvSpPr>
          <p:nvPr>
            <p:ph type="sldNum" sz="quarter" idx="12"/>
          </p:nvPr>
        </p:nvSpPr>
        <p:spPr/>
        <p:txBody>
          <a:bodyPr/>
          <a:lstStyle/>
          <a:p>
            <a:fld id="{28364E72-BC57-4BB9-9F4F-3E91925B1A96}" type="slidenum">
              <a:rPr lang="en-US" smtClean="0"/>
              <a:t>‹#›</a:t>
            </a:fld>
            <a:endParaRPr lang="en-US"/>
          </a:p>
        </p:txBody>
      </p:sp>
    </p:spTree>
    <p:extLst>
      <p:ext uri="{BB962C8B-B14F-4D97-AF65-F5344CB8AC3E}">
        <p14:creationId xmlns:p14="http://schemas.microsoft.com/office/powerpoint/2010/main" val="9350827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B8B8B1D-0832-4517-9F59-6CB59A44FF4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B685190-3233-4B73-B604-3D36E4B8FA1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A86657B-2B03-4215-ADB6-210AAA97751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59A546A-1104-411C-930F-AF07A3D180E4}" type="datetimeFigureOut">
              <a:rPr lang="en-US" smtClean="0"/>
              <a:t>1/29/2024</a:t>
            </a:fld>
            <a:endParaRPr lang="en-US"/>
          </a:p>
        </p:txBody>
      </p:sp>
      <p:sp>
        <p:nvSpPr>
          <p:cNvPr id="5" name="Footer Placeholder 4">
            <a:extLst>
              <a:ext uri="{FF2B5EF4-FFF2-40B4-BE49-F238E27FC236}">
                <a16:creationId xmlns:a16="http://schemas.microsoft.com/office/drawing/2014/main" id="{3A2AD6F4-65AF-4103-A178-89B6BF96A59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03150777-090C-4271-8B8A-88896DF1652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8364E72-BC57-4BB9-9F4F-3E91925B1A96}" type="slidenum">
              <a:rPr lang="en-US" smtClean="0"/>
              <a:t>‹#›</a:t>
            </a:fld>
            <a:endParaRPr lang="en-US"/>
          </a:p>
        </p:txBody>
      </p:sp>
    </p:spTree>
    <p:extLst>
      <p:ext uri="{BB962C8B-B14F-4D97-AF65-F5344CB8AC3E}">
        <p14:creationId xmlns:p14="http://schemas.microsoft.com/office/powerpoint/2010/main" val="115448848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4.jp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F36913-F2E8-4945-917C-FD9B48F10502}"/>
              </a:ext>
            </a:extLst>
          </p:cNvPr>
          <p:cNvSpPr>
            <a:spLocks noGrp="1"/>
          </p:cNvSpPr>
          <p:nvPr>
            <p:ph type="ctrTitle"/>
          </p:nvPr>
        </p:nvSpPr>
        <p:spPr>
          <a:xfrm>
            <a:off x="1524000" y="1683264"/>
            <a:ext cx="9144000" cy="2678366"/>
          </a:xfrm>
        </p:spPr>
        <p:txBody>
          <a:bodyPr>
            <a:normAutofit fontScale="90000"/>
          </a:bodyPr>
          <a:lstStyle/>
          <a:p>
            <a:r>
              <a:rPr lang="en-US" b="1" dirty="0"/>
              <a:t>Multiscale Hybrid Modelling Framework for Intercropping: </a:t>
            </a:r>
            <a:br>
              <a:rPr lang="en-US" b="1" dirty="0"/>
            </a:br>
            <a:r>
              <a:rPr lang="en-US" sz="5300" dirty="0"/>
              <a:t>the best of Plant and Crop Models</a:t>
            </a:r>
          </a:p>
        </p:txBody>
      </p:sp>
      <p:pic>
        <p:nvPicPr>
          <p:cNvPr id="6" name="Picture 5">
            <a:extLst>
              <a:ext uri="{FF2B5EF4-FFF2-40B4-BE49-F238E27FC236}">
                <a16:creationId xmlns:a16="http://schemas.microsoft.com/office/drawing/2014/main" id="{2ADE7C44-7B5D-46BB-B9AC-B69999D8334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435972" y="-1744"/>
            <a:ext cx="1146050" cy="1429515"/>
          </a:xfrm>
          <a:prstGeom prst="rect">
            <a:avLst/>
          </a:prstGeom>
        </p:spPr>
      </p:pic>
      <p:pic>
        <p:nvPicPr>
          <p:cNvPr id="8" name="Picture 7">
            <a:extLst>
              <a:ext uri="{FF2B5EF4-FFF2-40B4-BE49-F238E27FC236}">
                <a16:creationId xmlns:a16="http://schemas.microsoft.com/office/drawing/2014/main" id="{3E6CA743-780A-401B-A71F-04C9F8BDCB9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5114" y="126631"/>
            <a:ext cx="1674122" cy="1305024"/>
          </a:xfrm>
          <a:prstGeom prst="rect">
            <a:avLst/>
          </a:prstGeom>
        </p:spPr>
      </p:pic>
      <p:pic>
        <p:nvPicPr>
          <p:cNvPr id="10" name="Picture 9">
            <a:extLst>
              <a:ext uri="{FF2B5EF4-FFF2-40B4-BE49-F238E27FC236}">
                <a16:creationId xmlns:a16="http://schemas.microsoft.com/office/drawing/2014/main" id="{CDC6AFDF-4999-4BA6-A3AA-B459C3D8B57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528534" y="290343"/>
            <a:ext cx="2230329" cy="883442"/>
          </a:xfrm>
          <a:prstGeom prst="rect">
            <a:avLst/>
          </a:prstGeom>
        </p:spPr>
      </p:pic>
      <p:pic>
        <p:nvPicPr>
          <p:cNvPr id="12" name="Picture 11">
            <a:extLst>
              <a:ext uri="{FF2B5EF4-FFF2-40B4-BE49-F238E27FC236}">
                <a16:creationId xmlns:a16="http://schemas.microsoft.com/office/drawing/2014/main" id="{4D92F760-5306-412A-918A-A94EE74E7A3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042670" y="331780"/>
            <a:ext cx="2109494" cy="852236"/>
          </a:xfrm>
          <a:prstGeom prst="rect">
            <a:avLst/>
          </a:prstGeom>
        </p:spPr>
      </p:pic>
      <p:sp>
        <p:nvSpPr>
          <p:cNvPr id="13" name="Subtitle 2">
            <a:extLst>
              <a:ext uri="{FF2B5EF4-FFF2-40B4-BE49-F238E27FC236}">
                <a16:creationId xmlns:a16="http://schemas.microsoft.com/office/drawing/2014/main" id="{3A1786E5-3551-4D9F-96CE-FC03F1CE5FF3}"/>
              </a:ext>
            </a:extLst>
          </p:cNvPr>
          <p:cNvSpPr txBox="1">
            <a:spLocks/>
          </p:cNvSpPr>
          <p:nvPr/>
        </p:nvSpPr>
        <p:spPr>
          <a:xfrm>
            <a:off x="5733185" y="5555116"/>
            <a:ext cx="2154314" cy="968160"/>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2000" dirty="0"/>
              <a:t>Marc Jaeger </a:t>
            </a:r>
          </a:p>
          <a:p>
            <a:pPr algn="l"/>
            <a:r>
              <a:rPr lang="en-US" sz="2000" dirty="0"/>
              <a:t>Myriam Adam</a:t>
            </a:r>
          </a:p>
        </p:txBody>
      </p:sp>
      <p:sp>
        <p:nvSpPr>
          <p:cNvPr id="14" name="Subtitle 2">
            <a:extLst>
              <a:ext uri="{FF2B5EF4-FFF2-40B4-BE49-F238E27FC236}">
                <a16:creationId xmlns:a16="http://schemas.microsoft.com/office/drawing/2014/main" id="{919EFF36-5926-4284-AB93-705C8B0CFEBA}"/>
              </a:ext>
            </a:extLst>
          </p:cNvPr>
          <p:cNvSpPr txBox="1">
            <a:spLocks/>
          </p:cNvSpPr>
          <p:nvPr/>
        </p:nvSpPr>
        <p:spPr>
          <a:xfrm>
            <a:off x="9430927" y="5326108"/>
            <a:ext cx="2503503" cy="14447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2000" dirty="0"/>
              <a:t>Christophe </a:t>
            </a:r>
            <a:r>
              <a:rPr lang="en-US" sz="2000" dirty="0" err="1"/>
              <a:t>Pradal</a:t>
            </a:r>
            <a:endParaRPr lang="en-US" sz="2000" dirty="0"/>
          </a:p>
          <a:p>
            <a:pPr algn="l"/>
            <a:r>
              <a:rPr lang="en-US" sz="2000" dirty="0"/>
              <a:t>Remi </a:t>
            </a:r>
            <a:r>
              <a:rPr lang="en-US" sz="2000" dirty="0" err="1"/>
              <a:t>Vezy</a:t>
            </a:r>
            <a:endParaRPr lang="en-US" sz="2000" dirty="0"/>
          </a:p>
          <a:p>
            <a:pPr algn="l"/>
            <a:r>
              <a:rPr lang="en-US" sz="2000" dirty="0"/>
              <a:t>Thomas </a:t>
            </a:r>
            <a:r>
              <a:rPr lang="en-US" sz="2000" dirty="0" err="1"/>
              <a:t>Arsouze</a:t>
            </a:r>
            <a:endParaRPr lang="en-US" sz="2000" dirty="0"/>
          </a:p>
        </p:txBody>
      </p:sp>
      <p:sp>
        <p:nvSpPr>
          <p:cNvPr id="15" name="Subtitle 2">
            <a:extLst>
              <a:ext uri="{FF2B5EF4-FFF2-40B4-BE49-F238E27FC236}">
                <a16:creationId xmlns:a16="http://schemas.microsoft.com/office/drawing/2014/main" id="{C7B9EFAB-9C18-450A-974A-6B019DB338E7}"/>
              </a:ext>
            </a:extLst>
          </p:cNvPr>
          <p:cNvSpPr txBox="1">
            <a:spLocks/>
          </p:cNvSpPr>
          <p:nvPr/>
        </p:nvSpPr>
        <p:spPr>
          <a:xfrm>
            <a:off x="4367668" y="5748291"/>
            <a:ext cx="1441823" cy="444264"/>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2000" i="1" dirty="0">
                <a:solidFill>
                  <a:schemeClr val="bg1">
                    <a:lumMod val="50000"/>
                  </a:schemeClr>
                </a:solidFill>
              </a:rPr>
              <a:t>Direction</a:t>
            </a:r>
          </a:p>
        </p:txBody>
      </p:sp>
      <p:sp>
        <p:nvSpPr>
          <p:cNvPr id="16" name="Subtitle 2">
            <a:extLst>
              <a:ext uri="{FF2B5EF4-FFF2-40B4-BE49-F238E27FC236}">
                <a16:creationId xmlns:a16="http://schemas.microsoft.com/office/drawing/2014/main" id="{4647CC5D-9E05-4C5D-8416-9B287CEE01EF}"/>
              </a:ext>
            </a:extLst>
          </p:cNvPr>
          <p:cNvSpPr txBox="1">
            <a:spLocks/>
          </p:cNvSpPr>
          <p:nvPr/>
        </p:nvSpPr>
        <p:spPr>
          <a:xfrm>
            <a:off x="7887499" y="5721192"/>
            <a:ext cx="1734786" cy="444264"/>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2000" i="1" dirty="0">
                <a:solidFill>
                  <a:schemeClr val="bg1">
                    <a:lumMod val="50000"/>
                  </a:schemeClr>
                </a:solidFill>
              </a:rPr>
              <a:t>Supervision</a:t>
            </a:r>
          </a:p>
        </p:txBody>
      </p:sp>
      <p:cxnSp>
        <p:nvCxnSpPr>
          <p:cNvPr id="18" name="Straight Connector 17">
            <a:extLst>
              <a:ext uri="{FF2B5EF4-FFF2-40B4-BE49-F238E27FC236}">
                <a16:creationId xmlns:a16="http://schemas.microsoft.com/office/drawing/2014/main" id="{AE7479B2-5A95-4BE4-9071-A14143E4074C}"/>
              </a:ext>
            </a:extLst>
          </p:cNvPr>
          <p:cNvCxnSpPr>
            <a:cxnSpLocks/>
          </p:cNvCxnSpPr>
          <p:nvPr/>
        </p:nvCxnSpPr>
        <p:spPr>
          <a:xfrm>
            <a:off x="5666913" y="5441953"/>
            <a:ext cx="0" cy="931718"/>
          </a:xfrm>
          <a:prstGeom prst="line">
            <a:avLst/>
          </a:prstGeom>
          <a:ln>
            <a:solidFill>
              <a:schemeClr val="accent3"/>
            </a:solidFill>
          </a:ln>
        </p:spPr>
        <p:style>
          <a:lnRef idx="1">
            <a:schemeClr val="dk1"/>
          </a:lnRef>
          <a:fillRef idx="0">
            <a:schemeClr val="dk1"/>
          </a:fillRef>
          <a:effectRef idx="0">
            <a:schemeClr val="dk1"/>
          </a:effectRef>
          <a:fontRef idx="minor">
            <a:schemeClr val="tx1"/>
          </a:fontRef>
        </p:style>
      </p:cxnSp>
      <p:cxnSp>
        <p:nvCxnSpPr>
          <p:cNvPr id="19" name="Straight Connector 18">
            <a:extLst>
              <a:ext uri="{FF2B5EF4-FFF2-40B4-BE49-F238E27FC236}">
                <a16:creationId xmlns:a16="http://schemas.microsoft.com/office/drawing/2014/main" id="{949D1DF0-DFEC-4048-9537-DCB4562F5F6A}"/>
              </a:ext>
            </a:extLst>
          </p:cNvPr>
          <p:cNvCxnSpPr>
            <a:cxnSpLocks/>
          </p:cNvCxnSpPr>
          <p:nvPr/>
        </p:nvCxnSpPr>
        <p:spPr>
          <a:xfrm>
            <a:off x="9369583" y="5202315"/>
            <a:ext cx="0" cy="1320961"/>
          </a:xfrm>
          <a:prstGeom prst="line">
            <a:avLst/>
          </a:prstGeom>
          <a:ln>
            <a:solidFill>
              <a:schemeClr val="accent3"/>
            </a:solidFill>
          </a:ln>
        </p:spPr>
        <p:style>
          <a:lnRef idx="1">
            <a:schemeClr val="dk1"/>
          </a:lnRef>
          <a:fillRef idx="0">
            <a:schemeClr val="dk1"/>
          </a:fillRef>
          <a:effectRef idx="0">
            <a:schemeClr val="dk1"/>
          </a:effectRef>
          <a:fontRef idx="minor">
            <a:schemeClr val="tx1"/>
          </a:fontRef>
        </p:style>
      </p:cxnSp>
      <p:sp>
        <p:nvSpPr>
          <p:cNvPr id="28" name="Subtitle 2">
            <a:extLst>
              <a:ext uri="{FF2B5EF4-FFF2-40B4-BE49-F238E27FC236}">
                <a16:creationId xmlns:a16="http://schemas.microsoft.com/office/drawing/2014/main" id="{488E0773-6AB8-428B-A38C-BA70079348E5}"/>
              </a:ext>
            </a:extLst>
          </p:cNvPr>
          <p:cNvSpPr txBox="1">
            <a:spLocks/>
          </p:cNvSpPr>
          <p:nvPr/>
        </p:nvSpPr>
        <p:spPr>
          <a:xfrm>
            <a:off x="384362" y="5756704"/>
            <a:ext cx="1553862" cy="444264"/>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2000" i="1" dirty="0">
                <a:solidFill>
                  <a:schemeClr val="bg1">
                    <a:lumMod val="50000"/>
                  </a:schemeClr>
                </a:solidFill>
              </a:rPr>
              <a:t>PhD Student</a:t>
            </a:r>
          </a:p>
        </p:txBody>
      </p:sp>
      <p:sp>
        <p:nvSpPr>
          <p:cNvPr id="29" name="Subtitle 2">
            <a:extLst>
              <a:ext uri="{FF2B5EF4-FFF2-40B4-BE49-F238E27FC236}">
                <a16:creationId xmlns:a16="http://schemas.microsoft.com/office/drawing/2014/main" id="{5F8E536B-9CE0-4656-B6BC-B478F22F7DCF}"/>
              </a:ext>
            </a:extLst>
          </p:cNvPr>
          <p:cNvSpPr txBox="1">
            <a:spLocks/>
          </p:cNvSpPr>
          <p:nvPr/>
        </p:nvSpPr>
        <p:spPr>
          <a:xfrm>
            <a:off x="2111772" y="5748291"/>
            <a:ext cx="1740833" cy="444264"/>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2000" dirty="0" err="1"/>
              <a:t>Oriane</a:t>
            </a:r>
            <a:r>
              <a:rPr lang="en-US" sz="2000" dirty="0"/>
              <a:t> </a:t>
            </a:r>
            <a:r>
              <a:rPr lang="en-US" sz="2000" dirty="0" err="1"/>
              <a:t>Braud</a:t>
            </a:r>
            <a:endParaRPr lang="en-US" sz="2000" dirty="0"/>
          </a:p>
        </p:txBody>
      </p:sp>
      <p:cxnSp>
        <p:nvCxnSpPr>
          <p:cNvPr id="30" name="Straight Connector 29">
            <a:extLst>
              <a:ext uri="{FF2B5EF4-FFF2-40B4-BE49-F238E27FC236}">
                <a16:creationId xmlns:a16="http://schemas.microsoft.com/office/drawing/2014/main" id="{863310A2-BBFF-4841-AA5D-CBC57B4416EC}"/>
              </a:ext>
            </a:extLst>
          </p:cNvPr>
          <p:cNvCxnSpPr>
            <a:cxnSpLocks/>
          </p:cNvCxnSpPr>
          <p:nvPr/>
        </p:nvCxnSpPr>
        <p:spPr>
          <a:xfrm>
            <a:off x="2054067" y="5694558"/>
            <a:ext cx="0" cy="471363"/>
          </a:xfrm>
          <a:prstGeom prst="line">
            <a:avLst/>
          </a:prstGeom>
          <a:ln>
            <a:solidFill>
              <a:schemeClr val="accent3"/>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8137471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96419E-9476-45B7-B2AD-3F7B0C512B6B}"/>
              </a:ext>
            </a:extLst>
          </p:cNvPr>
          <p:cNvSpPr>
            <a:spLocks noGrp="1"/>
          </p:cNvSpPr>
          <p:nvPr>
            <p:ph type="title"/>
          </p:nvPr>
        </p:nvSpPr>
        <p:spPr>
          <a:xfrm>
            <a:off x="838200" y="-143923"/>
            <a:ext cx="10515600" cy="1325563"/>
          </a:xfrm>
        </p:spPr>
        <p:txBody>
          <a:bodyPr/>
          <a:lstStyle/>
          <a:p>
            <a:r>
              <a:rPr lang="fr-FR" dirty="0" err="1"/>
              <a:t>IntercropValuES</a:t>
            </a:r>
            <a:r>
              <a:rPr lang="fr-FR" dirty="0"/>
              <a:t> concept</a:t>
            </a:r>
            <a:endParaRPr lang="en-US" dirty="0"/>
          </a:p>
        </p:txBody>
      </p:sp>
      <p:sp>
        <p:nvSpPr>
          <p:cNvPr id="3" name="Content Placeholder 2">
            <a:extLst>
              <a:ext uri="{FF2B5EF4-FFF2-40B4-BE49-F238E27FC236}">
                <a16:creationId xmlns:a16="http://schemas.microsoft.com/office/drawing/2014/main" id="{71F95964-7C96-462F-BD5A-93C85D9C3E51}"/>
              </a:ext>
            </a:extLst>
          </p:cNvPr>
          <p:cNvSpPr>
            <a:spLocks noGrp="1"/>
          </p:cNvSpPr>
          <p:nvPr>
            <p:ph idx="1"/>
          </p:nvPr>
        </p:nvSpPr>
        <p:spPr>
          <a:xfrm>
            <a:off x="838199" y="857840"/>
            <a:ext cx="10983013" cy="5863472"/>
          </a:xfrm>
        </p:spPr>
        <p:txBody>
          <a:bodyPr>
            <a:normAutofit fontScale="40000" lnSpcReduction="20000"/>
          </a:bodyPr>
          <a:lstStyle/>
          <a:p>
            <a:pPr marL="0" indent="0">
              <a:buNone/>
            </a:pPr>
            <a:r>
              <a:rPr lang="en-US" dirty="0"/>
              <a:t>Intercropping has the potential to increase and stabilize yields and improve cereal grain protein concentration compared to sole cropping (e.g., Jensen et al., 2020). Legume intercrops are regarded as highly relevant in low-N input systems and organic farming where N is often a limiting resource. However, due to intensification over the last 50 years, intercrops are rare in Europe, even for animal feed despite their contribution to the provision of ES (food, substitution of inputs, water and air protection, soil C storage, biological regulations, aesthetical landscapes, etc.).</a:t>
            </a:r>
          </a:p>
          <a:p>
            <a:pPr marL="0" indent="0">
              <a:buNone/>
            </a:pPr>
            <a:r>
              <a:rPr lang="en-US" dirty="0"/>
              <a:t>A major scientific challenge is understanding and modelling the dynamic functioning of intercropping systems (e.g. Yan et al., 2021), that is certainly crucial for the definition of assembly rules to </a:t>
            </a:r>
            <a:r>
              <a:rPr lang="en-US" dirty="0" err="1"/>
              <a:t>optimise</a:t>
            </a:r>
            <a:r>
              <a:rPr lang="en-US" dirty="0"/>
              <a:t> locally-adapted intercrops and developing guidance to management. The interactions between crops taking place in intercropping are complex and described by the ‘4C approach’ (</a:t>
            </a:r>
            <a:r>
              <a:rPr lang="en-US" dirty="0" err="1"/>
              <a:t>Justes</a:t>
            </a:r>
            <a:r>
              <a:rPr lang="en-US" dirty="0"/>
              <a:t> et al., 2021). The relative contribution of these processes to yield advantages of intercropping versus sole crops depends on species composition and varies in time and space.</a:t>
            </a:r>
          </a:p>
          <a:p>
            <a:pPr marL="0" indent="0">
              <a:buNone/>
            </a:pPr>
            <a:r>
              <a:rPr lang="en-US" dirty="0"/>
              <a:t>A technical challenge is to design optimized and locally adapted management practices for intercropping. It is currently difficult to propose generic technical management strategies for crop species mixtures due to the multitude of constraints and objectives, and hence combinations of species, varieties, densities, sowing date, spatial design and even fertilization strategies. While experimental data are necessary, these are insufficient for designing optimal management practices and need to be complemented by intercrop functional modelling for ex ante screening and identification of efficient combinations (</a:t>
            </a:r>
            <a:r>
              <a:rPr lang="en-US" dirty="0" err="1"/>
              <a:t>Stomph</a:t>
            </a:r>
            <a:r>
              <a:rPr lang="en-US" dirty="0"/>
              <a:t> et al., 2020). Moreover, machinery with optimal settings for sowing, harvesting, and grain separation needed to fulfil requirements for human consumption, while allowing profitability, has not yet been developed specifically for intercropping (</a:t>
            </a:r>
            <a:r>
              <a:rPr lang="en-US" dirty="0" err="1"/>
              <a:t>Bedoussac</a:t>
            </a:r>
            <a:r>
              <a:rPr lang="en-US" dirty="0"/>
              <a:t> et al., 2021).</a:t>
            </a:r>
          </a:p>
          <a:p>
            <a:pPr marL="0" indent="0">
              <a:buNone/>
            </a:pPr>
            <a:r>
              <a:rPr lang="en-US" dirty="0"/>
              <a:t>An operational challenge to the widespread adoption of intercropping in Europe is the identification of lock-ins and barriers hindering market integration and the provision of added-value to farmers and actors. The potential </a:t>
            </a:r>
            <a:r>
              <a:rPr lang="en-US" dirty="0" err="1"/>
              <a:t>valorisation</a:t>
            </a:r>
            <a:r>
              <a:rPr lang="en-US" dirty="0"/>
              <a:t> of intercropping products in short and long value chains must be assessed to identify routes novel market avenues and niches, which could provide economic profitability and added-value to farmers and actors of the agri-food value chain (</a:t>
            </a:r>
            <a:r>
              <a:rPr lang="en-US" dirty="0" err="1"/>
              <a:t>Hauggaard</a:t>
            </a:r>
            <a:r>
              <a:rPr lang="en-US" dirty="0"/>
              <a:t>-Nielsen et al., 2021).</a:t>
            </a:r>
          </a:p>
          <a:p>
            <a:pPr marL="0" indent="0">
              <a:buNone/>
            </a:pPr>
            <a:r>
              <a:rPr lang="en-US" dirty="0" err="1"/>
              <a:t>IntercropValuES</a:t>
            </a:r>
            <a:r>
              <a:rPr lang="en-US" dirty="0"/>
              <a:t> relies on the evidence-based notion that intercropping is more efficient in the use of available abiotic resources and more resilient in variable climatic conditions than the dominant sole cropping strategies based on high external input use. Intercropping also allows ecological approaches to pest, disease and weed management using natural regulatory mechanisms, and providing ES, soil health, water quality and mitigating GHGs.</a:t>
            </a:r>
          </a:p>
          <a:p>
            <a:pPr marL="0" indent="0">
              <a:buNone/>
            </a:pPr>
            <a:r>
              <a:rPr lang="en-US" dirty="0" err="1"/>
              <a:t>IntercropValuES</a:t>
            </a:r>
            <a:r>
              <a:rPr lang="en-US" dirty="0"/>
              <a:t> will combine expert-knowledge from a wide range of actors and scientific information in order to generate new scientific knowledge on intercropping functioning and </a:t>
            </a:r>
            <a:r>
              <a:rPr lang="en-US" dirty="0" err="1"/>
              <a:t>behaviour</a:t>
            </a:r>
            <a:r>
              <a:rPr lang="en-US" dirty="0"/>
              <a:t> and contributing to: </a:t>
            </a:r>
            <a:r>
              <a:rPr lang="en-US" dirty="0" err="1"/>
              <a:t>i</a:t>
            </a:r>
            <a:r>
              <a:rPr lang="en-US" dirty="0"/>
              <a:t>) optimized combinations of species and varieties and associated practical applications providing elucidation on G*G*E*M interactions, that are validated on-station and on-farm;  ii) novel extended information on intercropping performances and ES delivery, including impacts on soil health, GHG emissions and water quality; iii) innovative food processing technologies using grains from intercrops; and 4) novel economic avenues and niches to provide added-value for the benefit of farmers and actors of the value-chain.</a:t>
            </a:r>
          </a:p>
          <a:p>
            <a:pPr marL="0" indent="0">
              <a:buNone/>
            </a:pPr>
            <a:r>
              <a:rPr lang="en-US" dirty="0"/>
              <a:t>As a proof of concept of efficacy, several combinations of cereal-legume mixtures will be developed to select the intercropping combinations best adapted to local conditions. The study of intercropping functioning, by coupling on-station field experimentation and modelling and by covering a wide range of intercropping systems in various pedoclimatic conditions, will allow identification of best practices, thus contributing to the diversification of European farming systems improving ES and their functions allowing increased production of provisioning, regulating and supporting. </a:t>
            </a:r>
            <a:r>
              <a:rPr lang="en-US" dirty="0" err="1"/>
              <a:t>IntercropValuES</a:t>
            </a:r>
            <a:r>
              <a:rPr lang="en-US" dirty="0"/>
              <a:t> will also develop research activities on food processing technologies to determine product processability, as well as grain and novel product qualities.</a:t>
            </a:r>
          </a:p>
          <a:p>
            <a:pPr marL="0" indent="0">
              <a:buNone/>
            </a:pPr>
            <a:r>
              <a:rPr lang="en-US" dirty="0"/>
              <a:t>The concept of </a:t>
            </a:r>
            <a:r>
              <a:rPr lang="en-US" dirty="0" err="1"/>
              <a:t>IntercropValuES</a:t>
            </a:r>
            <a:r>
              <a:rPr lang="en-US" dirty="0"/>
              <a:t> is based on the identification of valuable and concrete solutions, considering the current lock-ins in the social-technical regimes for wider use of intercrop products. This work aims to support an agroecological transition of </a:t>
            </a:r>
            <a:r>
              <a:rPr lang="en-US" dirty="0" err="1"/>
              <a:t>agrifood</a:t>
            </a:r>
            <a:r>
              <a:rPr lang="en-US" dirty="0"/>
              <a:t> systems by boosting the adoption of intercropping in European agriculture.</a:t>
            </a:r>
          </a:p>
          <a:p>
            <a:pPr marL="0" indent="0">
              <a:buNone/>
            </a:pPr>
            <a:r>
              <a:rPr lang="en-US" dirty="0" err="1"/>
              <a:t>IntercropValuES</a:t>
            </a:r>
            <a:r>
              <a:rPr lang="en-US" dirty="0"/>
              <a:t> will be based on: 1) in depth analysis of the functioning of intercropping systems involving dedicated field trials and scientific analysis, coupling field experiments and modelling activities, and 2) participatory research in a multi-actor approach, that will develop demonstrations on the efficacy and feasibility of intercropping in real life conditions. All actors of the value-chain, such as farmers, advisors, industry and other key actors from public authorities will be directly involved in this work together with scientist.</a:t>
            </a:r>
          </a:p>
          <a:p>
            <a:pPr marL="0" indent="0">
              <a:buNone/>
            </a:pPr>
            <a:r>
              <a:rPr lang="en-US" dirty="0" err="1"/>
              <a:t>IntercropValuES</a:t>
            </a:r>
            <a:r>
              <a:rPr lang="en-US" dirty="0"/>
              <a:t> will combine farmer practices (WP1), field experimentations (WP2) and modelling (WP4) to analyze mechanisms, within space and time that underpin the benefits associated with intercropping and to use the scientific knowledge to design efficient intercropping systems.</a:t>
            </a:r>
          </a:p>
          <a:p>
            <a:pPr marL="0" indent="0">
              <a:buNone/>
            </a:pPr>
            <a:endParaRPr lang="en-US" dirty="0"/>
          </a:p>
        </p:txBody>
      </p:sp>
    </p:spTree>
    <p:extLst>
      <p:ext uri="{BB962C8B-B14F-4D97-AF65-F5344CB8AC3E}">
        <p14:creationId xmlns:p14="http://schemas.microsoft.com/office/powerpoint/2010/main" val="116306976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590A25-26E7-4257-9C7D-5A2DC8C57CC0}"/>
              </a:ext>
            </a:extLst>
          </p:cNvPr>
          <p:cNvSpPr>
            <a:spLocks noGrp="1"/>
          </p:cNvSpPr>
          <p:nvPr>
            <p:ph type="title"/>
          </p:nvPr>
        </p:nvSpPr>
        <p:spPr/>
        <p:txBody>
          <a:bodyPr/>
          <a:lstStyle/>
          <a:p>
            <a:r>
              <a:rPr lang="en-US" dirty="0"/>
              <a:t>On the relevance of integrating intercropping in our agricultural practices</a:t>
            </a:r>
          </a:p>
        </p:txBody>
      </p:sp>
      <p:sp>
        <p:nvSpPr>
          <p:cNvPr id="6" name="Content Placeholder 5">
            <a:extLst>
              <a:ext uri="{FF2B5EF4-FFF2-40B4-BE49-F238E27FC236}">
                <a16:creationId xmlns:a16="http://schemas.microsoft.com/office/drawing/2014/main" id="{C3FE46C7-5A05-496F-A925-47979AB9E4D9}"/>
              </a:ext>
            </a:extLst>
          </p:cNvPr>
          <p:cNvSpPr>
            <a:spLocks noGrp="1"/>
          </p:cNvSpPr>
          <p:nvPr>
            <p:ph idx="1"/>
          </p:nvPr>
        </p:nvSpPr>
        <p:spPr>
          <a:xfrm>
            <a:off x="838200" y="1825624"/>
            <a:ext cx="10203426" cy="4742323"/>
          </a:xfrm>
        </p:spPr>
        <p:txBody>
          <a:bodyPr>
            <a:normAutofit lnSpcReduction="10000"/>
          </a:bodyPr>
          <a:lstStyle/>
          <a:p>
            <a:r>
              <a:rPr lang="en-US" dirty="0"/>
              <a:t>As </a:t>
            </a:r>
            <a:r>
              <a:rPr lang="en-US" b="1" dirty="0"/>
              <a:t>food production</a:t>
            </a:r>
            <a:r>
              <a:rPr lang="en-US" dirty="0"/>
              <a:t> is nowadays known to be both a resource-intensive, non-environment-friendly but vital activity, and in a context of climate change and biodiversity loss, sustainability appears to be a mandatory goal to attain. </a:t>
            </a:r>
          </a:p>
          <a:p>
            <a:r>
              <a:rPr lang="en-US" dirty="0"/>
              <a:t>Among some potential solutions, </a:t>
            </a:r>
            <a:r>
              <a:rPr lang="en-US" b="1" dirty="0"/>
              <a:t>crop diversification</a:t>
            </a:r>
            <a:r>
              <a:rPr lang="en-US" dirty="0"/>
              <a:t> has acknowledged benefits, but also multiple technical, organizational, and institutional barriers, that impede its widespread implementation </a:t>
            </a:r>
            <a:r>
              <a:rPr lang="en-US" sz="2600" dirty="0"/>
              <a:t>(</a:t>
            </a:r>
            <a:r>
              <a:rPr lang="en-US" sz="2600" dirty="0" err="1"/>
              <a:t>Messean</a:t>
            </a:r>
            <a:r>
              <a:rPr lang="en-US" sz="2600" dirty="0"/>
              <a:t> et al., 2021)</a:t>
            </a:r>
            <a:r>
              <a:rPr lang="en-US" dirty="0"/>
              <a:t>. </a:t>
            </a:r>
          </a:p>
          <a:p>
            <a:r>
              <a:rPr lang="en-US" b="1" dirty="0"/>
              <a:t>Intercropping </a:t>
            </a:r>
            <a:r>
              <a:rPr lang="en-US" dirty="0"/>
              <a:t>is an agroecological practice which involves mixtures of arable crop species, and has historically been acknowledged as an agroecological practice to enhance crop production sustainability </a:t>
            </a:r>
            <a:r>
              <a:rPr lang="en-US" sz="2600" dirty="0"/>
              <a:t>(</a:t>
            </a:r>
            <a:r>
              <a:rPr lang="en-US" sz="2600" dirty="0" err="1"/>
              <a:t>Vandermeer</a:t>
            </a:r>
            <a:r>
              <a:rPr lang="en-US" sz="2600" dirty="0"/>
              <a:t>, 1989; Jensen et al., 2020). </a:t>
            </a:r>
            <a:endParaRPr lang="en-US" dirty="0"/>
          </a:p>
          <a:p>
            <a:endParaRPr lang="en-US" dirty="0"/>
          </a:p>
        </p:txBody>
      </p:sp>
    </p:spTree>
    <p:extLst>
      <p:ext uri="{BB962C8B-B14F-4D97-AF65-F5344CB8AC3E}">
        <p14:creationId xmlns:p14="http://schemas.microsoft.com/office/powerpoint/2010/main" val="8115559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E7DBB2-9489-4A50-BBA8-DA80ABA6C0E4}"/>
              </a:ext>
            </a:extLst>
          </p:cNvPr>
          <p:cNvSpPr>
            <a:spLocks noGrp="1"/>
          </p:cNvSpPr>
          <p:nvPr>
            <p:ph type="title"/>
          </p:nvPr>
        </p:nvSpPr>
        <p:spPr>
          <a:xfrm>
            <a:off x="838200" y="365125"/>
            <a:ext cx="10766196" cy="1325563"/>
          </a:xfrm>
        </p:spPr>
        <p:txBody>
          <a:bodyPr>
            <a:normAutofit/>
          </a:bodyPr>
          <a:lstStyle/>
          <a:p>
            <a:r>
              <a:rPr lang="en-US" dirty="0"/>
              <a:t>Synthesis of well-known knowledge on intercropping</a:t>
            </a:r>
          </a:p>
        </p:txBody>
      </p:sp>
      <p:sp>
        <p:nvSpPr>
          <p:cNvPr id="3" name="Content Placeholder 2">
            <a:extLst>
              <a:ext uri="{FF2B5EF4-FFF2-40B4-BE49-F238E27FC236}">
                <a16:creationId xmlns:a16="http://schemas.microsoft.com/office/drawing/2014/main" id="{B5CA23BF-DB4A-4DB8-AB1C-F0E9C67BD5C1}"/>
              </a:ext>
            </a:extLst>
          </p:cNvPr>
          <p:cNvSpPr>
            <a:spLocks noGrp="1"/>
          </p:cNvSpPr>
          <p:nvPr>
            <p:ph idx="1"/>
          </p:nvPr>
        </p:nvSpPr>
        <p:spPr>
          <a:xfrm>
            <a:off x="838200" y="1841163"/>
            <a:ext cx="10291916" cy="5099901"/>
          </a:xfrm>
        </p:spPr>
        <p:txBody>
          <a:bodyPr>
            <a:normAutofit/>
          </a:bodyPr>
          <a:lstStyle/>
          <a:p>
            <a:r>
              <a:rPr lang="en-US" dirty="0"/>
              <a:t>Intercropping has </a:t>
            </a:r>
            <a:r>
              <a:rPr lang="en-US" b="1" dirty="0"/>
              <a:t>yield advantages</a:t>
            </a:r>
            <a:r>
              <a:rPr lang="en-US" dirty="0"/>
              <a:t> compared to sole cropping </a:t>
            </a:r>
            <a:r>
              <a:rPr lang="en-US" sz="2400" dirty="0"/>
              <a:t>(</a:t>
            </a:r>
            <a:r>
              <a:rPr lang="en-US" sz="2400" dirty="0" err="1"/>
              <a:t>Bedoussac</a:t>
            </a:r>
            <a:r>
              <a:rPr lang="en-US" sz="2400" dirty="0"/>
              <a:t> et al., 2015; </a:t>
            </a:r>
            <a:r>
              <a:rPr lang="en-US" sz="2400" dirty="0" err="1"/>
              <a:t>Stomph</a:t>
            </a:r>
            <a:r>
              <a:rPr lang="en-US" sz="2400" dirty="0"/>
              <a:t> et al., 2016; Martin-</a:t>
            </a:r>
            <a:r>
              <a:rPr lang="en-US" sz="2400" dirty="0" err="1"/>
              <a:t>Guay</a:t>
            </a:r>
            <a:r>
              <a:rPr lang="en-US" sz="2400" dirty="0"/>
              <a:t> et al., 2018; </a:t>
            </a:r>
            <a:r>
              <a:rPr lang="en-US" sz="2400" dirty="0" err="1"/>
              <a:t>Stomph</a:t>
            </a:r>
            <a:r>
              <a:rPr lang="en-US" sz="2400" dirty="0"/>
              <a:t> et al., 2020; Yang et al., 2021). </a:t>
            </a:r>
            <a:endParaRPr lang="en-US" dirty="0"/>
          </a:p>
          <a:p>
            <a:r>
              <a:rPr lang="en-US" dirty="0"/>
              <a:t>The efficient use of resources can </a:t>
            </a:r>
            <a:r>
              <a:rPr lang="en-US" b="1" dirty="0"/>
              <a:t>reduce use of fertilizers</a:t>
            </a:r>
            <a:r>
              <a:rPr lang="en-US" dirty="0"/>
              <a:t>, as well as</a:t>
            </a:r>
            <a:r>
              <a:rPr lang="en-US" b="1" dirty="0"/>
              <a:t> environmental pollution </a:t>
            </a:r>
            <a:r>
              <a:rPr lang="en-US" dirty="0"/>
              <a:t>risks and GHG emissions caused by agriculture </a:t>
            </a:r>
            <a:r>
              <a:rPr lang="en-US" sz="2400" dirty="0"/>
              <a:t>(Jensen et al., 2020)</a:t>
            </a:r>
            <a:r>
              <a:rPr lang="en-US" dirty="0"/>
              <a:t>. </a:t>
            </a:r>
          </a:p>
          <a:p>
            <a:r>
              <a:rPr lang="en-US" dirty="0"/>
              <a:t>A large implementation of intercropping may also </a:t>
            </a:r>
            <a:r>
              <a:rPr lang="en-US" b="1" dirty="0"/>
              <a:t>reduce the area required </a:t>
            </a:r>
            <a:r>
              <a:rPr lang="en-US" dirty="0"/>
              <a:t>for food production while </a:t>
            </a:r>
            <a:r>
              <a:rPr lang="en-US" b="1" dirty="0"/>
              <a:t>providing additional ecosystem services </a:t>
            </a:r>
            <a:r>
              <a:rPr lang="en-US" dirty="0"/>
              <a:t>leading to more sustainable land use </a:t>
            </a:r>
            <a:r>
              <a:rPr lang="en-US" sz="2400" dirty="0"/>
              <a:t>(Della Rossa et al., 2022; Pelzer et al., 2012). </a:t>
            </a:r>
          </a:p>
          <a:p>
            <a:r>
              <a:rPr lang="fr-FR" sz="2400" dirty="0"/>
              <a:t>+</a:t>
            </a:r>
            <a:r>
              <a:rPr lang="en-US" sz="2400" dirty="0"/>
              <a:t> concerning water and pests</a:t>
            </a:r>
            <a:endParaRPr lang="en-US" dirty="0"/>
          </a:p>
        </p:txBody>
      </p:sp>
    </p:spTree>
    <p:extLst>
      <p:ext uri="{BB962C8B-B14F-4D97-AF65-F5344CB8AC3E}">
        <p14:creationId xmlns:p14="http://schemas.microsoft.com/office/powerpoint/2010/main" val="14420964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DA3ECD-30D2-47FF-ACEC-97D69F6A4AA3}"/>
              </a:ext>
            </a:extLst>
          </p:cNvPr>
          <p:cNvSpPr>
            <a:spLocks noGrp="1"/>
          </p:cNvSpPr>
          <p:nvPr>
            <p:ph type="title"/>
          </p:nvPr>
        </p:nvSpPr>
        <p:spPr/>
        <p:txBody>
          <a:bodyPr>
            <a:normAutofit/>
          </a:bodyPr>
          <a:lstStyle/>
          <a:p>
            <a:r>
              <a:rPr lang="en-US" dirty="0"/>
              <a:t>Context-specific mechanisms that underpin the benefits associated with intercropping</a:t>
            </a:r>
          </a:p>
        </p:txBody>
      </p:sp>
      <p:sp>
        <p:nvSpPr>
          <p:cNvPr id="3" name="Content Placeholder 2">
            <a:extLst>
              <a:ext uri="{FF2B5EF4-FFF2-40B4-BE49-F238E27FC236}">
                <a16:creationId xmlns:a16="http://schemas.microsoft.com/office/drawing/2014/main" id="{CE7BCBF0-543B-4536-BB7A-4BF5B44CB185}"/>
              </a:ext>
            </a:extLst>
          </p:cNvPr>
          <p:cNvSpPr>
            <a:spLocks noGrp="1"/>
          </p:cNvSpPr>
          <p:nvPr>
            <p:ph idx="1"/>
          </p:nvPr>
        </p:nvSpPr>
        <p:spPr>
          <a:xfrm>
            <a:off x="838199" y="1825625"/>
            <a:ext cx="10709635" cy="4763712"/>
          </a:xfrm>
        </p:spPr>
        <p:txBody>
          <a:bodyPr>
            <a:normAutofit fontScale="62500" lnSpcReduction="20000"/>
          </a:bodyPr>
          <a:lstStyle/>
          <a:p>
            <a:r>
              <a:rPr lang="en-US" dirty="0"/>
              <a:t>The 4C approach proposed by </a:t>
            </a:r>
            <a:r>
              <a:rPr lang="en-US" dirty="0" err="1"/>
              <a:t>Justes</a:t>
            </a:r>
            <a:r>
              <a:rPr lang="en-US" dirty="0"/>
              <a:t> et al. (2021) classifies the effects of interspecific plant-plant interactions and linked underlying ecological processes as final effects into: </a:t>
            </a:r>
          </a:p>
          <a:p>
            <a:pPr lvl="1"/>
            <a:r>
              <a:rPr lang="en-US" dirty="0" err="1"/>
              <a:t>i</a:t>
            </a:r>
            <a:r>
              <a:rPr lang="en-US" dirty="0"/>
              <a:t>) Competition is when plants are using the same pool of abiotic resources in space and time; </a:t>
            </a:r>
          </a:p>
          <a:p>
            <a:pPr lvl="1"/>
            <a:r>
              <a:rPr lang="en-US" dirty="0"/>
              <a:t>ii) Complementarity is when plants grown together have different requirements for abiotic resources in space, time or form; </a:t>
            </a:r>
          </a:p>
          <a:p>
            <a:pPr lvl="1"/>
            <a:r>
              <a:rPr lang="en-US" dirty="0"/>
              <a:t>iii) Cooperation (i.e. facilitation) is when the modification of the environment by one species is beneficial to the other(s); </a:t>
            </a:r>
          </a:p>
          <a:p>
            <a:pPr lvl="1"/>
            <a:r>
              <a:rPr lang="en-US" dirty="0"/>
              <a:t>iv) Compensation is when the failure of one species is compensated by the other(s) because they differ in their sensitivity to abiotic and/or biotic stress. </a:t>
            </a:r>
          </a:p>
          <a:p>
            <a:r>
              <a:rPr lang="en-US" dirty="0"/>
              <a:t>It aims to describe and aid understanding of the performance of species mixtures and their variability from year to year in a given situation (i.e., variable according to pedoclimatic conditions). The relative contribution of each of the 4C effects determines the final result and can help to understand yield advantages of intercropping.</a:t>
            </a:r>
          </a:p>
          <a:p>
            <a:r>
              <a:rPr lang="en-US" dirty="0"/>
              <a:t>The higher and often more stable yields observed in intercropping compared to sole crops are due to the more efficient acquisition and/or conversion of growth resources such as light, water and nutrients into biomass. Such advantages are due to the outcome of the interspecific plant-plant interactions and linked processes in the intercrop. In particular, the yield of each species of the mixture depends on the intensity and equilibrium of dynamic plant-plant interactions over the growing season and is then the result of all these interactions. Finally, interspecific interactions are very sensitive to management practices connected to pedoclimatic conditions, which determine the overall functioning of intercrops. </a:t>
            </a:r>
          </a:p>
          <a:p>
            <a:endParaRPr lang="fr-FR" dirty="0"/>
          </a:p>
          <a:p>
            <a:r>
              <a:rPr lang="fr-FR" dirty="0">
                <a:sym typeface="Wingdings" panose="05000000000000000000" pitchFamily="2" charset="2"/>
              </a:rPr>
              <a:t></a:t>
            </a:r>
            <a:r>
              <a:rPr lang="en-US" dirty="0">
                <a:sym typeface="Wingdings" panose="05000000000000000000" pitchFamily="2" charset="2"/>
              </a:rPr>
              <a:t> combine with next slide !!!</a:t>
            </a:r>
            <a:endParaRPr lang="en-US" dirty="0"/>
          </a:p>
        </p:txBody>
      </p:sp>
    </p:spTree>
    <p:extLst>
      <p:ext uri="{BB962C8B-B14F-4D97-AF65-F5344CB8AC3E}">
        <p14:creationId xmlns:p14="http://schemas.microsoft.com/office/powerpoint/2010/main" val="35528166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E27A02-8F6C-4484-B191-8B9BCAD99220}"/>
              </a:ext>
            </a:extLst>
          </p:cNvPr>
          <p:cNvSpPr>
            <a:spLocks noGrp="1"/>
          </p:cNvSpPr>
          <p:nvPr>
            <p:ph type="title"/>
          </p:nvPr>
        </p:nvSpPr>
        <p:spPr/>
        <p:txBody>
          <a:bodyPr>
            <a:normAutofit fontScale="90000"/>
          </a:bodyPr>
          <a:lstStyle/>
          <a:p>
            <a:r>
              <a:rPr lang="en-US" dirty="0"/>
              <a:t>Above- and below-ground species interactions and optimization of management (G*G*E*M)</a:t>
            </a:r>
          </a:p>
        </p:txBody>
      </p:sp>
      <p:sp>
        <p:nvSpPr>
          <p:cNvPr id="3" name="Content Placeholder 2">
            <a:extLst>
              <a:ext uri="{FF2B5EF4-FFF2-40B4-BE49-F238E27FC236}">
                <a16:creationId xmlns:a16="http://schemas.microsoft.com/office/drawing/2014/main" id="{2A4E0120-A0A5-428C-89B9-5750AAB94373}"/>
              </a:ext>
            </a:extLst>
          </p:cNvPr>
          <p:cNvSpPr>
            <a:spLocks noGrp="1"/>
          </p:cNvSpPr>
          <p:nvPr>
            <p:ph idx="1"/>
          </p:nvPr>
        </p:nvSpPr>
        <p:spPr>
          <a:xfrm>
            <a:off x="838200" y="1690688"/>
            <a:ext cx="10813330" cy="4870368"/>
          </a:xfrm>
        </p:spPr>
        <p:txBody>
          <a:bodyPr>
            <a:normAutofit fontScale="55000" lnSpcReduction="20000"/>
          </a:bodyPr>
          <a:lstStyle/>
          <a:p>
            <a:r>
              <a:rPr lang="en-US" dirty="0"/>
              <a:t>The different interactions between above- and below-ground plant parts and also between intercropped plant are complex and likely to vary between types of intercropping systems. Understanding the feedback between plants and their local environment spectrum is crucial for understanding and evaluating the impacts of environmental changes on plant development (e.g. Yang et al., 2021). </a:t>
            </a:r>
          </a:p>
          <a:p>
            <a:r>
              <a:rPr lang="en-US" dirty="0"/>
              <a:t>Furthermore, understanding of the behavior of roots and other belowground organisms in response to environmental factors, remains fragmented, highlighting the need for further research to fill these knowledge gaps and address important questions on the nature of root–root interactions in intercrop systems and the root traits that influence their outcomes (</a:t>
            </a:r>
            <a:r>
              <a:rPr lang="en-US" dirty="0" err="1"/>
              <a:t>Homulle</a:t>
            </a:r>
            <a:r>
              <a:rPr lang="en-US" dirty="0"/>
              <a:t> et al., 2021).</a:t>
            </a:r>
          </a:p>
          <a:p>
            <a:r>
              <a:rPr lang="en-US" dirty="0"/>
              <a:t>The 4C effects permit species in the intercrop to acquire a greater range and/or quantity of critical environmental growth factors increasing use-efficiency in time and space, including pest and disease suppression (</a:t>
            </a:r>
            <a:r>
              <a:rPr lang="en-US" dirty="0" err="1"/>
              <a:t>Justes</a:t>
            </a:r>
            <a:r>
              <a:rPr lang="en-US" dirty="0"/>
              <a:t> et al., 2021). </a:t>
            </a:r>
          </a:p>
          <a:p>
            <a:r>
              <a:rPr lang="en-US" dirty="0"/>
              <a:t>Selection of species and cultivars that differ in resource acquisition is essential to maximize the benefits of intercrops. However, management factors such as plant density and spatial arrangement are also critical and need to be optimized after understanding the G*G*E*M interactions governing the intercrop production.</a:t>
            </a:r>
          </a:p>
          <a:p>
            <a:endParaRPr lang="en-US" dirty="0"/>
          </a:p>
          <a:p>
            <a:r>
              <a:rPr lang="en-US" dirty="0"/>
              <a:t>Using a 3D functional structural plant model could help to elucidate the links between above- and below-ground species interactions and their optimization through management by pre-screening G*G combinations leading to resource complementarity and good intercrop performance. </a:t>
            </a:r>
          </a:p>
          <a:p>
            <a:r>
              <a:rPr lang="en-US" dirty="0"/>
              <a:t>In addition, dynamic process-based models able to simulate cropping systems can help to optimize of intercropping by doing simulations in various pedoclimatic contexts in order to pre-identify the most promising G*G*E*M interactions using the soil-crop model STICS adapted to intercropping (Brisson et al., 2004; </a:t>
            </a:r>
            <a:r>
              <a:rPr lang="en-US" dirty="0" err="1"/>
              <a:t>Vezy</a:t>
            </a:r>
            <a:r>
              <a:rPr lang="en-US" dirty="0"/>
              <a:t> et al., 2020). </a:t>
            </a:r>
          </a:p>
          <a:p>
            <a:r>
              <a:rPr lang="en-US" dirty="0"/>
              <a:t>Simulation of scenarios can help to elucidate the determinants of the capture and use of abiotic resources and the major interacting factors according to local pedoclimatic conditions, and also under climatic change. </a:t>
            </a:r>
          </a:p>
          <a:p>
            <a:r>
              <a:rPr lang="en-US" dirty="0" err="1"/>
              <a:t>IntercropValuES</a:t>
            </a:r>
            <a:r>
              <a:rPr lang="en-US" dirty="0"/>
              <a:t> will develop modelling activities (WP4) to allow for the better understanding of </a:t>
            </a:r>
            <a:r>
              <a:rPr lang="en-US" dirty="0" err="1"/>
              <a:t>i</a:t>
            </a:r>
            <a:r>
              <a:rPr lang="en-US" dirty="0"/>
              <a:t>) the functioning in specific pedoclimatic situation or for a type of climatic scenario, and ii) the dynamic interactions occurring between species in bi-specific intercrops related to the capture of abiotic resources, yield formation and grain quality (composition in C, N, sugar, oil).</a:t>
            </a:r>
          </a:p>
        </p:txBody>
      </p:sp>
    </p:spTree>
    <p:extLst>
      <p:ext uri="{BB962C8B-B14F-4D97-AF65-F5344CB8AC3E}">
        <p14:creationId xmlns:p14="http://schemas.microsoft.com/office/powerpoint/2010/main" val="42087815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9F945B-2222-4870-86A8-5417CA965031}"/>
              </a:ext>
            </a:extLst>
          </p:cNvPr>
          <p:cNvSpPr>
            <a:spLocks noGrp="1"/>
          </p:cNvSpPr>
          <p:nvPr>
            <p:ph type="title"/>
          </p:nvPr>
        </p:nvSpPr>
        <p:spPr/>
        <p:txBody>
          <a:bodyPr/>
          <a:lstStyle/>
          <a:p>
            <a:r>
              <a:rPr lang="en-US" dirty="0"/>
              <a:t>Using models for efficient changes of practices</a:t>
            </a:r>
          </a:p>
        </p:txBody>
      </p:sp>
      <p:sp>
        <p:nvSpPr>
          <p:cNvPr id="3" name="Content Placeholder 2">
            <a:extLst>
              <a:ext uri="{FF2B5EF4-FFF2-40B4-BE49-F238E27FC236}">
                <a16:creationId xmlns:a16="http://schemas.microsoft.com/office/drawing/2014/main" id="{6B9BC19D-978A-481B-8506-2A8D46F6EF73}"/>
              </a:ext>
            </a:extLst>
          </p:cNvPr>
          <p:cNvSpPr>
            <a:spLocks noGrp="1"/>
          </p:cNvSpPr>
          <p:nvPr>
            <p:ph idx="1"/>
          </p:nvPr>
        </p:nvSpPr>
        <p:spPr>
          <a:xfrm>
            <a:off x="838198" y="1929799"/>
            <a:ext cx="9436511" cy="4844627"/>
          </a:xfrm>
        </p:spPr>
        <p:txBody>
          <a:bodyPr>
            <a:normAutofit fontScale="85000" lnSpcReduction="20000"/>
          </a:bodyPr>
          <a:lstStyle/>
          <a:p>
            <a:r>
              <a:rPr lang="en-US" dirty="0"/>
              <a:t>Models as a mean to find </a:t>
            </a:r>
            <a:r>
              <a:rPr lang="en-US" b="1" dirty="0"/>
              <a:t>optimized crop mixtures </a:t>
            </a:r>
            <a:r>
              <a:rPr lang="en-US" dirty="0"/>
              <a:t>(i.e. “</a:t>
            </a:r>
            <a:r>
              <a:rPr lang="en-US" dirty="0" err="1"/>
              <a:t>ideomixes</a:t>
            </a:r>
            <a:r>
              <a:rPr lang="en-US" dirty="0"/>
              <a:t>”)</a:t>
            </a:r>
          </a:p>
          <a:p>
            <a:pPr marL="0" indent="0">
              <a:buNone/>
            </a:pPr>
            <a:r>
              <a:rPr lang="en-US" sz="2400" dirty="0"/>
              <a:t>(</a:t>
            </a:r>
            <a:r>
              <a:rPr lang="en-US" sz="2400" dirty="0" err="1"/>
              <a:t>Weih</a:t>
            </a:r>
            <a:r>
              <a:rPr lang="en-US" sz="2400" dirty="0"/>
              <a:t> et al., 2022)</a:t>
            </a:r>
          </a:p>
          <a:p>
            <a:pPr marL="0" indent="0">
              <a:buNone/>
            </a:pPr>
            <a:endParaRPr lang="en-US" dirty="0"/>
          </a:p>
          <a:p>
            <a:r>
              <a:rPr lang="en-US" dirty="0"/>
              <a:t>Models as a mean to better </a:t>
            </a:r>
            <a:r>
              <a:rPr lang="en-US" b="1" dirty="0"/>
              <a:t>understand plant-plant interactions</a:t>
            </a:r>
            <a:r>
              <a:rPr lang="en-US" dirty="0"/>
              <a:t> </a:t>
            </a:r>
          </a:p>
          <a:p>
            <a:pPr marL="0" indent="0">
              <a:buNone/>
            </a:pPr>
            <a:r>
              <a:rPr lang="en-US" sz="2400" dirty="0"/>
              <a:t>(4C*, </a:t>
            </a:r>
            <a:r>
              <a:rPr lang="en-US" sz="2400" dirty="0" err="1"/>
              <a:t>Justes</a:t>
            </a:r>
            <a:r>
              <a:rPr lang="en-US" sz="2400" dirty="0"/>
              <a:t> et al., 2021)</a:t>
            </a:r>
          </a:p>
          <a:p>
            <a:endParaRPr lang="en-US" dirty="0"/>
          </a:p>
          <a:p>
            <a:r>
              <a:rPr lang="fr-FR" dirty="0"/>
              <a:t>M</a:t>
            </a:r>
            <a:r>
              <a:rPr lang="en-US" dirty="0" err="1"/>
              <a:t>odels</a:t>
            </a:r>
            <a:r>
              <a:rPr lang="en-US" dirty="0"/>
              <a:t> as a mean to find </a:t>
            </a:r>
            <a:r>
              <a:rPr lang="en-US" b="1" dirty="0"/>
              <a:t>optimized crop management</a:t>
            </a:r>
            <a:r>
              <a:rPr lang="en-US" dirty="0"/>
              <a:t>,		                         e.g. proportions, arrangements, sowing dates, fertilization </a:t>
            </a:r>
          </a:p>
          <a:p>
            <a:pPr marL="0" indent="0">
              <a:buNone/>
            </a:pPr>
            <a:r>
              <a:rPr lang="en-US" sz="2400" dirty="0"/>
              <a:t>(Launay et al., 2009; van Oort et al., 2020; </a:t>
            </a:r>
            <a:r>
              <a:rPr lang="en-US" sz="2400" dirty="0" err="1"/>
              <a:t>Kherif</a:t>
            </a:r>
            <a:r>
              <a:rPr lang="en-US" sz="2400" dirty="0"/>
              <a:t> et al., 2022; </a:t>
            </a:r>
            <a:r>
              <a:rPr lang="en-US" sz="2400" dirty="0" err="1"/>
              <a:t>Traoré</a:t>
            </a:r>
            <a:r>
              <a:rPr lang="en-US" sz="2400" dirty="0"/>
              <a:t> et al., 2023)</a:t>
            </a:r>
          </a:p>
          <a:p>
            <a:pPr marL="0" indent="0">
              <a:buNone/>
            </a:pPr>
            <a:endParaRPr lang="en-US" dirty="0">
              <a:sym typeface="Wingdings" panose="05000000000000000000" pitchFamily="2" charset="2"/>
            </a:endParaRPr>
          </a:p>
          <a:p>
            <a:pPr>
              <a:buFont typeface="Wingdings" panose="05000000000000000000" pitchFamily="2" charset="2"/>
              <a:buChar char="à"/>
            </a:pPr>
            <a:r>
              <a:rPr lang="en-US" dirty="0"/>
              <a:t> </a:t>
            </a:r>
            <a:r>
              <a:rPr lang="en-US" b="1" dirty="0"/>
              <a:t>in silico pre-screening </a:t>
            </a:r>
            <a:r>
              <a:rPr lang="en-US" dirty="0">
                <a:sym typeface="Wingdings" panose="05000000000000000000" pitchFamily="2" charset="2"/>
              </a:rPr>
              <a:t>of intercrop systems that are sustainable,      easily manageable, and well-suited to local conditions (</a:t>
            </a:r>
            <a:r>
              <a:rPr lang="en-US" dirty="0" err="1">
                <a:sym typeface="Wingdings" panose="05000000000000000000" pitchFamily="2" charset="2"/>
              </a:rPr>
              <a:t>Vezy</a:t>
            </a:r>
            <a:r>
              <a:rPr lang="en-US" dirty="0">
                <a:sym typeface="Wingdings" panose="05000000000000000000" pitchFamily="2" charset="2"/>
              </a:rPr>
              <a:t> et al., 2023), i.e. with probable optimized </a:t>
            </a:r>
            <a:r>
              <a:rPr lang="en-US" dirty="0" err="1">
                <a:sym typeface="Wingdings" panose="05000000000000000000" pitchFamily="2" charset="2"/>
              </a:rPr>
              <a:t>GxGxExM</a:t>
            </a:r>
            <a:r>
              <a:rPr lang="en-US" dirty="0">
                <a:sym typeface="Wingdings" panose="05000000000000000000" pitchFamily="2" charset="2"/>
              </a:rPr>
              <a:t> interactions</a:t>
            </a:r>
          </a:p>
          <a:p>
            <a:pPr>
              <a:buFont typeface="Wingdings" panose="05000000000000000000" pitchFamily="2" charset="2"/>
              <a:buChar char="à"/>
            </a:pPr>
            <a:r>
              <a:rPr lang="en-US" dirty="0">
                <a:sym typeface="Wingdings" panose="05000000000000000000" pitchFamily="2" charset="2"/>
              </a:rPr>
              <a:t> </a:t>
            </a:r>
            <a:r>
              <a:rPr lang="en-US" b="1" dirty="0">
                <a:sym typeface="Wingdings" panose="05000000000000000000" pitchFamily="2" charset="2"/>
              </a:rPr>
              <a:t>decision-support</a:t>
            </a:r>
            <a:r>
              <a:rPr lang="en-US" dirty="0">
                <a:sym typeface="Wingdings" panose="05000000000000000000" pitchFamily="2" charset="2"/>
              </a:rPr>
              <a:t> tool</a:t>
            </a:r>
            <a:endParaRPr lang="en-US" dirty="0"/>
          </a:p>
        </p:txBody>
      </p:sp>
      <p:sp>
        <p:nvSpPr>
          <p:cNvPr id="4" name="TextBox 3">
            <a:extLst>
              <a:ext uri="{FF2B5EF4-FFF2-40B4-BE49-F238E27FC236}">
                <a16:creationId xmlns:a16="http://schemas.microsoft.com/office/drawing/2014/main" id="{879BB6DB-B321-4FC9-B2FA-91DDB908C664}"/>
              </a:ext>
            </a:extLst>
          </p:cNvPr>
          <p:cNvSpPr txBox="1"/>
          <p:nvPr/>
        </p:nvSpPr>
        <p:spPr>
          <a:xfrm>
            <a:off x="10503310" y="2846984"/>
            <a:ext cx="1700980" cy="954107"/>
          </a:xfrm>
          <a:prstGeom prst="rect">
            <a:avLst/>
          </a:prstGeom>
        </p:spPr>
        <p:style>
          <a:lnRef idx="1">
            <a:schemeClr val="accent6"/>
          </a:lnRef>
          <a:fillRef idx="2">
            <a:schemeClr val="accent6"/>
          </a:fillRef>
          <a:effectRef idx="1">
            <a:schemeClr val="accent6"/>
          </a:effectRef>
          <a:fontRef idx="minor">
            <a:schemeClr val="dk1"/>
          </a:fontRef>
        </p:style>
        <p:txBody>
          <a:bodyPr wrap="square" rtlCol="0">
            <a:spAutoFit/>
          </a:bodyPr>
          <a:lstStyle/>
          <a:p>
            <a:r>
              <a:rPr lang="fr-FR" sz="1400" dirty="0"/>
              <a:t>*</a:t>
            </a:r>
            <a:r>
              <a:rPr lang="fr-FR" sz="1400" dirty="0" err="1"/>
              <a:t>Competition</a:t>
            </a:r>
            <a:endParaRPr lang="fr-FR" sz="1400" dirty="0"/>
          </a:p>
          <a:p>
            <a:r>
              <a:rPr lang="fr-FR" sz="1400" dirty="0"/>
              <a:t>  </a:t>
            </a:r>
            <a:r>
              <a:rPr lang="fr-FR" sz="1400" dirty="0" err="1"/>
              <a:t>Cooperation</a:t>
            </a:r>
            <a:endParaRPr lang="fr-FR" sz="1400" dirty="0"/>
          </a:p>
          <a:p>
            <a:r>
              <a:rPr lang="fr-FR" sz="1400" dirty="0"/>
              <a:t>  </a:t>
            </a:r>
            <a:r>
              <a:rPr lang="fr-FR" sz="1400" dirty="0" err="1"/>
              <a:t>Complementarity</a:t>
            </a:r>
            <a:endParaRPr lang="fr-FR" sz="1400" dirty="0"/>
          </a:p>
          <a:p>
            <a:r>
              <a:rPr lang="fr-FR" sz="1400" dirty="0"/>
              <a:t>  Compensation</a:t>
            </a:r>
            <a:endParaRPr lang="en-US" sz="1400" dirty="0"/>
          </a:p>
        </p:txBody>
      </p:sp>
    </p:spTree>
    <p:extLst>
      <p:ext uri="{BB962C8B-B14F-4D97-AF65-F5344CB8AC3E}">
        <p14:creationId xmlns:p14="http://schemas.microsoft.com/office/powerpoint/2010/main" val="41276462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D187FE-2531-46F1-8A64-A5DAE27A1548}"/>
              </a:ext>
            </a:extLst>
          </p:cNvPr>
          <p:cNvSpPr>
            <a:spLocks noGrp="1"/>
          </p:cNvSpPr>
          <p:nvPr>
            <p:ph type="title"/>
          </p:nvPr>
        </p:nvSpPr>
        <p:spPr>
          <a:xfrm>
            <a:off x="838200" y="365125"/>
            <a:ext cx="10515600" cy="2660879"/>
          </a:xfrm>
        </p:spPr>
        <p:txBody>
          <a:bodyPr>
            <a:normAutofit/>
          </a:bodyPr>
          <a:lstStyle/>
          <a:p>
            <a:r>
              <a:rPr lang="en-US" dirty="0"/>
              <a:t>Modelling to understand the functioning of intercropping, evaluate performances and ecosystem services delivery and support the optimization of management practices</a:t>
            </a:r>
          </a:p>
        </p:txBody>
      </p:sp>
      <p:sp>
        <p:nvSpPr>
          <p:cNvPr id="3" name="Content Placeholder 2">
            <a:extLst>
              <a:ext uri="{FF2B5EF4-FFF2-40B4-BE49-F238E27FC236}">
                <a16:creationId xmlns:a16="http://schemas.microsoft.com/office/drawing/2014/main" id="{1D570EAB-6C4E-4D67-9007-ACF045661804}"/>
              </a:ext>
            </a:extLst>
          </p:cNvPr>
          <p:cNvSpPr>
            <a:spLocks noGrp="1"/>
          </p:cNvSpPr>
          <p:nvPr>
            <p:ph idx="1"/>
          </p:nvPr>
        </p:nvSpPr>
        <p:spPr>
          <a:xfrm>
            <a:off x="838199" y="3026003"/>
            <a:ext cx="10634221" cy="3553906"/>
          </a:xfrm>
        </p:spPr>
        <p:txBody>
          <a:bodyPr>
            <a:normAutofit fontScale="55000" lnSpcReduction="20000"/>
          </a:bodyPr>
          <a:lstStyle/>
          <a:p>
            <a:pPr marL="0" indent="0">
              <a:buNone/>
            </a:pPr>
            <a:r>
              <a:rPr lang="en-US" dirty="0"/>
              <a:t>Dynamic models will be used to estimate intercrop performance for specific field designs (e.g., proportions, arrangements, sowing dates) and conditions (climate, soil). We will perform in silico explorations with different species and ideotypes, designs and environments to quantify interactions between species (competition, extent of complementarity), ES and disservices, and to find optimal field designs and ideotypes combinations.</a:t>
            </a:r>
          </a:p>
          <a:p>
            <a:pPr marL="0" indent="0">
              <a:buNone/>
            </a:pPr>
            <a:r>
              <a:rPr lang="en-US" dirty="0"/>
              <a:t>The mechanisms that underpin the benefits associated with intercropping such as enhanced resource efficiency, disease avoidance and weed suppression will be evaluated with a model-based approach. The field experiments (WP2) will be used to calibrate and validate the models for the major types of intercrops tested. The well-known progress loop ‘from data to model’ (as process of Calibration-Validation-Improvement) before doing simulation studies will be implemented in order to verify the relevance of simulation outputs. A chain of modelling will be implemented in </a:t>
            </a:r>
            <a:r>
              <a:rPr lang="en-US" dirty="0" err="1"/>
              <a:t>IntercropValuES</a:t>
            </a:r>
            <a:r>
              <a:rPr lang="en-US" dirty="0"/>
              <a:t> (Figure 3). The FSP model will be calibrated and evaluated with experimental data from WP2. The soil-crop-intercrop STICS model will be improved with plant parameters simulated by the FSPM. STICS will be used to pre-determine optimal practices of spatial arrangements (G*G combinations and proportions) and management (e.g., sowing, fertilization, harvest) in intercrops by simulation.</a:t>
            </a:r>
          </a:p>
          <a:p>
            <a:pPr marL="0" indent="0">
              <a:buNone/>
            </a:pPr>
            <a:r>
              <a:rPr lang="en-US" dirty="0"/>
              <a:t>STICS model will also be used to quantify performances of intercrops in terms of grain production (yield, yield stability), ES (nutrient budgets, water fluxes and GHG) under soil-climate combinations representative of the main annual crop production areas in Europe (3 CICS, WP1). FLORSYS crop-weed model simulates the life-cycle of annual crop and weed species to assess intercropping efficacy to suppress weeds. MILA disease model will be coupled with STICS to represent interactions between microclimate and fungal diseases dynamics in intercropping.</a:t>
            </a:r>
          </a:p>
        </p:txBody>
      </p:sp>
    </p:spTree>
    <p:extLst>
      <p:ext uri="{BB962C8B-B14F-4D97-AF65-F5344CB8AC3E}">
        <p14:creationId xmlns:p14="http://schemas.microsoft.com/office/powerpoint/2010/main" val="7378315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2C1CCD-062A-4A30-942E-5E57FE90F026}"/>
              </a:ext>
            </a:extLst>
          </p:cNvPr>
          <p:cNvSpPr>
            <a:spLocks noGrp="1"/>
          </p:cNvSpPr>
          <p:nvPr>
            <p:ph type="title"/>
          </p:nvPr>
        </p:nvSpPr>
        <p:spPr>
          <a:xfrm>
            <a:off x="450542" y="-337396"/>
            <a:ext cx="10515600" cy="1325563"/>
          </a:xfrm>
        </p:spPr>
        <p:txBody>
          <a:bodyPr/>
          <a:lstStyle/>
          <a:p>
            <a:r>
              <a:rPr lang="en-US" dirty="0"/>
              <a:t>Crop models VS. FSPMs</a:t>
            </a:r>
          </a:p>
        </p:txBody>
      </p:sp>
      <p:graphicFrame>
        <p:nvGraphicFramePr>
          <p:cNvPr id="6" name="Table 5">
            <a:extLst>
              <a:ext uri="{FF2B5EF4-FFF2-40B4-BE49-F238E27FC236}">
                <a16:creationId xmlns:a16="http://schemas.microsoft.com/office/drawing/2014/main" id="{CA30B21F-9C27-435F-B00C-D5B9DF1EF551}"/>
              </a:ext>
            </a:extLst>
          </p:cNvPr>
          <p:cNvGraphicFramePr>
            <a:graphicFrameLocks noGrp="1"/>
          </p:cNvGraphicFramePr>
          <p:nvPr>
            <p:extLst>
              <p:ext uri="{D42A27DB-BD31-4B8C-83A1-F6EECF244321}">
                <p14:modId xmlns:p14="http://schemas.microsoft.com/office/powerpoint/2010/main" val="79130122"/>
              </p:ext>
            </p:extLst>
          </p:nvPr>
        </p:nvGraphicFramePr>
        <p:xfrm>
          <a:off x="194310" y="575554"/>
          <a:ext cx="11803380" cy="7364679"/>
        </p:xfrm>
        <a:graphic>
          <a:graphicData uri="http://schemas.openxmlformats.org/drawingml/2006/table">
            <a:tbl>
              <a:tblPr firstRow="1" bandRow="1">
                <a:tableStyleId>{5940675A-B579-460E-94D1-54222C63F5DA}</a:tableStyleId>
              </a:tblPr>
              <a:tblGrid>
                <a:gridCol w="486410">
                  <a:extLst>
                    <a:ext uri="{9D8B030D-6E8A-4147-A177-3AD203B41FA5}">
                      <a16:colId xmlns:a16="http://schemas.microsoft.com/office/drawing/2014/main" val="3196174349"/>
                    </a:ext>
                  </a:extLst>
                </a:gridCol>
                <a:gridCol w="4215371">
                  <a:extLst>
                    <a:ext uri="{9D8B030D-6E8A-4147-A177-3AD203B41FA5}">
                      <a16:colId xmlns:a16="http://schemas.microsoft.com/office/drawing/2014/main" val="3872977971"/>
                    </a:ext>
                  </a:extLst>
                </a:gridCol>
                <a:gridCol w="7101599">
                  <a:extLst>
                    <a:ext uri="{9D8B030D-6E8A-4147-A177-3AD203B41FA5}">
                      <a16:colId xmlns:a16="http://schemas.microsoft.com/office/drawing/2014/main" val="4223024829"/>
                    </a:ext>
                  </a:extLst>
                </a:gridCol>
              </a:tblGrid>
              <a:tr h="351243">
                <a:tc>
                  <a:txBody>
                    <a:bodyPr/>
                    <a:lstStyle/>
                    <a:p>
                      <a:pPr algn="ctr"/>
                      <a:endParaRPr lang="en-US"/>
                    </a:p>
                  </a:txBody>
                  <a:tcPr vert="vert270"/>
                </a:tc>
                <a:tc>
                  <a:txBody>
                    <a:bodyPr/>
                    <a:lstStyle/>
                    <a:p>
                      <a:r>
                        <a:rPr lang="en-US" dirty="0"/>
                        <a:t>Advantages</a:t>
                      </a:r>
                    </a:p>
                  </a:txBody>
                  <a:tcPr/>
                </a:tc>
                <a:tc>
                  <a:txBody>
                    <a:bodyPr/>
                    <a:lstStyle/>
                    <a:p>
                      <a:r>
                        <a:rPr lang="en-US" dirty="0"/>
                        <a:t>Limitations</a:t>
                      </a:r>
                    </a:p>
                  </a:txBody>
                  <a:tcPr/>
                </a:tc>
                <a:extLst>
                  <a:ext uri="{0D108BD9-81ED-4DB2-BD59-A6C34878D82A}">
                    <a16:rowId xmlns:a16="http://schemas.microsoft.com/office/drawing/2014/main" val="3491307498"/>
                  </a:ext>
                </a:extLst>
              </a:tr>
              <a:tr h="3642199">
                <a:tc>
                  <a:txBody>
                    <a:bodyPr/>
                    <a:lstStyle/>
                    <a:p>
                      <a:pPr algn="ctr"/>
                      <a:r>
                        <a:rPr lang="en-US" dirty="0"/>
                        <a:t>Crop models (PBMs)</a:t>
                      </a:r>
                    </a:p>
                  </a:txBody>
                  <a:tcPr vert="vert270"/>
                </a:tc>
                <a:tc>
                  <a:txBody>
                    <a:bodyPr/>
                    <a:lstStyle/>
                    <a:p>
                      <a:pPr marL="171450" indent="-171450">
                        <a:buFont typeface="Arial" panose="020B0604020202020204" pitchFamily="34" charset="0"/>
                        <a:buChar char="•"/>
                      </a:pPr>
                      <a:r>
                        <a:rPr lang="en-US" sz="1200" dirty="0"/>
                        <a:t>For given environmental conditions, such a model has proved to be </a:t>
                      </a:r>
                      <a:r>
                        <a:rPr lang="en-US" sz="1200" b="1" dirty="0"/>
                        <a:t>efficient</a:t>
                      </a:r>
                      <a:r>
                        <a:rPr lang="en-US" sz="1200" dirty="0"/>
                        <a:t> on many crops</a:t>
                      </a:r>
                    </a:p>
                    <a:p>
                      <a:pPr marL="171450" indent="-171450">
                        <a:buFont typeface="Arial" panose="020B0604020202020204" pitchFamily="34" charset="0"/>
                        <a:buChar char="•"/>
                      </a:pPr>
                      <a:r>
                        <a:rPr lang="en-US" sz="1200" dirty="0"/>
                        <a:t>Field measurements, calibration and validation are quite easy, since they are limited to </a:t>
                      </a:r>
                      <a:r>
                        <a:rPr lang="en-US" sz="1200" b="1" dirty="0"/>
                        <a:t>few parameters</a:t>
                      </a:r>
                      <a:r>
                        <a:rPr lang="en-US" sz="1200" dirty="0"/>
                        <a:t>.</a:t>
                      </a:r>
                    </a:p>
                    <a:p>
                      <a:pPr marL="171450" indent="-171450">
                        <a:buFont typeface="Arial" panose="020B0604020202020204" pitchFamily="34" charset="0"/>
                        <a:buChar char="•"/>
                      </a:pPr>
                      <a:r>
                        <a:rPr lang="en-US" sz="1200" b="1" dirty="0"/>
                        <a:t>Whole growing season </a:t>
                      </a:r>
                      <a:r>
                        <a:rPr lang="en-US" sz="1200" dirty="0"/>
                        <a:t>and more</a:t>
                      </a:r>
                    </a:p>
                  </a:txBody>
                  <a:tcPr/>
                </a:tc>
                <a:tc>
                  <a:txBody>
                    <a:bodyPr/>
                    <a:lstStyle/>
                    <a:p>
                      <a:pPr marL="171450" indent="-171450">
                        <a:buFont typeface="Arial" panose="020B0604020202020204" pitchFamily="34" charset="0"/>
                        <a:buChar char="•"/>
                      </a:pPr>
                      <a:r>
                        <a:rPr lang="en-US" sz="1200" dirty="0"/>
                        <a:t>For light interception, often “</a:t>
                      </a:r>
                      <a:r>
                        <a:rPr lang="en-US" sz="1200" b="1" dirty="0"/>
                        <a:t>big leaf</a:t>
                      </a:r>
                      <a:r>
                        <a:rPr lang="en-US" sz="1200" dirty="0"/>
                        <a:t>” model with Beer-Lambert law using LAI (with the hypothesis of a Poisson distribution of leaves, and calibrating a extinction coefficient representing leaf size and orientation), then determining biomass with RUE. The LAI is usually not easy to simulate (lack of prediction of leaf weight in different environments leads to a bad estimation of leaf area) (de </a:t>
                      </a:r>
                      <a:r>
                        <a:rPr lang="en-US" sz="1200" dirty="0" err="1"/>
                        <a:t>Reffye</a:t>
                      </a:r>
                      <a:r>
                        <a:rPr lang="en-US" sz="1200" dirty="0"/>
                        <a:t> et al., 2009). </a:t>
                      </a:r>
                    </a:p>
                    <a:p>
                      <a:pPr marL="171450" indent="-171450">
                        <a:buFont typeface="Arial" panose="020B0604020202020204" pitchFamily="34" charset="0"/>
                        <a:buChar char="•"/>
                      </a:pPr>
                      <a:r>
                        <a:rPr lang="en-US" sz="1200" dirty="0"/>
                        <a:t>Variations in the harvest index cannot be easily controlled. Specific variations due to plant structure cannot be distinguished from those due to stresses. Conversely, stresses are difficult to relate to harvest index.</a:t>
                      </a:r>
                    </a:p>
                    <a:p>
                      <a:pPr marL="171450" indent="-171450">
                        <a:buFont typeface="Arial" panose="020B0604020202020204" pitchFamily="34" charset="0"/>
                        <a:buChar char="•"/>
                      </a:pPr>
                      <a:r>
                        <a:rPr lang="en-US" sz="1200" dirty="0"/>
                        <a:t>Deterministic model, hence stochastic behavior cannot usually be considered; mean production values can be assessed, but without variances </a:t>
                      </a:r>
                      <a:r>
                        <a:rPr lang="en-US" sz="1200" dirty="0">
                          <a:sym typeface="Wingdings" panose="05000000000000000000" pitchFamily="2" charset="2"/>
                        </a:rPr>
                        <a:t> hard to assess quality of simulated outputs.</a:t>
                      </a:r>
                      <a:endParaRPr lang="en-US" sz="1200" dirty="0"/>
                    </a:p>
                    <a:p>
                      <a:pPr marL="171450" indent="-171450">
                        <a:buFont typeface="Arial" panose="020B0604020202020204" pitchFamily="34" charset="0"/>
                        <a:buChar char="•"/>
                      </a:pPr>
                      <a:r>
                        <a:rPr lang="en-US" sz="1200" dirty="0"/>
                        <a:t>Organogenesis is implicit, since organs are considered as compartments. Hence organ differentiation and abortion prediction are difficult.</a:t>
                      </a:r>
                    </a:p>
                    <a:p>
                      <a:pPr marL="171450" indent="-171450">
                        <a:buFont typeface="Arial" panose="020B0604020202020204" pitchFamily="34" charset="0"/>
                        <a:buChar char="•"/>
                      </a:pPr>
                      <a:r>
                        <a:rPr lang="en-US" sz="1200" dirty="0"/>
                        <a:t>Problems in linking different modules together (development is often unconnected from the growth) </a:t>
                      </a:r>
                    </a:p>
                    <a:p>
                      <a:pPr marL="171450" indent="-171450">
                        <a:buFont typeface="Arial" panose="020B0604020202020204" pitchFamily="34" charset="0"/>
                        <a:buChar char="•"/>
                      </a:pPr>
                      <a:r>
                        <a:rPr lang="en-US" sz="1200" dirty="0"/>
                        <a:t>Structure is ignored </a:t>
                      </a:r>
                      <a:r>
                        <a:rPr lang="en-US" sz="1200" dirty="0">
                          <a:sym typeface="Wingdings" panose="05000000000000000000" pitchFamily="2" charset="2"/>
                        </a:rPr>
                        <a:t> c</a:t>
                      </a:r>
                      <a:r>
                        <a:rPr lang="en-US" sz="1200" dirty="0"/>
                        <a:t>ommon pool for carbon (transport resistance for assimilation is neglected), allocation to organ according to sink strength, but no direct interaction between sources and sinks.</a:t>
                      </a:r>
                    </a:p>
                    <a:p>
                      <a:pPr marL="171450" indent="-171450">
                        <a:buFont typeface="Arial" panose="020B0604020202020204" pitchFamily="34" charset="0"/>
                        <a:buChar char="•"/>
                      </a:pPr>
                      <a:r>
                        <a:rPr lang="en-US" sz="1200" dirty="0"/>
                        <a:t>designed to be spatially one-dimensional, just considering differences in canopy or rooting pattern in the vertical direction, making it hard to represent the spatial heterogeneity that characterizes mixtures. Some crop models are two-dimensional, representing heterogeneity of an intercrop or agroforestry system using a block structure (Gou et al., 2017; Van </a:t>
                      </a:r>
                      <a:r>
                        <a:rPr lang="en-US" sz="1200" dirty="0" err="1"/>
                        <a:t>Noordwijk</a:t>
                      </a:r>
                      <a:r>
                        <a:rPr lang="en-US" sz="1200" dirty="0"/>
                        <a:t> and </a:t>
                      </a:r>
                      <a:r>
                        <a:rPr lang="en-US" sz="1200" dirty="0" err="1"/>
                        <a:t>Lusiana</a:t>
                      </a:r>
                      <a:r>
                        <a:rPr lang="en-US" sz="1200" dirty="0"/>
                        <a:t>, 1998; </a:t>
                      </a:r>
                      <a:r>
                        <a:rPr lang="en-US" sz="1200" dirty="0" err="1"/>
                        <a:t>Vezy</a:t>
                      </a:r>
                      <a:r>
                        <a:rPr lang="en-US" sz="1200" dirty="0"/>
                        <a:t> et al., 2023). </a:t>
                      </a:r>
                    </a:p>
                    <a:p>
                      <a:pPr marL="171450" indent="-171450">
                        <a:buFont typeface="Arial" panose="020B0604020202020204" pitchFamily="34" charset="0"/>
                        <a:buChar char="•"/>
                      </a:pPr>
                      <a:r>
                        <a:rPr lang="en-US" sz="1200" dirty="0"/>
                        <a:t>normally do not consider individual plants, while mixture performance is greatly determined by growth of individual plants driven by competition for local resources (light, water, N, P) and micro-climate.</a:t>
                      </a:r>
                    </a:p>
                    <a:p>
                      <a:pPr marL="171450" indent="-171450">
                        <a:buFont typeface="Arial" panose="020B0604020202020204" pitchFamily="34" charset="0"/>
                        <a:buChar char="•"/>
                      </a:pPr>
                      <a:r>
                        <a:rPr lang="en-US" sz="1200" dirty="0"/>
                        <a:t>no explicit plant plasticity in growth and functioning at the organ level in relation to local conditions.</a:t>
                      </a:r>
                    </a:p>
                  </a:txBody>
                  <a:tcPr/>
                </a:tc>
                <a:extLst>
                  <a:ext uri="{0D108BD9-81ED-4DB2-BD59-A6C34878D82A}">
                    <a16:rowId xmlns:a16="http://schemas.microsoft.com/office/drawing/2014/main" val="1402237730"/>
                  </a:ext>
                </a:extLst>
              </a:tr>
              <a:tr h="3249879">
                <a:tc>
                  <a:txBody>
                    <a:bodyPr/>
                    <a:lstStyle/>
                    <a:p>
                      <a:pPr algn="ctr"/>
                      <a:r>
                        <a:rPr lang="en-US" dirty="0"/>
                        <a:t>FSPMs</a:t>
                      </a:r>
                    </a:p>
                  </a:txBody>
                  <a:tcPr vert="vert270"/>
                </a:tc>
                <a:tc>
                  <a:txBody>
                    <a:bodyPr/>
                    <a:lstStyle/>
                    <a:p>
                      <a:pPr marL="285750" indent="-285750">
                        <a:buFont typeface="Arial" panose="020B0604020202020204" pitchFamily="34" charset="0"/>
                        <a:buChar char="•"/>
                      </a:pPr>
                      <a:r>
                        <a:rPr lang="en-US" sz="1200" b="1" dirty="0"/>
                        <a:t>3D representation</a:t>
                      </a:r>
                      <a:r>
                        <a:rPr lang="en-US" sz="1200" dirty="0"/>
                        <a:t>, offering a fast qualitative data and process check</a:t>
                      </a:r>
                    </a:p>
                    <a:p>
                      <a:pPr marL="285750" indent="-285750">
                        <a:buFont typeface="Arial" panose="020B0604020202020204" pitchFamily="34" charset="0"/>
                        <a:buChar char="•"/>
                      </a:pPr>
                      <a:r>
                        <a:rPr lang="en-US" sz="1200" dirty="0"/>
                        <a:t>can faithfully simulate the </a:t>
                      </a:r>
                      <a:r>
                        <a:rPr lang="en-US" sz="1200" b="1" dirty="0"/>
                        <a:t>structure development </a:t>
                      </a:r>
                      <a:r>
                        <a:rPr lang="en-US" sz="1200" dirty="0"/>
                        <a:t>of plants, with appropriate bases and rules (thermal time + geometrical operations)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dirty="0"/>
                        <a:t>specific </a:t>
                      </a:r>
                      <a:r>
                        <a:rPr lang="en-US" sz="1200" b="1" dirty="0"/>
                        <a:t>plant architecture (geometry +</a:t>
                      </a:r>
                      <a:r>
                        <a:rPr lang="en-US" sz="1200" dirty="0"/>
                        <a:t> </a:t>
                      </a:r>
                      <a:r>
                        <a:rPr lang="en-US" sz="1200" b="1" dirty="0"/>
                        <a:t>structure topology)</a:t>
                      </a:r>
                      <a:endParaRPr lang="en-US" sz="1200" dirty="0"/>
                    </a:p>
                    <a:p>
                      <a:pPr marL="285750" indent="-285750">
                        <a:buFont typeface="Arial" panose="020B0604020202020204" pitchFamily="34" charset="0"/>
                        <a:buChar char="•"/>
                      </a:pPr>
                      <a:r>
                        <a:rPr lang="en-US" sz="1200" dirty="0"/>
                        <a:t>The plant simulated structure is a framework able to host functional and specific processes, where plant geometry is required</a:t>
                      </a:r>
                    </a:p>
                    <a:p>
                      <a:pPr marL="285750" indent="-285750">
                        <a:buFont typeface="Arial" panose="020B0604020202020204" pitchFamily="34" charset="0"/>
                        <a:buChar char="•"/>
                      </a:pPr>
                      <a:r>
                        <a:rPr lang="en-US" sz="1200" dirty="0"/>
                        <a:t>direct interaction between biomass sources and sinks</a:t>
                      </a:r>
                    </a:p>
                    <a:p>
                      <a:pPr marL="285750" indent="-285750">
                        <a:buFont typeface="Arial" panose="020B0604020202020204" pitchFamily="34" charset="0"/>
                        <a:buChar char="•"/>
                      </a:pPr>
                      <a:r>
                        <a:rPr lang="en-US" sz="1200" b="1" dirty="0"/>
                        <a:t>stochastic</a:t>
                      </a:r>
                      <a:r>
                        <a:rPr lang="en-US" sz="1200" dirty="0"/>
                        <a:t> structure representations</a:t>
                      </a:r>
                    </a:p>
                    <a:p>
                      <a:pPr marL="285750" indent="-285750">
                        <a:buFont typeface="Arial" panose="020B0604020202020204" pitchFamily="34" charset="0"/>
                        <a:buChar char="•"/>
                      </a:pPr>
                      <a:r>
                        <a:rPr lang="en-US" sz="1200" b="0" dirty="0"/>
                        <a:t>Parameter identification is of major interest for genetics and agricultural sciences, because they can provide orientations for selection in breeding.</a:t>
                      </a:r>
                    </a:p>
                    <a:p>
                      <a:pPr marL="285750" indent="-285750">
                        <a:buFont typeface="Arial" panose="020B0604020202020204" pitchFamily="34" charset="0"/>
                        <a:buChar char="•"/>
                      </a:pPr>
                      <a:r>
                        <a:rPr lang="en-US" sz="1200" b="0" dirty="0"/>
                        <a:t>Considering plant architecture enables to understand yield components and plant functioning.</a:t>
                      </a:r>
                    </a:p>
                  </a:txBody>
                  <a:tcPr/>
                </a:tc>
                <a:tc>
                  <a:txBody>
                    <a:bodyPr/>
                    <a:lstStyle/>
                    <a:p>
                      <a:pPr marL="285750" indent="-285750">
                        <a:buFont typeface="Arial" panose="020B0604020202020204" pitchFamily="34" charset="0"/>
                        <a:buChar char="•"/>
                      </a:pPr>
                      <a:r>
                        <a:rPr lang="en-US" sz="1200" dirty="0"/>
                        <a:t>Field measurements, calibration and validation are heavy and difficult to carry out, as it usually involves </a:t>
                      </a:r>
                      <a:r>
                        <a:rPr lang="en-US" sz="1200" b="1" dirty="0"/>
                        <a:t>many parameters </a:t>
                      </a:r>
                      <a:r>
                        <a:rPr lang="en-US" sz="1200" b="0" dirty="0"/>
                        <a:t>(</a:t>
                      </a:r>
                      <a:r>
                        <a:rPr lang="en-US" sz="1200" dirty="0"/>
                        <a:t>geometrical organ sizes, including internode lengths and diameters must be fitted from data or empirically defined</a:t>
                      </a:r>
                      <a:r>
                        <a:rPr lang="en-US" sz="1200" b="0" dirty="0"/>
                        <a:t>)</a:t>
                      </a:r>
                      <a:r>
                        <a:rPr lang="en-US" sz="1200" dirty="0"/>
                        <a:t>.</a:t>
                      </a:r>
                    </a:p>
                    <a:p>
                      <a:pPr marL="285750" indent="-285750">
                        <a:buFont typeface="Arial" panose="020B0604020202020204" pitchFamily="34" charset="0"/>
                        <a:buChar char="•"/>
                      </a:pPr>
                      <a:r>
                        <a:rPr lang="en-US" sz="1200" dirty="0"/>
                        <a:t>FSPM show </a:t>
                      </a:r>
                      <a:r>
                        <a:rPr lang="en-US" sz="1200" b="1" dirty="0"/>
                        <a:t>high computing and memory costs </a:t>
                      </a:r>
                      <a:r>
                        <a:rPr lang="en-US" sz="1200" dirty="0"/>
                        <a:t>in order to simulate the parallel development growth of organs of a plant and potentially of a population, and to estimate biomass production, especially related to light interception computation, known to be a nonlinear problem (ray tracing).</a:t>
                      </a:r>
                    </a:p>
                    <a:p>
                      <a:pPr marL="285750" indent="-285750">
                        <a:buFont typeface="Arial" panose="020B0604020202020204" pitchFamily="34" charset="0"/>
                        <a:buChar char="•"/>
                      </a:pPr>
                      <a:r>
                        <a:rPr lang="en-US" sz="1200" dirty="0"/>
                        <a:t>FSPM show high computing costs for biomass transport and partitioning in the plant architecture. </a:t>
                      </a:r>
                    </a:p>
                    <a:p>
                      <a:pPr marL="285750" indent="-285750">
                        <a:buFont typeface="Arial" panose="020B0604020202020204" pitchFamily="34" charset="0"/>
                        <a:buChar char="•"/>
                      </a:pPr>
                      <a:r>
                        <a:rPr lang="en-US" sz="1200" dirty="0"/>
                        <a:t>Stochastic behavior cannot usually be considered; mean values and variance of production are difficult to assess, requiring sets of numerical experiments</a:t>
                      </a:r>
                    </a:p>
                    <a:p>
                      <a:pPr marL="285750" indent="-285750">
                        <a:buFont typeface="Arial" panose="020B0604020202020204" pitchFamily="34" charset="0"/>
                        <a:buChar char="•"/>
                      </a:pPr>
                      <a:r>
                        <a:rPr lang="en-US" sz="1200" dirty="0"/>
                        <a:t>Implies having physiological knowledge about the species </a:t>
                      </a:r>
                    </a:p>
                    <a:p>
                      <a:endParaRPr lang="en-US" dirty="0"/>
                    </a:p>
                  </a:txBody>
                  <a:tcPr/>
                </a:tc>
                <a:extLst>
                  <a:ext uri="{0D108BD9-81ED-4DB2-BD59-A6C34878D82A}">
                    <a16:rowId xmlns:a16="http://schemas.microsoft.com/office/drawing/2014/main" val="1779351074"/>
                  </a:ext>
                </a:extLst>
              </a:tr>
            </a:tbl>
          </a:graphicData>
        </a:graphic>
      </p:graphicFrame>
    </p:spTree>
    <p:extLst>
      <p:ext uri="{BB962C8B-B14F-4D97-AF65-F5344CB8AC3E}">
        <p14:creationId xmlns:p14="http://schemas.microsoft.com/office/powerpoint/2010/main" val="8296771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2C1CCD-062A-4A30-942E-5E57FE90F026}"/>
              </a:ext>
            </a:extLst>
          </p:cNvPr>
          <p:cNvSpPr>
            <a:spLocks noGrp="1"/>
          </p:cNvSpPr>
          <p:nvPr>
            <p:ph type="title"/>
          </p:nvPr>
        </p:nvSpPr>
        <p:spPr>
          <a:xfrm>
            <a:off x="450542" y="195039"/>
            <a:ext cx="10515600" cy="1325563"/>
          </a:xfrm>
        </p:spPr>
        <p:txBody>
          <a:bodyPr/>
          <a:lstStyle/>
          <a:p>
            <a:r>
              <a:rPr lang="en-US" dirty="0"/>
              <a:t>Crop models vs. FSPMs : </a:t>
            </a:r>
            <a:r>
              <a:rPr lang="en-US" i="1" dirty="0"/>
              <a:t>usual</a:t>
            </a:r>
            <a:r>
              <a:rPr lang="en-US" dirty="0"/>
              <a:t> characteristics</a:t>
            </a:r>
          </a:p>
        </p:txBody>
      </p:sp>
      <p:graphicFrame>
        <p:nvGraphicFramePr>
          <p:cNvPr id="3" name="Table 2">
            <a:extLst>
              <a:ext uri="{FF2B5EF4-FFF2-40B4-BE49-F238E27FC236}">
                <a16:creationId xmlns:a16="http://schemas.microsoft.com/office/drawing/2014/main" id="{F62299CD-90E9-4779-B049-B00C667F00EF}"/>
              </a:ext>
            </a:extLst>
          </p:cNvPr>
          <p:cNvGraphicFramePr>
            <a:graphicFrameLocks noGrp="1"/>
          </p:cNvGraphicFramePr>
          <p:nvPr>
            <p:extLst>
              <p:ext uri="{D42A27DB-BD31-4B8C-83A1-F6EECF244321}">
                <p14:modId xmlns:p14="http://schemas.microsoft.com/office/powerpoint/2010/main" val="1740235286"/>
              </p:ext>
            </p:extLst>
          </p:nvPr>
        </p:nvGraphicFramePr>
        <p:xfrm>
          <a:off x="171987" y="1491980"/>
          <a:ext cx="11848026" cy="3383280"/>
        </p:xfrm>
        <a:graphic>
          <a:graphicData uri="http://schemas.openxmlformats.org/drawingml/2006/table">
            <a:tbl>
              <a:tblPr firstRow="1" bandRow="1">
                <a:tableStyleId>{5940675A-B579-460E-94D1-54222C63F5DA}</a:tableStyleId>
              </a:tblPr>
              <a:tblGrid>
                <a:gridCol w="833637">
                  <a:extLst>
                    <a:ext uri="{9D8B030D-6E8A-4147-A177-3AD203B41FA5}">
                      <a16:colId xmlns:a16="http://schemas.microsoft.com/office/drawing/2014/main" val="3858397490"/>
                    </a:ext>
                  </a:extLst>
                </a:gridCol>
                <a:gridCol w="1214302">
                  <a:extLst>
                    <a:ext uri="{9D8B030D-6E8A-4147-A177-3AD203B41FA5}">
                      <a16:colId xmlns:a16="http://schemas.microsoft.com/office/drawing/2014/main" val="156782030"/>
                    </a:ext>
                  </a:extLst>
                </a:gridCol>
                <a:gridCol w="1160280">
                  <a:extLst>
                    <a:ext uri="{9D8B030D-6E8A-4147-A177-3AD203B41FA5}">
                      <a16:colId xmlns:a16="http://schemas.microsoft.com/office/drawing/2014/main" val="1259872260"/>
                    </a:ext>
                  </a:extLst>
                </a:gridCol>
                <a:gridCol w="1160280">
                  <a:extLst>
                    <a:ext uri="{9D8B030D-6E8A-4147-A177-3AD203B41FA5}">
                      <a16:colId xmlns:a16="http://schemas.microsoft.com/office/drawing/2014/main" val="3195086937"/>
                    </a:ext>
                  </a:extLst>
                </a:gridCol>
                <a:gridCol w="661600">
                  <a:extLst>
                    <a:ext uri="{9D8B030D-6E8A-4147-A177-3AD203B41FA5}">
                      <a16:colId xmlns:a16="http://schemas.microsoft.com/office/drawing/2014/main" val="452854097"/>
                    </a:ext>
                  </a:extLst>
                </a:gridCol>
                <a:gridCol w="1208432">
                  <a:extLst>
                    <a:ext uri="{9D8B030D-6E8A-4147-A177-3AD203B41FA5}">
                      <a16:colId xmlns:a16="http://schemas.microsoft.com/office/drawing/2014/main" val="608938134"/>
                    </a:ext>
                  </a:extLst>
                </a:gridCol>
                <a:gridCol w="1869831">
                  <a:extLst>
                    <a:ext uri="{9D8B030D-6E8A-4147-A177-3AD203B41FA5}">
                      <a16:colId xmlns:a16="http://schemas.microsoft.com/office/drawing/2014/main" val="3056697853"/>
                    </a:ext>
                  </a:extLst>
                </a:gridCol>
                <a:gridCol w="1271486">
                  <a:extLst>
                    <a:ext uri="{9D8B030D-6E8A-4147-A177-3AD203B41FA5}">
                      <a16:colId xmlns:a16="http://schemas.microsoft.com/office/drawing/2014/main" val="4207927434"/>
                    </a:ext>
                  </a:extLst>
                </a:gridCol>
                <a:gridCol w="1215390">
                  <a:extLst>
                    <a:ext uri="{9D8B030D-6E8A-4147-A177-3AD203B41FA5}">
                      <a16:colId xmlns:a16="http://schemas.microsoft.com/office/drawing/2014/main" val="2323617468"/>
                    </a:ext>
                  </a:extLst>
                </a:gridCol>
                <a:gridCol w="1252788">
                  <a:extLst>
                    <a:ext uri="{9D8B030D-6E8A-4147-A177-3AD203B41FA5}">
                      <a16:colId xmlns:a16="http://schemas.microsoft.com/office/drawing/2014/main" val="130261279"/>
                    </a:ext>
                  </a:extLst>
                </a:gridCol>
              </a:tblGrid>
              <a:tr h="370840">
                <a:tc>
                  <a:txBody>
                    <a:bodyPr/>
                    <a:lstStyle/>
                    <a:p>
                      <a:endParaRPr lang="en-US" sz="1700" dirty="0"/>
                    </a:p>
                  </a:txBody>
                  <a:tcPr/>
                </a:tc>
                <a:tc>
                  <a:txBody>
                    <a:bodyPr/>
                    <a:lstStyle/>
                    <a:p>
                      <a:r>
                        <a:rPr lang="fr-FR" sz="1700" dirty="0" err="1"/>
                        <a:t>Parameters</a:t>
                      </a:r>
                      <a:endParaRPr lang="en-US" sz="1700" dirty="0"/>
                    </a:p>
                  </a:txBody>
                  <a:tcPr/>
                </a:tc>
                <a:tc>
                  <a:txBody>
                    <a:bodyPr/>
                    <a:lstStyle/>
                    <a:p>
                      <a:r>
                        <a:rPr lang="fr-FR" sz="1700" dirty="0" err="1"/>
                        <a:t>Computing</a:t>
                      </a:r>
                      <a:r>
                        <a:rPr lang="fr-FR" sz="1700" dirty="0"/>
                        <a:t> and memory </a:t>
                      </a:r>
                      <a:r>
                        <a:rPr lang="fr-FR" sz="1700" dirty="0" err="1"/>
                        <a:t>cost</a:t>
                      </a:r>
                      <a:endParaRPr lang="en-US" sz="1700" dirty="0"/>
                    </a:p>
                  </a:txBody>
                  <a:tcPr/>
                </a:tc>
                <a:tc>
                  <a:txBody>
                    <a:bodyPr/>
                    <a:lstStyle/>
                    <a:p>
                      <a:r>
                        <a:rPr lang="fr-FR" sz="1700" dirty="0"/>
                        <a:t>Simulation time </a:t>
                      </a:r>
                      <a:r>
                        <a:rPr lang="fr-FR" sz="1700" dirty="0" err="1"/>
                        <a:t>span</a:t>
                      </a:r>
                      <a:endParaRPr lang="en-US" sz="1700" dirty="0"/>
                    </a:p>
                  </a:txBody>
                  <a:tcPr/>
                </a:tc>
                <a:tc>
                  <a:txBody>
                    <a:bodyPr/>
                    <a:lstStyle/>
                    <a:p>
                      <a:r>
                        <a:rPr lang="fr-FR" sz="1700" dirty="0"/>
                        <a:t>Plant archi</a:t>
                      </a:r>
                      <a:endParaRPr lang="en-US" sz="1700" dirty="0"/>
                    </a:p>
                  </a:txBody>
                  <a:tcPr/>
                </a:tc>
                <a:tc>
                  <a:txBody>
                    <a:bodyPr/>
                    <a:lstStyle/>
                    <a:p>
                      <a:r>
                        <a:rPr lang="fr-FR" sz="1700" dirty="0"/>
                        <a:t>Nb of dimensions </a:t>
                      </a:r>
                      <a:r>
                        <a:rPr lang="fr-FR" sz="1700" dirty="0" err="1"/>
                        <a:t>considered</a:t>
                      </a:r>
                      <a:endParaRPr lang="en-US" sz="1700" dirty="0"/>
                    </a:p>
                  </a:txBody>
                  <a:tcPr/>
                </a:tc>
                <a:tc>
                  <a:txBody>
                    <a:bodyPr/>
                    <a:lstStyle/>
                    <a:p>
                      <a:r>
                        <a:rPr lang="fr-FR" sz="1700" dirty="0"/>
                        <a:t>Model type</a:t>
                      </a:r>
                      <a:endParaRPr lang="en-US" sz="1700" dirty="0"/>
                    </a:p>
                  </a:txBody>
                  <a:tcPr/>
                </a:tc>
                <a:tc>
                  <a:txBody>
                    <a:bodyPr/>
                    <a:lstStyle/>
                    <a:p>
                      <a:r>
                        <a:rPr lang="fr-FR" sz="1700" dirty="0"/>
                        <a:t>Light interception</a:t>
                      </a:r>
                      <a:endParaRPr lang="en-US" sz="1700" dirty="0"/>
                    </a:p>
                  </a:txBody>
                  <a:tcPr/>
                </a:tc>
                <a:tc>
                  <a:txBody>
                    <a:bodyPr/>
                    <a:lstStyle/>
                    <a:p>
                      <a:r>
                        <a:rPr lang="fr-FR" sz="1700" dirty="0"/>
                        <a:t>Ressource </a:t>
                      </a:r>
                      <a:r>
                        <a:rPr lang="fr-FR" sz="1700" dirty="0" err="1"/>
                        <a:t>partitioning</a:t>
                      </a:r>
                      <a:endParaRPr lang="en-US" sz="1700" dirty="0"/>
                    </a:p>
                  </a:txBody>
                  <a:tcPr/>
                </a:tc>
                <a:tc>
                  <a:txBody>
                    <a:bodyPr/>
                    <a:lstStyle/>
                    <a:p>
                      <a:r>
                        <a:rPr lang="fr-FR" sz="1700" dirty="0" err="1"/>
                        <a:t>Potential</a:t>
                      </a:r>
                      <a:r>
                        <a:rPr lang="fr-FR" sz="1700" dirty="0"/>
                        <a:t> plant </a:t>
                      </a:r>
                      <a:r>
                        <a:rPr lang="fr-FR" sz="1700" dirty="0" err="1"/>
                        <a:t>plasticity</a:t>
                      </a:r>
                      <a:endParaRPr lang="en-US" sz="1700" dirty="0"/>
                    </a:p>
                  </a:txBody>
                  <a:tcPr/>
                </a:tc>
                <a:extLst>
                  <a:ext uri="{0D108BD9-81ED-4DB2-BD59-A6C34878D82A}">
                    <a16:rowId xmlns:a16="http://schemas.microsoft.com/office/drawing/2014/main" val="1672609902"/>
                  </a:ext>
                </a:extLst>
              </a:tr>
              <a:tr h="370840">
                <a:tc>
                  <a:txBody>
                    <a:bodyPr/>
                    <a:lstStyle/>
                    <a:p>
                      <a:r>
                        <a:rPr lang="fr-FR" sz="1700" dirty="0" err="1"/>
                        <a:t>Crop</a:t>
                      </a:r>
                      <a:r>
                        <a:rPr lang="fr-FR" sz="1700" dirty="0"/>
                        <a:t> </a:t>
                      </a:r>
                      <a:r>
                        <a:rPr lang="fr-FR" sz="1700" dirty="0" err="1"/>
                        <a:t>models</a:t>
                      </a:r>
                      <a:r>
                        <a:rPr lang="fr-FR" sz="1700" dirty="0"/>
                        <a:t> (PBM)</a:t>
                      </a:r>
                      <a:endParaRPr lang="en-US" sz="1700" dirty="0"/>
                    </a:p>
                  </a:txBody>
                  <a:tcPr/>
                </a:tc>
                <a:tc>
                  <a:txBody>
                    <a:bodyPr/>
                    <a:lstStyle/>
                    <a:p>
                      <a:r>
                        <a:rPr lang="fr-FR" sz="1700" dirty="0" err="1"/>
                        <a:t>Mostly</a:t>
                      </a:r>
                      <a:r>
                        <a:rPr lang="fr-FR" sz="1700" dirty="0"/>
                        <a:t> </a:t>
                      </a:r>
                      <a:r>
                        <a:rPr lang="fr-FR" sz="1700" dirty="0" err="1"/>
                        <a:t>calibrated</a:t>
                      </a:r>
                      <a:endParaRPr lang="en-US" sz="1700" dirty="0"/>
                    </a:p>
                  </a:txBody>
                  <a:tcPr>
                    <a:noFill/>
                  </a:tcPr>
                </a:tc>
                <a:tc>
                  <a:txBody>
                    <a:bodyPr/>
                    <a:lstStyle/>
                    <a:p>
                      <a:r>
                        <a:rPr lang="fr-FR" sz="1700" dirty="0" err="1"/>
                        <a:t>lower</a:t>
                      </a:r>
                      <a:endParaRPr lang="en-US" sz="1700" dirty="0"/>
                    </a:p>
                  </a:txBody>
                  <a:tcPr>
                    <a:noFill/>
                  </a:tcPr>
                </a:tc>
                <a:tc>
                  <a:txBody>
                    <a:bodyPr/>
                    <a:lstStyle/>
                    <a:p>
                      <a:r>
                        <a:rPr lang="fr-FR" sz="1700" dirty="0" err="1"/>
                        <a:t>Whole</a:t>
                      </a:r>
                      <a:r>
                        <a:rPr lang="fr-FR" sz="1700" dirty="0"/>
                        <a:t> </a:t>
                      </a:r>
                      <a:r>
                        <a:rPr lang="fr-FR" sz="1700" dirty="0" err="1"/>
                        <a:t>growing</a:t>
                      </a:r>
                      <a:r>
                        <a:rPr lang="fr-FR" sz="1700" dirty="0"/>
                        <a:t> </a:t>
                      </a:r>
                      <a:r>
                        <a:rPr lang="fr-FR" sz="1700" dirty="0" err="1"/>
                        <a:t>season</a:t>
                      </a:r>
                      <a:r>
                        <a:rPr lang="fr-FR" sz="1700" dirty="0"/>
                        <a:t> to </a:t>
                      </a:r>
                      <a:r>
                        <a:rPr lang="fr-FR" sz="1700" dirty="0" err="1"/>
                        <a:t>years</a:t>
                      </a:r>
                      <a:endParaRPr lang="en-US" sz="1700" dirty="0"/>
                    </a:p>
                  </a:txBody>
                  <a:tcPr>
                    <a:noFill/>
                  </a:tcPr>
                </a:tc>
                <a:tc>
                  <a:txBody>
                    <a:bodyPr/>
                    <a:lstStyle/>
                    <a:p>
                      <a:r>
                        <a:rPr lang="fr-FR" sz="1700" dirty="0"/>
                        <a:t>no</a:t>
                      </a:r>
                      <a:endParaRPr lang="en-US" sz="1700" dirty="0"/>
                    </a:p>
                  </a:txBody>
                  <a:tcPr/>
                </a:tc>
                <a:tc>
                  <a:txBody>
                    <a:bodyPr/>
                    <a:lstStyle/>
                    <a:p>
                      <a:r>
                        <a:rPr lang="fr-FR" sz="1700" dirty="0"/>
                        <a:t>1D</a:t>
                      </a:r>
                      <a:endParaRPr lang="en-US" sz="1700" dirty="0"/>
                    </a:p>
                  </a:txBody>
                  <a:tcPr/>
                </a:tc>
                <a:tc>
                  <a:txBody>
                    <a:bodyPr/>
                    <a:lstStyle/>
                    <a:p>
                      <a:r>
                        <a:rPr lang="fr-FR" sz="1700" dirty="0" err="1"/>
                        <a:t>Deterministic</a:t>
                      </a:r>
                      <a:endParaRPr lang="fr-FR" sz="1700" dirty="0"/>
                    </a:p>
                    <a:p>
                      <a:r>
                        <a:rPr lang="fr-FR" sz="1700" dirty="0">
                          <a:sym typeface="Wingdings" panose="05000000000000000000" pitchFamily="2" charset="2"/>
                        </a:rPr>
                        <a:t> </a:t>
                      </a:r>
                      <a:r>
                        <a:rPr lang="fr-FR" sz="1700" dirty="0" err="1">
                          <a:sym typeface="Wingdings" panose="05000000000000000000" pitchFamily="2" charset="2"/>
                        </a:rPr>
                        <a:t>Average</a:t>
                      </a:r>
                      <a:r>
                        <a:rPr lang="fr-FR" sz="1700" dirty="0">
                          <a:sym typeface="Wingdings" panose="05000000000000000000" pitchFamily="2" charset="2"/>
                        </a:rPr>
                        <a:t> plant, </a:t>
                      </a:r>
                      <a:r>
                        <a:rPr lang="fr-FR" sz="1700" dirty="0" err="1">
                          <a:sym typeface="Wingdings" panose="05000000000000000000" pitchFamily="2" charset="2"/>
                        </a:rPr>
                        <a:t>homogeneous</a:t>
                      </a:r>
                      <a:r>
                        <a:rPr lang="fr-FR" sz="1700" dirty="0">
                          <a:sym typeface="Wingdings" panose="05000000000000000000" pitchFamily="2" charset="2"/>
                        </a:rPr>
                        <a:t> plot</a:t>
                      </a:r>
                      <a:endParaRPr lang="en-US" sz="1700" dirty="0"/>
                    </a:p>
                  </a:txBody>
                  <a:tcPr/>
                </a:tc>
                <a:tc>
                  <a:txBody>
                    <a:bodyPr/>
                    <a:lstStyle/>
                    <a:p>
                      <a:r>
                        <a:rPr lang="fr-FR" sz="1700" dirty="0"/>
                        <a:t>Big </a:t>
                      </a:r>
                      <a:r>
                        <a:rPr lang="fr-FR" sz="1700" dirty="0" err="1"/>
                        <a:t>leaf</a:t>
                      </a:r>
                      <a:r>
                        <a:rPr lang="fr-FR" sz="1700" dirty="0"/>
                        <a:t> (Beer-Lambert </a:t>
                      </a:r>
                      <a:r>
                        <a:rPr lang="fr-FR" sz="1700" dirty="0" err="1"/>
                        <a:t>with</a:t>
                      </a:r>
                      <a:r>
                        <a:rPr lang="fr-FR" sz="1700" dirty="0"/>
                        <a:t> LAI)</a:t>
                      </a:r>
                      <a:endParaRPr lang="en-US" sz="1700" dirty="0"/>
                    </a:p>
                  </a:txBody>
                  <a:tcPr/>
                </a:tc>
                <a:tc>
                  <a:txBody>
                    <a:bodyPr/>
                    <a:lstStyle/>
                    <a:p>
                      <a:r>
                        <a:rPr lang="fr-FR" sz="1700" dirty="0"/>
                        <a:t>Common pool</a:t>
                      </a:r>
                      <a:endParaRPr lang="en-US" sz="1700" dirty="0"/>
                    </a:p>
                  </a:txBody>
                  <a:tcPr/>
                </a:tc>
                <a:tc>
                  <a:txBody>
                    <a:bodyPr/>
                    <a:lstStyle/>
                    <a:p>
                      <a:r>
                        <a:rPr lang="fr-FR" sz="1700" dirty="0"/>
                        <a:t>To </a:t>
                      </a:r>
                      <a:r>
                        <a:rPr lang="fr-FR" sz="1700" dirty="0" err="1"/>
                        <a:t>parametrize</a:t>
                      </a:r>
                      <a:endParaRPr lang="en-US" sz="1700" dirty="0"/>
                    </a:p>
                  </a:txBody>
                  <a:tcPr/>
                </a:tc>
                <a:extLst>
                  <a:ext uri="{0D108BD9-81ED-4DB2-BD59-A6C34878D82A}">
                    <a16:rowId xmlns:a16="http://schemas.microsoft.com/office/drawing/2014/main" val="2517379419"/>
                  </a:ext>
                </a:extLst>
              </a:tr>
              <a:tr h="370840">
                <a:tc>
                  <a:txBody>
                    <a:bodyPr/>
                    <a:lstStyle/>
                    <a:p>
                      <a:r>
                        <a:rPr lang="fr-FR" sz="1700" dirty="0"/>
                        <a:t>FSPM</a:t>
                      </a:r>
                      <a:endParaRPr lang="en-US" sz="1700" dirty="0"/>
                    </a:p>
                  </a:txBody>
                  <a:tcPr/>
                </a:tc>
                <a:tc>
                  <a:txBody>
                    <a:bodyPr/>
                    <a:lstStyle/>
                    <a:p>
                      <a:r>
                        <a:rPr lang="fr-FR" sz="1700" dirty="0" err="1"/>
                        <a:t>Mostly</a:t>
                      </a:r>
                      <a:r>
                        <a:rPr lang="fr-FR" sz="1700" dirty="0"/>
                        <a:t> </a:t>
                      </a:r>
                      <a:r>
                        <a:rPr lang="fr-FR" sz="1700" dirty="0" err="1"/>
                        <a:t>mesured</a:t>
                      </a:r>
                      <a:endParaRPr lang="en-US" sz="1700" dirty="0"/>
                    </a:p>
                  </a:txBody>
                  <a:tcPr>
                    <a:noFill/>
                  </a:tcPr>
                </a:tc>
                <a:tc>
                  <a:txBody>
                    <a:bodyPr/>
                    <a:lstStyle/>
                    <a:p>
                      <a:r>
                        <a:rPr lang="fr-FR" sz="1700" dirty="0" err="1"/>
                        <a:t>higher</a:t>
                      </a:r>
                      <a:endParaRPr lang="en-US" sz="1700" dirty="0"/>
                    </a:p>
                  </a:txBody>
                  <a:tcPr>
                    <a:noFill/>
                  </a:tcPr>
                </a:tc>
                <a:tc>
                  <a:txBody>
                    <a:bodyPr/>
                    <a:lstStyle/>
                    <a:p>
                      <a:r>
                        <a:rPr lang="fr-FR" sz="1700" dirty="0"/>
                        <a:t>Days to </a:t>
                      </a:r>
                      <a:r>
                        <a:rPr lang="fr-FR" sz="1700" dirty="0" err="1"/>
                        <a:t>months</a:t>
                      </a:r>
                      <a:r>
                        <a:rPr lang="fr-FR" sz="1700" dirty="0"/>
                        <a:t>, </a:t>
                      </a:r>
                      <a:r>
                        <a:rPr lang="fr-FR" sz="1700" dirty="0" err="1"/>
                        <a:t>hardly</a:t>
                      </a:r>
                      <a:r>
                        <a:rPr lang="fr-FR" sz="1700" dirty="0"/>
                        <a:t> more</a:t>
                      </a:r>
                      <a:endParaRPr lang="en-US" sz="1700" dirty="0"/>
                    </a:p>
                  </a:txBody>
                  <a:tcPr>
                    <a:noFill/>
                  </a:tcPr>
                </a:tc>
                <a:tc>
                  <a:txBody>
                    <a:bodyPr/>
                    <a:lstStyle/>
                    <a:p>
                      <a:r>
                        <a:rPr lang="fr-FR" sz="1700" dirty="0"/>
                        <a:t>yes</a:t>
                      </a:r>
                      <a:endParaRPr lang="en-US" sz="1700" dirty="0"/>
                    </a:p>
                  </a:txBody>
                  <a:tcPr/>
                </a:tc>
                <a:tc>
                  <a:txBody>
                    <a:bodyPr/>
                    <a:lstStyle/>
                    <a:p>
                      <a:r>
                        <a:rPr lang="fr-FR" sz="1700" dirty="0"/>
                        <a:t>3D</a:t>
                      </a:r>
                      <a:endParaRPr lang="en-US" sz="1700" dirty="0"/>
                    </a:p>
                  </a:txBody>
                  <a:tcPr/>
                </a:tc>
                <a:tc>
                  <a:txBody>
                    <a:bodyPr/>
                    <a:lstStyle/>
                    <a:p>
                      <a:r>
                        <a:rPr lang="fr-FR" sz="1700" dirty="0" err="1"/>
                        <a:t>Stochastic</a:t>
                      </a:r>
                      <a:r>
                        <a:rPr lang="fr-FR" sz="1700" dirty="0"/>
                        <a:t> </a:t>
                      </a:r>
                      <a:r>
                        <a:rPr lang="fr-FR" sz="1700" dirty="0">
                          <a:sym typeface="Wingdings" panose="05000000000000000000" pitchFamily="2" charset="2"/>
                        </a:rPr>
                        <a:t> unique </a:t>
                      </a:r>
                      <a:r>
                        <a:rPr lang="fr-FR" sz="1700" dirty="0" err="1">
                          <a:sym typeface="Wingdings" panose="05000000000000000000" pitchFamily="2" charset="2"/>
                        </a:rPr>
                        <a:t>individuals</a:t>
                      </a:r>
                      <a:endParaRPr lang="en-US" sz="1700" dirty="0"/>
                    </a:p>
                  </a:txBody>
                  <a:tcPr/>
                </a:tc>
                <a:tc>
                  <a:txBody>
                    <a:bodyPr/>
                    <a:lstStyle/>
                    <a:p>
                      <a:r>
                        <a:rPr lang="fr-FR" sz="1700" dirty="0" err="1"/>
                        <a:t>Computed</a:t>
                      </a:r>
                      <a:r>
                        <a:rPr lang="fr-FR" sz="1700" dirty="0"/>
                        <a:t> on 3D archi</a:t>
                      </a:r>
                      <a:endParaRPr lang="en-US" sz="1700" dirty="0"/>
                    </a:p>
                  </a:txBody>
                  <a:tcPr/>
                </a:tc>
                <a:tc>
                  <a:txBody>
                    <a:bodyPr/>
                    <a:lstStyle/>
                    <a:p>
                      <a:r>
                        <a:rPr lang="fr-FR" sz="1700" dirty="0"/>
                        <a:t>Direct source/</a:t>
                      </a:r>
                      <a:r>
                        <a:rPr lang="fr-FR" sz="1700" dirty="0" err="1"/>
                        <a:t>sink</a:t>
                      </a:r>
                      <a:r>
                        <a:rPr lang="fr-FR" sz="1700" dirty="0"/>
                        <a:t> interaction</a:t>
                      </a:r>
                      <a:endParaRPr lang="en-US" sz="1700" dirty="0"/>
                    </a:p>
                  </a:txBody>
                  <a:tcPr/>
                </a:tc>
                <a:tc>
                  <a:txBody>
                    <a:bodyPr/>
                    <a:lstStyle/>
                    <a:p>
                      <a:r>
                        <a:rPr lang="fr-FR" sz="1700" dirty="0"/>
                        <a:t>Emergent </a:t>
                      </a:r>
                      <a:r>
                        <a:rPr lang="fr-FR" sz="1700" dirty="0" err="1"/>
                        <a:t>from</a:t>
                      </a:r>
                      <a:r>
                        <a:rPr lang="fr-FR" sz="1700" dirty="0"/>
                        <a:t> </a:t>
                      </a:r>
                      <a:r>
                        <a:rPr lang="fr-FR" sz="1700" dirty="0" err="1"/>
                        <a:t>rules</a:t>
                      </a:r>
                      <a:endParaRPr lang="en-US" sz="1700" dirty="0"/>
                    </a:p>
                  </a:txBody>
                  <a:tcPr/>
                </a:tc>
                <a:extLst>
                  <a:ext uri="{0D108BD9-81ED-4DB2-BD59-A6C34878D82A}">
                    <a16:rowId xmlns:a16="http://schemas.microsoft.com/office/drawing/2014/main" val="970215832"/>
                  </a:ext>
                </a:extLst>
              </a:tr>
            </a:tbl>
          </a:graphicData>
        </a:graphic>
      </p:graphicFrame>
      <p:sp>
        <p:nvSpPr>
          <p:cNvPr id="4" name="TextBox 3">
            <a:extLst>
              <a:ext uri="{FF2B5EF4-FFF2-40B4-BE49-F238E27FC236}">
                <a16:creationId xmlns:a16="http://schemas.microsoft.com/office/drawing/2014/main" id="{7FA2EFF0-FB49-4EC5-BD22-B03A9C1229ED}"/>
              </a:ext>
            </a:extLst>
          </p:cNvPr>
          <p:cNvSpPr txBox="1"/>
          <p:nvPr/>
        </p:nvSpPr>
        <p:spPr>
          <a:xfrm>
            <a:off x="916141" y="5864133"/>
            <a:ext cx="8333772" cy="461665"/>
          </a:xfrm>
          <a:prstGeom prst="rect">
            <a:avLst/>
          </a:prstGeom>
          <a:noFill/>
        </p:spPr>
        <p:txBody>
          <a:bodyPr wrap="square" rtlCol="0">
            <a:spAutoFit/>
          </a:bodyPr>
          <a:lstStyle/>
          <a:p>
            <a:r>
              <a:rPr lang="en-US" sz="2400" dirty="0">
                <a:sym typeface="Wingdings" panose="05000000000000000000" pitchFamily="2" charset="2"/>
              </a:rPr>
              <a:t> What would be the most adapted for modeling intercrops ?</a:t>
            </a:r>
            <a:endParaRPr lang="en-US" sz="2400" dirty="0"/>
          </a:p>
        </p:txBody>
      </p:sp>
      <p:sp>
        <p:nvSpPr>
          <p:cNvPr id="5" name="TextBox 4">
            <a:extLst>
              <a:ext uri="{FF2B5EF4-FFF2-40B4-BE49-F238E27FC236}">
                <a16:creationId xmlns:a16="http://schemas.microsoft.com/office/drawing/2014/main" id="{775F6CFD-42A8-46B9-878F-405CA1B7C2E4}"/>
              </a:ext>
            </a:extLst>
          </p:cNvPr>
          <p:cNvSpPr txBox="1"/>
          <p:nvPr/>
        </p:nvSpPr>
        <p:spPr>
          <a:xfrm>
            <a:off x="450542" y="4996688"/>
            <a:ext cx="6697510" cy="338554"/>
          </a:xfrm>
          <a:prstGeom prst="rect">
            <a:avLst/>
          </a:prstGeom>
          <a:noFill/>
        </p:spPr>
        <p:txBody>
          <a:bodyPr wrap="square" rtlCol="0">
            <a:spAutoFit/>
          </a:bodyPr>
          <a:lstStyle/>
          <a:p>
            <a:r>
              <a:rPr lang="fr-FR" sz="1600" dirty="0"/>
              <a:t>de </a:t>
            </a:r>
            <a:r>
              <a:rPr lang="fr-FR" sz="1600" dirty="0" err="1"/>
              <a:t>Reffye</a:t>
            </a:r>
            <a:r>
              <a:rPr lang="fr-FR" sz="1600" dirty="0"/>
              <a:t> et al., 2009; </a:t>
            </a:r>
            <a:r>
              <a:rPr lang="fr-FR" sz="1600" dirty="0" err="1"/>
              <a:t>Gaudio</a:t>
            </a:r>
            <a:r>
              <a:rPr lang="fr-FR" sz="1600" dirty="0"/>
              <a:t> et al., 2019; </a:t>
            </a:r>
            <a:r>
              <a:rPr lang="fr-FR" sz="1600" dirty="0" err="1"/>
              <a:t>Evers</a:t>
            </a:r>
            <a:r>
              <a:rPr lang="fr-FR" sz="1600" dirty="0"/>
              <a:t> et al., 2019 </a:t>
            </a:r>
            <a:endParaRPr lang="en-US" sz="1600" dirty="0"/>
          </a:p>
        </p:txBody>
      </p:sp>
    </p:spTree>
    <p:extLst>
      <p:ext uri="{BB962C8B-B14F-4D97-AF65-F5344CB8AC3E}">
        <p14:creationId xmlns:p14="http://schemas.microsoft.com/office/powerpoint/2010/main" val="6764216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6F1614-A921-4677-8AD2-C495B2EE29D7}"/>
              </a:ext>
            </a:extLst>
          </p:cNvPr>
          <p:cNvSpPr>
            <a:spLocks noGrp="1"/>
          </p:cNvSpPr>
          <p:nvPr>
            <p:ph type="title"/>
          </p:nvPr>
        </p:nvSpPr>
        <p:spPr/>
        <p:txBody>
          <a:bodyPr/>
          <a:lstStyle/>
          <a:p>
            <a:r>
              <a:rPr lang="fr-FR" dirty="0" err="1"/>
              <a:t>Examples</a:t>
            </a:r>
            <a:r>
              <a:rPr lang="fr-FR" dirty="0"/>
              <a:t> of </a:t>
            </a:r>
            <a:r>
              <a:rPr lang="fr-FR" dirty="0" err="1"/>
              <a:t>models</a:t>
            </a:r>
            <a:r>
              <a:rPr lang="fr-FR" dirty="0"/>
              <a:t> for </a:t>
            </a:r>
            <a:r>
              <a:rPr lang="fr-FR" dirty="0" err="1"/>
              <a:t>intercropping</a:t>
            </a:r>
            <a:endParaRPr lang="en-US" dirty="0"/>
          </a:p>
        </p:txBody>
      </p:sp>
      <p:sp>
        <p:nvSpPr>
          <p:cNvPr id="3" name="Content Placeholder 2">
            <a:extLst>
              <a:ext uri="{FF2B5EF4-FFF2-40B4-BE49-F238E27FC236}">
                <a16:creationId xmlns:a16="http://schemas.microsoft.com/office/drawing/2014/main" id="{97EAB2BE-A509-48A0-B64B-D701B672EB0E}"/>
              </a:ext>
            </a:extLst>
          </p:cNvPr>
          <p:cNvSpPr>
            <a:spLocks noGrp="1"/>
          </p:cNvSpPr>
          <p:nvPr>
            <p:ph idx="1"/>
          </p:nvPr>
        </p:nvSpPr>
        <p:spPr>
          <a:xfrm>
            <a:off x="838200" y="1825624"/>
            <a:ext cx="8954729" cy="4820981"/>
          </a:xfrm>
        </p:spPr>
        <p:txBody>
          <a:bodyPr>
            <a:normAutofit/>
          </a:bodyPr>
          <a:lstStyle/>
          <a:p>
            <a:r>
              <a:rPr lang="fr-FR" i="1" dirty="0"/>
              <a:t>STICS</a:t>
            </a:r>
            <a:r>
              <a:rPr lang="fr-FR" dirty="0"/>
              <a:t> : large </a:t>
            </a:r>
            <a:r>
              <a:rPr lang="fr-FR" dirty="0" err="1"/>
              <a:t>spectrum</a:t>
            </a:r>
            <a:r>
              <a:rPr lang="fr-FR" dirty="0"/>
              <a:t> </a:t>
            </a:r>
            <a:r>
              <a:rPr lang="fr-FR" dirty="0" err="1"/>
              <a:t>crop</a:t>
            </a:r>
            <a:r>
              <a:rPr lang="fr-FR" dirty="0"/>
              <a:t> model </a:t>
            </a:r>
            <a:r>
              <a:rPr lang="fr-FR" dirty="0" err="1"/>
              <a:t>adapted</a:t>
            </a:r>
            <a:r>
              <a:rPr lang="fr-FR" dirty="0"/>
              <a:t> to </a:t>
            </a:r>
            <a:r>
              <a:rPr lang="fr-FR" dirty="0" err="1"/>
              <a:t>intercrops</a:t>
            </a:r>
            <a:r>
              <a:rPr lang="fr-FR" dirty="0"/>
              <a:t> (Brisson et al., 2004; </a:t>
            </a:r>
            <a:r>
              <a:rPr lang="fr-FR" dirty="0" err="1"/>
              <a:t>Vezy</a:t>
            </a:r>
            <a:r>
              <a:rPr lang="fr-FR" dirty="0"/>
              <a:t> et al., 2023)</a:t>
            </a:r>
          </a:p>
          <a:p>
            <a:r>
              <a:rPr lang="fr-FR" i="1" dirty="0"/>
              <a:t>APSIM</a:t>
            </a:r>
            <a:r>
              <a:rPr lang="fr-FR" dirty="0"/>
              <a:t> : </a:t>
            </a:r>
            <a:r>
              <a:rPr lang="fr-FR" dirty="0" err="1"/>
              <a:t>crop</a:t>
            </a:r>
            <a:r>
              <a:rPr lang="fr-FR" dirty="0"/>
              <a:t> model </a:t>
            </a:r>
            <a:r>
              <a:rPr lang="fr-FR" dirty="0" err="1"/>
              <a:t>adapted</a:t>
            </a:r>
            <a:r>
              <a:rPr lang="fr-FR" dirty="0"/>
              <a:t> to </a:t>
            </a:r>
            <a:r>
              <a:rPr lang="fr-FR" dirty="0" err="1"/>
              <a:t>intercrops</a:t>
            </a:r>
            <a:r>
              <a:rPr lang="fr-FR" dirty="0"/>
              <a:t>            (</a:t>
            </a:r>
            <a:r>
              <a:rPr lang="fr-FR" dirty="0" err="1"/>
              <a:t>Chimonyo</a:t>
            </a:r>
            <a:r>
              <a:rPr lang="fr-FR" dirty="0"/>
              <a:t> et al., 2016)</a:t>
            </a:r>
          </a:p>
          <a:p>
            <a:r>
              <a:rPr lang="fr-FR" i="1" dirty="0" err="1"/>
              <a:t>VirtualGrassLand</a:t>
            </a:r>
            <a:r>
              <a:rPr lang="fr-FR" dirty="0"/>
              <a:t> : FSPM for </a:t>
            </a:r>
            <a:r>
              <a:rPr lang="fr-FR" dirty="0" err="1"/>
              <a:t>crop</a:t>
            </a:r>
            <a:r>
              <a:rPr lang="fr-FR" dirty="0"/>
              <a:t> mixtures/</a:t>
            </a:r>
            <a:r>
              <a:rPr lang="fr-FR" dirty="0" err="1"/>
              <a:t>grasslands</a:t>
            </a:r>
            <a:r>
              <a:rPr lang="fr-FR" dirty="0"/>
              <a:t> (</a:t>
            </a:r>
            <a:r>
              <a:rPr lang="fr-FR" dirty="0" err="1"/>
              <a:t>Louarn</a:t>
            </a:r>
            <a:r>
              <a:rPr lang="fr-FR" dirty="0"/>
              <a:t> et al., 2014)</a:t>
            </a:r>
          </a:p>
          <a:p>
            <a:r>
              <a:rPr lang="fr-FR" i="1" dirty="0" err="1"/>
              <a:t>FlorSys</a:t>
            </a:r>
            <a:r>
              <a:rPr lang="fr-FR" dirty="0"/>
              <a:t> : </a:t>
            </a:r>
            <a:r>
              <a:rPr lang="fr-FR" dirty="0" err="1"/>
              <a:t>crop-weed</a:t>
            </a:r>
            <a:r>
              <a:rPr lang="fr-FR" dirty="0"/>
              <a:t> IBM 				        (Colas et al., 2021)</a:t>
            </a:r>
          </a:p>
          <a:p>
            <a:r>
              <a:rPr lang="fr-FR" i="1" dirty="0"/>
              <a:t>ADEL-</a:t>
            </a:r>
            <a:r>
              <a:rPr lang="fr-FR" i="1" dirty="0" err="1"/>
              <a:t>wheat</a:t>
            </a:r>
            <a:r>
              <a:rPr lang="fr-FR" i="1" dirty="0"/>
              <a:t> + L-</a:t>
            </a:r>
            <a:r>
              <a:rPr lang="fr-FR" i="1" dirty="0" err="1"/>
              <a:t>Pea</a:t>
            </a:r>
            <a:r>
              <a:rPr lang="fr-FR" i="1" dirty="0"/>
              <a:t> </a:t>
            </a:r>
            <a:r>
              <a:rPr lang="fr-FR" dirty="0"/>
              <a:t>: </a:t>
            </a:r>
            <a:r>
              <a:rPr lang="fr-FR" dirty="0" err="1"/>
              <a:t>FSPMs</a:t>
            </a:r>
            <a:r>
              <a:rPr lang="fr-FR" dirty="0"/>
              <a:t> for </a:t>
            </a:r>
            <a:r>
              <a:rPr lang="fr-FR" dirty="0" err="1"/>
              <a:t>wheat-pea</a:t>
            </a:r>
            <a:r>
              <a:rPr lang="fr-FR" dirty="0"/>
              <a:t> </a:t>
            </a:r>
            <a:r>
              <a:rPr lang="fr-FR" dirty="0" err="1"/>
              <a:t>intercropping</a:t>
            </a:r>
            <a:r>
              <a:rPr lang="fr-FR" dirty="0"/>
              <a:t> (</a:t>
            </a:r>
            <a:r>
              <a:rPr lang="fr-FR" dirty="0" err="1"/>
              <a:t>Barillot</a:t>
            </a:r>
            <a:r>
              <a:rPr lang="fr-FR" dirty="0"/>
              <a:t> et al., 2014)</a:t>
            </a:r>
            <a:endParaRPr lang="en-US" dirty="0"/>
          </a:p>
        </p:txBody>
      </p:sp>
    </p:spTree>
    <p:extLst>
      <p:ext uri="{BB962C8B-B14F-4D97-AF65-F5344CB8AC3E}">
        <p14:creationId xmlns:p14="http://schemas.microsoft.com/office/powerpoint/2010/main" val="313721377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396714-CB3D-4E54-B20A-9A09E3F65DBF}"/>
              </a:ext>
            </a:extLst>
          </p:cNvPr>
          <p:cNvSpPr>
            <a:spLocks noGrp="1"/>
          </p:cNvSpPr>
          <p:nvPr>
            <p:ph type="title"/>
          </p:nvPr>
        </p:nvSpPr>
        <p:spPr/>
        <p:txBody>
          <a:bodyPr/>
          <a:lstStyle/>
          <a:p>
            <a:r>
              <a:rPr lang="en-US" dirty="0"/>
              <a:t>Existing models fail to model properly intercrops on a whole growing season</a:t>
            </a:r>
          </a:p>
        </p:txBody>
      </p:sp>
      <p:sp>
        <p:nvSpPr>
          <p:cNvPr id="3" name="Content Placeholder 2">
            <a:extLst>
              <a:ext uri="{FF2B5EF4-FFF2-40B4-BE49-F238E27FC236}">
                <a16:creationId xmlns:a16="http://schemas.microsoft.com/office/drawing/2014/main" id="{D65D7682-422A-4E71-BE8C-C28CAFC35FA0}"/>
              </a:ext>
            </a:extLst>
          </p:cNvPr>
          <p:cNvSpPr>
            <a:spLocks noGrp="1"/>
          </p:cNvSpPr>
          <p:nvPr>
            <p:ph idx="1"/>
          </p:nvPr>
        </p:nvSpPr>
        <p:spPr/>
        <p:txBody>
          <a:bodyPr/>
          <a:lstStyle/>
          <a:p>
            <a:r>
              <a:rPr lang="en-US" dirty="0"/>
              <a:t>Both FSPM and crop models in their own way</a:t>
            </a:r>
          </a:p>
          <a:p>
            <a:endParaRPr lang="en-US" dirty="0"/>
          </a:p>
          <a:p>
            <a:endParaRPr lang="en-US" dirty="0"/>
          </a:p>
          <a:p>
            <a:endParaRPr lang="en-US" dirty="0"/>
          </a:p>
          <a:p>
            <a:r>
              <a:rPr lang="en-US" dirty="0"/>
              <a:t>Do errors in crop models come from calibration or formalisms ? It is hard to separate sources of error only by comparing outputs with data </a:t>
            </a:r>
            <a:r>
              <a:rPr lang="en-US" dirty="0">
                <a:sym typeface="Wingdings" panose="05000000000000000000" pitchFamily="2" charset="2"/>
              </a:rPr>
              <a:t> need for a further analysis</a:t>
            </a:r>
            <a:endParaRPr lang="en-US" dirty="0"/>
          </a:p>
        </p:txBody>
      </p:sp>
    </p:spTree>
    <p:extLst>
      <p:ext uri="{BB962C8B-B14F-4D97-AF65-F5344CB8AC3E}">
        <p14:creationId xmlns:p14="http://schemas.microsoft.com/office/powerpoint/2010/main" val="39313569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0F98B1-DB4D-482A-876A-1A2ED20A3A78}"/>
              </a:ext>
            </a:extLst>
          </p:cNvPr>
          <p:cNvSpPr>
            <a:spLocks noGrp="1"/>
          </p:cNvSpPr>
          <p:nvPr>
            <p:ph type="title"/>
          </p:nvPr>
        </p:nvSpPr>
        <p:spPr/>
        <p:txBody>
          <a:bodyPr/>
          <a:lstStyle/>
          <a:p>
            <a:r>
              <a:rPr lang="en-US" dirty="0"/>
              <a:t>STICS crop model is already well advanced (</a:t>
            </a:r>
            <a:r>
              <a:rPr lang="en-US" dirty="0" err="1"/>
              <a:t>Vezy</a:t>
            </a:r>
            <a:r>
              <a:rPr lang="en-US" dirty="0"/>
              <a:t> et al., 2023)</a:t>
            </a:r>
          </a:p>
        </p:txBody>
      </p:sp>
      <p:sp>
        <p:nvSpPr>
          <p:cNvPr id="3" name="Content Placeholder 2">
            <a:extLst>
              <a:ext uri="{FF2B5EF4-FFF2-40B4-BE49-F238E27FC236}">
                <a16:creationId xmlns:a16="http://schemas.microsoft.com/office/drawing/2014/main" id="{6462BBF9-4622-4771-A65B-C89875A7543C}"/>
              </a:ext>
            </a:extLst>
          </p:cNvPr>
          <p:cNvSpPr>
            <a:spLocks noGrp="1"/>
          </p:cNvSpPr>
          <p:nvPr>
            <p:ph idx="1"/>
          </p:nvPr>
        </p:nvSpPr>
        <p:spPr/>
        <p:txBody>
          <a:bodyPr/>
          <a:lstStyle/>
          <a:p>
            <a:r>
              <a:rPr lang="fr-FR" dirty="0" err="1"/>
              <a:t>Height</a:t>
            </a:r>
            <a:r>
              <a:rPr lang="fr-FR" dirty="0"/>
              <a:t> </a:t>
            </a:r>
            <a:r>
              <a:rPr lang="fr-FR" dirty="0" err="1"/>
              <a:t>very</a:t>
            </a:r>
            <a:r>
              <a:rPr lang="fr-FR" dirty="0"/>
              <a:t> </a:t>
            </a:r>
            <a:r>
              <a:rPr lang="fr-FR" dirty="0" err="1"/>
              <a:t>well</a:t>
            </a:r>
            <a:r>
              <a:rPr lang="fr-FR" dirty="0"/>
              <a:t> </a:t>
            </a:r>
            <a:r>
              <a:rPr lang="fr-FR" dirty="0" err="1"/>
              <a:t>modelized</a:t>
            </a:r>
            <a:endParaRPr lang="fr-FR" dirty="0"/>
          </a:p>
          <a:p>
            <a:r>
              <a:rPr lang="fr-FR" dirty="0"/>
              <a:t>LAI not </a:t>
            </a:r>
            <a:r>
              <a:rPr lang="fr-FR" dirty="0" err="1"/>
              <a:t>well</a:t>
            </a:r>
            <a:r>
              <a:rPr lang="fr-FR" dirty="0"/>
              <a:t> </a:t>
            </a:r>
            <a:r>
              <a:rPr lang="fr-FR" dirty="0" err="1"/>
              <a:t>modelized</a:t>
            </a:r>
            <a:r>
              <a:rPr lang="fr-FR" dirty="0"/>
              <a:t> for high values (+/- end of the cycle) </a:t>
            </a:r>
            <a:r>
              <a:rPr lang="fr-FR" dirty="0">
                <a:sym typeface="Wingdings" panose="05000000000000000000" pitchFamily="2" charset="2"/>
              </a:rPr>
              <a:t> looks like a </a:t>
            </a:r>
            <a:r>
              <a:rPr lang="fr-FR" dirty="0" err="1">
                <a:sym typeface="Wingdings" panose="05000000000000000000" pitchFamily="2" charset="2"/>
              </a:rPr>
              <a:t>kind</a:t>
            </a:r>
            <a:r>
              <a:rPr lang="fr-FR" dirty="0">
                <a:sym typeface="Wingdings" panose="05000000000000000000" pitchFamily="2" charset="2"/>
              </a:rPr>
              <a:t> of </a:t>
            </a:r>
            <a:r>
              <a:rPr lang="fr-FR" dirty="0" err="1">
                <a:sym typeface="Wingdings" panose="05000000000000000000" pitchFamily="2" charset="2"/>
              </a:rPr>
              <a:t>threshold</a:t>
            </a:r>
            <a:r>
              <a:rPr lang="fr-FR" dirty="0">
                <a:sym typeface="Wingdings" panose="05000000000000000000" pitchFamily="2" charset="2"/>
              </a:rPr>
              <a:t> for high values (and for </a:t>
            </a:r>
            <a:r>
              <a:rPr lang="fr-FR" dirty="0" err="1">
                <a:sym typeface="Wingdings" panose="05000000000000000000" pitchFamily="2" charset="2"/>
              </a:rPr>
              <a:t>other</a:t>
            </a:r>
            <a:r>
              <a:rPr lang="fr-FR" dirty="0">
                <a:sym typeface="Wingdings" panose="05000000000000000000" pitchFamily="2" charset="2"/>
              </a:rPr>
              <a:t> variables as </a:t>
            </a:r>
            <a:r>
              <a:rPr lang="fr-FR" dirty="0" err="1">
                <a:sym typeface="Wingdings" panose="05000000000000000000" pitchFamily="2" charset="2"/>
              </a:rPr>
              <a:t>well</a:t>
            </a:r>
            <a:r>
              <a:rPr lang="fr-FR" dirty="0">
                <a:sym typeface="Wingdings" panose="05000000000000000000" pitchFamily="2" charset="2"/>
              </a:rPr>
              <a:t>)</a:t>
            </a:r>
            <a:endParaRPr lang="fr-FR" dirty="0"/>
          </a:p>
          <a:p>
            <a:r>
              <a:rPr lang="fr-FR" dirty="0" err="1"/>
              <a:t>Same</a:t>
            </a:r>
            <a:r>
              <a:rPr lang="fr-FR" dirty="0"/>
              <a:t> for </a:t>
            </a:r>
            <a:r>
              <a:rPr lang="fr-FR" dirty="0" err="1"/>
              <a:t>biomass</a:t>
            </a:r>
            <a:endParaRPr lang="fr-FR" dirty="0"/>
          </a:p>
          <a:p>
            <a:r>
              <a:rPr lang="fr-FR" dirty="0" err="1"/>
              <a:t>Quite</a:t>
            </a:r>
            <a:r>
              <a:rPr lang="fr-FR" dirty="0"/>
              <a:t> </a:t>
            </a:r>
            <a:r>
              <a:rPr lang="fr-FR" dirty="0" err="1"/>
              <a:t>bad</a:t>
            </a:r>
            <a:r>
              <a:rPr lang="fr-FR" dirty="0"/>
              <a:t> for all aspects </a:t>
            </a:r>
            <a:r>
              <a:rPr lang="fr-FR" dirty="0" err="1"/>
              <a:t>concerning</a:t>
            </a:r>
            <a:r>
              <a:rPr lang="fr-FR" dirty="0"/>
              <a:t> N</a:t>
            </a:r>
            <a:endParaRPr lang="en-US" dirty="0"/>
          </a:p>
        </p:txBody>
      </p:sp>
    </p:spTree>
    <p:extLst>
      <p:ext uri="{BB962C8B-B14F-4D97-AF65-F5344CB8AC3E}">
        <p14:creationId xmlns:p14="http://schemas.microsoft.com/office/powerpoint/2010/main" val="64813209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0F98B1-DB4D-482A-876A-1A2ED20A3A78}"/>
              </a:ext>
            </a:extLst>
          </p:cNvPr>
          <p:cNvSpPr>
            <a:spLocks noGrp="1"/>
          </p:cNvSpPr>
          <p:nvPr>
            <p:ph type="title"/>
          </p:nvPr>
        </p:nvSpPr>
        <p:spPr/>
        <p:txBody>
          <a:bodyPr/>
          <a:lstStyle/>
          <a:p>
            <a:r>
              <a:rPr lang="en-US" dirty="0"/>
              <a:t>But STICS needs to be improved even more (see milestone)</a:t>
            </a:r>
          </a:p>
        </p:txBody>
      </p:sp>
      <p:sp>
        <p:nvSpPr>
          <p:cNvPr id="3" name="Content Placeholder 2">
            <a:extLst>
              <a:ext uri="{FF2B5EF4-FFF2-40B4-BE49-F238E27FC236}">
                <a16:creationId xmlns:a16="http://schemas.microsoft.com/office/drawing/2014/main" id="{6462BBF9-4622-4771-A65B-C89875A7543C}"/>
              </a:ext>
            </a:extLst>
          </p:cNvPr>
          <p:cNvSpPr>
            <a:spLocks noGrp="1"/>
          </p:cNvSpPr>
          <p:nvPr>
            <p:ph idx="1"/>
          </p:nvPr>
        </p:nvSpPr>
        <p:spPr/>
        <p:txBody>
          <a:bodyPr/>
          <a:lstStyle/>
          <a:p>
            <a:r>
              <a:rPr lang="en-US" dirty="0"/>
              <a:t>From that, we need to be sure that STICS models well enough the emergent properties of crop mixtures (competition, facilitation, </a:t>
            </a:r>
            <a:r>
              <a:rPr lang="en-US" dirty="0" err="1"/>
              <a:t>etc</a:t>
            </a:r>
            <a:r>
              <a:rPr lang="en-US" dirty="0"/>
              <a:t>, </a:t>
            </a:r>
            <a:r>
              <a:rPr lang="en-US" dirty="0" err="1"/>
              <a:t>wrt</a:t>
            </a:r>
            <a:r>
              <a:rPr lang="en-US" dirty="0"/>
              <a:t> resources: light, water, N, </a:t>
            </a:r>
            <a:r>
              <a:rPr lang="en-US" dirty="0" err="1"/>
              <a:t>etc</a:t>
            </a:r>
            <a:r>
              <a:rPr lang="en-US" dirty="0"/>
              <a:t>, and a potential adaptation/plasticity of plant organs, both above- and belowground).</a:t>
            </a:r>
          </a:p>
          <a:p>
            <a:r>
              <a:rPr lang="en-US" dirty="0"/>
              <a:t>For this purpose, some formalisms have to be updated as they currently do not capture these properties (e.g. N demand for two different species)</a:t>
            </a:r>
          </a:p>
        </p:txBody>
      </p:sp>
    </p:spTree>
    <p:extLst>
      <p:ext uri="{BB962C8B-B14F-4D97-AF65-F5344CB8AC3E}">
        <p14:creationId xmlns:p14="http://schemas.microsoft.com/office/powerpoint/2010/main" val="238547350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5BBAE3-CD31-4CDA-B001-496D1A18FD35}"/>
              </a:ext>
            </a:extLst>
          </p:cNvPr>
          <p:cNvSpPr>
            <a:spLocks noGrp="1"/>
          </p:cNvSpPr>
          <p:nvPr>
            <p:ph type="title"/>
          </p:nvPr>
        </p:nvSpPr>
        <p:spPr/>
        <p:txBody>
          <a:bodyPr/>
          <a:lstStyle/>
          <a:p>
            <a:r>
              <a:rPr lang="fr-FR" dirty="0"/>
              <a:t>Areas of </a:t>
            </a:r>
            <a:r>
              <a:rPr lang="fr-FR" dirty="0" err="1"/>
              <a:t>improvement</a:t>
            </a:r>
            <a:r>
              <a:rPr lang="fr-FR" dirty="0"/>
              <a:t> for (inter)</a:t>
            </a:r>
            <a:r>
              <a:rPr lang="fr-FR" dirty="0" err="1"/>
              <a:t>crop</a:t>
            </a:r>
            <a:r>
              <a:rPr lang="fr-FR" dirty="0"/>
              <a:t> </a:t>
            </a:r>
            <a:r>
              <a:rPr lang="fr-FR" dirty="0" err="1"/>
              <a:t>models</a:t>
            </a:r>
            <a:endParaRPr lang="en-US" dirty="0"/>
          </a:p>
        </p:txBody>
      </p:sp>
      <p:sp>
        <p:nvSpPr>
          <p:cNvPr id="3" name="Content Placeholder 2">
            <a:extLst>
              <a:ext uri="{FF2B5EF4-FFF2-40B4-BE49-F238E27FC236}">
                <a16:creationId xmlns:a16="http://schemas.microsoft.com/office/drawing/2014/main" id="{29DF4556-D7E3-4385-8901-0F98030B4A1E}"/>
              </a:ext>
            </a:extLst>
          </p:cNvPr>
          <p:cNvSpPr>
            <a:spLocks noGrp="1"/>
          </p:cNvSpPr>
          <p:nvPr>
            <p:ph idx="1"/>
          </p:nvPr>
        </p:nvSpPr>
        <p:spPr>
          <a:xfrm>
            <a:off x="838200" y="1825625"/>
            <a:ext cx="11270942" cy="4351338"/>
          </a:xfrm>
        </p:spPr>
        <p:txBody>
          <a:bodyPr>
            <a:normAutofit/>
          </a:bodyPr>
          <a:lstStyle/>
          <a:p>
            <a:pPr>
              <a:lnSpc>
                <a:spcPct val="200000"/>
              </a:lnSpc>
            </a:pPr>
            <a:r>
              <a:rPr lang="en-US" dirty="0"/>
              <a:t>Accuracy </a:t>
            </a:r>
            <a:r>
              <a:rPr lang="en-US" sz="2000" dirty="0"/>
              <a:t>(depends on processes)</a:t>
            </a:r>
          </a:p>
          <a:p>
            <a:pPr>
              <a:lnSpc>
                <a:spcPct val="200000"/>
              </a:lnSpc>
            </a:pPr>
            <a:r>
              <a:rPr lang="en-US" dirty="0">
                <a:sym typeface="Wingdings" panose="05000000000000000000" pitchFamily="2" charset="2"/>
              </a:rPr>
              <a:t>Working with few intercrop parameters</a:t>
            </a:r>
            <a:r>
              <a:rPr lang="en-US" dirty="0"/>
              <a:t> </a:t>
            </a:r>
            <a:endParaRPr lang="en-US" sz="2000" dirty="0"/>
          </a:p>
          <a:p>
            <a:pPr>
              <a:lnSpc>
                <a:spcPct val="200000"/>
              </a:lnSpc>
            </a:pPr>
            <a:r>
              <a:rPr lang="en-US" dirty="0"/>
              <a:t>Simulating emergent properties of heterogeneous mixture </a:t>
            </a:r>
            <a:r>
              <a:rPr lang="en-US" sz="2000" dirty="0"/>
              <a:t>(e.g. plasticity) </a:t>
            </a:r>
          </a:p>
          <a:p>
            <a:endParaRPr lang="en-US" dirty="0"/>
          </a:p>
          <a:p>
            <a:pPr marL="0" indent="0">
              <a:buNone/>
            </a:pPr>
            <a:r>
              <a:rPr lang="en-US" dirty="0">
                <a:sym typeface="Wingdings" panose="05000000000000000000" pitchFamily="2" charset="2"/>
              </a:rPr>
              <a:t> Hypothesis : A multiscale approach could help </a:t>
            </a:r>
            <a:endParaRPr lang="en-US" dirty="0"/>
          </a:p>
        </p:txBody>
      </p:sp>
    </p:spTree>
    <p:extLst>
      <p:ext uri="{BB962C8B-B14F-4D97-AF65-F5344CB8AC3E}">
        <p14:creationId xmlns:p14="http://schemas.microsoft.com/office/powerpoint/2010/main" val="49403120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147110-EF6C-413F-8EB6-A0A846A6B83E}"/>
              </a:ext>
            </a:extLst>
          </p:cNvPr>
          <p:cNvSpPr>
            <a:spLocks noGrp="1"/>
          </p:cNvSpPr>
          <p:nvPr>
            <p:ph type="title"/>
          </p:nvPr>
        </p:nvSpPr>
        <p:spPr/>
        <p:txBody>
          <a:bodyPr/>
          <a:lstStyle/>
          <a:p>
            <a:r>
              <a:rPr lang="en-US" dirty="0"/>
              <a:t>Better accounting for heterogeneity of intercrops in a crop model </a:t>
            </a:r>
          </a:p>
        </p:txBody>
      </p:sp>
      <p:sp>
        <p:nvSpPr>
          <p:cNvPr id="3" name="Content Placeholder 2">
            <a:extLst>
              <a:ext uri="{FF2B5EF4-FFF2-40B4-BE49-F238E27FC236}">
                <a16:creationId xmlns:a16="http://schemas.microsoft.com/office/drawing/2014/main" id="{1C3F3ACC-6B0F-4FC1-A6B3-8F4343A0514F}"/>
              </a:ext>
            </a:extLst>
          </p:cNvPr>
          <p:cNvSpPr>
            <a:spLocks noGrp="1"/>
          </p:cNvSpPr>
          <p:nvPr>
            <p:ph idx="1"/>
          </p:nvPr>
        </p:nvSpPr>
        <p:spPr/>
        <p:txBody>
          <a:bodyPr/>
          <a:lstStyle/>
          <a:p>
            <a:r>
              <a:rPr lang="en-US" dirty="0"/>
              <a:t>Differences in phenology, in structure, in demand for resources (light, water, N) and in capacity to acquire them, local interactions (competition, facilitation, </a:t>
            </a:r>
            <a:r>
              <a:rPr lang="en-US" dirty="0" err="1"/>
              <a:t>etc</a:t>
            </a:r>
            <a:r>
              <a:rPr lang="en-US" dirty="0"/>
              <a:t>) between different and same species</a:t>
            </a:r>
          </a:p>
        </p:txBody>
      </p:sp>
    </p:spTree>
    <p:extLst>
      <p:ext uri="{BB962C8B-B14F-4D97-AF65-F5344CB8AC3E}">
        <p14:creationId xmlns:p14="http://schemas.microsoft.com/office/powerpoint/2010/main" val="42415403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938651-70A0-45D0-8C2A-CD474493930B}"/>
              </a:ext>
            </a:extLst>
          </p:cNvPr>
          <p:cNvSpPr>
            <a:spLocks noGrp="1"/>
          </p:cNvSpPr>
          <p:nvPr>
            <p:ph type="title"/>
          </p:nvPr>
        </p:nvSpPr>
        <p:spPr>
          <a:xfrm>
            <a:off x="838200" y="365125"/>
            <a:ext cx="10515600" cy="1538320"/>
          </a:xfrm>
        </p:spPr>
        <p:txBody>
          <a:bodyPr>
            <a:normAutofit/>
          </a:bodyPr>
          <a:lstStyle/>
          <a:p>
            <a:r>
              <a:rPr lang="en-US" sz="4000" dirty="0"/>
              <a:t>My PhD in a nutshell : </a:t>
            </a:r>
            <a:r>
              <a:rPr lang="en-US" sz="4000" i="1" dirty="0"/>
              <a:t>Are crop model hypotheses valid for intercropping systems ?</a:t>
            </a:r>
            <a:endParaRPr lang="en-US" i="1" dirty="0"/>
          </a:p>
        </p:txBody>
      </p:sp>
      <p:sp>
        <p:nvSpPr>
          <p:cNvPr id="3" name="Content Placeholder 2">
            <a:extLst>
              <a:ext uri="{FF2B5EF4-FFF2-40B4-BE49-F238E27FC236}">
                <a16:creationId xmlns:a16="http://schemas.microsoft.com/office/drawing/2014/main" id="{A718707D-5C98-4166-BFDA-8D655C6C1315}"/>
              </a:ext>
            </a:extLst>
          </p:cNvPr>
          <p:cNvSpPr>
            <a:spLocks noGrp="1"/>
          </p:cNvSpPr>
          <p:nvPr>
            <p:ph idx="1"/>
          </p:nvPr>
        </p:nvSpPr>
        <p:spPr>
          <a:xfrm>
            <a:off x="838200" y="2210540"/>
            <a:ext cx="9892003" cy="4516830"/>
          </a:xfrm>
        </p:spPr>
        <p:txBody>
          <a:bodyPr>
            <a:normAutofit fontScale="92500"/>
          </a:bodyPr>
          <a:lstStyle/>
          <a:p>
            <a:pPr>
              <a:lnSpc>
                <a:spcPct val="100000"/>
              </a:lnSpc>
            </a:pPr>
            <a:r>
              <a:rPr lang="fr-FR" dirty="0"/>
              <a:t>Play </a:t>
            </a:r>
            <a:r>
              <a:rPr lang="fr-FR" dirty="0" err="1"/>
              <a:t>with</a:t>
            </a:r>
            <a:r>
              <a:rPr lang="fr-FR" dirty="0"/>
              <a:t> FSPM – </a:t>
            </a:r>
            <a:r>
              <a:rPr lang="fr-FR" dirty="0" err="1"/>
              <a:t>crop</a:t>
            </a:r>
            <a:r>
              <a:rPr lang="fr-FR" dirty="0"/>
              <a:t> model </a:t>
            </a:r>
            <a:r>
              <a:rPr lang="fr-FR" dirty="0" err="1"/>
              <a:t>relationships</a:t>
            </a:r>
            <a:r>
              <a:rPr lang="fr-FR" dirty="0"/>
              <a:t> </a:t>
            </a:r>
          </a:p>
          <a:p>
            <a:pPr>
              <a:lnSpc>
                <a:spcPct val="100000"/>
              </a:lnSpc>
            </a:pPr>
            <a:r>
              <a:rPr lang="fr-FR" dirty="0" err="1"/>
              <a:t>See</a:t>
            </a:r>
            <a:r>
              <a:rPr lang="fr-FR" dirty="0"/>
              <a:t> </a:t>
            </a:r>
            <a:r>
              <a:rPr lang="fr-FR" dirty="0" err="1"/>
              <a:t>what</a:t>
            </a:r>
            <a:r>
              <a:rPr lang="fr-FR" dirty="0"/>
              <a:t> a </a:t>
            </a:r>
            <a:r>
              <a:rPr lang="fr-FR" b="1" dirty="0" err="1"/>
              <a:t>multiscale</a:t>
            </a:r>
            <a:r>
              <a:rPr lang="fr-FR" b="1" dirty="0"/>
              <a:t> </a:t>
            </a:r>
            <a:r>
              <a:rPr lang="fr-FR" b="1" dirty="0" err="1"/>
              <a:t>approach</a:t>
            </a:r>
            <a:r>
              <a:rPr lang="fr-FR" b="1" dirty="0"/>
              <a:t> </a:t>
            </a:r>
            <a:r>
              <a:rPr lang="fr-FR" dirty="0"/>
              <a:t>can </a:t>
            </a:r>
            <a:r>
              <a:rPr lang="fr-FR" dirty="0" err="1"/>
              <a:t>bring</a:t>
            </a:r>
            <a:r>
              <a:rPr lang="fr-FR" dirty="0"/>
              <a:t> (</a:t>
            </a:r>
            <a:r>
              <a:rPr lang="fr-FR" dirty="0" err="1"/>
              <a:t>why</a:t>
            </a:r>
            <a:r>
              <a:rPr lang="fr-FR" dirty="0"/>
              <a:t> not </a:t>
            </a:r>
            <a:r>
              <a:rPr lang="fr-FR" dirty="0" err="1"/>
              <a:t>coupling</a:t>
            </a:r>
            <a:r>
              <a:rPr lang="fr-FR" dirty="0"/>
              <a:t> </a:t>
            </a:r>
            <a:r>
              <a:rPr lang="fr-FR" dirty="0" err="1"/>
              <a:t>models</a:t>
            </a:r>
            <a:r>
              <a:rPr lang="fr-FR" dirty="0"/>
              <a:t> ?)</a:t>
            </a:r>
          </a:p>
          <a:p>
            <a:pPr>
              <a:lnSpc>
                <a:spcPct val="100000"/>
              </a:lnSpc>
              <a:buFont typeface="Wingdings" panose="05000000000000000000" pitchFamily="2" charset="2"/>
              <a:buChar char="à"/>
            </a:pPr>
            <a:r>
              <a:rPr lang="fr-FR" dirty="0"/>
              <a:t> relevant for </a:t>
            </a:r>
            <a:r>
              <a:rPr lang="fr-FR" dirty="0" err="1"/>
              <a:t>intercropping</a:t>
            </a:r>
            <a:r>
              <a:rPr lang="fr-FR" dirty="0"/>
              <a:t> in </a:t>
            </a:r>
            <a:r>
              <a:rPr lang="fr-FR" dirty="0" err="1"/>
              <a:t>particular</a:t>
            </a:r>
            <a:r>
              <a:rPr lang="fr-FR" dirty="0"/>
              <a:t> to capture </a:t>
            </a:r>
            <a:r>
              <a:rPr lang="fr-FR" dirty="0" err="1"/>
              <a:t>properties</a:t>
            </a:r>
            <a:r>
              <a:rPr lang="fr-FR" dirty="0"/>
              <a:t> of </a:t>
            </a:r>
            <a:r>
              <a:rPr lang="fr-FR" b="1" dirty="0"/>
              <a:t>shoot and root interactions </a:t>
            </a:r>
            <a:r>
              <a:rPr lang="fr-FR" dirty="0" err="1"/>
              <a:t>between</a:t>
            </a:r>
            <a:r>
              <a:rPr lang="fr-FR" dirty="0"/>
              <a:t> </a:t>
            </a:r>
            <a:r>
              <a:rPr lang="fr-FR" dirty="0" err="1"/>
              <a:t>different</a:t>
            </a:r>
            <a:r>
              <a:rPr lang="fr-FR" dirty="0"/>
              <a:t> </a:t>
            </a:r>
            <a:r>
              <a:rPr lang="fr-FR" dirty="0" err="1"/>
              <a:t>species</a:t>
            </a:r>
            <a:r>
              <a:rPr lang="fr-FR" dirty="0"/>
              <a:t> </a:t>
            </a:r>
            <a:r>
              <a:rPr lang="fr-FR" dirty="0" err="1"/>
              <a:t>that</a:t>
            </a:r>
            <a:r>
              <a:rPr lang="fr-FR" dirty="0"/>
              <a:t> </a:t>
            </a:r>
            <a:r>
              <a:rPr lang="fr-FR" dirty="0" err="1"/>
              <a:t>grow</a:t>
            </a:r>
            <a:r>
              <a:rPr lang="fr-FR" dirty="0"/>
              <a:t> </a:t>
            </a:r>
            <a:r>
              <a:rPr lang="fr-FR" dirty="0" err="1"/>
              <a:t>side</a:t>
            </a:r>
            <a:r>
              <a:rPr lang="fr-FR" dirty="0"/>
              <a:t> by </a:t>
            </a:r>
            <a:r>
              <a:rPr lang="fr-FR" dirty="0" err="1"/>
              <a:t>side</a:t>
            </a:r>
            <a:r>
              <a:rPr lang="fr-FR" dirty="0"/>
              <a:t> (</a:t>
            </a:r>
            <a:r>
              <a:rPr lang="fr-FR" dirty="0" err="1"/>
              <a:t>what</a:t>
            </a:r>
            <a:r>
              <a:rPr lang="fr-FR" dirty="0"/>
              <a:t> </a:t>
            </a:r>
            <a:r>
              <a:rPr lang="fr-FR" dirty="0" err="1"/>
              <a:t>is</a:t>
            </a:r>
            <a:r>
              <a:rPr lang="fr-FR" dirty="0"/>
              <a:t> the </a:t>
            </a:r>
            <a:r>
              <a:rPr lang="fr-FR" dirty="0" err="1"/>
              <a:t>sensitivity</a:t>
            </a:r>
            <a:r>
              <a:rPr lang="fr-FR" dirty="0"/>
              <a:t> of </a:t>
            </a:r>
            <a:r>
              <a:rPr lang="fr-FR" dirty="0" err="1"/>
              <a:t>intercrops</a:t>
            </a:r>
            <a:r>
              <a:rPr lang="fr-FR" dirty="0"/>
              <a:t> to variations ?)</a:t>
            </a:r>
          </a:p>
          <a:p>
            <a:pPr marL="0" indent="0">
              <a:lnSpc>
                <a:spcPct val="100000"/>
              </a:lnSpc>
              <a:buNone/>
            </a:pPr>
            <a:r>
              <a:rPr lang="fr-FR" dirty="0" err="1"/>
              <a:t>From</a:t>
            </a:r>
            <a:r>
              <a:rPr lang="fr-FR" dirty="0"/>
              <a:t> observations at a </a:t>
            </a:r>
            <a:r>
              <a:rPr lang="fr-FR" dirty="0" err="1"/>
              <a:t>finer</a:t>
            </a:r>
            <a:r>
              <a:rPr lang="fr-FR" dirty="0"/>
              <a:t> </a:t>
            </a:r>
            <a:r>
              <a:rPr lang="fr-FR" dirty="0" err="1"/>
              <a:t>scale</a:t>
            </a:r>
            <a:r>
              <a:rPr lang="fr-FR" dirty="0"/>
              <a:t> </a:t>
            </a:r>
            <a:r>
              <a:rPr lang="fr-FR" dirty="0">
                <a:sym typeface="Wingdings" panose="05000000000000000000" pitchFamily="2" charset="2"/>
              </a:rPr>
              <a:t> calibration of </a:t>
            </a:r>
            <a:r>
              <a:rPr lang="fr-FR" dirty="0" err="1">
                <a:sym typeface="Wingdings" panose="05000000000000000000" pitchFamily="2" charset="2"/>
              </a:rPr>
              <a:t>crop</a:t>
            </a:r>
            <a:r>
              <a:rPr lang="fr-FR" dirty="0">
                <a:sym typeface="Wingdings" panose="05000000000000000000" pitchFamily="2" charset="2"/>
              </a:rPr>
              <a:t> model ? </a:t>
            </a:r>
            <a:r>
              <a:rPr lang="fr-FR" dirty="0" err="1">
                <a:sym typeface="Wingdings" panose="05000000000000000000" pitchFamily="2" charset="2"/>
              </a:rPr>
              <a:t>evaluation</a:t>
            </a:r>
            <a:r>
              <a:rPr lang="fr-FR" dirty="0">
                <a:sym typeface="Wingdings" panose="05000000000000000000" pitchFamily="2" charset="2"/>
              </a:rPr>
              <a:t> of </a:t>
            </a:r>
            <a:r>
              <a:rPr lang="fr-FR" dirty="0" err="1">
                <a:sym typeface="Wingdings" panose="05000000000000000000" pitchFamily="2" charset="2"/>
              </a:rPr>
              <a:t>formalisms</a:t>
            </a:r>
            <a:r>
              <a:rPr lang="fr-FR" dirty="0">
                <a:sym typeface="Wingdings" panose="05000000000000000000" pitchFamily="2" charset="2"/>
              </a:rPr>
              <a:t> at </a:t>
            </a:r>
            <a:r>
              <a:rPr lang="fr-FR" dirty="0" err="1">
                <a:sym typeface="Wingdings" panose="05000000000000000000" pitchFamily="2" charset="2"/>
              </a:rPr>
              <a:t>bigger</a:t>
            </a:r>
            <a:r>
              <a:rPr lang="fr-FR" dirty="0">
                <a:sym typeface="Wingdings" panose="05000000000000000000" pitchFamily="2" charset="2"/>
              </a:rPr>
              <a:t> </a:t>
            </a:r>
            <a:r>
              <a:rPr lang="fr-FR" dirty="0" err="1">
                <a:sym typeface="Wingdings" panose="05000000000000000000" pitchFamily="2" charset="2"/>
              </a:rPr>
              <a:t>scale</a:t>
            </a:r>
            <a:r>
              <a:rPr lang="fr-FR" dirty="0">
                <a:sym typeface="Wingdings" panose="05000000000000000000" pitchFamily="2" charset="2"/>
              </a:rPr>
              <a:t> ? </a:t>
            </a:r>
            <a:r>
              <a:rPr lang="fr-FR" dirty="0" err="1">
                <a:sym typeface="Wingdings" panose="05000000000000000000" pitchFamily="2" charset="2"/>
              </a:rPr>
              <a:t>defining</a:t>
            </a:r>
            <a:r>
              <a:rPr lang="fr-FR" dirty="0">
                <a:sym typeface="Wingdings" panose="05000000000000000000" pitchFamily="2" charset="2"/>
              </a:rPr>
              <a:t> new </a:t>
            </a:r>
            <a:r>
              <a:rPr lang="fr-FR" dirty="0" err="1">
                <a:sym typeface="Wingdings" panose="05000000000000000000" pitchFamily="2" charset="2"/>
              </a:rPr>
              <a:t>ones</a:t>
            </a:r>
            <a:r>
              <a:rPr lang="fr-FR" dirty="0">
                <a:sym typeface="Wingdings" panose="05000000000000000000" pitchFamily="2" charset="2"/>
              </a:rPr>
              <a:t> ?</a:t>
            </a:r>
          </a:p>
          <a:p>
            <a:pPr>
              <a:lnSpc>
                <a:spcPct val="100000"/>
              </a:lnSpc>
            </a:pPr>
            <a:r>
              <a:rPr lang="fr-FR" dirty="0" err="1"/>
              <a:t>Methodology</a:t>
            </a:r>
            <a:r>
              <a:rPr lang="fr-FR" dirty="0"/>
              <a:t> &amp; application </a:t>
            </a:r>
            <a:r>
              <a:rPr lang="fr-FR" dirty="0" err="1"/>
              <a:t>with</a:t>
            </a:r>
            <a:r>
              <a:rPr lang="fr-FR" dirty="0"/>
              <a:t> STICS (</a:t>
            </a:r>
            <a:r>
              <a:rPr lang="fr-FR" dirty="0" err="1"/>
              <a:t>why</a:t>
            </a:r>
            <a:r>
              <a:rPr lang="fr-FR" dirty="0"/>
              <a:t> STICS ?)</a:t>
            </a:r>
          </a:p>
          <a:p>
            <a:pPr>
              <a:lnSpc>
                <a:spcPct val="100000"/>
              </a:lnSpc>
            </a:pPr>
            <a:r>
              <a:rPr lang="fr-FR" dirty="0" err="1"/>
              <a:t>Analysis</a:t>
            </a:r>
            <a:r>
              <a:rPr lang="fr-FR" dirty="0"/>
              <a:t>, modeling, simulation</a:t>
            </a:r>
          </a:p>
          <a:p>
            <a:endParaRPr lang="en-US" dirty="0"/>
          </a:p>
        </p:txBody>
      </p:sp>
    </p:spTree>
    <p:extLst>
      <p:ext uri="{BB962C8B-B14F-4D97-AF65-F5344CB8AC3E}">
        <p14:creationId xmlns:p14="http://schemas.microsoft.com/office/powerpoint/2010/main" val="427348361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F6B012-D277-4C1B-A67F-07C7CAA57750}"/>
              </a:ext>
            </a:extLst>
          </p:cNvPr>
          <p:cNvSpPr>
            <a:spLocks noGrp="1"/>
          </p:cNvSpPr>
          <p:nvPr>
            <p:ph type="title"/>
          </p:nvPr>
        </p:nvSpPr>
        <p:spPr/>
        <p:txBody>
          <a:bodyPr/>
          <a:lstStyle/>
          <a:p>
            <a:r>
              <a:rPr lang="fr-FR" dirty="0"/>
              <a:t>Tableau</a:t>
            </a:r>
            <a:endParaRPr lang="en-US" dirty="0"/>
          </a:p>
        </p:txBody>
      </p:sp>
      <p:sp>
        <p:nvSpPr>
          <p:cNvPr id="3" name="Content Placeholder 2">
            <a:extLst>
              <a:ext uri="{FF2B5EF4-FFF2-40B4-BE49-F238E27FC236}">
                <a16:creationId xmlns:a16="http://schemas.microsoft.com/office/drawing/2014/main" id="{7FD20503-8094-4536-A576-38A109175D0D}"/>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312810034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B23CD8-B097-46F7-A6F6-36B566F88BA2}"/>
              </a:ext>
            </a:extLst>
          </p:cNvPr>
          <p:cNvSpPr>
            <a:spLocks noGrp="1"/>
          </p:cNvSpPr>
          <p:nvPr>
            <p:ph type="title"/>
          </p:nvPr>
        </p:nvSpPr>
        <p:spPr/>
        <p:txBody>
          <a:bodyPr/>
          <a:lstStyle/>
          <a:p>
            <a:r>
              <a:rPr lang="fr-FR" dirty="0"/>
              <a:t>Initial timeline</a:t>
            </a:r>
            <a:endParaRPr lang="en-US" dirty="0"/>
          </a:p>
        </p:txBody>
      </p:sp>
      <p:sp>
        <p:nvSpPr>
          <p:cNvPr id="3" name="Content Placeholder 2">
            <a:extLst>
              <a:ext uri="{FF2B5EF4-FFF2-40B4-BE49-F238E27FC236}">
                <a16:creationId xmlns:a16="http://schemas.microsoft.com/office/drawing/2014/main" id="{9D9C0E10-D57A-4986-87FF-36B2D971DCE7}"/>
              </a:ext>
            </a:extLst>
          </p:cNvPr>
          <p:cNvSpPr>
            <a:spLocks noGrp="1"/>
          </p:cNvSpPr>
          <p:nvPr>
            <p:ph idx="1"/>
          </p:nvPr>
        </p:nvSpPr>
        <p:spPr>
          <a:xfrm>
            <a:off x="838200" y="1690688"/>
            <a:ext cx="10515600" cy="4905421"/>
          </a:xfrm>
        </p:spPr>
        <p:txBody>
          <a:bodyPr>
            <a:normAutofit fontScale="55000" lnSpcReduction="20000"/>
          </a:bodyPr>
          <a:lstStyle/>
          <a:p>
            <a:pPr marL="0" indent="0" fontAlgn="base">
              <a:buNone/>
            </a:pPr>
            <a:r>
              <a:rPr lang="en-US" b="1" dirty="0"/>
              <a:t>Goals / Objectives</a:t>
            </a:r>
            <a:r>
              <a:rPr lang="en-US" dirty="0"/>
              <a:t> </a:t>
            </a:r>
          </a:p>
          <a:p>
            <a:pPr marL="0" indent="0" fontAlgn="base">
              <a:buNone/>
            </a:pPr>
            <a:r>
              <a:rPr lang="en-US" dirty="0"/>
              <a:t>1 –</a:t>
            </a:r>
            <a:r>
              <a:rPr lang="en-US" b="1" dirty="0"/>
              <a:t> Identify keys processes to modify crop models</a:t>
            </a:r>
            <a:r>
              <a:rPr lang="en-US" dirty="0"/>
              <a:t>  </a:t>
            </a:r>
            <a:r>
              <a:rPr lang="en-US" b="1" dirty="0"/>
              <a:t> </a:t>
            </a:r>
            <a:r>
              <a:rPr lang="en-US" dirty="0"/>
              <a:t>– FSP and crop models will be calibrated and evaluated with experimental data. Using simulations, both formalisms will be compared to understand the similarities and differences. Moreover, some emerging properties of the FSP model (e.g. plant architecture parameters such as distribution of leaf/root density) will be used to calibrate the crop model. Some processes, such as light interception, or water and nitrogen uptake, are available at the plant and crop scale, will be compared both formally and by simulation.  A large simulation experiment will be done to understand how the various processes are modified based on plant trait variations, spatial design of the intercrop (sowing density, interrow distance), temporal one (sowing dates of each crop, plant growth dynamic), but also considering spatial and temporal scale of the simulated processes. </a:t>
            </a:r>
            <a:br>
              <a:rPr lang="en-US" dirty="0"/>
            </a:br>
            <a:r>
              <a:rPr lang="en-US" dirty="0"/>
              <a:t>The plant varieties used to simulate intercrops will be chosen based on : a) availability of an FSP model in the </a:t>
            </a:r>
            <a:r>
              <a:rPr lang="en-US" dirty="0" err="1"/>
              <a:t>OpenAlea</a:t>
            </a:r>
            <a:r>
              <a:rPr lang="en-US" dirty="0"/>
              <a:t> community or in WUR, b) existing STICS parametrization for the Intercrop, c) available experiment in the </a:t>
            </a:r>
            <a:r>
              <a:rPr lang="en-US" dirty="0" err="1"/>
              <a:t>InterCropValues</a:t>
            </a:r>
            <a:r>
              <a:rPr lang="en-US" dirty="0"/>
              <a:t> project.  </a:t>
            </a:r>
          </a:p>
          <a:p>
            <a:pPr marL="0" indent="0" fontAlgn="base">
              <a:buNone/>
            </a:pPr>
            <a:r>
              <a:rPr lang="en-US" dirty="0"/>
              <a:t>2 - </a:t>
            </a:r>
            <a:r>
              <a:rPr lang="en-US" b="1" dirty="0"/>
              <a:t>Test different approaches to couple FSPM and crop model</a:t>
            </a:r>
            <a:r>
              <a:rPr lang="en-US" dirty="0"/>
              <a:t>. Various modules will be investigated at different spatial and temporal scale: light interception, water and nitrogen uptake. The same process is modeled with a given formalism at each spatial scale. To scale up from one scale (</a:t>
            </a:r>
            <a:r>
              <a:rPr lang="en-US" dirty="0" err="1"/>
              <a:t>eg</a:t>
            </a:r>
            <a:r>
              <a:rPr lang="en-US" dirty="0"/>
              <a:t> organ scale) to another (</a:t>
            </a:r>
            <a:r>
              <a:rPr lang="en-US" dirty="0" err="1"/>
              <a:t>eg</a:t>
            </a:r>
            <a:r>
              <a:rPr lang="en-US" dirty="0"/>
              <a:t> crop scale), several strategies will be investigated: how to find an equivalent analytical model for water uptake using homogeneous hypotheses (</a:t>
            </a:r>
            <a:r>
              <a:rPr lang="en-US" dirty="0" err="1"/>
              <a:t>Couveur</a:t>
            </a:r>
            <a:r>
              <a:rPr lang="en-US" dirty="0"/>
              <a:t> et al., 2012)? How to estimate a surrogate model based on the model output at a finer scale to capture emergent properties? And finally, how to design hybrid models by combining existing modules at the same or different scales? </a:t>
            </a:r>
            <a:br>
              <a:rPr lang="en-US" dirty="0"/>
            </a:br>
            <a:r>
              <a:rPr lang="en-US" dirty="0"/>
              <a:t>This can lead to new formalisms in the crop model. </a:t>
            </a:r>
          </a:p>
          <a:p>
            <a:pPr marL="0" indent="0" fontAlgn="base">
              <a:buNone/>
            </a:pPr>
            <a:r>
              <a:rPr lang="en-US" dirty="0"/>
              <a:t>3- </a:t>
            </a:r>
            <a:r>
              <a:rPr lang="en-US" b="1" dirty="0"/>
              <a:t>An hybrid FSP-Crop model for </a:t>
            </a:r>
            <a:r>
              <a:rPr lang="en-US" b="1" dirty="0" err="1"/>
              <a:t>ideotyping</a:t>
            </a:r>
            <a:r>
              <a:rPr lang="en-US" b="1" dirty="0"/>
              <a:t> intercrops </a:t>
            </a:r>
            <a:r>
              <a:rPr lang="en-US" dirty="0"/>
              <a:t>– To better understand the underlying mechanisms of intercrops, we plan to simulate various composition of intercrops with different spatial (distance) and temporal (sowing) configurations with models at different scales (FSPM, IBM and Crop model processes). </a:t>
            </a:r>
          </a:p>
          <a:p>
            <a:pPr marL="0" indent="0" fontAlgn="base">
              <a:buNone/>
            </a:pPr>
            <a:r>
              <a:rPr lang="en-US" b="1" dirty="0"/>
              <a:t>Main results</a:t>
            </a:r>
            <a:r>
              <a:rPr lang="en-US" dirty="0"/>
              <a:t> </a:t>
            </a:r>
          </a:p>
          <a:p>
            <a:pPr marL="0" indent="0" fontAlgn="base">
              <a:buNone/>
            </a:pPr>
            <a:r>
              <a:rPr lang="en-US" dirty="0"/>
              <a:t>Year 1 : Literature review about multiscale representation and simulation of intercrops </a:t>
            </a:r>
          </a:p>
          <a:p>
            <a:pPr marL="0" indent="0" fontAlgn="base">
              <a:buNone/>
            </a:pPr>
            <a:r>
              <a:rPr lang="en-US" dirty="0"/>
              <a:t>Year 2 : Multiscale investigation of plant and crop functioning: space, time and multi-processes </a:t>
            </a:r>
          </a:p>
          <a:p>
            <a:pPr marL="0" indent="0" fontAlgn="base">
              <a:buNone/>
            </a:pPr>
            <a:r>
              <a:rPr lang="en-US" dirty="0"/>
              <a:t>Year 3 : </a:t>
            </a:r>
            <a:r>
              <a:rPr lang="en-US" dirty="0" err="1"/>
              <a:t>Ideotyping</a:t>
            </a:r>
            <a:r>
              <a:rPr lang="en-US" dirty="0"/>
              <a:t> design of intercrops by connecting plant and crop models </a:t>
            </a:r>
          </a:p>
          <a:p>
            <a:endParaRPr lang="en-US" dirty="0"/>
          </a:p>
        </p:txBody>
      </p:sp>
    </p:spTree>
    <p:extLst>
      <p:ext uri="{BB962C8B-B14F-4D97-AF65-F5344CB8AC3E}">
        <p14:creationId xmlns:p14="http://schemas.microsoft.com/office/powerpoint/2010/main" val="365198054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B23CD8-B097-46F7-A6F6-36B566F88BA2}"/>
              </a:ext>
            </a:extLst>
          </p:cNvPr>
          <p:cNvSpPr>
            <a:spLocks noGrp="1"/>
          </p:cNvSpPr>
          <p:nvPr>
            <p:ph type="title"/>
          </p:nvPr>
        </p:nvSpPr>
        <p:spPr/>
        <p:txBody>
          <a:bodyPr/>
          <a:lstStyle/>
          <a:p>
            <a:r>
              <a:rPr lang="fr-FR" dirty="0" err="1"/>
              <a:t>Modified</a:t>
            </a:r>
            <a:r>
              <a:rPr lang="fr-FR" dirty="0"/>
              <a:t> timeline</a:t>
            </a:r>
            <a:endParaRPr lang="en-US" dirty="0"/>
          </a:p>
        </p:txBody>
      </p:sp>
      <p:sp>
        <p:nvSpPr>
          <p:cNvPr id="3" name="Content Placeholder 2">
            <a:extLst>
              <a:ext uri="{FF2B5EF4-FFF2-40B4-BE49-F238E27FC236}">
                <a16:creationId xmlns:a16="http://schemas.microsoft.com/office/drawing/2014/main" id="{9D9C0E10-D57A-4986-87FF-36B2D971DCE7}"/>
              </a:ext>
            </a:extLst>
          </p:cNvPr>
          <p:cNvSpPr>
            <a:spLocks noGrp="1"/>
          </p:cNvSpPr>
          <p:nvPr>
            <p:ph idx="1"/>
          </p:nvPr>
        </p:nvSpPr>
        <p:spPr>
          <a:xfrm>
            <a:off x="838200" y="1690688"/>
            <a:ext cx="10515600" cy="4905421"/>
          </a:xfrm>
        </p:spPr>
        <p:txBody>
          <a:bodyPr>
            <a:normAutofit fontScale="62500" lnSpcReduction="20000"/>
          </a:bodyPr>
          <a:lstStyle/>
          <a:p>
            <a:pPr marL="0" indent="0" fontAlgn="base">
              <a:buNone/>
            </a:pPr>
            <a:r>
              <a:rPr lang="en-US" b="1" dirty="0"/>
              <a:t>Goals / Objectives</a:t>
            </a:r>
            <a:r>
              <a:rPr lang="en-US" dirty="0"/>
              <a:t> </a:t>
            </a:r>
          </a:p>
          <a:p>
            <a:pPr marL="0" indent="0" fontAlgn="base">
              <a:buNone/>
            </a:pPr>
            <a:r>
              <a:rPr lang="en-US" dirty="0"/>
              <a:t>1 –</a:t>
            </a:r>
            <a:r>
              <a:rPr lang="en-US" b="1" dirty="0"/>
              <a:t> Identify keys processes to modify in crop models.</a:t>
            </a:r>
            <a:r>
              <a:rPr lang="en-US" dirty="0"/>
              <a:t> Analysis of different plant processes, already identified by comparing with field data  (light interception, water and nitrogen uptake, nitrogen demand, </a:t>
            </a:r>
            <a:r>
              <a:rPr lang="en-US" dirty="0" err="1"/>
              <a:t>cf</a:t>
            </a:r>
            <a:r>
              <a:rPr lang="en-US" dirty="0"/>
              <a:t> </a:t>
            </a:r>
            <a:r>
              <a:rPr lang="en-US" dirty="0" err="1"/>
              <a:t>Vezy</a:t>
            </a:r>
            <a:r>
              <a:rPr lang="en-US" dirty="0"/>
              <a:t> et al., 2023, and Traore et al., 2023) </a:t>
            </a:r>
          </a:p>
          <a:p>
            <a:pPr marL="0" indent="0" fontAlgn="base">
              <a:buNone/>
            </a:pPr>
            <a:r>
              <a:rPr lang="en-US" dirty="0"/>
              <a:t>2 - </a:t>
            </a:r>
            <a:r>
              <a:rPr lang="en-US" b="1" dirty="0"/>
              <a:t>Test different approaches to couple FSPM and crop model.</a:t>
            </a:r>
            <a:r>
              <a:rPr lang="en-US" dirty="0"/>
              <a:t> Various modules will be investigated at different spatial and temporal scale: light interception, water and nitrogen uptake, nitrogen demand. The same process is modeled with a given formalism at each spatial scale. To scale up from one scale (e.g. organ scale) to another (e.g. crop scale), several strategies will be investigated: how to find an equivalent analytical model for water uptake using homogeneous hypotheses (</a:t>
            </a:r>
            <a:r>
              <a:rPr lang="en-US" dirty="0" err="1"/>
              <a:t>Couveur</a:t>
            </a:r>
            <a:r>
              <a:rPr lang="en-US" dirty="0"/>
              <a:t> et al., 2012)? How to estimate a surrogate model based on the model output at a finer scale to capture emergent properties? And finally, how to design hybrid models by combining existing modules at the same or different scales? </a:t>
            </a:r>
            <a:br>
              <a:rPr lang="en-US" dirty="0"/>
            </a:br>
            <a:r>
              <a:rPr lang="en-US" dirty="0"/>
              <a:t>This can lead to new formalisms in the crop model. </a:t>
            </a:r>
          </a:p>
          <a:p>
            <a:pPr marL="0" indent="0" fontAlgn="base">
              <a:buNone/>
            </a:pPr>
            <a:r>
              <a:rPr lang="en-US" dirty="0"/>
              <a:t>3- </a:t>
            </a:r>
            <a:r>
              <a:rPr lang="en-US" b="1" dirty="0" err="1"/>
              <a:t>Ideotyping</a:t>
            </a:r>
            <a:r>
              <a:rPr lang="en-US" b="1" dirty="0"/>
              <a:t> intercrops using innovative formalisms.</a:t>
            </a:r>
            <a:r>
              <a:rPr lang="en-US" dirty="0"/>
              <a:t> To better understand the underlying mechanisms of intercrops, we plan to simulate various composition of intercrops with different spatial (distance) and temporal (sowing) configurations with models at different scales (FSPM, IBM and Crop model processes). </a:t>
            </a:r>
          </a:p>
          <a:p>
            <a:pPr marL="0" indent="0" fontAlgn="base">
              <a:buNone/>
            </a:pPr>
            <a:r>
              <a:rPr lang="en-US" b="1" dirty="0"/>
              <a:t>Main results</a:t>
            </a:r>
            <a:r>
              <a:rPr lang="en-US" dirty="0"/>
              <a:t> </a:t>
            </a:r>
          </a:p>
          <a:p>
            <a:pPr marL="0" indent="0" fontAlgn="base">
              <a:buNone/>
            </a:pPr>
            <a:r>
              <a:rPr lang="en-US" dirty="0"/>
              <a:t>Year 1 : Multiscale crop model evaluation: how downscaling can unveil variability in structure </a:t>
            </a:r>
            <a:endParaRPr lang="en-US" strike="sngStrike" dirty="0"/>
          </a:p>
          <a:p>
            <a:pPr marL="0" indent="0" fontAlgn="base">
              <a:buNone/>
            </a:pPr>
            <a:r>
              <a:rPr lang="en-US"/>
              <a:t>Year 2 : </a:t>
            </a:r>
            <a:r>
              <a:rPr lang="en-US" dirty="0"/>
              <a:t>Multiscale investigation of plant and crop functioning: space, time and multi-processes </a:t>
            </a:r>
          </a:p>
          <a:p>
            <a:pPr marL="0" indent="0" fontAlgn="base">
              <a:buNone/>
            </a:pPr>
            <a:r>
              <a:rPr lang="en-US" dirty="0"/>
              <a:t>Year 3 : </a:t>
            </a:r>
            <a:r>
              <a:rPr lang="en-US" dirty="0" err="1"/>
              <a:t>Ideotyping</a:t>
            </a:r>
            <a:r>
              <a:rPr lang="en-US" dirty="0"/>
              <a:t> design of intercrops by connecting plant and crop models </a:t>
            </a:r>
          </a:p>
          <a:p>
            <a:endParaRPr lang="en-US" dirty="0"/>
          </a:p>
        </p:txBody>
      </p:sp>
    </p:spTree>
    <p:extLst>
      <p:ext uri="{BB962C8B-B14F-4D97-AF65-F5344CB8AC3E}">
        <p14:creationId xmlns:p14="http://schemas.microsoft.com/office/powerpoint/2010/main" val="47706010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F1031E-109A-4315-A9AE-C46AE4E16EB8}"/>
              </a:ext>
            </a:extLst>
          </p:cNvPr>
          <p:cNvSpPr>
            <a:spLocks noGrp="1"/>
          </p:cNvSpPr>
          <p:nvPr>
            <p:ph type="title"/>
          </p:nvPr>
        </p:nvSpPr>
        <p:spPr>
          <a:xfrm>
            <a:off x="838200" y="427268"/>
            <a:ext cx="10515600" cy="1325563"/>
          </a:xfrm>
        </p:spPr>
        <p:txBody>
          <a:bodyPr>
            <a:normAutofit fontScale="90000"/>
          </a:bodyPr>
          <a:lstStyle/>
          <a:p>
            <a:r>
              <a:rPr lang="fr-FR" dirty="0"/>
              <a:t>First </a:t>
            </a:r>
            <a:r>
              <a:rPr lang="fr-FR" dirty="0" err="1"/>
              <a:t>step</a:t>
            </a:r>
            <a:r>
              <a:rPr lang="fr-FR" dirty="0"/>
              <a:t> : </a:t>
            </a:r>
            <a:r>
              <a:rPr lang="fr-FR" dirty="0" err="1"/>
              <a:t>Analyzing</a:t>
            </a:r>
            <a:r>
              <a:rPr lang="fr-FR" dirty="0"/>
              <a:t> </a:t>
            </a:r>
            <a:r>
              <a:rPr lang="fr-FR" dirty="0" err="1"/>
              <a:t>accuracy</a:t>
            </a:r>
            <a:r>
              <a:rPr lang="fr-FR" dirty="0"/>
              <a:t> of </a:t>
            </a:r>
            <a:r>
              <a:rPr lang="fr-FR" dirty="0" err="1"/>
              <a:t>formalisms</a:t>
            </a:r>
            <a:r>
              <a:rPr lang="fr-FR" dirty="0"/>
              <a:t> of </a:t>
            </a:r>
            <a:r>
              <a:rPr lang="fr-FR" dirty="0" err="1"/>
              <a:t>crop</a:t>
            </a:r>
            <a:r>
              <a:rPr lang="fr-FR" dirty="0"/>
              <a:t> </a:t>
            </a:r>
            <a:r>
              <a:rPr lang="fr-FR" dirty="0" err="1"/>
              <a:t>models</a:t>
            </a:r>
            <a:r>
              <a:rPr lang="fr-FR" dirty="0"/>
              <a:t> (</a:t>
            </a:r>
            <a:r>
              <a:rPr lang="fr-FR" dirty="0" err="1"/>
              <a:t>mainly</a:t>
            </a:r>
            <a:r>
              <a:rPr lang="fr-FR" dirty="0"/>
              <a:t> </a:t>
            </a:r>
            <a:r>
              <a:rPr lang="fr-FR" dirty="0" err="1"/>
              <a:t>from</a:t>
            </a:r>
            <a:r>
              <a:rPr lang="fr-FR" dirty="0"/>
              <a:t> </a:t>
            </a:r>
            <a:r>
              <a:rPr lang="fr-FR" dirty="0" err="1"/>
              <a:t>homogeous</a:t>
            </a:r>
            <a:r>
              <a:rPr lang="fr-FR" dirty="0"/>
              <a:t> 1D </a:t>
            </a:r>
            <a:r>
              <a:rPr lang="fr-FR" dirty="0" err="1"/>
              <a:t>hypotheses</a:t>
            </a:r>
            <a:r>
              <a:rPr lang="fr-FR" dirty="0"/>
              <a:t>) </a:t>
            </a:r>
            <a:r>
              <a:rPr lang="fr-FR" dirty="0" err="1"/>
              <a:t>when</a:t>
            </a:r>
            <a:r>
              <a:rPr lang="fr-FR" dirty="0"/>
              <a:t> </a:t>
            </a:r>
            <a:r>
              <a:rPr lang="fr-FR" dirty="0" err="1"/>
              <a:t>adding</a:t>
            </a:r>
            <a:r>
              <a:rPr lang="fr-FR" dirty="0"/>
              <a:t> structural </a:t>
            </a:r>
            <a:r>
              <a:rPr lang="fr-FR" dirty="0" err="1"/>
              <a:t>variability</a:t>
            </a:r>
            <a:r>
              <a:rPr lang="fr-FR" dirty="0"/>
              <a:t> (for shoot and root) and spatial </a:t>
            </a:r>
            <a:r>
              <a:rPr lang="fr-FR" dirty="0" err="1"/>
              <a:t>heterogeneity</a:t>
            </a:r>
            <a:endParaRPr lang="en-US" dirty="0"/>
          </a:p>
        </p:txBody>
      </p:sp>
      <p:sp>
        <p:nvSpPr>
          <p:cNvPr id="3" name="Content Placeholder 2">
            <a:extLst>
              <a:ext uri="{FF2B5EF4-FFF2-40B4-BE49-F238E27FC236}">
                <a16:creationId xmlns:a16="http://schemas.microsoft.com/office/drawing/2014/main" id="{C741FF86-7152-42B3-A415-D356DF31036D}"/>
              </a:ext>
            </a:extLst>
          </p:cNvPr>
          <p:cNvSpPr>
            <a:spLocks noGrp="1"/>
          </p:cNvSpPr>
          <p:nvPr>
            <p:ph idx="1"/>
          </p:nvPr>
        </p:nvSpPr>
        <p:spPr>
          <a:xfrm>
            <a:off x="838200" y="2233997"/>
            <a:ext cx="10666446" cy="4504155"/>
          </a:xfrm>
        </p:spPr>
        <p:txBody>
          <a:bodyPr>
            <a:normAutofit fontScale="92500" lnSpcReduction="20000"/>
          </a:bodyPr>
          <a:lstStyle/>
          <a:p>
            <a:pPr fontAlgn="base"/>
            <a:r>
              <a:rPr lang="en-US" b="1" dirty="0"/>
              <a:t>Downscale</a:t>
            </a:r>
            <a:r>
              <a:rPr lang="en-US" dirty="0"/>
              <a:t> the processes of a crop model by constraining </a:t>
            </a:r>
            <a:r>
              <a:rPr lang="en-US" b="1" dirty="0"/>
              <a:t>plant architecture</a:t>
            </a:r>
            <a:endParaRPr lang="en-US" dirty="0"/>
          </a:p>
          <a:p>
            <a:pPr fontAlgn="base"/>
            <a:r>
              <a:rPr lang="fr-FR" dirty="0" err="1"/>
              <a:t>Evaluate</a:t>
            </a:r>
            <a:r>
              <a:rPr lang="fr-FR" dirty="0"/>
              <a:t> how </a:t>
            </a:r>
            <a:r>
              <a:rPr lang="fr-FR" b="1" dirty="0"/>
              <a:t>structural </a:t>
            </a:r>
            <a:r>
              <a:rPr lang="fr-FR" b="1" dirty="0" err="1"/>
              <a:t>variability</a:t>
            </a:r>
            <a:r>
              <a:rPr lang="fr-FR" dirty="0"/>
              <a:t> challenges </a:t>
            </a:r>
            <a:r>
              <a:rPr lang="fr-FR" dirty="0" err="1"/>
              <a:t>processes</a:t>
            </a:r>
            <a:r>
              <a:rPr lang="fr-FR" dirty="0"/>
              <a:t> in </a:t>
            </a:r>
            <a:r>
              <a:rPr lang="fr-FR" dirty="0" err="1"/>
              <a:t>crop</a:t>
            </a:r>
            <a:r>
              <a:rPr lang="fr-FR" dirty="0"/>
              <a:t> </a:t>
            </a:r>
            <a:r>
              <a:rPr lang="fr-FR" dirty="0" err="1"/>
              <a:t>models</a:t>
            </a:r>
            <a:endParaRPr lang="fr-FR" dirty="0"/>
          </a:p>
          <a:p>
            <a:pPr fontAlgn="base"/>
            <a:r>
              <a:rPr lang="fr-FR" dirty="0" err="1"/>
              <a:t>Unvalidate</a:t>
            </a:r>
            <a:r>
              <a:rPr lang="fr-FR" dirty="0"/>
              <a:t> or not </a:t>
            </a:r>
            <a:r>
              <a:rPr lang="fr-FR" dirty="0" err="1"/>
              <a:t>some</a:t>
            </a:r>
            <a:r>
              <a:rPr lang="fr-FR" dirty="0"/>
              <a:t> </a:t>
            </a:r>
            <a:r>
              <a:rPr lang="fr-FR" dirty="0" err="1"/>
              <a:t>formalisms</a:t>
            </a:r>
            <a:r>
              <a:rPr lang="fr-FR" dirty="0"/>
              <a:t> (light inter, N </a:t>
            </a:r>
            <a:r>
              <a:rPr lang="fr-FR" dirty="0" err="1"/>
              <a:t>demand</a:t>
            </a:r>
            <a:r>
              <a:rPr lang="fr-FR" dirty="0"/>
              <a:t>, water and N </a:t>
            </a:r>
            <a:r>
              <a:rPr lang="fr-FR" dirty="0" err="1"/>
              <a:t>uptake</a:t>
            </a:r>
            <a:r>
              <a:rPr lang="fr-FR" dirty="0"/>
              <a:t> ?)</a:t>
            </a:r>
          </a:p>
          <a:p>
            <a:pPr fontAlgn="base"/>
            <a:r>
              <a:rPr lang="en-US" dirty="0"/>
              <a:t>Parametric model, differential approach, plant phenotypic space</a:t>
            </a:r>
          </a:p>
          <a:p>
            <a:pPr fontAlgn="base"/>
            <a:endParaRPr lang="en-US" dirty="0"/>
          </a:p>
          <a:p>
            <a:pPr marL="0" indent="0" fontAlgn="base">
              <a:buNone/>
            </a:pPr>
            <a:r>
              <a:rPr lang="en-US" dirty="0"/>
              <a:t>E.g. for light interception in STICS : </a:t>
            </a:r>
          </a:p>
          <a:p>
            <a:pPr marL="0" indent="0" fontAlgn="base">
              <a:buNone/>
            </a:pPr>
            <a:r>
              <a:rPr lang="en-US" sz="2400" dirty="0"/>
              <a:t>in a simple plant model of my conception, constrain the growth of a plant by the temporal evolution of LAI obtained with STICS, while fixing and varying some other well-chosen geometric and developmental parameters (e.g. number of tillers (Zhu et al., 2015), phyllotaxy, etc.) </a:t>
            </a:r>
            <a:r>
              <a:rPr lang="en-US" sz="2400" dirty="0">
                <a:sym typeface="Wingdings" panose="05000000000000000000" pitchFamily="2" charset="2"/>
              </a:rPr>
              <a:t> functioning is integrated in LAI</a:t>
            </a:r>
            <a:endParaRPr lang="en-US" sz="2400" dirty="0"/>
          </a:p>
          <a:p>
            <a:pPr marL="0" indent="0" fontAlgn="base">
              <a:buNone/>
            </a:pPr>
            <a:r>
              <a:rPr lang="en-US" sz="2400" dirty="0">
                <a:sym typeface="Wingdings" panose="05000000000000000000" pitchFamily="2" charset="2"/>
              </a:rPr>
              <a:t> obtain </a:t>
            </a:r>
            <a:r>
              <a:rPr lang="en-US" sz="2400" dirty="0"/>
              <a:t>many morphotypes for which light interception will be computed and compared with the values in STICS</a:t>
            </a:r>
          </a:p>
        </p:txBody>
      </p:sp>
    </p:spTree>
    <p:extLst>
      <p:ext uri="{BB962C8B-B14F-4D97-AF65-F5344CB8AC3E}">
        <p14:creationId xmlns:p14="http://schemas.microsoft.com/office/powerpoint/2010/main" val="386950533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51F0D4-FED2-4033-ACC3-985719905A5E}"/>
              </a:ext>
            </a:extLst>
          </p:cNvPr>
          <p:cNvSpPr>
            <a:spLocks noGrp="1"/>
          </p:cNvSpPr>
          <p:nvPr>
            <p:ph type="title"/>
          </p:nvPr>
        </p:nvSpPr>
        <p:spPr/>
        <p:txBody>
          <a:bodyPr/>
          <a:lstStyle/>
          <a:p>
            <a:r>
              <a:rPr lang="fr-FR" dirty="0" err="1"/>
              <a:t>Spatializing</a:t>
            </a:r>
            <a:r>
              <a:rPr lang="fr-FR" dirty="0"/>
              <a:t> STICS </a:t>
            </a:r>
            <a:r>
              <a:rPr lang="fr-FR" dirty="0" err="1"/>
              <a:t>processes</a:t>
            </a:r>
            <a:r>
              <a:rPr lang="fr-FR" dirty="0"/>
              <a:t> </a:t>
            </a:r>
            <a:r>
              <a:rPr lang="fr-FR" dirty="0" err="1"/>
              <a:t>with</a:t>
            </a:r>
            <a:r>
              <a:rPr lang="fr-FR" dirty="0"/>
              <a:t> FSPM and </a:t>
            </a:r>
            <a:r>
              <a:rPr lang="fr-FR" dirty="0" err="1"/>
              <a:t>exploring</a:t>
            </a:r>
            <a:r>
              <a:rPr lang="fr-FR" dirty="0"/>
              <a:t> structural </a:t>
            </a:r>
            <a:r>
              <a:rPr lang="fr-FR" dirty="0" err="1"/>
              <a:t>variability</a:t>
            </a:r>
            <a:r>
              <a:rPr lang="fr-FR" dirty="0"/>
              <a:t> (</a:t>
            </a:r>
            <a:r>
              <a:rPr lang="fr-FR" dirty="0" err="1"/>
              <a:t>cf</a:t>
            </a:r>
            <a:r>
              <a:rPr lang="fr-FR" dirty="0"/>
              <a:t> </a:t>
            </a:r>
            <a:r>
              <a:rPr lang="fr-FR" dirty="0" err="1"/>
              <a:t>other</a:t>
            </a:r>
            <a:r>
              <a:rPr lang="fr-FR" dirty="0"/>
              <a:t> </a:t>
            </a:r>
            <a:r>
              <a:rPr lang="fr-FR" dirty="0" err="1"/>
              <a:t>ppt</a:t>
            </a:r>
            <a:r>
              <a:rPr lang="fr-FR" dirty="0"/>
              <a:t>)</a:t>
            </a:r>
            <a:endParaRPr lang="en-US" dirty="0"/>
          </a:p>
        </p:txBody>
      </p:sp>
      <p:sp>
        <p:nvSpPr>
          <p:cNvPr id="3" name="Content Placeholder 2">
            <a:extLst>
              <a:ext uri="{FF2B5EF4-FFF2-40B4-BE49-F238E27FC236}">
                <a16:creationId xmlns:a16="http://schemas.microsoft.com/office/drawing/2014/main" id="{E598354A-C652-44B3-955E-924F6447EABF}"/>
              </a:ext>
            </a:extLst>
          </p:cNvPr>
          <p:cNvSpPr>
            <a:spLocks noGrp="1"/>
          </p:cNvSpPr>
          <p:nvPr>
            <p:ph idx="1"/>
          </p:nvPr>
        </p:nvSpPr>
        <p:spPr>
          <a:xfrm>
            <a:off x="838200" y="1825625"/>
            <a:ext cx="10515600" cy="4667250"/>
          </a:xfrm>
        </p:spPr>
        <p:txBody>
          <a:bodyPr>
            <a:normAutofit fontScale="62500" lnSpcReduction="20000"/>
          </a:bodyPr>
          <a:lstStyle/>
          <a:p>
            <a:pPr fontAlgn="base"/>
            <a:r>
              <a:rPr lang="en-US" dirty="0"/>
              <a:t>We talked about the idea of spatializing (here taking into account plant architecture) the processes in STICS, starting with light interception. We agreed on the methodological aspect of this approach at first, which would set aside the urge to have precise structural data, particularly concerning sorghum. </a:t>
            </a:r>
          </a:p>
          <a:p>
            <a:pPr fontAlgn="base"/>
            <a:r>
              <a:rPr lang="en-US" dirty="0"/>
              <a:t>As a reminder, the idea is, in a simple (F)SPM of my conception, to constrain the temporal evolution of LAI obtained with STICS, while fixing and varying some other well-chosen geometric and developmental parameters (e.g. number of tillers (Zhu et al., 2015), phyllotaxy, etc.). One could then obtain many morphotypes, for which relevant plant processes will be computed (e.g. light interception by ray tracing). </a:t>
            </a:r>
          </a:p>
          <a:p>
            <a:pPr fontAlgn="base"/>
            <a:r>
              <a:rPr lang="fr-FR" dirty="0"/>
              <a:t>W</a:t>
            </a:r>
            <a:r>
              <a:rPr lang="en-US" dirty="0" err="1"/>
              <a:t>ithout</a:t>
            </a:r>
            <a:r>
              <a:rPr lang="en-US" dirty="0"/>
              <a:t> stress and with stresses, implementing known rules on for the effects of stresses on plant structure </a:t>
            </a:r>
          </a:p>
          <a:p>
            <a:pPr fontAlgn="base"/>
            <a:r>
              <a:rPr lang="fr-FR" dirty="0"/>
              <a:t>T</a:t>
            </a:r>
            <a:r>
              <a:rPr lang="en-US" dirty="0"/>
              <a:t>he variability obtained will enable to conduct a kind of sensitivity analysis, to detect how different structural parameters are influenced in different conditions</a:t>
            </a:r>
          </a:p>
          <a:p>
            <a:pPr fontAlgn="base"/>
            <a:r>
              <a:rPr lang="en-US" dirty="0"/>
              <a:t>In the first instance, the focus will be made on the methodological approach. Then, by setting realistic values/ranges for given species and intercrop growth </a:t>
            </a:r>
            <a:r>
              <a:rPr lang="en-US" dirty="0" err="1"/>
              <a:t>scenarii</a:t>
            </a:r>
            <a:r>
              <a:rPr lang="en-US" dirty="0"/>
              <a:t>, a process of validation of the formalisms in STICS will be conducted using this methodology. If large enough deviations are found, solutions can be found (e.g. find a new formalism that would be an option in STICS for certain cases, or compute parameters for STICS with this/an FSPM).   </a:t>
            </a:r>
          </a:p>
          <a:p>
            <a:pPr fontAlgn="base"/>
            <a:r>
              <a:rPr lang="en-US" dirty="0"/>
              <a:t>A further step could be to implement function (e.g. photosynthesis) into the structural model created.  </a:t>
            </a:r>
          </a:p>
          <a:p>
            <a:pPr fontAlgn="base"/>
            <a:r>
              <a:rPr lang="en-US" dirty="0"/>
              <a:t>A similar methodology can be used for the belowground part, maybe using the already-existing </a:t>
            </a:r>
            <a:r>
              <a:rPr lang="en-US" dirty="0" err="1"/>
              <a:t>ArchiSimple</a:t>
            </a:r>
            <a:r>
              <a:rPr lang="en-US" dirty="0"/>
              <a:t> model. </a:t>
            </a:r>
          </a:p>
          <a:p>
            <a:pPr fontAlgn="base"/>
            <a:r>
              <a:rPr lang="fr-FR" dirty="0"/>
              <a:t>For </a:t>
            </a:r>
            <a:r>
              <a:rPr lang="fr-FR" dirty="0" err="1"/>
              <a:t>function</a:t>
            </a:r>
            <a:r>
              <a:rPr lang="fr-FR" dirty="0"/>
              <a:t> in all plant (shoot &amp; root) and </a:t>
            </a:r>
            <a:r>
              <a:rPr lang="fr-FR" dirty="0" err="1"/>
              <a:t>nutrients</a:t>
            </a:r>
            <a:r>
              <a:rPr lang="fr-FR" dirty="0"/>
              <a:t> exchanges, </a:t>
            </a:r>
            <a:r>
              <a:rPr lang="fr-FR" dirty="0" err="1"/>
              <a:t>cf</a:t>
            </a:r>
            <a:r>
              <a:rPr lang="fr-FR" dirty="0"/>
              <a:t> </a:t>
            </a:r>
            <a:r>
              <a:rPr lang="fr-FR" dirty="0" err="1"/>
              <a:t>Tristan’s</a:t>
            </a:r>
            <a:r>
              <a:rPr lang="fr-FR" dirty="0"/>
              <a:t> </a:t>
            </a:r>
            <a:r>
              <a:rPr lang="fr-FR" dirty="0" err="1"/>
              <a:t>work</a:t>
            </a:r>
            <a:endParaRPr lang="en-US" dirty="0"/>
          </a:p>
          <a:p>
            <a:endParaRPr lang="en-US" dirty="0"/>
          </a:p>
        </p:txBody>
      </p:sp>
    </p:spTree>
    <p:extLst>
      <p:ext uri="{BB962C8B-B14F-4D97-AF65-F5344CB8AC3E}">
        <p14:creationId xmlns:p14="http://schemas.microsoft.com/office/powerpoint/2010/main" val="382982824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878583-92FB-468A-8A3B-3D176F6F453D}"/>
              </a:ext>
            </a:extLst>
          </p:cNvPr>
          <p:cNvSpPr>
            <a:spLocks noGrp="1"/>
          </p:cNvSpPr>
          <p:nvPr>
            <p:ph type="title"/>
          </p:nvPr>
        </p:nvSpPr>
        <p:spPr/>
        <p:txBody>
          <a:bodyPr/>
          <a:lstStyle/>
          <a:p>
            <a:r>
              <a:rPr lang="fr-FR" dirty="0"/>
              <a:t>Future </a:t>
            </a:r>
            <a:r>
              <a:rPr lang="fr-FR" dirty="0" err="1"/>
              <a:t>steps</a:t>
            </a:r>
            <a:endParaRPr lang="en-US" dirty="0"/>
          </a:p>
        </p:txBody>
      </p:sp>
      <p:sp>
        <p:nvSpPr>
          <p:cNvPr id="3" name="Content Placeholder 2">
            <a:extLst>
              <a:ext uri="{FF2B5EF4-FFF2-40B4-BE49-F238E27FC236}">
                <a16:creationId xmlns:a16="http://schemas.microsoft.com/office/drawing/2014/main" id="{61E96416-F2C4-43DA-806A-E5E4A65CECCF}"/>
              </a:ext>
            </a:extLst>
          </p:cNvPr>
          <p:cNvSpPr>
            <a:spLocks noGrp="1"/>
          </p:cNvSpPr>
          <p:nvPr>
            <p:ph idx="1"/>
          </p:nvPr>
        </p:nvSpPr>
        <p:spPr/>
        <p:txBody>
          <a:bodyPr>
            <a:normAutofit/>
          </a:bodyPr>
          <a:lstStyle/>
          <a:p>
            <a:pPr fontAlgn="base">
              <a:lnSpc>
                <a:spcPct val="100000"/>
              </a:lnSpc>
            </a:pPr>
            <a:r>
              <a:rPr lang="en-US" dirty="0"/>
              <a:t>Implement stresses ?</a:t>
            </a:r>
          </a:p>
          <a:p>
            <a:pPr fontAlgn="base">
              <a:lnSpc>
                <a:spcPct val="100000"/>
              </a:lnSpc>
            </a:pPr>
            <a:endParaRPr lang="en-US" dirty="0"/>
          </a:p>
          <a:p>
            <a:pPr fontAlgn="base">
              <a:lnSpc>
                <a:spcPct val="100000"/>
              </a:lnSpc>
            </a:pPr>
            <a:r>
              <a:rPr lang="en-US" dirty="0"/>
              <a:t>Implement function (e.g. photosynthesis) into the FSPM created</a:t>
            </a:r>
          </a:p>
          <a:p>
            <a:pPr fontAlgn="base">
              <a:lnSpc>
                <a:spcPct val="100000"/>
              </a:lnSpc>
            </a:pPr>
            <a:endParaRPr lang="en-US" dirty="0"/>
          </a:p>
          <a:p>
            <a:pPr fontAlgn="base">
              <a:lnSpc>
                <a:spcPct val="100000"/>
              </a:lnSpc>
            </a:pPr>
            <a:r>
              <a:rPr lang="en-US" dirty="0"/>
              <a:t>Same for belowground part </a:t>
            </a:r>
          </a:p>
          <a:p>
            <a:pPr fontAlgn="base">
              <a:lnSpc>
                <a:spcPct val="100000"/>
              </a:lnSpc>
            </a:pPr>
            <a:endParaRPr lang="en-US" dirty="0"/>
          </a:p>
          <a:p>
            <a:pPr fontAlgn="base">
              <a:lnSpc>
                <a:spcPct val="100000"/>
              </a:lnSpc>
            </a:pPr>
            <a:r>
              <a:rPr lang="en-US" dirty="0"/>
              <a:t>Define new formalisms in STICS or in new FSPM</a:t>
            </a:r>
          </a:p>
          <a:p>
            <a:endParaRPr lang="en-US" dirty="0"/>
          </a:p>
        </p:txBody>
      </p:sp>
    </p:spTree>
    <p:extLst>
      <p:ext uri="{BB962C8B-B14F-4D97-AF65-F5344CB8AC3E}">
        <p14:creationId xmlns:p14="http://schemas.microsoft.com/office/powerpoint/2010/main" val="127918075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590A25-26E7-4257-9C7D-5A2DC8C57CC0}"/>
              </a:ext>
            </a:extLst>
          </p:cNvPr>
          <p:cNvSpPr>
            <a:spLocks noGrp="1"/>
          </p:cNvSpPr>
          <p:nvPr>
            <p:ph type="title"/>
          </p:nvPr>
        </p:nvSpPr>
        <p:spPr/>
        <p:txBody>
          <a:bodyPr/>
          <a:lstStyle/>
          <a:p>
            <a:r>
              <a:rPr lang="en-US" dirty="0" err="1"/>
              <a:t>Spatio</a:t>
            </a:r>
            <a:r>
              <a:rPr lang="en-US" dirty="0"/>
              <a:t>-temporal frame</a:t>
            </a:r>
          </a:p>
        </p:txBody>
      </p:sp>
      <p:sp>
        <p:nvSpPr>
          <p:cNvPr id="3" name="Content Placeholder 2">
            <a:extLst>
              <a:ext uri="{FF2B5EF4-FFF2-40B4-BE49-F238E27FC236}">
                <a16:creationId xmlns:a16="http://schemas.microsoft.com/office/drawing/2014/main" id="{ABAD6A78-B4E2-4FB5-AFB7-57D17892CCFC}"/>
              </a:ext>
            </a:extLst>
          </p:cNvPr>
          <p:cNvSpPr>
            <a:spLocks noGrp="1"/>
          </p:cNvSpPr>
          <p:nvPr>
            <p:ph idx="1"/>
          </p:nvPr>
        </p:nvSpPr>
        <p:spPr>
          <a:xfrm>
            <a:off x="838200" y="1825624"/>
            <a:ext cx="10747342" cy="4763711"/>
          </a:xfrm>
        </p:spPr>
        <p:txBody>
          <a:bodyPr>
            <a:normAutofit fontScale="70000" lnSpcReduction="20000"/>
          </a:bodyPr>
          <a:lstStyle/>
          <a:p>
            <a:pPr marL="0" indent="0">
              <a:buNone/>
            </a:pPr>
            <a:r>
              <a:rPr lang="en-US" dirty="0"/>
              <a:t>“Intercropping could be used to better </a:t>
            </a:r>
            <a:r>
              <a:rPr lang="en-US" dirty="0" err="1"/>
              <a:t>valorise</a:t>
            </a:r>
            <a:r>
              <a:rPr lang="en-US" dirty="0"/>
              <a:t> the use of available resources in space (in-field crop mixture) and in time (relay intercropping where two cash crops are grown partly in same time). The types of intercropping considered will be diverse, such as: </a:t>
            </a:r>
            <a:r>
              <a:rPr lang="en-US" dirty="0" err="1"/>
              <a:t>i</a:t>
            </a:r>
            <a:r>
              <a:rPr lang="en-US" dirty="0"/>
              <a:t>) mixed on the row intercropping (or alternate rows of bispecific intercrops); ii) strip intercropping (alternation of small-size strips of 2 to 4 meters); iii) relay intercropping (arable cash crop or cover crop under-sown in a previous leaving cash crop or inversely, without use of glyphosate); iv) companion species providing ES instead of chemical inputs sown at the same time as an arable cash crop (destroyed without herbicide).</a:t>
            </a:r>
          </a:p>
          <a:p>
            <a:pPr marL="0" indent="0">
              <a:buNone/>
            </a:pPr>
            <a:r>
              <a:rPr lang="en-US" dirty="0"/>
              <a:t>The growing season timescale will be used to </a:t>
            </a:r>
            <a:r>
              <a:rPr lang="en-US" dirty="0" err="1"/>
              <a:t>analyse</a:t>
            </a:r>
            <a:r>
              <a:rPr lang="en-US" dirty="0"/>
              <a:t> intercropping performance and environmental impacts determined by intercrop management. The annual timescale corresponding to the intercrop season and post-intercrop fallow period will allow </a:t>
            </a:r>
            <a:r>
              <a:rPr lang="en-US" dirty="0" err="1"/>
              <a:t>analysing</a:t>
            </a:r>
            <a:r>
              <a:rPr lang="en-US" dirty="0"/>
              <a:t> the impact of intercropping on N20 emissions and nitrate leaching, in order to include the effects of intercrop residues quality and management on environment and to determine the pre-crop effect for the next cash crop. The multi-year timescale will be used to </a:t>
            </a:r>
            <a:r>
              <a:rPr lang="en-US" dirty="0" err="1"/>
              <a:t>analyse</a:t>
            </a:r>
            <a:r>
              <a:rPr lang="en-US" dirty="0"/>
              <a:t> yield stability (climate variability), economic performance (profitability, socio-economic indicators) and ES provided at medium-term (soil health evolution and soil C sequestration) by intercropping within a cropping system (rotation for arable crops or period of 5 to 7 continuous years for perennials crops). As the timescale is not compatible with a 4-year project, </a:t>
            </a:r>
            <a:r>
              <a:rPr lang="en-US" dirty="0" err="1"/>
              <a:t>IntercropValuEs</a:t>
            </a:r>
            <a:r>
              <a:rPr lang="en-US" dirty="0"/>
              <a:t> will work with existing data acquired from finished or on-going cropping system experiments.”</a:t>
            </a:r>
          </a:p>
        </p:txBody>
      </p:sp>
    </p:spTree>
    <p:extLst>
      <p:ext uri="{BB962C8B-B14F-4D97-AF65-F5344CB8AC3E}">
        <p14:creationId xmlns:p14="http://schemas.microsoft.com/office/powerpoint/2010/main" val="173181088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32665</TotalTime>
  <Words>5270</Words>
  <Application>Microsoft Office PowerPoint</Application>
  <PresentationFormat>Widescreen</PresentationFormat>
  <Paragraphs>218</Paragraphs>
  <Slides>24</Slides>
  <Notes>1</Notes>
  <HiddenSlides>13</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24</vt:i4>
      </vt:variant>
    </vt:vector>
  </HeadingPairs>
  <TitlesOfParts>
    <vt:vector size="29" baseType="lpstr">
      <vt:lpstr>Arial</vt:lpstr>
      <vt:lpstr>Calibri</vt:lpstr>
      <vt:lpstr>Calibri Light</vt:lpstr>
      <vt:lpstr>Wingdings</vt:lpstr>
      <vt:lpstr>Office Theme</vt:lpstr>
      <vt:lpstr>Multiscale Hybrid Modelling Framework for Intercropping:  the best of Plant and Crop Models</vt:lpstr>
      <vt:lpstr>IntercropValuES concept</vt:lpstr>
      <vt:lpstr>On the relevance of integrating intercropping in our agricultural practices</vt:lpstr>
      <vt:lpstr>Synthesis of well-known knowledge on intercropping</vt:lpstr>
      <vt:lpstr>Context-specific mechanisms that underpin the benefits associated with intercropping</vt:lpstr>
      <vt:lpstr>Above- and below-ground species interactions and optimization of management (G*G*E*M)</vt:lpstr>
      <vt:lpstr>Using models for efficient changes of practices</vt:lpstr>
      <vt:lpstr>Modelling to understand the functioning of intercropping, evaluate performances and ecosystem services delivery and support the optimization of management practices</vt:lpstr>
      <vt:lpstr>Crop models VS. FSPMs</vt:lpstr>
      <vt:lpstr>Crop models vs. FSPMs : usual characteristics</vt:lpstr>
      <vt:lpstr>Examples of models for intercropping</vt:lpstr>
      <vt:lpstr>Existing models fail to model properly intercrops on a whole growing season</vt:lpstr>
      <vt:lpstr>STICS crop model is already well advanced (Vezy et al., 2023)</vt:lpstr>
      <vt:lpstr>But STICS needs to be improved even more (see milestone)</vt:lpstr>
      <vt:lpstr>Areas of improvement for (inter)crop models</vt:lpstr>
      <vt:lpstr>Better accounting for heterogeneity of intercrops in a crop model </vt:lpstr>
      <vt:lpstr>My PhD in a nutshell : Are crop model hypotheses valid for intercropping systems ?</vt:lpstr>
      <vt:lpstr>Tableau</vt:lpstr>
      <vt:lpstr>Initial timeline</vt:lpstr>
      <vt:lpstr>Modified timeline</vt:lpstr>
      <vt:lpstr>First step : Analyzing accuracy of formalisms of crop models (mainly from homogeous 1D hypotheses) when adding structural variability (for shoot and root) and spatial heterogeneity</vt:lpstr>
      <vt:lpstr>Spatializing STICS processes with FSPM and exploring structural variability (cf other ppt)</vt:lpstr>
      <vt:lpstr>Future steps</vt:lpstr>
      <vt:lpstr>Spatio-temporal frame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Oriane BRAUD</dc:creator>
  <cp:lastModifiedBy>Oriane BRAUD</cp:lastModifiedBy>
  <cp:revision>195</cp:revision>
  <dcterms:created xsi:type="dcterms:W3CDTF">2024-01-05T15:18:27Z</dcterms:created>
  <dcterms:modified xsi:type="dcterms:W3CDTF">2024-02-01T09:35:59Z</dcterms:modified>
</cp:coreProperties>
</file>