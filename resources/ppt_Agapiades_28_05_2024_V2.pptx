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notesMasterIdLst>
    <p:notesMasterId r:id="rId13"/>
  </p:notesMasterIdLst>
  <p:handoutMasterIdLst>
    <p:handoutMasterId r:id="rId14"/>
  </p:handoutMasterIdLst>
  <p:sldIdLst>
    <p:sldId id="261" r:id="rId2"/>
    <p:sldId id="259" r:id="rId3"/>
    <p:sldId id="263" r:id="rId4"/>
    <p:sldId id="265" r:id="rId5"/>
    <p:sldId id="267" r:id="rId6"/>
    <p:sldId id="266" r:id="rId7"/>
    <p:sldId id="275" r:id="rId8"/>
    <p:sldId id="274" r:id="rId9"/>
    <p:sldId id="264" r:id="rId10"/>
    <p:sldId id="277" r:id="rId11"/>
    <p:sldId id="276" r:id="rId12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icia Doucet" initials="PD" lastIdx="7" clrIdx="0"/>
  <p:cmAuthor id="2" name="Anne Perrin" initials="AP" lastIdx="3" clrIdx="1"/>
  <p:cmAuthor id="3" name="Béatrice LOUVET-BACLE" initials="BL" lastIdx="14" clrIdx="2">
    <p:extLst>
      <p:ext uri="{19B8F6BF-5375-455C-9EA6-DF929625EA0E}">
        <p15:presenceInfo xmlns:p15="http://schemas.microsoft.com/office/powerpoint/2012/main" userId="S-1-5-21-2742203558-2392815513-1150809894-1002" providerId="AD"/>
      </p:ext>
    </p:extLst>
  </p:cmAuthor>
  <p:cmAuthor id="4" name="Béatrice LOUVET-BACLE" initials="BL [2]" lastIdx="11" clrIdx="3">
    <p:extLst>
      <p:ext uri="{19B8F6BF-5375-455C-9EA6-DF929625EA0E}">
        <p15:presenceInfo xmlns:p15="http://schemas.microsoft.com/office/powerpoint/2012/main" userId="S-1-5-21-3741700089-3195966291-650177585-585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D19D"/>
    <a:srgbClr val="0CA536"/>
    <a:srgbClr val="000000"/>
    <a:srgbClr val="00451A"/>
    <a:srgbClr val="80A28C"/>
    <a:srgbClr val="DF5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6405" autoAdjust="0"/>
  </p:normalViewPr>
  <p:slideViewPr>
    <p:cSldViewPr snapToGrid="0" showGuides="1">
      <p:cViewPr varScale="1">
        <p:scale>
          <a:sx n="70" d="100"/>
          <a:sy n="70" d="100"/>
        </p:scale>
        <p:origin x="53" y="326"/>
      </p:cViewPr>
      <p:guideLst>
        <p:guide orient="horz" pos="2137"/>
        <p:guide pos="3863"/>
      </p:guideLst>
    </p:cSldViewPr>
  </p:slideViewPr>
  <p:outlineViewPr>
    <p:cViewPr>
      <p:scale>
        <a:sx n="33" d="100"/>
        <a:sy n="33" d="100"/>
      </p:scale>
      <p:origin x="0" y="-180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02"/>
    </p:cViewPr>
  </p:sorterViewPr>
  <p:notesViewPr>
    <p:cSldViewPr snapToGrid="0">
      <p:cViewPr varScale="1">
        <p:scale>
          <a:sx n="132" d="100"/>
          <a:sy n="132" d="100"/>
        </p:scale>
        <p:origin x="133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C018396-A0CA-ECDC-DEE9-0252740A7F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C12A31-F0C2-6A03-B5C7-623D23E8F0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1BBF3-AB93-4E18-A0E7-F987E2EF006B}" type="datetimeFigureOut">
              <a:rPr lang="fr-FR" smtClean="0"/>
              <a:t>24/05/2024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D20304-F4D3-FDD6-89AF-F6C5945246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E3CDA-666C-4E1A-9D77-C922F2160851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325FC1-019C-E319-A2FB-ED1B489C62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342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E0DBB7D-6866-2743-9322-21A38D7516EE}" type="datetimeFigureOut">
              <a:rPr lang="fr-FR"/>
              <a:t>24/05/2024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1B85902-0583-884B-B404-8C735AA99CA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Name, PhD co supervised, names, project, modelling intercrops, and we’re </a:t>
            </a:r>
            <a:r>
              <a:rPr lang="en-US" dirty="0" err="1"/>
              <a:t>gonna</a:t>
            </a:r>
            <a:r>
              <a:rPr lang="en-US" dirty="0"/>
              <a:t> see that the choice of an adapted model can be limited by its hypotheses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B85902-0583-884B-B404-8C735AA99CA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063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B85902-0583-884B-B404-8C735AA99CA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678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assumptions </a:t>
            </a:r>
            <a:r>
              <a:rPr lang="en-US" dirty="0">
                <a:sym typeface="Wingdings" panose="05000000000000000000" pitchFamily="2" charset="2"/>
              </a:rPr>
              <a:t> different formalisms for plant processes  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B85902-0583-884B-B404-8C735AA99CA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10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2157984"/>
            <a:ext cx="8124000" cy="4752978"/>
          </a:xfrm>
          <a:prstGeom prst="rect">
            <a:avLst/>
          </a:prstGeom>
          <a:solidFill>
            <a:srgbClr val="06292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10" name="Image 2"/>
          <p:cNvPicPr>
            <a:picLocks noChangeAspect="1" noChangeArrowheads="1"/>
          </p:cNvPicPr>
          <p:nvPr userDrawn="1"/>
        </p:nvPicPr>
        <p:blipFill>
          <a:blip r:embed="rId2"/>
          <a:stretch/>
        </p:blipFill>
        <p:spPr bwMode="auto">
          <a:xfrm>
            <a:off x="209148" y="121608"/>
            <a:ext cx="1940621" cy="1440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5219571" y="38940"/>
            <a:ext cx="2844220" cy="1625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 userDrawn="1"/>
        </p:nvPicPr>
        <p:blipFill>
          <a:blip r:embed="rId4">
            <a:alphaModFix amt="20000"/>
          </a:blip>
          <a:stretch/>
        </p:blipFill>
        <p:spPr bwMode="auto">
          <a:xfrm flipH="1">
            <a:off x="0" y="4391990"/>
            <a:ext cx="8124000" cy="3601435"/>
          </a:xfrm>
          <a:prstGeom prst="rect">
            <a:avLst/>
          </a:prstGeom>
        </p:spPr>
      </p:pic>
      <p:sp>
        <p:nvSpPr>
          <p:cNvPr id="3" name="ZoneTexte 2"/>
          <p:cNvSpPr txBox="1"/>
          <p:nvPr userDrawn="1"/>
        </p:nvSpPr>
        <p:spPr bwMode="auto">
          <a:xfrm>
            <a:off x="221336" y="2545371"/>
            <a:ext cx="7902664" cy="2565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600"/>
              </a:lnSpc>
              <a:defRPr/>
            </a:pPr>
            <a: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  <a:t>Innovons ensemble </a:t>
            </a:r>
            <a:b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  <a:t>pour les agricultures </a:t>
            </a:r>
            <a:b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  <a:t>de demain</a:t>
            </a:r>
            <a:endParaRPr dirty="0"/>
          </a:p>
        </p:txBody>
      </p:sp>
      <p:sp>
        <p:nvSpPr>
          <p:cNvPr id="5" name="Espace réservé pour une image  8">
            <a:extLst>
              <a:ext uri="{FF2B5EF4-FFF2-40B4-BE49-F238E27FC236}">
                <a16:creationId xmlns:a16="http://schemas.microsoft.com/office/drawing/2014/main" id="{B92F5D4A-94DF-F376-4ACC-ABB754F492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8124000" y="0"/>
            <a:ext cx="4068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773158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Diapositive_de_fin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-1540"/>
            <a:ext cx="8124000" cy="433647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3302B40-8D94-7941-4EEF-FC75350533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90118" y="4462750"/>
            <a:ext cx="6205279" cy="2395250"/>
          </a:xfrm>
          <a:prstGeom prst="rect">
            <a:avLst/>
          </a:prstGeom>
        </p:spPr>
      </p:pic>
      <p:sp>
        <p:nvSpPr>
          <p:cNvPr id="2" name="Espace réservé pour une image  8">
            <a:extLst>
              <a:ext uri="{FF2B5EF4-FFF2-40B4-BE49-F238E27FC236}">
                <a16:creationId xmlns:a16="http://schemas.microsoft.com/office/drawing/2014/main" id="{F4D66DA6-5AF4-3099-3DDB-A4A1C3E05B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8124000" y="0"/>
            <a:ext cx="4068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2E49E4A-896F-6374-9403-CAC01E795201}"/>
              </a:ext>
            </a:extLst>
          </p:cNvPr>
          <p:cNvSpPr txBox="1"/>
          <p:nvPr userDrawn="1"/>
        </p:nvSpPr>
        <p:spPr bwMode="auto">
          <a:xfrm>
            <a:off x="221336" y="883780"/>
            <a:ext cx="7902664" cy="2565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600"/>
              </a:lnSpc>
              <a:defRPr/>
            </a:pPr>
            <a: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  <a:t>Innovons ensemble </a:t>
            </a:r>
            <a:b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  <a:t>pour les agricultures </a:t>
            </a:r>
            <a:b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fr-FR" sz="5000" b="0" i="0" dirty="0">
                <a:solidFill>
                  <a:schemeClr val="bg1"/>
                </a:solidFill>
                <a:latin typeface="Arial"/>
                <a:cs typeface="Arial"/>
              </a:rPr>
              <a:t>de demain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9363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Intercalai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/>
        </p:blipFill>
        <p:spPr bwMode="auto">
          <a:xfrm flipH="1">
            <a:off x="0" y="3809532"/>
            <a:ext cx="8186738" cy="3601435"/>
          </a:xfrm>
          <a:prstGeom prst="rect">
            <a:avLst/>
          </a:prstGeom>
        </p:spPr>
      </p:pic>
      <p:sp>
        <p:nvSpPr>
          <p:cNvPr id="5" name="Sous-titre 2">
            <a:extLst>
              <a:ext uri="{FF2B5EF4-FFF2-40B4-BE49-F238E27FC236}">
                <a16:creationId xmlns:a16="http://schemas.microsoft.com/office/drawing/2014/main" id="{C0070D0D-5F17-FEE1-32DB-4A8EEBA10DD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4505074" y="4376370"/>
            <a:ext cx="7363327" cy="45551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dirty="0"/>
          </a:p>
        </p:txBody>
      </p:sp>
      <p:sp>
        <p:nvSpPr>
          <p:cNvPr id="6" name="Espace réservé pour une image  8">
            <a:extLst>
              <a:ext uri="{FF2B5EF4-FFF2-40B4-BE49-F238E27FC236}">
                <a16:creationId xmlns:a16="http://schemas.microsoft.com/office/drawing/2014/main" id="{5301A025-D3B7-064F-C78B-F9F53AB314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068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FB4735C-B712-F1D9-3163-07A74A4349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998"/>
          <a:stretch/>
        </p:blipFill>
        <p:spPr bwMode="auto">
          <a:xfrm>
            <a:off x="10612371" y="6239481"/>
            <a:ext cx="1122429" cy="3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66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 colonne 1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367744" y="1654233"/>
            <a:ext cx="7354780" cy="4535429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/>
            </a:lvl1pPr>
            <a:lvl2pPr>
              <a:buClr>
                <a:schemeClr val="accent1"/>
              </a:buClr>
              <a:defRPr b="0"/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9" name="Espace réservé pour une image  8"/>
          <p:cNvSpPr>
            <a:spLocks noGrp="1"/>
          </p:cNvSpPr>
          <p:nvPr>
            <p:ph type="pic" sz="quarter" idx="10"/>
          </p:nvPr>
        </p:nvSpPr>
        <p:spPr bwMode="auto">
          <a:xfrm>
            <a:off x="8124000" y="0"/>
            <a:ext cx="4068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FE2C21-FC68-F010-80B9-D3E567C9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5" y="354288"/>
            <a:ext cx="7354780" cy="94512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7B096DA-BDF9-72E0-FA8C-64BA223A6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60390" y="6378639"/>
            <a:ext cx="859730" cy="2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2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 colonne 1imag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/>
          <p:cNvSpPr>
            <a:spLocks noGrp="1"/>
          </p:cNvSpPr>
          <p:nvPr>
            <p:ph type="pic" sz="quarter" idx="10"/>
          </p:nvPr>
        </p:nvSpPr>
        <p:spPr bwMode="auto">
          <a:xfrm>
            <a:off x="8124000" y="0"/>
            <a:ext cx="4068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FE2C21-FC68-F010-80B9-D3E567C9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5" y="354288"/>
            <a:ext cx="7354780" cy="9451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EC8DBF89-2045-294B-93B2-2649C1F5F774}"/>
              </a:ext>
            </a:extLst>
          </p:cNvPr>
          <p:cNvSpPr>
            <a:spLocks noGrp="1"/>
          </p:cNvSpPr>
          <p:nvPr>
            <p:ph sz="half" idx="2"/>
          </p:nvPr>
        </p:nvSpPr>
        <p:spPr bwMode="auto">
          <a:xfrm>
            <a:off x="367744" y="1654233"/>
            <a:ext cx="7354780" cy="4535429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2CB44D3-45A6-0F90-FA2B-D9893DDCD8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998"/>
          <a:stretch/>
        </p:blipFill>
        <p:spPr bwMode="auto">
          <a:xfrm>
            <a:off x="10612371" y="6239481"/>
            <a:ext cx="1122429" cy="3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2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colonne 1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2D8B21B7-5FD7-46D4-F20E-832F31A717F5}"/>
              </a:ext>
            </a:extLst>
          </p:cNvPr>
          <p:cNvSpPr>
            <a:spLocks noGrp="1"/>
          </p:cNvSpPr>
          <p:nvPr>
            <p:ph sz="half" idx="11"/>
          </p:nvPr>
        </p:nvSpPr>
        <p:spPr bwMode="auto">
          <a:xfrm>
            <a:off x="623888" y="1825626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/>
            </a:lvl1pPr>
            <a:lvl2pPr>
              <a:buClr>
                <a:schemeClr val="accent1"/>
              </a:buClr>
              <a:defRPr b="0"/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18FDF45D-7FE6-32C7-CAF6-95609EC5B71D}"/>
              </a:ext>
            </a:extLst>
          </p:cNvPr>
          <p:cNvSpPr>
            <a:spLocks noGrp="1"/>
          </p:cNvSpPr>
          <p:nvPr>
            <p:ph sz="half" idx="12"/>
          </p:nvPr>
        </p:nvSpPr>
        <p:spPr bwMode="auto">
          <a:xfrm>
            <a:off x="4403725" y="1825625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/>
            </a:lvl1pPr>
            <a:lvl2pPr>
              <a:buClr>
                <a:schemeClr val="accent1"/>
              </a:buClr>
              <a:defRPr b="0"/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9" name="Espace réservé pour une image  8"/>
          <p:cNvSpPr>
            <a:spLocks noGrp="1"/>
          </p:cNvSpPr>
          <p:nvPr>
            <p:ph type="pic" sz="quarter" idx="10"/>
          </p:nvPr>
        </p:nvSpPr>
        <p:spPr bwMode="auto">
          <a:xfrm>
            <a:off x="8124000" y="0"/>
            <a:ext cx="4068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FE2C21-FC68-F010-80B9-D3E567C9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5" y="354288"/>
            <a:ext cx="7354780" cy="94512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B0EA364-4C90-F6F7-6930-2D1A7FA96B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60390" y="6378639"/>
            <a:ext cx="859730" cy="2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4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colonne 1 imag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/>
          <p:cNvSpPr>
            <a:spLocks noGrp="1"/>
          </p:cNvSpPr>
          <p:nvPr>
            <p:ph type="pic" sz="quarter" idx="10"/>
          </p:nvPr>
        </p:nvSpPr>
        <p:spPr bwMode="auto">
          <a:xfrm>
            <a:off x="8124000" y="0"/>
            <a:ext cx="4068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FE2C21-FC68-F010-80B9-D3E567C9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5" y="354288"/>
            <a:ext cx="7354780" cy="9451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EA95EA3-2CA2-ADF8-65E3-4E9C263FC8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/>
        </p:blipFill>
        <p:spPr bwMode="auto">
          <a:xfrm flipH="1">
            <a:off x="-229233" y="3922860"/>
            <a:ext cx="8186738" cy="3601435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00C79F-3F0E-0A64-FB41-655E76EF41C1}"/>
              </a:ext>
            </a:extLst>
          </p:cNvPr>
          <p:cNvSpPr>
            <a:spLocks noGrp="1"/>
          </p:cNvSpPr>
          <p:nvPr>
            <p:ph sz="half" idx="11"/>
          </p:nvPr>
        </p:nvSpPr>
        <p:spPr bwMode="auto">
          <a:xfrm>
            <a:off x="623888" y="1825626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b="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FEBA649B-77AB-F0C2-88F9-BDD2EF8AEBE2}"/>
              </a:ext>
            </a:extLst>
          </p:cNvPr>
          <p:cNvSpPr>
            <a:spLocks noGrp="1"/>
          </p:cNvSpPr>
          <p:nvPr>
            <p:ph sz="half" idx="12"/>
          </p:nvPr>
        </p:nvSpPr>
        <p:spPr bwMode="auto">
          <a:xfrm>
            <a:off x="4403725" y="1825625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b="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37C877-04BE-1908-DE3E-E34BDB5031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998"/>
          <a:stretch/>
        </p:blipFill>
        <p:spPr bwMode="auto">
          <a:xfrm>
            <a:off x="10612371" y="6239481"/>
            <a:ext cx="1122429" cy="3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3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rois colonnes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321AB212-A7AD-F4FE-22E2-0F667CA6B50B}"/>
              </a:ext>
            </a:extLst>
          </p:cNvPr>
          <p:cNvSpPr>
            <a:spLocks noGrp="1"/>
          </p:cNvSpPr>
          <p:nvPr>
            <p:ph sz="half" idx="11"/>
          </p:nvPr>
        </p:nvSpPr>
        <p:spPr bwMode="auto">
          <a:xfrm>
            <a:off x="623888" y="1825626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/>
            </a:lvl1pPr>
            <a:lvl2pPr>
              <a:buClr>
                <a:schemeClr val="accent1"/>
              </a:buClr>
              <a:defRPr b="0"/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92D116-910E-D359-C99D-B44ACFCD0F85}"/>
              </a:ext>
            </a:extLst>
          </p:cNvPr>
          <p:cNvSpPr>
            <a:spLocks noGrp="1"/>
          </p:cNvSpPr>
          <p:nvPr>
            <p:ph sz="half" idx="12"/>
          </p:nvPr>
        </p:nvSpPr>
        <p:spPr bwMode="auto">
          <a:xfrm>
            <a:off x="4403725" y="1825625"/>
            <a:ext cx="338455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/>
            </a:lvl1pPr>
            <a:lvl2pPr>
              <a:buClr>
                <a:schemeClr val="accent1"/>
              </a:buClr>
              <a:defRPr b="0"/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A37AB2C2-CA91-8C3B-B332-DB91438C1698}"/>
              </a:ext>
            </a:extLst>
          </p:cNvPr>
          <p:cNvSpPr>
            <a:spLocks noGrp="1"/>
          </p:cNvSpPr>
          <p:nvPr>
            <p:ph sz="half" idx="13"/>
          </p:nvPr>
        </p:nvSpPr>
        <p:spPr bwMode="auto">
          <a:xfrm>
            <a:off x="8075612" y="1825625"/>
            <a:ext cx="3456994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/>
            </a:lvl1pPr>
            <a:lvl2pPr>
              <a:buClr>
                <a:schemeClr val="accent1"/>
              </a:buClr>
              <a:defRPr b="0"/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D6ED0DF-E695-15BA-3F15-C07C8288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8945ED8-C752-19B9-3F46-1E54C46F6B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60390" y="6378639"/>
            <a:ext cx="859730" cy="2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5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rois colonnes 2">
    <p:bg>
      <p:bgPr>
        <a:solidFill>
          <a:srgbClr val="06292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8BBEF02-C3F4-0D75-D088-8FF57D11E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718A6D1B-622A-5D5A-BE03-3C9DFE86EDE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67745" y="218768"/>
            <a:ext cx="58949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550CBDF5-43CD-EBF1-6F2E-B7CA341A24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/>
        </p:blipFill>
        <p:spPr bwMode="auto">
          <a:xfrm flipH="1">
            <a:off x="-229233" y="3922860"/>
            <a:ext cx="8186738" cy="3601435"/>
          </a:xfrm>
          <a:prstGeom prst="rect">
            <a:avLst/>
          </a:prstGeom>
        </p:spPr>
      </p:pic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B07369EC-E037-7EBF-3469-F718C12508C9}"/>
              </a:ext>
            </a:extLst>
          </p:cNvPr>
          <p:cNvSpPr>
            <a:spLocks noGrp="1"/>
          </p:cNvSpPr>
          <p:nvPr>
            <p:ph sz="half" idx="11"/>
          </p:nvPr>
        </p:nvSpPr>
        <p:spPr bwMode="auto">
          <a:xfrm>
            <a:off x="623888" y="1825626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b="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6FCE7D85-A8E4-368C-753C-7BD59BEF4CD9}"/>
              </a:ext>
            </a:extLst>
          </p:cNvPr>
          <p:cNvSpPr>
            <a:spLocks noGrp="1"/>
          </p:cNvSpPr>
          <p:nvPr>
            <p:ph sz="half" idx="12"/>
          </p:nvPr>
        </p:nvSpPr>
        <p:spPr bwMode="auto">
          <a:xfrm>
            <a:off x="4403725" y="1825625"/>
            <a:ext cx="338455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b="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sp>
        <p:nvSpPr>
          <p:cNvPr id="10" name="Espace réservé du contenu 3">
            <a:extLst>
              <a:ext uri="{FF2B5EF4-FFF2-40B4-BE49-F238E27FC236}">
                <a16:creationId xmlns:a16="http://schemas.microsoft.com/office/drawing/2014/main" id="{378B46B0-970C-5543-989F-91923B58081A}"/>
              </a:ext>
            </a:extLst>
          </p:cNvPr>
          <p:cNvSpPr>
            <a:spLocks noGrp="1"/>
          </p:cNvSpPr>
          <p:nvPr>
            <p:ph sz="half" idx="13"/>
          </p:nvPr>
        </p:nvSpPr>
        <p:spPr bwMode="auto">
          <a:xfrm>
            <a:off x="8075612" y="1825625"/>
            <a:ext cx="3456994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b="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327D55D-408C-9309-3311-2B3C0E6550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998"/>
          <a:stretch/>
        </p:blipFill>
        <p:spPr bwMode="auto">
          <a:xfrm>
            <a:off x="10612371" y="6239481"/>
            <a:ext cx="1122429" cy="3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9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Grande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E2C21-FC68-F010-80B9-D3E567C9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5" y="354288"/>
            <a:ext cx="7354780" cy="9451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F5D4E86C-092C-EAA1-1707-D0ED15B92C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4062000" y="0"/>
            <a:ext cx="8130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D26BC1DB-A38B-1864-DE0F-A51D6DF08B61}"/>
              </a:ext>
            </a:extLst>
          </p:cNvPr>
          <p:cNvSpPr>
            <a:spLocks noGrp="1"/>
          </p:cNvSpPr>
          <p:nvPr>
            <p:ph sz="half" idx="12"/>
          </p:nvPr>
        </p:nvSpPr>
        <p:spPr bwMode="auto">
          <a:xfrm>
            <a:off x="367745" y="1725873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/>
            </a:lvl1pPr>
            <a:lvl2pPr>
              <a:buClr>
                <a:schemeClr val="accent1"/>
              </a:buClr>
              <a:defRPr b="0"/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D635D7F-356A-E54D-4E2F-929EFF78DB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51246" y="6378639"/>
            <a:ext cx="859730" cy="2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9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Grande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E2C21-FC68-F010-80B9-D3E567C9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5" y="354288"/>
            <a:ext cx="7354780" cy="9451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F5D4E86C-092C-EAA1-1707-D0ED15B92C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4062000" y="0"/>
            <a:ext cx="8130000" cy="685800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549F30-49DB-7491-FF7F-CC64D6055C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/>
        </p:blipFill>
        <p:spPr bwMode="auto">
          <a:xfrm flipH="1">
            <a:off x="-229233" y="3922860"/>
            <a:ext cx="8186738" cy="3601435"/>
          </a:xfrm>
          <a:prstGeom prst="rect">
            <a:avLst/>
          </a:prstGeom>
        </p:spPr>
      </p:pic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3DB43779-BA52-8609-FE7D-436C97620BF6}"/>
              </a:ext>
            </a:extLst>
          </p:cNvPr>
          <p:cNvSpPr>
            <a:spLocks noGrp="1"/>
          </p:cNvSpPr>
          <p:nvPr>
            <p:ph sz="half" idx="12"/>
          </p:nvPr>
        </p:nvSpPr>
        <p:spPr bwMode="auto">
          <a:xfrm>
            <a:off x="371636" y="1830327"/>
            <a:ext cx="3492500" cy="3893250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b="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b="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 b="0">
                <a:solidFill>
                  <a:schemeClr val="accent4"/>
                </a:solidFill>
              </a:defRPr>
            </a:lvl3pPr>
            <a:lvl4pPr>
              <a:buClr>
                <a:schemeClr val="accent1"/>
              </a:buClr>
              <a:defRPr b="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500" b="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46B7826-C60C-7AEE-C844-45A406F11D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998"/>
          <a:stretch/>
        </p:blipFill>
        <p:spPr bwMode="auto">
          <a:xfrm>
            <a:off x="10612371" y="6239481"/>
            <a:ext cx="1122429" cy="3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10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re seul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D06FA605-B793-12B2-4E7C-1C7FD6B9D5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7745" y="354288"/>
            <a:ext cx="7354780" cy="94512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A04BB2D-2404-34EF-E185-7C1CF60C5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60390" y="6378639"/>
            <a:ext cx="859730" cy="2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76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re seu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/>
        </p:blipFill>
        <p:spPr bwMode="auto">
          <a:xfrm flipH="1">
            <a:off x="-229233" y="3922860"/>
            <a:ext cx="8186738" cy="360143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9BC991D0-D6FC-7C34-545C-D664AF5660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7745" y="354288"/>
            <a:ext cx="7354780" cy="94512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FBB907E-9414-1303-ED0E-6206F75429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998"/>
          <a:stretch/>
        </p:blipFill>
        <p:spPr bwMode="auto">
          <a:xfrm>
            <a:off x="10612371" y="6239481"/>
            <a:ext cx="1122429" cy="3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76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 pho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D06FA605-B793-12B2-4E7C-1C7FD6B9D5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7745" y="354288"/>
            <a:ext cx="7354780" cy="94512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8">
            <a:extLst>
              <a:ext uri="{FF2B5EF4-FFF2-40B4-BE49-F238E27FC236}">
                <a16:creationId xmlns:a16="http://schemas.microsoft.com/office/drawing/2014/main" id="{B3104991-367A-2980-E7B4-7A388467E3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367745" y="3865419"/>
            <a:ext cx="4416827" cy="252984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1" name="Espace réservé pour une image  8">
            <a:extLst>
              <a:ext uri="{FF2B5EF4-FFF2-40B4-BE49-F238E27FC236}">
                <a16:creationId xmlns:a16="http://schemas.microsoft.com/office/drawing/2014/main" id="{D2BC12CC-AC9A-AF94-3041-D2264C32DE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5132847" y="3865419"/>
            <a:ext cx="4416827" cy="252984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12" name="Espace réservé pour une image  8">
            <a:extLst>
              <a:ext uri="{FF2B5EF4-FFF2-40B4-BE49-F238E27FC236}">
                <a16:creationId xmlns:a16="http://schemas.microsoft.com/office/drawing/2014/main" id="{847929FB-C750-F346-E50A-1F4ED89F99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367745" y="1095895"/>
            <a:ext cx="4416827" cy="252984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13" name="Espace réservé pour une image  8">
            <a:extLst>
              <a:ext uri="{FF2B5EF4-FFF2-40B4-BE49-F238E27FC236}">
                <a16:creationId xmlns:a16="http://schemas.microsoft.com/office/drawing/2014/main" id="{95A96E6F-91D2-D546-2E4E-AB3C905224D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auto">
          <a:xfrm>
            <a:off x="5132847" y="1095895"/>
            <a:ext cx="4416827" cy="2529840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6EE760-68D5-E774-3778-472EAEB830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60390" y="6378639"/>
            <a:ext cx="859730" cy="2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06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pho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D06FA605-B793-12B2-4E7C-1C7FD6B9D5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7745" y="354288"/>
            <a:ext cx="7354780" cy="94512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8">
            <a:extLst>
              <a:ext uri="{FF2B5EF4-FFF2-40B4-BE49-F238E27FC236}">
                <a16:creationId xmlns:a16="http://schemas.microsoft.com/office/drawing/2014/main" id="{F33D162C-9FC4-A9C1-352D-66621FF7FA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367745" y="1700972"/>
            <a:ext cx="7165716" cy="4569633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54E7453F-59A3-3E8D-71DB-38B198F424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auto">
          <a:xfrm>
            <a:off x="7850100" y="1700973"/>
            <a:ext cx="3492500" cy="2139546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10" name="Espace réservé pour une image  8">
            <a:extLst>
              <a:ext uri="{FF2B5EF4-FFF2-40B4-BE49-F238E27FC236}">
                <a16:creationId xmlns:a16="http://schemas.microsoft.com/office/drawing/2014/main" id="{7CCEC9AF-7D53-7BA2-A343-84D2D23325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auto">
          <a:xfrm>
            <a:off x="7870505" y="4131060"/>
            <a:ext cx="3492500" cy="2139546"/>
          </a:xfrm>
        </p:spPr>
        <p:txBody>
          <a:bodyPr/>
          <a:lstStyle/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508C275-42E2-BCF9-0122-F9AD064AF8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760390" y="6378639"/>
            <a:ext cx="859730" cy="2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80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iff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/>
        </p:blipFill>
        <p:spPr bwMode="auto">
          <a:xfrm flipH="1">
            <a:off x="-229233" y="3922860"/>
            <a:ext cx="8186738" cy="360143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9BC991D0-D6FC-7C34-545C-D664AF5660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7745" y="354288"/>
            <a:ext cx="7354780" cy="94512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C61E6B-2CE1-B2FB-8889-5921B3FE0234}"/>
              </a:ext>
            </a:extLst>
          </p:cNvPr>
          <p:cNvSpPr>
            <a:spLocks noGrp="1"/>
          </p:cNvSpPr>
          <p:nvPr>
            <p:ph sz="half" idx="1"/>
          </p:nvPr>
        </p:nvSpPr>
        <p:spPr bwMode="auto">
          <a:xfrm>
            <a:off x="623888" y="1601182"/>
            <a:ext cx="3492500" cy="1241771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5400" b="1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CAA242D9-6BBF-EC64-6EA2-2C3298CE7F0A}"/>
              </a:ext>
            </a:extLst>
          </p:cNvPr>
          <p:cNvSpPr>
            <a:spLocks noGrp="1"/>
          </p:cNvSpPr>
          <p:nvPr>
            <p:ph sz="half" idx="2"/>
          </p:nvPr>
        </p:nvSpPr>
        <p:spPr bwMode="auto">
          <a:xfrm>
            <a:off x="4403725" y="1601182"/>
            <a:ext cx="3384550" cy="1241771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5400" b="1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561035AB-CF58-257D-D61A-342BAFF20C01}"/>
              </a:ext>
            </a:extLst>
          </p:cNvPr>
          <p:cNvSpPr>
            <a:spLocks noGrp="1"/>
          </p:cNvSpPr>
          <p:nvPr>
            <p:ph sz="half" idx="10"/>
          </p:nvPr>
        </p:nvSpPr>
        <p:spPr bwMode="auto">
          <a:xfrm>
            <a:off x="8076192" y="1601182"/>
            <a:ext cx="3456995" cy="1241771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5400" b="1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0309B38-A4EF-F2E9-F1F7-A192D8A665E5}"/>
              </a:ext>
            </a:extLst>
          </p:cNvPr>
          <p:cNvSpPr>
            <a:spLocks noGrp="1"/>
          </p:cNvSpPr>
          <p:nvPr>
            <p:ph sz="half" idx="11"/>
          </p:nvPr>
        </p:nvSpPr>
        <p:spPr bwMode="auto">
          <a:xfrm>
            <a:off x="623888" y="3050772"/>
            <a:ext cx="3492500" cy="647645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4300B2EC-109D-274D-1580-DB26AC174FE9}"/>
              </a:ext>
            </a:extLst>
          </p:cNvPr>
          <p:cNvSpPr>
            <a:spLocks noGrp="1"/>
          </p:cNvSpPr>
          <p:nvPr>
            <p:ph sz="half" idx="12"/>
          </p:nvPr>
        </p:nvSpPr>
        <p:spPr bwMode="auto">
          <a:xfrm>
            <a:off x="4403725" y="3050772"/>
            <a:ext cx="3384550" cy="647645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3">
            <a:extLst>
              <a:ext uri="{FF2B5EF4-FFF2-40B4-BE49-F238E27FC236}">
                <a16:creationId xmlns:a16="http://schemas.microsoft.com/office/drawing/2014/main" id="{FCC9A14D-D390-A9C2-1A1F-28DD1F39C4C1}"/>
              </a:ext>
            </a:extLst>
          </p:cNvPr>
          <p:cNvSpPr>
            <a:spLocks noGrp="1"/>
          </p:cNvSpPr>
          <p:nvPr>
            <p:ph sz="half" idx="13"/>
          </p:nvPr>
        </p:nvSpPr>
        <p:spPr bwMode="auto">
          <a:xfrm>
            <a:off x="8076192" y="3050772"/>
            <a:ext cx="3456995" cy="647645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F194DB90-E510-870C-CC7A-7B7C01DDEE60}"/>
              </a:ext>
            </a:extLst>
          </p:cNvPr>
          <p:cNvSpPr>
            <a:spLocks noGrp="1"/>
          </p:cNvSpPr>
          <p:nvPr>
            <p:ph sz="half" idx="14"/>
          </p:nvPr>
        </p:nvSpPr>
        <p:spPr bwMode="auto">
          <a:xfrm>
            <a:off x="623888" y="3932995"/>
            <a:ext cx="3492500" cy="1241771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5400" b="1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D2EDCAD6-6895-6888-0D59-7CDE00CEF622}"/>
              </a:ext>
            </a:extLst>
          </p:cNvPr>
          <p:cNvSpPr>
            <a:spLocks noGrp="1"/>
          </p:cNvSpPr>
          <p:nvPr>
            <p:ph sz="half" idx="15"/>
          </p:nvPr>
        </p:nvSpPr>
        <p:spPr bwMode="auto">
          <a:xfrm>
            <a:off x="4403725" y="3932995"/>
            <a:ext cx="3384550" cy="1241771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5400" b="1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57E5DA0B-BB04-8077-A1A8-B6A9D6854E1B}"/>
              </a:ext>
            </a:extLst>
          </p:cNvPr>
          <p:cNvSpPr>
            <a:spLocks noGrp="1"/>
          </p:cNvSpPr>
          <p:nvPr>
            <p:ph sz="half" idx="16"/>
          </p:nvPr>
        </p:nvSpPr>
        <p:spPr bwMode="auto">
          <a:xfrm>
            <a:off x="8076192" y="3932995"/>
            <a:ext cx="3456995" cy="1241771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5400" b="1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CD2E5A45-F138-9AE4-1AC1-BCB9F3EDED0F}"/>
              </a:ext>
            </a:extLst>
          </p:cNvPr>
          <p:cNvSpPr>
            <a:spLocks noGrp="1"/>
          </p:cNvSpPr>
          <p:nvPr>
            <p:ph sz="half" idx="17"/>
          </p:nvPr>
        </p:nvSpPr>
        <p:spPr bwMode="auto">
          <a:xfrm>
            <a:off x="623888" y="5382585"/>
            <a:ext cx="3492500" cy="647645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51862CC6-30D5-A9AD-849C-FAF869A4F677}"/>
              </a:ext>
            </a:extLst>
          </p:cNvPr>
          <p:cNvSpPr>
            <a:spLocks noGrp="1"/>
          </p:cNvSpPr>
          <p:nvPr>
            <p:ph sz="half" idx="18"/>
          </p:nvPr>
        </p:nvSpPr>
        <p:spPr bwMode="auto">
          <a:xfrm>
            <a:off x="4403725" y="5382585"/>
            <a:ext cx="3384550" cy="647645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5ED7F8B0-3F2B-0873-9885-0AE08BC07996}"/>
              </a:ext>
            </a:extLst>
          </p:cNvPr>
          <p:cNvSpPr>
            <a:spLocks noGrp="1"/>
          </p:cNvSpPr>
          <p:nvPr>
            <p:ph sz="half" idx="19"/>
          </p:nvPr>
        </p:nvSpPr>
        <p:spPr bwMode="auto">
          <a:xfrm>
            <a:off x="8076192" y="5382585"/>
            <a:ext cx="3456995" cy="647645"/>
          </a:xfrm>
        </p:spPr>
        <p:txBody>
          <a:bodyPr anchor="ctr">
            <a:noAutofit/>
          </a:bodyPr>
          <a:lstStyle>
            <a:lvl1pPr marL="0" indent="0" algn="ctr">
              <a:buClr>
                <a:schemeClr val="accent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0383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DEF6-EEEE-42DB-A983-EC26BC2D9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6DDB2-01C0-4B31-ABC2-234D25334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BD29D-3274-4FE1-9525-C65EA002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D015-D3FB-4532-BE98-B0FE8C7F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E71A8-B159-4C7E-AEC1-51D222DD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44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1FB5-D5A9-4DA9-B086-BE3C248A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D70FC-EB24-4ABD-B119-B13E779BF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CDF9A-90D0-40C4-81DB-FD5CBC9D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F7EEF-F161-4A01-A63E-8A874E9D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20876-2080-4BB1-9194-171C9063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3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67744" y="354288"/>
            <a:ext cx="10841593" cy="9451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defRPr/>
            </a:pPr>
            <a:r>
              <a:rPr lang="fr-FR" dirty="0"/>
              <a:t>Modifiez le style du titre</a:t>
            </a:r>
            <a:endParaRPr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5938" y="2788081"/>
            <a:ext cx="10693400" cy="371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 dirty="0"/>
              <a:t>Cliquez pour modifier les styles du texte du masque</a:t>
            </a:r>
          </a:p>
          <a:p>
            <a:pPr lvl="1">
              <a:defRPr/>
            </a:pPr>
            <a:r>
              <a:rPr lang="fr-FR" dirty="0"/>
              <a:t>Deuxième niveau</a:t>
            </a:r>
          </a:p>
          <a:p>
            <a:pPr lvl="2">
              <a:defRPr/>
            </a:pPr>
            <a:r>
              <a:rPr lang="fr-FR" dirty="0"/>
              <a:t>Troisième niveau</a:t>
            </a:r>
          </a:p>
          <a:p>
            <a:pPr lvl="3">
              <a:defRPr/>
            </a:pPr>
            <a:r>
              <a:rPr lang="fr-FR" dirty="0"/>
              <a:t>Quatrième niveau</a:t>
            </a:r>
          </a:p>
          <a:p>
            <a:pPr lvl="4">
              <a:defRPr/>
            </a:pPr>
            <a:r>
              <a:rPr lang="fr-FR" dirty="0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1175474-1D45-82BC-5A8D-7158103C177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67745" y="218768"/>
            <a:ext cx="589497" cy="0"/>
          </a:xfrm>
          <a:prstGeom prst="line">
            <a:avLst/>
          </a:prstGeom>
          <a:ln w="38100">
            <a:solidFill>
              <a:schemeClr val="accent6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0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60" r:id="rId2"/>
    <p:sldLayoutId id="2147483756" r:id="rId3"/>
    <p:sldLayoutId id="2147483750" r:id="rId4"/>
    <p:sldLayoutId id="2147483762" r:id="rId5"/>
    <p:sldLayoutId id="2147483763" r:id="rId6"/>
    <p:sldLayoutId id="2147483764" r:id="rId7"/>
    <p:sldLayoutId id="2147483751" r:id="rId8"/>
    <p:sldLayoutId id="2147483700" r:id="rId9"/>
    <p:sldLayoutId id="2147483765" r:id="rId10"/>
    <p:sldLayoutId id="2147483766" r:id="rId11"/>
    <p:sldLayoutId id="2147483759" r:id="rId12"/>
    <p:sldLayoutId id="2147483761" r:id="rId13"/>
    <p:sldLayoutId id="2147483768" r:id="rId14"/>
    <p:sldLayoutId id="2147483769" r:id="rId15"/>
    <p:sldLayoutId id="2147483767" r:id="rId16"/>
    <p:sldLayoutId id="2147483770" r:id="rId17"/>
    <p:sldLayoutId id="2147483771" r:id="rId18"/>
  </p:sldLayoutIdLst>
  <p:hf hdr="0" ftr="0" dt="0"/>
  <p:txStyles>
    <p:titleStyle>
      <a:lvl1pPr algn="l" defTabSz="914400" eaLnBrk="1" hangingPunct="1">
        <a:lnSpc>
          <a:spcPct val="90000"/>
        </a:lnSpc>
        <a:spcBef>
          <a:spcPts val="0"/>
        </a:spcBef>
        <a:buNone/>
        <a:defRPr sz="2800" b="1" i="0">
          <a:solidFill>
            <a:schemeClr val="accent6"/>
          </a:solidFill>
          <a:latin typeface="Arial"/>
          <a:ea typeface="+mj-ea"/>
          <a:cs typeface="Arial"/>
        </a:defRPr>
      </a:lvl1pPr>
    </p:titleStyle>
    <p:bodyStyle>
      <a:lvl1pPr marL="0" indent="0" algn="l" defTabSz="914400" eaLnBrk="1" hangingPunct="1">
        <a:lnSpc>
          <a:spcPct val="90000"/>
        </a:lnSpc>
        <a:spcBef>
          <a:spcPts val="1000"/>
        </a:spcBef>
        <a:buClr>
          <a:schemeClr val="accent1"/>
        </a:buClr>
        <a:buFont typeface="Arial"/>
        <a:buNone/>
        <a:defRPr sz="1800">
          <a:solidFill>
            <a:schemeClr val="accent5"/>
          </a:solidFill>
          <a:latin typeface="Arial"/>
          <a:ea typeface="+mn-ea"/>
          <a:cs typeface="Arial"/>
        </a:defRPr>
      </a:lvl1pPr>
      <a:lvl2pPr marL="685800" indent="-228600" algn="l" defTabSz="914400" eaLnBrk="1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800">
          <a:solidFill>
            <a:schemeClr val="accent5"/>
          </a:solidFill>
          <a:latin typeface="Arial"/>
          <a:ea typeface="+mn-ea"/>
          <a:cs typeface="Arial"/>
        </a:defRPr>
      </a:lvl2pPr>
      <a:lvl3pPr marL="1143000" indent="-228600" algn="l" defTabSz="914400" eaLnBrk="1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800">
          <a:solidFill>
            <a:schemeClr val="accent4"/>
          </a:solidFill>
          <a:latin typeface="Arial"/>
          <a:ea typeface="+mn-ea"/>
          <a:cs typeface="Arial"/>
        </a:defRPr>
      </a:lvl3pPr>
      <a:lvl4pPr marL="1600200" indent="-228600" algn="l" defTabSz="914400" eaLnBrk="1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800">
          <a:solidFill>
            <a:schemeClr val="accent1"/>
          </a:solidFill>
          <a:latin typeface="Arial"/>
          <a:ea typeface="+mn-ea"/>
          <a:cs typeface="Arial"/>
        </a:defRPr>
      </a:lvl4pPr>
      <a:lvl5pPr marL="2057400" indent="-228600" algn="l" defTabSz="914400" eaLnBrk="1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500">
          <a:solidFill>
            <a:schemeClr val="accent5"/>
          </a:solidFill>
          <a:latin typeface="Arial"/>
          <a:ea typeface="+mn-ea"/>
          <a:cs typeface="Arial"/>
        </a:defRPr>
      </a:lvl5pPr>
      <a:lvl6pPr marL="25146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2C2C-BD0A-4B48-B15B-62E08A3A9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951" y="2814638"/>
            <a:ext cx="6004562" cy="2387600"/>
          </a:xfrm>
        </p:spPr>
        <p:txBody>
          <a:bodyPr/>
          <a:lstStyle/>
          <a:p>
            <a:pPr algn="l"/>
            <a:r>
              <a:rPr lang="en-US" sz="5400" dirty="0"/>
              <a:t>Modelling intercrops: </a:t>
            </a:r>
            <a:br>
              <a:rPr lang="en-US" sz="5400" dirty="0"/>
            </a:br>
            <a:r>
              <a:rPr lang="en-US" sz="5400" b="0" dirty="0"/>
              <a:t>which hypothesis for which model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A8349-D65E-4495-B962-2D4104E01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950" y="5446434"/>
            <a:ext cx="4779266" cy="49716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fr-FR" dirty="0"/>
              <a:t>Oriane BRAUD, 1</a:t>
            </a:r>
            <a:r>
              <a:rPr lang="fr-FR" baseline="30000" dirty="0"/>
              <a:t>st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 PhD </a:t>
            </a:r>
            <a:r>
              <a:rPr lang="fr-FR" dirty="0" err="1"/>
              <a:t>Student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5EBE3-1804-4980-9C37-C2F93F2B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9B4FA-A286-40EC-8CC7-25865C7902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310" y="580708"/>
            <a:ext cx="1133305" cy="883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EE2AF8-E5BD-443B-A94F-9C0F3FA72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699" y="222673"/>
            <a:ext cx="1625912" cy="644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B93091-0B4B-422F-A142-9E1AD79102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699" y="993992"/>
            <a:ext cx="1594133" cy="644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ABC59-2E55-4276-BC8E-C4CEB94988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50" y="279235"/>
            <a:ext cx="1146050" cy="1429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CCDE68-CE24-4866-AE37-F662383FCB5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7060" r="9801"/>
          <a:stretch/>
        </p:blipFill>
        <p:spPr>
          <a:xfrm>
            <a:off x="6934119" y="0"/>
            <a:ext cx="668782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7819D9AB-8088-4088-AB86-A5A8D666D991}"/>
              </a:ext>
            </a:extLst>
          </p:cNvPr>
          <p:cNvSpPr txBox="1">
            <a:spLocks/>
          </p:cNvSpPr>
          <p:nvPr/>
        </p:nvSpPr>
        <p:spPr bwMode="auto">
          <a:xfrm>
            <a:off x="377949" y="6081599"/>
            <a:ext cx="5931411" cy="5537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eaLnBrk="1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buNone/>
              <a:defRPr sz="2400">
                <a:solidFill>
                  <a:schemeClr val="accent5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None/>
              <a:defRPr sz="2000">
                <a:solidFill>
                  <a:schemeClr val="accent5"/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None/>
              <a:defRPr sz="1800">
                <a:solidFill>
                  <a:schemeClr val="accent4"/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None/>
              <a:defRPr sz="16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None/>
              <a:defRPr sz="1600">
                <a:solidFill>
                  <a:schemeClr val="accent5"/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600" dirty="0"/>
              <a:t>Supervision: Marc Jaeger (HDR), Myriam Adam (HDR), Christophe </a:t>
            </a:r>
            <a:r>
              <a:rPr lang="fr-FR" sz="1600" dirty="0" err="1"/>
              <a:t>Pradal</a:t>
            </a:r>
            <a:r>
              <a:rPr lang="fr-FR" sz="1600" dirty="0"/>
              <a:t>, Rémi </a:t>
            </a:r>
            <a:r>
              <a:rPr lang="fr-FR" sz="1600" dirty="0" err="1"/>
              <a:t>Vezy</a:t>
            </a:r>
            <a:r>
              <a:rPr lang="fr-FR" sz="1600" dirty="0"/>
              <a:t>, Thomas </a:t>
            </a:r>
            <a:r>
              <a:rPr lang="fr-FR" sz="1600" dirty="0" err="1"/>
              <a:t>Arsouze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431789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5500B5-B531-4C78-83DB-1207FD6E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5" y="354288"/>
            <a:ext cx="3556185" cy="945122"/>
          </a:xfrm>
        </p:spPr>
        <p:txBody>
          <a:bodyPr/>
          <a:lstStyle/>
          <a:p>
            <a:r>
              <a:rPr lang="fr-FR" dirty="0" err="1"/>
              <a:t>Intercropping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BF086FA-F8A4-4C10-B4F0-FBF8648ECA8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0456" r="10456"/>
          <a:stretch>
            <a:fillRect/>
          </a:stretch>
        </p:blipFill>
        <p:spPr/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62A014-6C8D-49BD-88FA-5895BDE3175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67745" y="2610462"/>
            <a:ext cx="3103243" cy="389325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Many benefits… ​</a:t>
            </a:r>
          </a:p>
          <a:p>
            <a:r>
              <a:rPr lang="en-US" sz="2000" i="1" dirty="0"/>
              <a:t>   + yield </a:t>
            </a:r>
          </a:p>
          <a:p>
            <a:r>
              <a:rPr lang="en-US" sz="2000" i="1" dirty="0"/>
              <a:t>   - fertilizer and water use  </a:t>
            </a:r>
          </a:p>
          <a:p>
            <a:r>
              <a:rPr lang="en-US" sz="2000" i="1" dirty="0"/>
              <a:t>   + sustainable land use </a:t>
            </a:r>
          </a:p>
          <a:p>
            <a:r>
              <a:rPr lang="en-US" sz="2000" i="1" dirty="0"/>
              <a:t>   - biotic stresses </a:t>
            </a:r>
          </a:p>
          <a:p>
            <a:r>
              <a:rPr lang="fr-FR" sz="2000" i="1" dirty="0"/>
              <a:t>   e</a:t>
            </a:r>
            <a:r>
              <a:rPr lang="en-US" sz="2000" i="1" dirty="0" err="1"/>
              <a:t>tc</a:t>
            </a:r>
            <a:r>
              <a:rPr lang="en-US" sz="2000" i="1" dirty="0"/>
              <a:t>.</a:t>
            </a:r>
          </a:p>
          <a:p>
            <a:r>
              <a:rPr lang="en-US" sz="1300" i="1" dirty="0"/>
              <a:t>(</a:t>
            </a:r>
            <a:r>
              <a:rPr lang="en-US" sz="1300" i="1" dirty="0" err="1"/>
              <a:t>Bedoussac</a:t>
            </a:r>
            <a:r>
              <a:rPr lang="en-US" sz="1300" i="1" dirty="0"/>
              <a:t> et al., 2015; Yin et al., 2020, </a:t>
            </a:r>
            <a:r>
              <a:rPr lang="en-US" sz="1300" i="1" dirty="0" err="1"/>
              <a:t>Stomph</a:t>
            </a:r>
            <a:r>
              <a:rPr lang="en-US" sz="1300" i="1" dirty="0"/>
              <a:t> et al., 2020; Jensen et al., 2020;  Li et al., 2021; </a:t>
            </a:r>
            <a:r>
              <a:rPr lang="en-US" sz="1300" i="1" dirty="0" err="1"/>
              <a:t>Chadfield</a:t>
            </a:r>
            <a:r>
              <a:rPr lang="en-US" sz="1300" i="1" dirty="0"/>
              <a:t> et al., 2022)</a:t>
            </a:r>
          </a:p>
          <a:p>
            <a:endParaRPr lang="fr-FR" sz="2000" dirty="0"/>
          </a:p>
          <a:p>
            <a:endParaRPr lang="en-US" sz="2000" dirty="0"/>
          </a:p>
          <a:p>
            <a:r>
              <a:rPr lang="en-US" sz="2000" dirty="0"/>
              <a:t>…</a:t>
            </a:r>
            <a:r>
              <a:rPr lang="en-US" sz="2000" dirty="0" err="1"/>
              <a:t>iff</a:t>
            </a:r>
            <a:r>
              <a:rPr lang="en-US" sz="2000" dirty="0"/>
              <a:t> it is </a:t>
            </a:r>
            <a:r>
              <a:rPr lang="en-US" sz="2000" b="1" dirty="0"/>
              <a:t>well managed</a:t>
            </a:r>
            <a:r>
              <a:rPr lang="en-US" sz="2000" dirty="0"/>
              <a:t> !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33A84-729F-41B1-8EBE-5ED8198D3035}"/>
              </a:ext>
            </a:extLst>
          </p:cNvPr>
          <p:cNvSpPr txBox="1"/>
          <p:nvPr/>
        </p:nvSpPr>
        <p:spPr>
          <a:xfrm>
            <a:off x="229675" y="826849"/>
            <a:ext cx="271401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Arial"/>
                <a:cs typeface="Arial"/>
              </a:rPr>
              <a:t>=</a:t>
            </a:r>
          </a:p>
          <a:p>
            <a:pPr algn="ctr"/>
            <a:r>
              <a:rPr lang="en-US" sz="1600" dirty="0">
                <a:solidFill>
                  <a:schemeClr val="accent5"/>
                </a:solidFill>
                <a:latin typeface="Arial"/>
                <a:cs typeface="Arial"/>
              </a:rPr>
              <a:t>Agroecological practice which involves </a:t>
            </a:r>
            <a:r>
              <a:rPr lang="en-US" sz="1600" b="1" dirty="0">
                <a:solidFill>
                  <a:schemeClr val="accent5"/>
                </a:solidFill>
                <a:latin typeface="Arial"/>
                <a:cs typeface="Arial"/>
              </a:rPr>
              <a:t>mixtures</a:t>
            </a:r>
            <a:r>
              <a:rPr lang="en-US" sz="1600" dirty="0">
                <a:solidFill>
                  <a:schemeClr val="accent5"/>
                </a:solidFill>
                <a:latin typeface="Arial"/>
                <a:cs typeface="Arial"/>
              </a:rPr>
              <a:t> of arable </a:t>
            </a:r>
            <a:r>
              <a:rPr lang="en-US" sz="1600" b="1" dirty="0">
                <a:solidFill>
                  <a:schemeClr val="accent5"/>
                </a:solidFill>
                <a:latin typeface="Arial"/>
                <a:cs typeface="Arial"/>
              </a:rPr>
              <a:t>crop species</a:t>
            </a:r>
            <a:endParaRPr lang="en-US" sz="1600" dirty="0">
              <a:solidFill>
                <a:schemeClr val="accent5"/>
              </a:solidFill>
              <a:latin typeface="Arial"/>
              <a:cs typeface="Arial"/>
            </a:endParaRPr>
          </a:p>
          <a:p>
            <a:pPr algn="ctr"/>
            <a:r>
              <a:rPr lang="en-US" sz="1200" dirty="0">
                <a:solidFill>
                  <a:schemeClr val="accent5"/>
                </a:solidFill>
                <a:latin typeface="Arial"/>
                <a:cs typeface="Arial"/>
              </a:rPr>
              <a:t>(</a:t>
            </a:r>
            <a:r>
              <a:rPr lang="en-US" sz="1200" dirty="0" err="1">
                <a:solidFill>
                  <a:schemeClr val="accent5"/>
                </a:solidFill>
                <a:latin typeface="Arial"/>
                <a:cs typeface="Arial"/>
              </a:rPr>
              <a:t>Vandermeer</a:t>
            </a:r>
            <a:r>
              <a:rPr lang="en-US" sz="1200" dirty="0">
                <a:solidFill>
                  <a:schemeClr val="accent5"/>
                </a:solidFill>
                <a:latin typeface="Arial"/>
                <a:cs typeface="Arial"/>
              </a:rPr>
              <a:t>, 1989)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F483E-D92C-4B8B-AC5B-936AB50653CB}"/>
              </a:ext>
            </a:extLst>
          </p:cNvPr>
          <p:cNvSpPr txBox="1"/>
          <p:nvPr/>
        </p:nvSpPr>
        <p:spPr>
          <a:xfrm>
            <a:off x="6944695" y="4095422"/>
            <a:ext cx="1277068" cy="677108"/>
          </a:xfrm>
          <a:prstGeom prst="rect">
            <a:avLst/>
          </a:prstGeom>
          <a:solidFill>
            <a:srgbClr val="C0C0C0">
              <a:alpha val="6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LEGUME</a:t>
            </a:r>
          </a:p>
          <a:p>
            <a:r>
              <a:rPr lang="en-US" sz="1400" i="1" dirty="0"/>
              <a:t>ex: cowpea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9DB9FC-9BD6-485B-9063-1EEDA8DDD86D}"/>
              </a:ext>
            </a:extLst>
          </p:cNvPr>
          <p:cNvSpPr txBox="1"/>
          <p:nvPr/>
        </p:nvSpPr>
        <p:spPr>
          <a:xfrm>
            <a:off x="9220448" y="4095422"/>
            <a:ext cx="1194318" cy="677108"/>
          </a:xfrm>
          <a:prstGeom prst="rect">
            <a:avLst/>
          </a:prstGeom>
          <a:solidFill>
            <a:srgbClr val="C0C0C0">
              <a:alpha val="6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CEREAL</a:t>
            </a:r>
          </a:p>
          <a:p>
            <a:r>
              <a:rPr lang="en-US" sz="1400" i="1" dirty="0"/>
              <a:t>ex: sorghum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67B5E7-1569-4A35-B65F-BDF985A532FF}"/>
              </a:ext>
            </a:extLst>
          </p:cNvPr>
          <p:cNvSpPr/>
          <p:nvPr/>
        </p:nvSpPr>
        <p:spPr>
          <a:xfrm>
            <a:off x="10193311" y="6550223"/>
            <a:ext cx="19986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FFFF"/>
                </a:solidFill>
                <a:latin typeface="Calibri" panose="020F0502020204030204" pitchFamily="34" charset="0"/>
              </a:rPr>
              <a:t>Sannagoudar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</a:rPr>
              <a:t> et al., 2020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9672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029BBB14-074D-4B48-85C3-387EBE9922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9879" y="2792127"/>
            <a:ext cx="2919521" cy="3459432"/>
          </a:xfrm>
          <a:prstGeom prst="rect">
            <a:avLst/>
          </a:prstGeom>
        </p:spPr>
      </p:pic>
      <p:sp>
        <p:nvSpPr>
          <p:cNvPr id="67" name="Parallelogram 66">
            <a:extLst>
              <a:ext uri="{FF2B5EF4-FFF2-40B4-BE49-F238E27FC236}">
                <a16:creationId xmlns:a16="http://schemas.microsoft.com/office/drawing/2014/main" id="{39F8F39E-558B-46E4-8E59-F1C0034EE0C9}"/>
              </a:ext>
            </a:extLst>
          </p:cNvPr>
          <p:cNvSpPr/>
          <p:nvPr/>
        </p:nvSpPr>
        <p:spPr>
          <a:xfrm>
            <a:off x="742492" y="3251654"/>
            <a:ext cx="4605393" cy="2269432"/>
          </a:xfrm>
          <a:prstGeom prst="parallelogram">
            <a:avLst>
              <a:gd name="adj" fmla="val 8493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E3D73E-4B00-4D9B-9B0B-3FF93CD6692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3888" y="1603683"/>
            <a:ext cx="3890339" cy="1013321"/>
          </a:xfrm>
          <a:ln w="28575">
            <a:noFill/>
          </a:ln>
        </p:spPr>
        <p:txBody>
          <a:bodyPr/>
          <a:lstStyle/>
          <a:p>
            <a:r>
              <a:rPr lang="fr-FR" sz="2400" b="1" dirty="0" err="1"/>
              <a:t>Crop</a:t>
            </a:r>
            <a:r>
              <a:rPr lang="fr-FR" sz="2400" b="1" dirty="0"/>
              <a:t> </a:t>
            </a:r>
            <a:r>
              <a:rPr lang="fr-FR" sz="2400" b="1" dirty="0" err="1"/>
              <a:t>models</a:t>
            </a:r>
            <a:endParaRPr lang="fr-FR" sz="2400" dirty="0"/>
          </a:p>
          <a:p>
            <a:r>
              <a:rPr lang="fr-FR" sz="1600" i="1" dirty="0"/>
              <a:t>Ex: S</a:t>
            </a:r>
            <a:r>
              <a:rPr lang="en-US" sz="1600" i="1" dirty="0"/>
              <a:t>TICS (</a:t>
            </a:r>
            <a:r>
              <a:rPr lang="en-US" sz="1600" i="1" dirty="0" err="1"/>
              <a:t>Vezy</a:t>
            </a:r>
            <a:r>
              <a:rPr lang="en-US" sz="1600" i="1" dirty="0"/>
              <a:t> et al., 2023), </a:t>
            </a:r>
            <a:r>
              <a:rPr lang="fr-FR" sz="1600" i="1" dirty="0"/>
              <a:t>A</a:t>
            </a:r>
            <a:r>
              <a:rPr lang="en-US" sz="1600" i="1" dirty="0"/>
              <a:t>PSIM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6715F-F868-46CD-9357-DC1EF795300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28216" y="1603682"/>
            <a:ext cx="3328217" cy="1691657"/>
          </a:xfrm>
          <a:ln w="28575">
            <a:noFill/>
          </a:ln>
        </p:spPr>
        <p:txBody>
          <a:bodyPr>
            <a:normAutofit/>
          </a:bodyPr>
          <a:lstStyle/>
          <a:p>
            <a:pPr algn="r"/>
            <a:r>
              <a:rPr lang="fr-FR" sz="2400" b="1" dirty="0" err="1"/>
              <a:t>Functional</a:t>
            </a:r>
            <a:r>
              <a:rPr lang="fr-FR" sz="2400" b="1" dirty="0"/>
              <a:t>-Structural Plant </a:t>
            </a:r>
            <a:r>
              <a:rPr lang="fr-FR" sz="2400" b="1" dirty="0" err="1"/>
              <a:t>Models</a:t>
            </a:r>
            <a:r>
              <a:rPr lang="fr-FR" sz="2400" b="1" dirty="0"/>
              <a:t> (FSPM)</a:t>
            </a:r>
          </a:p>
          <a:p>
            <a:pPr algn="r"/>
            <a:r>
              <a:rPr lang="fr-FR" sz="1600" i="1" dirty="0"/>
              <a:t>Ex: V</a:t>
            </a:r>
            <a:r>
              <a:rPr lang="en-US" sz="1600" i="1" dirty="0" err="1"/>
              <a:t>irtualGrassLand</a:t>
            </a:r>
            <a:r>
              <a:rPr lang="en-US" sz="1600" i="1" dirty="0"/>
              <a:t> (</a:t>
            </a:r>
            <a:r>
              <a:rPr lang="en-US" sz="1600" i="1" dirty="0" err="1"/>
              <a:t>Louarn</a:t>
            </a:r>
            <a:r>
              <a:rPr lang="en-US" sz="1600" i="1" dirty="0"/>
              <a:t> et al., 2020), SIMBAL (</a:t>
            </a:r>
            <a:r>
              <a:rPr lang="en-US" sz="1600" i="1" dirty="0" err="1"/>
              <a:t>Perthame</a:t>
            </a:r>
            <a:r>
              <a:rPr lang="en-US" sz="1600" i="1" dirty="0"/>
              <a:t> et al., 2023)</a:t>
            </a:r>
          </a:p>
          <a:p>
            <a:pPr algn="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7A7FBB-1616-41E2-9806-6B1EAB9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4" y="354288"/>
            <a:ext cx="10841593" cy="945122"/>
          </a:xfrm>
        </p:spPr>
        <p:txBody>
          <a:bodyPr/>
          <a:lstStyle/>
          <a:p>
            <a:r>
              <a:rPr lang="fr-FR" dirty="0" err="1"/>
              <a:t>Models</a:t>
            </a:r>
            <a:r>
              <a:rPr lang="fr-FR" dirty="0"/>
              <a:t> as </a:t>
            </a:r>
            <a:r>
              <a:rPr lang="fr-FR" dirty="0" err="1"/>
              <a:t>pre</a:t>
            </a:r>
            <a:r>
              <a:rPr lang="fr-FR" dirty="0"/>
              <a:t>-screening </a:t>
            </a:r>
            <a:r>
              <a:rPr lang="fr-FR" dirty="0" err="1"/>
              <a:t>tools</a:t>
            </a:r>
            <a:br>
              <a:rPr lang="fr-FR" dirty="0"/>
            </a:br>
            <a:r>
              <a:rPr lang="fr-FR" b="0" dirty="0"/>
              <a:t>to </a:t>
            </a:r>
            <a:r>
              <a:rPr lang="fr-FR" b="0" dirty="0" err="1"/>
              <a:t>optimize</a:t>
            </a:r>
            <a:r>
              <a:rPr lang="fr-FR" b="0" dirty="0"/>
              <a:t> </a:t>
            </a:r>
            <a:r>
              <a:rPr lang="fr-FR" b="0" dirty="0" err="1"/>
              <a:t>GxGxExM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03B085-8D0F-4222-AC81-82855223BBBC}"/>
              </a:ext>
            </a:extLst>
          </p:cNvPr>
          <p:cNvSpPr txBox="1"/>
          <p:nvPr/>
        </p:nvSpPr>
        <p:spPr>
          <a:xfrm>
            <a:off x="6146923" y="1603683"/>
            <a:ext cx="1922753" cy="1844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à"/>
            </a:pPr>
            <a:r>
              <a:rPr lang="fr-FR" dirty="0" err="1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Spatially</a:t>
            </a:r>
            <a:r>
              <a:rPr lang="fr-FR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 explicit (3D)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à"/>
            </a:pPr>
            <a:r>
              <a:rPr lang="fr-FR" dirty="0" err="1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Organ</a:t>
            </a:r>
            <a:r>
              <a:rPr lang="fr-FR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 </a:t>
            </a:r>
            <a:r>
              <a:rPr lang="fr-FR" dirty="0" err="1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scale</a:t>
            </a:r>
            <a:endParaRPr lang="fr-FR" dirty="0">
              <a:solidFill>
                <a:schemeClr val="accent5"/>
              </a:solidFill>
              <a:latin typeface="Arial"/>
              <a:cs typeface="Arial"/>
              <a:sym typeface="Wingdings" panose="05000000000000000000" pitchFamily="2" charset="2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à"/>
            </a:pPr>
            <a:r>
              <a:rPr lang="fr-FR" dirty="0" err="1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Heterogeneity</a:t>
            </a:r>
            <a:r>
              <a:rPr lang="fr-FR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 of ressource </a:t>
            </a:r>
            <a:r>
              <a:rPr lang="fr-FR" dirty="0" err="1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partitioning</a:t>
            </a:r>
            <a:endParaRPr lang="fr-FR" dirty="0">
              <a:solidFill>
                <a:schemeClr val="accent5"/>
              </a:solidFill>
              <a:latin typeface="Arial"/>
              <a:cs typeface="Arial"/>
              <a:sym typeface="Wingdings" panose="05000000000000000000" pitchFamily="2" charset="2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A2B9C1-A889-4083-832E-652A5F935BDB}"/>
              </a:ext>
            </a:extLst>
          </p:cNvPr>
          <p:cNvCxnSpPr/>
          <p:nvPr/>
        </p:nvCxnSpPr>
        <p:spPr>
          <a:xfrm>
            <a:off x="5663953" y="1518083"/>
            <a:ext cx="0" cy="47584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08A7E7-0AE3-4A39-91B3-F67F024EFA9D}"/>
              </a:ext>
            </a:extLst>
          </p:cNvPr>
          <p:cNvSpPr txBox="1"/>
          <p:nvPr/>
        </p:nvSpPr>
        <p:spPr>
          <a:xfrm>
            <a:off x="481370" y="3220864"/>
            <a:ext cx="139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Calibrated parameters</a:t>
            </a:r>
          </a:p>
        </p:txBody>
      </p:sp>
      <p:sp>
        <p:nvSpPr>
          <p:cNvPr id="28" name="Arrow: Curved Right 27">
            <a:extLst>
              <a:ext uri="{FF2B5EF4-FFF2-40B4-BE49-F238E27FC236}">
                <a16:creationId xmlns:a16="http://schemas.microsoft.com/office/drawing/2014/main" id="{AFC4ED79-C79B-49EA-9D33-A43E27010AD2}"/>
              </a:ext>
            </a:extLst>
          </p:cNvPr>
          <p:cNvSpPr/>
          <p:nvPr/>
        </p:nvSpPr>
        <p:spPr>
          <a:xfrm>
            <a:off x="2364146" y="4044577"/>
            <a:ext cx="434120" cy="807869"/>
          </a:xfrm>
          <a:prstGeom prst="curvedRightArrow">
            <a:avLst>
              <a:gd name="adj1" fmla="val 0"/>
              <a:gd name="adj2" fmla="val 3934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1EC96A-C9E0-4991-9BF7-0A4CFC67FD81}"/>
              </a:ext>
            </a:extLst>
          </p:cNvPr>
          <p:cNvSpPr txBox="1"/>
          <p:nvPr/>
        </p:nvSpPr>
        <p:spPr>
          <a:xfrm>
            <a:off x="2542406" y="4094669"/>
            <a:ext cx="1097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Months to years</a:t>
            </a:r>
          </a:p>
        </p:txBody>
      </p:sp>
      <p:sp>
        <p:nvSpPr>
          <p:cNvPr id="30" name="Arrow: Curved Right 29">
            <a:extLst>
              <a:ext uri="{FF2B5EF4-FFF2-40B4-BE49-F238E27FC236}">
                <a16:creationId xmlns:a16="http://schemas.microsoft.com/office/drawing/2014/main" id="{0364E73E-E557-4634-9DC5-30A1FE5FD959}"/>
              </a:ext>
            </a:extLst>
          </p:cNvPr>
          <p:cNvSpPr/>
          <p:nvPr/>
        </p:nvSpPr>
        <p:spPr>
          <a:xfrm rot="10800000">
            <a:off x="3243740" y="3982435"/>
            <a:ext cx="434120" cy="807869"/>
          </a:xfrm>
          <a:prstGeom prst="curvedRightArrow">
            <a:avLst>
              <a:gd name="adj1" fmla="val 0"/>
              <a:gd name="adj2" fmla="val 3934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Curved Right 30">
            <a:extLst>
              <a:ext uri="{FF2B5EF4-FFF2-40B4-BE49-F238E27FC236}">
                <a16:creationId xmlns:a16="http://schemas.microsoft.com/office/drawing/2014/main" id="{43057088-8488-4308-9BDE-C1A0B33E4C55}"/>
              </a:ext>
            </a:extLst>
          </p:cNvPr>
          <p:cNvSpPr/>
          <p:nvPr/>
        </p:nvSpPr>
        <p:spPr>
          <a:xfrm>
            <a:off x="9471033" y="3562660"/>
            <a:ext cx="434120" cy="807869"/>
          </a:xfrm>
          <a:prstGeom prst="curvedRightArrow">
            <a:avLst>
              <a:gd name="adj1" fmla="val 0"/>
              <a:gd name="adj2" fmla="val 3934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68EC1E-B14D-42CC-9677-DA3ECC0F4E29}"/>
              </a:ext>
            </a:extLst>
          </p:cNvPr>
          <p:cNvSpPr txBox="1"/>
          <p:nvPr/>
        </p:nvSpPr>
        <p:spPr>
          <a:xfrm>
            <a:off x="9704370" y="3588560"/>
            <a:ext cx="183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Hardly a whole plant cycle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DC9325-BA28-4E15-BBA7-9281E7E0D3B1}"/>
              </a:ext>
            </a:extLst>
          </p:cNvPr>
          <p:cNvSpPr txBox="1"/>
          <p:nvPr/>
        </p:nvSpPr>
        <p:spPr>
          <a:xfrm>
            <a:off x="2798266" y="2814566"/>
            <a:ext cx="249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1D homogeneous plot</a:t>
            </a:r>
            <a:endParaRPr lang="en-US" dirty="0"/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23D1DB59-29F9-47B0-9D90-9BBA1A5C08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61717" y="3737143"/>
            <a:ext cx="445622" cy="7150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8BC82C60-DD64-46BB-A7A7-864CB055CBFA}"/>
              </a:ext>
            </a:extLst>
          </p:cNvPr>
          <p:cNvSpPr/>
          <p:nvPr/>
        </p:nvSpPr>
        <p:spPr>
          <a:xfrm rot="5400000">
            <a:off x="5510715" y="3650818"/>
            <a:ext cx="306476" cy="5715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17AFF5-93A9-41BA-807C-72F3553D5AA5}"/>
              </a:ext>
            </a:extLst>
          </p:cNvPr>
          <p:cNvSpPr txBox="1"/>
          <p:nvPr/>
        </p:nvSpPr>
        <p:spPr>
          <a:xfrm>
            <a:off x="971280" y="6314937"/>
            <a:ext cx="200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Daily time scale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4C4A28-8F7A-4BF4-A127-0768FE80931A}"/>
              </a:ext>
            </a:extLst>
          </p:cNvPr>
          <p:cNvSpPr txBox="1"/>
          <p:nvPr/>
        </p:nvSpPr>
        <p:spPr>
          <a:xfrm>
            <a:off x="8722344" y="6314937"/>
            <a:ext cx="200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Hourly or less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9DB383-8209-471E-9E2D-866CB6EE86EB}"/>
              </a:ext>
            </a:extLst>
          </p:cNvPr>
          <p:cNvSpPr/>
          <p:nvPr/>
        </p:nvSpPr>
        <p:spPr>
          <a:xfrm>
            <a:off x="10561320" y="6291072"/>
            <a:ext cx="1289304" cy="50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0C6A32-5E00-4908-8C8C-0FA2F42E4AB0}"/>
              </a:ext>
            </a:extLst>
          </p:cNvPr>
          <p:cNvSpPr txBox="1"/>
          <p:nvPr/>
        </p:nvSpPr>
        <p:spPr>
          <a:xfrm>
            <a:off x="9582705" y="4657303"/>
            <a:ext cx="183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Arial"/>
                <a:sym typeface="Wingdings" panose="05000000000000000000" pitchFamily="2" charset="2"/>
              </a:rPr>
              <a:t></a:t>
            </a:r>
            <a:r>
              <a:rPr lang="fr-FR" dirty="0">
                <a:solidFill>
                  <a:schemeClr val="accent5"/>
                </a:solidFill>
                <a:latin typeface="Arial"/>
                <a:sym typeface="Wingdings" panose="05000000000000000000" pitchFamily="2" charset="2"/>
              </a:rPr>
              <a:t> High </a:t>
            </a:r>
            <a:r>
              <a:rPr lang="fr-FR" dirty="0" err="1">
                <a:solidFill>
                  <a:schemeClr val="accent5"/>
                </a:solidFill>
                <a:latin typeface="Arial"/>
                <a:sym typeface="Wingdings" panose="05000000000000000000" pitchFamily="2" charset="2"/>
              </a:rPr>
              <a:t>computing</a:t>
            </a:r>
            <a:r>
              <a:rPr lang="fr-FR" dirty="0">
                <a:solidFill>
                  <a:schemeClr val="accent5"/>
                </a:solidFill>
                <a:latin typeface="Arial"/>
                <a:sym typeface="Wingdings" panose="05000000000000000000" pitchFamily="2" charset="2"/>
              </a:rPr>
              <a:t> </a:t>
            </a:r>
            <a:r>
              <a:rPr lang="fr-FR" dirty="0" err="1">
                <a:solidFill>
                  <a:schemeClr val="accent5"/>
                </a:solidFill>
                <a:latin typeface="Arial"/>
                <a:sym typeface="Wingdings" panose="05000000000000000000" pitchFamily="2" charset="2"/>
              </a:rPr>
              <a:t>cost</a:t>
            </a:r>
            <a:endParaRPr lang="fr-FR" dirty="0">
              <a:solidFill>
                <a:schemeClr val="accent5"/>
              </a:solidFill>
              <a:latin typeface="Arial"/>
              <a:sym typeface="Wingdings" panose="05000000000000000000" pitchFamily="2" charset="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34D859-BE70-4EC8-847F-3CD40123161C}"/>
              </a:ext>
            </a:extLst>
          </p:cNvPr>
          <p:cNvSpPr txBox="1"/>
          <p:nvPr/>
        </p:nvSpPr>
        <p:spPr>
          <a:xfrm>
            <a:off x="481397" y="3220864"/>
            <a:ext cx="139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Calibrated parameters</a:t>
            </a:r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C5F7A25D-A81A-4C9D-BAD5-99D669EE4F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61744" y="3737143"/>
            <a:ext cx="445622" cy="7150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71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12" grpId="0"/>
      <p:bldP spid="28" grpId="0" animBg="1"/>
      <p:bldP spid="29" grpId="0"/>
      <p:bldP spid="30" grpId="0" animBg="1"/>
      <p:bldP spid="31" grpId="0" animBg="1"/>
      <p:bldP spid="32" grpId="0"/>
      <p:bldP spid="35" grpId="0"/>
      <p:bldP spid="68" grpId="0" animBg="1"/>
      <p:bldP spid="70" grpId="0"/>
      <p:bldP spid="71" grpId="0"/>
      <p:bldP spid="79" grpId="0"/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18BC38E-0486-41EA-AB1B-524B663324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41799" y="3118494"/>
            <a:ext cx="2919521" cy="345943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E3D73E-4B00-4D9B-9B0B-3FF93CD6692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3889" y="1603683"/>
            <a:ext cx="2695620" cy="1013321"/>
          </a:xfrm>
          <a:ln w="28575">
            <a:noFill/>
          </a:ln>
        </p:spPr>
        <p:txBody>
          <a:bodyPr/>
          <a:lstStyle/>
          <a:p>
            <a:r>
              <a:rPr lang="fr-FR" sz="2400" b="1" dirty="0" err="1"/>
              <a:t>Crop</a:t>
            </a:r>
            <a:r>
              <a:rPr lang="fr-FR" sz="2400" b="1" dirty="0"/>
              <a:t> </a:t>
            </a:r>
            <a:r>
              <a:rPr lang="fr-FR" sz="2400" b="1" dirty="0" err="1"/>
              <a:t>models</a:t>
            </a:r>
            <a:endParaRPr lang="fr-FR" sz="2400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6715F-F868-46CD-9357-DC1EF795300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31945" y="1603683"/>
            <a:ext cx="3328217" cy="1210538"/>
          </a:xfrm>
          <a:ln w="28575">
            <a:noFill/>
          </a:ln>
        </p:spPr>
        <p:txBody>
          <a:bodyPr/>
          <a:lstStyle/>
          <a:p>
            <a:pPr algn="r"/>
            <a:r>
              <a:rPr lang="fr-FR" sz="2400" b="1" dirty="0"/>
              <a:t>FSPM</a:t>
            </a:r>
          </a:p>
          <a:p>
            <a:pPr algn="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7A7FBB-1616-41E2-9806-6B1EAB9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4" y="354288"/>
            <a:ext cx="10841593" cy="945122"/>
          </a:xfrm>
        </p:spPr>
        <p:txBody>
          <a:bodyPr/>
          <a:lstStyle/>
          <a:p>
            <a:r>
              <a:rPr lang="fr-FR" b="0" dirty="0"/>
              <a:t>Ex: </a:t>
            </a:r>
            <a:r>
              <a:rPr lang="fr-FR" dirty="0"/>
              <a:t>light interception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A2B9C1-A889-4083-832E-652A5F935BDB}"/>
              </a:ext>
            </a:extLst>
          </p:cNvPr>
          <p:cNvCxnSpPr>
            <a:cxnSpLocks/>
          </p:cNvCxnSpPr>
          <p:nvPr/>
        </p:nvCxnSpPr>
        <p:spPr>
          <a:xfrm>
            <a:off x="5663953" y="2784980"/>
            <a:ext cx="0" cy="345943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95238AAF-6D94-4A9B-BDC4-97B81B3E59E6}"/>
              </a:ext>
            </a:extLst>
          </p:cNvPr>
          <p:cNvSpPr/>
          <p:nvPr/>
        </p:nvSpPr>
        <p:spPr>
          <a:xfrm>
            <a:off x="623888" y="3650632"/>
            <a:ext cx="4605393" cy="2269432"/>
          </a:xfrm>
          <a:prstGeom prst="parallelogram">
            <a:avLst>
              <a:gd name="adj" fmla="val 8493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DC9325-BA28-4E15-BBA7-9281E7E0D3B1}"/>
              </a:ext>
            </a:extLst>
          </p:cNvPr>
          <p:cNvSpPr txBox="1"/>
          <p:nvPr/>
        </p:nvSpPr>
        <p:spPr>
          <a:xfrm>
            <a:off x="2549517" y="2819508"/>
            <a:ext cx="249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1D homogeneous plot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8A12053-DD37-4BC2-B933-2BFD0226410C}"/>
              </a:ext>
            </a:extLst>
          </p:cNvPr>
          <p:cNvCxnSpPr>
            <a:cxnSpLocks/>
          </p:cNvCxnSpPr>
          <p:nvPr/>
        </p:nvCxnSpPr>
        <p:spPr>
          <a:xfrm flipH="1">
            <a:off x="9902688" y="2844964"/>
            <a:ext cx="854058" cy="107107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D04FDA4-D3A6-41CF-88B8-E7CE8E0485A8}"/>
              </a:ext>
            </a:extLst>
          </p:cNvPr>
          <p:cNvCxnSpPr/>
          <p:nvPr/>
        </p:nvCxnSpPr>
        <p:spPr>
          <a:xfrm flipH="1">
            <a:off x="9933542" y="3019603"/>
            <a:ext cx="1171853" cy="145062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FC59E5F-6769-4927-BFD1-BAB8D1C0310A}"/>
              </a:ext>
            </a:extLst>
          </p:cNvPr>
          <p:cNvCxnSpPr>
            <a:cxnSpLocks/>
          </p:cNvCxnSpPr>
          <p:nvPr/>
        </p:nvCxnSpPr>
        <p:spPr>
          <a:xfrm>
            <a:off x="1941728" y="2854822"/>
            <a:ext cx="713954" cy="1014623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FC000"/>
                </a:gs>
                <a:gs pos="69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7EDD905-B079-449A-9D36-B2F0552AF94B}"/>
              </a:ext>
            </a:extLst>
          </p:cNvPr>
          <p:cNvSpPr txBox="1"/>
          <p:nvPr/>
        </p:nvSpPr>
        <p:spPr>
          <a:xfrm>
            <a:off x="623888" y="2075064"/>
            <a:ext cx="2146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Beer-Lambert law: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4E368C-3352-495C-A20A-A56B114D3F45}"/>
                  </a:ext>
                </a:extLst>
              </p:cNvPr>
              <p:cNvSpPr txBox="1"/>
              <p:nvPr/>
            </p:nvSpPr>
            <p:spPr>
              <a:xfrm>
                <a:off x="513030" y="2444889"/>
                <a:ext cx="2695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fr-FR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⁡(−</m:t>
                      </m:r>
                      <m:r>
                        <a:rPr lang="fr-FR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𝐿𝐴𝐼</m:t>
                      </m:r>
                      <m:r>
                        <a:rPr lang="fr-FR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4E368C-3352-495C-A20A-A56B114D3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30" y="2444889"/>
                <a:ext cx="2695620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be 13">
            <a:extLst>
              <a:ext uri="{FF2B5EF4-FFF2-40B4-BE49-F238E27FC236}">
                <a16:creationId xmlns:a16="http://schemas.microsoft.com/office/drawing/2014/main" id="{CA29FFE7-5FFF-48F1-8DB5-7E55A6D37049}"/>
              </a:ext>
            </a:extLst>
          </p:cNvPr>
          <p:cNvSpPr/>
          <p:nvPr/>
        </p:nvSpPr>
        <p:spPr>
          <a:xfrm>
            <a:off x="2289312" y="3219660"/>
            <a:ext cx="713954" cy="713061"/>
          </a:xfrm>
          <a:prstGeom prst="cube">
            <a:avLst>
              <a:gd name="adj" fmla="val 29596"/>
            </a:avLst>
          </a:prstGeom>
          <a:solidFill>
            <a:srgbClr val="98D19D">
              <a:alpha val="65098"/>
            </a:srgb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280D7-D2D2-4A6A-B2E4-CB88D3B3FB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6176005" y="1603683"/>
            <a:ext cx="3182608" cy="231779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9979912-6285-4A46-B4B3-1FF2FACF60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068" r="80231"/>
          <a:stretch/>
        </p:blipFill>
        <p:spPr>
          <a:xfrm>
            <a:off x="5882832" y="2751906"/>
            <a:ext cx="611276" cy="1117539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4E0FE5E5-5D50-4B1E-A65D-25DBAF784B61}"/>
              </a:ext>
            </a:extLst>
          </p:cNvPr>
          <p:cNvSpPr/>
          <p:nvPr/>
        </p:nvSpPr>
        <p:spPr>
          <a:xfrm>
            <a:off x="10561320" y="6291072"/>
            <a:ext cx="1289304" cy="50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7C4E8A-4B98-4D1F-8B17-9C2507C4F5A9}"/>
              </a:ext>
            </a:extLst>
          </p:cNvPr>
          <p:cNvSpPr txBox="1"/>
          <p:nvPr/>
        </p:nvSpPr>
        <p:spPr>
          <a:xfrm>
            <a:off x="8183929" y="6291072"/>
            <a:ext cx="2146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  <a:latin typeface="Arial"/>
              </a:rPr>
              <a:t>(</a:t>
            </a:r>
            <a:r>
              <a:rPr lang="en-US" sz="1200" dirty="0" err="1">
                <a:solidFill>
                  <a:schemeClr val="accent5"/>
                </a:solidFill>
                <a:latin typeface="Arial"/>
              </a:rPr>
              <a:t>Barillot</a:t>
            </a:r>
            <a:r>
              <a:rPr lang="en-US" sz="1200" dirty="0">
                <a:solidFill>
                  <a:schemeClr val="accent5"/>
                </a:solidFill>
                <a:latin typeface="Arial"/>
              </a:rPr>
              <a:t> et al., 2014)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3AE765-974E-4A32-9FB2-79FFFE3B7C5E}"/>
              </a:ext>
            </a:extLst>
          </p:cNvPr>
          <p:cNvSpPr txBox="1"/>
          <p:nvPr/>
        </p:nvSpPr>
        <p:spPr>
          <a:xfrm>
            <a:off x="2227292" y="6265533"/>
            <a:ext cx="2146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  <a:latin typeface="Arial"/>
              </a:rPr>
              <a:t>(</a:t>
            </a:r>
            <a:r>
              <a:rPr lang="en-US" sz="1200" dirty="0" err="1">
                <a:solidFill>
                  <a:schemeClr val="accent5"/>
                </a:solidFill>
                <a:latin typeface="Arial"/>
              </a:rPr>
              <a:t>Barillot</a:t>
            </a:r>
            <a:r>
              <a:rPr lang="en-US" sz="1200" dirty="0">
                <a:solidFill>
                  <a:schemeClr val="accent5"/>
                </a:solidFill>
                <a:latin typeface="Arial"/>
              </a:rPr>
              <a:t> et al., 2011)</a:t>
            </a:r>
          </a:p>
        </p:txBody>
      </p:sp>
    </p:spTree>
    <p:extLst>
      <p:ext uri="{BB962C8B-B14F-4D97-AF65-F5344CB8AC3E}">
        <p14:creationId xmlns:p14="http://schemas.microsoft.com/office/powerpoint/2010/main" val="19085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E3D73E-4B00-4D9B-9B0B-3FF93CD6692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3889" y="1603683"/>
            <a:ext cx="2695620" cy="1013321"/>
          </a:xfrm>
          <a:ln w="28575">
            <a:noFill/>
          </a:ln>
        </p:spPr>
        <p:txBody>
          <a:bodyPr/>
          <a:lstStyle/>
          <a:p>
            <a:r>
              <a:rPr lang="fr-FR" sz="2400" b="1" dirty="0" err="1"/>
              <a:t>Crop</a:t>
            </a:r>
            <a:r>
              <a:rPr lang="fr-FR" sz="2400" b="1" dirty="0"/>
              <a:t> </a:t>
            </a:r>
            <a:r>
              <a:rPr lang="fr-FR" sz="2400" b="1" dirty="0" err="1"/>
              <a:t>models</a:t>
            </a:r>
            <a:endParaRPr lang="fr-FR" sz="2400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6715F-F868-46CD-9357-DC1EF795300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20292" y="1603683"/>
            <a:ext cx="3328217" cy="1210538"/>
          </a:xfrm>
          <a:ln w="28575">
            <a:noFill/>
          </a:ln>
        </p:spPr>
        <p:txBody>
          <a:bodyPr/>
          <a:lstStyle/>
          <a:p>
            <a:pPr algn="r"/>
            <a:r>
              <a:rPr lang="fr-FR" sz="2400" b="1" dirty="0"/>
              <a:t>FSPM</a:t>
            </a:r>
            <a:endParaRPr lang="fr-FR" b="1" dirty="0"/>
          </a:p>
          <a:p>
            <a:pPr algn="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7A7FBB-1616-41E2-9806-6B1EAB9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4" y="354288"/>
            <a:ext cx="10841593" cy="945122"/>
          </a:xfrm>
        </p:spPr>
        <p:txBody>
          <a:bodyPr/>
          <a:lstStyle/>
          <a:p>
            <a:r>
              <a:rPr lang="fr-FR" b="0" dirty="0"/>
              <a:t>Ex: </a:t>
            </a:r>
            <a:r>
              <a:rPr lang="fr-FR" dirty="0"/>
              <a:t>light interception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A2B9C1-A889-4083-832E-652A5F935BDB}"/>
              </a:ext>
            </a:extLst>
          </p:cNvPr>
          <p:cNvCxnSpPr>
            <a:cxnSpLocks/>
          </p:cNvCxnSpPr>
          <p:nvPr/>
        </p:nvCxnSpPr>
        <p:spPr>
          <a:xfrm>
            <a:off x="5663953" y="2784980"/>
            <a:ext cx="0" cy="345943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FFB1EA-B420-4BC3-AF38-98D4F18A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1" y="3382325"/>
            <a:ext cx="3596496" cy="2862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824A02-356F-4600-975B-E01F9265F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328" y="2110343"/>
            <a:ext cx="836346" cy="72912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81DC15C-CCCC-45C7-82A4-D1CBDB39C099}"/>
              </a:ext>
            </a:extLst>
          </p:cNvPr>
          <p:cNvSpPr txBox="1"/>
          <p:nvPr/>
        </p:nvSpPr>
        <p:spPr>
          <a:xfrm>
            <a:off x="2155012" y="6212613"/>
            <a:ext cx="2146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  <a:latin typeface="Arial"/>
              </a:rPr>
              <a:t>(</a:t>
            </a:r>
            <a:r>
              <a:rPr lang="en-US" sz="1200" dirty="0" err="1">
                <a:solidFill>
                  <a:schemeClr val="accent5"/>
                </a:solidFill>
                <a:latin typeface="Arial"/>
              </a:rPr>
              <a:t>Vezy</a:t>
            </a:r>
            <a:r>
              <a:rPr lang="en-US" sz="1200" dirty="0">
                <a:solidFill>
                  <a:schemeClr val="accent5"/>
                </a:solidFill>
                <a:latin typeface="Arial"/>
              </a:rPr>
              <a:t> et al., 2023)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33B684-2004-4A77-8048-43FBA0C9964B}"/>
              </a:ext>
            </a:extLst>
          </p:cNvPr>
          <p:cNvSpPr/>
          <p:nvPr/>
        </p:nvSpPr>
        <p:spPr>
          <a:xfrm>
            <a:off x="10561320" y="6291072"/>
            <a:ext cx="1289304" cy="50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0028AB4-D502-4B30-AC52-D6189DC1A6C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41799" y="3118494"/>
            <a:ext cx="2919521" cy="3459432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BFB16A0-F750-437A-9A9A-23D17BD9C87D}"/>
              </a:ext>
            </a:extLst>
          </p:cNvPr>
          <p:cNvCxnSpPr>
            <a:cxnSpLocks/>
          </p:cNvCxnSpPr>
          <p:nvPr/>
        </p:nvCxnSpPr>
        <p:spPr>
          <a:xfrm flipH="1">
            <a:off x="9902688" y="2844964"/>
            <a:ext cx="854058" cy="107107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603E29E-CB30-4A6A-95EF-A8C5F93A1F07}"/>
              </a:ext>
            </a:extLst>
          </p:cNvPr>
          <p:cNvCxnSpPr/>
          <p:nvPr/>
        </p:nvCxnSpPr>
        <p:spPr>
          <a:xfrm flipH="1">
            <a:off x="9933542" y="3019603"/>
            <a:ext cx="1171853" cy="145062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97FD489D-FEC5-4128-A3C1-1112D9249FD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253" t="5366" r="2760" b="9134"/>
          <a:stretch/>
        </p:blipFill>
        <p:spPr>
          <a:xfrm>
            <a:off x="6176005" y="1603683"/>
            <a:ext cx="3182608" cy="23177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6603492-251D-42A3-BF7E-E4D57499BA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8068" r="80231"/>
          <a:stretch/>
        </p:blipFill>
        <p:spPr>
          <a:xfrm>
            <a:off x="5882832" y="2751906"/>
            <a:ext cx="611276" cy="111753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E73C858-84D0-48F2-BAC0-A17C4D75101B}"/>
              </a:ext>
            </a:extLst>
          </p:cNvPr>
          <p:cNvSpPr txBox="1"/>
          <p:nvPr/>
        </p:nvSpPr>
        <p:spPr>
          <a:xfrm>
            <a:off x="1496253" y="3013207"/>
            <a:ext cx="269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</a:rPr>
              <a:t>Radiative transfer (2.5D)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B22166-A74E-4C60-B19B-1F55C7723A28}"/>
              </a:ext>
            </a:extLst>
          </p:cNvPr>
          <p:cNvSpPr txBox="1"/>
          <p:nvPr/>
        </p:nvSpPr>
        <p:spPr>
          <a:xfrm>
            <a:off x="2155012" y="6217658"/>
            <a:ext cx="2146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  <a:latin typeface="Arial"/>
              </a:rPr>
              <a:t>(</a:t>
            </a:r>
            <a:r>
              <a:rPr lang="en-US" sz="1200" dirty="0" err="1">
                <a:solidFill>
                  <a:schemeClr val="accent5"/>
                </a:solidFill>
                <a:latin typeface="Arial"/>
              </a:rPr>
              <a:t>Vezy</a:t>
            </a:r>
            <a:r>
              <a:rPr lang="en-US" sz="1200" dirty="0">
                <a:solidFill>
                  <a:schemeClr val="accent5"/>
                </a:solidFill>
                <a:latin typeface="Arial"/>
              </a:rPr>
              <a:t> et al., 2023)</a:t>
            </a:r>
          </a:p>
        </p:txBody>
      </p:sp>
    </p:spTree>
    <p:extLst>
      <p:ext uri="{BB962C8B-B14F-4D97-AF65-F5344CB8AC3E}">
        <p14:creationId xmlns:p14="http://schemas.microsoft.com/office/powerpoint/2010/main" val="180080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E3D73E-4B00-4D9B-9B0B-3FF93CD6692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662577" y="1806602"/>
            <a:ext cx="2695620" cy="1013321"/>
          </a:xfrm>
          <a:ln w="28575">
            <a:noFill/>
          </a:ln>
        </p:spPr>
        <p:txBody>
          <a:bodyPr/>
          <a:lstStyle/>
          <a:p>
            <a:r>
              <a:rPr lang="fr-FR" sz="2800" b="1" dirty="0" err="1"/>
              <a:t>Crop</a:t>
            </a:r>
            <a:r>
              <a:rPr lang="fr-FR" sz="2800" b="1" dirty="0"/>
              <a:t> </a:t>
            </a:r>
            <a:r>
              <a:rPr lang="fr-FR" sz="2800" b="1" dirty="0" err="1"/>
              <a:t>models</a:t>
            </a:r>
            <a:endParaRPr lang="fr-FR" sz="2800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6715F-F868-46CD-9357-DC1EF795300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400800" y="1707993"/>
            <a:ext cx="3328217" cy="1210538"/>
          </a:xfrm>
          <a:ln w="28575">
            <a:noFill/>
          </a:ln>
        </p:spPr>
        <p:txBody>
          <a:bodyPr/>
          <a:lstStyle/>
          <a:p>
            <a:pPr algn="r"/>
            <a:r>
              <a:rPr lang="fr-FR" sz="2800" b="1" dirty="0"/>
              <a:t>FSPM</a:t>
            </a:r>
          </a:p>
          <a:p>
            <a:pPr algn="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7A7FBB-1616-41E2-9806-6B1EAB9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4" y="354288"/>
            <a:ext cx="10841593" cy="945122"/>
          </a:xfrm>
        </p:spPr>
        <p:txBody>
          <a:bodyPr/>
          <a:lstStyle/>
          <a:p>
            <a:r>
              <a:rPr lang="en-US" dirty="0"/>
              <a:t>Which type of model for intercrops 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A2B9C1-A889-4083-832E-652A5F935BDB}"/>
              </a:ext>
            </a:extLst>
          </p:cNvPr>
          <p:cNvCxnSpPr>
            <a:cxnSpLocks/>
          </p:cNvCxnSpPr>
          <p:nvPr/>
        </p:nvCxnSpPr>
        <p:spPr>
          <a:xfrm flipH="1">
            <a:off x="5663952" y="1518083"/>
            <a:ext cx="1" cy="13018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4179CD5-366B-4BE7-9AB6-B193A854C45E}"/>
              </a:ext>
            </a:extLst>
          </p:cNvPr>
          <p:cNvSpPr txBox="1"/>
          <p:nvPr/>
        </p:nvSpPr>
        <p:spPr>
          <a:xfrm>
            <a:off x="1966411" y="3450419"/>
            <a:ext cx="739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chemeClr val="accent5"/>
                </a:solidFill>
                <a:latin typeface="Arial"/>
                <a:cs typeface="Arial"/>
              </a:rPr>
              <a:t>Hybrid</a:t>
            </a:r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 approach to exploit the best of each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88FC5B-9BE5-4B0A-9E1A-34024D310D97}"/>
              </a:ext>
            </a:extLst>
          </p:cNvPr>
          <p:cNvSpPr txBox="1"/>
          <p:nvPr/>
        </p:nvSpPr>
        <p:spPr>
          <a:xfrm>
            <a:off x="3681229" y="4688985"/>
            <a:ext cx="3965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improve crop model with FSPM</a:t>
            </a:r>
          </a:p>
          <a:p>
            <a:pPr algn="ctr"/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  <a:p>
            <a:pPr algn="ctr"/>
            <a:r>
              <a:rPr lang="en-US" dirty="0">
                <a:solidFill>
                  <a:schemeClr val="accent1"/>
                </a:solidFill>
                <a:latin typeface="Arial"/>
                <a:cs typeface="Arial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 + </a:t>
            </a:r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heterogeneity needed 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4174CE-04AF-413F-81CD-5C3A72970F0D}"/>
              </a:ext>
            </a:extLst>
          </p:cNvPr>
          <p:cNvCxnSpPr>
            <a:cxnSpLocks/>
          </p:cNvCxnSpPr>
          <p:nvPr/>
        </p:nvCxnSpPr>
        <p:spPr>
          <a:xfrm>
            <a:off x="5663952" y="3819751"/>
            <a:ext cx="0" cy="86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B152CE-5505-497C-BDE4-AB2EC01DB6F7}"/>
              </a:ext>
            </a:extLst>
          </p:cNvPr>
          <p:cNvSpPr txBox="1"/>
          <p:nvPr/>
        </p:nvSpPr>
        <p:spPr>
          <a:xfrm>
            <a:off x="5868955" y="4049479"/>
            <a:ext cx="120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5"/>
                </a:solidFill>
                <a:latin typeface="Arial"/>
                <a:cs typeface="Arial"/>
              </a:rPr>
              <a:t>how 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E810FA-325B-47A2-B566-5E0F0F71737B}"/>
              </a:ext>
            </a:extLst>
          </p:cNvPr>
          <p:cNvSpPr/>
          <p:nvPr/>
        </p:nvSpPr>
        <p:spPr>
          <a:xfrm>
            <a:off x="10561320" y="6291072"/>
            <a:ext cx="1289304" cy="50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3A958-71DD-4161-A60B-E40A6A42E4BA}"/>
              </a:ext>
            </a:extLst>
          </p:cNvPr>
          <p:cNvSpPr txBox="1"/>
          <p:nvPr/>
        </p:nvSpPr>
        <p:spPr>
          <a:xfrm>
            <a:off x="224202" y="6404032"/>
            <a:ext cx="2146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  <a:latin typeface="Arial"/>
              </a:rPr>
              <a:t>(</a:t>
            </a:r>
            <a:r>
              <a:rPr lang="en-US" sz="1200" dirty="0" err="1">
                <a:solidFill>
                  <a:schemeClr val="accent5"/>
                </a:solidFill>
                <a:latin typeface="Arial"/>
              </a:rPr>
              <a:t>Gaudio</a:t>
            </a:r>
            <a:r>
              <a:rPr lang="en-US" sz="1200" dirty="0">
                <a:solidFill>
                  <a:schemeClr val="accent5"/>
                </a:solidFill>
                <a:latin typeface="Arial"/>
              </a:rPr>
              <a:t> et al., 2019, 2022)</a:t>
            </a:r>
          </a:p>
        </p:txBody>
      </p:sp>
    </p:spTree>
    <p:extLst>
      <p:ext uri="{BB962C8B-B14F-4D97-AF65-F5344CB8AC3E}">
        <p14:creationId xmlns:p14="http://schemas.microsoft.com/office/powerpoint/2010/main" val="15113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8F3C8E-A806-425E-B4CE-0CC389B2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4" y="354288"/>
            <a:ext cx="11107976" cy="945122"/>
          </a:xfrm>
        </p:spPr>
        <p:txBody>
          <a:bodyPr/>
          <a:lstStyle/>
          <a:p>
            <a:r>
              <a:rPr lang="en-US" b="0" dirty="0"/>
              <a:t>Hypothesis: </a:t>
            </a:r>
            <a:r>
              <a:rPr lang="en-US" dirty="0"/>
              <a:t>The error in crop models when modeling intercrops lies in the non-consideration of plant structure (G), plant-plant interactions (</a:t>
            </a:r>
            <a:r>
              <a:rPr lang="en-US" dirty="0" err="1"/>
              <a:t>GxG</a:t>
            </a:r>
            <a:r>
              <a:rPr lang="en-US" dirty="0"/>
              <a:t>) and explicit spatial arrangement (M)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9ECE18-0B09-494F-ADB7-77656A4EC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265" y="2111987"/>
            <a:ext cx="8863694" cy="3346981"/>
          </a:xfrm>
        </p:spPr>
        <p:txBody>
          <a:bodyPr/>
          <a:lstStyle/>
          <a:p>
            <a:pPr algn="ctr"/>
            <a:r>
              <a:rPr lang="en-US" dirty="0"/>
              <a:t>Shoot &amp; root dynamic parametric 3D model (</a:t>
            </a:r>
            <a:r>
              <a:rPr lang="en-US" dirty="0" err="1"/>
              <a:t>ArchiCrop</a:t>
            </a:r>
            <a:r>
              <a:rPr lang="en-US" dirty="0"/>
              <a:t>)</a:t>
            </a:r>
          </a:p>
          <a:p>
            <a:pPr algn="ctr"/>
            <a:endParaRPr lang="fr-FR" dirty="0"/>
          </a:p>
          <a:p>
            <a:pPr algn="ctr"/>
            <a:endParaRPr lang="en-US" dirty="0"/>
          </a:p>
          <a:p>
            <a:pPr algn="ctr"/>
            <a:r>
              <a:rPr lang="en-US" dirty="0"/>
              <a:t>Constrained by crop model</a:t>
            </a:r>
          </a:p>
          <a:p>
            <a:endParaRPr lang="fr-FR" dirty="0"/>
          </a:p>
          <a:p>
            <a:endParaRPr lang="en-US" dirty="0"/>
          </a:p>
          <a:p>
            <a:pPr algn="ctr"/>
            <a:r>
              <a:rPr lang="en-US" dirty="0"/>
              <a:t>But consideration of </a:t>
            </a:r>
            <a:r>
              <a:rPr lang="en-US" b="1" dirty="0"/>
              <a:t>structural and spatial aspects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adds </a:t>
            </a:r>
            <a:r>
              <a:rPr lang="en-US" b="1" dirty="0"/>
              <a:t>degrees of freedom </a:t>
            </a:r>
            <a:r>
              <a:rPr lang="en-US" dirty="0"/>
              <a:t>and enables to create </a:t>
            </a:r>
            <a:r>
              <a:rPr lang="en-US" b="1" dirty="0"/>
              <a:t>variability</a:t>
            </a:r>
            <a:r>
              <a:rPr lang="en-US" dirty="0"/>
              <a:t>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45E7CB-D235-4308-A9B2-411CFC562A3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72050" y="4699168"/>
            <a:ext cx="4606181" cy="34658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33DDBE3-F186-4C45-872D-7E4511481AD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4321" y="1609067"/>
            <a:ext cx="3468388" cy="41098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634194-EE9E-4FE9-86C9-AC17F12D5C37}"/>
              </a:ext>
            </a:extLst>
          </p:cNvPr>
          <p:cNvCxnSpPr>
            <a:cxnSpLocks/>
          </p:cNvCxnSpPr>
          <p:nvPr/>
        </p:nvCxnSpPr>
        <p:spPr>
          <a:xfrm flipV="1">
            <a:off x="1981083" y="2606040"/>
            <a:ext cx="771261" cy="11884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9DC4CD-0015-4AC2-9880-0648F6502501}"/>
              </a:ext>
            </a:extLst>
          </p:cNvPr>
          <p:cNvCxnSpPr>
            <a:cxnSpLocks/>
          </p:cNvCxnSpPr>
          <p:nvPr/>
        </p:nvCxnSpPr>
        <p:spPr>
          <a:xfrm flipH="1" flipV="1">
            <a:off x="2432304" y="2761488"/>
            <a:ext cx="863407" cy="704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6ABE4F-3188-4C8D-AABD-C5034D19533C}"/>
              </a:ext>
            </a:extLst>
          </p:cNvPr>
          <p:cNvSpPr/>
          <p:nvPr/>
        </p:nvSpPr>
        <p:spPr>
          <a:xfrm>
            <a:off x="2777473" y="2441448"/>
            <a:ext cx="937382" cy="2651760"/>
          </a:xfrm>
          <a:custGeom>
            <a:avLst/>
            <a:gdLst>
              <a:gd name="connsiteX0" fmla="*/ 83975 w 784169"/>
              <a:gd name="connsiteY0" fmla="*/ 0 h 2500604"/>
              <a:gd name="connsiteX1" fmla="*/ 783771 w 784169"/>
              <a:gd name="connsiteY1" fmla="*/ 1045028 h 2500604"/>
              <a:gd name="connsiteX2" fmla="*/ 0 w 784169"/>
              <a:gd name="connsiteY2" fmla="*/ 2500604 h 2500604"/>
              <a:gd name="connsiteX3" fmla="*/ 0 w 784169"/>
              <a:gd name="connsiteY3" fmla="*/ 2500604 h 2500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169" h="2500604">
                <a:moveTo>
                  <a:pt x="83975" y="0"/>
                </a:moveTo>
                <a:cubicBezTo>
                  <a:pt x="440871" y="314130"/>
                  <a:pt x="797767" y="628261"/>
                  <a:pt x="783771" y="1045028"/>
                </a:cubicBezTo>
                <a:cubicBezTo>
                  <a:pt x="769775" y="1461795"/>
                  <a:pt x="0" y="2500604"/>
                  <a:pt x="0" y="2500604"/>
                </a:cubicBezTo>
                <a:lnTo>
                  <a:pt x="0" y="2500604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85982ADE-0850-4B18-B76F-7F63CA5E7128}"/>
              </a:ext>
            </a:extLst>
          </p:cNvPr>
          <p:cNvSpPr/>
          <p:nvPr/>
        </p:nvSpPr>
        <p:spPr>
          <a:xfrm rot="18690826">
            <a:off x="1506860" y="3553794"/>
            <a:ext cx="560488" cy="502920"/>
          </a:xfrm>
          <a:prstGeom prst="arc">
            <a:avLst>
              <a:gd name="adj1" fmla="val 17638337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3E0460-02CB-4329-B778-5FB4AA6356CB}"/>
              </a:ext>
            </a:extLst>
          </p:cNvPr>
          <p:cNvCxnSpPr/>
          <p:nvPr/>
        </p:nvCxnSpPr>
        <p:spPr>
          <a:xfrm>
            <a:off x="733504" y="2459736"/>
            <a:ext cx="0" cy="26334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c 38">
            <a:extLst>
              <a:ext uri="{FF2B5EF4-FFF2-40B4-BE49-F238E27FC236}">
                <a16:creationId xmlns:a16="http://schemas.microsoft.com/office/drawing/2014/main" id="{4960C86A-DBC0-4406-92E6-E74A811AE564}"/>
              </a:ext>
            </a:extLst>
          </p:cNvPr>
          <p:cNvSpPr/>
          <p:nvPr/>
        </p:nvSpPr>
        <p:spPr>
          <a:xfrm rot="7300895">
            <a:off x="2339566" y="2583785"/>
            <a:ext cx="560488" cy="502920"/>
          </a:xfrm>
          <a:prstGeom prst="arc">
            <a:avLst>
              <a:gd name="adj1" fmla="val 17638337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106A94-E2D9-4D15-8B1F-BAC08D8659B2}"/>
              </a:ext>
            </a:extLst>
          </p:cNvPr>
          <p:cNvCxnSpPr/>
          <p:nvPr/>
        </p:nvCxnSpPr>
        <p:spPr>
          <a:xfrm>
            <a:off x="6678112" y="2532888"/>
            <a:ext cx="0" cy="658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B4873B1-9B91-42BD-9EBE-9933F7ED4D0C}"/>
              </a:ext>
            </a:extLst>
          </p:cNvPr>
          <p:cNvCxnSpPr/>
          <p:nvPr/>
        </p:nvCxnSpPr>
        <p:spPr>
          <a:xfrm>
            <a:off x="6678112" y="3599688"/>
            <a:ext cx="0" cy="658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743D8BF-3B3A-4163-9A82-44E56AD07FB9}"/>
              </a:ext>
            </a:extLst>
          </p:cNvPr>
          <p:cNvSpPr txBox="1"/>
          <p:nvPr/>
        </p:nvSpPr>
        <p:spPr>
          <a:xfrm>
            <a:off x="733504" y="5888454"/>
            <a:ext cx="910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E41B8F"/>
              </a:buClr>
            </a:pPr>
            <a:r>
              <a:rPr lang="en-US" sz="2000" dirty="0">
                <a:solidFill>
                  <a:srgbClr val="E41B8F"/>
                </a:solidFill>
                <a:latin typeface="Arial"/>
                <a:sym typeface="Wingdings" panose="05000000000000000000" pitchFamily="2" charset="2"/>
              </a:rPr>
              <a:t> </a:t>
            </a:r>
            <a:r>
              <a:rPr lang="en-US" sz="2000" dirty="0">
                <a:solidFill>
                  <a:srgbClr val="005E29"/>
                </a:solidFill>
                <a:latin typeface="Arial"/>
                <a:sym typeface="Wingdings" panose="05000000000000000000" pitchFamily="2" charset="2"/>
              </a:rPr>
              <a:t>Explore possible </a:t>
            </a:r>
            <a:r>
              <a:rPr lang="en-US" sz="2000" dirty="0" err="1">
                <a:solidFill>
                  <a:srgbClr val="005E29"/>
                </a:solidFill>
                <a:latin typeface="Arial"/>
                <a:sym typeface="Wingdings" panose="05000000000000000000" pitchFamily="2" charset="2"/>
              </a:rPr>
              <a:t>morphospace</a:t>
            </a:r>
            <a:r>
              <a:rPr lang="en-US" sz="2000" dirty="0">
                <a:solidFill>
                  <a:srgbClr val="005E29"/>
                </a:solidFill>
                <a:latin typeface="Arial"/>
                <a:sym typeface="Wingdings" panose="05000000000000000000" pitchFamily="2" charset="2"/>
              </a:rPr>
              <a:t> for a given crop model simulation</a:t>
            </a:r>
            <a:endParaRPr lang="en-US" sz="2000" b="1" dirty="0">
              <a:solidFill>
                <a:srgbClr val="005E2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382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D0A92E42-687A-4E22-BF40-D9CE873D93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413"/>
          <a:stretch/>
        </p:blipFill>
        <p:spPr>
          <a:xfrm>
            <a:off x="538478" y="1312946"/>
            <a:ext cx="8120890" cy="52809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67D627-E15F-49D9-98FA-654B592A1E2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04812">
            <a:off x="4678756" y="2929957"/>
            <a:ext cx="4085684" cy="335372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9D10E85-17CC-4300-8E8E-B47870484EA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351379">
            <a:off x="6730888" y="727872"/>
            <a:ext cx="5034207" cy="596518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AC4826-6AD1-4897-8EF8-DE3B093954B8}"/>
              </a:ext>
            </a:extLst>
          </p:cNvPr>
          <p:cNvCxnSpPr>
            <a:cxnSpLocks/>
          </p:cNvCxnSpPr>
          <p:nvPr/>
        </p:nvCxnSpPr>
        <p:spPr>
          <a:xfrm flipV="1">
            <a:off x="6029255" y="2260963"/>
            <a:ext cx="492696" cy="67818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EC6F83-4F84-4415-B017-DB4DDF08116D}"/>
              </a:ext>
            </a:extLst>
          </p:cNvPr>
          <p:cNvCxnSpPr>
            <a:cxnSpLocks/>
          </p:cNvCxnSpPr>
          <p:nvPr/>
        </p:nvCxnSpPr>
        <p:spPr>
          <a:xfrm flipV="1">
            <a:off x="6056687" y="2932659"/>
            <a:ext cx="514890" cy="6484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3F4441-527A-4772-829E-B8000984BEE1}"/>
              </a:ext>
            </a:extLst>
          </p:cNvPr>
          <p:cNvCxnSpPr>
            <a:cxnSpLocks/>
          </p:cNvCxnSpPr>
          <p:nvPr/>
        </p:nvCxnSpPr>
        <p:spPr>
          <a:xfrm flipH="1" flipV="1">
            <a:off x="6516216" y="2231136"/>
            <a:ext cx="2336" cy="708009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891854D-E637-4A12-A5CB-5FC085F6CD0E}"/>
              </a:ext>
            </a:extLst>
          </p:cNvPr>
          <p:cNvSpPr txBox="1"/>
          <p:nvPr/>
        </p:nvSpPr>
        <p:spPr>
          <a:xfrm>
            <a:off x="6158599" y="2968529"/>
            <a:ext cx="45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C9973E-F701-4C4C-A383-182584BA6BAB}"/>
              </a:ext>
            </a:extLst>
          </p:cNvPr>
          <p:cNvSpPr txBox="1"/>
          <p:nvPr/>
        </p:nvSpPr>
        <p:spPr>
          <a:xfrm>
            <a:off x="6637175" y="2406132"/>
            <a:ext cx="7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dLAI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38DF35-35A6-47AE-95E1-3C192AE6A541}"/>
              </a:ext>
            </a:extLst>
          </p:cNvPr>
          <p:cNvCxnSpPr>
            <a:cxnSpLocks/>
          </p:cNvCxnSpPr>
          <p:nvPr/>
        </p:nvCxnSpPr>
        <p:spPr>
          <a:xfrm flipV="1">
            <a:off x="6695698" y="3758674"/>
            <a:ext cx="200419" cy="45424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39B186-D72B-4AD5-9382-B64D51E98FBF}"/>
              </a:ext>
            </a:extLst>
          </p:cNvPr>
          <p:cNvCxnSpPr>
            <a:cxnSpLocks/>
          </p:cNvCxnSpPr>
          <p:nvPr/>
        </p:nvCxnSpPr>
        <p:spPr>
          <a:xfrm flipH="1" flipV="1">
            <a:off x="6480101" y="3966132"/>
            <a:ext cx="181958" cy="358981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BA87F9-94DC-4EA3-8F4B-3FE78026D16A}"/>
              </a:ext>
            </a:extLst>
          </p:cNvPr>
          <p:cNvCxnSpPr>
            <a:cxnSpLocks/>
          </p:cNvCxnSpPr>
          <p:nvPr/>
        </p:nvCxnSpPr>
        <p:spPr>
          <a:xfrm flipH="1">
            <a:off x="6646153" y="2786670"/>
            <a:ext cx="249965" cy="111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le 5">
            <a:extLst>
              <a:ext uri="{FF2B5EF4-FFF2-40B4-BE49-F238E27FC236}">
                <a16:creationId xmlns:a16="http://schemas.microsoft.com/office/drawing/2014/main" id="{7F52D5B5-9FCF-4CAE-8A17-0C74C8C0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4" y="354288"/>
            <a:ext cx="10841593" cy="945122"/>
          </a:xfrm>
        </p:spPr>
        <p:txBody>
          <a:bodyPr/>
          <a:lstStyle/>
          <a:p>
            <a:r>
              <a:rPr lang="fr-FR" b="0" dirty="0"/>
              <a:t>Ex: </a:t>
            </a:r>
            <a:r>
              <a:rPr lang="fr-FR" dirty="0" err="1"/>
              <a:t>constrain</a:t>
            </a:r>
            <a:r>
              <a:rPr lang="fr-FR" dirty="0"/>
              <a:t> </a:t>
            </a:r>
            <a:r>
              <a:rPr lang="fr-FR" dirty="0" err="1"/>
              <a:t>leaf</a:t>
            </a:r>
            <a:r>
              <a:rPr lang="fr-FR" dirty="0"/>
              <a:t> </a:t>
            </a:r>
            <a:r>
              <a:rPr lang="fr-FR" dirty="0" err="1"/>
              <a:t>growth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Leaf</a:t>
            </a:r>
            <a:r>
              <a:rPr lang="fr-FR" dirty="0"/>
              <a:t> Area Index (LAI)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crop</a:t>
            </a:r>
            <a:r>
              <a:rPr lang="fr-FR" dirty="0"/>
              <a:t> model for </a:t>
            </a:r>
            <a:r>
              <a:rPr lang="fr-FR" dirty="0" err="1"/>
              <a:t>maize</a:t>
            </a:r>
            <a:r>
              <a:rPr lang="fr-FR" dirty="0"/>
              <a:t> </a:t>
            </a:r>
            <a:r>
              <a:rPr lang="fr-FR" dirty="0" err="1"/>
              <a:t>crop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3B1A82-BE1C-4344-8CF6-519C4BF1AE9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242277">
            <a:off x="2861102" y="5358126"/>
            <a:ext cx="561739" cy="523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89B755-DF1D-4F4F-B349-FD07DF968D5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33908">
            <a:off x="3062289" y="4843350"/>
            <a:ext cx="1377894" cy="11875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3D109F-BFA5-4D1C-9A94-71B1FF97620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26792">
            <a:off x="3558005" y="3967062"/>
            <a:ext cx="2695712" cy="23935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14B7B2-18A3-410E-95A7-921A12010BAC}"/>
                  </a:ext>
                </a:extLst>
              </p:cNvPr>
              <p:cNvSpPr txBox="1"/>
              <p:nvPr/>
            </p:nvSpPr>
            <p:spPr>
              <a:xfrm>
                <a:off x="1622294" y="2323794"/>
                <a:ext cx="3863237" cy="1434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𝐿𝐴𝐼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fr-FR" b="0" i="0" smtClean="0"/>
                        <m:t>* </m:t>
                      </m:r>
                      <m:r>
                        <m:rPr>
                          <m:nor/>
                        </m:rPr>
                        <a:rPr lang="fr-FR" b="0" i="0" smtClean="0"/>
                        <m:t>density</m:t>
                      </m:r>
                      <m:r>
                        <m:rPr>
                          <m:nor/>
                        </m:rPr>
                        <a:rPr lang="fr-FR" b="0" i="0" smtClean="0"/>
                        <m:t> </m:t>
                      </m:r>
                      <m:r>
                        <m:rPr>
                          <m:nor/>
                        </m:rPr>
                        <a:rPr lang="en-US"/>
                        <m:t>= 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𝐴𝑟𝑒𝑎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𝐿𝑒𝑎𝑓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fr-FR" dirty="0"/>
              </a:p>
              <a:p>
                <a:endParaRPr lang="fr-FR" sz="1400" dirty="0"/>
              </a:p>
              <a:p>
                <a:r>
                  <a:rPr lang="fr-FR" sz="1400" dirty="0"/>
                  <a:t>	</a:t>
                </a:r>
                <a:r>
                  <a:rPr lang="fr-FR" sz="1400" dirty="0" err="1"/>
                  <a:t>i,j</a:t>
                </a:r>
                <a:r>
                  <a:rPr lang="fr-FR" sz="1400" dirty="0"/>
                  <a:t>: indexes of </a:t>
                </a:r>
                <a:r>
                  <a:rPr lang="fr-FR" sz="1400" dirty="0" err="1"/>
                  <a:t>respectively</a:t>
                </a:r>
                <a:r>
                  <a:rPr lang="fr-FR" sz="1400" dirty="0"/>
                  <a:t> </a:t>
                </a:r>
              </a:p>
              <a:p>
                <a:r>
                  <a:rPr lang="fr-FR" sz="1400" dirty="0"/>
                  <a:t>	first and last </a:t>
                </a:r>
                <a:r>
                  <a:rPr lang="fr-FR" sz="1400" dirty="0" err="1"/>
                  <a:t>growing</a:t>
                </a:r>
                <a:r>
                  <a:rPr lang="fr-FR" sz="1400" dirty="0"/>
                  <a:t> </a:t>
                </a:r>
                <a:r>
                  <a:rPr lang="fr-FR" sz="1400" dirty="0" err="1"/>
                  <a:t>leaves</a:t>
                </a:r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014B7B2-18A3-410E-95A7-921A12010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294" y="2323794"/>
                <a:ext cx="3863237" cy="1434880"/>
              </a:xfrm>
              <a:prstGeom prst="rect">
                <a:avLst/>
              </a:prstGeom>
              <a:blipFill>
                <a:blip r:embed="rId8"/>
                <a:stretch>
                  <a:fillRect b="-6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731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0C6BE7-BB75-4F22-A767-7F05D8043B60}"/>
              </a:ext>
            </a:extLst>
          </p:cNvPr>
          <p:cNvSpPr/>
          <p:nvPr/>
        </p:nvSpPr>
        <p:spPr>
          <a:xfrm>
            <a:off x="9354601" y="1791242"/>
            <a:ext cx="2029968" cy="339242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E2AAC3-55A1-4E35-907B-FA4C5DF0B26B}"/>
              </a:ext>
            </a:extLst>
          </p:cNvPr>
          <p:cNvSpPr/>
          <p:nvPr/>
        </p:nvSpPr>
        <p:spPr>
          <a:xfrm>
            <a:off x="5952079" y="1814412"/>
            <a:ext cx="2409444" cy="339242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5F309BC-13DB-4FC6-9A1E-3E8138E2D31F}"/>
              </a:ext>
            </a:extLst>
          </p:cNvPr>
          <p:cNvSpPr/>
          <p:nvPr/>
        </p:nvSpPr>
        <p:spPr>
          <a:xfrm>
            <a:off x="807431" y="3706714"/>
            <a:ext cx="3931920" cy="17156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2D3B4E-E891-4E41-98FE-D575FF3DB2EB}"/>
              </a:ext>
            </a:extLst>
          </p:cNvPr>
          <p:cNvSpPr/>
          <p:nvPr/>
        </p:nvSpPr>
        <p:spPr>
          <a:xfrm>
            <a:off x="807431" y="1619828"/>
            <a:ext cx="3931920" cy="186762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536555-4558-4E29-AD88-9DE27BBE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4" y="354288"/>
            <a:ext cx="10614199" cy="945122"/>
          </a:xfrm>
        </p:spPr>
        <p:txBody>
          <a:bodyPr/>
          <a:lstStyle/>
          <a:p>
            <a:r>
              <a:rPr lang="en-US" dirty="0"/>
              <a:t>Workflow for the assessment of hypotheses in crop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C8CF6-88A7-47B0-BD46-DFB76624B246}"/>
              </a:ext>
            </a:extLst>
          </p:cNvPr>
          <p:cNvSpPr txBox="1"/>
          <p:nvPr/>
        </p:nvSpPr>
        <p:spPr>
          <a:xfrm>
            <a:off x="1057033" y="1834140"/>
            <a:ext cx="3432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Arial"/>
                <a:sym typeface="Wingdings" panose="05000000000000000000" pitchFamily="2" charset="2"/>
              </a:rPr>
              <a:t>For various </a:t>
            </a:r>
            <a:r>
              <a:rPr lang="en-US" dirty="0" err="1">
                <a:solidFill>
                  <a:schemeClr val="accent5"/>
                </a:solidFill>
                <a:latin typeface="Arial"/>
                <a:sym typeface="Wingdings" panose="05000000000000000000" pitchFamily="2" charset="2"/>
              </a:rPr>
              <a:t>GxGxExM</a:t>
            </a:r>
            <a:r>
              <a:rPr lang="en-US" dirty="0">
                <a:solidFill>
                  <a:schemeClr val="accent5"/>
                </a:solidFill>
                <a:latin typeface="Arial"/>
                <a:sym typeface="Wingdings" panose="05000000000000000000" pitchFamily="2" charset="2"/>
              </a:rPr>
              <a:t>: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  <a:p>
            <a:pPr algn="ctr"/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  <a:p>
            <a:pPr algn="ctr"/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1 crop model simulation </a:t>
            </a:r>
          </a:p>
          <a:p>
            <a:pPr algn="ctr"/>
            <a:r>
              <a:rPr lang="en-US" dirty="0">
                <a:solidFill>
                  <a:schemeClr val="accent1"/>
                </a:solidFill>
                <a:latin typeface="Arial"/>
                <a:cs typeface="Arial"/>
                <a:sym typeface="Wingdings" panose="05000000000000000000" pitchFamily="2" charset="2"/>
              </a:rPr>
              <a:t></a:t>
            </a:r>
          </a:p>
          <a:p>
            <a:pPr algn="ctr"/>
            <a:r>
              <a:rPr lang="en-US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 many morphotypes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ACE9E-A577-4B34-A24C-857C8BB50E18}"/>
              </a:ext>
            </a:extLst>
          </p:cNvPr>
          <p:cNvSpPr txBox="1"/>
          <p:nvPr/>
        </p:nvSpPr>
        <p:spPr>
          <a:xfrm>
            <a:off x="6029803" y="2179416"/>
            <a:ext cx="22539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Analyses:</a:t>
            </a:r>
          </a:p>
          <a:p>
            <a:pPr algn="ctr"/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  <a:p>
            <a:pPr indent="-285750">
              <a:buFontTx/>
              <a:buChar char="-"/>
            </a:pPr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to verify or not our hypothesis</a:t>
            </a:r>
          </a:p>
          <a:p>
            <a:pPr indent="-285750">
              <a:buFontTx/>
              <a:buChar char="-"/>
            </a:pP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  <a:p>
            <a:pPr indent="-285750">
              <a:buFontTx/>
              <a:buChar char="-"/>
            </a:pPr>
            <a:r>
              <a:rPr lang="en-US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If so, to spot architectural and/or spatial parameters of interest 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080C34-8E5E-46EF-BCA2-B7D7DDAB9856}"/>
              </a:ext>
            </a:extLst>
          </p:cNvPr>
          <p:cNvSpPr txBox="1"/>
          <p:nvPr/>
        </p:nvSpPr>
        <p:spPr>
          <a:xfrm>
            <a:off x="1005407" y="3817016"/>
            <a:ext cx="35359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  <a:latin typeface="Arial"/>
                <a:cs typeface="Arial"/>
              </a:rPr>
              <a:t>For </a:t>
            </a:r>
            <a:r>
              <a:rPr lang="fr-FR" dirty="0" err="1">
                <a:solidFill>
                  <a:schemeClr val="accent5"/>
                </a:solidFill>
                <a:latin typeface="Arial"/>
                <a:cs typeface="Arial"/>
              </a:rPr>
              <a:t>identified</a:t>
            </a:r>
            <a:r>
              <a:rPr lang="fr-FR" dirty="0">
                <a:solidFill>
                  <a:schemeClr val="accent5"/>
                </a:solidFill>
                <a:latin typeface="Arial"/>
                <a:cs typeface="Arial"/>
              </a:rPr>
              <a:t> plant </a:t>
            </a:r>
            <a:r>
              <a:rPr lang="fr-FR" dirty="0" err="1">
                <a:solidFill>
                  <a:schemeClr val="accent5"/>
                </a:solidFill>
                <a:latin typeface="Arial"/>
                <a:cs typeface="Arial"/>
              </a:rPr>
              <a:t>processes</a:t>
            </a:r>
            <a:r>
              <a:rPr lang="fr-FR" dirty="0">
                <a:solidFill>
                  <a:schemeClr val="accent5"/>
                </a:solidFill>
                <a:latin typeface="Arial"/>
                <a:cs typeface="Arial"/>
              </a:rPr>
              <a:t>: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  <a:p>
            <a:pPr algn="ctr"/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  <a:p>
            <a:pPr algn="ctr"/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1 process </a:t>
            </a:r>
          </a:p>
          <a:p>
            <a:pPr algn="ctr"/>
            <a:r>
              <a:rPr lang="en-US" dirty="0">
                <a:solidFill>
                  <a:schemeClr val="accent1"/>
                </a:solidFill>
                <a:latin typeface="Arial"/>
                <a:cs typeface="Arial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 </a:t>
            </a:r>
          </a:p>
          <a:p>
            <a:pPr algn="ctr"/>
            <a:r>
              <a:rPr lang="en-US" dirty="0">
                <a:solidFill>
                  <a:schemeClr val="accent5"/>
                </a:solidFill>
                <a:latin typeface="Arial"/>
                <a:cs typeface="Arial"/>
                <a:sym typeface="Wingdings" panose="05000000000000000000" pitchFamily="2" charset="2"/>
              </a:rPr>
              <a:t>1 formalism / model 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F521E-4263-48F7-ABA7-B6BCED43E232}"/>
              </a:ext>
            </a:extLst>
          </p:cNvPr>
          <p:cNvSpPr txBox="1"/>
          <p:nvPr/>
        </p:nvSpPr>
        <p:spPr>
          <a:xfrm>
            <a:off x="9510049" y="2828835"/>
            <a:ext cx="1792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/>
                <a:cs typeface="Arial"/>
              </a:rPr>
              <a:t>If needed, find new formalisms for a given plant process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B12097F-EC4E-4515-AF64-317A235FE48A}"/>
              </a:ext>
            </a:extLst>
          </p:cNvPr>
          <p:cNvSpPr/>
          <p:nvPr/>
        </p:nvSpPr>
        <p:spPr>
          <a:xfrm>
            <a:off x="8643178" y="3423250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19B00E-F022-4877-A74A-9C70E0CDEF03}"/>
              </a:ext>
            </a:extLst>
          </p:cNvPr>
          <p:cNvSpPr/>
          <p:nvPr/>
        </p:nvSpPr>
        <p:spPr>
          <a:xfrm>
            <a:off x="5229703" y="3428999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B1BCF6-CCD5-4A28-B7A8-61F3212504AA}"/>
              </a:ext>
            </a:extLst>
          </p:cNvPr>
          <p:cNvSpPr/>
          <p:nvPr/>
        </p:nvSpPr>
        <p:spPr>
          <a:xfrm>
            <a:off x="10561320" y="6291072"/>
            <a:ext cx="1289304" cy="50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1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18" grpId="0" animBg="1"/>
      <p:bldP spid="6" grpId="0"/>
      <p:bldP spid="7" grpId="0"/>
      <p:bldP spid="8" grpId="0"/>
      <p:bldP spid="9" grpId="0"/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7F9A-FFAB-44B9-AC40-28090454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36F6B75E-EB05-4F3A-A392-624184A8FBC2}"/>
              </a:ext>
            </a:extLst>
          </p:cNvPr>
          <p:cNvSpPr txBox="1">
            <a:spLocks/>
          </p:cNvSpPr>
          <p:nvPr/>
        </p:nvSpPr>
        <p:spPr>
          <a:xfrm>
            <a:off x="451929" y="1556657"/>
            <a:ext cx="5437242" cy="4268348"/>
          </a:xfrm>
          <a:prstGeom prst="rect">
            <a:avLst/>
          </a:prstGeom>
        </p:spPr>
        <p:txBody>
          <a:bodyPr/>
          <a:lstStyle>
            <a:lvl1pPr marL="0" indent="0" algn="l" defTabSz="914400" eaLnBrk="1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buNone/>
              <a:defRPr sz="1800">
                <a:solidFill>
                  <a:schemeClr val="accent5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800">
                <a:solidFill>
                  <a:schemeClr val="accent5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800">
                <a:solidFill>
                  <a:schemeClr val="accent4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8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eaLnBrk="1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500">
                <a:solidFill>
                  <a:schemeClr val="accent5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ea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/>
              <a:t>First </a:t>
            </a:r>
            <a:r>
              <a:rPr lang="fr-FR" dirty="0" err="1"/>
              <a:t>results</a:t>
            </a:r>
            <a:r>
              <a:rPr lang="fr-FR" dirty="0"/>
              <a:t>: shoot </a:t>
            </a:r>
            <a:r>
              <a:rPr lang="fr-FR" dirty="0" err="1"/>
              <a:t>parametric</a:t>
            </a:r>
            <a:r>
              <a:rPr lang="fr-FR" dirty="0"/>
              <a:t> model can </a:t>
            </a:r>
            <a:r>
              <a:rPr lang="fr-FR" dirty="0" err="1"/>
              <a:t>reproduce</a:t>
            </a:r>
            <a:r>
              <a:rPr lang="fr-FR" dirty="0"/>
              <a:t> </a:t>
            </a:r>
            <a:r>
              <a:rPr lang="fr-FR" dirty="0" err="1"/>
              <a:t>crop</a:t>
            </a:r>
            <a:r>
              <a:rPr lang="fr-FR" dirty="0"/>
              <a:t> model </a:t>
            </a:r>
            <a:r>
              <a:rPr lang="fr-FR" dirty="0" err="1"/>
              <a:t>dynamics</a:t>
            </a:r>
            <a:r>
              <a:rPr lang="fr-FR" dirty="0"/>
              <a:t> but </a:t>
            </a:r>
            <a:r>
              <a:rPr lang="fr-FR" dirty="0" err="1"/>
              <a:t>considering</a:t>
            </a:r>
            <a:r>
              <a:rPr lang="fr-FR" dirty="0"/>
              <a:t> architecture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 err="1"/>
              <a:t>Intercrop</a:t>
            </a:r>
            <a:r>
              <a:rPr lang="fr-FR" dirty="0"/>
              <a:t> </a:t>
            </a:r>
            <a:r>
              <a:rPr lang="fr-FR" dirty="0" err="1"/>
              <a:t>sorghum</a:t>
            </a:r>
            <a:r>
              <a:rPr lang="fr-FR" dirty="0"/>
              <a:t>/</a:t>
            </a:r>
            <a:r>
              <a:rPr lang="fr-FR" dirty="0" err="1"/>
              <a:t>cowpea</a:t>
            </a:r>
            <a:r>
              <a:rPr lang="fr-FR" dirty="0"/>
              <a:t>, but </a:t>
            </a:r>
            <a:r>
              <a:rPr lang="fr-FR" dirty="0" err="1"/>
              <a:t>aim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generic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/>
          </a:p>
          <a:p>
            <a:endParaRPr lang="en-US" dirty="0"/>
          </a:p>
          <a:p>
            <a:r>
              <a:rPr lang="en-US" dirty="0"/>
              <a:t>Next steps: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Assessment of formalisms in STICS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Further improve 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C24E9-F37E-47B0-86D2-6DBC59321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0" r="9801"/>
          <a:stretch/>
        </p:blipFill>
        <p:spPr>
          <a:xfrm>
            <a:off x="6934119" y="0"/>
            <a:ext cx="668782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7DF9C0-85FE-41A3-A029-4E974CB2E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783" y="4250435"/>
            <a:ext cx="1146050" cy="1429515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A29C45B9-5500-4CB7-B8A6-1853CA05D0ED}"/>
              </a:ext>
            </a:extLst>
          </p:cNvPr>
          <p:cNvSpPr/>
          <p:nvPr/>
        </p:nvSpPr>
        <p:spPr>
          <a:xfrm>
            <a:off x="4904668" y="4637314"/>
            <a:ext cx="374986" cy="1187691"/>
          </a:xfrm>
          <a:prstGeom prst="rightBrac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5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9BE9-E501-401F-830F-A585754B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610" y="2956439"/>
            <a:ext cx="7354780" cy="945122"/>
          </a:xfrm>
        </p:spPr>
        <p:txBody>
          <a:bodyPr/>
          <a:lstStyle/>
          <a:p>
            <a:pPr algn="ctr"/>
            <a:r>
              <a:rPr lang="en-US" dirty="0"/>
              <a:t>Thank you for your attention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72368D-AF19-46B2-852C-E4A44AC01134}"/>
              </a:ext>
            </a:extLst>
          </p:cNvPr>
          <p:cNvSpPr/>
          <p:nvPr/>
        </p:nvSpPr>
        <p:spPr>
          <a:xfrm>
            <a:off x="10561320" y="6291072"/>
            <a:ext cx="1289304" cy="50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07608"/>
      </p:ext>
    </p:extLst>
  </p:cSld>
  <p:clrMapOvr>
    <a:masterClrMapping/>
  </p:clrMapOvr>
</p:sld>
</file>

<file path=ppt/theme/theme1.xml><?xml version="1.0" encoding="utf-8"?>
<a:theme xmlns:a="http://schemas.openxmlformats.org/drawingml/2006/main" name="6_Onglets">
  <a:themeElements>
    <a:clrScheme name="Personnalisé 2">
      <a:dk1>
        <a:srgbClr val="000000"/>
      </a:dk1>
      <a:lt1>
        <a:srgbClr val="FFFFFF"/>
      </a:lt1>
      <a:dk2>
        <a:srgbClr val="0F282B"/>
      </a:dk2>
      <a:lt2>
        <a:srgbClr val="E7E6E6"/>
      </a:lt2>
      <a:accent1>
        <a:srgbClr val="E41B8F"/>
      </a:accent1>
      <a:accent2>
        <a:srgbClr val="E3BB90"/>
      </a:accent2>
      <a:accent3>
        <a:srgbClr val="EFF0F1"/>
      </a:accent3>
      <a:accent4>
        <a:srgbClr val="94C11E"/>
      </a:accent4>
      <a:accent5>
        <a:srgbClr val="005E29"/>
      </a:accent5>
      <a:accent6>
        <a:srgbClr val="0CA536"/>
      </a:accent6>
      <a:hlink>
        <a:srgbClr val="94C11E"/>
      </a:hlink>
      <a:folHlink>
        <a:srgbClr val="82005C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que PPT Cirad FR" id="{21BC2C7A-56CF-C642-A30F-AE6DBBB68DD6}" vid="{73987E1C-E648-9B40-A7C1-2F7395B5930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6_Onglets</Template>
  <TotalTime>5345</TotalTime>
  <Words>592</Words>
  <Application>Microsoft Office PowerPoint</Application>
  <DocSecurity>0</DocSecurity>
  <PresentationFormat>Widescreen</PresentationFormat>
  <Paragraphs>113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 Math</vt:lpstr>
      <vt:lpstr>Wingdings</vt:lpstr>
      <vt:lpstr>6_Onglets</vt:lpstr>
      <vt:lpstr>Modelling intercrops:  which hypothesis for which model ?</vt:lpstr>
      <vt:lpstr>Intercropping</vt:lpstr>
      <vt:lpstr>Models as pre-screening tools to optimize GxGxExM</vt:lpstr>
      <vt:lpstr>Ex: light interception</vt:lpstr>
      <vt:lpstr>Ex: light interception</vt:lpstr>
      <vt:lpstr>Which type of model for intercrops ?</vt:lpstr>
      <vt:lpstr>Hypothesis: The error in crop models when modeling intercrops lies in the non-consideration of plant structure (G), plant-plant interactions (GxG) and explicit spatial arrangement (M)</vt:lpstr>
      <vt:lpstr>Ex: constrain leaf growth with Leaf Area Index (LAI) from crop model for maize crop</vt:lpstr>
      <vt:lpstr>Workflow for the assessment of hypotheses in crop models</vt:lpstr>
      <vt:lpstr>Conclusion</vt:lpstr>
      <vt:lpstr>Thank you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Patricia Doucet</dc:creator>
  <cp:keywords/>
  <dc:description/>
  <cp:lastModifiedBy>Oriane BRAUD</cp:lastModifiedBy>
  <cp:revision>121</cp:revision>
  <dcterms:created xsi:type="dcterms:W3CDTF">2024-05-07T16:11:24Z</dcterms:created>
  <dcterms:modified xsi:type="dcterms:W3CDTF">2024-05-28T07:37:33Z</dcterms:modified>
  <cp:category/>
  <dc:identifier/>
  <cp:contentStatus/>
  <dc:language/>
  <cp:version/>
</cp:coreProperties>
</file>