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26"/>
  </p:notesMasterIdLst>
  <p:sldIdLst>
    <p:sldId id="256" r:id="rId4"/>
    <p:sldId id="259" r:id="rId5"/>
    <p:sldId id="262" r:id="rId6"/>
    <p:sldId id="295" r:id="rId7"/>
    <p:sldId id="297" r:id="rId8"/>
    <p:sldId id="298" r:id="rId9"/>
    <p:sldId id="299" r:id="rId10"/>
    <p:sldId id="283" r:id="rId11"/>
    <p:sldId id="319" r:id="rId12"/>
    <p:sldId id="307" r:id="rId13"/>
    <p:sldId id="314" r:id="rId14"/>
    <p:sldId id="315" r:id="rId15"/>
    <p:sldId id="272" r:id="rId16"/>
    <p:sldId id="313" r:id="rId17"/>
    <p:sldId id="257" r:id="rId18"/>
    <p:sldId id="301" r:id="rId19"/>
    <p:sldId id="290" r:id="rId20"/>
    <p:sldId id="266" r:id="rId21"/>
    <p:sldId id="270" r:id="rId22"/>
    <p:sldId id="312" r:id="rId23"/>
    <p:sldId id="311" r:id="rId24"/>
    <p:sldId id="309"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9758"/>
    <a:srgbClr val="24743A"/>
    <a:srgbClr val="F39200"/>
    <a:srgbClr val="AEAEAE"/>
    <a:srgbClr val="F1592A"/>
    <a:srgbClr val="F7941D"/>
    <a:srgbClr val="D07C00"/>
    <a:srgbClr val="C28745"/>
    <a:srgbClr val="FFC000"/>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94" autoAdjust="0"/>
    <p:restoredTop sz="83686" autoAdjust="0"/>
  </p:normalViewPr>
  <p:slideViewPr>
    <p:cSldViewPr snapToGrid="0">
      <p:cViewPr varScale="1">
        <p:scale>
          <a:sx n="69" d="100"/>
          <a:sy n="69" d="100"/>
        </p:scale>
        <p:origin x="9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1C0664-3760-4B25-9F25-C7AAC42DAE60}" type="datetimeFigureOut">
              <a:rPr lang="en-US" smtClean="0"/>
              <a:t>11/19/2024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A0A799-F059-4133-8369-1F74AA1BF689}" type="slidenum">
              <a:rPr lang="en-US" smtClean="0"/>
              <a:t>‹#›</a:t>
            </a:fld>
            <a:endParaRPr lang="en-US"/>
          </a:p>
        </p:txBody>
      </p:sp>
    </p:spTree>
    <p:extLst>
      <p:ext uri="{BB962C8B-B14F-4D97-AF65-F5344CB8AC3E}">
        <p14:creationId xmlns:p14="http://schemas.microsoft.com/office/powerpoint/2010/main" val="1155295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Plantes annuelles parmi les légumineuses et les graminées</a:t>
            </a:r>
          </a:p>
          <a:p>
            <a:endParaRPr lang="fr-FR" dirty="0"/>
          </a:p>
          <a:p>
            <a:r>
              <a:rPr lang="en-US" dirty="0"/>
              <a:t>Climate change imply an increase of biotic and abiotic stresses. </a:t>
            </a:r>
          </a:p>
          <a:p>
            <a:r>
              <a:rPr lang="en-US" dirty="0"/>
              <a:t>Agroecology and introducing heterogeneity in crop systems is one lever to create more resilient agronomic systems, while reducing their environmental impacts (less inputs) …</a:t>
            </a:r>
          </a:p>
        </p:txBody>
      </p:sp>
      <p:sp>
        <p:nvSpPr>
          <p:cNvPr id="4" name="Slide Number Placeholder 3"/>
          <p:cNvSpPr>
            <a:spLocks noGrp="1"/>
          </p:cNvSpPr>
          <p:nvPr>
            <p:ph type="sldNum" sz="quarter" idx="5"/>
          </p:nvPr>
        </p:nvSpPr>
        <p:spPr/>
        <p:txBody>
          <a:bodyPr/>
          <a:lstStyle/>
          <a:p>
            <a:fld id="{A9A0A799-F059-4133-8369-1F74AA1BF689}" type="slidenum">
              <a:rPr lang="en-US" smtClean="0"/>
              <a:t>2</a:t>
            </a:fld>
            <a:endParaRPr lang="en-US"/>
          </a:p>
        </p:txBody>
      </p:sp>
    </p:spTree>
    <p:extLst>
      <p:ext uri="{BB962C8B-B14F-4D97-AF65-F5344CB8AC3E}">
        <p14:creationId xmlns:p14="http://schemas.microsoft.com/office/powerpoint/2010/main" val="1660901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Ensembles (</a:t>
            </a:r>
            <a:r>
              <a:rPr lang="en-US" dirty="0" err="1"/>
              <a:t>pluriels</a:t>
            </a:r>
            <a:r>
              <a:rPr lang="en-US" dirty="0"/>
              <a:t>)</a:t>
            </a:r>
          </a:p>
          <a:p>
            <a:r>
              <a:rPr lang="en-US" dirty="0"/>
              <a:t>Beaucoup </a:t>
            </a:r>
            <a:r>
              <a:rPr lang="en-US" dirty="0" err="1"/>
              <a:t>d’expe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3</a:t>
            </a:fld>
            <a:endParaRPr lang="en-US"/>
          </a:p>
        </p:txBody>
      </p:sp>
    </p:spTree>
    <p:extLst>
      <p:ext uri="{BB962C8B-B14F-4D97-AF65-F5344CB8AC3E}">
        <p14:creationId xmlns:p14="http://schemas.microsoft.com/office/powerpoint/2010/main" val="563112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4</a:t>
            </a:fld>
            <a:endParaRPr lang="en-US"/>
          </a:p>
        </p:txBody>
      </p:sp>
    </p:spTree>
    <p:extLst>
      <p:ext uri="{BB962C8B-B14F-4D97-AF65-F5344CB8AC3E}">
        <p14:creationId xmlns:p14="http://schemas.microsoft.com/office/powerpoint/2010/main" val="3455908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Combinaison of </a:t>
            </a:r>
            <a:r>
              <a:rPr lang="fr-FR" dirty="0" err="1"/>
              <a:t>several</a:t>
            </a:r>
            <a:r>
              <a:rPr lang="fr-FR" dirty="0"/>
              <a:t> </a:t>
            </a:r>
            <a:r>
              <a:rPr lang="fr-FR" dirty="0" err="1"/>
              <a:t>factors</a:t>
            </a:r>
            <a:endParaRPr lang="fr-FR" dirty="0"/>
          </a:p>
          <a:p>
            <a:r>
              <a:rPr lang="fr-FR" dirty="0"/>
              <a:t>Transition : optimise </a:t>
            </a:r>
            <a:r>
              <a:rPr lang="fr-FR" dirty="0" err="1"/>
              <a:t>these</a:t>
            </a:r>
            <a:r>
              <a:rPr lang="fr-FR" dirty="0"/>
              <a:t> combinaisons </a:t>
            </a:r>
            <a:r>
              <a:rPr lang="fr-FR" dirty="0" err="1"/>
              <a:t>using</a:t>
            </a:r>
            <a:r>
              <a:rPr lang="fr-FR" dirty="0"/>
              <a:t> </a:t>
            </a:r>
            <a:r>
              <a:rPr lang="fr-FR" dirty="0" err="1"/>
              <a:t>models</a:t>
            </a:r>
            <a:r>
              <a:rPr lang="fr-FR" dirty="0"/>
              <a:t>, </a:t>
            </a:r>
            <a:r>
              <a:rPr lang="fr-FR" dirty="0" err="1"/>
              <a:t>before</a:t>
            </a:r>
            <a:r>
              <a:rPr lang="fr-FR" dirty="0"/>
              <a:t> </a:t>
            </a:r>
            <a:r>
              <a:rPr lang="fr-FR" dirty="0" err="1"/>
              <a:t>field</a:t>
            </a:r>
            <a:r>
              <a:rPr lang="fr-FR" dirty="0"/>
              <a:t> </a:t>
            </a:r>
            <a:r>
              <a:rPr lang="fr-FR" dirty="0" err="1"/>
              <a:t>experiments</a:t>
            </a:r>
            <a:r>
              <a:rPr lang="fr-FR" dirty="0"/>
              <a:t> (explore more </a:t>
            </a:r>
            <a:r>
              <a:rPr lang="fr-FR" dirty="0" err="1"/>
              <a:t>possibilities</a:t>
            </a:r>
            <a:r>
              <a:rPr lang="fr-FR" dirty="0"/>
              <a:t>)</a:t>
            </a:r>
          </a:p>
          <a:p>
            <a:endParaRPr lang="fr-FR" dirty="0"/>
          </a:p>
        </p:txBody>
      </p:sp>
      <p:sp>
        <p:nvSpPr>
          <p:cNvPr id="4" name="Slide Number Placeholder 3"/>
          <p:cNvSpPr>
            <a:spLocks noGrp="1"/>
          </p:cNvSpPr>
          <p:nvPr>
            <p:ph type="sldNum" sz="quarter" idx="5"/>
          </p:nvPr>
        </p:nvSpPr>
        <p:spPr/>
        <p:txBody>
          <a:bodyPr/>
          <a:lstStyle/>
          <a:p>
            <a:fld id="{A9A0A799-F059-4133-8369-1F74AA1BF689}" type="slidenum">
              <a:rPr lang="en-US" smtClean="0"/>
              <a:t>5</a:t>
            </a:fld>
            <a:endParaRPr lang="en-US"/>
          </a:p>
        </p:txBody>
      </p:sp>
    </p:spTree>
    <p:extLst>
      <p:ext uri="{BB962C8B-B14F-4D97-AF65-F5344CB8AC3E}">
        <p14:creationId xmlns:p14="http://schemas.microsoft.com/office/powerpoint/2010/main" val="3957706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Limits due to </a:t>
            </a:r>
            <a:r>
              <a:rPr lang="fr-FR" dirty="0" err="1"/>
              <a:t>scale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integrate </a:t>
            </a:r>
            <a:r>
              <a:rPr lang="en-US" b="1" dirty="0"/>
              <a:t>environmental stresses</a:t>
            </a:r>
            <a:r>
              <a:rPr lang="en-US" dirty="0"/>
              <a:t>, as factors of reduction for processes of a potential averaged plant </a:t>
            </a:r>
          </a:p>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6</a:t>
            </a:fld>
            <a:endParaRPr lang="en-US"/>
          </a:p>
        </p:txBody>
      </p:sp>
    </p:spTree>
    <p:extLst>
      <p:ext uri="{BB962C8B-B14F-4D97-AF65-F5344CB8AC3E}">
        <p14:creationId xmlns:p14="http://schemas.microsoft.com/office/powerpoint/2010/main" val="3541011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Limits due to </a:t>
            </a:r>
            <a:r>
              <a:rPr lang="fr-FR" dirty="0" err="1"/>
              <a:t>scale</a:t>
            </a:r>
            <a:endParaRPr lang="en-US" dirty="0"/>
          </a:p>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7</a:t>
            </a:fld>
            <a:endParaRPr lang="en-US"/>
          </a:p>
        </p:txBody>
      </p:sp>
    </p:spTree>
    <p:extLst>
      <p:ext uri="{BB962C8B-B14F-4D97-AF65-F5344CB8AC3E}">
        <p14:creationId xmlns:p14="http://schemas.microsoft.com/office/powerpoint/2010/main" val="3617500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Complémentarité des modèles, </a:t>
            </a:r>
            <a:r>
              <a:rPr lang="fr-FR" dirty="0" err="1"/>
              <a:t>trade</a:t>
            </a:r>
            <a:r>
              <a:rPr lang="fr-FR" dirty="0"/>
              <a:t>-off robustesse et précision</a:t>
            </a:r>
          </a:p>
          <a:p>
            <a:r>
              <a:rPr lang="fr-FR" dirty="0"/>
              <a:t>Top-down </a:t>
            </a:r>
            <a:r>
              <a:rPr lang="fr-FR" dirty="0" err="1"/>
              <a:t>approach</a:t>
            </a:r>
            <a:endParaRPr lang="fr-FR" dirty="0"/>
          </a:p>
          <a:p>
            <a:endParaRPr lang="fr-FR" dirty="0"/>
          </a:p>
          <a:p>
            <a:r>
              <a:rPr lang="en-US" dirty="0"/>
              <a:t>For modeling heterogeneous cropping systems, considering 3D explicit plant architecture is interesting. Measurements of 3D plants are hard to get. We know some allometric relationships between plant architectural parameters, as well as development patterns. Crop models, which operate at canopy scale thanks to homogeneous hypotheses, are easily calibrated and integrate environmental stresses.  </a:t>
            </a:r>
          </a:p>
          <a:p>
            <a:endParaRPr lang="en-US" dirty="0"/>
          </a:p>
          <a:p>
            <a:r>
              <a:rPr lang="en-US" dirty="0"/>
              <a:t>State of the art:</a:t>
            </a:r>
          </a:p>
          <a:p>
            <a:r>
              <a:rPr lang="en-US" dirty="0" err="1"/>
              <a:t>Vezy</a:t>
            </a:r>
            <a:r>
              <a:rPr lang="en-US" dirty="0"/>
              <a:t> 2023: hybrid 2.5D formalism for light interception in STICS crop model</a:t>
            </a:r>
            <a:endParaRPr lang="fr-FR" dirty="0"/>
          </a:p>
          <a:p>
            <a:r>
              <a:rPr lang="fr-FR" dirty="0"/>
              <a:t>Feng et al., 2014: </a:t>
            </a:r>
          </a:p>
          <a:p>
            <a:r>
              <a:rPr lang="fr-FR" dirty="0" err="1"/>
              <a:t>GreenLab</a:t>
            </a:r>
            <a:endParaRPr lang="fr-FR" dirty="0"/>
          </a:p>
          <a:p>
            <a:r>
              <a:rPr lang="fr-FR" dirty="0" err="1"/>
              <a:t>Ecomeristem</a:t>
            </a:r>
            <a:endParaRPr lang="fr-FR" dirty="0"/>
          </a:p>
          <a:p>
            <a:r>
              <a:rPr lang="fr-FR" dirty="0"/>
              <a:t>Li et al., 2024: </a:t>
            </a:r>
          </a:p>
          <a:p>
            <a:endParaRPr lang="fr-FR" dirty="0"/>
          </a:p>
          <a:p>
            <a:r>
              <a:rPr lang="fr-FR" dirty="0" err="1"/>
              <a:t>Barillot</a:t>
            </a:r>
            <a:r>
              <a:rPr lang="fr-FR" dirty="0"/>
              <a:t> et al., 2011: </a:t>
            </a:r>
            <a:r>
              <a:rPr lang="fr-FR" dirty="0" err="1"/>
              <a:t>assessment</a:t>
            </a:r>
            <a:r>
              <a:rPr lang="fr-FR" dirty="0"/>
              <a:t> of </a:t>
            </a:r>
            <a:r>
              <a:rPr lang="en-US" dirty="0"/>
              <a:t>turbid medium approach for simulating light interception of intercrops</a:t>
            </a:r>
          </a:p>
          <a:p>
            <a:r>
              <a:rPr lang="en-US" dirty="0"/>
              <a:t>Ponce de Leon and Bailey, 2019: assessment of turbid medium approach for simulating light interception of heterogeneous and </a:t>
            </a:r>
            <a:r>
              <a:rPr lang="en-US" dirty="0" err="1"/>
              <a:t>anisotropous</a:t>
            </a:r>
            <a:r>
              <a:rPr lang="en-US" dirty="0"/>
              <a:t> canopies</a:t>
            </a:r>
          </a:p>
          <a:p>
            <a:endParaRPr lang="fr-FR" dirty="0"/>
          </a:p>
          <a:p>
            <a:r>
              <a:rPr lang="fr-FR" dirty="0"/>
              <a:t>B</a:t>
            </a:r>
            <a:r>
              <a:rPr lang="en-US" dirty="0" err="1"/>
              <a:t>ailey</a:t>
            </a:r>
            <a:r>
              <a:rPr lang="en-US" dirty="0"/>
              <a:t> et al., 2020: incorporate the effects of vegetation heterogeneity or “clumping” within crop models; the models were evaluated by comparing against simulated data generated by a three-dimensional leaf-resolving model in which the exact inputs are known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Incorporate effect of vegetation heterogeneity within crop models + </a:t>
            </a:r>
            <a:r>
              <a:rPr lang="en-US" i="1" dirty="0"/>
              <a:t>in silico </a:t>
            </a:r>
            <a:r>
              <a:rPr lang="en-US" dirty="0"/>
              <a:t>model evaluation </a:t>
            </a:r>
          </a:p>
          <a:p>
            <a:endParaRPr lang="en-US" dirty="0"/>
          </a:p>
          <a:p>
            <a:r>
              <a:rPr lang="fr-FR" dirty="0" err="1"/>
              <a:t>Barillot</a:t>
            </a:r>
            <a:r>
              <a:rPr lang="fr-FR" dirty="0"/>
              <a:t> et al., 2014 </a:t>
            </a:r>
            <a:r>
              <a:rPr lang="en-US" dirty="0"/>
              <a:t>(wheat/pea intercrop)</a:t>
            </a:r>
            <a:r>
              <a:rPr lang="fr-FR" dirty="0"/>
              <a:t>: </a:t>
            </a:r>
            <a:r>
              <a:rPr lang="en-US" dirty="0"/>
              <a:t>impact of </a:t>
            </a:r>
            <a:r>
              <a:rPr lang="en-US" dirty="0" err="1"/>
              <a:t>archi</a:t>
            </a:r>
            <a:r>
              <a:rPr lang="en-US" dirty="0"/>
              <a:t> variations on light interception</a:t>
            </a:r>
            <a:endParaRPr lang="fr-FR" dirty="0"/>
          </a:p>
          <a:p>
            <a:r>
              <a:rPr lang="fr-FR" dirty="0"/>
              <a:t>T</a:t>
            </a:r>
            <a:r>
              <a:rPr lang="en-US" dirty="0" err="1"/>
              <a:t>ruong</a:t>
            </a:r>
            <a:r>
              <a:rPr lang="en-US" dirty="0"/>
              <a:t> et al, 2015 (sorghum); </a:t>
            </a:r>
            <a:r>
              <a:rPr lang="en-US" dirty="0" err="1"/>
              <a:t>Barillot</a:t>
            </a:r>
            <a:r>
              <a:rPr lang="en-US" dirty="0"/>
              <a:t> et al., 2019 (wheat/pea intercrop) : impact of leaf angle on light interception</a:t>
            </a:r>
          </a:p>
          <a:p>
            <a:r>
              <a:rPr lang="fr-FR" dirty="0"/>
              <a:t>P</a:t>
            </a:r>
            <a:r>
              <a:rPr lang="en-US" dirty="0"/>
              <a:t>once de Leon and Bailey, 2024 : impact of leaf angle and density distribution on WUE</a:t>
            </a:r>
          </a:p>
          <a:p>
            <a:endParaRPr lang="en-US" dirty="0"/>
          </a:p>
          <a:p>
            <a:endParaRPr lang="en-US" dirty="0"/>
          </a:p>
          <a:p>
            <a:r>
              <a:rPr lang="en-US" dirty="0"/>
              <a:t>How to conceive a 3D cereal model with few architectural and developmental parameters and with a canopy-scale constrain on growth ?  </a:t>
            </a:r>
          </a:p>
          <a:p>
            <a:endParaRPr lang="en-US" dirty="0"/>
          </a:p>
          <a:p>
            <a:r>
              <a:rPr lang="en-US" dirty="0"/>
              <a:t>We conceive a well-constrained parametric 3D cereal model, with known allometric relationships between parameters, and using a top-down approach to simulate the differential growth of cereal plants through time from canopy-scale dynamic constraints on growth (e.g. crop model simulation outputs). </a:t>
            </a:r>
          </a:p>
        </p:txBody>
      </p:sp>
      <p:sp>
        <p:nvSpPr>
          <p:cNvPr id="4" name="Slide Number Placeholder 3"/>
          <p:cNvSpPr>
            <a:spLocks noGrp="1"/>
          </p:cNvSpPr>
          <p:nvPr>
            <p:ph type="sldNum" sz="quarter" idx="5"/>
          </p:nvPr>
        </p:nvSpPr>
        <p:spPr/>
        <p:txBody>
          <a:bodyPr/>
          <a:lstStyle/>
          <a:p>
            <a:fld id="{A9A0A799-F059-4133-8369-1F74AA1BF689}" type="slidenum">
              <a:rPr lang="en-US" smtClean="0"/>
              <a:t>8</a:t>
            </a:fld>
            <a:endParaRPr lang="en-US"/>
          </a:p>
        </p:txBody>
      </p:sp>
    </p:spTree>
    <p:extLst>
      <p:ext uri="{BB962C8B-B14F-4D97-AF65-F5344CB8AC3E}">
        <p14:creationId xmlns:p14="http://schemas.microsoft.com/office/powerpoint/2010/main" val="2957065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Maintenant on peut se demander comment on pourrait s’y prendre pour tirer le meilleur de chaque approche pour modéliser les cultures en mélange ?</a:t>
            </a:r>
          </a:p>
          <a:p>
            <a:r>
              <a:rPr lang="fr-FR" dirty="0"/>
              <a:t>Certains travaux se sont déjà attachés, processus par processus, à </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9</a:t>
            </a:fld>
            <a:endParaRPr lang="en-US"/>
          </a:p>
        </p:txBody>
      </p:sp>
    </p:spTree>
    <p:extLst>
      <p:ext uri="{BB962C8B-B14F-4D97-AF65-F5344CB8AC3E}">
        <p14:creationId xmlns:p14="http://schemas.microsoft.com/office/powerpoint/2010/main" val="3823378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given process, for intercrops, what scale is the most relevant ?</a:t>
            </a:r>
          </a:p>
          <a:p>
            <a:r>
              <a:rPr lang="en-US" dirty="0"/>
              <a:t>C1: how to create an equivalent of a crop model simulation, but </a:t>
            </a:r>
            <a:r>
              <a:rPr lang="en-US" dirty="0" err="1"/>
              <a:t>architectured</a:t>
            </a:r>
            <a:r>
              <a:rPr lang="en-US" dirty="0"/>
              <a:t> ?</a:t>
            </a:r>
          </a:p>
          <a:p>
            <a:r>
              <a:rPr lang="en-US" dirty="0"/>
              <a:t>Peng 2020</a:t>
            </a:r>
          </a:p>
          <a:p>
            <a:endParaRPr lang="fr-FR" dirty="0"/>
          </a:p>
          <a:p>
            <a:r>
              <a:rPr lang="fr-FR" dirty="0"/>
              <a:t>M</a:t>
            </a:r>
            <a:r>
              <a:rPr lang="en-US" dirty="0"/>
              <a:t>ix with previous slide</a:t>
            </a:r>
          </a:p>
        </p:txBody>
      </p:sp>
      <p:sp>
        <p:nvSpPr>
          <p:cNvPr id="4" name="Slide Number Placeholder 3"/>
          <p:cNvSpPr>
            <a:spLocks noGrp="1"/>
          </p:cNvSpPr>
          <p:nvPr>
            <p:ph type="sldNum" sz="quarter" idx="5"/>
          </p:nvPr>
        </p:nvSpPr>
        <p:spPr/>
        <p:txBody>
          <a:bodyPr/>
          <a:lstStyle/>
          <a:p>
            <a:fld id="{A9A0A799-F059-4133-8369-1F74AA1BF689}" type="slidenum">
              <a:rPr lang="en-US" smtClean="0"/>
              <a:t>10</a:t>
            </a:fld>
            <a:endParaRPr lang="en-US"/>
          </a:p>
        </p:txBody>
      </p:sp>
    </p:spTree>
    <p:extLst>
      <p:ext uri="{BB962C8B-B14F-4D97-AF65-F5344CB8AC3E}">
        <p14:creationId xmlns:p14="http://schemas.microsoft.com/office/powerpoint/2010/main" val="267918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given process, for intercrops, what scale is the most relevant ?</a:t>
            </a:r>
          </a:p>
          <a:p>
            <a:r>
              <a:rPr lang="en-US" dirty="0"/>
              <a:t>C1: how to create an equivalent of a crop model simulation, but </a:t>
            </a:r>
            <a:r>
              <a:rPr lang="en-US" dirty="0" err="1"/>
              <a:t>architectured</a:t>
            </a:r>
            <a:r>
              <a:rPr lang="en-US" dirty="0"/>
              <a:t> ?</a:t>
            </a:r>
          </a:p>
          <a:p>
            <a:r>
              <a:rPr lang="en-US" dirty="0"/>
              <a:t>Peng 2020</a:t>
            </a:r>
          </a:p>
          <a:p>
            <a:endParaRPr lang="fr-FR" dirty="0"/>
          </a:p>
          <a:p>
            <a:r>
              <a:rPr lang="fr-FR" dirty="0"/>
              <a:t>M</a:t>
            </a:r>
            <a:r>
              <a:rPr lang="en-US" dirty="0"/>
              <a:t>ix with previous slide</a:t>
            </a:r>
          </a:p>
        </p:txBody>
      </p:sp>
      <p:sp>
        <p:nvSpPr>
          <p:cNvPr id="4" name="Slide Number Placeholder 3"/>
          <p:cNvSpPr>
            <a:spLocks noGrp="1"/>
          </p:cNvSpPr>
          <p:nvPr>
            <p:ph type="sldNum" sz="quarter" idx="5"/>
          </p:nvPr>
        </p:nvSpPr>
        <p:spPr/>
        <p:txBody>
          <a:bodyPr/>
          <a:lstStyle/>
          <a:p>
            <a:fld id="{A9A0A799-F059-4133-8369-1F74AA1BF689}" type="slidenum">
              <a:rPr lang="en-US" smtClean="0"/>
              <a:t>11</a:t>
            </a:fld>
            <a:endParaRPr lang="en-US"/>
          </a:p>
        </p:txBody>
      </p:sp>
    </p:spTree>
    <p:extLst>
      <p:ext uri="{BB962C8B-B14F-4D97-AF65-F5344CB8AC3E}">
        <p14:creationId xmlns:p14="http://schemas.microsoft.com/office/powerpoint/2010/main" val="2124036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given process, for intercrops, what scale is the most relevant ?</a:t>
            </a:r>
          </a:p>
          <a:p>
            <a:r>
              <a:rPr lang="en-US" dirty="0"/>
              <a:t>C1: how to create an equivalent of a crop model simulation, but </a:t>
            </a:r>
            <a:r>
              <a:rPr lang="en-US" dirty="0" err="1"/>
              <a:t>architectured</a:t>
            </a:r>
            <a:r>
              <a:rPr lang="en-US" dirty="0"/>
              <a:t> ?</a:t>
            </a:r>
          </a:p>
          <a:p>
            <a:r>
              <a:rPr lang="en-US" dirty="0"/>
              <a:t>Peng 2020</a:t>
            </a:r>
          </a:p>
          <a:p>
            <a:endParaRPr lang="fr-FR" dirty="0"/>
          </a:p>
          <a:p>
            <a:r>
              <a:rPr lang="fr-FR" dirty="0"/>
              <a:t>M</a:t>
            </a:r>
            <a:r>
              <a:rPr lang="en-US" dirty="0"/>
              <a:t>ix with previous slide</a:t>
            </a:r>
          </a:p>
        </p:txBody>
      </p:sp>
      <p:sp>
        <p:nvSpPr>
          <p:cNvPr id="4" name="Slide Number Placeholder 3"/>
          <p:cNvSpPr>
            <a:spLocks noGrp="1"/>
          </p:cNvSpPr>
          <p:nvPr>
            <p:ph type="sldNum" sz="quarter" idx="5"/>
          </p:nvPr>
        </p:nvSpPr>
        <p:spPr/>
        <p:txBody>
          <a:bodyPr/>
          <a:lstStyle/>
          <a:p>
            <a:fld id="{A9A0A799-F059-4133-8369-1F74AA1BF689}" type="slidenum">
              <a:rPr lang="en-US" smtClean="0"/>
              <a:t>12</a:t>
            </a:fld>
            <a:endParaRPr lang="en-US"/>
          </a:p>
        </p:txBody>
      </p:sp>
    </p:spTree>
    <p:extLst>
      <p:ext uri="{BB962C8B-B14F-4D97-AF65-F5344CB8AC3E}">
        <p14:creationId xmlns:p14="http://schemas.microsoft.com/office/powerpoint/2010/main" val="1314881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growth of </a:t>
            </a:r>
            <a:r>
              <a:rPr lang="en-US" dirty="0" err="1"/>
              <a:t>architectured</a:t>
            </a:r>
            <a:r>
              <a:rPr lang="en-US" dirty="0"/>
              <a:t> plant organs does not emerge from local laws, nor is directly conditioned by environmental resources. Indeed, it is calculated using an </a:t>
            </a:r>
            <a:r>
              <a:rPr lang="en-US" dirty="0" err="1"/>
              <a:t>integro</a:t>
            </a:r>
            <a:r>
              <a:rPr lang="en-US" dirty="0"/>
              <a:t>-differential approach from a global constraint. </a:t>
            </a:r>
          </a:p>
          <a:p>
            <a:pPr marL="0" indent="0">
              <a:buNone/>
            </a:pPr>
            <a:endParaRPr lang="en-US" dirty="0"/>
          </a:p>
          <a:p>
            <a:pPr marL="0" indent="0">
              <a:buNone/>
            </a:pPr>
            <a:r>
              <a:rPr lang="fr-FR" dirty="0" err="1"/>
              <a:t>ArchiCrop</a:t>
            </a:r>
            <a:r>
              <a:rPr lang="fr-FR" dirty="0"/>
              <a:t>, </a:t>
            </a:r>
            <a:br>
              <a:rPr lang="fr-FR" dirty="0"/>
            </a:br>
            <a:r>
              <a:rPr lang="fr-FR" dirty="0"/>
              <a:t>a 3D </a:t>
            </a:r>
            <a:r>
              <a:rPr lang="fr-FR" dirty="0" err="1"/>
              <a:t>dynamic</a:t>
            </a:r>
            <a:r>
              <a:rPr lang="fr-FR" dirty="0"/>
              <a:t> </a:t>
            </a:r>
            <a:r>
              <a:rPr lang="fr-FR" dirty="0" err="1"/>
              <a:t>parametric</a:t>
            </a:r>
            <a:r>
              <a:rPr lang="fr-FR" dirty="0"/>
              <a:t> model for </a:t>
            </a:r>
            <a:r>
              <a:rPr lang="fr-FR" dirty="0" err="1"/>
              <a:t>cereals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a top-down approach to simulate the differential growth of cereal plants through time from canopy-scale dynamic constraints on growth (e.g. crop model simulation outputs).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13</a:t>
            </a:fld>
            <a:endParaRPr lang="en-US"/>
          </a:p>
        </p:txBody>
      </p:sp>
    </p:spTree>
    <p:extLst>
      <p:ext uri="{BB962C8B-B14F-4D97-AF65-F5344CB8AC3E}">
        <p14:creationId xmlns:p14="http://schemas.microsoft.com/office/powerpoint/2010/main" val="1871060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growth of </a:t>
            </a:r>
            <a:r>
              <a:rPr lang="en-US" dirty="0" err="1"/>
              <a:t>architectured</a:t>
            </a:r>
            <a:r>
              <a:rPr lang="en-US" dirty="0"/>
              <a:t> plant organs does not emerge from local laws, nor is directly conditioned by environmental resources. Indeed, it is calculated using an </a:t>
            </a:r>
            <a:r>
              <a:rPr lang="en-US" dirty="0" err="1"/>
              <a:t>integro</a:t>
            </a:r>
            <a:r>
              <a:rPr lang="en-US" dirty="0"/>
              <a:t>-differential approach from a global constraint. </a:t>
            </a:r>
          </a:p>
          <a:p>
            <a:pPr marL="0" indent="0">
              <a:buNone/>
            </a:pPr>
            <a:endParaRPr lang="en-US" dirty="0"/>
          </a:p>
          <a:p>
            <a:pPr marL="0" indent="0">
              <a:buNone/>
            </a:pPr>
            <a:r>
              <a:rPr lang="fr-FR" dirty="0" err="1"/>
              <a:t>ArchiCrop</a:t>
            </a:r>
            <a:r>
              <a:rPr lang="fr-FR" dirty="0"/>
              <a:t>, </a:t>
            </a:r>
            <a:br>
              <a:rPr lang="fr-FR" dirty="0"/>
            </a:br>
            <a:r>
              <a:rPr lang="fr-FR" dirty="0"/>
              <a:t>a 3D </a:t>
            </a:r>
            <a:r>
              <a:rPr lang="fr-FR" dirty="0" err="1"/>
              <a:t>dynamic</a:t>
            </a:r>
            <a:r>
              <a:rPr lang="fr-FR" dirty="0"/>
              <a:t> </a:t>
            </a:r>
            <a:r>
              <a:rPr lang="fr-FR" dirty="0" err="1"/>
              <a:t>parametric</a:t>
            </a:r>
            <a:r>
              <a:rPr lang="fr-FR" dirty="0"/>
              <a:t> model for </a:t>
            </a:r>
            <a:r>
              <a:rPr lang="fr-FR" dirty="0" err="1"/>
              <a:t>cereals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a top-down approach to simulate the differential growth of cereal plants through time from canopy-scale dynamic constraints on growth (e.g. crop model simulation outputs).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14</a:t>
            </a:fld>
            <a:endParaRPr lang="en-US"/>
          </a:p>
        </p:txBody>
      </p:sp>
    </p:spTree>
    <p:extLst>
      <p:ext uri="{BB962C8B-B14F-4D97-AF65-F5344CB8AC3E}">
        <p14:creationId xmlns:p14="http://schemas.microsoft.com/office/powerpoint/2010/main" val="2721988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Cereal architecture is defined by parametric laws</a:t>
            </a:r>
            <a:endParaRPr lang="fr-FR" dirty="0"/>
          </a:p>
          <a:p>
            <a:r>
              <a:rPr lang="fr-FR" dirty="0" err="1"/>
              <a:t>Known</a:t>
            </a:r>
            <a:r>
              <a:rPr lang="fr-FR" dirty="0"/>
              <a:t> </a:t>
            </a:r>
            <a:r>
              <a:rPr lang="fr-FR" dirty="0" err="1"/>
              <a:t>from</a:t>
            </a:r>
            <a:r>
              <a:rPr lang="fr-FR" dirty="0"/>
              <a:t> </a:t>
            </a:r>
            <a:r>
              <a:rPr lang="fr-FR" dirty="0" err="1"/>
              <a:t>literature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15</a:t>
            </a:fld>
            <a:endParaRPr lang="en-US"/>
          </a:p>
        </p:txBody>
      </p:sp>
    </p:spTree>
    <p:extLst>
      <p:ext uri="{BB962C8B-B14F-4D97-AF65-F5344CB8AC3E}">
        <p14:creationId xmlns:p14="http://schemas.microsoft.com/office/powerpoint/2010/main" val="31424799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Stresses integrated in growth dynamics can impede the growth of potential plant</a:t>
            </a:r>
          </a:p>
        </p:txBody>
      </p:sp>
      <p:sp>
        <p:nvSpPr>
          <p:cNvPr id="4" name="Slide Number Placeholder 3"/>
          <p:cNvSpPr>
            <a:spLocks noGrp="1"/>
          </p:cNvSpPr>
          <p:nvPr>
            <p:ph type="sldNum" sz="quarter" idx="5"/>
          </p:nvPr>
        </p:nvSpPr>
        <p:spPr/>
        <p:txBody>
          <a:bodyPr/>
          <a:lstStyle/>
          <a:p>
            <a:fld id="{A9A0A799-F059-4133-8369-1F74AA1BF689}" type="slidenum">
              <a:rPr lang="en-US" smtClean="0"/>
              <a:t>16</a:t>
            </a:fld>
            <a:endParaRPr lang="en-US"/>
          </a:p>
        </p:txBody>
      </p:sp>
    </p:spTree>
    <p:extLst>
      <p:ext uri="{BB962C8B-B14F-4D97-AF65-F5344CB8AC3E}">
        <p14:creationId xmlns:p14="http://schemas.microsoft.com/office/powerpoint/2010/main" val="433239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variability : parametrized and emergent !</a:t>
            </a:r>
          </a:p>
          <a:p>
            <a:r>
              <a:rPr lang="en-US" sz="1200" dirty="0"/>
              <a:t>For instance, for a given simulation with a crop model, it is possible to obtain a large number of corresponding simulations on a finer scale, by varying these degrees of freedom within a given range of values for a given species. In other words, we can explore the architectural variability of a species by generating a set of morphotypes.</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17</a:t>
            </a:fld>
            <a:endParaRPr lang="en-US"/>
          </a:p>
        </p:txBody>
      </p:sp>
    </p:spTree>
    <p:extLst>
      <p:ext uri="{BB962C8B-B14F-4D97-AF65-F5344CB8AC3E}">
        <p14:creationId xmlns:p14="http://schemas.microsoft.com/office/powerpoint/2010/main" val="1429256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varying within species-specific range</a:t>
            </a:r>
          </a:p>
        </p:txBody>
      </p:sp>
      <p:sp>
        <p:nvSpPr>
          <p:cNvPr id="4" name="Slide Number Placeholder 3"/>
          <p:cNvSpPr>
            <a:spLocks noGrp="1"/>
          </p:cNvSpPr>
          <p:nvPr>
            <p:ph type="sldNum" sz="quarter" idx="5"/>
          </p:nvPr>
        </p:nvSpPr>
        <p:spPr/>
        <p:txBody>
          <a:bodyPr/>
          <a:lstStyle/>
          <a:p>
            <a:fld id="{A9A0A799-F059-4133-8369-1F74AA1BF689}" type="slidenum">
              <a:rPr lang="en-US" smtClean="0"/>
              <a:t>18</a:t>
            </a:fld>
            <a:endParaRPr lang="en-US"/>
          </a:p>
        </p:txBody>
      </p:sp>
    </p:spTree>
    <p:extLst>
      <p:ext uri="{BB962C8B-B14F-4D97-AF65-F5344CB8AC3E}">
        <p14:creationId xmlns:p14="http://schemas.microsoft.com/office/powerpoint/2010/main" val="1375912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Comparison with crop model outputs and analysis of the uncertainty associated to architecture parameters and spatial configuration</a:t>
            </a:r>
            <a:endParaRPr lang="en-US" dirty="0"/>
          </a:p>
          <a:p>
            <a:endParaRPr lang="en-US" dirty="0"/>
          </a:p>
          <a:p>
            <a:r>
              <a:rPr lang="en-US" dirty="0"/>
              <a:t>Allometries to restrain morphological space (to what extent)</a:t>
            </a:r>
          </a:p>
          <a:p>
            <a:r>
              <a:rPr lang="en-US" dirty="0"/>
              <a:t>Test crop model hypotheses</a:t>
            </a:r>
          </a:p>
          <a:p>
            <a:r>
              <a:rPr lang="en-US" dirty="0"/>
              <a:t>Which parameters (+1 slide)</a:t>
            </a:r>
          </a:p>
        </p:txBody>
      </p:sp>
      <p:sp>
        <p:nvSpPr>
          <p:cNvPr id="4" name="Slide Number Placeholder 3"/>
          <p:cNvSpPr>
            <a:spLocks noGrp="1"/>
          </p:cNvSpPr>
          <p:nvPr>
            <p:ph type="sldNum" sz="quarter" idx="5"/>
          </p:nvPr>
        </p:nvSpPr>
        <p:spPr/>
        <p:txBody>
          <a:bodyPr/>
          <a:lstStyle/>
          <a:p>
            <a:fld id="{A9A0A799-F059-4133-8369-1F74AA1BF689}" type="slidenum">
              <a:rPr lang="en-US" smtClean="0"/>
              <a:t>19</a:t>
            </a:fld>
            <a:endParaRPr lang="en-US"/>
          </a:p>
        </p:txBody>
      </p:sp>
    </p:spTree>
    <p:extLst>
      <p:ext uri="{BB962C8B-B14F-4D97-AF65-F5344CB8AC3E}">
        <p14:creationId xmlns:p14="http://schemas.microsoft.com/office/powerpoint/2010/main" val="484345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Comparison with crop model outputs and analysis of the uncertainty associated to architecture parameters and spatial configuration</a:t>
            </a:r>
            <a:endParaRPr lang="en-US" dirty="0"/>
          </a:p>
          <a:p>
            <a:endParaRPr lang="en-US" dirty="0"/>
          </a:p>
          <a:p>
            <a:r>
              <a:rPr lang="en-US" dirty="0"/>
              <a:t>Allometries to restrain morphological space (to what extent)</a:t>
            </a:r>
          </a:p>
          <a:p>
            <a:r>
              <a:rPr lang="en-US" dirty="0"/>
              <a:t>Test crop model hypotheses</a:t>
            </a:r>
          </a:p>
          <a:p>
            <a:r>
              <a:rPr lang="en-US" dirty="0"/>
              <a:t>Which parameters (+1 slide)</a:t>
            </a:r>
          </a:p>
        </p:txBody>
      </p:sp>
      <p:sp>
        <p:nvSpPr>
          <p:cNvPr id="4" name="Slide Number Placeholder 3"/>
          <p:cNvSpPr>
            <a:spLocks noGrp="1"/>
          </p:cNvSpPr>
          <p:nvPr>
            <p:ph type="sldNum" sz="quarter" idx="5"/>
          </p:nvPr>
        </p:nvSpPr>
        <p:spPr/>
        <p:txBody>
          <a:bodyPr/>
          <a:lstStyle/>
          <a:p>
            <a:fld id="{A9A0A799-F059-4133-8369-1F74AA1BF689}" type="slidenum">
              <a:rPr lang="en-US" smtClean="0"/>
              <a:t>20</a:t>
            </a:fld>
            <a:endParaRPr lang="en-US"/>
          </a:p>
        </p:txBody>
      </p:sp>
    </p:spTree>
    <p:extLst>
      <p:ext uri="{BB962C8B-B14F-4D97-AF65-F5344CB8AC3E}">
        <p14:creationId xmlns:p14="http://schemas.microsoft.com/office/powerpoint/2010/main" val="4205552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Comparison with crop model outputs and analysis of the uncertainty associated to architecture parameters and spatial configuration</a:t>
            </a:r>
            <a:endParaRPr lang="en-US" dirty="0"/>
          </a:p>
          <a:p>
            <a:endParaRPr lang="en-US" dirty="0"/>
          </a:p>
          <a:p>
            <a:r>
              <a:rPr lang="en-US" dirty="0"/>
              <a:t>Allometries to restrain morphological space (to what extent)</a:t>
            </a:r>
          </a:p>
          <a:p>
            <a:r>
              <a:rPr lang="en-US" dirty="0"/>
              <a:t>Test crop model hypotheses</a:t>
            </a:r>
          </a:p>
          <a:p>
            <a:r>
              <a:rPr lang="en-US" dirty="0"/>
              <a:t>Which parameters (+1 slide)</a:t>
            </a:r>
          </a:p>
        </p:txBody>
      </p:sp>
      <p:sp>
        <p:nvSpPr>
          <p:cNvPr id="4" name="Slide Number Placeholder 3"/>
          <p:cNvSpPr>
            <a:spLocks noGrp="1"/>
          </p:cNvSpPr>
          <p:nvPr>
            <p:ph type="sldNum" sz="quarter" idx="5"/>
          </p:nvPr>
        </p:nvSpPr>
        <p:spPr/>
        <p:txBody>
          <a:bodyPr/>
          <a:lstStyle/>
          <a:p>
            <a:fld id="{A9A0A799-F059-4133-8369-1F74AA1BF689}" type="slidenum">
              <a:rPr lang="en-US" smtClean="0"/>
              <a:t>21</a:t>
            </a:fld>
            <a:endParaRPr lang="en-US"/>
          </a:p>
        </p:txBody>
      </p:sp>
    </p:spTree>
    <p:extLst>
      <p:ext uri="{BB962C8B-B14F-4D97-AF65-F5344CB8AC3E}">
        <p14:creationId xmlns:p14="http://schemas.microsoft.com/office/powerpoint/2010/main" val="3866557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0C939681-64E9-4ED9-A4D7-2B0751918A9B}"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811C267-FB5B-4DB2-8120-94FB1295D495}"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8BEDAEE3-F550-4433-89BF-DB1C91B4E694}"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875EFE55-6C38-4F83-92CA-E17D1080EAD0}" type="datetime1">
              <a:rPr lang="fr-FR" smtClean="0"/>
              <a:t>19/11/2024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24B4F1F-1D19-4EA3-900F-F158BF65E775}" type="datetime1">
              <a:rPr lang="fr-FR" smtClean="0"/>
              <a:t>19/11/2024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9347C87F-7D11-4D7B-B186-AEDF7BACC549}" type="datetime1">
              <a:rPr lang="fr-FR" smtClean="0"/>
              <a:t>19/11/2024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0B461FB-6D13-494D-89E1-4530981B7536}" type="datetime1">
              <a:rPr lang="fr-FR" smtClean="0"/>
              <a:t>19/11/2024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D2CEF9DF-4A39-43ED-BE68-EB63D76CFF37}" type="datetime1">
              <a:rPr lang="fr-FR" smtClean="0"/>
              <a:t>19/11/2024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12BA0CB7-2A57-4841-B602-02CB78CDF575}" type="datetime1">
              <a:rPr lang="fr-FR" smtClean="0"/>
              <a:t>19/11/2024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188FBEE-F816-42FF-9376-FE7E35860987}"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174ABB49-665E-4EE2-8EBF-FE4A452697D3}" type="datetime1">
              <a:rPr lang="fr-FR" smtClean="0"/>
              <a:t>19/11/2024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2661C0-4019-4DF0-85FA-478C82BAF507}" type="datetime1">
              <a:rPr lang="fr-FR" smtClean="0"/>
              <a:t>19/11/2024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3.png"/><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13.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3.png"/><Relationship Id="rId7"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13.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Une image contenant logo, symbole, Police, Emblème&#10;&#10;Description générée automatiquement">
            <a:extLst>
              <a:ext uri="{FF2B5EF4-FFF2-40B4-BE49-F238E27FC236}">
                <a16:creationId xmlns:a16="http://schemas.microsoft.com/office/drawing/2014/main" id="{0F1B57BE-99A8-48AD-010D-6FDB4CE832E8}"/>
              </a:ext>
            </a:extLst>
          </p:cNvPr>
          <p:cNvPicPr>
            <a:picLocks noChangeAspect="1"/>
          </p:cNvPicPr>
          <p:nvPr/>
        </p:nvPicPr>
        <p:blipFill>
          <a:blip r:embed="rId2"/>
          <a:stretch>
            <a:fillRect/>
          </a:stretch>
        </p:blipFill>
        <p:spPr>
          <a:xfrm>
            <a:off x="9082544" y="456175"/>
            <a:ext cx="1093934" cy="1067083"/>
          </a:xfrm>
          <a:prstGeom prst="rect">
            <a:avLst/>
          </a:prstGeom>
        </p:spPr>
      </p:pic>
      <p:pic>
        <p:nvPicPr>
          <p:cNvPr id="6" name="Image 5" descr="Une image contenant texte, carte de visite, Police, logo&#10;&#10;Description générée automatiquement">
            <a:extLst>
              <a:ext uri="{FF2B5EF4-FFF2-40B4-BE49-F238E27FC236}">
                <a16:creationId xmlns:a16="http://schemas.microsoft.com/office/drawing/2014/main" id="{B0D4802D-A0F6-21D4-F02E-232C0B454AF4}"/>
              </a:ext>
            </a:extLst>
          </p:cNvPr>
          <p:cNvPicPr>
            <a:picLocks noChangeAspect="1"/>
          </p:cNvPicPr>
          <p:nvPr/>
        </p:nvPicPr>
        <p:blipFill>
          <a:blip r:embed="rId3"/>
          <a:stretch>
            <a:fillRect/>
          </a:stretch>
        </p:blipFill>
        <p:spPr>
          <a:xfrm>
            <a:off x="3109457" y="322058"/>
            <a:ext cx="1607220" cy="594037"/>
          </a:xfrm>
          <a:prstGeom prst="rect">
            <a:avLst/>
          </a:prstGeom>
        </p:spPr>
      </p:pic>
      <p:pic>
        <p:nvPicPr>
          <p:cNvPr id="7" name="Image 6" descr="Une image contenant Graphique, Police, logo, graphisme&#10;&#10;Description générée automatiquement">
            <a:extLst>
              <a:ext uri="{FF2B5EF4-FFF2-40B4-BE49-F238E27FC236}">
                <a16:creationId xmlns:a16="http://schemas.microsoft.com/office/drawing/2014/main" id="{2C611E11-5370-269F-3DB1-E099559E6973}"/>
              </a:ext>
            </a:extLst>
          </p:cNvPr>
          <p:cNvPicPr>
            <a:picLocks noChangeAspect="1"/>
          </p:cNvPicPr>
          <p:nvPr/>
        </p:nvPicPr>
        <p:blipFill rotWithShape="1">
          <a:blip r:embed="rId4"/>
          <a:srcRect t="2513" b="13491"/>
          <a:stretch/>
        </p:blipFill>
        <p:spPr>
          <a:xfrm>
            <a:off x="1524000" y="710539"/>
            <a:ext cx="1116005" cy="680929"/>
          </a:xfrm>
          <a:prstGeom prst="rect">
            <a:avLst/>
          </a:prstGeom>
        </p:spPr>
      </p:pic>
      <p:pic>
        <p:nvPicPr>
          <p:cNvPr id="8" name="Image 7" descr="Une image contenant texte, Graphique, graphisme, Police&#10;&#10;Description générée automatiquement">
            <a:extLst>
              <a:ext uri="{FF2B5EF4-FFF2-40B4-BE49-F238E27FC236}">
                <a16:creationId xmlns:a16="http://schemas.microsoft.com/office/drawing/2014/main" id="{96F5D487-E42A-F7DE-BE10-EDFC98D09473}"/>
              </a:ext>
            </a:extLst>
          </p:cNvPr>
          <p:cNvPicPr>
            <a:picLocks noChangeAspect="1"/>
          </p:cNvPicPr>
          <p:nvPr/>
        </p:nvPicPr>
        <p:blipFill>
          <a:blip r:embed="rId5"/>
          <a:stretch>
            <a:fillRect/>
          </a:stretch>
        </p:blipFill>
        <p:spPr>
          <a:xfrm>
            <a:off x="252992" y="208448"/>
            <a:ext cx="1093933" cy="1390736"/>
          </a:xfrm>
          <a:prstGeom prst="rect">
            <a:avLst/>
          </a:prstGeom>
        </p:spPr>
      </p:pic>
      <p:pic>
        <p:nvPicPr>
          <p:cNvPr id="9" name="Image 8" descr="Une image contenant Police, conception&#10;&#10;Description générée automatiquement">
            <a:extLst>
              <a:ext uri="{FF2B5EF4-FFF2-40B4-BE49-F238E27FC236}">
                <a16:creationId xmlns:a16="http://schemas.microsoft.com/office/drawing/2014/main" id="{5F1243C7-D429-C54F-9B84-E9D41BDAA7F1}"/>
              </a:ext>
            </a:extLst>
          </p:cNvPr>
          <p:cNvPicPr>
            <a:picLocks noChangeAspect="1"/>
          </p:cNvPicPr>
          <p:nvPr/>
        </p:nvPicPr>
        <p:blipFill>
          <a:blip r:embed="rId6"/>
          <a:stretch>
            <a:fillRect/>
          </a:stretch>
        </p:blipFill>
        <p:spPr>
          <a:xfrm>
            <a:off x="3109457" y="1096647"/>
            <a:ext cx="1604321" cy="605305"/>
          </a:xfrm>
          <a:prstGeom prst="rect">
            <a:avLst/>
          </a:prstGeom>
        </p:spPr>
      </p:pic>
      <p:pic>
        <p:nvPicPr>
          <p:cNvPr id="11" name="Image 10" descr="Une image contenant Police, Graphique, logo, graphisme&#10;&#10;Description générée automatiquement">
            <a:extLst>
              <a:ext uri="{FF2B5EF4-FFF2-40B4-BE49-F238E27FC236}">
                <a16:creationId xmlns:a16="http://schemas.microsoft.com/office/drawing/2014/main" id="{A47608B0-681C-A56E-F79B-2FFE5460102D}"/>
              </a:ext>
            </a:extLst>
          </p:cNvPr>
          <p:cNvPicPr>
            <a:picLocks noChangeAspect="1"/>
          </p:cNvPicPr>
          <p:nvPr/>
        </p:nvPicPr>
        <p:blipFill>
          <a:blip r:embed="rId7"/>
          <a:stretch>
            <a:fillRect/>
          </a:stretch>
        </p:blipFill>
        <p:spPr>
          <a:xfrm>
            <a:off x="10176478" y="250769"/>
            <a:ext cx="1383093" cy="459770"/>
          </a:xfrm>
          <a:prstGeom prst="rect">
            <a:avLst/>
          </a:prstGeom>
        </p:spPr>
      </p:pic>
      <p:pic>
        <p:nvPicPr>
          <p:cNvPr id="12" name="Image 11" descr="Une image contenant Police, Graphique, logo, texte&#10;&#10;Description générée automatiquement">
            <a:extLst>
              <a:ext uri="{FF2B5EF4-FFF2-40B4-BE49-F238E27FC236}">
                <a16:creationId xmlns:a16="http://schemas.microsoft.com/office/drawing/2014/main" id="{2E1F5487-2075-59F9-6D9C-B0224E931D53}"/>
              </a:ext>
            </a:extLst>
          </p:cNvPr>
          <p:cNvPicPr>
            <a:picLocks noChangeAspect="1"/>
          </p:cNvPicPr>
          <p:nvPr/>
        </p:nvPicPr>
        <p:blipFill>
          <a:blip r:embed="rId8"/>
          <a:stretch>
            <a:fillRect/>
          </a:stretch>
        </p:blipFill>
        <p:spPr>
          <a:xfrm>
            <a:off x="10322973" y="989717"/>
            <a:ext cx="1093935" cy="646111"/>
          </a:xfrm>
          <a:prstGeom prst="rect">
            <a:avLst/>
          </a:prstGeom>
        </p:spPr>
      </p:pic>
      <p:sp>
        <p:nvSpPr>
          <p:cNvPr id="13" name="Slide Number Placeholder 12">
            <a:extLst>
              <a:ext uri="{FF2B5EF4-FFF2-40B4-BE49-F238E27FC236}">
                <a16:creationId xmlns:a16="http://schemas.microsoft.com/office/drawing/2014/main" id="{35E9855F-9014-4E80-8C9B-4990DDDC83AA}"/>
              </a:ext>
            </a:extLst>
          </p:cNvPr>
          <p:cNvSpPr>
            <a:spLocks noGrp="1"/>
          </p:cNvSpPr>
          <p:nvPr>
            <p:ph type="sldNum" sz="quarter" idx="12"/>
          </p:nvPr>
        </p:nvSpPr>
        <p:spPr/>
        <p:txBody>
          <a:bodyPr/>
          <a:lstStyle/>
          <a:p>
            <a:fld id="{27C6CCC6-2BE5-4E42-96A4-D1E8E81A3D8E}" type="slidenum">
              <a:rPr lang="fr-FR" smtClean="0"/>
              <a:t>1</a:t>
            </a:fld>
            <a:endParaRPr lang="fr-FR" dirty="0"/>
          </a:p>
        </p:txBody>
      </p:sp>
      <p:sp>
        <p:nvSpPr>
          <p:cNvPr id="14" name="Subtitle 2">
            <a:extLst>
              <a:ext uri="{FF2B5EF4-FFF2-40B4-BE49-F238E27FC236}">
                <a16:creationId xmlns:a16="http://schemas.microsoft.com/office/drawing/2014/main" id="{A1BA3DBA-6C16-4E88-92C7-4138DA237B8E}"/>
              </a:ext>
            </a:extLst>
          </p:cNvPr>
          <p:cNvSpPr txBox="1">
            <a:spLocks/>
          </p:cNvSpPr>
          <p:nvPr/>
        </p:nvSpPr>
        <p:spPr>
          <a:xfrm>
            <a:off x="7361010" y="5667088"/>
            <a:ext cx="2154314" cy="9681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Marc Jaeger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Myriam Adam</a:t>
            </a:r>
          </a:p>
        </p:txBody>
      </p:sp>
      <p:sp>
        <p:nvSpPr>
          <p:cNvPr id="15" name="Subtitle 2">
            <a:extLst>
              <a:ext uri="{FF2B5EF4-FFF2-40B4-BE49-F238E27FC236}">
                <a16:creationId xmlns:a16="http://schemas.microsoft.com/office/drawing/2014/main" id="{762FB373-E77D-43AB-A634-BF3086140BF2}"/>
              </a:ext>
            </a:extLst>
          </p:cNvPr>
          <p:cNvSpPr txBox="1">
            <a:spLocks/>
          </p:cNvSpPr>
          <p:nvPr/>
        </p:nvSpPr>
        <p:spPr>
          <a:xfrm>
            <a:off x="9350543" y="5438080"/>
            <a:ext cx="2503503" cy="1444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Christophe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Pradal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Remi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Vezy</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Thomas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Arsouze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ubtitle 2">
            <a:extLst>
              <a:ext uri="{FF2B5EF4-FFF2-40B4-BE49-F238E27FC236}">
                <a16:creationId xmlns:a16="http://schemas.microsoft.com/office/drawing/2014/main" id="{49B05722-4E54-40CA-8F79-173593400762}"/>
              </a:ext>
            </a:extLst>
          </p:cNvPr>
          <p:cNvSpPr txBox="1">
            <a:spLocks/>
          </p:cNvSpPr>
          <p:nvPr/>
        </p:nvSpPr>
        <p:spPr>
          <a:xfrm>
            <a:off x="5292099" y="5860263"/>
            <a:ext cx="1441823" cy="444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1"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Supervision</a:t>
            </a:r>
          </a:p>
        </p:txBody>
      </p:sp>
      <p:cxnSp>
        <p:nvCxnSpPr>
          <p:cNvPr id="19" name="Straight Connector 18">
            <a:extLst>
              <a:ext uri="{FF2B5EF4-FFF2-40B4-BE49-F238E27FC236}">
                <a16:creationId xmlns:a16="http://schemas.microsoft.com/office/drawing/2014/main" id="{2D1A87D7-C5FD-4508-B8AA-0BF51605773C}"/>
              </a:ext>
            </a:extLst>
          </p:cNvPr>
          <p:cNvCxnSpPr>
            <a:cxnSpLocks/>
          </p:cNvCxnSpPr>
          <p:nvPr/>
        </p:nvCxnSpPr>
        <p:spPr>
          <a:xfrm>
            <a:off x="7038359" y="5486402"/>
            <a:ext cx="0" cy="1088558"/>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sp>
        <p:nvSpPr>
          <p:cNvPr id="20" name="Subtitle 2">
            <a:extLst>
              <a:ext uri="{FF2B5EF4-FFF2-40B4-BE49-F238E27FC236}">
                <a16:creationId xmlns:a16="http://schemas.microsoft.com/office/drawing/2014/main" id="{B501BA8B-2A82-46A0-B767-376AA5F5CD9C}"/>
              </a:ext>
            </a:extLst>
          </p:cNvPr>
          <p:cNvSpPr txBox="1">
            <a:spLocks/>
          </p:cNvSpPr>
          <p:nvPr/>
        </p:nvSpPr>
        <p:spPr>
          <a:xfrm>
            <a:off x="655658" y="5868676"/>
            <a:ext cx="1553862" cy="4442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1"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PhD Student</a:t>
            </a:r>
          </a:p>
        </p:txBody>
      </p:sp>
      <p:sp>
        <p:nvSpPr>
          <p:cNvPr id="21" name="Subtitle 2">
            <a:extLst>
              <a:ext uri="{FF2B5EF4-FFF2-40B4-BE49-F238E27FC236}">
                <a16:creationId xmlns:a16="http://schemas.microsoft.com/office/drawing/2014/main" id="{3905ABFD-9EE2-4414-8474-30540DDC8881}"/>
              </a:ext>
            </a:extLst>
          </p:cNvPr>
          <p:cNvSpPr txBox="1">
            <a:spLocks/>
          </p:cNvSpPr>
          <p:nvPr/>
        </p:nvSpPr>
        <p:spPr>
          <a:xfrm>
            <a:off x="2503644" y="5868676"/>
            <a:ext cx="1740833" cy="6964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Oriane</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Braud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58C34DD0-0CC8-4CA8-9D32-601A4432A99C}"/>
              </a:ext>
            </a:extLst>
          </p:cNvPr>
          <p:cNvCxnSpPr>
            <a:cxnSpLocks/>
          </p:cNvCxnSpPr>
          <p:nvPr/>
        </p:nvCxnSpPr>
        <p:spPr>
          <a:xfrm>
            <a:off x="2325363" y="5806530"/>
            <a:ext cx="0" cy="471363"/>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670E44CE-6B91-4FE4-A410-66B0DF3F169E}"/>
              </a:ext>
            </a:extLst>
          </p:cNvPr>
          <p:cNvSpPr/>
          <p:nvPr/>
        </p:nvSpPr>
        <p:spPr>
          <a:xfrm>
            <a:off x="715373" y="2441528"/>
            <a:ext cx="10761251" cy="2298881"/>
          </a:xfrm>
          <a:prstGeom prst="rect">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p:cNvSpPr>
            <a:spLocks noGrp="1"/>
          </p:cNvSpPr>
          <p:nvPr>
            <p:ph type="ctrTitle"/>
          </p:nvPr>
        </p:nvSpPr>
        <p:spPr>
          <a:xfrm>
            <a:off x="0" y="2355301"/>
            <a:ext cx="12192000" cy="2194397"/>
          </a:xfrm>
          <a:solidFill>
            <a:srgbClr val="F7941D">
              <a:alpha val="60000"/>
            </a:srgbClr>
          </a:solidFill>
        </p:spPr>
        <p:txBody>
          <a:bodyPr>
            <a:normAutofit/>
          </a:bodyPr>
          <a:lstStyle/>
          <a:p>
            <a:r>
              <a:rPr lang="en-US" sz="5100" b="1" dirty="0"/>
              <a:t>Multiscale hybrid modeling framework </a:t>
            </a:r>
            <a:br>
              <a:rPr lang="en-US" sz="5100" b="1" dirty="0"/>
            </a:br>
            <a:r>
              <a:rPr lang="en-US" sz="5100" b="1" dirty="0"/>
              <a:t>for intercrops : </a:t>
            </a:r>
            <a:br>
              <a:rPr lang="en-US" sz="5100" b="1" dirty="0"/>
            </a:br>
            <a:r>
              <a:rPr lang="en-US" sz="4400" b="1" dirty="0"/>
              <a:t>the best of crop and plant models</a:t>
            </a:r>
            <a:endParaRPr lang="fr-FR" sz="5100" b="1" dirty="0"/>
          </a:p>
        </p:txBody>
      </p:sp>
      <p:pic>
        <p:nvPicPr>
          <p:cNvPr id="4" name="Graphic 3">
            <a:extLst>
              <a:ext uri="{FF2B5EF4-FFF2-40B4-BE49-F238E27FC236}">
                <a16:creationId xmlns:a16="http://schemas.microsoft.com/office/drawing/2014/main" id="{D907D704-FDE8-41E8-A4D1-F130C49BFF5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42000" y="389965"/>
            <a:ext cx="1476375" cy="1143000"/>
          </a:xfrm>
          <a:prstGeom prst="rect">
            <a:avLst/>
          </a:prstGeom>
        </p:spPr>
      </p:pic>
      <p:sp>
        <p:nvSpPr>
          <p:cNvPr id="3" name="TextBox 2">
            <a:extLst>
              <a:ext uri="{FF2B5EF4-FFF2-40B4-BE49-F238E27FC236}">
                <a16:creationId xmlns:a16="http://schemas.microsoft.com/office/drawing/2014/main" id="{4447252D-8AEF-4FA8-83E4-19AE62EB6727}"/>
              </a:ext>
            </a:extLst>
          </p:cNvPr>
          <p:cNvSpPr txBox="1"/>
          <p:nvPr/>
        </p:nvSpPr>
        <p:spPr>
          <a:xfrm>
            <a:off x="4324886" y="4641970"/>
            <a:ext cx="3376247" cy="369332"/>
          </a:xfrm>
          <a:prstGeom prst="rect">
            <a:avLst/>
          </a:prstGeom>
          <a:noFill/>
        </p:spPr>
        <p:txBody>
          <a:bodyPr wrap="square" rtlCol="0">
            <a:spAutoFit/>
          </a:bodyPr>
          <a:lstStyle/>
          <a:p>
            <a:r>
              <a:rPr lang="en-US" dirty="0"/>
              <a:t>PhD in computer science, 2</a:t>
            </a:r>
            <a:r>
              <a:rPr lang="en-US" baseline="30000" dirty="0"/>
              <a:t>nd</a:t>
            </a:r>
            <a:r>
              <a:rPr lang="en-US" dirty="0"/>
              <a:t> year</a:t>
            </a:r>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plein air, agriculture, récolte, Culture commerciale&#10;&#10;Description générée automatiquement">
            <a:extLst>
              <a:ext uri="{FF2B5EF4-FFF2-40B4-BE49-F238E27FC236}">
                <a16:creationId xmlns:a16="http://schemas.microsoft.com/office/drawing/2014/main" id="{3786E0D1-E499-E045-7B99-26DBAEB36AB5}"/>
              </a:ext>
            </a:extLst>
          </p:cNvPr>
          <p:cNvPicPr>
            <a:picLocks noChangeAspect="1"/>
          </p:cNvPicPr>
          <p:nvPr/>
        </p:nvPicPr>
        <p:blipFill rotWithShape="1">
          <a:blip r:embed="rId3"/>
          <a:srcRect t="34" r="10050" b="-34"/>
          <a:stretch/>
        </p:blipFill>
        <p:spPr>
          <a:xfrm>
            <a:off x="3009075" y="0"/>
            <a:ext cx="9184645" cy="6861124"/>
          </a:xfrm>
          <a:prstGeom prst="rect">
            <a:avLst/>
          </a:prstGeom>
        </p:spPr>
      </p:pic>
      <p:sp useBgFill="1">
        <p:nvSpPr>
          <p:cNvPr id="11" name="Freeform: Shape 10">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7DDB3797-4CC7-EDEE-FE39-54180F07BBDD}"/>
              </a:ext>
            </a:extLst>
          </p:cNvPr>
          <p:cNvSpPr>
            <a:spLocks noGrp="1"/>
          </p:cNvSpPr>
          <p:nvPr>
            <p:ph type="title"/>
          </p:nvPr>
        </p:nvSpPr>
        <p:spPr>
          <a:xfrm>
            <a:off x="374904" y="272618"/>
            <a:ext cx="4992624" cy="1243584"/>
          </a:xfrm>
        </p:spPr>
        <p:txBody>
          <a:bodyPr anchor="ctr">
            <a:normAutofit/>
          </a:bodyPr>
          <a:lstStyle/>
          <a:p>
            <a:r>
              <a:rPr lang="fr-FR" sz="4000" dirty="0" err="1"/>
              <a:t>Intercropping</a:t>
            </a:r>
            <a:endParaRPr lang="fr-FR" sz="4000" dirty="0"/>
          </a:p>
        </p:txBody>
      </p:sp>
      <p:sp>
        <p:nvSpPr>
          <p:cNvPr id="3" name="Espace réservé du contenu 2">
            <a:extLst>
              <a:ext uri="{FF2B5EF4-FFF2-40B4-BE49-F238E27FC236}">
                <a16:creationId xmlns:a16="http://schemas.microsoft.com/office/drawing/2014/main" id="{2F576957-2006-8C6B-72B0-A66981D2DBA4}"/>
              </a:ext>
            </a:extLst>
          </p:cNvPr>
          <p:cNvSpPr>
            <a:spLocks noGrp="1"/>
          </p:cNvSpPr>
          <p:nvPr>
            <p:ph idx="1"/>
          </p:nvPr>
        </p:nvSpPr>
        <p:spPr>
          <a:xfrm>
            <a:off x="373184" y="1423788"/>
            <a:ext cx="4875997" cy="1361942"/>
          </a:xfrm>
        </p:spPr>
        <p:txBody>
          <a:bodyPr vert="horz" lIns="91440" tIns="45720" rIns="91440" bIns="45720" rtlCol="0" anchor="t">
            <a:normAutofit/>
          </a:bodyPr>
          <a:lstStyle/>
          <a:p>
            <a:pPr marL="0" indent="0">
              <a:buNone/>
            </a:pPr>
            <a:r>
              <a:rPr lang="fr-FR" sz="2000" dirty="0"/>
              <a:t>= </a:t>
            </a:r>
            <a:r>
              <a:rPr lang="fr-FR" sz="2000" dirty="0" err="1"/>
              <a:t>agroecological</a:t>
            </a:r>
            <a:r>
              <a:rPr lang="fr-FR" sz="2000" dirty="0"/>
              <a:t> </a:t>
            </a:r>
            <a:r>
              <a:rPr lang="fr-FR" sz="2000" dirty="0" err="1"/>
              <a:t>pratice</a:t>
            </a:r>
            <a:r>
              <a:rPr lang="fr-FR" sz="2000" dirty="0"/>
              <a:t> </a:t>
            </a:r>
            <a:r>
              <a:rPr lang="fr-FR" sz="2000" dirty="0" err="1"/>
              <a:t>where</a:t>
            </a:r>
            <a:r>
              <a:rPr lang="fr-FR" sz="2000" dirty="0"/>
              <a:t> at least </a:t>
            </a:r>
            <a:r>
              <a:rPr lang="fr-FR" sz="2000" dirty="0" err="1"/>
              <a:t>two</a:t>
            </a:r>
            <a:r>
              <a:rPr lang="fr-FR" sz="2000" dirty="0"/>
              <a:t> </a:t>
            </a:r>
            <a:r>
              <a:rPr lang="fr-FR" sz="2000" dirty="0" err="1"/>
              <a:t>crop</a:t>
            </a:r>
            <a:r>
              <a:rPr lang="fr-FR" sz="2000" dirty="0"/>
              <a:t> </a:t>
            </a:r>
            <a:r>
              <a:rPr lang="fr-FR" sz="2000" dirty="0" err="1"/>
              <a:t>species</a:t>
            </a:r>
            <a:r>
              <a:rPr lang="fr-FR" sz="2000" dirty="0"/>
              <a:t> are </a:t>
            </a:r>
            <a:r>
              <a:rPr lang="fr-FR" sz="2000" dirty="0" err="1"/>
              <a:t>grown</a:t>
            </a:r>
            <a:r>
              <a:rPr lang="fr-FR" sz="2000" dirty="0"/>
              <a:t> </a:t>
            </a:r>
            <a:r>
              <a:rPr lang="fr-FR" sz="2000" dirty="0" err="1"/>
              <a:t>together</a:t>
            </a:r>
            <a:r>
              <a:rPr lang="fr-FR" sz="2000" dirty="0"/>
              <a:t> </a:t>
            </a:r>
          </a:p>
          <a:p>
            <a:pPr marL="0" indent="0">
              <a:buNone/>
            </a:pPr>
            <a:r>
              <a:rPr lang="fr-FR" sz="1200" dirty="0"/>
              <a:t>(</a:t>
            </a:r>
            <a:r>
              <a:rPr lang="fr-FR" sz="1200" dirty="0" err="1"/>
              <a:t>Vandermeer</a:t>
            </a:r>
            <a:r>
              <a:rPr lang="fr-FR" sz="1200" dirty="0"/>
              <a:t>, 1989)</a:t>
            </a:r>
          </a:p>
        </p:txBody>
      </p:sp>
      <p:sp>
        <p:nvSpPr>
          <p:cNvPr id="7" name="ZoneTexte 6">
            <a:extLst>
              <a:ext uri="{FF2B5EF4-FFF2-40B4-BE49-F238E27FC236}">
                <a16:creationId xmlns:a16="http://schemas.microsoft.com/office/drawing/2014/main" id="{539C11AB-2D6F-DBBE-7F83-17817FF0989D}"/>
              </a:ext>
            </a:extLst>
          </p:cNvPr>
          <p:cNvSpPr txBox="1"/>
          <p:nvPr/>
        </p:nvSpPr>
        <p:spPr>
          <a:xfrm>
            <a:off x="8763171" y="4131689"/>
            <a:ext cx="1473905" cy="646331"/>
          </a:xfrm>
          <a:prstGeom prst="rect">
            <a:avLst/>
          </a:prstGeom>
          <a:solidFill>
            <a:srgbClr val="AEAEAE">
              <a:alpha val="74902"/>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b="1" dirty="0"/>
              <a:t>CEREALS</a:t>
            </a:r>
          </a:p>
          <a:p>
            <a:r>
              <a:rPr lang="fr-FR" dirty="0"/>
              <a:t>e.g.: </a:t>
            </a:r>
            <a:r>
              <a:rPr lang="fr-FR" dirty="0" err="1"/>
              <a:t>sorghum</a:t>
            </a:r>
            <a:endParaRPr lang="fr-FR" dirty="0"/>
          </a:p>
        </p:txBody>
      </p:sp>
      <p:sp>
        <p:nvSpPr>
          <p:cNvPr id="8" name="ZoneTexte 7">
            <a:extLst>
              <a:ext uri="{FF2B5EF4-FFF2-40B4-BE49-F238E27FC236}">
                <a16:creationId xmlns:a16="http://schemas.microsoft.com/office/drawing/2014/main" id="{E217DA51-B5A8-AFAB-D602-DF8A424A8898}"/>
              </a:ext>
            </a:extLst>
          </p:cNvPr>
          <p:cNvSpPr txBox="1"/>
          <p:nvPr/>
        </p:nvSpPr>
        <p:spPr>
          <a:xfrm>
            <a:off x="6716995" y="4131689"/>
            <a:ext cx="1378792" cy="646331"/>
          </a:xfrm>
          <a:prstGeom prst="rect">
            <a:avLst/>
          </a:prstGeom>
          <a:solidFill>
            <a:srgbClr val="AEAEAE">
              <a:alpha val="74902"/>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b="1" dirty="0"/>
              <a:t>LEGUMES</a:t>
            </a:r>
          </a:p>
          <a:p>
            <a:r>
              <a:rPr lang="fr-FR" dirty="0"/>
              <a:t>e.g.: </a:t>
            </a:r>
            <a:r>
              <a:rPr lang="fr-FR" dirty="0" err="1"/>
              <a:t>cowpea</a:t>
            </a:r>
            <a:endParaRPr lang="fr-FR" dirty="0"/>
          </a:p>
        </p:txBody>
      </p:sp>
      <p:sp>
        <p:nvSpPr>
          <p:cNvPr id="4" name="Slide Number Placeholder 3">
            <a:extLst>
              <a:ext uri="{FF2B5EF4-FFF2-40B4-BE49-F238E27FC236}">
                <a16:creationId xmlns:a16="http://schemas.microsoft.com/office/drawing/2014/main" id="{BE6FE07A-B7DD-4BCA-A02A-FB967C727457}"/>
              </a:ext>
            </a:extLst>
          </p:cNvPr>
          <p:cNvSpPr>
            <a:spLocks noGrp="1"/>
          </p:cNvSpPr>
          <p:nvPr>
            <p:ph type="sldNum" sz="quarter" idx="12"/>
          </p:nvPr>
        </p:nvSpPr>
        <p:spPr/>
        <p:txBody>
          <a:bodyPr/>
          <a:lstStyle/>
          <a:p>
            <a:fld id="{27C6CCC6-2BE5-4E42-96A4-D1E8E81A3D8E}" type="slidenum">
              <a:rPr lang="fr-FR" smtClean="0"/>
              <a:t>2</a:t>
            </a:fld>
            <a:endParaRPr lang="fr-FR"/>
          </a:p>
        </p:txBody>
      </p:sp>
      <p:sp>
        <p:nvSpPr>
          <p:cNvPr id="6" name="TextBox 5">
            <a:extLst>
              <a:ext uri="{FF2B5EF4-FFF2-40B4-BE49-F238E27FC236}">
                <a16:creationId xmlns:a16="http://schemas.microsoft.com/office/drawing/2014/main" id="{B0131E4D-4574-4E1F-B022-5D79D8358D6D}"/>
              </a:ext>
            </a:extLst>
          </p:cNvPr>
          <p:cNvSpPr txBox="1"/>
          <p:nvPr/>
        </p:nvSpPr>
        <p:spPr>
          <a:xfrm>
            <a:off x="374904" y="5495065"/>
            <a:ext cx="4599161" cy="646331"/>
          </a:xfrm>
          <a:prstGeom prst="rect">
            <a:avLst/>
          </a:prstGeom>
          <a:noFill/>
        </p:spPr>
        <p:txBody>
          <a:bodyPr wrap="square" rtlCol="0">
            <a:spAutoFit/>
          </a:bodyPr>
          <a:lstStyle/>
          <a:p>
            <a:pPr lvl="0">
              <a:lnSpc>
                <a:spcPct val="90000"/>
              </a:lnSpc>
              <a:spcBef>
                <a:spcPts val="1000"/>
              </a:spcBef>
            </a:pPr>
            <a:r>
              <a:rPr lang="fr-FR" sz="2000" dirty="0">
                <a:solidFill>
                  <a:prstClr val="black"/>
                </a:solidFill>
              </a:rPr>
              <a:t>… </a:t>
            </a:r>
            <a:r>
              <a:rPr lang="fr-FR" sz="2000" dirty="0" err="1">
                <a:solidFill>
                  <a:prstClr val="black"/>
                </a:solidFill>
              </a:rPr>
              <a:t>only</a:t>
            </a:r>
            <a:r>
              <a:rPr lang="fr-FR" sz="2000" dirty="0">
                <a:solidFill>
                  <a:prstClr val="black"/>
                </a:solidFill>
              </a:rPr>
              <a:t> if </a:t>
            </a:r>
            <a:r>
              <a:rPr lang="fr-FR" sz="2000" dirty="0" err="1">
                <a:solidFill>
                  <a:prstClr val="black"/>
                </a:solidFill>
              </a:rPr>
              <a:t>intercropping</a:t>
            </a:r>
            <a:r>
              <a:rPr lang="fr-FR" sz="2000" dirty="0">
                <a:solidFill>
                  <a:prstClr val="black"/>
                </a:solidFill>
              </a:rPr>
              <a:t> </a:t>
            </a:r>
            <a:r>
              <a:rPr lang="fr-FR" sz="2000" dirty="0" err="1">
                <a:solidFill>
                  <a:prstClr val="black"/>
                </a:solidFill>
              </a:rPr>
              <a:t>systems</a:t>
            </a:r>
            <a:r>
              <a:rPr lang="fr-FR" sz="2000" dirty="0">
                <a:solidFill>
                  <a:prstClr val="black"/>
                </a:solidFill>
              </a:rPr>
              <a:t> are </a:t>
            </a:r>
            <a:r>
              <a:rPr lang="fr-FR" sz="2000" dirty="0" err="1">
                <a:solidFill>
                  <a:prstClr val="black"/>
                </a:solidFill>
              </a:rPr>
              <a:t>optimized</a:t>
            </a:r>
            <a:endParaRPr lang="fr-FR" sz="2800" dirty="0">
              <a:solidFill>
                <a:prstClr val="black"/>
              </a:solidFill>
            </a:endParaRPr>
          </a:p>
        </p:txBody>
      </p:sp>
      <p:sp>
        <p:nvSpPr>
          <p:cNvPr id="10" name="TextBox 9">
            <a:extLst>
              <a:ext uri="{FF2B5EF4-FFF2-40B4-BE49-F238E27FC236}">
                <a16:creationId xmlns:a16="http://schemas.microsoft.com/office/drawing/2014/main" id="{B1CE0F28-2DC4-4FEB-AAEF-720D45676D00}"/>
              </a:ext>
            </a:extLst>
          </p:cNvPr>
          <p:cNvSpPr txBox="1"/>
          <p:nvPr/>
        </p:nvSpPr>
        <p:spPr>
          <a:xfrm>
            <a:off x="374903" y="3163088"/>
            <a:ext cx="5111497" cy="1456809"/>
          </a:xfrm>
          <a:prstGeom prst="rect">
            <a:avLst/>
          </a:prstGeom>
          <a:noFill/>
        </p:spPr>
        <p:txBody>
          <a:bodyPr wrap="square" rtlCol="0">
            <a:spAutoFit/>
          </a:bodyPr>
          <a:lstStyle/>
          <a:p>
            <a:pPr lvl="0">
              <a:lnSpc>
                <a:spcPct val="90000"/>
              </a:lnSpc>
              <a:spcBef>
                <a:spcPts val="1000"/>
              </a:spcBef>
            </a:pPr>
            <a:r>
              <a:rPr lang="fr-FR" sz="2000" dirty="0" err="1">
                <a:solidFill>
                  <a:prstClr val="black"/>
                </a:solidFill>
              </a:rPr>
              <a:t>Potential</a:t>
            </a:r>
            <a:r>
              <a:rPr lang="fr-FR" sz="2000" dirty="0">
                <a:solidFill>
                  <a:prstClr val="black"/>
                </a:solidFill>
              </a:rPr>
              <a:t> </a:t>
            </a:r>
            <a:r>
              <a:rPr lang="fr-FR" sz="2000" dirty="0" err="1">
                <a:solidFill>
                  <a:prstClr val="black"/>
                </a:solidFill>
              </a:rPr>
              <a:t>benefits</a:t>
            </a:r>
            <a:r>
              <a:rPr lang="fr-FR" sz="2000" dirty="0">
                <a:solidFill>
                  <a:prstClr val="black"/>
                </a:solidFill>
              </a:rPr>
              <a:t> : </a:t>
            </a:r>
          </a:p>
          <a:p>
            <a:pPr marL="742950" lvl="1" indent="-285750">
              <a:lnSpc>
                <a:spcPct val="90000"/>
              </a:lnSpc>
              <a:spcBef>
                <a:spcPts val="500"/>
              </a:spcBef>
              <a:buFont typeface="Courier New,monospace" panose="020B0604020202020204" pitchFamily="34" charset="0"/>
              <a:buChar char="o"/>
            </a:pPr>
            <a:r>
              <a:rPr lang="fr-FR" sz="1600" dirty="0">
                <a:solidFill>
                  <a:prstClr val="black"/>
                </a:solidFill>
                <a:cs typeface="Arial"/>
              </a:rPr>
              <a:t>more </a:t>
            </a:r>
            <a:r>
              <a:rPr lang="fr-FR" sz="1600" dirty="0" err="1">
                <a:solidFill>
                  <a:prstClr val="black"/>
                </a:solidFill>
                <a:cs typeface="Arial"/>
              </a:rPr>
              <a:t>resilience</a:t>
            </a:r>
            <a:r>
              <a:rPr lang="fr-FR" sz="1600" dirty="0">
                <a:solidFill>
                  <a:prstClr val="black"/>
                </a:solidFill>
                <a:cs typeface="Arial"/>
              </a:rPr>
              <a:t> to stresses</a:t>
            </a:r>
            <a:endParaRPr lang="fr-FR" sz="1600" dirty="0">
              <a:solidFill>
                <a:prstClr val="black"/>
              </a:solidFill>
              <a:cs typeface="Arial"/>
              <a:sym typeface="Wingdings" panose="05000000000000000000" pitchFamily="2" charset="2"/>
            </a:endParaRPr>
          </a:p>
          <a:p>
            <a:pPr marL="742950" lvl="1" indent="-285750">
              <a:lnSpc>
                <a:spcPct val="90000"/>
              </a:lnSpc>
              <a:spcBef>
                <a:spcPts val="500"/>
              </a:spcBef>
              <a:buFont typeface="Courier New,monospace" panose="020B0604020202020204" pitchFamily="34" charset="0"/>
              <a:buChar char="o"/>
            </a:pPr>
            <a:r>
              <a:rPr lang="fr-FR" sz="1600" dirty="0" err="1">
                <a:solidFill>
                  <a:prstClr val="black"/>
                </a:solidFill>
                <a:cs typeface="Arial"/>
                <a:sym typeface="Wingdings" panose="05000000000000000000" pitchFamily="2" charset="2"/>
              </a:rPr>
              <a:t>reduction</a:t>
            </a:r>
            <a:r>
              <a:rPr lang="fr-FR" sz="1600" dirty="0">
                <a:solidFill>
                  <a:prstClr val="black"/>
                </a:solidFill>
                <a:cs typeface="Arial"/>
                <a:sym typeface="Wingdings" panose="05000000000000000000" pitchFamily="2" charset="2"/>
              </a:rPr>
              <a:t> of use of </a:t>
            </a:r>
            <a:r>
              <a:rPr lang="en-US" sz="1600" dirty="0">
                <a:solidFill>
                  <a:prstClr val="black"/>
                </a:solidFill>
                <a:cs typeface="Arial"/>
                <a:sym typeface="Wingdings" panose="05000000000000000000" pitchFamily="2" charset="2"/>
              </a:rPr>
              <a:t>fertilizers and pesticides</a:t>
            </a:r>
            <a:endParaRPr lang="en-US" sz="1600" dirty="0">
              <a:solidFill>
                <a:prstClr val="black"/>
              </a:solidFill>
              <a:cs typeface="Arial"/>
            </a:endParaRPr>
          </a:p>
          <a:p>
            <a:pPr marL="742950" lvl="1" indent="-285750">
              <a:lnSpc>
                <a:spcPct val="90000"/>
              </a:lnSpc>
              <a:spcBef>
                <a:spcPts val="500"/>
              </a:spcBef>
              <a:buFont typeface="Courier New,monospace" panose="020B0604020202020204" pitchFamily="34" charset="0"/>
              <a:buChar char="o"/>
            </a:pPr>
            <a:r>
              <a:rPr lang="fr-FR" sz="1600" dirty="0" err="1">
                <a:solidFill>
                  <a:prstClr val="black"/>
                </a:solidFill>
                <a:cs typeface="Arial"/>
              </a:rPr>
              <a:t>increased</a:t>
            </a:r>
            <a:r>
              <a:rPr lang="fr-FR" sz="1600" dirty="0">
                <a:solidFill>
                  <a:prstClr val="black"/>
                </a:solidFill>
                <a:cs typeface="Arial"/>
              </a:rPr>
              <a:t> </a:t>
            </a:r>
            <a:r>
              <a:rPr lang="fr-FR" sz="1600" dirty="0" err="1">
                <a:solidFill>
                  <a:prstClr val="black"/>
                </a:solidFill>
                <a:cs typeface="Arial"/>
              </a:rPr>
              <a:t>yield</a:t>
            </a:r>
            <a:r>
              <a:rPr lang="fr-FR" sz="1600" dirty="0">
                <a:solidFill>
                  <a:prstClr val="black"/>
                </a:solidFill>
                <a:cs typeface="Arial"/>
              </a:rPr>
              <a:t> </a:t>
            </a:r>
          </a:p>
          <a:p>
            <a:pPr lvl="1">
              <a:lnSpc>
                <a:spcPct val="90000"/>
              </a:lnSpc>
              <a:spcBef>
                <a:spcPts val="500"/>
              </a:spcBef>
            </a:pPr>
            <a:r>
              <a:rPr lang="fr-FR" sz="1200" dirty="0">
                <a:solidFill>
                  <a:prstClr val="black"/>
                </a:solidFill>
                <a:cs typeface="Arial"/>
              </a:rPr>
              <a:t>(Jensen et al., 2020, </a:t>
            </a:r>
            <a:r>
              <a:rPr lang="fr-FR" sz="1200" dirty="0" err="1">
                <a:solidFill>
                  <a:prstClr val="black"/>
                </a:solidFill>
                <a:cs typeface="Arial"/>
              </a:rPr>
              <a:t>Stomph</a:t>
            </a:r>
            <a:r>
              <a:rPr lang="fr-FR" sz="1200" dirty="0">
                <a:solidFill>
                  <a:prstClr val="black"/>
                </a:solidFill>
                <a:cs typeface="Arial"/>
              </a:rPr>
              <a:t> et al., 2020, </a:t>
            </a:r>
            <a:r>
              <a:rPr lang="fr-FR" sz="1200" dirty="0" err="1">
                <a:solidFill>
                  <a:prstClr val="black"/>
                </a:solidFill>
                <a:cs typeface="Arial"/>
              </a:rPr>
              <a:t>Gaudio</a:t>
            </a:r>
            <a:r>
              <a:rPr lang="fr-FR" sz="1200" dirty="0">
                <a:solidFill>
                  <a:prstClr val="black"/>
                </a:solidFill>
                <a:cs typeface="Arial"/>
              </a:rPr>
              <a:t> et al., 2021)</a:t>
            </a:r>
            <a:endParaRPr lang="fr-FR" sz="1200" dirty="0">
              <a:solidFill>
                <a:prstClr val="black"/>
              </a:solidFill>
            </a:endParaRPr>
          </a:p>
        </p:txBody>
      </p:sp>
    </p:spTree>
    <p:extLst>
      <p:ext uri="{BB962C8B-B14F-4D97-AF65-F5344CB8AC3E}">
        <p14:creationId xmlns:p14="http://schemas.microsoft.com/office/powerpoint/2010/main" val="1965073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DA0040-5BAE-5958-FC78-C71152A3A0F7}"/>
              </a:ext>
            </a:extLst>
          </p:cNvPr>
          <p:cNvSpPr>
            <a:spLocks noGrp="1"/>
          </p:cNvSpPr>
          <p:nvPr>
            <p:ph type="title"/>
          </p:nvPr>
        </p:nvSpPr>
        <p:spPr>
          <a:xfrm>
            <a:off x="381247" y="306861"/>
            <a:ext cx="10515600" cy="1325563"/>
          </a:xfrm>
        </p:spPr>
        <p:txBody>
          <a:bodyPr>
            <a:normAutofit/>
          </a:bodyPr>
          <a:lstStyle/>
          <a:p>
            <a:r>
              <a:rPr lang="fr-FR" sz="4000" dirty="0" err="1"/>
              <a:t>Intercropping</a:t>
            </a:r>
            <a:r>
              <a:rPr lang="fr-FR" sz="4000" dirty="0"/>
              <a:t> </a:t>
            </a:r>
            <a:r>
              <a:rPr lang="fr-FR" sz="4000" dirty="0" err="1"/>
              <a:t>systems</a:t>
            </a:r>
            <a:endParaRPr lang="fr-FR" sz="4000" dirty="0"/>
          </a:p>
        </p:txBody>
      </p:sp>
      <p:sp>
        <p:nvSpPr>
          <p:cNvPr id="3" name="Espace réservé du contenu 2">
            <a:extLst>
              <a:ext uri="{FF2B5EF4-FFF2-40B4-BE49-F238E27FC236}">
                <a16:creationId xmlns:a16="http://schemas.microsoft.com/office/drawing/2014/main" id="{B93B4046-E733-DB53-FDB9-9FBE0D561F5E}"/>
              </a:ext>
            </a:extLst>
          </p:cNvPr>
          <p:cNvSpPr>
            <a:spLocks noGrp="1"/>
          </p:cNvSpPr>
          <p:nvPr>
            <p:ph idx="1"/>
          </p:nvPr>
        </p:nvSpPr>
        <p:spPr>
          <a:xfrm>
            <a:off x="838200" y="1687080"/>
            <a:ext cx="10515600" cy="828326"/>
          </a:xfrm>
        </p:spPr>
        <p:txBody>
          <a:bodyPr vert="horz" lIns="91440" tIns="45720" rIns="91440" bIns="45720" rtlCol="0" anchor="t">
            <a:normAutofit/>
          </a:bodyPr>
          <a:lstStyle/>
          <a:p>
            <a:pPr marL="0" indent="0" algn="ctr">
              <a:buNone/>
            </a:pPr>
            <a:r>
              <a:rPr lang="fr-FR" sz="4400" b="1" dirty="0"/>
              <a:t>G     x     G     x     E     x     M</a:t>
            </a:r>
          </a:p>
        </p:txBody>
      </p:sp>
      <p:sp>
        <p:nvSpPr>
          <p:cNvPr id="9" name="Espace réservé du contenu 2">
            <a:extLst>
              <a:ext uri="{FF2B5EF4-FFF2-40B4-BE49-F238E27FC236}">
                <a16:creationId xmlns:a16="http://schemas.microsoft.com/office/drawing/2014/main" id="{3A6AC0EF-9D2C-7B34-EE6E-A14EF7F60F5D}"/>
              </a:ext>
            </a:extLst>
          </p:cNvPr>
          <p:cNvSpPr txBox="1">
            <a:spLocks/>
          </p:cNvSpPr>
          <p:nvPr/>
        </p:nvSpPr>
        <p:spPr>
          <a:xfrm>
            <a:off x="4619899" y="2788186"/>
            <a:ext cx="1253833" cy="723330"/>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200" b="1" dirty="0" err="1"/>
              <a:t>Genotype</a:t>
            </a:r>
            <a:r>
              <a:rPr lang="fr-FR" sz="2000" dirty="0"/>
              <a:t> </a:t>
            </a:r>
            <a:r>
              <a:rPr lang="fr-FR" sz="1900" dirty="0"/>
              <a:t>of a </a:t>
            </a:r>
            <a:r>
              <a:rPr lang="fr-FR" sz="1900" dirty="0" err="1"/>
              <a:t>cereal</a:t>
            </a:r>
            <a:endParaRPr lang="fr-FR" sz="1900" dirty="0"/>
          </a:p>
        </p:txBody>
      </p:sp>
      <p:sp>
        <p:nvSpPr>
          <p:cNvPr id="10" name="Espace réservé du contenu 2">
            <a:extLst>
              <a:ext uri="{FF2B5EF4-FFF2-40B4-BE49-F238E27FC236}">
                <a16:creationId xmlns:a16="http://schemas.microsoft.com/office/drawing/2014/main" id="{726360F6-ECD4-8ABB-63C7-CF65D3630BF0}"/>
              </a:ext>
            </a:extLst>
          </p:cNvPr>
          <p:cNvSpPr txBox="1">
            <a:spLocks/>
          </p:cNvSpPr>
          <p:nvPr/>
        </p:nvSpPr>
        <p:spPr>
          <a:xfrm>
            <a:off x="2554187" y="2789505"/>
            <a:ext cx="1395594" cy="8975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err="1"/>
              <a:t>Genotype</a:t>
            </a:r>
            <a:r>
              <a:rPr lang="fr-FR" sz="2000" dirty="0"/>
              <a:t> </a:t>
            </a:r>
            <a:r>
              <a:rPr lang="fr-FR" sz="1800" dirty="0"/>
              <a:t>of a </a:t>
            </a:r>
            <a:r>
              <a:rPr lang="fr-FR" sz="1800" dirty="0" err="1"/>
              <a:t>legume</a:t>
            </a:r>
            <a:endParaRPr lang="fr-FR" sz="1800" dirty="0"/>
          </a:p>
        </p:txBody>
      </p:sp>
      <p:sp>
        <p:nvSpPr>
          <p:cNvPr id="11" name="Espace réservé du contenu 2">
            <a:extLst>
              <a:ext uri="{FF2B5EF4-FFF2-40B4-BE49-F238E27FC236}">
                <a16:creationId xmlns:a16="http://schemas.microsoft.com/office/drawing/2014/main" id="{00B1E25A-F2CD-2BF1-B075-C508D718FF10}"/>
              </a:ext>
            </a:extLst>
          </p:cNvPr>
          <p:cNvSpPr txBox="1">
            <a:spLocks/>
          </p:cNvSpPr>
          <p:nvPr/>
        </p:nvSpPr>
        <p:spPr>
          <a:xfrm>
            <a:off x="8392888" y="2789505"/>
            <a:ext cx="1865647" cy="20158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Management</a:t>
            </a:r>
          </a:p>
          <a:p>
            <a:pPr marL="0" indent="0">
              <a:buNone/>
            </a:pPr>
            <a:r>
              <a:rPr lang="fr-FR" sz="1800" dirty="0" err="1"/>
              <a:t>Sowing</a:t>
            </a:r>
            <a:r>
              <a:rPr lang="fr-FR" sz="1800" dirty="0"/>
              <a:t> pattern </a:t>
            </a:r>
          </a:p>
          <a:p>
            <a:pPr marL="0" indent="0">
              <a:buNone/>
            </a:pPr>
            <a:r>
              <a:rPr lang="fr-FR" sz="1800" dirty="0">
                <a:ea typeface="+mn-lt"/>
                <a:cs typeface="+mn-lt"/>
              </a:rPr>
              <a:t>Inputs</a:t>
            </a:r>
            <a:endParaRPr lang="fr-FR" sz="1800" dirty="0"/>
          </a:p>
        </p:txBody>
      </p:sp>
      <p:sp>
        <p:nvSpPr>
          <p:cNvPr id="12" name="Espace réservé du contenu 2">
            <a:extLst>
              <a:ext uri="{FF2B5EF4-FFF2-40B4-BE49-F238E27FC236}">
                <a16:creationId xmlns:a16="http://schemas.microsoft.com/office/drawing/2014/main" id="{652312E1-D4E0-631C-4DE6-22B2AAFC037C}"/>
              </a:ext>
            </a:extLst>
          </p:cNvPr>
          <p:cNvSpPr txBox="1">
            <a:spLocks/>
          </p:cNvSpPr>
          <p:nvPr/>
        </p:nvSpPr>
        <p:spPr>
          <a:xfrm>
            <a:off x="6509092" y="2788186"/>
            <a:ext cx="2101508" cy="98666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Environnement</a:t>
            </a:r>
          </a:p>
          <a:p>
            <a:pPr marL="0" indent="0">
              <a:buNone/>
            </a:pPr>
            <a:r>
              <a:rPr lang="fr-FR" sz="1800" dirty="0" err="1"/>
              <a:t>Soil</a:t>
            </a:r>
            <a:r>
              <a:rPr lang="fr-FR" sz="1800" dirty="0"/>
              <a:t> &amp; </a:t>
            </a:r>
            <a:r>
              <a:rPr lang="fr-FR" sz="1800" dirty="0" err="1"/>
              <a:t>atmosphere</a:t>
            </a:r>
            <a:endParaRPr lang="fr-FR" sz="1800" dirty="0">
              <a:ea typeface="+mn-lt"/>
              <a:cs typeface="+mn-lt"/>
            </a:endParaRPr>
          </a:p>
        </p:txBody>
      </p:sp>
      <p:pic>
        <p:nvPicPr>
          <p:cNvPr id="28" name="Image 27" descr="Une image contenant Tige, légume, plante, fleur&#10;&#10;Description générée automatiquement">
            <a:extLst>
              <a:ext uri="{FF2B5EF4-FFF2-40B4-BE49-F238E27FC236}">
                <a16:creationId xmlns:a16="http://schemas.microsoft.com/office/drawing/2014/main" id="{EF6D3CAF-D295-0DB9-6DA7-6076C82D57D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5043378" y="2334737"/>
            <a:ext cx="2210683" cy="2206336"/>
          </a:xfrm>
          <a:prstGeom prst="rect">
            <a:avLst/>
          </a:prstGeom>
        </p:spPr>
      </p:pic>
      <p:pic>
        <p:nvPicPr>
          <p:cNvPr id="29" name="Image 28" descr="Une image contenant légume, Tige, plante&#10;&#10;Description générée automatiquement">
            <a:extLst>
              <a:ext uri="{FF2B5EF4-FFF2-40B4-BE49-F238E27FC236}">
                <a16:creationId xmlns:a16="http://schemas.microsoft.com/office/drawing/2014/main" id="{CB7300D5-D900-803B-C6E0-48400A502652}"/>
              </a:ext>
            </a:extLst>
          </p:cNvPr>
          <p:cNvPicPr>
            <a:picLocks noChangeAspect="1"/>
          </p:cNvPicPr>
          <p:nvPr/>
        </p:nvPicPr>
        <p:blipFill>
          <a:blip r:embed="rId5"/>
          <a:stretch>
            <a:fillRect/>
          </a:stretch>
        </p:blipFill>
        <p:spPr>
          <a:xfrm>
            <a:off x="1863158" y="2544288"/>
            <a:ext cx="687347" cy="1977243"/>
          </a:xfrm>
          <a:prstGeom prst="rect">
            <a:avLst/>
          </a:prstGeom>
        </p:spPr>
      </p:pic>
      <p:sp>
        <p:nvSpPr>
          <p:cNvPr id="18" name="Slide Number Placeholder 17">
            <a:extLst>
              <a:ext uri="{FF2B5EF4-FFF2-40B4-BE49-F238E27FC236}">
                <a16:creationId xmlns:a16="http://schemas.microsoft.com/office/drawing/2014/main" id="{E9FCEF18-CA2B-4401-AC1F-4DDBB77028D7}"/>
              </a:ext>
            </a:extLst>
          </p:cNvPr>
          <p:cNvSpPr>
            <a:spLocks noGrp="1"/>
          </p:cNvSpPr>
          <p:nvPr>
            <p:ph type="sldNum" sz="quarter" idx="12"/>
          </p:nvPr>
        </p:nvSpPr>
        <p:spPr/>
        <p:txBody>
          <a:bodyPr/>
          <a:lstStyle/>
          <a:p>
            <a:fld id="{27C6CCC6-2BE5-4E42-96A4-D1E8E81A3D8E}" type="slidenum">
              <a:rPr lang="fr-FR" smtClean="0"/>
              <a:t>3</a:t>
            </a:fld>
            <a:endParaRPr lang="fr-FR"/>
          </a:p>
        </p:txBody>
      </p:sp>
      <p:grpSp>
        <p:nvGrpSpPr>
          <p:cNvPr id="25" name="Group 24">
            <a:extLst>
              <a:ext uri="{FF2B5EF4-FFF2-40B4-BE49-F238E27FC236}">
                <a16:creationId xmlns:a16="http://schemas.microsoft.com/office/drawing/2014/main" id="{3D47B465-0C7D-4E4F-BE3E-58BAC8758E34}"/>
              </a:ext>
            </a:extLst>
          </p:cNvPr>
          <p:cNvGrpSpPr/>
          <p:nvPr/>
        </p:nvGrpSpPr>
        <p:grpSpPr>
          <a:xfrm>
            <a:off x="10258535" y="2917201"/>
            <a:ext cx="1662744" cy="828326"/>
            <a:chOff x="7753259" y="1690688"/>
            <a:chExt cx="3695945" cy="2098945"/>
          </a:xfrm>
        </p:grpSpPr>
        <p:sp>
          <p:nvSpPr>
            <p:cNvPr id="26" name="Rectangle 25">
              <a:extLst>
                <a:ext uri="{FF2B5EF4-FFF2-40B4-BE49-F238E27FC236}">
                  <a16:creationId xmlns:a16="http://schemas.microsoft.com/office/drawing/2014/main" id="{562A15CC-2169-47CC-B46E-39697059270E}"/>
                </a:ext>
              </a:extLst>
            </p:cNvPr>
            <p:cNvSpPr/>
            <p:nvPr/>
          </p:nvSpPr>
          <p:spPr>
            <a:xfrm flipH="1">
              <a:off x="7753259" y="169068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BFA03D6-8DAB-4BFD-AC0C-56194FDFE6C5}"/>
                </a:ext>
              </a:extLst>
            </p:cNvPr>
            <p:cNvSpPr/>
            <p:nvPr/>
          </p:nvSpPr>
          <p:spPr>
            <a:xfrm flipH="1">
              <a:off x="8199698" y="169068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8C7DBA4-6806-4A6E-8A59-EE7AAF10921A}"/>
                </a:ext>
              </a:extLst>
            </p:cNvPr>
            <p:cNvSpPr/>
            <p:nvPr/>
          </p:nvSpPr>
          <p:spPr>
            <a:xfrm flipH="1">
              <a:off x="8644491" y="169068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D8DD0F1-B30D-4F34-9C55-630C66019568}"/>
                </a:ext>
              </a:extLst>
            </p:cNvPr>
            <p:cNvSpPr/>
            <p:nvPr/>
          </p:nvSpPr>
          <p:spPr>
            <a:xfrm flipH="1">
              <a:off x="9089292" y="169068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9C2248-97F9-4650-8864-BD59FF37EDC0}"/>
                </a:ext>
              </a:extLst>
            </p:cNvPr>
            <p:cNvSpPr/>
            <p:nvPr/>
          </p:nvSpPr>
          <p:spPr>
            <a:xfrm flipH="1">
              <a:off x="9678328" y="169099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3C64C55-16B2-4AC4-9009-9F04794B15E7}"/>
                </a:ext>
              </a:extLst>
            </p:cNvPr>
            <p:cNvSpPr/>
            <p:nvPr/>
          </p:nvSpPr>
          <p:spPr>
            <a:xfrm flipH="1">
              <a:off x="10124761" y="169099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2B5C0FA-4687-46E1-83F0-AF0C76182EDF}"/>
                </a:ext>
              </a:extLst>
            </p:cNvPr>
            <p:cNvSpPr/>
            <p:nvPr/>
          </p:nvSpPr>
          <p:spPr>
            <a:xfrm flipH="1">
              <a:off x="10559044" y="169099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5D12387-BCD0-4195-9434-79D0AB21F218}"/>
                </a:ext>
              </a:extLst>
            </p:cNvPr>
            <p:cNvSpPr/>
            <p:nvPr/>
          </p:nvSpPr>
          <p:spPr>
            <a:xfrm flipH="1">
              <a:off x="11003837" y="1692381"/>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E9EE308-8FBC-46B6-9028-27D860C286F4}"/>
                </a:ext>
              </a:extLst>
            </p:cNvPr>
            <p:cNvSpPr/>
            <p:nvPr/>
          </p:nvSpPr>
          <p:spPr>
            <a:xfrm flipH="1">
              <a:off x="9667817" y="3078485"/>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F922928-5682-454D-A7E2-01569111FF60}"/>
                </a:ext>
              </a:extLst>
            </p:cNvPr>
            <p:cNvSpPr/>
            <p:nvPr/>
          </p:nvSpPr>
          <p:spPr>
            <a:xfrm flipH="1">
              <a:off x="9667817" y="2380932"/>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7021F17-CD35-4310-A83F-F96028E1C329}"/>
                </a:ext>
              </a:extLst>
            </p:cNvPr>
            <p:cNvSpPr/>
            <p:nvPr/>
          </p:nvSpPr>
          <p:spPr>
            <a:xfrm flipH="1">
              <a:off x="10486956" y="3079959"/>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275509F-222F-46EB-8AC8-BAA106D8584D}"/>
                </a:ext>
              </a:extLst>
            </p:cNvPr>
            <p:cNvSpPr/>
            <p:nvPr/>
          </p:nvSpPr>
          <p:spPr>
            <a:xfrm flipH="1">
              <a:off x="10560526" y="2382407"/>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0FA3C79-E836-4AC6-A5CC-58143CEBA1D6}"/>
                </a:ext>
              </a:extLst>
            </p:cNvPr>
            <p:cNvSpPr/>
            <p:nvPr/>
          </p:nvSpPr>
          <p:spPr>
            <a:xfrm flipH="1">
              <a:off x="10124761" y="2380934"/>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7EA3F62-9ECB-480A-B053-6ACC3BE6D049}"/>
                </a:ext>
              </a:extLst>
            </p:cNvPr>
            <p:cNvSpPr/>
            <p:nvPr/>
          </p:nvSpPr>
          <p:spPr>
            <a:xfrm flipH="1">
              <a:off x="9672818" y="308899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D8E41F4-053C-4736-A8FA-24DDC3EE943A}"/>
                </a:ext>
              </a:extLst>
            </p:cNvPr>
            <p:cNvSpPr/>
            <p:nvPr/>
          </p:nvSpPr>
          <p:spPr>
            <a:xfrm flipH="1">
              <a:off x="11005327" y="238093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CB23D8C-5C62-4094-8C62-4D08D0F26AC1}"/>
                </a:ext>
              </a:extLst>
            </p:cNvPr>
            <p:cNvSpPr/>
            <p:nvPr/>
          </p:nvSpPr>
          <p:spPr>
            <a:xfrm flipH="1">
              <a:off x="10575884" y="308899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37186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DA0040-5BAE-5958-FC78-C71152A3A0F7}"/>
              </a:ext>
            </a:extLst>
          </p:cNvPr>
          <p:cNvSpPr>
            <a:spLocks noGrp="1"/>
          </p:cNvSpPr>
          <p:nvPr>
            <p:ph type="title"/>
          </p:nvPr>
        </p:nvSpPr>
        <p:spPr>
          <a:xfrm>
            <a:off x="381247" y="306861"/>
            <a:ext cx="10515600" cy="1325563"/>
          </a:xfrm>
        </p:spPr>
        <p:txBody>
          <a:bodyPr>
            <a:normAutofit/>
          </a:bodyPr>
          <a:lstStyle/>
          <a:p>
            <a:r>
              <a:rPr lang="fr-FR" sz="4000" dirty="0" err="1"/>
              <a:t>Intercropping</a:t>
            </a:r>
            <a:r>
              <a:rPr lang="fr-FR" sz="4000" dirty="0"/>
              <a:t> </a:t>
            </a:r>
            <a:r>
              <a:rPr lang="fr-FR" sz="4000" dirty="0" err="1"/>
              <a:t>systems</a:t>
            </a:r>
            <a:endParaRPr lang="fr-FR" sz="4000" dirty="0"/>
          </a:p>
        </p:txBody>
      </p:sp>
      <p:sp>
        <p:nvSpPr>
          <p:cNvPr id="3" name="Espace réservé du contenu 2">
            <a:extLst>
              <a:ext uri="{FF2B5EF4-FFF2-40B4-BE49-F238E27FC236}">
                <a16:creationId xmlns:a16="http://schemas.microsoft.com/office/drawing/2014/main" id="{B93B4046-E733-DB53-FDB9-9FBE0D561F5E}"/>
              </a:ext>
            </a:extLst>
          </p:cNvPr>
          <p:cNvSpPr>
            <a:spLocks noGrp="1"/>
          </p:cNvSpPr>
          <p:nvPr>
            <p:ph idx="1"/>
          </p:nvPr>
        </p:nvSpPr>
        <p:spPr>
          <a:xfrm>
            <a:off x="838200" y="1687080"/>
            <a:ext cx="10515600" cy="828326"/>
          </a:xfrm>
        </p:spPr>
        <p:txBody>
          <a:bodyPr vert="horz" lIns="91440" tIns="45720" rIns="91440" bIns="45720" rtlCol="0" anchor="t">
            <a:normAutofit/>
          </a:bodyPr>
          <a:lstStyle/>
          <a:p>
            <a:pPr marL="0" indent="0" algn="ctr">
              <a:buNone/>
            </a:pPr>
            <a:r>
              <a:rPr lang="fr-FR" sz="4400" b="1" dirty="0"/>
              <a:t>G     x     G     x     E     x     M</a:t>
            </a:r>
          </a:p>
        </p:txBody>
      </p:sp>
      <p:sp>
        <p:nvSpPr>
          <p:cNvPr id="7" name="Espace réservé du contenu 2">
            <a:extLst>
              <a:ext uri="{FF2B5EF4-FFF2-40B4-BE49-F238E27FC236}">
                <a16:creationId xmlns:a16="http://schemas.microsoft.com/office/drawing/2014/main" id="{30194FFF-6566-A0FA-6B5B-EF7DD75F6F24}"/>
              </a:ext>
            </a:extLst>
          </p:cNvPr>
          <p:cNvSpPr txBox="1">
            <a:spLocks/>
          </p:cNvSpPr>
          <p:nvPr/>
        </p:nvSpPr>
        <p:spPr>
          <a:xfrm>
            <a:off x="2824495" y="5532851"/>
            <a:ext cx="2839383" cy="46029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dirty="0" err="1"/>
              <a:t>Interspecific</a:t>
            </a:r>
            <a:r>
              <a:rPr lang="fr-FR" sz="2000" dirty="0"/>
              <a:t> interactions</a:t>
            </a:r>
            <a:endParaRPr lang="fr-FR" sz="2000" dirty="0">
              <a:ea typeface="+mn-lt"/>
              <a:cs typeface="+mn-lt"/>
            </a:endParaRPr>
          </a:p>
        </p:txBody>
      </p:sp>
      <p:sp>
        <p:nvSpPr>
          <p:cNvPr id="9" name="Espace réservé du contenu 2">
            <a:extLst>
              <a:ext uri="{FF2B5EF4-FFF2-40B4-BE49-F238E27FC236}">
                <a16:creationId xmlns:a16="http://schemas.microsoft.com/office/drawing/2014/main" id="{3A6AC0EF-9D2C-7B34-EE6E-A14EF7F60F5D}"/>
              </a:ext>
            </a:extLst>
          </p:cNvPr>
          <p:cNvSpPr txBox="1">
            <a:spLocks/>
          </p:cNvSpPr>
          <p:nvPr/>
        </p:nvSpPr>
        <p:spPr>
          <a:xfrm>
            <a:off x="4621218" y="2785698"/>
            <a:ext cx="1253833" cy="723330"/>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200" b="1" dirty="0" err="1"/>
              <a:t>Genotype</a:t>
            </a:r>
            <a:r>
              <a:rPr lang="fr-FR" sz="2000" dirty="0"/>
              <a:t> </a:t>
            </a:r>
            <a:r>
              <a:rPr lang="fr-FR" sz="1900" dirty="0"/>
              <a:t>of a </a:t>
            </a:r>
            <a:r>
              <a:rPr lang="fr-FR" sz="1900" dirty="0" err="1"/>
              <a:t>cereal</a:t>
            </a:r>
            <a:endParaRPr lang="fr-FR" sz="1900" dirty="0"/>
          </a:p>
        </p:txBody>
      </p:sp>
      <p:sp>
        <p:nvSpPr>
          <p:cNvPr id="10" name="Espace réservé du contenu 2">
            <a:extLst>
              <a:ext uri="{FF2B5EF4-FFF2-40B4-BE49-F238E27FC236}">
                <a16:creationId xmlns:a16="http://schemas.microsoft.com/office/drawing/2014/main" id="{726360F6-ECD4-8ABB-63C7-CF65D3630BF0}"/>
              </a:ext>
            </a:extLst>
          </p:cNvPr>
          <p:cNvSpPr txBox="1">
            <a:spLocks/>
          </p:cNvSpPr>
          <p:nvPr/>
        </p:nvSpPr>
        <p:spPr>
          <a:xfrm>
            <a:off x="2554187" y="2789505"/>
            <a:ext cx="1395594" cy="8975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err="1"/>
              <a:t>Genotype</a:t>
            </a:r>
            <a:r>
              <a:rPr lang="fr-FR" sz="2000" dirty="0"/>
              <a:t> </a:t>
            </a:r>
            <a:r>
              <a:rPr lang="fr-FR" sz="1800" dirty="0"/>
              <a:t>of a </a:t>
            </a:r>
            <a:r>
              <a:rPr lang="fr-FR" sz="1800" dirty="0" err="1"/>
              <a:t>legume</a:t>
            </a:r>
            <a:endParaRPr lang="fr-FR" sz="1800" dirty="0"/>
          </a:p>
        </p:txBody>
      </p:sp>
      <p:sp>
        <p:nvSpPr>
          <p:cNvPr id="11" name="Espace réservé du contenu 2">
            <a:extLst>
              <a:ext uri="{FF2B5EF4-FFF2-40B4-BE49-F238E27FC236}">
                <a16:creationId xmlns:a16="http://schemas.microsoft.com/office/drawing/2014/main" id="{00B1E25A-F2CD-2BF1-B075-C508D718FF10}"/>
              </a:ext>
            </a:extLst>
          </p:cNvPr>
          <p:cNvSpPr txBox="1">
            <a:spLocks/>
          </p:cNvSpPr>
          <p:nvPr/>
        </p:nvSpPr>
        <p:spPr>
          <a:xfrm>
            <a:off x="8392888" y="2789505"/>
            <a:ext cx="1865647" cy="20158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Management</a:t>
            </a:r>
          </a:p>
          <a:p>
            <a:pPr marL="0" indent="0">
              <a:buNone/>
            </a:pPr>
            <a:r>
              <a:rPr lang="fr-FR" sz="1800" dirty="0" err="1"/>
              <a:t>Sowing</a:t>
            </a:r>
            <a:r>
              <a:rPr lang="fr-FR" sz="1800" dirty="0"/>
              <a:t> pattern </a:t>
            </a:r>
          </a:p>
          <a:p>
            <a:pPr marL="0" indent="0">
              <a:buNone/>
            </a:pPr>
            <a:r>
              <a:rPr lang="fr-FR" sz="1800" dirty="0">
                <a:ea typeface="+mn-lt"/>
                <a:cs typeface="+mn-lt"/>
              </a:rPr>
              <a:t>Inputs</a:t>
            </a:r>
            <a:endParaRPr lang="fr-FR" sz="1800" dirty="0"/>
          </a:p>
        </p:txBody>
      </p:sp>
      <p:sp>
        <p:nvSpPr>
          <p:cNvPr id="12" name="Espace réservé du contenu 2">
            <a:extLst>
              <a:ext uri="{FF2B5EF4-FFF2-40B4-BE49-F238E27FC236}">
                <a16:creationId xmlns:a16="http://schemas.microsoft.com/office/drawing/2014/main" id="{652312E1-D4E0-631C-4DE6-22B2AAFC037C}"/>
              </a:ext>
            </a:extLst>
          </p:cNvPr>
          <p:cNvSpPr txBox="1">
            <a:spLocks/>
          </p:cNvSpPr>
          <p:nvPr/>
        </p:nvSpPr>
        <p:spPr>
          <a:xfrm>
            <a:off x="6509092" y="2788186"/>
            <a:ext cx="2101508" cy="98666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Environnement</a:t>
            </a:r>
          </a:p>
          <a:p>
            <a:pPr marL="0" indent="0">
              <a:buNone/>
            </a:pPr>
            <a:r>
              <a:rPr lang="fr-FR" sz="1800" dirty="0" err="1"/>
              <a:t>Soil</a:t>
            </a:r>
            <a:r>
              <a:rPr lang="fr-FR" sz="1800" dirty="0"/>
              <a:t> &amp; </a:t>
            </a:r>
            <a:r>
              <a:rPr lang="fr-FR" sz="1800" dirty="0" err="1"/>
              <a:t>atmosphere</a:t>
            </a:r>
            <a:endParaRPr lang="fr-FR" sz="1800" dirty="0">
              <a:ea typeface="+mn-lt"/>
              <a:cs typeface="+mn-lt"/>
            </a:endParaRPr>
          </a:p>
        </p:txBody>
      </p:sp>
      <p:pic>
        <p:nvPicPr>
          <p:cNvPr id="28" name="Image 27" descr="Une image contenant Tige, légume, plante, fleur&#10;&#10;Description générée automatiquement">
            <a:extLst>
              <a:ext uri="{FF2B5EF4-FFF2-40B4-BE49-F238E27FC236}">
                <a16:creationId xmlns:a16="http://schemas.microsoft.com/office/drawing/2014/main" id="{EF6D3CAF-D295-0DB9-6DA7-6076C82D57D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5043378" y="2334737"/>
            <a:ext cx="2210683" cy="2206336"/>
          </a:xfrm>
          <a:prstGeom prst="rect">
            <a:avLst/>
          </a:prstGeom>
        </p:spPr>
      </p:pic>
      <p:pic>
        <p:nvPicPr>
          <p:cNvPr id="29" name="Image 28" descr="Une image contenant légume, Tige, plante&#10;&#10;Description générée automatiquement">
            <a:extLst>
              <a:ext uri="{FF2B5EF4-FFF2-40B4-BE49-F238E27FC236}">
                <a16:creationId xmlns:a16="http://schemas.microsoft.com/office/drawing/2014/main" id="{CB7300D5-D900-803B-C6E0-48400A502652}"/>
              </a:ext>
            </a:extLst>
          </p:cNvPr>
          <p:cNvPicPr>
            <a:picLocks noChangeAspect="1"/>
          </p:cNvPicPr>
          <p:nvPr/>
        </p:nvPicPr>
        <p:blipFill>
          <a:blip r:embed="rId5"/>
          <a:stretch>
            <a:fillRect/>
          </a:stretch>
        </p:blipFill>
        <p:spPr>
          <a:xfrm>
            <a:off x="1863158" y="2544288"/>
            <a:ext cx="687347" cy="1977243"/>
          </a:xfrm>
          <a:prstGeom prst="rect">
            <a:avLst/>
          </a:prstGeom>
        </p:spPr>
      </p:pic>
      <p:cxnSp>
        <p:nvCxnSpPr>
          <p:cNvPr id="30" name="Connecteur droit avec flèche 29">
            <a:extLst>
              <a:ext uri="{FF2B5EF4-FFF2-40B4-BE49-F238E27FC236}">
                <a16:creationId xmlns:a16="http://schemas.microsoft.com/office/drawing/2014/main" id="{7EFDC405-F40B-7684-67F0-86A272BB7A72}"/>
              </a:ext>
            </a:extLst>
          </p:cNvPr>
          <p:cNvCxnSpPr>
            <a:cxnSpLocks/>
          </p:cNvCxnSpPr>
          <p:nvPr/>
        </p:nvCxnSpPr>
        <p:spPr>
          <a:xfrm>
            <a:off x="4190884" y="3740733"/>
            <a:ext cx="0" cy="172034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Espace réservé du contenu 2">
            <a:extLst>
              <a:ext uri="{FF2B5EF4-FFF2-40B4-BE49-F238E27FC236}">
                <a16:creationId xmlns:a16="http://schemas.microsoft.com/office/drawing/2014/main" id="{C0D10E53-15F0-FAAD-3294-B03E775195DF}"/>
              </a:ext>
            </a:extLst>
          </p:cNvPr>
          <p:cNvSpPr txBox="1">
            <a:spLocks/>
          </p:cNvSpPr>
          <p:nvPr/>
        </p:nvSpPr>
        <p:spPr>
          <a:xfrm>
            <a:off x="7110939" y="5491221"/>
            <a:ext cx="2795801" cy="11202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dirty="0" err="1"/>
              <a:t>Heterogeneous</a:t>
            </a:r>
            <a:r>
              <a:rPr lang="fr-FR" sz="2000" dirty="0"/>
              <a:t> spatial and temporal distribution of </a:t>
            </a:r>
            <a:r>
              <a:rPr lang="fr-FR" sz="2000" dirty="0" err="1"/>
              <a:t>resources</a:t>
            </a:r>
            <a:endParaRPr lang="fr-FR" sz="2000" dirty="0"/>
          </a:p>
        </p:txBody>
      </p:sp>
      <p:cxnSp>
        <p:nvCxnSpPr>
          <p:cNvPr id="51" name="Connecteur droit avec flèche 50">
            <a:extLst>
              <a:ext uri="{FF2B5EF4-FFF2-40B4-BE49-F238E27FC236}">
                <a16:creationId xmlns:a16="http://schemas.microsoft.com/office/drawing/2014/main" id="{2E5D43D7-EFD6-029A-BCBF-B9BE6CD1F854}"/>
              </a:ext>
            </a:extLst>
          </p:cNvPr>
          <p:cNvCxnSpPr>
            <a:cxnSpLocks/>
          </p:cNvCxnSpPr>
          <p:nvPr/>
        </p:nvCxnSpPr>
        <p:spPr>
          <a:xfrm>
            <a:off x="8200537" y="3797433"/>
            <a:ext cx="0" cy="162348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Slide Number Placeholder 17">
            <a:extLst>
              <a:ext uri="{FF2B5EF4-FFF2-40B4-BE49-F238E27FC236}">
                <a16:creationId xmlns:a16="http://schemas.microsoft.com/office/drawing/2014/main" id="{E9FCEF18-CA2B-4401-AC1F-4DDBB77028D7}"/>
              </a:ext>
            </a:extLst>
          </p:cNvPr>
          <p:cNvSpPr>
            <a:spLocks noGrp="1"/>
          </p:cNvSpPr>
          <p:nvPr>
            <p:ph type="sldNum" sz="quarter" idx="12"/>
          </p:nvPr>
        </p:nvSpPr>
        <p:spPr/>
        <p:txBody>
          <a:bodyPr/>
          <a:lstStyle/>
          <a:p>
            <a:fld id="{27C6CCC6-2BE5-4E42-96A4-D1E8E81A3D8E}" type="slidenum">
              <a:rPr lang="fr-FR" smtClean="0"/>
              <a:t>4</a:t>
            </a:fld>
            <a:endParaRPr lang="fr-FR"/>
          </a:p>
        </p:txBody>
      </p:sp>
      <p:grpSp>
        <p:nvGrpSpPr>
          <p:cNvPr id="25" name="Group 24">
            <a:extLst>
              <a:ext uri="{FF2B5EF4-FFF2-40B4-BE49-F238E27FC236}">
                <a16:creationId xmlns:a16="http://schemas.microsoft.com/office/drawing/2014/main" id="{3D47B465-0C7D-4E4F-BE3E-58BAC8758E34}"/>
              </a:ext>
            </a:extLst>
          </p:cNvPr>
          <p:cNvGrpSpPr/>
          <p:nvPr/>
        </p:nvGrpSpPr>
        <p:grpSpPr>
          <a:xfrm>
            <a:off x="10258535" y="2917201"/>
            <a:ext cx="1662744" cy="828326"/>
            <a:chOff x="7753259" y="1690688"/>
            <a:chExt cx="3695945" cy="2098945"/>
          </a:xfrm>
        </p:grpSpPr>
        <p:sp>
          <p:nvSpPr>
            <p:cNvPr id="26" name="Rectangle 25">
              <a:extLst>
                <a:ext uri="{FF2B5EF4-FFF2-40B4-BE49-F238E27FC236}">
                  <a16:creationId xmlns:a16="http://schemas.microsoft.com/office/drawing/2014/main" id="{562A15CC-2169-47CC-B46E-39697059270E}"/>
                </a:ext>
              </a:extLst>
            </p:cNvPr>
            <p:cNvSpPr/>
            <p:nvPr/>
          </p:nvSpPr>
          <p:spPr>
            <a:xfrm flipH="1">
              <a:off x="7753259" y="169068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BFA03D6-8DAB-4BFD-AC0C-56194FDFE6C5}"/>
                </a:ext>
              </a:extLst>
            </p:cNvPr>
            <p:cNvSpPr/>
            <p:nvPr/>
          </p:nvSpPr>
          <p:spPr>
            <a:xfrm flipH="1">
              <a:off x="8199698" y="169068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8C7DBA4-6806-4A6E-8A59-EE7AAF10921A}"/>
                </a:ext>
              </a:extLst>
            </p:cNvPr>
            <p:cNvSpPr/>
            <p:nvPr/>
          </p:nvSpPr>
          <p:spPr>
            <a:xfrm flipH="1">
              <a:off x="8644491" y="169068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D8DD0F1-B30D-4F34-9C55-630C66019568}"/>
                </a:ext>
              </a:extLst>
            </p:cNvPr>
            <p:cNvSpPr/>
            <p:nvPr/>
          </p:nvSpPr>
          <p:spPr>
            <a:xfrm flipH="1">
              <a:off x="9089292" y="169068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9C2248-97F9-4650-8864-BD59FF37EDC0}"/>
                </a:ext>
              </a:extLst>
            </p:cNvPr>
            <p:cNvSpPr/>
            <p:nvPr/>
          </p:nvSpPr>
          <p:spPr>
            <a:xfrm flipH="1">
              <a:off x="9678328" y="169099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3C64C55-16B2-4AC4-9009-9F04794B15E7}"/>
                </a:ext>
              </a:extLst>
            </p:cNvPr>
            <p:cNvSpPr/>
            <p:nvPr/>
          </p:nvSpPr>
          <p:spPr>
            <a:xfrm flipH="1">
              <a:off x="10124761" y="169099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2B5C0FA-4687-46E1-83F0-AF0C76182EDF}"/>
                </a:ext>
              </a:extLst>
            </p:cNvPr>
            <p:cNvSpPr/>
            <p:nvPr/>
          </p:nvSpPr>
          <p:spPr>
            <a:xfrm flipH="1">
              <a:off x="10559044" y="169099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5D12387-BCD0-4195-9434-79D0AB21F218}"/>
                </a:ext>
              </a:extLst>
            </p:cNvPr>
            <p:cNvSpPr/>
            <p:nvPr/>
          </p:nvSpPr>
          <p:spPr>
            <a:xfrm flipH="1">
              <a:off x="11003837" y="1692381"/>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E9EE308-8FBC-46B6-9028-27D860C286F4}"/>
                </a:ext>
              </a:extLst>
            </p:cNvPr>
            <p:cNvSpPr/>
            <p:nvPr/>
          </p:nvSpPr>
          <p:spPr>
            <a:xfrm flipH="1">
              <a:off x="9667817" y="3078485"/>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F922928-5682-454D-A7E2-01569111FF60}"/>
                </a:ext>
              </a:extLst>
            </p:cNvPr>
            <p:cNvSpPr/>
            <p:nvPr/>
          </p:nvSpPr>
          <p:spPr>
            <a:xfrm flipH="1">
              <a:off x="9667817" y="2380932"/>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7021F17-CD35-4310-A83F-F96028E1C329}"/>
                </a:ext>
              </a:extLst>
            </p:cNvPr>
            <p:cNvSpPr/>
            <p:nvPr/>
          </p:nvSpPr>
          <p:spPr>
            <a:xfrm flipH="1">
              <a:off x="10486956" y="3079959"/>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275509F-222F-46EB-8AC8-BAA106D8584D}"/>
                </a:ext>
              </a:extLst>
            </p:cNvPr>
            <p:cNvSpPr/>
            <p:nvPr/>
          </p:nvSpPr>
          <p:spPr>
            <a:xfrm flipH="1">
              <a:off x="10560526" y="2382407"/>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0FA3C79-E836-4AC6-A5CC-58143CEBA1D6}"/>
                </a:ext>
              </a:extLst>
            </p:cNvPr>
            <p:cNvSpPr/>
            <p:nvPr/>
          </p:nvSpPr>
          <p:spPr>
            <a:xfrm flipH="1">
              <a:off x="10124761" y="2380934"/>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7EA3F62-9ECB-480A-B053-6ACC3BE6D049}"/>
                </a:ext>
              </a:extLst>
            </p:cNvPr>
            <p:cNvSpPr/>
            <p:nvPr/>
          </p:nvSpPr>
          <p:spPr>
            <a:xfrm flipH="1">
              <a:off x="9672818" y="308899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D8E41F4-053C-4736-A8FA-24DDC3EE943A}"/>
                </a:ext>
              </a:extLst>
            </p:cNvPr>
            <p:cNvSpPr/>
            <p:nvPr/>
          </p:nvSpPr>
          <p:spPr>
            <a:xfrm flipH="1">
              <a:off x="11005327" y="238093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CB23D8C-5C62-4094-8C62-4D08D0F26AC1}"/>
                </a:ext>
              </a:extLst>
            </p:cNvPr>
            <p:cNvSpPr/>
            <p:nvPr/>
          </p:nvSpPr>
          <p:spPr>
            <a:xfrm flipH="1">
              <a:off x="10575884" y="308899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67061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DA0040-5BAE-5958-FC78-C71152A3A0F7}"/>
              </a:ext>
            </a:extLst>
          </p:cNvPr>
          <p:cNvSpPr>
            <a:spLocks noGrp="1"/>
          </p:cNvSpPr>
          <p:nvPr>
            <p:ph type="title"/>
          </p:nvPr>
        </p:nvSpPr>
        <p:spPr>
          <a:xfrm>
            <a:off x="381247" y="306861"/>
            <a:ext cx="10515600" cy="1325563"/>
          </a:xfrm>
        </p:spPr>
        <p:txBody>
          <a:bodyPr>
            <a:normAutofit/>
          </a:bodyPr>
          <a:lstStyle/>
          <a:p>
            <a:r>
              <a:rPr lang="fr-FR" sz="4000" dirty="0" err="1"/>
              <a:t>Intercropping</a:t>
            </a:r>
            <a:r>
              <a:rPr lang="fr-FR" sz="4000" dirty="0"/>
              <a:t> </a:t>
            </a:r>
            <a:r>
              <a:rPr lang="fr-FR" sz="4000" dirty="0" err="1"/>
              <a:t>systems</a:t>
            </a:r>
            <a:endParaRPr lang="fr-FR" sz="4000" dirty="0"/>
          </a:p>
        </p:txBody>
      </p:sp>
      <p:sp>
        <p:nvSpPr>
          <p:cNvPr id="3" name="Espace réservé du contenu 2">
            <a:extLst>
              <a:ext uri="{FF2B5EF4-FFF2-40B4-BE49-F238E27FC236}">
                <a16:creationId xmlns:a16="http://schemas.microsoft.com/office/drawing/2014/main" id="{B93B4046-E733-DB53-FDB9-9FBE0D561F5E}"/>
              </a:ext>
            </a:extLst>
          </p:cNvPr>
          <p:cNvSpPr>
            <a:spLocks noGrp="1"/>
          </p:cNvSpPr>
          <p:nvPr>
            <p:ph idx="1"/>
          </p:nvPr>
        </p:nvSpPr>
        <p:spPr>
          <a:xfrm>
            <a:off x="838200" y="1687080"/>
            <a:ext cx="10515600" cy="828326"/>
          </a:xfrm>
        </p:spPr>
        <p:txBody>
          <a:bodyPr vert="horz" lIns="91440" tIns="45720" rIns="91440" bIns="45720" rtlCol="0" anchor="t">
            <a:normAutofit/>
          </a:bodyPr>
          <a:lstStyle/>
          <a:p>
            <a:pPr marL="0" indent="0" algn="ctr">
              <a:buNone/>
            </a:pPr>
            <a:r>
              <a:rPr lang="fr-FR" sz="4400" b="1" dirty="0"/>
              <a:t>G     x     G     x     E     x     M</a:t>
            </a:r>
          </a:p>
        </p:txBody>
      </p:sp>
      <p:sp>
        <p:nvSpPr>
          <p:cNvPr id="9" name="Espace réservé du contenu 2">
            <a:extLst>
              <a:ext uri="{FF2B5EF4-FFF2-40B4-BE49-F238E27FC236}">
                <a16:creationId xmlns:a16="http://schemas.microsoft.com/office/drawing/2014/main" id="{3A6AC0EF-9D2C-7B34-EE6E-A14EF7F60F5D}"/>
              </a:ext>
            </a:extLst>
          </p:cNvPr>
          <p:cNvSpPr txBox="1">
            <a:spLocks/>
          </p:cNvSpPr>
          <p:nvPr/>
        </p:nvSpPr>
        <p:spPr>
          <a:xfrm>
            <a:off x="4621218" y="2785698"/>
            <a:ext cx="1253833" cy="723330"/>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200" b="1" dirty="0" err="1"/>
              <a:t>Genotype</a:t>
            </a:r>
            <a:r>
              <a:rPr lang="fr-FR" sz="2000" dirty="0"/>
              <a:t> </a:t>
            </a:r>
            <a:r>
              <a:rPr lang="fr-FR" sz="1900" dirty="0"/>
              <a:t>of a </a:t>
            </a:r>
            <a:r>
              <a:rPr lang="fr-FR" sz="1900" dirty="0" err="1"/>
              <a:t>cereal</a:t>
            </a:r>
            <a:endParaRPr lang="fr-FR" sz="1900" dirty="0"/>
          </a:p>
        </p:txBody>
      </p:sp>
      <p:sp>
        <p:nvSpPr>
          <p:cNvPr id="10" name="Espace réservé du contenu 2">
            <a:extLst>
              <a:ext uri="{FF2B5EF4-FFF2-40B4-BE49-F238E27FC236}">
                <a16:creationId xmlns:a16="http://schemas.microsoft.com/office/drawing/2014/main" id="{726360F6-ECD4-8ABB-63C7-CF65D3630BF0}"/>
              </a:ext>
            </a:extLst>
          </p:cNvPr>
          <p:cNvSpPr txBox="1">
            <a:spLocks/>
          </p:cNvSpPr>
          <p:nvPr/>
        </p:nvSpPr>
        <p:spPr>
          <a:xfrm>
            <a:off x="2554187" y="2789505"/>
            <a:ext cx="1395594" cy="8975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err="1"/>
              <a:t>Genotype</a:t>
            </a:r>
            <a:r>
              <a:rPr lang="fr-FR" sz="2000" dirty="0"/>
              <a:t> </a:t>
            </a:r>
            <a:r>
              <a:rPr lang="fr-FR" sz="1800" dirty="0"/>
              <a:t>of a </a:t>
            </a:r>
            <a:r>
              <a:rPr lang="fr-FR" sz="1800" dirty="0" err="1"/>
              <a:t>legume</a:t>
            </a:r>
            <a:endParaRPr lang="fr-FR" sz="1800" dirty="0"/>
          </a:p>
        </p:txBody>
      </p:sp>
      <p:sp>
        <p:nvSpPr>
          <p:cNvPr id="11" name="Espace réservé du contenu 2">
            <a:extLst>
              <a:ext uri="{FF2B5EF4-FFF2-40B4-BE49-F238E27FC236}">
                <a16:creationId xmlns:a16="http://schemas.microsoft.com/office/drawing/2014/main" id="{00B1E25A-F2CD-2BF1-B075-C508D718FF10}"/>
              </a:ext>
            </a:extLst>
          </p:cNvPr>
          <p:cNvSpPr txBox="1">
            <a:spLocks/>
          </p:cNvSpPr>
          <p:nvPr/>
        </p:nvSpPr>
        <p:spPr>
          <a:xfrm>
            <a:off x="8392888" y="2789505"/>
            <a:ext cx="1865647" cy="201585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Management</a:t>
            </a:r>
          </a:p>
          <a:p>
            <a:pPr marL="0" indent="0">
              <a:buNone/>
            </a:pPr>
            <a:r>
              <a:rPr lang="fr-FR" sz="1800" dirty="0" err="1"/>
              <a:t>Sowing</a:t>
            </a:r>
            <a:r>
              <a:rPr lang="fr-FR" sz="1800" dirty="0"/>
              <a:t> pattern </a:t>
            </a:r>
          </a:p>
          <a:p>
            <a:pPr marL="0" indent="0">
              <a:buNone/>
            </a:pPr>
            <a:r>
              <a:rPr lang="fr-FR" sz="1800" dirty="0">
                <a:ea typeface="+mn-lt"/>
                <a:cs typeface="+mn-lt"/>
              </a:rPr>
              <a:t>Inputs</a:t>
            </a:r>
            <a:endParaRPr lang="fr-FR" sz="1800" dirty="0"/>
          </a:p>
        </p:txBody>
      </p:sp>
      <p:sp>
        <p:nvSpPr>
          <p:cNvPr id="12" name="Espace réservé du contenu 2">
            <a:extLst>
              <a:ext uri="{FF2B5EF4-FFF2-40B4-BE49-F238E27FC236}">
                <a16:creationId xmlns:a16="http://schemas.microsoft.com/office/drawing/2014/main" id="{652312E1-D4E0-631C-4DE6-22B2AAFC037C}"/>
              </a:ext>
            </a:extLst>
          </p:cNvPr>
          <p:cNvSpPr txBox="1">
            <a:spLocks/>
          </p:cNvSpPr>
          <p:nvPr/>
        </p:nvSpPr>
        <p:spPr>
          <a:xfrm>
            <a:off x="6509092" y="2788186"/>
            <a:ext cx="2101508" cy="98666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000" b="1" dirty="0"/>
              <a:t>Environnement</a:t>
            </a:r>
          </a:p>
          <a:p>
            <a:pPr marL="0" indent="0">
              <a:buNone/>
            </a:pPr>
            <a:r>
              <a:rPr lang="fr-FR" sz="1800" dirty="0" err="1"/>
              <a:t>Soil</a:t>
            </a:r>
            <a:r>
              <a:rPr lang="fr-FR" sz="1800" dirty="0"/>
              <a:t> &amp; </a:t>
            </a:r>
            <a:r>
              <a:rPr lang="fr-FR" sz="1800" dirty="0" err="1"/>
              <a:t>atmosphere</a:t>
            </a:r>
            <a:endParaRPr lang="fr-FR" sz="1800" dirty="0">
              <a:ea typeface="+mn-lt"/>
              <a:cs typeface="+mn-lt"/>
            </a:endParaRPr>
          </a:p>
        </p:txBody>
      </p:sp>
      <p:pic>
        <p:nvPicPr>
          <p:cNvPr id="28" name="Image 27" descr="Une image contenant Tige, légume, plante, fleur&#10;&#10;Description générée automatiquement">
            <a:extLst>
              <a:ext uri="{FF2B5EF4-FFF2-40B4-BE49-F238E27FC236}">
                <a16:creationId xmlns:a16="http://schemas.microsoft.com/office/drawing/2014/main" id="{EF6D3CAF-D295-0DB9-6DA7-6076C82D57D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5043378" y="2334737"/>
            <a:ext cx="2210683" cy="2206336"/>
          </a:xfrm>
          <a:prstGeom prst="rect">
            <a:avLst/>
          </a:prstGeom>
        </p:spPr>
      </p:pic>
      <p:pic>
        <p:nvPicPr>
          <p:cNvPr id="29" name="Image 28" descr="Une image contenant légume, Tige, plante&#10;&#10;Description générée automatiquement">
            <a:extLst>
              <a:ext uri="{FF2B5EF4-FFF2-40B4-BE49-F238E27FC236}">
                <a16:creationId xmlns:a16="http://schemas.microsoft.com/office/drawing/2014/main" id="{CB7300D5-D900-803B-C6E0-48400A502652}"/>
              </a:ext>
            </a:extLst>
          </p:cNvPr>
          <p:cNvPicPr>
            <a:picLocks noChangeAspect="1"/>
          </p:cNvPicPr>
          <p:nvPr/>
        </p:nvPicPr>
        <p:blipFill>
          <a:blip r:embed="rId5"/>
          <a:stretch>
            <a:fillRect/>
          </a:stretch>
        </p:blipFill>
        <p:spPr>
          <a:xfrm>
            <a:off x="1863158" y="2544288"/>
            <a:ext cx="687347" cy="1977243"/>
          </a:xfrm>
          <a:prstGeom prst="rect">
            <a:avLst/>
          </a:prstGeom>
        </p:spPr>
      </p:pic>
      <p:sp>
        <p:nvSpPr>
          <p:cNvPr id="18" name="Slide Number Placeholder 17">
            <a:extLst>
              <a:ext uri="{FF2B5EF4-FFF2-40B4-BE49-F238E27FC236}">
                <a16:creationId xmlns:a16="http://schemas.microsoft.com/office/drawing/2014/main" id="{E9FCEF18-CA2B-4401-AC1F-4DDBB77028D7}"/>
              </a:ext>
            </a:extLst>
          </p:cNvPr>
          <p:cNvSpPr>
            <a:spLocks noGrp="1"/>
          </p:cNvSpPr>
          <p:nvPr>
            <p:ph type="sldNum" sz="quarter" idx="12"/>
          </p:nvPr>
        </p:nvSpPr>
        <p:spPr/>
        <p:txBody>
          <a:bodyPr/>
          <a:lstStyle/>
          <a:p>
            <a:fld id="{27C6CCC6-2BE5-4E42-96A4-D1E8E81A3D8E}" type="slidenum">
              <a:rPr lang="fr-FR" smtClean="0"/>
              <a:t>5</a:t>
            </a:fld>
            <a:endParaRPr lang="fr-FR" dirty="0"/>
          </a:p>
        </p:txBody>
      </p:sp>
      <p:grpSp>
        <p:nvGrpSpPr>
          <p:cNvPr id="25" name="Group 24">
            <a:extLst>
              <a:ext uri="{FF2B5EF4-FFF2-40B4-BE49-F238E27FC236}">
                <a16:creationId xmlns:a16="http://schemas.microsoft.com/office/drawing/2014/main" id="{3D47B465-0C7D-4E4F-BE3E-58BAC8758E34}"/>
              </a:ext>
            </a:extLst>
          </p:cNvPr>
          <p:cNvGrpSpPr/>
          <p:nvPr/>
        </p:nvGrpSpPr>
        <p:grpSpPr>
          <a:xfrm>
            <a:off x="10258535" y="2917201"/>
            <a:ext cx="1662744" cy="828326"/>
            <a:chOff x="7753259" y="1690688"/>
            <a:chExt cx="3695945" cy="2098945"/>
          </a:xfrm>
        </p:grpSpPr>
        <p:sp>
          <p:nvSpPr>
            <p:cNvPr id="26" name="Rectangle 25">
              <a:extLst>
                <a:ext uri="{FF2B5EF4-FFF2-40B4-BE49-F238E27FC236}">
                  <a16:creationId xmlns:a16="http://schemas.microsoft.com/office/drawing/2014/main" id="{562A15CC-2169-47CC-B46E-39697059270E}"/>
                </a:ext>
              </a:extLst>
            </p:cNvPr>
            <p:cNvSpPr/>
            <p:nvPr/>
          </p:nvSpPr>
          <p:spPr>
            <a:xfrm flipH="1">
              <a:off x="7753259" y="169068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BFA03D6-8DAB-4BFD-AC0C-56194FDFE6C5}"/>
                </a:ext>
              </a:extLst>
            </p:cNvPr>
            <p:cNvSpPr/>
            <p:nvPr/>
          </p:nvSpPr>
          <p:spPr>
            <a:xfrm flipH="1">
              <a:off x="8199698" y="169068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8C7DBA4-6806-4A6E-8A59-EE7AAF10921A}"/>
                </a:ext>
              </a:extLst>
            </p:cNvPr>
            <p:cNvSpPr/>
            <p:nvPr/>
          </p:nvSpPr>
          <p:spPr>
            <a:xfrm flipH="1">
              <a:off x="8644491" y="169068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D8DD0F1-B30D-4F34-9C55-630C66019568}"/>
                </a:ext>
              </a:extLst>
            </p:cNvPr>
            <p:cNvSpPr/>
            <p:nvPr/>
          </p:nvSpPr>
          <p:spPr>
            <a:xfrm flipH="1">
              <a:off x="9089292" y="169068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9C2248-97F9-4650-8864-BD59FF37EDC0}"/>
                </a:ext>
              </a:extLst>
            </p:cNvPr>
            <p:cNvSpPr/>
            <p:nvPr/>
          </p:nvSpPr>
          <p:spPr>
            <a:xfrm flipH="1">
              <a:off x="9678328" y="169099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3C64C55-16B2-4AC4-9009-9F04794B15E7}"/>
                </a:ext>
              </a:extLst>
            </p:cNvPr>
            <p:cNvSpPr/>
            <p:nvPr/>
          </p:nvSpPr>
          <p:spPr>
            <a:xfrm flipH="1">
              <a:off x="10124761" y="169099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2B5C0FA-4687-46E1-83F0-AF0C76182EDF}"/>
                </a:ext>
              </a:extLst>
            </p:cNvPr>
            <p:cNvSpPr/>
            <p:nvPr/>
          </p:nvSpPr>
          <p:spPr>
            <a:xfrm flipH="1">
              <a:off x="10559044" y="169099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5D12387-BCD0-4195-9434-79D0AB21F218}"/>
                </a:ext>
              </a:extLst>
            </p:cNvPr>
            <p:cNvSpPr/>
            <p:nvPr/>
          </p:nvSpPr>
          <p:spPr>
            <a:xfrm flipH="1">
              <a:off x="11003837" y="1692381"/>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E9EE308-8FBC-46B6-9028-27D860C286F4}"/>
                </a:ext>
              </a:extLst>
            </p:cNvPr>
            <p:cNvSpPr/>
            <p:nvPr/>
          </p:nvSpPr>
          <p:spPr>
            <a:xfrm flipH="1">
              <a:off x="9667817" y="3078485"/>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F922928-5682-454D-A7E2-01569111FF60}"/>
                </a:ext>
              </a:extLst>
            </p:cNvPr>
            <p:cNvSpPr/>
            <p:nvPr/>
          </p:nvSpPr>
          <p:spPr>
            <a:xfrm flipH="1">
              <a:off x="9667817" y="2380932"/>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7021F17-CD35-4310-A83F-F96028E1C329}"/>
                </a:ext>
              </a:extLst>
            </p:cNvPr>
            <p:cNvSpPr/>
            <p:nvPr/>
          </p:nvSpPr>
          <p:spPr>
            <a:xfrm flipH="1">
              <a:off x="10486956" y="3079959"/>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275509F-222F-46EB-8AC8-BAA106D8584D}"/>
                </a:ext>
              </a:extLst>
            </p:cNvPr>
            <p:cNvSpPr/>
            <p:nvPr/>
          </p:nvSpPr>
          <p:spPr>
            <a:xfrm flipH="1">
              <a:off x="10560526" y="2382407"/>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0FA3C79-E836-4AC6-A5CC-58143CEBA1D6}"/>
                </a:ext>
              </a:extLst>
            </p:cNvPr>
            <p:cNvSpPr/>
            <p:nvPr/>
          </p:nvSpPr>
          <p:spPr>
            <a:xfrm flipH="1">
              <a:off x="10124761" y="2380934"/>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7EA3F62-9ECB-480A-B053-6ACC3BE6D049}"/>
                </a:ext>
              </a:extLst>
            </p:cNvPr>
            <p:cNvSpPr/>
            <p:nvPr/>
          </p:nvSpPr>
          <p:spPr>
            <a:xfrm flipH="1">
              <a:off x="9672818" y="308899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D8E41F4-053C-4736-A8FA-24DDC3EE943A}"/>
                </a:ext>
              </a:extLst>
            </p:cNvPr>
            <p:cNvSpPr/>
            <p:nvPr/>
          </p:nvSpPr>
          <p:spPr>
            <a:xfrm flipH="1">
              <a:off x="11005327" y="238093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CB23D8C-5C62-4094-8C62-4D08D0F26AC1}"/>
                </a:ext>
              </a:extLst>
            </p:cNvPr>
            <p:cNvSpPr/>
            <p:nvPr/>
          </p:nvSpPr>
          <p:spPr>
            <a:xfrm flipH="1">
              <a:off x="10575884" y="308899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AEA52C17-A984-4BBD-A010-30BB731F1D56}"/>
              </a:ext>
            </a:extLst>
          </p:cNvPr>
          <p:cNvSpPr txBox="1"/>
          <p:nvPr/>
        </p:nvSpPr>
        <p:spPr>
          <a:xfrm>
            <a:off x="1718290" y="5398902"/>
            <a:ext cx="8637822" cy="707886"/>
          </a:xfrm>
          <a:prstGeom prst="rect">
            <a:avLst/>
          </a:prstGeom>
          <a:noFill/>
        </p:spPr>
        <p:txBody>
          <a:bodyPr wrap="square" rtlCol="0">
            <a:spAutoFit/>
          </a:bodyPr>
          <a:lstStyle/>
          <a:p>
            <a:r>
              <a:rPr lang="en-US" sz="2000" b="1" dirty="0">
                <a:sym typeface="Wingdings" panose="05000000000000000000" pitchFamily="2" charset="2"/>
              </a:rPr>
              <a:t> Crop and FSP models </a:t>
            </a:r>
            <a:r>
              <a:rPr lang="en-US" sz="2000" dirty="0">
                <a:sym typeface="Wingdings" panose="05000000000000000000" pitchFamily="2" charset="2"/>
              </a:rPr>
              <a:t>are needed to</a:t>
            </a:r>
            <a:r>
              <a:rPr lang="en-US" sz="2000" b="1" dirty="0">
                <a:sym typeface="Wingdings" panose="05000000000000000000" pitchFamily="2" charset="2"/>
              </a:rPr>
              <a:t> explore the complexity </a:t>
            </a:r>
            <a:r>
              <a:rPr lang="en-US" sz="2000" dirty="0">
                <a:sym typeface="Wingdings" panose="05000000000000000000" pitchFamily="2" charset="2"/>
              </a:rPr>
              <a:t>of these systems</a:t>
            </a:r>
            <a:r>
              <a:rPr lang="en-US" sz="2000" b="1" dirty="0">
                <a:sym typeface="Wingdings" panose="05000000000000000000" pitchFamily="2" charset="2"/>
              </a:rPr>
              <a:t> at different scales.</a:t>
            </a:r>
            <a:endParaRPr lang="en-US" sz="2000" dirty="0"/>
          </a:p>
        </p:txBody>
      </p:sp>
    </p:spTree>
    <p:extLst>
      <p:ext uri="{BB962C8B-B14F-4D97-AF65-F5344CB8AC3E}">
        <p14:creationId xmlns:p14="http://schemas.microsoft.com/office/powerpoint/2010/main" val="2372159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609627" y="542497"/>
            <a:ext cx="9181151" cy="896121"/>
          </a:xfrm>
        </p:spPr>
        <p:txBody>
          <a:bodyPr>
            <a:normAutofit/>
          </a:bodyPr>
          <a:lstStyle/>
          <a:p>
            <a:r>
              <a:rPr lang="en-US" sz="4000" dirty="0"/>
              <a:t>Crop models</a:t>
            </a:r>
          </a:p>
        </p:txBody>
      </p:sp>
      <p:sp>
        <p:nvSpPr>
          <p:cNvPr id="8" name="Content Placeholder 6">
            <a:extLst>
              <a:ext uri="{FF2B5EF4-FFF2-40B4-BE49-F238E27FC236}">
                <a16:creationId xmlns:a16="http://schemas.microsoft.com/office/drawing/2014/main" id="{0A5D27B1-842E-4F22-A103-CB1C111AB39C}"/>
              </a:ext>
            </a:extLst>
          </p:cNvPr>
          <p:cNvSpPr txBox="1">
            <a:spLocks/>
          </p:cNvSpPr>
          <p:nvPr/>
        </p:nvSpPr>
        <p:spPr>
          <a:xfrm>
            <a:off x="609626" y="1199339"/>
            <a:ext cx="2984179" cy="1013321"/>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1400" dirty="0">
                <a:solidFill>
                  <a:schemeClr val="tx1"/>
                </a:solidFill>
              </a:rPr>
              <a:t>(Boote et al., 2013, Jones et al., 2017)</a:t>
            </a:r>
          </a:p>
          <a:p>
            <a:pPr algn="l"/>
            <a:r>
              <a:rPr lang="fr-FR" sz="1600" i="1" dirty="0">
                <a:solidFill>
                  <a:schemeClr val="tx1"/>
                </a:solidFill>
              </a:rPr>
              <a:t>e.g.: S</a:t>
            </a:r>
            <a:r>
              <a:rPr lang="en-US" sz="1600" i="1" dirty="0">
                <a:solidFill>
                  <a:schemeClr val="tx1"/>
                </a:solidFill>
              </a:rPr>
              <a:t>TICS </a:t>
            </a:r>
            <a:r>
              <a:rPr lang="en-US" sz="1400" i="1" dirty="0">
                <a:solidFill>
                  <a:schemeClr val="tx1"/>
                </a:solidFill>
              </a:rPr>
              <a:t>(</a:t>
            </a:r>
            <a:r>
              <a:rPr lang="en-US" sz="1400" i="1" dirty="0" err="1">
                <a:solidFill>
                  <a:schemeClr val="tx1"/>
                </a:solidFill>
              </a:rPr>
              <a:t>Vezy</a:t>
            </a:r>
            <a:r>
              <a:rPr lang="en-US" sz="1400" i="1" dirty="0">
                <a:solidFill>
                  <a:schemeClr val="tx1"/>
                </a:solidFill>
              </a:rPr>
              <a:t> et al., 2023)</a:t>
            </a:r>
            <a:r>
              <a:rPr lang="en-US" sz="1600" i="1" dirty="0">
                <a:solidFill>
                  <a:schemeClr val="tx1"/>
                </a:solidFill>
              </a:rPr>
              <a:t>, </a:t>
            </a:r>
            <a:r>
              <a:rPr lang="fr-FR" sz="1600" i="1" dirty="0">
                <a:solidFill>
                  <a:schemeClr val="tx1"/>
                </a:solidFill>
              </a:rPr>
              <a:t>A</a:t>
            </a:r>
            <a:r>
              <a:rPr lang="en-US" sz="1600" i="1" dirty="0">
                <a:solidFill>
                  <a:schemeClr val="tx1"/>
                </a:solidFill>
              </a:rPr>
              <a:t>PSIM </a:t>
            </a:r>
            <a:r>
              <a:rPr lang="en-US" sz="1400" i="1" dirty="0">
                <a:solidFill>
                  <a:schemeClr val="tx1"/>
                </a:solidFill>
              </a:rPr>
              <a:t>(</a:t>
            </a:r>
            <a:r>
              <a:rPr lang="fr-FR" sz="1400" i="1" dirty="0" err="1">
                <a:solidFill>
                  <a:schemeClr val="tx1"/>
                </a:solidFill>
              </a:rPr>
              <a:t>Githui</a:t>
            </a:r>
            <a:r>
              <a:rPr lang="fr-FR" sz="1400" i="1" dirty="0">
                <a:solidFill>
                  <a:schemeClr val="tx1"/>
                </a:solidFill>
              </a:rPr>
              <a:t> et al., 2023</a:t>
            </a:r>
            <a:r>
              <a:rPr lang="en-US" sz="1400" i="1" dirty="0">
                <a:solidFill>
                  <a:schemeClr val="tx1"/>
                </a:solidFill>
              </a:rPr>
              <a:t>)</a:t>
            </a:r>
          </a:p>
          <a:p>
            <a:endParaRPr lang="en-US" dirty="0"/>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6</a:t>
            </a:fld>
            <a:endParaRPr lang="fr-FR"/>
          </a:p>
        </p:txBody>
      </p:sp>
      <p:sp>
        <p:nvSpPr>
          <p:cNvPr id="3" name="Rectangle 2">
            <a:extLst>
              <a:ext uri="{FF2B5EF4-FFF2-40B4-BE49-F238E27FC236}">
                <a16:creationId xmlns:a16="http://schemas.microsoft.com/office/drawing/2014/main" id="{A7342D65-0316-45DA-9A79-F4B5A7F201C6}"/>
              </a:ext>
            </a:extLst>
          </p:cNvPr>
          <p:cNvSpPr/>
          <p:nvPr/>
        </p:nvSpPr>
        <p:spPr>
          <a:xfrm>
            <a:off x="5789368" y="1841258"/>
            <a:ext cx="5793005" cy="4524315"/>
          </a:xfrm>
          <a:prstGeom prst="rect">
            <a:avLst/>
          </a:prstGeom>
        </p:spPr>
        <p:txBody>
          <a:bodyPr wrap="square">
            <a:spAutoFit/>
          </a:bodyPr>
          <a:lstStyle/>
          <a:p>
            <a:r>
              <a:rPr lang="en-US" sz="2400" u="sng" dirty="0"/>
              <a:t>Objective:</a:t>
            </a:r>
            <a:r>
              <a:rPr lang="en-US" sz="2400" dirty="0"/>
              <a:t> prediction, decision-support tool</a:t>
            </a:r>
          </a:p>
          <a:p>
            <a:endParaRPr lang="en-US" sz="2400" dirty="0"/>
          </a:p>
          <a:p>
            <a:r>
              <a:rPr lang="en-US" sz="2400" u="sng" dirty="0"/>
              <a:t>Characteristics:</a:t>
            </a:r>
            <a:r>
              <a:rPr lang="en-US" sz="2400" dirty="0"/>
              <a:t> </a:t>
            </a:r>
            <a:endParaRPr lang="en-US" dirty="0"/>
          </a:p>
          <a:p>
            <a:pPr marL="285750" indent="-285750">
              <a:buFont typeface="Arial" panose="020B0604020202020204" pitchFamily="34" charset="0"/>
              <a:buChar char="•"/>
            </a:pPr>
            <a:r>
              <a:rPr lang="en-US" sz="2400" dirty="0"/>
              <a:t>crop scale (unit = hectare)</a:t>
            </a:r>
          </a:p>
          <a:p>
            <a:pPr marL="285750" indent="-285750">
              <a:buFont typeface="Arial" panose="020B0604020202020204" pitchFamily="34" charset="0"/>
              <a:buChar char="•"/>
            </a:pPr>
            <a:r>
              <a:rPr lang="en-US" sz="2400" dirty="0"/>
              <a:t>homogeneous hypotheses </a:t>
            </a:r>
          </a:p>
          <a:p>
            <a:pPr marL="285750" indent="-285750">
              <a:buFont typeface="Arial" panose="020B0604020202020204" pitchFamily="34" charset="0"/>
              <a:buChar char="•"/>
            </a:pPr>
            <a:r>
              <a:rPr lang="en-US" sz="2400" dirty="0"/>
              <a:t>simulate multiple</a:t>
            </a:r>
            <a:r>
              <a:rPr lang="en-US" sz="2400" b="1" dirty="0"/>
              <a:t> </a:t>
            </a:r>
            <a:r>
              <a:rPr lang="en-US" sz="2400" dirty="0"/>
              <a:t>processes through the whole development cycle</a:t>
            </a:r>
          </a:p>
          <a:p>
            <a:pPr marL="285750" indent="-285750">
              <a:buFont typeface="Arial" panose="020B0604020202020204" pitchFamily="34" charset="0"/>
              <a:buChar char="•"/>
            </a:pPr>
            <a:r>
              <a:rPr lang="en-US" sz="2400" dirty="0"/>
              <a:t>already calibrated for intercrops</a:t>
            </a:r>
          </a:p>
          <a:p>
            <a:pPr marL="285750" indent="-285750">
              <a:buFont typeface="Arial" panose="020B0604020202020204" pitchFamily="34" charset="0"/>
              <a:buChar char="•"/>
            </a:pPr>
            <a:endParaRPr lang="en-US" sz="2400" dirty="0"/>
          </a:p>
          <a:p>
            <a:r>
              <a:rPr lang="en-US" sz="2400" u="sng" dirty="0"/>
              <a:t>Limits:</a:t>
            </a:r>
            <a:r>
              <a:rPr lang="en-US" sz="2400" dirty="0"/>
              <a:t> </a:t>
            </a:r>
          </a:p>
          <a:p>
            <a:pPr marL="285750" indent="-285750">
              <a:buFont typeface="Arial" panose="020B0604020202020204" pitchFamily="34" charset="0"/>
              <a:buChar char="•"/>
            </a:pPr>
            <a:r>
              <a:rPr lang="en-US" sz="2400" dirty="0"/>
              <a:t>no heterogeneity </a:t>
            </a:r>
          </a:p>
          <a:p>
            <a:pPr marL="285750" indent="-285750">
              <a:buFont typeface="Arial" panose="020B0604020202020204" pitchFamily="34" charset="0"/>
              <a:buChar char="•"/>
            </a:pPr>
            <a:r>
              <a:rPr lang="fr-FR" sz="2400" dirty="0"/>
              <a:t>n</a:t>
            </a:r>
            <a:r>
              <a:rPr lang="en-US" sz="2400" dirty="0"/>
              <a:t>o explicit plant-plant interactions</a:t>
            </a:r>
          </a:p>
        </p:txBody>
      </p:sp>
      <p:grpSp>
        <p:nvGrpSpPr>
          <p:cNvPr id="14" name="Group 13">
            <a:extLst>
              <a:ext uri="{FF2B5EF4-FFF2-40B4-BE49-F238E27FC236}">
                <a16:creationId xmlns:a16="http://schemas.microsoft.com/office/drawing/2014/main" id="{6FA4931E-31D7-4EBE-B7CA-871AB3A9DE52}"/>
              </a:ext>
            </a:extLst>
          </p:cNvPr>
          <p:cNvGrpSpPr/>
          <p:nvPr/>
        </p:nvGrpSpPr>
        <p:grpSpPr>
          <a:xfrm>
            <a:off x="609627" y="3316611"/>
            <a:ext cx="4419573" cy="2508299"/>
            <a:chOff x="609627" y="3316611"/>
            <a:chExt cx="4419573" cy="2508299"/>
          </a:xfrm>
        </p:grpSpPr>
        <p:sp>
          <p:nvSpPr>
            <p:cNvPr id="15" name="Cube 14">
              <a:extLst>
                <a:ext uri="{FF2B5EF4-FFF2-40B4-BE49-F238E27FC236}">
                  <a16:creationId xmlns:a16="http://schemas.microsoft.com/office/drawing/2014/main" id="{F76E5637-B997-422A-8B21-5B40EEC7B660}"/>
                </a:ext>
              </a:extLst>
            </p:cNvPr>
            <p:cNvSpPr/>
            <p:nvPr/>
          </p:nvSpPr>
          <p:spPr>
            <a:xfrm>
              <a:off x="609627" y="3669906"/>
              <a:ext cx="4419573" cy="215500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 name="Cube 15">
              <a:extLst>
                <a:ext uri="{FF2B5EF4-FFF2-40B4-BE49-F238E27FC236}">
                  <a16:creationId xmlns:a16="http://schemas.microsoft.com/office/drawing/2014/main" id="{261B9085-48C5-495C-AE58-EF0C94904685}"/>
                </a:ext>
              </a:extLst>
            </p:cNvPr>
            <p:cNvSpPr/>
            <p:nvPr/>
          </p:nvSpPr>
          <p:spPr>
            <a:xfrm>
              <a:off x="609627" y="3316611"/>
              <a:ext cx="4419573" cy="215500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573763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4E5BF1B9-E58A-4670-B189-A966D63E03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5656" y="2723677"/>
            <a:ext cx="3038044" cy="3323168"/>
          </a:xfrm>
          <a:prstGeom prst="rect">
            <a:avLst/>
          </a:prstGeom>
        </p:spPr>
      </p:pic>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664848" y="311470"/>
            <a:ext cx="9181151" cy="896121"/>
          </a:xfrm>
        </p:spPr>
        <p:txBody>
          <a:bodyPr>
            <a:normAutofit/>
          </a:bodyPr>
          <a:lstStyle/>
          <a:p>
            <a:r>
              <a:rPr lang="fr-FR" sz="4000" dirty="0"/>
              <a:t>FSPM (</a:t>
            </a:r>
            <a:r>
              <a:rPr lang="fr-FR" sz="4000" dirty="0" err="1"/>
              <a:t>Functional</a:t>
            </a:r>
            <a:r>
              <a:rPr lang="fr-FR" sz="4000" dirty="0"/>
              <a:t>-Structural Plant </a:t>
            </a:r>
            <a:r>
              <a:rPr lang="fr-FR" sz="4000" dirty="0" err="1"/>
              <a:t>Models</a:t>
            </a:r>
            <a:r>
              <a:rPr lang="fr-FR" sz="4000" dirty="0"/>
              <a:t>) </a:t>
            </a:r>
          </a:p>
        </p:txBody>
      </p:sp>
      <p:sp>
        <p:nvSpPr>
          <p:cNvPr id="9" name="Content Placeholder 7">
            <a:extLst>
              <a:ext uri="{FF2B5EF4-FFF2-40B4-BE49-F238E27FC236}">
                <a16:creationId xmlns:a16="http://schemas.microsoft.com/office/drawing/2014/main" id="{3944096A-74EF-4E2D-9E5D-E63FEDC5CCB4}"/>
              </a:ext>
            </a:extLst>
          </p:cNvPr>
          <p:cNvSpPr txBox="1">
            <a:spLocks/>
          </p:cNvSpPr>
          <p:nvPr/>
        </p:nvSpPr>
        <p:spPr>
          <a:xfrm>
            <a:off x="664848" y="954075"/>
            <a:ext cx="4017852" cy="896121"/>
          </a:xfrm>
          <a:prstGeom prst="rect">
            <a:avLst/>
          </a:prstGeom>
          <a:ln w="28575">
            <a:noFill/>
          </a:ln>
        </p:spPr>
        <p:txBody>
          <a:bodyPr vert="horz" lIns="91440" tIns="45720" rIns="91440" bIns="45720" rtlCol="0" anchor="ctr">
            <a:normAutofit/>
          </a:bodyP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1400" dirty="0">
                <a:solidFill>
                  <a:schemeClr val="tx1"/>
                </a:solidFill>
              </a:rPr>
              <a:t>(</a:t>
            </a:r>
            <a:r>
              <a:rPr lang="da-DK" sz="1400" dirty="0">
                <a:solidFill>
                  <a:schemeClr val="tx1"/>
                </a:solidFill>
              </a:rPr>
              <a:t>Evers et al., 2019 , </a:t>
            </a:r>
            <a:r>
              <a:rPr lang="fr-FR" sz="1400" dirty="0" err="1">
                <a:solidFill>
                  <a:schemeClr val="tx1"/>
                </a:solidFill>
              </a:rPr>
              <a:t>Louarn</a:t>
            </a:r>
            <a:r>
              <a:rPr lang="fr-FR" sz="1400" dirty="0">
                <a:solidFill>
                  <a:schemeClr val="tx1"/>
                </a:solidFill>
              </a:rPr>
              <a:t> and Song, 2020)</a:t>
            </a:r>
          </a:p>
          <a:p>
            <a:pPr algn="l"/>
            <a:r>
              <a:rPr lang="fr-FR" sz="1600" i="1" dirty="0">
                <a:solidFill>
                  <a:schemeClr val="tx1"/>
                </a:solidFill>
              </a:rPr>
              <a:t>e.g.: V</a:t>
            </a:r>
            <a:r>
              <a:rPr lang="en-US" sz="1600" i="1" dirty="0" err="1">
                <a:solidFill>
                  <a:schemeClr val="tx1"/>
                </a:solidFill>
              </a:rPr>
              <a:t>irtual</a:t>
            </a:r>
            <a:r>
              <a:rPr lang="en-US" sz="1600" i="1" dirty="0">
                <a:solidFill>
                  <a:schemeClr val="tx1"/>
                </a:solidFill>
              </a:rPr>
              <a:t> </a:t>
            </a:r>
            <a:r>
              <a:rPr lang="en-US" sz="1600" i="1" dirty="0" err="1">
                <a:solidFill>
                  <a:schemeClr val="tx1"/>
                </a:solidFill>
              </a:rPr>
              <a:t>GrassLand</a:t>
            </a:r>
            <a:r>
              <a:rPr lang="en-US" sz="1600" i="1" dirty="0">
                <a:solidFill>
                  <a:schemeClr val="tx1"/>
                </a:solidFill>
              </a:rPr>
              <a:t> </a:t>
            </a:r>
            <a:r>
              <a:rPr lang="en-US" sz="1400" i="1" dirty="0">
                <a:solidFill>
                  <a:schemeClr val="tx1"/>
                </a:solidFill>
              </a:rPr>
              <a:t>(</a:t>
            </a:r>
            <a:r>
              <a:rPr lang="en-US" sz="1400" i="1" dirty="0" err="1">
                <a:solidFill>
                  <a:schemeClr val="tx1"/>
                </a:solidFill>
              </a:rPr>
              <a:t>Louarn</a:t>
            </a:r>
            <a:r>
              <a:rPr lang="en-US" sz="1400" i="1" dirty="0">
                <a:solidFill>
                  <a:schemeClr val="tx1"/>
                </a:solidFill>
              </a:rPr>
              <a:t> et al., 2020), </a:t>
            </a:r>
          </a:p>
          <a:p>
            <a:pPr algn="l"/>
            <a:r>
              <a:rPr lang="en-US" sz="1600" i="1" dirty="0">
                <a:solidFill>
                  <a:schemeClr val="tx1"/>
                </a:solidFill>
              </a:rPr>
              <a:t>SIMBAL </a:t>
            </a:r>
            <a:r>
              <a:rPr lang="en-US" sz="1400" i="1" dirty="0">
                <a:solidFill>
                  <a:schemeClr val="tx1"/>
                </a:solidFill>
              </a:rPr>
              <a:t>(</a:t>
            </a:r>
            <a:r>
              <a:rPr lang="en-US" sz="1400" i="1" dirty="0" err="1">
                <a:solidFill>
                  <a:schemeClr val="tx1"/>
                </a:solidFill>
              </a:rPr>
              <a:t>Perthame</a:t>
            </a:r>
            <a:r>
              <a:rPr lang="en-US" sz="1400" i="1" dirty="0">
                <a:solidFill>
                  <a:schemeClr val="tx1"/>
                </a:solidFill>
              </a:rPr>
              <a:t> et al., 2023)</a:t>
            </a:r>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7</a:t>
            </a:fld>
            <a:endParaRPr lang="fr-FR"/>
          </a:p>
        </p:txBody>
      </p:sp>
      <p:sp>
        <p:nvSpPr>
          <p:cNvPr id="19" name="Rectangle 18">
            <a:extLst>
              <a:ext uri="{FF2B5EF4-FFF2-40B4-BE49-F238E27FC236}">
                <a16:creationId xmlns:a16="http://schemas.microsoft.com/office/drawing/2014/main" id="{65E17AAE-D403-4C0C-BA8C-9BB147F88A50}"/>
              </a:ext>
            </a:extLst>
          </p:cNvPr>
          <p:cNvSpPr/>
          <p:nvPr/>
        </p:nvSpPr>
        <p:spPr>
          <a:xfrm>
            <a:off x="664848" y="2256985"/>
            <a:ext cx="8854068" cy="4154984"/>
          </a:xfrm>
          <a:prstGeom prst="rect">
            <a:avLst/>
          </a:prstGeom>
        </p:spPr>
        <p:txBody>
          <a:bodyPr wrap="square">
            <a:spAutoFit/>
          </a:bodyPr>
          <a:lstStyle/>
          <a:p>
            <a:r>
              <a:rPr lang="en-US" sz="2400" u="sng" dirty="0"/>
              <a:t>Objective:</a:t>
            </a:r>
            <a:r>
              <a:rPr lang="en-US" sz="2400" dirty="0"/>
              <a:t> integration of knowledge at organ scale, plasticity studies </a:t>
            </a:r>
          </a:p>
          <a:p>
            <a:endParaRPr lang="en-US" sz="2400" dirty="0"/>
          </a:p>
          <a:p>
            <a:r>
              <a:rPr lang="en-US" sz="2400" u="sng" dirty="0"/>
              <a:t>Characteristics: </a:t>
            </a:r>
          </a:p>
          <a:p>
            <a:pPr marL="285750" indent="-285750">
              <a:buFont typeface="Arial" panose="020B0604020202020204" pitchFamily="34" charset="0"/>
              <a:buChar char="•"/>
            </a:pPr>
            <a:r>
              <a:rPr lang="en-US" sz="2400" dirty="0"/>
              <a:t>organ scale (unit = organ)</a:t>
            </a:r>
          </a:p>
          <a:p>
            <a:pPr marL="285750" indent="-285750">
              <a:buFont typeface="Arial" panose="020B0604020202020204" pitchFamily="34" charset="0"/>
              <a:buChar char="•"/>
            </a:pPr>
            <a:r>
              <a:rPr lang="en-US" sz="2400" dirty="0"/>
              <a:t>3D plant structure influence and emerges from plant processes</a:t>
            </a:r>
          </a:p>
          <a:p>
            <a:pPr marL="285750" indent="-285750">
              <a:buFont typeface="Arial" panose="020B0604020202020204" pitchFamily="34" charset="0"/>
              <a:buChar char="•"/>
            </a:pPr>
            <a:r>
              <a:rPr lang="en-US" sz="2400" dirty="0"/>
              <a:t>enable to represent heterogeneous crops</a:t>
            </a:r>
          </a:p>
          <a:p>
            <a:pPr marL="285750" indent="-285750">
              <a:buFont typeface="Arial" panose="020B0604020202020204" pitchFamily="34" charset="0"/>
              <a:buChar char="•"/>
            </a:pPr>
            <a:endParaRPr lang="fr-FR" sz="2400" dirty="0"/>
          </a:p>
          <a:p>
            <a:r>
              <a:rPr lang="fr-FR" sz="2400" u="sng" dirty="0"/>
              <a:t>Limits:</a:t>
            </a:r>
          </a:p>
          <a:p>
            <a:pPr marL="285750" indent="-285750">
              <a:buFont typeface="Arial" panose="020B0604020202020204" pitchFamily="34" charset="0"/>
              <a:buChar char="•"/>
            </a:pPr>
            <a:r>
              <a:rPr lang="fr-FR" sz="2400" dirty="0" err="1"/>
              <a:t>complexity</a:t>
            </a:r>
            <a:endParaRPr lang="fr-FR" sz="2400" dirty="0"/>
          </a:p>
          <a:p>
            <a:pPr marL="285750" indent="-285750">
              <a:buFont typeface="Arial" panose="020B0604020202020204" pitchFamily="34" charset="0"/>
              <a:buChar char="•"/>
            </a:pPr>
            <a:r>
              <a:rPr lang="fr-FR" sz="2400" dirty="0" err="1"/>
              <a:t>cannot</a:t>
            </a:r>
            <a:r>
              <a:rPr lang="fr-FR" sz="2400" dirty="0"/>
              <a:t> </a:t>
            </a:r>
            <a:r>
              <a:rPr lang="fr-FR" sz="2400" dirty="0" err="1"/>
              <a:t>always</a:t>
            </a:r>
            <a:r>
              <a:rPr lang="fr-FR" sz="2400" dirty="0"/>
              <a:t> </a:t>
            </a:r>
            <a:r>
              <a:rPr lang="fr-FR" sz="2400" dirty="0" err="1"/>
              <a:t>simulate</a:t>
            </a:r>
            <a:r>
              <a:rPr lang="fr-FR" sz="2400" dirty="0"/>
              <a:t> </a:t>
            </a:r>
            <a:r>
              <a:rPr lang="fr-FR" sz="2400" dirty="0" err="1"/>
              <a:t>whole</a:t>
            </a:r>
            <a:r>
              <a:rPr lang="fr-FR" sz="2400" dirty="0"/>
              <a:t> </a:t>
            </a:r>
            <a:r>
              <a:rPr lang="fr-FR" sz="2400" dirty="0" err="1"/>
              <a:t>development</a:t>
            </a:r>
            <a:r>
              <a:rPr lang="fr-FR" sz="2400" dirty="0"/>
              <a:t> cycle</a:t>
            </a:r>
          </a:p>
          <a:p>
            <a:pPr marL="285750" indent="-285750">
              <a:buFont typeface="Arial" panose="020B0604020202020204" pitchFamily="34" charset="0"/>
              <a:buChar char="•"/>
            </a:pPr>
            <a:r>
              <a:rPr lang="fr-FR" sz="2400" dirty="0" err="1">
                <a:sym typeface="Wingdings" panose="05000000000000000000" pitchFamily="2" charset="2"/>
              </a:rPr>
              <a:t>need</a:t>
            </a:r>
            <a:r>
              <a:rPr lang="fr-FR" sz="2400" dirty="0">
                <a:sym typeface="Wingdings" panose="05000000000000000000" pitchFamily="2" charset="2"/>
              </a:rPr>
              <a:t> lots of 3D </a:t>
            </a:r>
            <a:r>
              <a:rPr lang="fr-FR" sz="2400" dirty="0" err="1">
                <a:sym typeface="Wingdings" panose="05000000000000000000" pitchFamily="2" charset="2"/>
              </a:rPr>
              <a:t>measures</a:t>
            </a:r>
            <a:endParaRPr lang="en-US" sz="2400" dirty="0"/>
          </a:p>
        </p:txBody>
      </p:sp>
    </p:spTree>
    <p:extLst>
      <p:ext uri="{BB962C8B-B14F-4D97-AF65-F5344CB8AC3E}">
        <p14:creationId xmlns:p14="http://schemas.microsoft.com/office/powerpoint/2010/main" val="791221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B19D09E-F77F-4792-9293-E79FCCDB1E44}"/>
              </a:ext>
            </a:extLst>
          </p:cNvPr>
          <p:cNvSpPr/>
          <p:nvPr/>
        </p:nvSpPr>
        <p:spPr>
          <a:xfrm>
            <a:off x="547423" y="1718528"/>
            <a:ext cx="10718886" cy="830997"/>
          </a:xfrm>
          <a:prstGeom prst="rect">
            <a:avLst/>
          </a:prstGeom>
        </p:spPr>
        <p:txBody>
          <a:bodyPr wrap="square">
            <a:spAutoFit/>
          </a:bodyPr>
          <a:lstStyle/>
          <a:p>
            <a:pPr marL="285750" indent="-285750">
              <a:buFont typeface="Wingdings" panose="05000000000000000000" pitchFamily="2" charset="2"/>
              <a:buChar char="è"/>
            </a:pPr>
            <a:r>
              <a:rPr lang="fr-FR" sz="2400" dirty="0">
                <a:sym typeface="Wingdings" panose="05000000000000000000" pitchFamily="2" charset="2"/>
              </a:rPr>
              <a:t> Possible </a:t>
            </a:r>
            <a:r>
              <a:rPr lang="fr-FR" sz="2400" dirty="0" err="1">
                <a:sym typeface="Wingdings" panose="05000000000000000000" pitchFamily="2" charset="2"/>
              </a:rPr>
              <a:t>way</a:t>
            </a:r>
            <a:r>
              <a:rPr lang="fr-FR" sz="2400" dirty="0">
                <a:sym typeface="Wingdings" panose="05000000000000000000" pitchFamily="2" charset="2"/>
              </a:rPr>
              <a:t>: by </a:t>
            </a:r>
            <a:r>
              <a:rPr lang="fr-FR" sz="2400" b="1" dirty="0" err="1">
                <a:sym typeface="Wingdings" panose="05000000000000000000" pitchFamily="2" charset="2"/>
              </a:rPr>
              <a:t>adapting</a:t>
            </a:r>
            <a:r>
              <a:rPr lang="fr-FR" sz="2400" b="1" dirty="0">
                <a:sym typeface="Wingdings" panose="05000000000000000000" pitchFamily="2" charset="2"/>
              </a:rPr>
              <a:t> </a:t>
            </a:r>
            <a:r>
              <a:rPr lang="fr-FR" sz="2400" b="1" dirty="0" err="1">
                <a:sym typeface="Wingdings" panose="05000000000000000000" pitchFamily="2" charset="2"/>
              </a:rPr>
              <a:t>crop</a:t>
            </a:r>
            <a:r>
              <a:rPr lang="fr-FR" sz="2400" b="1" dirty="0">
                <a:sym typeface="Wingdings" panose="05000000000000000000" pitchFamily="2" charset="2"/>
              </a:rPr>
              <a:t> </a:t>
            </a:r>
            <a:r>
              <a:rPr lang="fr-FR" sz="2400" b="1" dirty="0" err="1">
                <a:sym typeface="Wingdings" panose="05000000000000000000" pitchFamily="2" charset="2"/>
              </a:rPr>
              <a:t>models</a:t>
            </a:r>
            <a:r>
              <a:rPr lang="fr-FR" sz="2400" dirty="0">
                <a:sym typeface="Wingdings" panose="05000000000000000000" pitchFamily="2" charset="2"/>
              </a:rPr>
              <a:t> for </a:t>
            </a:r>
            <a:r>
              <a:rPr lang="fr-FR" sz="2400" dirty="0" err="1">
                <a:sym typeface="Wingdings" panose="05000000000000000000" pitchFamily="2" charset="2"/>
              </a:rPr>
              <a:t>considering</a:t>
            </a:r>
            <a:r>
              <a:rPr lang="fr-FR" sz="2400" dirty="0">
                <a:sym typeface="Wingdings" panose="05000000000000000000" pitchFamily="2" charset="2"/>
              </a:rPr>
              <a:t> more </a:t>
            </a:r>
            <a:r>
              <a:rPr lang="fr-FR" sz="2400" b="1" dirty="0">
                <a:sym typeface="Wingdings" panose="05000000000000000000" pitchFamily="2" charset="2"/>
              </a:rPr>
              <a:t>architectural and spatial </a:t>
            </a:r>
            <a:r>
              <a:rPr lang="fr-FR" sz="2400" b="1" dirty="0" err="1">
                <a:sym typeface="Wingdings" panose="05000000000000000000" pitchFamily="2" charset="2"/>
              </a:rPr>
              <a:t>heterogeneity</a:t>
            </a:r>
            <a:r>
              <a:rPr lang="fr-FR" sz="2400" b="1" dirty="0">
                <a:sym typeface="Wingdings" panose="05000000000000000000" pitchFamily="2" charset="2"/>
              </a:rPr>
              <a:t> </a:t>
            </a:r>
            <a:r>
              <a:rPr lang="fr-FR" sz="2400" dirty="0">
                <a:sym typeface="Wingdings" panose="05000000000000000000" pitchFamily="2" charset="2"/>
              </a:rPr>
              <a:t>of </a:t>
            </a:r>
            <a:r>
              <a:rPr lang="fr-FR" sz="2400" dirty="0" err="1">
                <a:sym typeface="Wingdings" panose="05000000000000000000" pitchFamily="2" charset="2"/>
              </a:rPr>
              <a:t>intercrops</a:t>
            </a:r>
            <a:endParaRPr lang="fr-FR" sz="2400" dirty="0">
              <a:sym typeface="Wingdings" panose="05000000000000000000" pitchFamily="2" charset="2"/>
            </a:endParaRPr>
          </a:p>
        </p:txBody>
      </p:sp>
      <p:sp>
        <p:nvSpPr>
          <p:cNvPr id="2" name="Title 1">
            <a:extLst>
              <a:ext uri="{FF2B5EF4-FFF2-40B4-BE49-F238E27FC236}">
                <a16:creationId xmlns:a16="http://schemas.microsoft.com/office/drawing/2014/main" id="{CF996E95-F6C0-489B-A325-7883157E0BCF}"/>
              </a:ext>
            </a:extLst>
          </p:cNvPr>
          <p:cNvSpPr>
            <a:spLocks noGrp="1"/>
          </p:cNvSpPr>
          <p:nvPr>
            <p:ph type="title"/>
          </p:nvPr>
        </p:nvSpPr>
        <p:spPr>
          <a:xfrm>
            <a:off x="547423" y="136525"/>
            <a:ext cx="10515600" cy="1325563"/>
          </a:xfrm>
        </p:spPr>
        <p:txBody>
          <a:bodyPr>
            <a:normAutofit/>
          </a:bodyPr>
          <a:lstStyle/>
          <a:p>
            <a:r>
              <a:rPr lang="fr-FR" sz="3600" dirty="0">
                <a:sym typeface="Wingdings" panose="05000000000000000000" pitchFamily="2" charset="2"/>
              </a:rPr>
              <a:t>How to </a:t>
            </a:r>
            <a:r>
              <a:rPr lang="fr-FR" sz="3600" dirty="0" err="1">
                <a:sym typeface="Wingdings" panose="05000000000000000000" pitchFamily="2" charset="2"/>
              </a:rPr>
              <a:t>benefit</a:t>
            </a:r>
            <a:r>
              <a:rPr lang="fr-FR" sz="3600" dirty="0">
                <a:sym typeface="Wingdings" panose="05000000000000000000" pitchFamily="2" charset="2"/>
              </a:rPr>
              <a:t> </a:t>
            </a:r>
            <a:r>
              <a:rPr lang="fr-FR" sz="3600" dirty="0" err="1">
                <a:sym typeface="Wingdings" panose="05000000000000000000" pitchFamily="2" charset="2"/>
              </a:rPr>
              <a:t>from</a:t>
            </a:r>
            <a:r>
              <a:rPr lang="fr-FR" sz="3600" dirty="0">
                <a:sym typeface="Wingdings" panose="05000000000000000000" pitchFamily="2" charset="2"/>
              </a:rPr>
              <a:t> the best of </a:t>
            </a:r>
            <a:r>
              <a:rPr lang="fr-FR" sz="3600" dirty="0" err="1">
                <a:sym typeface="Wingdings" panose="05000000000000000000" pitchFamily="2" charset="2"/>
              </a:rPr>
              <a:t>both</a:t>
            </a:r>
            <a:r>
              <a:rPr lang="fr-FR" sz="3600" dirty="0">
                <a:sym typeface="Wingdings" panose="05000000000000000000" pitchFamily="2" charset="2"/>
              </a:rPr>
              <a:t> </a:t>
            </a:r>
            <a:r>
              <a:rPr lang="fr-FR" sz="3600" dirty="0" err="1">
                <a:sym typeface="Wingdings" panose="05000000000000000000" pitchFamily="2" charset="2"/>
              </a:rPr>
              <a:t>approaches</a:t>
            </a:r>
            <a:r>
              <a:rPr lang="fr-FR" sz="3600" dirty="0">
                <a:sym typeface="Wingdings" panose="05000000000000000000" pitchFamily="2" charset="2"/>
              </a:rPr>
              <a:t>?</a:t>
            </a:r>
            <a:endParaRPr lang="en-US" sz="3400" dirty="0"/>
          </a:p>
        </p:txBody>
      </p:sp>
      <p:sp>
        <p:nvSpPr>
          <p:cNvPr id="10" name="TextBox 9">
            <a:extLst>
              <a:ext uri="{FF2B5EF4-FFF2-40B4-BE49-F238E27FC236}">
                <a16:creationId xmlns:a16="http://schemas.microsoft.com/office/drawing/2014/main" id="{55FA22D2-B079-4D92-8652-2054AAB6232A}"/>
              </a:ext>
            </a:extLst>
          </p:cNvPr>
          <p:cNvSpPr txBox="1"/>
          <p:nvPr/>
        </p:nvSpPr>
        <p:spPr>
          <a:xfrm>
            <a:off x="5402832" y="2172499"/>
            <a:ext cx="3207768" cy="307777"/>
          </a:xfrm>
          <a:prstGeom prst="rect">
            <a:avLst/>
          </a:prstGeom>
          <a:noFill/>
        </p:spPr>
        <p:txBody>
          <a:bodyPr wrap="square" rtlCol="0">
            <a:spAutoFit/>
          </a:bodyPr>
          <a:lstStyle/>
          <a:p>
            <a:r>
              <a:rPr lang="fr-FR" sz="1400" dirty="0"/>
              <a:t>(</a:t>
            </a:r>
            <a:r>
              <a:rPr lang="fr-FR" sz="1400" dirty="0" err="1"/>
              <a:t>Gaudio</a:t>
            </a:r>
            <a:r>
              <a:rPr lang="fr-FR" sz="1400" dirty="0"/>
              <a:t> et al., 2019; </a:t>
            </a:r>
            <a:r>
              <a:rPr lang="fr-FR" sz="1400" dirty="0" err="1">
                <a:ea typeface="+mn-lt"/>
                <a:cs typeface="+mn-lt"/>
              </a:rPr>
              <a:t>Laurans</a:t>
            </a:r>
            <a:r>
              <a:rPr lang="fr-FR" sz="1400" dirty="0">
                <a:ea typeface="+mn-lt"/>
                <a:cs typeface="+mn-lt"/>
              </a:rPr>
              <a:t> et al., 2024</a:t>
            </a:r>
            <a:r>
              <a:rPr lang="fr-FR" sz="1400" dirty="0"/>
              <a:t>)</a:t>
            </a:r>
            <a:endParaRPr lang="en-US" sz="1400" dirty="0"/>
          </a:p>
        </p:txBody>
      </p:sp>
      <p:sp>
        <p:nvSpPr>
          <p:cNvPr id="11" name="Slide Number Placeholder 10">
            <a:extLst>
              <a:ext uri="{FF2B5EF4-FFF2-40B4-BE49-F238E27FC236}">
                <a16:creationId xmlns:a16="http://schemas.microsoft.com/office/drawing/2014/main" id="{252B2EDF-C232-4BB8-BCFF-E351BAD12D99}"/>
              </a:ext>
            </a:extLst>
          </p:cNvPr>
          <p:cNvSpPr>
            <a:spLocks noGrp="1"/>
          </p:cNvSpPr>
          <p:nvPr>
            <p:ph type="sldNum" sz="quarter" idx="12"/>
          </p:nvPr>
        </p:nvSpPr>
        <p:spPr/>
        <p:txBody>
          <a:bodyPr/>
          <a:lstStyle/>
          <a:p>
            <a:fld id="{27C6CCC6-2BE5-4E42-96A4-D1E8E81A3D8E}" type="slidenum">
              <a:rPr lang="fr-FR" smtClean="0"/>
              <a:t>8</a:t>
            </a:fld>
            <a:endParaRPr lang="fr-FR"/>
          </a:p>
        </p:txBody>
      </p:sp>
      <p:sp>
        <p:nvSpPr>
          <p:cNvPr id="50" name="Rectangle 49">
            <a:extLst>
              <a:ext uri="{FF2B5EF4-FFF2-40B4-BE49-F238E27FC236}">
                <a16:creationId xmlns:a16="http://schemas.microsoft.com/office/drawing/2014/main" id="{927FDD9A-D2DA-4694-ABA6-485917682CF4}"/>
              </a:ext>
            </a:extLst>
          </p:cNvPr>
          <p:cNvSpPr/>
          <p:nvPr/>
        </p:nvSpPr>
        <p:spPr>
          <a:xfrm>
            <a:off x="7970971" y="4488342"/>
            <a:ext cx="3611703" cy="584775"/>
          </a:xfrm>
          <a:prstGeom prst="rect">
            <a:avLst/>
          </a:prstGeom>
        </p:spPr>
        <p:txBody>
          <a:bodyPr wrap="square">
            <a:spAutoFit/>
          </a:bodyPr>
          <a:lstStyle/>
          <a:p>
            <a:r>
              <a:rPr lang="en-US" dirty="0"/>
              <a:t>Hybrid 2.5D formalism in STICS </a:t>
            </a:r>
          </a:p>
          <a:p>
            <a:r>
              <a:rPr lang="en-US" sz="1400" dirty="0"/>
              <a:t>(</a:t>
            </a:r>
            <a:r>
              <a:rPr lang="en-US" sz="1400" dirty="0" err="1"/>
              <a:t>Vezy</a:t>
            </a:r>
            <a:r>
              <a:rPr lang="en-US" sz="1400" dirty="0"/>
              <a:t> et al., 2023)</a:t>
            </a:r>
            <a:endParaRPr lang="fr-FR" sz="1600" dirty="0"/>
          </a:p>
        </p:txBody>
      </p:sp>
      <p:sp>
        <p:nvSpPr>
          <p:cNvPr id="31" name="TextBox 30">
            <a:extLst>
              <a:ext uri="{FF2B5EF4-FFF2-40B4-BE49-F238E27FC236}">
                <a16:creationId xmlns:a16="http://schemas.microsoft.com/office/drawing/2014/main" id="{2D5C4A14-BC09-45FF-80BD-BB97089BA765}"/>
              </a:ext>
            </a:extLst>
          </p:cNvPr>
          <p:cNvSpPr txBox="1"/>
          <p:nvPr/>
        </p:nvSpPr>
        <p:spPr>
          <a:xfrm>
            <a:off x="7970971" y="5138894"/>
            <a:ext cx="3113568" cy="584775"/>
          </a:xfrm>
          <a:prstGeom prst="rect">
            <a:avLst/>
          </a:prstGeom>
          <a:noFill/>
        </p:spPr>
        <p:txBody>
          <a:bodyPr wrap="square" rtlCol="0">
            <a:spAutoFit/>
          </a:bodyPr>
          <a:lstStyle/>
          <a:p>
            <a:r>
              <a:rPr lang="en-US" dirty="0"/>
              <a:t>Incorporate effect of clumping</a:t>
            </a:r>
          </a:p>
          <a:p>
            <a:r>
              <a:rPr lang="en-US" sz="1400" dirty="0"/>
              <a:t>(</a:t>
            </a:r>
            <a:r>
              <a:rPr lang="fr-FR" sz="1400" dirty="0"/>
              <a:t>B</a:t>
            </a:r>
            <a:r>
              <a:rPr lang="en-US" sz="1400" dirty="0" err="1"/>
              <a:t>ailey</a:t>
            </a:r>
            <a:r>
              <a:rPr lang="en-US" sz="1400" dirty="0"/>
              <a:t> et al., 2020)</a:t>
            </a:r>
            <a:endParaRPr lang="en-US" sz="1600" dirty="0"/>
          </a:p>
        </p:txBody>
      </p:sp>
      <p:sp>
        <p:nvSpPr>
          <p:cNvPr id="51" name="Rectangle 50">
            <a:extLst>
              <a:ext uri="{FF2B5EF4-FFF2-40B4-BE49-F238E27FC236}">
                <a16:creationId xmlns:a16="http://schemas.microsoft.com/office/drawing/2014/main" id="{D4FC1B4F-1B37-413D-A2DB-060D0A6D1E42}"/>
              </a:ext>
            </a:extLst>
          </p:cNvPr>
          <p:cNvSpPr/>
          <p:nvPr/>
        </p:nvSpPr>
        <p:spPr>
          <a:xfrm>
            <a:off x="697149" y="4488343"/>
            <a:ext cx="3865908" cy="1077218"/>
          </a:xfrm>
          <a:prstGeom prst="rect">
            <a:avLst/>
          </a:prstGeom>
        </p:spPr>
        <p:txBody>
          <a:bodyPr wrap="square">
            <a:spAutoFit/>
          </a:bodyPr>
          <a:lstStyle/>
          <a:p>
            <a:r>
              <a:rPr lang="en-US" dirty="0"/>
              <a:t>Turbid medium approach for simulating light interception </a:t>
            </a:r>
          </a:p>
          <a:p>
            <a:r>
              <a:rPr lang="en-US" sz="1400" dirty="0"/>
              <a:t>(</a:t>
            </a:r>
            <a:r>
              <a:rPr lang="fr-FR" sz="1400" dirty="0" err="1"/>
              <a:t>Barillot</a:t>
            </a:r>
            <a:r>
              <a:rPr lang="fr-FR" sz="1400" dirty="0"/>
              <a:t> et al., 2011; Feng et al., 2014; </a:t>
            </a:r>
            <a:r>
              <a:rPr lang="en-US" sz="1400" dirty="0"/>
              <a:t>Ponce de Leon and Bailey, 2019; Li et al., 2024)</a:t>
            </a:r>
            <a:endParaRPr lang="en-US" sz="1600" dirty="0"/>
          </a:p>
        </p:txBody>
      </p:sp>
      <p:sp>
        <p:nvSpPr>
          <p:cNvPr id="52" name="Rectangle 51">
            <a:extLst>
              <a:ext uri="{FF2B5EF4-FFF2-40B4-BE49-F238E27FC236}">
                <a16:creationId xmlns:a16="http://schemas.microsoft.com/office/drawing/2014/main" id="{663C0DE6-BE9C-4AB9-943B-5E9DA0CF9EFE}"/>
              </a:ext>
            </a:extLst>
          </p:cNvPr>
          <p:cNvSpPr/>
          <p:nvPr/>
        </p:nvSpPr>
        <p:spPr>
          <a:xfrm>
            <a:off x="4774028" y="4488342"/>
            <a:ext cx="3113568" cy="1077218"/>
          </a:xfrm>
          <a:prstGeom prst="rect">
            <a:avLst/>
          </a:prstGeom>
        </p:spPr>
        <p:txBody>
          <a:bodyPr wrap="square">
            <a:spAutoFit/>
          </a:bodyPr>
          <a:lstStyle/>
          <a:p>
            <a:r>
              <a:rPr lang="fr-FR" dirty="0"/>
              <a:t>I</a:t>
            </a:r>
            <a:r>
              <a:rPr lang="en-US" dirty="0" err="1"/>
              <a:t>mpact</a:t>
            </a:r>
            <a:r>
              <a:rPr lang="en-US" dirty="0"/>
              <a:t> of plant architectural variations on light interception</a:t>
            </a:r>
            <a:endParaRPr lang="fr-FR" dirty="0"/>
          </a:p>
          <a:p>
            <a:r>
              <a:rPr lang="fr-FR" sz="1400" dirty="0"/>
              <a:t>(</a:t>
            </a:r>
            <a:r>
              <a:rPr lang="fr-FR" sz="1400" dirty="0" err="1"/>
              <a:t>Barillot</a:t>
            </a:r>
            <a:r>
              <a:rPr lang="fr-FR" sz="1400" dirty="0"/>
              <a:t> et al., 2014; T</a:t>
            </a:r>
            <a:r>
              <a:rPr lang="en-US" sz="1400" dirty="0" err="1"/>
              <a:t>ruong</a:t>
            </a:r>
            <a:r>
              <a:rPr lang="en-US" sz="1400" dirty="0"/>
              <a:t> et al, 2015; </a:t>
            </a:r>
            <a:r>
              <a:rPr lang="en-US" sz="1400" dirty="0" err="1"/>
              <a:t>Barillot</a:t>
            </a:r>
            <a:r>
              <a:rPr lang="en-US" sz="1400" dirty="0"/>
              <a:t> et al., 2019)</a:t>
            </a:r>
          </a:p>
        </p:txBody>
      </p:sp>
      <p:sp>
        <p:nvSpPr>
          <p:cNvPr id="53" name="TextBox 52">
            <a:extLst>
              <a:ext uri="{FF2B5EF4-FFF2-40B4-BE49-F238E27FC236}">
                <a16:creationId xmlns:a16="http://schemas.microsoft.com/office/drawing/2014/main" id="{F63DF9AE-7D49-40AF-9CE8-29C8AD4C08AA}"/>
              </a:ext>
            </a:extLst>
          </p:cNvPr>
          <p:cNvSpPr txBox="1"/>
          <p:nvPr/>
        </p:nvSpPr>
        <p:spPr>
          <a:xfrm>
            <a:off x="697149" y="3295796"/>
            <a:ext cx="3708197" cy="1015663"/>
          </a:xfrm>
          <a:prstGeom prst="rect">
            <a:avLst/>
          </a:prstGeom>
          <a:noFill/>
        </p:spPr>
        <p:txBody>
          <a:bodyPr wrap="square" rtlCol="0">
            <a:spAutoFit/>
          </a:bodyPr>
          <a:lstStyle/>
          <a:p>
            <a:r>
              <a:rPr lang="en-US" sz="2000" b="1" dirty="0"/>
              <a:t>1. Evaluate performance of existing crop model formalisms for heterogeneous canopies</a:t>
            </a:r>
          </a:p>
        </p:txBody>
      </p:sp>
      <p:sp>
        <p:nvSpPr>
          <p:cNvPr id="54" name="TextBox 53">
            <a:extLst>
              <a:ext uri="{FF2B5EF4-FFF2-40B4-BE49-F238E27FC236}">
                <a16:creationId xmlns:a16="http://schemas.microsoft.com/office/drawing/2014/main" id="{5B296E1A-DE6E-41AC-832C-248CACC44DEC}"/>
              </a:ext>
            </a:extLst>
          </p:cNvPr>
          <p:cNvSpPr txBox="1"/>
          <p:nvPr/>
        </p:nvSpPr>
        <p:spPr>
          <a:xfrm>
            <a:off x="4774028" y="3295796"/>
            <a:ext cx="2828261" cy="1015663"/>
          </a:xfrm>
          <a:prstGeom prst="rect">
            <a:avLst/>
          </a:prstGeom>
          <a:noFill/>
        </p:spPr>
        <p:txBody>
          <a:bodyPr wrap="square" rtlCol="0">
            <a:spAutoFit/>
          </a:bodyPr>
          <a:lstStyle/>
          <a:p>
            <a:r>
              <a:rPr lang="en-US" sz="2000" b="1" dirty="0"/>
              <a:t>2. Identify architectural traits of interest for a given process</a:t>
            </a:r>
          </a:p>
        </p:txBody>
      </p:sp>
      <p:sp>
        <p:nvSpPr>
          <p:cNvPr id="55" name="TextBox 54">
            <a:extLst>
              <a:ext uri="{FF2B5EF4-FFF2-40B4-BE49-F238E27FC236}">
                <a16:creationId xmlns:a16="http://schemas.microsoft.com/office/drawing/2014/main" id="{FA0DF061-EC3D-40C5-80C8-0CE5587D7A7E}"/>
              </a:ext>
            </a:extLst>
          </p:cNvPr>
          <p:cNvSpPr txBox="1"/>
          <p:nvPr/>
        </p:nvSpPr>
        <p:spPr>
          <a:xfrm>
            <a:off x="7970971" y="3299990"/>
            <a:ext cx="2828261" cy="707886"/>
          </a:xfrm>
          <a:prstGeom prst="rect">
            <a:avLst/>
          </a:prstGeom>
          <a:noFill/>
        </p:spPr>
        <p:txBody>
          <a:bodyPr wrap="square" rtlCol="0">
            <a:spAutoFit/>
          </a:bodyPr>
          <a:lstStyle/>
          <a:p>
            <a:r>
              <a:rPr lang="en-US" sz="2000" b="1" dirty="0"/>
              <a:t>3. Find new formalisms for crop models</a:t>
            </a:r>
          </a:p>
        </p:txBody>
      </p:sp>
    </p:spTree>
    <p:extLst>
      <p:ext uri="{BB962C8B-B14F-4D97-AF65-F5344CB8AC3E}">
        <p14:creationId xmlns:p14="http://schemas.microsoft.com/office/powerpoint/2010/main" val="3532161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Rectangle: Diagonal Corners Snipped 16">
            <a:extLst>
              <a:ext uri="{FF2B5EF4-FFF2-40B4-BE49-F238E27FC236}">
                <a16:creationId xmlns:a16="http://schemas.microsoft.com/office/drawing/2014/main" id="{293670AD-7624-4B36-BD7D-46DED881E2B9}"/>
              </a:ext>
            </a:extLst>
          </p:cNvPr>
          <p:cNvSpPr/>
          <p:nvPr/>
        </p:nvSpPr>
        <p:spPr>
          <a:xfrm>
            <a:off x="8030931" y="3036958"/>
            <a:ext cx="3292630" cy="2743199"/>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Diagonal Corners Snipped 15">
            <a:extLst>
              <a:ext uri="{FF2B5EF4-FFF2-40B4-BE49-F238E27FC236}">
                <a16:creationId xmlns:a16="http://schemas.microsoft.com/office/drawing/2014/main" id="{707F41A6-3159-46CD-83B5-02EAD5C66679}"/>
              </a:ext>
            </a:extLst>
          </p:cNvPr>
          <p:cNvSpPr/>
          <p:nvPr/>
        </p:nvSpPr>
        <p:spPr>
          <a:xfrm>
            <a:off x="4569948" y="3019458"/>
            <a:ext cx="3365454" cy="2743199"/>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Diagonal Corners Snipped 3">
            <a:extLst>
              <a:ext uri="{FF2B5EF4-FFF2-40B4-BE49-F238E27FC236}">
                <a16:creationId xmlns:a16="http://schemas.microsoft.com/office/drawing/2014/main" id="{D8A134D3-7C03-4F97-9E52-EBA5B21452F6}"/>
              </a:ext>
            </a:extLst>
          </p:cNvPr>
          <p:cNvSpPr/>
          <p:nvPr/>
        </p:nvSpPr>
        <p:spPr>
          <a:xfrm>
            <a:off x="607383" y="3019458"/>
            <a:ext cx="3857923" cy="2743199"/>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B19D09E-F77F-4792-9293-E79FCCDB1E44}"/>
              </a:ext>
            </a:extLst>
          </p:cNvPr>
          <p:cNvSpPr/>
          <p:nvPr/>
        </p:nvSpPr>
        <p:spPr>
          <a:xfrm>
            <a:off x="547423" y="1772818"/>
            <a:ext cx="10718886" cy="830997"/>
          </a:xfrm>
          <a:prstGeom prst="rect">
            <a:avLst/>
          </a:prstGeom>
        </p:spPr>
        <p:txBody>
          <a:bodyPr wrap="square">
            <a:spAutoFit/>
          </a:bodyPr>
          <a:lstStyle/>
          <a:p>
            <a:pPr marL="285750" indent="-285750">
              <a:buFont typeface="Wingdings" panose="05000000000000000000" pitchFamily="2" charset="2"/>
              <a:buChar char="è"/>
            </a:pPr>
            <a:r>
              <a:rPr lang="fr-FR" sz="2400" dirty="0">
                <a:sym typeface="Wingdings" panose="05000000000000000000" pitchFamily="2" charset="2"/>
              </a:rPr>
              <a:t> by </a:t>
            </a:r>
            <a:r>
              <a:rPr lang="fr-FR" sz="2400" b="1" dirty="0" err="1">
                <a:sym typeface="Wingdings" panose="05000000000000000000" pitchFamily="2" charset="2"/>
              </a:rPr>
              <a:t>adapting</a:t>
            </a:r>
            <a:r>
              <a:rPr lang="fr-FR" sz="2400" b="1" dirty="0">
                <a:sym typeface="Wingdings" panose="05000000000000000000" pitchFamily="2" charset="2"/>
              </a:rPr>
              <a:t> </a:t>
            </a:r>
            <a:r>
              <a:rPr lang="fr-FR" sz="2400" b="1" dirty="0" err="1">
                <a:sym typeface="Wingdings" panose="05000000000000000000" pitchFamily="2" charset="2"/>
              </a:rPr>
              <a:t>crop</a:t>
            </a:r>
            <a:r>
              <a:rPr lang="fr-FR" sz="2400" b="1" dirty="0">
                <a:sym typeface="Wingdings" panose="05000000000000000000" pitchFamily="2" charset="2"/>
              </a:rPr>
              <a:t> </a:t>
            </a:r>
            <a:r>
              <a:rPr lang="fr-FR" sz="2400" b="1" dirty="0" err="1">
                <a:sym typeface="Wingdings" panose="05000000000000000000" pitchFamily="2" charset="2"/>
              </a:rPr>
              <a:t>models</a:t>
            </a:r>
            <a:r>
              <a:rPr lang="fr-FR" sz="2400" dirty="0">
                <a:sym typeface="Wingdings" panose="05000000000000000000" pitchFamily="2" charset="2"/>
              </a:rPr>
              <a:t> for </a:t>
            </a:r>
            <a:r>
              <a:rPr lang="fr-FR" sz="2400" dirty="0" err="1">
                <a:sym typeface="Wingdings" panose="05000000000000000000" pitchFamily="2" charset="2"/>
              </a:rPr>
              <a:t>considering</a:t>
            </a:r>
            <a:r>
              <a:rPr lang="fr-FR" sz="2400" dirty="0">
                <a:sym typeface="Wingdings" panose="05000000000000000000" pitchFamily="2" charset="2"/>
              </a:rPr>
              <a:t> more </a:t>
            </a:r>
            <a:r>
              <a:rPr lang="fr-FR" sz="2400" b="1" dirty="0">
                <a:sym typeface="Wingdings" panose="05000000000000000000" pitchFamily="2" charset="2"/>
              </a:rPr>
              <a:t>architectural and spatial </a:t>
            </a:r>
            <a:r>
              <a:rPr lang="fr-FR" sz="2400" b="1" dirty="0" err="1">
                <a:sym typeface="Wingdings" panose="05000000000000000000" pitchFamily="2" charset="2"/>
              </a:rPr>
              <a:t>heterogeneity</a:t>
            </a:r>
            <a:r>
              <a:rPr lang="fr-FR" sz="2400" b="1" dirty="0">
                <a:sym typeface="Wingdings" panose="05000000000000000000" pitchFamily="2" charset="2"/>
              </a:rPr>
              <a:t> </a:t>
            </a:r>
            <a:r>
              <a:rPr lang="fr-FR" sz="2400" dirty="0">
                <a:sym typeface="Wingdings" panose="05000000000000000000" pitchFamily="2" charset="2"/>
              </a:rPr>
              <a:t>of </a:t>
            </a:r>
            <a:r>
              <a:rPr lang="fr-FR" sz="2400" dirty="0" err="1">
                <a:sym typeface="Wingdings" panose="05000000000000000000" pitchFamily="2" charset="2"/>
              </a:rPr>
              <a:t>intercrops</a:t>
            </a:r>
            <a:endParaRPr lang="fr-FR" sz="2400" dirty="0">
              <a:sym typeface="Wingdings" panose="05000000000000000000" pitchFamily="2" charset="2"/>
            </a:endParaRPr>
          </a:p>
        </p:txBody>
      </p:sp>
      <p:sp>
        <p:nvSpPr>
          <p:cNvPr id="10" name="TextBox 9">
            <a:extLst>
              <a:ext uri="{FF2B5EF4-FFF2-40B4-BE49-F238E27FC236}">
                <a16:creationId xmlns:a16="http://schemas.microsoft.com/office/drawing/2014/main" id="{55FA22D2-B079-4D92-8652-2054AAB6232A}"/>
              </a:ext>
            </a:extLst>
          </p:cNvPr>
          <p:cNvSpPr txBox="1"/>
          <p:nvPr/>
        </p:nvSpPr>
        <p:spPr>
          <a:xfrm>
            <a:off x="547423" y="6274630"/>
            <a:ext cx="3207768" cy="307777"/>
          </a:xfrm>
          <a:prstGeom prst="rect">
            <a:avLst/>
          </a:prstGeom>
          <a:noFill/>
        </p:spPr>
        <p:txBody>
          <a:bodyPr wrap="square" rtlCol="0">
            <a:spAutoFit/>
          </a:bodyPr>
          <a:lstStyle/>
          <a:p>
            <a:r>
              <a:rPr lang="fr-FR" sz="1400" dirty="0"/>
              <a:t>(</a:t>
            </a:r>
            <a:r>
              <a:rPr lang="fr-FR" sz="1400" dirty="0" err="1"/>
              <a:t>Gaudio</a:t>
            </a:r>
            <a:r>
              <a:rPr lang="fr-FR" sz="1400" dirty="0"/>
              <a:t> et al., 2019)</a:t>
            </a:r>
            <a:endParaRPr lang="en-US" sz="1400" dirty="0"/>
          </a:p>
        </p:txBody>
      </p:sp>
      <p:sp>
        <p:nvSpPr>
          <p:cNvPr id="11" name="Slide Number Placeholder 10">
            <a:extLst>
              <a:ext uri="{FF2B5EF4-FFF2-40B4-BE49-F238E27FC236}">
                <a16:creationId xmlns:a16="http://schemas.microsoft.com/office/drawing/2014/main" id="{252B2EDF-C232-4BB8-BCFF-E351BAD12D99}"/>
              </a:ext>
            </a:extLst>
          </p:cNvPr>
          <p:cNvSpPr>
            <a:spLocks noGrp="1"/>
          </p:cNvSpPr>
          <p:nvPr>
            <p:ph type="sldNum" sz="quarter" idx="12"/>
          </p:nvPr>
        </p:nvSpPr>
        <p:spPr/>
        <p:txBody>
          <a:bodyPr/>
          <a:lstStyle/>
          <a:p>
            <a:fld id="{27C6CCC6-2BE5-4E42-96A4-D1E8E81A3D8E}" type="slidenum">
              <a:rPr lang="fr-FR" smtClean="0"/>
              <a:t>9</a:t>
            </a:fld>
            <a:endParaRPr lang="fr-FR"/>
          </a:p>
        </p:txBody>
      </p:sp>
      <p:sp>
        <p:nvSpPr>
          <p:cNvPr id="50" name="Rectangle 49">
            <a:extLst>
              <a:ext uri="{FF2B5EF4-FFF2-40B4-BE49-F238E27FC236}">
                <a16:creationId xmlns:a16="http://schemas.microsoft.com/office/drawing/2014/main" id="{927FDD9A-D2DA-4694-ABA6-485917682CF4}"/>
              </a:ext>
            </a:extLst>
          </p:cNvPr>
          <p:cNvSpPr/>
          <p:nvPr/>
        </p:nvSpPr>
        <p:spPr>
          <a:xfrm>
            <a:off x="8201059" y="4339292"/>
            <a:ext cx="3611703" cy="584775"/>
          </a:xfrm>
          <a:prstGeom prst="rect">
            <a:avLst/>
          </a:prstGeom>
        </p:spPr>
        <p:txBody>
          <a:bodyPr wrap="square">
            <a:spAutoFit/>
          </a:bodyPr>
          <a:lstStyle/>
          <a:p>
            <a:r>
              <a:rPr lang="en-US" dirty="0"/>
              <a:t>Hybrid 2.5D formalism in STICS </a:t>
            </a:r>
          </a:p>
          <a:p>
            <a:r>
              <a:rPr lang="en-US" sz="1400" dirty="0"/>
              <a:t>(</a:t>
            </a:r>
            <a:r>
              <a:rPr lang="en-US" sz="1400" dirty="0" err="1"/>
              <a:t>Vezy</a:t>
            </a:r>
            <a:r>
              <a:rPr lang="en-US" sz="1400" dirty="0"/>
              <a:t> et al., 2023)</a:t>
            </a:r>
            <a:endParaRPr lang="fr-FR" sz="1600" dirty="0"/>
          </a:p>
        </p:txBody>
      </p:sp>
      <p:sp>
        <p:nvSpPr>
          <p:cNvPr id="31" name="TextBox 30">
            <a:extLst>
              <a:ext uri="{FF2B5EF4-FFF2-40B4-BE49-F238E27FC236}">
                <a16:creationId xmlns:a16="http://schemas.microsoft.com/office/drawing/2014/main" id="{2D5C4A14-BC09-45FF-80BD-BB97089BA765}"/>
              </a:ext>
            </a:extLst>
          </p:cNvPr>
          <p:cNvSpPr txBox="1"/>
          <p:nvPr/>
        </p:nvSpPr>
        <p:spPr>
          <a:xfrm>
            <a:off x="8201059" y="4989844"/>
            <a:ext cx="3113568" cy="584775"/>
          </a:xfrm>
          <a:prstGeom prst="rect">
            <a:avLst/>
          </a:prstGeom>
          <a:noFill/>
        </p:spPr>
        <p:txBody>
          <a:bodyPr wrap="square" rtlCol="0">
            <a:spAutoFit/>
          </a:bodyPr>
          <a:lstStyle/>
          <a:p>
            <a:r>
              <a:rPr lang="en-US" dirty="0"/>
              <a:t>Incorporate effect of clumping</a:t>
            </a:r>
          </a:p>
          <a:p>
            <a:r>
              <a:rPr lang="en-US" sz="1400" dirty="0"/>
              <a:t>(</a:t>
            </a:r>
            <a:r>
              <a:rPr lang="fr-FR" sz="1400" dirty="0"/>
              <a:t>B</a:t>
            </a:r>
            <a:r>
              <a:rPr lang="en-US" sz="1400" dirty="0" err="1"/>
              <a:t>ailey</a:t>
            </a:r>
            <a:r>
              <a:rPr lang="en-US" sz="1400" dirty="0"/>
              <a:t> et al., 2020)</a:t>
            </a:r>
            <a:endParaRPr lang="en-US" sz="1600" dirty="0"/>
          </a:p>
        </p:txBody>
      </p:sp>
      <p:sp>
        <p:nvSpPr>
          <p:cNvPr id="51" name="Rectangle 50">
            <a:extLst>
              <a:ext uri="{FF2B5EF4-FFF2-40B4-BE49-F238E27FC236}">
                <a16:creationId xmlns:a16="http://schemas.microsoft.com/office/drawing/2014/main" id="{D4FC1B4F-1B37-413D-A2DB-060D0A6D1E42}"/>
              </a:ext>
            </a:extLst>
          </p:cNvPr>
          <p:cNvSpPr/>
          <p:nvPr/>
        </p:nvSpPr>
        <p:spPr>
          <a:xfrm>
            <a:off x="757109" y="4339293"/>
            <a:ext cx="3566412" cy="1077218"/>
          </a:xfrm>
          <a:prstGeom prst="rect">
            <a:avLst/>
          </a:prstGeom>
        </p:spPr>
        <p:txBody>
          <a:bodyPr wrap="square">
            <a:spAutoFit/>
          </a:bodyPr>
          <a:lstStyle/>
          <a:p>
            <a:r>
              <a:rPr lang="en-US" dirty="0"/>
              <a:t>Evaluate turbid medium approach for simulating light interception </a:t>
            </a:r>
          </a:p>
          <a:p>
            <a:r>
              <a:rPr lang="en-US" sz="1400" dirty="0"/>
              <a:t>(</a:t>
            </a:r>
            <a:r>
              <a:rPr lang="fr-FR" sz="1400" dirty="0" err="1"/>
              <a:t>Barillot</a:t>
            </a:r>
            <a:r>
              <a:rPr lang="fr-FR" sz="1400" dirty="0"/>
              <a:t> et al., 2011; Feng et al., 2014; </a:t>
            </a:r>
            <a:r>
              <a:rPr lang="en-US" sz="1400" dirty="0"/>
              <a:t>Ponce de Leon and Bailey, 2019; Li et al., 2024)</a:t>
            </a:r>
            <a:endParaRPr lang="en-US" sz="1600" dirty="0"/>
          </a:p>
        </p:txBody>
      </p:sp>
      <p:sp>
        <p:nvSpPr>
          <p:cNvPr id="52" name="Rectangle 51">
            <a:extLst>
              <a:ext uri="{FF2B5EF4-FFF2-40B4-BE49-F238E27FC236}">
                <a16:creationId xmlns:a16="http://schemas.microsoft.com/office/drawing/2014/main" id="{663C0DE6-BE9C-4AB9-943B-5E9DA0CF9EFE}"/>
              </a:ext>
            </a:extLst>
          </p:cNvPr>
          <p:cNvSpPr/>
          <p:nvPr/>
        </p:nvSpPr>
        <p:spPr>
          <a:xfrm>
            <a:off x="4717025" y="4339292"/>
            <a:ext cx="3113568" cy="1077218"/>
          </a:xfrm>
          <a:prstGeom prst="rect">
            <a:avLst/>
          </a:prstGeom>
        </p:spPr>
        <p:txBody>
          <a:bodyPr wrap="square">
            <a:spAutoFit/>
          </a:bodyPr>
          <a:lstStyle/>
          <a:p>
            <a:r>
              <a:rPr lang="fr-FR" dirty="0"/>
              <a:t>I</a:t>
            </a:r>
            <a:r>
              <a:rPr lang="en-US" dirty="0" err="1"/>
              <a:t>mpact</a:t>
            </a:r>
            <a:r>
              <a:rPr lang="en-US" dirty="0"/>
              <a:t> of plant architectural variations on light interception</a:t>
            </a:r>
            <a:endParaRPr lang="fr-FR" dirty="0"/>
          </a:p>
          <a:p>
            <a:r>
              <a:rPr lang="fr-FR" sz="1400" dirty="0"/>
              <a:t>(</a:t>
            </a:r>
            <a:r>
              <a:rPr lang="fr-FR" sz="1400" dirty="0" err="1"/>
              <a:t>Barillot</a:t>
            </a:r>
            <a:r>
              <a:rPr lang="fr-FR" sz="1400" dirty="0"/>
              <a:t> et al., 2014; T</a:t>
            </a:r>
            <a:r>
              <a:rPr lang="en-US" sz="1400" dirty="0" err="1"/>
              <a:t>ruong</a:t>
            </a:r>
            <a:r>
              <a:rPr lang="en-US" sz="1400" dirty="0"/>
              <a:t> et al, 2015; </a:t>
            </a:r>
            <a:r>
              <a:rPr lang="en-US" sz="1400" dirty="0" err="1"/>
              <a:t>Barillot</a:t>
            </a:r>
            <a:r>
              <a:rPr lang="en-US" sz="1400" dirty="0"/>
              <a:t> et al., 2019, Perez et al., 2019)</a:t>
            </a:r>
          </a:p>
        </p:txBody>
      </p:sp>
      <p:sp>
        <p:nvSpPr>
          <p:cNvPr id="53" name="TextBox 52">
            <a:extLst>
              <a:ext uri="{FF2B5EF4-FFF2-40B4-BE49-F238E27FC236}">
                <a16:creationId xmlns:a16="http://schemas.microsoft.com/office/drawing/2014/main" id="{F63DF9AE-7D49-40AF-9CE8-29C8AD4C08AA}"/>
              </a:ext>
            </a:extLst>
          </p:cNvPr>
          <p:cNvSpPr txBox="1"/>
          <p:nvPr/>
        </p:nvSpPr>
        <p:spPr>
          <a:xfrm>
            <a:off x="757109" y="3146746"/>
            <a:ext cx="3708197" cy="1015663"/>
          </a:xfrm>
          <a:prstGeom prst="rect">
            <a:avLst/>
          </a:prstGeom>
          <a:noFill/>
        </p:spPr>
        <p:txBody>
          <a:bodyPr wrap="square" rtlCol="0">
            <a:spAutoFit/>
          </a:bodyPr>
          <a:lstStyle/>
          <a:p>
            <a:r>
              <a:rPr lang="en-US" sz="2000" b="1" dirty="0"/>
              <a:t>1. Evaluate performance of existing crop model formalisms for heterogeneous canopies</a:t>
            </a:r>
          </a:p>
        </p:txBody>
      </p:sp>
      <p:sp>
        <p:nvSpPr>
          <p:cNvPr id="54" name="TextBox 53">
            <a:extLst>
              <a:ext uri="{FF2B5EF4-FFF2-40B4-BE49-F238E27FC236}">
                <a16:creationId xmlns:a16="http://schemas.microsoft.com/office/drawing/2014/main" id="{5B296E1A-DE6E-41AC-832C-248CACC44DEC}"/>
              </a:ext>
            </a:extLst>
          </p:cNvPr>
          <p:cNvSpPr txBox="1"/>
          <p:nvPr/>
        </p:nvSpPr>
        <p:spPr>
          <a:xfrm>
            <a:off x="4717025" y="3146746"/>
            <a:ext cx="2828261" cy="1015663"/>
          </a:xfrm>
          <a:prstGeom prst="rect">
            <a:avLst/>
          </a:prstGeom>
          <a:noFill/>
        </p:spPr>
        <p:txBody>
          <a:bodyPr wrap="square" rtlCol="0">
            <a:spAutoFit/>
          </a:bodyPr>
          <a:lstStyle/>
          <a:p>
            <a:r>
              <a:rPr lang="en-US" sz="2000" b="1" dirty="0"/>
              <a:t>2. Identify architectural traits of interest for a given process</a:t>
            </a:r>
          </a:p>
        </p:txBody>
      </p:sp>
      <p:sp>
        <p:nvSpPr>
          <p:cNvPr id="55" name="TextBox 54">
            <a:extLst>
              <a:ext uri="{FF2B5EF4-FFF2-40B4-BE49-F238E27FC236}">
                <a16:creationId xmlns:a16="http://schemas.microsoft.com/office/drawing/2014/main" id="{FA0DF061-EC3D-40C5-80C8-0CE5587D7A7E}"/>
              </a:ext>
            </a:extLst>
          </p:cNvPr>
          <p:cNvSpPr txBox="1"/>
          <p:nvPr/>
        </p:nvSpPr>
        <p:spPr>
          <a:xfrm>
            <a:off x="8201059" y="3150940"/>
            <a:ext cx="2828261" cy="707886"/>
          </a:xfrm>
          <a:prstGeom prst="rect">
            <a:avLst/>
          </a:prstGeom>
          <a:noFill/>
        </p:spPr>
        <p:txBody>
          <a:bodyPr wrap="square" rtlCol="0">
            <a:spAutoFit/>
          </a:bodyPr>
          <a:lstStyle/>
          <a:p>
            <a:r>
              <a:rPr lang="en-US" sz="2000" b="1" dirty="0"/>
              <a:t>3. Find new formalisms for crop models</a:t>
            </a:r>
          </a:p>
        </p:txBody>
      </p:sp>
      <p:sp>
        <p:nvSpPr>
          <p:cNvPr id="18" name="Title 1">
            <a:extLst>
              <a:ext uri="{FF2B5EF4-FFF2-40B4-BE49-F238E27FC236}">
                <a16:creationId xmlns:a16="http://schemas.microsoft.com/office/drawing/2014/main" id="{3EDDBF12-1243-4F0D-8812-ED58665DAFBE}"/>
              </a:ext>
            </a:extLst>
          </p:cNvPr>
          <p:cNvSpPr>
            <a:spLocks noGrp="1"/>
          </p:cNvSpPr>
          <p:nvPr>
            <p:ph type="title"/>
          </p:nvPr>
        </p:nvSpPr>
        <p:spPr>
          <a:xfrm>
            <a:off x="547423" y="316405"/>
            <a:ext cx="10515600" cy="1325563"/>
          </a:xfrm>
        </p:spPr>
        <p:txBody>
          <a:bodyPr>
            <a:normAutofit/>
          </a:bodyPr>
          <a:lstStyle/>
          <a:p>
            <a:r>
              <a:rPr lang="fr-FR" sz="3600" dirty="0">
                <a:sym typeface="Wingdings" panose="05000000000000000000" pitchFamily="2" charset="2"/>
              </a:rPr>
              <a:t>How to </a:t>
            </a:r>
            <a:r>
              <a:rPr lang="fr-FR" sz="3600" dirty="0" err="1">
                <a:sym typeface="Wingdings" panose="05000000000000000000" pitchFamily="2" charset="2"/>
              </a:rPr>
              <a:t>benefit</a:t>
            </a:r>
            <a:r>
              <a:rPr lang="fr-FR" sz="3600" dirty="0">
                <a:sym typeface="Wingdings" panose="05000000000000000000" pitchFamily="2" charset="2"/>
              </a:rPr>
              <a:t> </a:t>
            </a:r>
            <a:r>
              <a:rPr lang="fr-FR" sz="3600" dirty="0" err="1">
                <a:sym typeface="Wingdings" panose="05000000000000000000" pitchFamily="2" charset="2"/>
              </a:rPr>
              <a:t>from</a:t>
            </a:r>
            <a:r>
              <a:rPr lang="fr-FR" sz="3600" dirty="0">
                <a:sym typeface="Wingdings" panose="05000000000000000000" pitchFamily="2" charset="2"/>
              </a:rPr>
              <a:t> the best of </a:t>
            </a:r>
            <a:r>
              <a:rPr lang="fr-FR" sz="3600" dirty="0" err="1">
                <a:sym typeface="Wingdings" panose="05000000000000000000" pitchFamily="2" charset="2"/>
              </a:rPr>
              <a:t>both</a:t>
            </a:r>
            <a:r>
              <a:rPr lang="fr-FR" sz="3600" dirty="0">
                <a:sym typeface="Wingdings" panose="05000000000000000000" pitchFamily="2" charset="2"/>
              </a:rPr>
              <a:t> </a:t>
            </a:r>
            <a:r>
              <a:rPr lang="fr-FR" sz="3600" dirty="0" err="1">
                <a:sym typeface="Wingdings" panose="05000000000000000000" pitchFamily="2" charset="2"/>
              </a:rPr>
              <a:t>approaches</a:t>
            </a:r>
            <a:r>
              <a:rPr lang="fr-FR" sz="3600" dirty="0">
                <a:sym typeface="Wingdings" panose="05000000000000000000" pitchFamily="2" charset="2"/>
              </a:rPr>
              <a:t> for </a:t>
            </a:r>
            <a:r>
              <a:rPr lang="fr-FR" sz="3600" dirty="0" err="1">
                <a:sym typeface="Wingdings" panose="05000000000000000000" pitchFamily="2" charset="2"/>
              </a:rPr>
              <a:t>intercrops</a:t>
            </a:r>
            <a:r>
              <a:rPr lang="fr-FR" sz="3600" dirty="0">
                <a:sym typeface="Wingdings" panose="05000000000000000000" pitchFamily="2" charset="2"/>
              </a:rPr>
              <a:t>?</a:t>
            </a:r>
            <a:endParaRPr lang="en-US" sz="3400" dirty="0"/>
          </a:p>
        </p:txBody>
      </p:sp>
    </p:spTree>
    <p:extLst>
      <p:ext uri="{BB962C8B-B14F-4D97-AF65-F5344CB8AC3E}">
        <p14:creationId xmlns:p14="http://schemas.microsoft.com/office/powerpoint/2010/main" val="4129925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807CF0F-B1FE-4895-A46C-A70E498E4EDC}"/>
              </a:ext>
            </a:extLst>
          </p:cNvPr>
          <p:cNvSpPr/>
          <p:nvPr/>
        </p:nvSpPr>
        <p:spPr>
          <a:xfrm>
            <a:off x="307908" y="2304661"/>
            <a:ext cx="3699346" cy="4319683"/>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9057B95-F35D-C693-AE48-F6224EB5BCA4}"/>
              </a:ext>
            </a:extLst>
          </p:cNvPr>
          <p:cNvSpPr>
            <a:spLocks noGrp="1"/>
          </p:cNvSpPr>
          <p:nvPr>
            <p:ph type="title"/>
          </p:nvPr>
        </p:nvSpPr>
        <p:spPr>
          <a:xfrm>
            <a:off x="399548" y="389"/>
            <a:ext cx="10515600" cy="1325563"/>
          </a:xfrm>
        </p:spPr>
        <p:txBody>
          <a:bodyPr>
            <a:normAutofit/>
          </a:bodyPr>
          <a:lstStyle/>
          <a:p>
            <a:r>
              <a:rPr lang="fr-FR" sz="3600" dirty="0" err="1"/>
              <a:t>My</a:t>
            </a:r>
            <a:r>
              <a:rPr lang="fr-FR" sz="3600" dirty="0"/>
              <a:t> PhD : </a:t>
            </a:r>
            <a:r>
              <a:rPr lang="fr-FR" sz="2800" dirty="0" err="1"/>
              <a:t>Multiscale</a:t>
            </a:r>
            <a:r>
              <a:rPr lang="fr-FR" sz="2800" dirty="0"/>
              <a:t> </a:t>
            </a:r>
            <a:r>
              <a:rPr lang="fr-FR" sz="2800" dirty="0" err="1"/>
              <a:t>hybrid</a:t>
            </a:r>
            <a:r>
              <a:rPr lang="fr-FR" sz="2800" dirty="0"/>
              <a:t> </a:t>
            </a:r>
            <a:r>
              <a:rPr lang="fr-FR" sz="2800" dirty="0" err="1"/>
              <a:t>modelling</a:t>
            </a:r>
            <a:r>
              <a:rPr lang="fr-FR" sz="2800" dirty="0"/>
              <a:t> for </a:t>
            </a:r>
            <a:r>
              <a:rPr lang="fr-FR" sz="2800" dirty="0" err="1"/>
              <a:t>intercrops</a:t>
            </a:r>
            <a:r>
              <a:rPr lang="fr-FR" sz="2800" dirty="0"/>
              <a:t> </a:t>
            </a:r>
          </a:p>
        </p:txBody>
      </p:sp>
      <p:sp>
        <p:nvSpPr>
          <p:cNvPr id="3" name="Espace réservé du contenu 2">
            <a:extLst>
              <a:ext uri="{FF2B5EF4-FFF2-40B4-BE49-F238E27FC236}">
                <a16:creationId xmlns:a16="http://schemas.microsoft.com/office/drawing/2014/main" id="{7D8CCA93-EA18-4579-6817-2FB13627CCFE}"/>
              </a:ext>
            </a:extLst>
          </p:cNvPr>
          <p:cNvSpPr>
            <a:spLocks noGrp="1"/>
          </p:cNvSpPr>
          <p:nvPr>
            <p:ph idx="1"/>
          </p:nvPr>
        </p:nvSpPr>
        <p:spPr>
          <a:xfrm>
            <a:off x="510149" y="2541726"/>
            <a:ext cx="3296102" cy="4082618"/>
          </a:xfrm>
        </p:spPr>
        <p:txBody>
          <a:bodyPr>
            <a:normAutofit lnSpcReduction="10000"/>
          </a:bodyPr>
          <a:lstStyle/>
          <a:p>
            <a:pPr marL="0" indent="0">
              <a:buNone/>
            </a:pPr>
            <a:r>
              <a:rPr lang="fr-FR" b="1" dirty="0" err="1"/>
              <a:t>Chapter</a:t>
            </a:r>
            <a:r>
              <a:rPr lang="fr-FR" b="1" dirty="0"/>
              <a:t> I </a:t>
            </a:r>
          </a:p>
          <a:p>
            <a:pPr marL="0" indent="0">
              <a:buNone/>
            </a:pPr>
            <a:r>
              <a:rPr lang="fr-FR" sz="2400" dirty="0" err="1"/>
              <a:t>ArchiCrop</a:t>
            </a:r>
            <a:r>
              <a:rPr lang="fr-FR" sz="2400" dirty="0"/>
              <a:t>, </a:t>
            </a:r>
            <a:br>
              <a:rPr lang="fr-FR" sz="2400" dirty="0"/>
            </a:br>
            <a:r>
              <a:rPr lang="fr-FR" sz="2400" dirty="0"/>
              <a:t>a 3D </a:t>
            </a:r>
            <a:r>
              <a:rPr lang="fr-FR" sz="2400" dirty="0" err="1"/>
              <a:t>dynamic</a:t>
            </a:r>
            <a:r>
              <a:rPr lang="fr-FR" sz="2400" dirty="0"/>
              <a:t> </a:t>
            </a:r>
            <a:r>
              <a:rPr lang="fr-FR" sz="2400" dirty="0" err="1"/>
              <a:t>parametric</a:t>
            </a:r>
            <a:r>
              <a:rPr lang="fr-FR" sz="2400" dirty="0"/>
              <a:t> model </a:t>
            </a:r>
          </a:p>
          <a:p>
            <a:pPr marL="0" indent="0">
              <a:buNone/>
            </a:pPr>
            <a:endParaRPr lang="fr-FR" sz="2400" dirty="0"/>
          </a:p>
          <a:p>
            <a:pPr marL="0" indent="0">
              <a:buNone/>
            </a:pPr>
            <a:r>
              <a:rPr lang="en-US" sz="2400" i="1" dirty="0"/>
              <a:t>How to conceive a </a:t>
            </a:r>
            <a:r>
              <a:rPr lang="en-US" sz="2400" b="1" i="1" dirty="0"/>
              <a:t>3D plant model</a:t>
            </a:r>
            <a:r>
              <a:rPr lang="en-US" sz="2400" i="1" dirty="0"/>
              <a:t> with </a:t>
            </a:r>
            <a:r>
              <a:rPr lang="en-US" sz="2400" b="1" i="1" dirty="0"/>
              <a:t>few architectural and developmental parameters </a:t>
            </a:r>
            <a:r>
              <a:rPr lang="en-US" sz="2400" i="1" dirty="0"/>
              <a:t>and with a canopy-scale </a:t>
            </a:r>
            <a:r>
              <a:rPr lang="en-US" sz="2400" b="1" i="1" dirty="0"/>
              <a:t>constraint on growth </a:t>
            </a:r>
            <a:r>
              <a:rPr lang="en-US" sz="2400" i="1" dirty="0"/>
              <a:t>? </a:t>
            </a:r>
          </a:p>
        </p:txBody>
      </p:sp>
      <p:sp>
        <p:nvSpPr>
          <p:cNvPr id="9" name="TextBox 8">
            <a:extLst>
              <a:ext uri="{FF2B5EF4-FFF2-40B4-BE49-F238E27FC236}">
                <a16:creationId xmlns:a16="http://schemas.microsoft.com/office/drawing/2014/main" id="{4B023A90-5157-4005-A976-38BB0A6FFD60}"/>
              </a:ext>
            </a:extLst>
          </p:cNvPr>
          <p:cNvSpPr txBox="1"/>
          <p:nvPr/>
        </p:nvSpPr>
        <p:spPr>
          <a:xfrm>
            <a:off x="1261993" y="1068530"/>
            <a:ext cx="9555989" cy="954107"/>
          </a:xfrm>
          <a:prstGeom prst="rect">
            <a:avLst/>
          </a:prstGeom>
          <a:noFill/>
        </p:spPr>
        <p:txBody>
          <a:bodyPr wrap="square" rtlCol="0">
            <a:spAutoFit/>
          </a:bodyPr>
          <a:lstStyle/>
          <a:p>
            <a:pPr algn="ctr"/>
            <a:r>
              <a:rPr lang="en-US" sz="2800" i="1" dirty="0"/>
              <a:t>For given processes, what in plant architecture should we consider in intercrop models?</a:t>
            </a:r>
            <a:endParaRPr lang="fr-FR" sz="2800" i="1" dirty="0"/>
          </a:p>
        </p:txBody>
      </p:sp>
      <p:sp>
        <p:nvSpPr>
          <p:cNvPr id="10" name="Slide Number Placeholder 9">
            <a:extLst>
              <a:ext uri="{FF2B5EF4-FFF2-40B4-BE49-F238E27FC236}">
                <a16:creationId xmlns:a16="http://schemas.microsoft.com/office/drawing/2014/main" id="{B067720C-0A92-4BD7-8CEE-EB4786CC39DA}"/>
              </a:ext>
            </a:extLst>
          </p:cNvPr>
          <p:cNvSpPr>
            <a:spLocks noGrp="1"/>
          </p:cNvSpPr>
          <p:nvPr>
            <p:ph type="sldNum" sz="quarter" idx="12"/>
          </p:nvPr>
        </p:nvSpPr>
        <p:spPr/>
        <p:txBody>
          <a:bodyPr/>
          <a:lstStyle/>
          <a:p>
            <a:fld id="{27C6CCC6-2BE5-4E42-96A4-D1E8E81A3D8E}" type="slidenum">
              <a:rPr lang="fr-FR" smtClean="0"/>
              <a:t>10</a:t>
            </a:fld>
            <a:endParaRPr lang="fr-FR" dirty="0"/>
          </a:p>
        </p:txBody>
      </p:sp>
    </p:spTree>
    <p:extLst>
      <p:ext uri="{BB962C8B-B14F-4D97-AF65-F5344CB8AC3E}">
        <p14:creationId xmlns:p14="http://schemas.microsoft.com/office/powerpoint/2010/main" val="293202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72EDD71F-B612-426D-B44A-87B585DE68DA}"/>
              </a:ext>
            </a:extLst>
          </p:cNvPr>
          <p:cNvSpPr/>
          <p:nvPr/>
        </p:nvSpPr>
        <p:spPr>
          <a:xfrm>
            <a:off x="4134303" y="2304661"/>
            <a:ext cx="3811370" cy="4319683"/>
          </a:xfrm>
          <a:prstGeom prst="roundRect">
            <a:avLst/>
          </a:prstGeom>
          <a:solidFill>
            <a:srgbClr val="F39200">
              <a:alpha val="69804"/>
            </a:srgbClr>
          </a:solidFill>
          <a:ln>
            <a:solidFill>
              <a:srgbClr val="F39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5807CF0F-B1FE-4895-A46C-A70E498E4EDC}"/>
              </a:ext>
            </a:extLst>
          </p:cNvPr>
          <p:cNvSpPr/>
          <p:nvPr/>
        </p:nvSpPr>
        <p:spPr>
          <a:xfrm>
            <a:off x="307908" y="2304661"/>
            <a:ext cx="3699346" cy="4319683"/>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9057B95-F35D-C693-AE48-F6224EB5BCA4}"/>
              </a:ext>
            </a:extLst>
          </p:cNvPr>
          <p:cNvSpPr>
            <a:spLocks noGrp="1"/>
          </p:cNvSpPr>
          <p:nvPr>
            <p:ph type="title"/>
          </p:nvPr>
        </p:nvSpPr>
        <p:spPr>
          <a:xfrm>
            <a:off x="399548" y="389"/>
            <a:ext cx="10515600" cy="1325563"/>
          </a:xfrm>
        </p:spPr>
        <p:txBody>
          <a:bodyPr>
            <a:normAutofit/>
          </a:bodyPr>
          <a:lstStyle/>
          <a:p>
            <a:r>
              <a:rPr lang="fr-FR" sz="3600" dirty="0" err="1"/>
              <a:t>My</a:t>
            </a:r>
            <a:r>
              <a:rPr lang="fr-FR" sz="3600" dirty="0"/>
              <a:t> PhD : </a:t>
            </a:r>
            <a:r>
              <a:rPr lang="fr-FR" sz="2800" dirty="0" err="1"/>
              <a:t>Multiscale</a:t>
            </a:r>
            <a:r>
              <a:rPr lang="fr-FR" sz="2800" dirty="0"/>
              <a:t> </a:t>
            </a:r>
            <a:r>
              <a:rPr lang="fr-FR" sz="2800" dirty="0" err="1"/>
              <a:t>hybrid</a:t>
            </a:r>
            <a:r>
              <a:rPr lang="fr-FR" sz="2800" dirty="0"/>
              <a:t> </a:t>
            </a:r>
            <a:r>
              <a:rPr lang="fr-FR" sz="2800" dirty="0" err="1"/>
              <a:t>modelling</a:t>
            </a:r>
            <a:r>
              <a:rPr lang="fr-FR" sz="2800" dirty="0"/>
              <a:t> for </a:t>
            </a:r>
            <a:r>
              <a:rPr lang="fr-FR" sz="2800" dirty="0" err="1"/>
              <a:t>intercrops</a:t>
            </a:r>
            <a:r>
              <a:rPr lang="fr-FR" sz="2800" dirty="0"/>
              <a:t> </a:t>
            </a:r>
          </a:p>
        </p:txBody>
      </p:sp>
      <p:sp>
        <p:nvSpPr>
          <p:cNvPr id="3" name="Espace réservé du contenu 2">
            <a:extLst>
              <a:ext uri="{FF2B5EF4-FFF2-40B4-BE49-F238E27FC236}">
                <a16:creationId xmlns:a16="http://schemas.microsoft.com/office/drawing/2014/main" id="{7D8CCA93-EA18-4579-6817-2FB13627CCFE}"/>
              </a:ext>
            </a:extLst>
          </p:cNvPr>
          <p:cNvSpPr>
            <a:spLocks noGrp="1"/>
          </p:cNvSpPr>
          <p:nvPr>
            <p:ph idx="1"/>
          </p:nvPr>
        </p:nvSpPr>
        <p:spPr>
          <a:xfrm>
            <a:off x="510149" y="2541726"/>
            <a:ext cx="3296102" cy="4082618"/>
          </a:xfrm>
        </p:spPr>
        <p:txBody>
          <a:bodyPr>
            <a:normAutofit lnSpcReduction="10000"/>
          </a:bodyPr>
          <a:lstStyle/>
          <a:p>
            <a:pPr marL="0" indent="0">
              <a:buNone/>
            </a:pPr>
            <a:r>
              <a:rPr lang="fr-FR" b="1" dirty="0" err="1"/>
              <a:t>Chapter</a:t>
            </a:r>
            <a:r>
              <a:rPr lang="fr-FR" b="1" dirty="0"/>
              <a:t> I </a:t>
            </a:r>
          </a:p>
          <a:p>
            <a:pPr marL="0" indent="0">
              <a:buNone/>
            </a:pPr>
            <a:r>
              <a:rPr lang="fr-FR" sz="2400" dirty="0" err="1"/>
              <a:t>ArchiCrop</a:t>
            </a:r>
            <a:r>
              <a:rPr lang="fr-FR" sz="2400" dirty="0"/>
              <a:t>, </a:t>
            </a:r>
            <a:br>
              <a:rPr lang="fr-FR" sz="2400" dirty="0"/>
            </a:br>
            <a:r>
              <a:rPr lang="fr-FR" sz="2400" dirty="0"/>
              <a:t>a 3D </a:t>
            </a:r>
            <a:r>
              <a:rPr lang="fr-FR" sz="2400" dirty="0" err="1"/>
              <a:t>dynamic</a:t>
            </a:r>
            <a:r>
              <a:rPr lang="fr-FR" sz="2400" dirty="0"/>
              <a:t> </a:t>
            </a:r>
            <a:r>
              <a:rPr lang="fr-FR" sz="2400" dirty="0" err="1"/>
              <a:t>parametric</a:t>
            </a:r>
            <a:r>
              <a:rPr lang="fr-FR" sz="2400" dirty="0"/>
              <a:t> model </a:t>
            </a:r>
          </a:p>
          <a:p>
            <a:pPr marL="0" indent="0">
              <a:buNone/>
            </a:pPr>
            <a:endParaRPr lang="fr-FR" sz="2400" dirty="0"/>
          </a:p>
          <a:p>
            <a:pPr marL="0" indent="0">
              <a:buNone/>
            </a:pPr>
            <a:r>
              <a:rPr lang="en-US" sz="2400" i="1" dirty="0"/>
              <a:t>How to conceive a </a:t>
            </a:r>
            <a:r>
              <a:rPr lang="en-US" sz="2400" b="1" i="1" dirty="0"/>
              <a:t>3D plant model</a:t>
            </a:r>
            <a:r>
              <a:rPr lang="en-US" sz="2400" i="1" dirty="0"/>
              <a:t> with </a:t>
            </a:r>
            <a:r>
              <a:rPr lang="en-US" sz="2400" b="1" i="1" dirty="0"/>
              <a:t>few architectural and developmental parameters </a:t>
            </a:r>
            <a:r>
              <a:rPr lang="en-US" sz="2400" i="1" dirty="0"/>
              <a:t>and with a canopy-scale </a:t>
            </a:r>
            <a:r>
              <a:rPr lang="en-US" sz="2400" b="1" i="1" dirty="0"/>
              <a:t>constraint on growth </a:t>
            </a:r>
            <a:r>
              <a:rPr lang="en-US" sz="2400" i="1" dirty="0"/>
              <a:t>? </a:t>
            </a:r>
          </a:p>
        </p:txBody>
      </p:sp>
      <p:sp>
        <p:nvSpPr>
          <p:cNvPr id="6" name="Espace réservé du contenu 2">
            <a:extLst>
              <a:ext uri="{FF2B5EF4-FFF2-40B4-BE49-F238E27FC236}">
                <a16:creationId xmlns:a16="http://schemas.microsoft.com/office/drawing/2014/main" id="{6A1F6667-290D-49AD-9176-73ACA1C1F769}"/>
              </a:ext>
            </a:extLst>
          </p:cNvPr>
          <p:cNvSpPr txBox="1">
            <a:spLocks/>
          </p:cNvSpPr>
          <p:nvPr/>
        </p:nvSpPr>
        <p:spPr>
          <a:xfrm>
            <a:off x="4326563" y="2541726"/>
            <a:ext cx="3514495" cy="381462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err="1"/>
              <a:t>Chapter</a:t>
            </a:r>
            <a:r>
              <a:rPr lang="fr-FR" b="1" dirty="0"/>
              <a:t> II </a:t>
            </a:r>
          </a:p>
          <a:p>
            <a:pPr marL="0" indent="0">
              <a:buNone/>
            </a:pPr>
            <a:r>
              <a:rPr lang="fr-FR" sz="2400" dirty="0" err="1"/>
              <a:t>Uncertainty</a:t>
            </a:r>
            <a:r>
              <a:rPr lang="fr-FR" sz="2400" dirty="0"/>
              <a:t> </a:t>
            </a:r>
            <a:r>
              <a:rPr lang="fr-FR" sz="2400" dirty="0" err="1"/>
              <a:t>analysis</a:t>
            </a:r>
            <a:r>
              <a:rPr lang="fr-FR" sz="2400" dirty="0"/>
              <a:t> of </a:t>
            </a:r>
            <a:r>
              <a:rPr lang="fr-FR" sz="2400" dirty="0" err="1"/>
              <a:t>intercrop</a:t>
            </a:r>
            <a:r>
              <a:rPr lang="fr-FR" sz="2400" dirty="0"/>
              <a:t> </a:t>
            </a:r>
            <a:r>
              <a:rPr lang="fr-FR" sz="2400" dirty="0" err="1"/>
              <a:t>models</a:t>
            </a:r>
            <a:r>
              <a:rPr lang="fr-FR" sz="2400" dirty="0"/>
              <a:t> </a:t>
            </a:r>
            <a:r>
              <a:rPr lang="fr-FR" sz="2400" dirty="0" err="1"/>
              <a:t>considering</a:t>
            </a:r>
            <a:r>
              <a:rPr lang="fr-FR" sz="2400" dirty="0"/>
              <a:t> architectural </a:t>
            </a:r>
            <a:r>
              <a:rPr lang="fr-FR" sz="2400" dirty="0" err="1"/>
              <a:t>parameters</a:t>
            </a:r>
            <a:endParaRPr lang="fr-FR" sz="2400" dirty="0"/>
          </a:p>
          <a:p>
            <a:pPr marL="0" indent="0">
              <a:buNone/>
            </a:pPr>
            <a:endParaRPr lang="fr-FR" sz="2400" dirty="0"/>
          </a:p>
          <a:p>
            <a:pPr marL="0" indent="0">
              <a:buNone/>
            </a:pPr>
            <a:r>
              <a:rPr lang="en-US" sz="2400" i="1" dirty="0"/>
              <a:t>Which </a:t>
            </a:r>
            <a:r>
              <a:rPr lang="en-US" sz="2400" b="1" i="1" dirty="0"/>
              <a:t>plant architectural traits</a:t>
            </a:r>
            <a:r>
              <a:rPr lang="en-US" sz="2400" i="1" dirty="0"/>
              <a:t> and </a:t>
            </a:r>
            <a:r>
              <a:rPr lang="en-US" sz="2400" b="1" i="1" dirty="0"/>
              <a:t>sowing pattern </a:t>
            </a:r>
            <a:r>
              <a:rPr lang="en-US" sz="2400" i="1" dirty="0"/>
              <a:t>bring most of the </a:t>
            </a:r>
            <a:r>
              <a:rPr lang="en-US" sz="2400" b="1" i="1" dirty="0"/>
              <a:t>uncertainty</a:t>
            </a:r>
            <a:r>
              <a:rPr lang="en-US" sz="2400" i="1" dirty="0"/>
              <a:t> and should be considered</a:t>
            </a:r>
            <a:r>
              <a:rPr lang="en-US" sz="2400" b="1" i="1" dirty="0"/>
              <a:t> </a:t>
            </a:r>
            <a:r>
              <a:rPr lang="en-US" sz="2400" i="1" dirty="0"/>
              <a:t>explicitly</a:t>
            </a:r>
            <a:r>
              <a:rPr lang="en-US" sz="2400" b="1" i="1" dirty="0"/>
              <a:t> </a:t>
            </a:r>
            <a:r>
              <a:rPr lang="en-US" sz="2400" i="1" dirty="0"/>
              <a:t>in</a:t>
            </a:r>
            <a:r>
              <a:rPr lang="en-US" sz="2400" b="1" i="1" dirty="0"/>
              <a:t> </a:t>
            </a:r>
            <a:r>
              <a:rPr lang="en-US" sz="2400" i="1" dirty="0"/>
              <a:t>crop models?</a:t>
            </a:r>
          </a:p>
          <a:p>
            <a:pPr marL="0" indent="0">
              <a:buNone/>
            </a:pPr>
            <a:endParaRPr lang="fr-FR" sz="2400" dirty="0"/>
          </a:p>
        </p:txBody>
      </p:sp>
      <p:sp>
        <p:nvSpPr>
          <p:cNvPr id="9" name="TextBox 8">
            <a:extLst>
              <a:ext uri="{FF2B5EF4-FFF2-40B4-BE49-F238E27FC236}">
                <a16:creationId xmlns:a16="http://schemas.microsoft.com/office/drawing/2014/main" id="{4B023A90-5157-4005-A976-38BB0A6FFD60}"/>
              </a:ext>
            </a:extLst>
          </p:cNvPr>
          <p:cNvSpPr txBox="1"/>
          <p:nvPr/>
        </p:nvSpPr>
        <p:spPr>
          <a:xfrm>
            <a:off x="1261993" y="1068530"/>
            <a:ext cx="9555989" cy="954107"/>
          </a:xfrm>
          <a:prstGeom prst="rect">
            <a:avLst/>
          </a:prstGeom>
          <a:noFill/>
        </p:spPr>
        <p:txBody>
          <a:bodyPr wrap="square" rtlCol="0">
            <a:spAutoFit/>
          </a:bodyPr>
          <a:lstStyle/>
          <a:p>
            <a:pPr algn="ctr"/>
            <a:r>
              <a:rPr lang="en-US" sz="2800" i="1" dirty="0"/>
              <a:t>For given processes, what in plant architecture should we consider in intercrop models?</a:t>
            </a:r>
            <a:endParaRPr lang="fr-FR" sz="2800" i="1" dirty="0"/>
          </a:p>
        </p:txBody>
      </p:sp>
      <p:sp>
        <p:nvSpPr>
          <p:cNvPr id="10" name="Slide Number Placeholder 9">
            <a:extLst>
              <a:ext uri="{FF2B5EF4-FFF2-40B4-BE49-F238E27FC236}">
                <a16:creationId xmlns:a16="http://schemas.microsoft.com/office/drawing/2014/main" id="{B067720C-0A92-4BD7-8CEE-EB4786CC39DA}"/>
              </a:ext>
            </a:extLst>
          </p:cNvPr>
          <p:cNvSpPr>
            <a:spLocks noGrp="1"/>
          </p:cNvSpPr>
          <p:nvPr>
            <p:ph type="sldNum" sz="quarter" idx="12"/>
          </p:nvPr>
        </p:nvSpPr>
        <p:spPr/>
        <p:txBody>
          <a:bodyPr/>
          <a:lstStyle/>
          <a:p>
            <a:fld id="{27C6CCC6-2BE5-4E42-96A4-D1E8E81A3D8E}" type="slidenum">
              <a:rPr lang="fr-FR" smtClean="0"/>
              <a:t>11</a:t>
            </a:fld>
            <a:endParaRPr lang="fr-FR" dirty="0"/>
          </a:p>
        </p:txBody>
      </p:sp>
    </p:spTree>
    <p:extLst>
      <p:ext uri="{BB962C8B-B14F-4D97-AF65-F5344CB8AC3E}">
        <p14:creationId xmlns:p14="http://schemas.microsoft.com/office/powerpoint/2010/main" val="527100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54E23F65-F125-464F-A7F3-FBD4BB6F6317}"/>
              </a:ext>
            </a:extLst>
          </p:cNvPr>
          <p:cNvSpPr/>
          <p:nvPr/>
        </p:nvSpPr>
        <p:spPr>
          <a:xfrm>
            <a:off x="8072722" y="2304661"/>
            <a:ext cx="3811370" cy="4304065"/>
          </a:xfrm>
          <a:prstGeom prst="roundRect">
            <a:avLst/>
          </a:prstGeom>
          <a:solidFill>
            <a:srgbClr val="C28745">
              <a:alpha val="69804"/>
            </a:srgbClr>
          </a:solidFill>
          <a:ln>
            <a:solidFill>
              <a:srgbClr val="C28745"/>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72EDD71F-B612-426D-B44A-87B585DE68DA}"/>
              </a:ext>
            </a:extLst>
          </p:cNvPr>
          <p:cNvSpPr/>
          <p:nvPr/>
        </p:nvSpPr>
        <p:spPr>
          <a:xfrm>
            <a:off x="4134303" y="2304661"/>
            <a:ext cx="3811370" cy="4319683"/>
          </a:xfrm>
          <a:prstGeom prst="roundRect">
            <a:avLst/>
          </a:prstGeom>
          <a:solidFill>
            <a:srgbClr val="F39200">
              <a:alpha val="69804"/>
            </a:srgbClr>
          </a:solidFill>
          <a:ln>
            <a:solidFill>
              <a:srgbClr val="F392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5807CF0F-B1FE-4895-A46C-A70E498E4EDC}"/>
              </a:ext>
            </a:extLst>
          </p:cNvPr>
          <p:cNvSpPr/>
          <p:nvPr/>
        </p:nvSpPr>
        <p:spPr>
          <a:xfrm>
            <a:off x="307908" y="2304661"/>
            <a:ext cx="3699346" cy="4319683"/>
          </a:xfrm>
          <a:prstGeom prst="roundRect">
            <a:avLst/>
          </a:prstGeom>
          <a:solidFill>
            <a:srgbClr val="399758">
              <a:alpha val="69804"/>
            </a:srgbClr>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9057B95-F35D-C693-AE48-F6224EB5BCA4}"/>
              </a:ext>
            </a:extLst>
          </p:cNvPr>
          <p:cNvSpPr>
            <a:spLocks noGrp="1"/>
          </p:cNvSpPr>
          <p:nvPr>
            <p:ph type="title"/>
          </p:nvPr>
        </p:nvSpPr>
        <p:spPr>
          <a:xfrm>
            <a:off x="399548" y="389"/>
            <a:ext cx="10515600" cy="1325563"/>
          </a:xfrm>
        </p:spPr>
        <p:txBody>
          <a:bodyPr>
            <a:normAutofit/>
          </a:bodyPr>
          <a:lstStyle/>
          <a:p>
            <a:r>
              <a:rPr lang="fr-FR" sz="3600" dirty="0" err="1"/>
              <a:t>My</a:t>
            </a:r>
            <a:r>
              <a:rPr lang="fr-FR" sz="3600" dirty="0"/>
              <a:t> PhD : </a:t>
            </a:r>
            <a:r>
              <a:rPr lang="fr-FR" sz="2800" dirty="0" err="1"/>
              <a:t>Multiscale</a:t>
            </a:r>
            <a:r>
              <a:rPr lang="fr-FR" sz="2800" dirty="0"/>
              <a:t> </a:t>
            </a:r>
            <a:r>
              <a:rPr lang="fr-FR" sz="2800" dirty="0" err="1"/>
              <a:t>hybrid</a:t>
            </a:r>
            <a:r>
              <a:rPr lang="fr-FR" sz="2800" dirty="0"/>
              <a:t> </a:t>
            </a:r>
            <a:r>
              <a:rPr lang="fr-FR" sz="2800" dirty="0" err="1"/>
              <a:t>modelling</a:t>
            </a:r>
            <a:r>
              <a:rPr lang="fr-FR" sz="2800" dirty="0"/>
              <a:t> for </a:t>
            </a:r>
            <a:r>
              <a:rPr lang="fr-FR" sz="2800" dirty="0" err="1"/>
              <a:t>intercrops</a:t>
            </a:r>
            <a:r>
              <a:rPr lang="fr-FR" sz="2800" dirty="0"/>
              <a:t> </a:t>
            </a:r>
          </a:p>
        </p:txBody>
      </p:sp>
      <p:sp>
        <p:nvSpPr>
          <p:cNvPr id="3" name="Espace réservé du contenu 2">
            <a:extLst>
              <a:ext uri="{FF2B5EF4-FFF2-40B4-BE49-F238E27FC236}">
                <a16:creationId xmlns:a16="http://schemas.microsoft.com/office/drawing/2014/main" id="{7D8CCA93-EA18-4579-6817-2FB13627CCFE}"/>
              </a:ext>
            </a:extLst>
          </p:cNvPr>
          <p:cNvSpPr>
            <a:spLocks noGrp="1"/>
          </p:cNvSpPr>
          <p:nvPr>
            <p:ph idx="1"/>
          </p:nvPr>
        </p:nvSpPr>
        <p:spPr>
          <a:xfrm>
            <a:off x="510149" y="2541726"/>
            <a:ext cx="3296102" cy="4082618"/>
          </a:xfrm>
        </p:spPr>
        <p:txBody>
          <a:bodyPr>
            <a:normAutofit lnSpcReduction="10000"/>
          </a:bodyPr>
          <a:lstStyle/>
          <a:p>
            <a:pPr marL="0" indent="0">
              <a:buNone/>
            </a:pPr>
            <a:r>
              <a:rPr lang="fr-FR" b="1" dirty="0" err="1"/>
              <a:t>Chapter</a:t>
            </a:r>
            <a:r>
              <a:rPr lang="fr-FR" b="1" dirty="0"/>
              <a:t> I </a:t>
            </a:r>
          </a:p>
          <a:p>
            <a:pPr marL="0" indent="0">
              <a:buNone/>
            </a:pPr>
            <a:r>
              <a:rPr lang="fr-FR" sz="2400" dirty="0" err="1"/>
              <a:t>ArchiCrop</a:t>
            </a:r>
            <a:r>
              <a:rPr lang="fr-FR" sz="2400" dirty="0"/>
              <a:t>, </a:t>
            </a:r>
            <a:br>
              <a:rPr lang="fr-FR" sz="2400" dirty="0"/>
            </a:br>
            <a:r>
              <a:rPr lang="fr-FR" sz="2400" dirty="0"/>
              <a:t>a 3D </a:t>
            </a:r>
            <a:r>
              <a:rPr lang="fr-FR" sz="2400" dirty="0" err="1"/>
              <a:t>dynamic</a:t>
            </a:r>
            <a:r>
              <a:rPr lang="fr-FR" sz="2400" dirty="0"/>
              <a:t> </a:t>
            </a:r>
            <a:r>
              <a:rPr lang="fr-FR" sz="2400" dirty="0" err="1"/>
              <a:t>parametric</a:t>
            </a:r>
            <a:r>
              <a:rPr lang="fr-FR" sz="2400" dirty="0"/>
              <a:t> model </a:t>
            </a:r>
          </a:p>
          <a:p>
            <a:pPr marL="0" indent="0">
              <a:buNone/>
            </a:pPr>
            <a:endParaRPr lang="fr-FR" sz="2400" dirty="0"/>
          </a:p>
          <a:p>
            <a:pPr marL="0" indent="0">
              <a:buNone/>
            </a:pPr>
            <a:r>
              <a:rPr lang="en-US" sz="2400" i="1" dirty="0"/>
              <a:t>How to conceive a </a:t>
            </a:r>
            <a:r>
              <a:rPr lang="en-US" sz="2400" b="1" i="1" dirty="0"/>
              <a:t>3D plant model</a:t>
            </a:r>
            <a:r>
              <a:rPr lang="en-US" sz="2400" i="1" dirty="0"/>
              <a:t> with </a:t>
            </a:r>
            <a:r>
              <a:rPr lang="en-US" sz="2400" b="1" i="1" dirty="0"/>
              <a:t>few architectural and developmental parameters </a:t>
            </a:r>
            <a:r>
              <a:rPr lang="en-US" sz="2400" i="1" dirty="0"/>
              <a:t>and with a canopy-scale </a:t>
            </a:r>
            <a:r>
              <a:rPr lang="en-US" sz="2400" b="1" i="1" dirty="0"/>
              <a:t>constraint on growth </a:t>
            </a:r>
            <a:r>
              <a:rPr lang="en-US" sz="2400" i="1" dirty="0"/>
              <a:t>? </a:t>
            </a:r>
          </a:p>
        </p:txBody>
      </p:sp>
      <p:sp>
        <p:nvSpPr>
          <p:cNvPr id="6" name="Espace réservé du contenu 2">
            <a:extLst>
              <a:ext uri="{FF2B5EF4-FFF2-40B4-BE49-F238E27FC236}">
                <a16:creationId xmlns:a16="http://schemas.microsoft.com/office/drawing/2014/main" id="{6A1F6667-290D-49AD-9176-73ACA1C1F769}"/>
              </a:ext>
            </a:extLst>
          </p:cNvPr>
          <p:cNvSpPr txBox="1">
            <a:spLocks/>
          </p:cNvSpPr>
          <p:nvPr/>
        </p:nvSpPr>
        <p:spPr>
          <a:xfrm>
            <a:off x="4326563" y="2541726"/>
            <a:ext cx="3514495" cy="381462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err="1"/>
              <a:t>Chapter</a:t>
            </a:r>
            <a:r>
              <a:rPr lang="fr-FR" b="1" dirty="0"/>
              <a:t> II </a:t>
            </a:r>
          </a:p>
          <a:p>
            <a:pPr marL="0" indent="0">
              <a:buNone/>
            </a:pPr>
            <a:r>
              <a:rPr lang="fr-FR" sz="2400" dirty="0" err="1"/>
              <a:t>Uncertainty</a:t>
            </a:r>
            <a:r>
              <a:rPr lang="fr-FR" sz="2400" dirty="0"/>
              <a:t> </a:t>
            </a:r>
            <a:r>
              <a:rPr lang="fr-FR" sz="2400" dirty="0" err="1"/>
              <a:t>analysis</a:t>
            </a:r>
            <a:r>
              <a:rPr lang="fr-FR" sz="2400" dirty="0"/>
              <a:t> of </a:t>
            </a:r>
            <a:r>
              <a:rPr lang="fr-FR" sz="2400" dirty="0" err="1"/>
              <a:t>intercrop</a:t>
            </a:r>
            <a:r>
              <a:rPr lang="fr-FR" sz="2400" dirty="0"/>
              <a:t> </a:t>
            </a:r>
            <a:r>
              <a:rPr lang="fr-FR" sz="2400" dirty="0" err="1"/>
              <a:t>models</a:t>
            </a:r>
            <a:r>
              <a:rPr lang="fr-FR" sz="2400" dirty="0"/>
              <a:t> </a:t>
            </a:r>
            <a:r>
              <a:rPr lang="fr-FR" sz="2400" dirty="0" err="1"/>
              <a:t>considering</a:t>
            </a:r>
            <a:r>
              <a:rPr lang="fr-FR" sz="2400" dirty="0"/>
              <a:t> architectural </a:t>
            </a:r>
            <a:r>
              <a:rPr lang="fr-FR" sz="2400" dirty="0" err="1"/>
              <a:t>parameters</a:t>
            </a:r>
            <a:endParaRPr lang="fr-FR" sz="2400" dirty="0"/>
          </a:p>
          <a:p>
            <a:pPr marL="0" indent="0">
              <a:buNone/>
            </a:pPr>
            <a:endParaRPr lang="fr-FR" sz="2400" dirty="0"/>
          </a:p>
          <a:p>
            <a:pPr marL="0" indent="0">
              <a:buNone/>
            </a:pPr>
            <a:r>
              <a:rPr lang="en-US" sz="2400" i="1" dirty="0"/>
              <a:t>Which </a:t>
            </a:r>
            <a:r>
              <a:rPr lang="en-US" sz="2400" b="1" i="1" dirty="0"/>
              <a:t>plant architectural traits</a:t>
            </a:r>
            <a:r>
              <a:rPr lang="en-US" sz="2400" i="1" dirty="0"/>
              <a:t> and </a:t>
            </a:r>
            <a:r>
              <a:rPr lang="en-US" sz="2400" b="1" i="1" dirty="0"/>
              <a:t>sowing pattern </a:t>
            </a:r>
            <a:r>
              <a:rPr lang="en-US" sz="2400" i="1" dirty="0"/>
              <a:t>bring most of the </a:t>
            </a:r>
            <a:r>
              <a:rPr lang="en-US" sz="2400" b="1" i="1" dirty="0"/>
              <a:t>uncertainty</a:t>
            </a:r>
            <a:r>
              <a:rPr lang="en-US" sz="2400" i="1" dirty="0"/>
              <a:t> and should be considered</a:t>
            </a:r>
            <a:r>
              <a:rPr lang="en-US" sz="2400" b="1" i="1" dirty="0"/>
              <a:t> </a:t>
            </a:r>
            <a:r>
              <a:rPr lang="en-US" sz="2400" i="1" dirty="0"/>
              <a:t>explicitly</a:t>
            </a:r>
            <a:r>
              <a:rPr lang="en-US" sz="2400" b="1" i="1" dirty="0"/>
              <a:t> </a:t>
            </a:r>
            <a:r>
              <a:rPr lang="en-US" sz="2400" i="1" dirty="0"/>
              <a:t>in</a:t>
            </a:r>
            <a:r>
              <a:rPr lang="en-US" sz="2400" b="1" i="1" dirty="0"/>
              <a:t> </a:t>
            </a:r>
            <a:r>
              <a:rPr lang="en-US" sz="2400" i="1" dirty="0"/>
              <a:t>crop models?</a:t>
            </a:r>
          </a:p>
          <a:p>
            <a:pPr marL="0" indent="0">
              <a:buNone/>
            </a:pPr>
            <a:endParaRPr lang="fr-FR" sz="2400" dirty="0"/>
          </a:p>
        </p:txBody>
      </p:sp>
      <p:sp>
        <p:nvSpPr>
          <p:cNvPr id="7" name="Espace réservé du contenu 2">
            <a:extLst>
              <a:ext uri="{FF2B5EF4-FFF2-40B4-BE49-F238E27FC236}">
                <a16:creationId xmlns:a16="http://schemas.microsoft.com/office/drawing/2014/main" id="{13CA4DC9-2347-420C-BEAC-087797A0488F}"/>
              </a:ext>
            </a:extLst>
          </p:cNvPr>
          <p:cNvSpPr txBox="1">
            <a:spLocks/>
          </p:cNvSpPr>
          <p:nvPr/>
        </p:nvSpPr>
        <p:spPr>
          <a:xfrm>
            <a:off x="8274962" y="2541726"/>
            <a:ext cx="3406890" cy="3987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err="1"/>
              <a:t>Chapter</a:t>
            </a:r>
            <a:r>
              <a:rPr lang="fr-FR" b="1" dirty="0"/>
              <a:t> III </a:t>
            </a:r>
          </a:p>
          <a:p>
            <a:pPr marL="0" indent="0">
              <a:buNone/>
            </a:pPr>
            <a:r>
              <a:rPr lang="fr-FR" sz="2400" dirty="0"/>
              <a:t>Proposition of multi-</a:t>
            </a:r>
            <a:r>
              <a:rPr lang="fr-FR" sz="2400" dirty="0" err="1"/>
              <a:t>scale</a:t>
            </a:r>
            <a:r>
              <a:rPr lang="fr-FR" sz="2400" dirty="0"/>
              <a:t> </a:t>
            </a:r>
            <a:r>
              <a:rPr lang="fr-FR" sz="2400" dirty="0" err="1"/>
              <a:t>modelling</a:t>
            </a:r>
            <a:r>
              <a:rPr lang="fr-FR" sz="2400" dirty="0"/>
              <a:t> </a:t>
            </a:r>
            <a:r>
              <a:rPr lang="fr-FR" sz="2400" dirty="0" err="1"/>
              <a:t>approaches</a:t>
            </a:r>
            <a:endParaRPr lang="fr-FR" sz="2400" dirty="0"/>
          </a:p>
          <a:p>
            <a:pPr marL="0" indent="0">
              <a:buNone/>
            </a:pPr>
            <a:endParaRPr lang="fr-FR" sz="2400" dirty="0"/>
          </a:p>
          <a:p>
            <a:pPr marL="0" indent="0">
              <a:buNone/>
            </a:pPr>
            <a:r>
              <a:rPr lang="fr-FR" sz="2400" i="1" dirty="0"/>
              <a:t>How to </a:t>
            </a:r>
            <a:r>
              <a:rPr lang="fr-FR" sz="2400" b="1" i="1" dirty="0" err="1"/>
              <a:t>consider</a:t>
            </a:r>
            <a:r>
              <a:rPr lang="fr-FR" sz="2400" b="1" i="1" dirty="0"/>
              <a:t> </a:t>
            </a:r>
            <a:r>
              <a:rPr lang="fr-FR" sz="2400" b="1" i="1" dirty="0" err="1"/>
              <a:t>explicitly</a:t>
            </a:r>
            <a:r>
              <a:rPr lang="fr-FR" sz="2400" b="1" i="1" dirty="0"/>
              <a:t> </a:t>
            </a:r>
            <a:r>
              <a:rPr lang="fr-FR" sz="2400" i="1" dirty="0" err="1"/>
              <a:t>identified</a:t>
            </a:r>
            <a:r>
              <a:rPr lang="fr-FR" sz="2400" i="1" dirty="0"/>
              <a:t> </a:t>
            </a:r>
            <a:r>
              <a:rPr lang="fr-FR" sz="2400" i="1" dirty="0" err="1"/>
              <a:t>parameters</a:t>
            </a:r>
            <a:r>
              <a:rPr lang="fr-FR" sz="2400" i="1" dirty="0"/>
              <a:t> in </a:t>
            </a:r>
            <a:r>
              <a:rPr lang="fr-FR" sz="2400" b="1" i="1" dirty="0" err="1"/>
              <a:t>crop</a:t>
            </a:r>
            <a:r>
              <a:rPr lang="fr-FR" sz="2400" b="1" i="1" dirty="0"/>
              <a:t> </a:t>
            </a:r>
            <a:r>
              <a:rPr lang="fr-FR" sz="2400" b="1" i="1" dirty="0" err="1"/>
              <a:t>models</a:t>
            </a:r>
            <a:r>
              <a:rPr lang="fr-FR" sz="2400" i="1" dirty="0"/>
              <a:t> in </a:t>
            </a:r>
            <a:r>
              <a:rPr lang="fr-FR" sz="2400" i="1" dirty="0" err="1"/>
              <a:t>order</a:t>
            </a:r>
            <a:r>
              <a:rPr lang="fr-FR" sz="2400" i="1" dirty="0"/>
              <a:t> to </a:t>
            </a:r>
            <a:r>
              <a:rPr lang="fr-FR" sz="2400" i="1" dirty="0" err="1"/>
              <a:t>improve</a:t>
            </a:r>
            <a:r>
              <a:rPr lang="fr-FR" sz="2400" i="1" dirty="0"/>
              <a:t> </a:t>
            </a:r>
            <a:r>
              <a:rPr lang="fr-FR" sz="2400" i="1" dirty="0" err="1"/>
              <a:t>their</a:t>
            </a:r>
            <a:r>
              <a:rPr lang="fr-FR" sz="2400" i="1" dirty="0"/>
              <a:t> </a:t>
            </a:r>
            <a:r>
              <a:rPr lang="fr-FR" sz="2400" i="1" dirty="0" err="1"/>
              <a:t>accuracy</a:t>
            </a:r>
            <a:r>
              <a:rPr lang="fr-FR" sz="2400" i="1" dirty="0"/>
              <a:t>?</a:t>
            </a:r>
            <a:endParaRPr lang="fr-FR" sz="2400" dirty="0"/>
          </a:p>
        </p:txBody>
      </p:sp>
      <p:sp>
        <p:nvSpPr>
          <p:cNvPr id="9" name="TextBox 8">
            <a:extLst>
              <a:ext uri="{FF2B5EF4-FFF2-40B4-BE49-F238E27FC236}">
                <a16:creationId xmlns:a16="http://schemas.microsoft.com/office/drawing/2014/main" id="{4B023A90-5157-4005-A976-38BB0A6FFD60}"/>
              </a:ext>
            </a:extLst>
          </p:cNvPr>
          <p:cNvSpPr txBox="1"/>
          <p:nvPr/>
        </p:nvSpPr>
        <p:spPr>
          <a:xfrm>
            <a:off x="1261993" y="1068530"/>
            <a:ext cx="9555989" cy="954107"/>
          </a:xfrm>
          <a:prstGeom prst="rect">
            <a:avLst/>
          </a:prstGeom>
          <a:noFill/>
        </p:spPr>
        <p:txBody>
          <a:bodyPr wrap="square" rtlCol="0">
            <a:spAutoFit/>
          </a:bodyPr>
          <a:lstStyle/>
          <a:p>
            <a:pPr algn="ctr"/>
            <a:r>
              <a:rPr lang="en-US" sz="2800" i="1" dirty="0"/>
              <a:t>For given processes, what in plant architecture should we consider in intercrop models?</a:t>
            </a:r>
            <a:endParaRPr lang="fr-FR" sz="2800" i="1" dirty="0"/>
          </a:p>
        </p:txBody>
      </p:sp>
      <p:sp>
        <p:nvSpPr>
          <p:cNvPr id="10" name="Slide Number Placeholder 9">
            <a:extLst>
              <a:ext uri="{FF2B5EF4-FFF2-40B4-BE49-F238E27FC236}">
                <a16:creationId xmlns:a16="http://schemas.microsoft.com/office/drawing/2014/main" id="{B067720C-0A92-4BD7-8CEE-EB4786CC39DA}"/>
              </a:ext>
            </a:extLst>
          </p:cNvPr>
          <p:cNvSpPr>
            <a:spLocks noGrp="1"/>
          </p:cNvSpPr>
          <p:nvPr>
            <p:ph type="sldNum" sz="quarter" idx="12"/>
          </p:nvPr>
        </p:nvSpPr>
        <p:spPr/>
        <p:txBody>
          <a:bodyPr/>
          <a:lstStyle/>
          <a:p>
            <a:fld id="{27C6CCC6-2BE5-4E42-96A4-D1E8E81A3D8E}" type="slidenum">
              <a:rPr lang="fr-FR" smtClean="0"/>
              <a:t>12</a:t>
            </a:fld>
            <a:endParaRPr lang="fr-FR" dirty="0"/>
          </a:p>
        </p:txBody>
      </p:sp>
    </p:spTree>
    <p:extLst>
      <p:ext uri="{BB962C8B-B14F-4D97-AF65-F5344CB8AC3E}">
        <p14:creationId xmlns:p14="http://schemas.microsoft.com/office/powerpoint/2010/main" val="3862449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581FA-004F-49DF-9962-F77C7BBF4FB0}"/>
              </a:ext>
            </a:extLst>
          </p:cNvPr>
          <p:cNvSpPr>
            <a:spLocks noGrp="1"/>
          </p:cNvSpPr>
          <p:nvPr>
            <p:ph type="title"/>
          </p:nvPr>
        </p:nvSpPr>
        <p:spPr>
          <a:xfrm>
            <a:off x="663938" y="170395"/>
            <a:ext cx="10515600" cy="1325563"/>
          </a:xfrm>
        </p:spPr>
        <p:txBody>
          <a:bodyPr>
            <a:normAutofit/>
          </a:bodyPr>
          <a:lstStyle/>
          <a:p>
            <a:r>
              <a:rPr lang="en-US" sz="4000" dirty="0"/>
              <a:t>SPPM: Structural Parametric Plant Model</a:t>
            </a:r>
          </a:p>
        </p:txBody>
      </p:sp>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a:xfrm>
            <a:off x="663939" y="1495958"/>
            <a:ext cx="8799038" cy="2703902"/>
          </a:xfrm>
        </p:spPr>
        <p:txBody>
          <a:bodyPr>
            <a:normAutofit fontScale="92500" lnSpcReduction="10000"/>
          </a:bodyPr>
          <a:lstStyle/>
          <a:p>
            <a:r>
              <a:rPr lang="en-US" dirty="0"/>
              <a:t>Plant </a:t>
            </a:r>
            <a:r>
              <a:rPr lang="en-US" b="1" dirty="0"/>
              <a:t>3D architecture </a:t>
            </a:r>
            <a:r>
              <a:rPr lang="en-US" dirty="0"/>
              <a:t>and </a:t>
            </a:r>
            <a:r>
              <a:rPr lang="en-US" b="1" dirty="0"/>
              <a:t>development</a:t>
            </a:r>
            <a:r>
              <a:rPr lang="en-US" dirty="0"/>
              <a:t> are defined by </a:t>
            </a:r>
            <a:r>
              <a:rPr lang="en-US" b="1" dirty="0"/>
              <a:t>parameters</a:t>
            </a:r>
            <a:r>
              <a:rPr lang="en-US" dirty="0"/>
              <a:t>.</a:t>
            </a:r>
          </a:p>
          <a:p>
            <a:endParaRPr lang="en-US" dirty="0"/>
          </a:p>
          <a:p>
            <a:r>
              <a:rPr lang="en-US" dirty="0"/>
              <a:t>Few parameters </a:t>
            </a:r>
            <a:r>
              <a:rPr lang="en-US" dirty="0">
                <a:sym typeface="Wingdings" panose="05000000000000000000" pitchFamily="2" charset="2"/>
              </a:rPr>
              <a:t> </a:t>
            </a:r>
            <a:r>
              <a:rPr lang="en-US" dirty="0"/>
              <a:t>known </a:t>
            </a:r>
            <a:r>
              <a:rPr lang="en-US" b="1" dirty="0"/>
              <a:t>allometric laws </a:t>
            </a:r>
            <a:r>
              <a:rPr lang="en-US" dirty="0"/>
              <a:t>for potential plant</a:t>
            </a:r>
            <a:endParaRPr lang="en-US" sz="1900" dirty="0"/>
          </a:p>
          <a:p>
            <a:endParaRPr lang="en-US" dirty="0"/>
          </a:p>
          <a:p>
            <a:r>
              <a:rPr lang="en-US" dirty="0"/>
              <a:t>Explore morphological space</a:t>
            </a:r>
          </a:p>
          <a:p>
            <a:pPr marL="0" indent="0">
              <a:buNone/>
            </a:pPr>
            <a:endParaRPr lang="en-US" dirty="0"/>
          </a:p>
        </p:txBody>
      </p:sp>
      <p:sp>
        <p:nvSpPr>
          <p:cNvPr id="6" name="Slide Number Placeholder 5">
            <a:extLst>
              <a:ext uri="{FF2B5EF4-FFF2-40B4-BE49-F238E27FC236}">
                <a16:creationId xmlns:a16="http://schemas.microsoft.com/office/drawing/2014/main" id="{B01AA784-0F2C-4C78-A201-36238F926F07}"/>
              </a:ext>
            </a:extLst>
          </p:cNvPr>
          <p:cNvSpPr>
            <a:spLocks noGrp="1"/>
          </p:cNvSpPr>
          <p:nvPr>
            <p:ph type="sldNum" sz="quarter" idx="12"/>
          </p:nvPr>
        </p:nvSpPr>
        <p:spPr/>
        <p:txBody>
          <a:bodyPr/>
          <a:lstStyle/>
          <a:p>
            <a:fld id="{27C6CCC6-2BE5-4E42-96A4-D1E8E81A3D8E}" type="slidenum">
              <a:rPr lang="fr-FR" smtClean="0"/>
              <a:t>13</a:t>
            </a:fld>
            <a:endParaRPr lang="fr-FR"/>
          </a:p>
        </p:txBody>
      </p:sp>
      <p:sp>
        <p:nvSpPr>
          <p:cNvPr id="7" name="TextBox 6">
            <a:extLst>
              <a:ext uri="{FF2B5EF4-FFF2-40B4-BE49-F238E27FC236}">
                <a16:creationId xmlns:a16="http://schemas.microsoft.com/office/drawing/2014/main" id="{4C4621C9-8171-4BA8-B2F3-6F3DDF1C7231}"/>
              </a:ext>
            </a:extLst>
          </p:cNvPr>
          <p:cNvSpPr txBox="1"/>
          <p:nvPr/>
        </p:nvSpPr>
        <p:spPr>
          <a:xfrm>
            <a:off x="8672612" y="1421043"/>
            <a:ext cx="2243471" cy="923330"/>
          </a:xfrm>
          <a:prstGeom prst="rect">
            <a:avLst/>
          </a:prstGeom>
          <a:solidFill>
            <a:schemeClr val="bg2">
              <a:alpha val="60000"/>
            </a:schemeClr>
          </a:solidFill>
          <a:ln>
            <a:solidFill>
              <a:schemeClr val="bg2">
                <a:alpha val="60000"/>
              </a:schemeClr>
            </a:solidFill>
          </a:ln>
        </p:spPr>
        <p:txBody>
          <a:bodyPr wrap="square" rtlCol="0">
            <a:spAutoFit/>
          </a:bodyPr>
          <a:lstStyle/>
          <a:p>
            <a:r>
              <a:rPr lang="en-US" dirty="0">
                <a:latin typeface="Arial" panose="020B0604020202020204" pitchFamily="34" charset="0"/>
                <a:cs typeface="Arial" panose="020B0604020202020204" pitchFamily="34" charset="0"/>
              </a:rPr>
              <a:t>≠</a:t>
            </a:r>
            <a:r>
              <a:rPr lang="en-US" dirty="0"/>
              <a:t> FSPM: 3D plant architecture emerges from plant processes</a:t>
            </a:r>
          </a:p>
        </p:txBody>
      </p:sp>
    </p:spTree>
    <p:extLst>
      <p:ext uri="{BB962C8B-B14F-4D97-AF65-F5344CB8AC3E}">
        <p14:creationId xmlns:p14="http://schemas.microsoft.com/office/powerpoint/2010/main" val="1470009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581FA-004F-49DF-9962-F77C7BBF4FB0}"/>
              </a:ext>
            </a:extLst>
          </p:cNvPr>
          <p:cNvSpPr>
            <a:spLocks noGrp="1"/>
          </p:cNvSpPr>
          <p:nvPr>
            <p:ph type="title"/>
          </p:nvPr>
        </p:nvSpPr>
        <p:spPr>
          <a:xfrm>
            <a:off x="663938" y="170395"/>
            <a:ext cx="10515600" cy="1325563"/>
          </a:xfrm>
        </p:spPr>
        <p:txBody>
          <a:bodyPr>
            <a:normAutofit/>
          </a:bodyPr>
          <a:lstStyle/>
          <a:p>
            <a:r>
              <a:rPr lang="en-US" sz="4000" dirty="0"/>
              <a:t>SPPM: Structural Parametric Plant Model</a:t>
            </a:r>
          </a:p>
        </p:txBody>
      </p:sp>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a:xfrm>
            <a:off x="663939" y="1495958"/>
            <a:ext cx="8799038" cy="2703902"/>
          </a:xfrm>
        </p:spPr>
        <p:txBody>
          <a:bodyPr>
            <a:normAutofit fontScale="92500" lnSpcReduction="10000"/>
          </a:bodyPr>
          <a:lstStyle/>
          <a:p>
            <a:r>
              <a:rPr lang="en-US" dirty="0"/>
              <a:t>Plant 3D architecture and development are defined by parameters.</a:t>
            </a:r>
          </a:p>
          <a:p>
            <a:endParaRPr lang="en-US" dirty="0"/>
          </a:p>
          <a:p>
            <a:r>
              <a:rPr lang="en-US" dirty="0"/>
              <a:t>Few parameters </a:t>
            </a:r>
            <a:r>
              <a:rPr lang="en-US" dirty="0">
                <a:sym typeface="Wingdings" panose="05000000000000000000" pitchFamily="2" charset="2"/>
              </a:rPr>
              <a:t> </a:t>
            </a:r>
            <a:r>
              <a:rPr lang="en-US" dirty="0"/>
              <a:t>known allometric laws for potential plant </a:t>
            </a:r>
          </a:p>
          <a:p>
            <a:endParaRPr lang="en-US" dirty="0"/>
          </a:p>
          <a:p>
            <a:r>
              <a:rPr lang="en-US" dirty="0"/>
              <a:t>Explore morphological space</a:t>
            </a:r>
          </a:p>
          <a:p>
            <a:pPr marL="0" indent="0">
              <a:buNone/>
            </a:pPr>
            <a:endParaRPr lang="en-US" dirty="0"/>
          </a:p>
        </p:txBody>
      </p:sp>
      <p:sp>
        <p:nvSpPr>
          <p:cNvPr id="6" name="Slide Number Placeholder 5">
            <a:extLst>
              <a:ext uri="{FF2B5EF4-FFF2-40B4-BE49-F238E27FC236}">
                <a16:creationId xmlns:a16="http://schemas.microsoft.com/office/drawing/2014/main" id="{B01AA784-0F2C-4C78-A201-36238F926F07}"/>
              </a:ext>
            </a:extLst>
          </p:cNvPr>
          <p:cNvSpPr>
            <a:spLocks noGrp="1"/>
          </p:cNvSpPr>
          <p:nvPr>
            <p:ph type="sldNum" sz="quarter" idx="12"/>
          </p:nvPr>
        </p:nvSpPr>
        <p:spPr/>
        <p:txBody>
          <a:bodyPr/>
          <a:lstStyle/>
          <a:p>
            <a:fld id="{27C6CCC6-2BE5-4E42-96A4-D1E8E81A3D8E}" type="slidenum">
              <a:rPr lang="fr-FR" smtClean="0"/>
              <a:t>14</a:t>
            </a:fld>
            <a:endParaRPr lang="fr-FR"/>
          </a:p>
        </p:txBody>
      </p:sp>
      <p:sp>
        <p:nvSpPr>
          <p:cNvPr id="8" name="TextBox 7">
            <a:extLst>
              <a:ext uri="{FF2B5EF4-FFF2-40B4-BE49-F238E27FC236}">
                <a16:creationId xmlns:a16="http://schemas.microsoft.com/office/drawing/2014/main" id="{EBCAE261-CA81-4C59-879C-3A660428330D}"/>
              </a:ext>
            </a:extLst>
          </p:cNvPr>
          <p:cNvSpPr txBox="1"/>
          <p:nvPr/>
        </p:nvSpPr>
        <p:spPr>
          <a:xfrm>
            <a:off x="663938" y="4930388"/>
            <a:ext cx="10689862" cy="1134670"/>
          </a:xfrm>
          <a:prstGeom prst="rect">
            <a:avLst/>
          </a:prstGeom>
          <a:noFill/>
        </p:spPr>
        <p:txBody>
          <a:bodyPr wrap="square" rtlCol="0">
            <a:spAutoFit/>
          </a:bodyPr>
          <a:lstStyle/>
          <a:p>
            <a:pPr lvl="0">
              <a:lnSpc>
                <a:spcPct val="90000"/>
              </a:lnSpc>
              <a:spcBef>
                <a:spcPts val="1000"/>
              </a:spcBef>
            </a:pPr>
            <a:r>
              <a:rPr lang="fr-FR" sz="4000" dirty="0" err="1">
                <a:solidFill>
                  <a:prstClr val="black"/>
                </a:solidFill>
                <a:latin typeface="Aptos Display" panose="020F0302020204030204"/>
              </a:rPr>
              <a:t>ArchiCrop</a:t>
            </a:r>
            <a:r>
              <a:rPr lang="fr-FR" sz="4000" dirty="0">
                <a:solidFill>
                  <a:prstClr val="black"/>
                </a:solidFill>
                <a:latin typeface="Aptos Display" panose="020F0302020204030204"/>
              </a:rPr>
              <a:t>: a SPPM for </a:t>
            </a:r>
            <a:r>
              <a:rPr lang="fr-FR" sz="4000" dirty="0" err="1">
                <a:solidFill>
                  <a:prstClr val="black"/>
                </a:solidFill>
                <a:latin typeface="Aptos Display" panose="020F0302020204030204"/>
              </a:rPr>
              <a:t>cereals</a:t>
            </a:r>
            <a:endParaRPr lang="fr-FR" sz="4000" dirty="0">
              <a:solidFill>
                <a:prstClr val="black"/>
              </a:solidFill>
              <a:latin typeface="Aptos Display" panose="020F0302020204030204"/>
            </a:endParaRPr>
          </a:p>
          <a:p>
            <a:pPr lvl="0">
              <a:lnSpc>
                <a:spcPct val="90000"/>
              </a:lnSpc>
              <a:spcBef>
                <a:spcPts val="1000"/>
              </a:spcBef>
            </a:pPr>
            <a:r>
              <a:rPr lang="fr-FR" sz="2600" dirty="0">
                <a:solidFill>
                  <a:prstClr val="black"/>
                </a:solidFill>
                <a:sym typeface="Wingdings" panose="05000000000000000000" pitchFamily="2" charset="2"/>
              </a:rPr>
              <a:t> </a:t>
            </a:r>
            <a:r>
              <a:rPr lang="fr-FR" sz="2600" dirty="0" err="1">
                <a:solidFill>
                  <a:prstClr val="black"/>
                </a:solidFill>
              </a:rPr>
              <a:t>where</a:t>
            </a:r>
            <a:r>
              <a:rPr lang="fr-FR" sz="2600" dirty="0">
                <a:solidFill>
                  <a:prstClr val="black"/>
                </a:solidFill>
              </a:rPr>
              <a:t> </a:t>
            </a:r>
            <a:r>
              <a:rPr lang="fr-FR" sz="2600" b="1" dirty="0" err="1">
                <a:solidFill>
                  <a:prstClr val="black"/>
                </a:solidFill>
              </a:rPr>
              <a:t>growth</a:t>
            </a:r>
            <a:r>
              <a:rPr lang="fr-FR" sz="2600" dirty="0">
                <a:solidFill>
                  <a:prstClr val="black"/>
                </a:solidFill>
              </a:rPr>
              <a:t> </a:t>
            </a:r>
            <a:r>
              <a:rPr lang="fr-FR" sz="2600" dirty="0" err="1">
                <a:solidFill>
                  <a:prstClr val="black"/>
                </a:solidFill>
              </a:rPr>
              <a:t>is</a:t>
            </a:r>
            <a:r>
              <a:rPr lang="fr-FR" sz="2600" dirty="0">
                <a:solidFill>
                  <a:prstClr val="black"/>
                </a:solidFill>
              </a:rPr>
              <a:t> </a:t>
            </a:r>
            <a:r>
              <a:rPr lang="fr-FR" sz="2600" dirty="0" err="1">
                <a:solidFill>
                  <a:prstClr val="black"/>
                </a:solidFill>
              </a:rPr>
              <a:t>constrained</a:t>
            </a:r>
            <a:r>
              <a:rPr lang="fr-FR" sz="2600" dirty="0">
                <a:solidFill>
                  <a:prstClr val="black"/>
                </a:solidFill>
              </a:rPr>
              <a:t> </a:t>
            </a:r>
            <a:r>
              <a:rPr lang="fr-FR" sz="2600" dirty="0" err="1">
                <a:solidFill>
                  <a:prstClr val="black"/>
                </a:solidFill>
              </a:rPr>
              <a:t>from</a:t>
            </a:r>
            <a:r>
              <a:rPr lang="fr-FR" sz="2600" dirty="0">
                <a:solidFill>
                  <a:prstClr val="black"/>
                </a:solidFill>
              </a:rPr>
              <a:t> </a:t>
            </a:r>
            <a:r>
              <a:rPr lang="fr-FR" sz="2600" b="1" dirty="0" err="1">
                <a:solidFill>
                  <a:prstClr val="black"/>
                </a:solidFill>
              </a:rPr>
              <a:t>crop</a:t>
            </a:r>
            <a:r>
              <a:rPr lang="fr-FR" sz="2600" b="1" dirty="0">
                <a:solidFill>
                  <a:prstClr val="black"/>
                </a:solidFill>
              </a:rPr>
              <a:t> model </a:t>
            </a:r>
            <a:r>
              <a:rPr lang="fr-FR" sz="2600" b="1" dirty="0" err="1">
                <a:solidFill>
                  <a:prstClr val="black"/>
                </a:solidFill>
              </a:rPr>
              <a:t>dynamics</a:t>
            </a:r>
            <a:endParaRPr lang="en-US" sz="2600" b="1" dirty="0">
              <a:solidFill>
                <a:prstClr val="black"/>
              </a:solidFill>
            </a:endParaRPr>
          </a:p>
        </p:txBody>
      </p:sp>
      <p:sp>
        <p:nvSpPr>
          <p:cNvPr id="9" name="TextBox 8">
            <a:extLst>
              <a:ext uri="{FF2B5EF4-FFF2-40B4-BE49-F238E27FC236}">
                <a16:creationId xmlns:a16="http://schemas.microsoft.com/office/drawing/2014/main" id="{A651FF96-063C-42E2-8943-074D9D550F32}"/>
              </a:ext>
            </a:extLst>
          </p:cNvPr>
          <p:cNvSpPr txBox="1"/>
          <p:nvPr/>
        </p:nvSpPr>
        <p:spPr>
          <a:xfrm>
            <a:off x="8672612" y="1421043"/>
            <a:ext cx="2243471" cy="923330"/>
          </a:xfrm>
          <a:prstGeom prst="rect">
            <a:avLst/>
          </a:prstGeom>
          <a:solidFill>
            <a:schemeClr val="bg2">
              <a:alpha val="60000"/>
            </a:schemeClr>
          </a:solidFill>
          <a:ln>
            <a:solidFill>
              <a:schemeClr val="bg2">
                <a:alpha val="60000"/>
              </a:schemeClr>
            </a:solidFill>
          </a:ln>
        </p:spPr>
        <p:txBody>
          <a:bodyPr wrap="square" rtlCol="0">
            <a:spAutoFit/>
          </a:bodyPr>
          <a:lstStyle/>
          <a:p>
            <a:r>
              <a:rPr lang="en-US" dirty="0">
                <a:latin typeface="Arial" panose="020B0604020202020204" pitchFamily="34" charset="0"/>
                <a:cs typeface="Arial" panose="020B0604020202020204" pitchFamily="34" charset="0"/>
              </a:rPr>
              <a:t>≠</a:t>
            </a:r>
            <a:r>
              <a:rPr lang="en-US" dirty="0"/>
              <a:t> FSPM: 3D plant architecture emerges from plant processes</a:t>
            </a:r>
          </a:p>
        </p:txBody>
      </p:sp>
      <p:sp>
        <p:nvSpPr>
          <p:cNvPr id="4" name="TextBox 3">
            <a:extLst>
              <a:ext uri="{FF2B5EF4-FFF2-40B4-BE49-F238E27FC236}">
                <a16:creationId xmlns:a16="http://schemas.microsoft.com/office/drawing/2014/main" id="{690D0E10-92CC-437E-A22E-C69BE5389781}"/>
              </a:ext>
            </a:extLst>
          </p:cNvPr>
          <p:cNvSpPr txBox="1"/>
          <p:nvPr/>
        </p:nvSpPr>
        <p:spPr>
          <a:xfrm>
            <a:off x="6096000" y="3551274"/>
            <a:ext cx="5004391" cy="1200329"/>
          </a:xfrm>
          <a:prstGeom prst="rect">
            <a:avLst/>
          </a:prstGeom>
          <a:noFill/>
        </p:spPr>
        <p:txBody>
          <a:bodyPr wrap="square" rtlCol="0">
            <a:spAutoFit/>
          </a:bodyPr>
          <a:lstStyle/>
          <a:p>
            <a:r>
              <a:rPr lang="fr-FR" dirty="0" err="1"/>
              <a:t>Constraint-driven</a:t>
            </a:r>
            <a:r>
              <a:rPr lang="fr-FR" dirty="0"/>
              <a:t> model</a:t>
            </a:r>
          </a:p>
          <a:p>
            <a:r>
              <a:rPr lang="fr-FR" dirty="0"/>
              <a:t>Global </a:t>
            </a:r>
            <a:r>
              <a:rPr lang="fr-FR" dirty="0" err="1"/>
              <a:t>growth</a:t>
            </a:r>
            <a:r>
              <a:rPr lang="fr-FR" dirty="0"/>
              <a:t> </a:t>
            </a:r>
            <a:r>
              <a:rPr lang="fr-FR" dirty="0" err="1"/>
              <a:t>constraint</a:t>
            </a:r>
            <a:r>
              <a:rPr lang="fr-FR" dirty="0"/>
              <a:t> </a:t>
            </a:r>
            <a:r>
              <a:rPr lang="fr-FR" dirty="0" err="1"/>
              <a:t>from</a:t>
            </a:r>
            <a:r>
              <a:rPr lang="fr-FR" dirty="0"/>
              <a:t> </a:t>
            </a:r>
            <a:r>
              <a:rPr lang="fr-FR" dirty="0" err="1"/>
              <a:t>crop</a:t>
            </a:r>
            <a:r>
              <a:rPr lang="fr-FR" dirty="0"/>
              <a:t> model </a:t>
            </a:r>
            <a:r>
              <a:rPr lang="fr-FR" dirty="0" err="1"/>
              <a:t>dynamics</a:t>
            </a:r>
            <a:r>
              <a:rPr lang="fr-FR" dirty="0"/>
              <a:t> </a:t>
            </a:r>
            <a:r>
              <a:rPr lang="fr-FR" dirty="0">
                <a:sym typeface="Wingdings" panose="05000000000000000000" pitchFamily="2" charset="2"/>
              </a:rPr>
              <a:t> </a:t>
            </a:r>
            <a:r>
              <a:rPr lang="fr-FR" dirty="0" err="1">
                <a:sym typeface="Wingdings" panose="05000000000000000000" pitchFamily="2" charset="2"/>
              </a:rPr>
              <a:t>emergence</a:t>
            </a:r>
            <a:r>
              <a:rPr lang="fr-FR" dirty="0">
                <a:sym typeface="Wingdings" panose="05000000000000000000" pitchFamily="2" charset="2"/>
              </a:rPr>
              <a:t> of </a:t>
            </a:r>
            <a:r>
              <a:rPr lang="fr-FR" dirty="0" err="1">
                <a:sym typeface="Wingdings" panose="05000000000000000000" pitchFamily="2" charset="2"/>
              </a:rPr>
              <a:t>growth</a:t>
            </a:r>
            <a:r>
              <a:rPr lang="fr-FR" dirty="0">
                <a:sym typeface="Wingdings" panose="05000000000000000000" pitchFamily="2" charset="2"/>
              </a:rPr>
              <a:t> patterns for </a:t>
            </a:r>
            <a:r>
              <a:rPr lang="fr-FR" dirty="0" err="1">
                <a:sym typeface="Wingdings" panose="05000000000000000000" pitchFamily="2" charset="2"/>
              </a:rPr>
              <a:t>each</a:t>
            </a:r>
            <a:r>
              <a:rPr lang="fr-FR" dirty="0">
                <a:sym typeface="Wingdings" panose="05000000000000000000" pitchFamily="2" charset="2"/>
              </a:rPr>
              <a:t> </a:t>
            </a:r>
            <a:r>
              <a:rPr lang="fr-FR" dirty="0" err="1">
                <a:sym typeface="Wingdings" panose="05000000000000000000" pitchFamily="2" charset="2"/>
              </a:rPr>
              <a:t>organ</a:t>
            </a:r>
            <a:endParaRPr lang="en-US" dirty="0"/>
          </a:p>
        </p:txBody>
      </p:sp>
    </p:spTree>
    <p:extLst>
      <p:ext uri="{BB962C8B-B14F-4D97-AF65-F5344CB8AC3E}">
        <p14:creationId xmlns:p14="http://schemas.microsoft.com/office/powerpoint/2010/main" val="1742541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F8112BF4-01F0-4888-85F4-1108B60C3132}"/>
              </a:ext>
            </a:extLst>
          </p:cNvPr>
          <p:cNvGrpSpPr/>
          <p:nvPr/>
        </p:nvGrpSpPr>
        <p:grpSpPr>
          <a:xfrm>
            <a:off x="10633" y="1784340"/>
            <a:ext cx="7238374" cy="4354190"/>
            <a:chOff x="284338" y="1573509"/>
            <a:chExt cx="7687058" cy="4624092"/>
          </a:xfrm>
        </p:grpSpPr>
        <p:grpSp>
          <p:nvGrpSpPr>
            <p:cNvPr id="58" name="Group 57">
              <a:extLst>
                <a:ext uri="{FF2B5EF4-FFF2-40B4-BE49-F238E27FC236}">
                  <a16:creationId xmlns:a16="http://schemas.microsoft.com/office/drawing/2014/main" id="{9C7AB40C-38BA-40A1-9200-8DA864D79784}"/>
                </a:ext>
              </a:extLst>
            </p:cNvPr>
            <p:cNvGrpSpPr/>
            <p:nvPr/>
          </p:nvGrpSpPr>
          <p:grpSpPr>
            <a:xfrm>
              <a:off x="284338" y="1573509"/>
              <a:ext cx="7687058" cy="4624092"/>
              <a:chOff x="1322452" y="557508"/>
              <a:chExt cx="9547095" cy="5742983"/>
            </a:xfrm>
          </p:grpSpPr>
          <p:pic>
            <p:nvPicPr>
              <p:cNvPr id="56" name="Picture 55">
                <a:extLst>
                  <a:ext uri="{FF2B5EF4-FFF2-40B4-BE49-F238E27FC236}">
                    <a16:creationId xmlns:a16="http://schemas.microsoft.com/office/drawing/2014/main" id="{67FFC6DA-CD13-4141-97A6-9AC3F8EB90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2452" y="557508"/>
                <a:ext cx="9547095" cy="5742983"/>
              </a:xfrm>
              <a:prstGeom prst="rect">
                <a:avLst/>
              </a:prstGeom>
            </p:spPr>
          </p:pic>
          <p:sp>
            <p:nvSpPr>
              <p:cNvPr id="53" name="Arc 52">
                <a:extLst>
                  <a:ext uri="{FF2B5EF4-FFF2-40B4-BE49-F238E27FC236}">
                    <a16:creationId xmlns:a16="http://schemas.microsoft.com/office/drawing/2014/main" id="{B1DD5B7C-0C69-439A-BF46-9C40F91B33FA}"/>
                  </a:ext>
                </a:extLst>
              </p:cNvPr>
              <p:cNvSpPr/>
              <p:nvPr/>
            </p:nvSpPr>
            <p:spPr>
              <a:xfrm rot="1547670">
                <a:off x="3193839" y="1173367"/>
                <a:ext cx="711622" cy="705376"/>
              </a:xfrm>
              <a:prstGeom prst="arc">
                <a:avLst>
                  <a:gd name="adj1" fmla="val 10822091"/>
                  <a:gd name="adj2" fmla="val 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4" name="Arc 53">
                <a:extLst>
                  <a:ext uri="{FF2B5EF4-FFF2-40B4-BE49-F238E27FC236}">
                    <a16:creationId xmlns:a16="http://schemas.microsoft.com/office/drawing/2014/main" id="{7F2923D8-38EA-47CA-8D80-7508E12C2F1D}"/>
                  </a:ext>
                </a:extLst>
              </p:cNvPr>
              <p:cNvSpPr/>
              <p:nvPr/>
            </p:nvSpPr>
            <p:spPr>
              <a:xfrm rot="21405153">
                <a:off x="6964755" y="1196634"/>
                <a:ext cx="1497861" cy="1036037"/>
              </a:xfrm>
              <a:prstGeom prst="arc">
                <a:avLst>
                  <a:gd name="adj1" fmla="val 13046312"/>
                  <a:gd name="adj2" fmla="val 1815059"/>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7" name="Arc 56">
                <a:extLst>
                  <a:ext uri="{FF2B5EF4-FFF2-40B4-BE49-F238E27FC236}">
                    <a16:creationId xmlns:a16="http://schemas.microsoft.com/office/drawing/2014/main" id="{A45E4550-B420-4310-84AE-0D1E91CEC20F}"/>
                  </a:ext>
                </a:extLst>
              </p:cNvPr>
              <p:cNvSpPr/>
              <p:nvPr/>
            </p:nvSpPr>
            <p:spPr>
              <a:xfrm rot="18460393">
                <a:off x="6341019" y="2009234"/>
                <a:ext cx="711622" cy="705376"/>
              </a:xfrm>
              <a:prstGeom prst="arc">
                <a:avLst>
                  <a:gd name="adj1" fmla="val 18836553"/>
                  <a:gd name="adj2" fmla="val 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63" name="TextBox 62">
              <a:extLst>
                <a:ext uri="{FF2B5EF4-FFF2-40B4-BE49-F238E27FC236}">
                  <a16:creationId xmlns:a16="http://schemas.microsoft.com/office/drawing/2014/main" id="{49BB9700-67E7-44CF-B282-F4D3FEB1836A}"/>
                </a:ext>
              </a:extLst>
            </p:cNvPr>
            <p:cNvSpPr txBox="1"/>
            <p:nvPr/>
          </p:nvSpPr>
          <p:spPr>
            <a:xfrm>
              <a:off x="4650999" y="3634636"/>
              <a:ext cx="1558767" cy="400110"/>
            </a:xfrm>
            <a:prstGeom prst="rect">
              <a:avLst/>
            </a:prstGeom>
            <a:noFill/>
          </p:spPr>
          <p:txBody>
            <a:bodyPr wrap="square" rtlCol="0">
              <a:spAutoFit/>
            </a:bodyPr>
            <a:lstStyle/>
            <a:p>
              <a:r>
                <a:rPr lang="en-US" sz="2000" b="1" dirty="0"/>
                <a:t>Internode</a:t>
              </a:r>
            </a:p>
          </p:txBody>
        </p:sp>
        <p:sp>
          <p:nvSpPr>
            <p:cNvPr id="64" name="TextBox 63">
              <a:extLst>
                <a:ext uri="{FF2B5EF4-FFF2-40B4-BE49-F238E27FC236}">
                  <a16:creationId xmlns:a16="http://schemas.microsoft.com/office/drawing/2014/main" id="{F87AC5A8-789F-4194-9CA3-128B861497D3}"/>
                </a:ext>
              </a:extLst>
            </p:cNvPr>
            <p:cNvSpPr txBox="1"/>
            <p:nvPr/>
          </p:nvSpPr>
          <p:spPr>
            <a:xfrm>
              <a:off x="5968994" y="2784283"/>
              <a:ext cx="770594" cy="400110"/>
            </a:xfrm>
            <a:prstGeom prst="rect">
              <a:avLst/>
            </a:prstGeom>
            <a:noFill/>
          </p:spPr>
          <p:txBody>
            <a:bodyPr wrap="square" rtlCol="0">
              <a:spAutoFit/>
            </a:bodyPr>
            <a:lstStyle/>
            <a:p>
              <a:r>
                <a:rPr lang="en-US" sz="2000" b="1" dirty="0"/>
                <a:t>Leaf</a:t>
              </a:r>
            </a:p>
          </p:txBody>
        </p:sp>
      </p:grpSp>
      <p:sp>
        <p:nvSpPr>
          <p:cNvPr id="5" name="TextBox 4">
            <a:extLst>
              <a:ext uri="{FF2B5EF4-FFF2-40B4-BE49-F238E27FC236}">
                <a16:creationId xmlns:a16="http://schemas.microsoft.com/office/drawing/2014/main" id="{AF56306C-141C-4FC9-9D3C-7874F45E2C95}"/>
              </a:ext>
            </a:extLst>
          </p:cNvPr>
          <p:cNvSpPr txBox="1"/>
          <p:nvPr/>
        </p:nvSpPr>
        <p:spPr>
          <a:xfrm>
            <a:off x="1919941" y="6026732"/>
            <a:ext cx="3577788" cy="461665"/>
          </a:xfrm>
          <a:prstGeom prst="rect">
            <a:avLst/>
          </a:prstGeom>
          <a:noFill/>
        </p:spPr>
        <p:txBody>
          <a:bodyPr wrap="square" rtlCol="0">
            <a:spAutoFit/>
          </a:bodyPr>
          <a:lstStyle/>
          <a:p>
            <a:r>
              <a:rPr lang="en-US" sz="2400" b="1" dirty="0"/>
              <a:t>Geometrical parameters</a:t>
            </a:r>
          </a:p>
        </p:txBody>
      </p:sp>
      <p:sp>
        <p:nvSpPr>
          <p:cNvPr id="59" name="TextBox 58">
            <a:extLst>
              <a:ext uri="{FF2B5EF4-FFF2-40B4-BE49-F238E27FC236}">
                <a16:creationId xmlns:a16="http://schemas.microsoft.com/office/drawing/2014/main" id="{CD853A12-D3E8-4564-BA10-F3AD62F7A010}"/>
              </a:ext>
            </a:extLst>
          </p:cNvPr>
          <p:cNvSpPr txBox="1"/>
          <p:nvPr/>
        </p:nvSpPr>
        <p:spPr>
          <a:xfrm>
            <a:off x="7215599" y="6026731"/>
            <a:ext cx="3744023" cy="461665"/>
          </a:xfrm>
          <a:prstGeom prst="rect">
            <a:avLst/>
          </a:prstGeom>
          <a:noFill/>
        </p:spPr>
        <p:txBody>
          <a:bodyPr wrap="square" rtlCol="0">
            <a:spAutoFit/>
          </a:bodyPr>
          <a:lstStyle/>
          <a:p>
            <a:r>
              <a:rPr lang="en-US" sz="2400" b="1" dirty="0"/>
              <a:t>Developmental parameters</a:t>
            </a:r>
          </a:p>
        </p:txBody>
      </p:sp>
      <p:grpSp>
        <p:nvGrpSpPr>
          <p:cNvPr id="102" name="Group 101">
            <a:extLst>
              <a:ext uri="{FF2B5EF4-FFF2-40B4-BE49-F238E27FC236}">
                <a16:creationId xmlns:a16="http://schemas.microsoft.com/office/drawing/2014/main" id="{8B7FDA25-F044-427F-BB53-98AFAE5554D2}"/>
              </a:ext>
            </a:extLst>
          </p:cNvPr>
          <p:cNvGrpSpPr/>
          <p:nvPr/>
        </p:nvGrpSpPr>
        <p:grpSpPr>
          <a:xfrm>
            <a:off x="6576785" y="1568134"/>
            <a:ext cx="5530323" cy="3953855"/>
            <a:chOff x="6566152" y="1897752"/>
            <a:chExt cx="5530323" cy="3953855"/>
          </a:xfrm>
        </p:grpSpPr>
        <p:sp>
          <p:nvSpPr>
            <p:cNvPr id="100" name="Rectangle 99">
              <a:extLst>
                <a:ext uri="{FF2B5EF4-FFF2-40B4-BE49-F238E27FC236}">
                  <a16:creationId xmlns:a16="http://schemas.microsoft.com/office/drawing/2014/main" id="{31A70A81-10B2-44F2-A72E-5217DD97395F}"/>
                </a:ext>
              </a:extLst>
            </p:cNvPr>
            <p:cNvSpPr/>
            <p:nvPr/>
          </p:nvSpPr>
          <p:spPr>
            <a:xfrm>
              <a:off x="6590034" y="2248693"/>
              <a:ext cx="5308401" cy="1126847"/>
            </a:xfrm>
            <a:prstGeom prst="rect">
              <a:avLst/>
            </a:prstGeom>
            <a:solidFill>
              <a:schemeClr val="bg1">
                <a:alpha val="50196"/>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D1766623-D4B8-497A-B975-F543CA9B222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6156" b="7118"/>
            <a:stretch/>
          </p:blipFill>
          <p:spPr bwMode="auto">
            <a:xfrm>
              <a:off x="6928960" y="3836073"/>
              <a:ext cx="4800115" cy="2015534"/>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53A313EA-10B4-40D4-B8F4-7A38F20DA1FB}"/>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98260" y="2630421"/>
              <a:ext cx="382932" cy="716289"/>
            </a:xfrm>
            <a:prstGeom prst="rect">
              <a:avLst/>
            </a:prstGeom>
          </p:spPr>
        </p:pic>
        <p:pic>
          <p:nvPicPr>
            <p:cNvPr id="83" name="Picture 82">
              <a:extLst>
                <a:ext uri="{FF2B5EF4-FFF2-40B4-BE49-F238E27FC236}">
                  <a16:creationId xmlns:a16="http://schemas.microsoft.com/office/drawing/2014/main" id="{7286BDC8-88C7-4E73-9638-A5151D0A18BD}"/>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29003" y="2276724"/>
              <a:ext cx="757025" cy="1098816"/>
            </a:xfrm>
            <a:prstGeom prst="rect">
              <a:avLst/>
            </a:prstGeom>
          </p:spPr>
        </p:pic>
        <p:pic>
          <p:nvPicPr>
            <p:cNvPr id="85" name="Picture 84">
              <a:extLst>
                <a:ext uri="{FF2B5EF4-FFF2-40B4-BE49-F238E27FC236}">
                  <a16:creationId xmlns:a16="http://schemas.microsoft.com/office/drawing/2014/main" id="{26DDF8B0-7521-425F-8143-F41F6D0D3F78}"/>
                </a:ext>
              </a:extLst>
            </p:cNvPr>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42978" y="2248693"/>
              <a:ext cx="1218724" cy="1197280"/>
            </a:xfrm>
            <a:prstGeom prst="rect">
              <a:avLst/>
            </a:prstGeom>
          </p:spPr>
        </p:pic>
        <p:pic>
          <p:nvPicPr>
            <p:cNvPr id="87" name="Picture 86">
              <a:extLst>
                <a:ext uri="{FF2B5EF4-FFF2-40B4-BE49-F238E27FC236}">
                  <a16:creationId xmlns:a16="http://schemas.microsoft.com/office/drawing/2014/main" id="{EF5BA700-E977-46A0-B38C-6D68882F81CF}"/>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22714" y="2163815"/>
              <a:ext cx="1727081" cy="1282298"/>
            </a:xfrm>
            <a:prstGeom prst="rect">
              <a:avLst/>
            </a:prstGeom>
          </p:spPr>
        </p:pic>
        <p:pic>
          <p:nvPicPr>
            <p:cNvPr id="89" name="Picture 88">
              <a:extLst>
                <a:ext uri="{FF2B5EF4-FFF2-40B4-BE49-F238E27FC236}">
                  <a16:creationId xmlns:a16="http://schemas.microsoft.com/office/drawing/2014/main" id="{47197680-28B6-4425-AC7F-15A29B7BD4FF}"/>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05481" y="2183099"/>
              <a:ext cx="1837622" cy="1282297"/>
            </a:xfrm>
            <a:prstGeom prst="rect">
              <a:avLst/>
            </a:prstGeom>
          </p:spPr>
        </p:pic>
        <p:pic>
          <p:nvPicPr>
            <p:cNvPr id="91" name="Picture 90">
              <a:extLst>
                <a:ext uri="{FF2B5EF4-FFF2-40B4-BE49-F238E27FC236}">
                  <a16:creationId xmlns:a16="http://schemas.microsoft.com/office/drawing/2014/main" id="{14D10203-22C9-4DE6-A207-7D0ED26F49D5}"/>
                </a:ext>
              </a:extLst>
            </p:cNvPr>
            <p:cNvPicPr>
              <a:picLocks noChangeAspect="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74391" y="2208499"/>
              <a:ext cx="2022084" cy="1376140"/>
            </a:xfrm>
            <a:prstGeom prst="rect">
              <a:avLst/>
            </a:prstGeom>
          </p:spPr>
        </p:pic>
        <p:cxnSp>
          <p:nvCxnSpPr>
            <p:cNvPr id="93" name="Straight Connector 92">
              <a:extLst>
                <a:ext uri="{FF2B5EF4-FFF2-40B4-BE49-F238E27FC236}">
                  <a16:creationId xmlns:a16="http://schemas.microsoft.com/office/drawing/2014/main" id="{647F4BB9-DE09-4CCE-A357-F34C89E7F1FD}"/>
                </a:ext>
              </a:extLst>
            </p:cNvPr>
            <p:cNvCxnSpPr>
              <a:cxnSpLocks/>
            </p:cNvCxnSpPr>
            <p:nvPr/>
          </p:nvCxnSpPr>
          <p:spPr>
            <a:xfrm flipH="1" flipV="1">
              <a:off x="6590034" y="3377693"/>
              <a:ext cx="3126059" cy="801656"/>
            </a:xfrm>
            <a:prstGeom prst="line">
              <a:avLst/>
            </a:prstGeom>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C9357EC1-4117-483B-B299-47E8B37A8444}"/>
                </a:ext>
              </a:extLst>
            </p:cNvPr>
            <p:cNvCxnSpPr>
              <a:cxnSpLocks/>
            </p:cNvCxnSpPr>
            <p:nvPr/>
          </p:nvCxnSpPr>
          <p:spPr>
            <a:xfrm flipH="1">
              <a:off x="11050321" y="3375540"/>
              <a:ext cx="848114" cy="770857"/>
            </a:xfrm>
            <a:prstGeom prst="line">
              <a:avLst/>
            </a:prstGeom>
          </p:spPr>
          <p:style>
            <a:lnRef idx="1">
              <a:schemeClr val="dk1"/>
            </a:lnRef>
            <a:fillRef idx="0">
              <a:schemeClr val="dk1"/>
            </a:fillRef>
            <a:effectRef idx="0">
              <a:schemeClr val="dk1"/>
            </a:effectRef>
            <a:fontRef idx="minor">
              <a:schemeClr val="tx1"/>
            </a:fontRef>
          </p:style>
        </p:cxnSp>
        <p:sp>
          <p:nvSpPr>
            <p:cNvPr id="105" name="TextBox 104">
              <a:extLst>
                <a:ext uri="{FF2B5EF4-FFF2-40B4-BE49-F238E27FC236}">
                  <a16:creationId xmlns:a16="http://schemas.microsoft.com/office/drawing/2014/main" id="{DA4FDC0A-A2EB-41B3-A158-A97862ED4708}"/>
                </a:ext>
              </a:extLst>
            </p:cNvPr>
            <p:cNvSpPr txBox="1"/>
            <p:nvPr/>
          </p:nvSpPr>
          <p:spPr>
            <a:xfrm>
              <a:off x="6566152" y="1897752"/>
              <a:ext cx="1632111" cy="400110"/>
            </a:xfrm>
            <a:prstGeom prst="rect">
              <a:avLst/>
            </a:prstGeom>
            <a:noFill/>
          </p:spPr>
          <p:txBody>
            <a:bodyPr wrap="square" rtlCol="0">
              <a:spAutoFit/>
            </a:bodyPr>
            <a:lstStyle/>
            <a:p>
              <a:r>
                <a:rPr lang="en-US" sz="2000" b="1" dirty="0"/>
                <a:t>Growing leaf</a:t>
              </a:r>
            </a:p>
          </p:txBody>
        </p:sp>
      </p:grpSp>
      <p:sp>
        <p:nvSpPr>
          <p:cNvPr id="107" name="TextBox 106">
            <a:extLst>
              <a:ext uri="{FF2B5EF4-FFF2-40B4-BE49-F238E27FC236}">
                <a16:creationId xmlns:a16="http://schemas.microsoft.com/office/drawing/2014/main" id="{1A67419D-1184-4560-8EBE-E7221D41491E}"/>
              </a:ext>
            </a:extLst>
          </p:cNvPr>
          <p:cNvSpPr txBox="1"/>
          <p:nvPr/>
        </p:nvSpPr>
        <p:spPr>
          <a:xfrm>
            <a:off x="3082991" y="1553438"/>
            <a:ext cx="1467784" cy="400110"/>
          </a:xfrm>
          <a:prstGeom prst="rect">
            <a:avLst/>
          </a:prstGeom>
          <a:noFill/>
        </p:spPr>
        <p:txBody>
          <a:bodyPr wrap="square" rtlCol="0">
            <a:spAutoFit/>
          </a:bodyPr>
          <a:lstStyle/>
          <a:p>
            <a:r>
              <a:rPr lang="en-US" sz="2000" b="1" dirty="0" err="1"/>
              <a:t>Phytomer</a:t>
            </a:r>
            <a:endParaRPr lang="en-US" sz="2000" b="1" dirty="0"/>
          </a:p>
        </p:txBody>
      </p:sp>
      <p:sp>
        <p:nvSpPr>
          <p:cNvPr id="25" name="Title 1">
            <a:extLst>
              <a:ext uri="{FF2B5EF4-FFF2-40B4-BE49-F238E27FC236}">
                <a16:creationId xmlns:a16="http://schemas.microsoft.com/office/drawing/2014/main" id="{243A8CF8-B841-4366-82DA-187EFFCB28F8}"/>
              </a:ext>
            </a:extLst>
          </p:cNvPr>
          <p:cNvSpPr>
            <a:spLocks noGrp="1"/>
          </p:cNvSpPr>
          <p:nvPr>
            <p:ph type="title"/>
          </p:nvPr>
        </p:nvSpPr>
        <p:spPr>
          <a:xfrm>
            <a:off x="523294" y="138767"/>
            <a:ext cx="10981134" cy="1268735"/>
          </a:xfrm>
        </p:spPr>
        <p:txBody>
          <a:bodyPr>
            <a:normAutofit fontScale="90000"/>
          </a:bodyPr>
          <a:lstStyle/>
          <a:p>
            <a:r>
              <a:rPr lang="en-US" dirty="0"/>
              <a:t>Potential plant architecture and development are defined by parameters.</a:t>
            </a:r>
          </a:p>
        </p:txBody>
      </p:sp>
      <p:sp>
        <p:nvSpPr>
          <p:cNvPr id="27" name="TextBox 26">
            <a:extLst>
              <a:ext uri="{FF2B5EF4-FFF2-40B4-BE49-F238E27FC236}">
                <a16:creationId xmlns:a16="http://schemas.microsoft.com/office/drawing/2014/main" id="{FD33959B-6EAB-46CC-A6A0-ECE76551C7E8}"/>
              </a:ext>
            </a:extLst>
          </p:cNvPr>
          <p:cNvSpPr txBox="1"/>
          <p:nvPr/>
        </p:nvSpPr>
        <p:spPr>
          <a:xfrm>
            <a:off x="98980" y="2451887"/>
            <a:ext cx="1467784" cy="707886"/>
          </a:xfrm>
          <a:prstGeom prst="rect">
            <a:avLst/>
          </a:prstGeom>
          <a:noFill/>
        </p:spPr>
        <p:txBody>
          <a:bodyPr wrap="square" rtlCol="0">
            <a:spAutoFit/>
          </a:bodyPr>
          <a:lstStyle/>
          <a:p>
            <a:r>
              <a:rPr lang="en-US" sz="2000" b="1" dirty="0"/>
              <a:t>Plant</a:t>
            </a:r>
          </a:p>
          <a:p>
            <a:r>
              <a:rPr lang="en-US" sz="2000" b="1" dirty="0"/>
              <a:t>architecture</a:t>
            </a:r>
          </a:p>
        </p:txBody>
      </p:sp>
      <p:sp>
        <p:nvSpPr>
          <p:cNvPr id="2" name="Slide Number Placeholder 1">
            <a:extLst>
              <a:ext uri="{FF2B5EF4-FFF2-40B4-BE49-F238E27FC236}">
                <a16:creationId xmlns:a16="http://schemas.microsoft.com/office/drawing/2014/main" id="{049EC86E-C088-49B7-BEE8-AEB9195C7614}"/>
              </a:ext>
            </a:extLst>
          </p:cNvPr>
          <p:cNvSpPr>
            <a:spLocks noGrp="1"/>
          </p:cNvSpPr>
          <p:nvPr>
            <p:ph type="sldNum" sz="quarter" idx="12"/>
          </p:nvPr>
        </p:nvSpPr>
        <p:spPr/>
        <p:txBody>
          <a:bodyPr/>
          <a:lstStyle/>
          <a:p>
            <a:fld id="{27C6CCC6-2BE5-4E42-96A4-D1E8E81A3D8E}" type="slidenum">
              <a:rPr lang="fr-FR" smtClean="0"/>
              <a:t>15</a:t>
            </a:fld>
            <a:endParaRPr lang="fr-FR"/>
          </a:p>
        </p:txBody>
      </p:sp>
    </p:spTree>
    <p:extLst>
      <p:ext uri="{BB962C8B-B14F-4D97-AF65-F5344CB8AC3E}">
        <p14:creationId xmlns:p14="http://schemas.microsoft.com/office/powerpoint/2010/main" val="3896024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04561046-6708-4754-9C75-07E2BE4B8A95}"/>
              </a:ext>
            </a:extLst>
          </p:cNvPr>
          <p:cNvGrpSpPr/>
          <p:nvPr/>
        </p:nvGrpSpPr>
        <p:grpSpPr>
          <a:xfrm>
            <a:off x="345305" y="1728908"/>
            <a:ext cx="5908275" cy="4785839"/>
            <a:chOff x="330201" y="672982"/>
            <a:chExt cx="7251699" cy="5874044"/>
          </a:xfrm>
        </p:grpSpPr>
        <p:grpSp>
          <p:nvGrpSpPr>
            <p:cNvPr id="65" name="Group 64">
              <a:extLst>
                <a:ext uri="{FF2B5EF4-FFF2-40B4-BE49-F238E27FC236}">
                  <a16:creationId xmlns:a16="http://schemas.microsoft.com/office/drawing/2014/main" id="{174A0F44-71F7-421A-AE97-5ADB695E9786}"/>
                </a:ext>
              </a:extLst>
            </p:cNvPr>
            <p:cNvGrpSpPr/>
            <p:nvPr/>
          </p:nvGrpSpPr>
          <p:grpSpPr>
            <a:xfrm>
              <a:off x="330201" y="672982"/>
              <a:ext cx="7251699" cy="5512036"/>
              <a:chOff x="559294" y="97653"/>
              <a:chExt cx="8899133" cy="6764255"/>
            </a:xfrm>
          </p:grpSpPr>
          <p:pic>
            <p:nvPicPr>
              <p:cNvPr id="68" name="Picture 67">
                <a:extLst>
                  <a:ext uri="{FF2B5EF4-FFF2-40B4-BE49-F238E27FC236}">
                    <a16:creationId xmlns:a16="http://schemas.microsoft.com/office/drawing/2014/main" id="{65B5E80D-6311-4B42-9C2B-CD3E86BA3426}"/>
                  </a:ext>
                </a:extLst>
              </p:cNvPr>
              <p:cNvPicPr>
                <a:picLocks noChangeAspect="1"/>
              </p:cNvPicPr>
              <p:nvPr/>
            </p:nvPicPr>
            <p:blipFill rotWithShape="1">
              <a:blip r:embed="rId3">
                <a:extLst>
                  <a:ext uri="{28A0092B-C50C-407E-A947-70E740481C1C}">
                    <a14:useLocalDpi xmlns:a14="http://schemas.microsoft.com/office/drawing/2010/main" val="0"/>
                  </a:ext>
                </a:extLst>
              </a:blip>
              <a:srcRect t="1422" r="1793" b="1"/>
              <a:stretch/>
            </p:blipFill>
            <p:spPr>
              <a:xfrm>
                <a:off x="559294" y="97653"/>
                <a:ext cx="8637971" cy="6764255"/>
              </a:xfrm>
              <a:prstGeom prst="rect">
                <a:avLst/>
              </a:prstGeom>
            </p:spPr>
          </p:pic>
          <p:pic>
            <p:nvPicPr>
              <p:cNvPr id="69" name="Picture 68">
                <a:extLst>
                  <a:ext uri="{FF2B5EF4-FFF2-40B4-BE49-F238E27FC236}">
                    <a16:creationId xmlns:a16="http://schemas.microsoft.com/office/drawing/2014/main" id="{59324260-70E0-4043-BCD0-C3E98CE774AC}"/>
                  </a:ext>
                </a:extLst>
              </p:cNvPr>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7137"/>
              <a:stretch/>
            </p:blipFill>
            <p:spPr>
              <a:xfrm>
                <a:off x="7131955" y="1180731"/>
                <a:ext cx="2326472" cy="4643025"/>
              </a:xfrm>
              <a:prstGeom prst="rect">
                <a:avLst/>
              </a:prstGeom>
            </p:spPr>
          </p:pic>
          <p:pic>
            <p:nvPicPr>
              <p:cNvPr id="70" name="Picture 69">
                <a:extLst>
                  <a:ext uri="{FF2B5EF4-FFF2-40B4-BE49-F238E27FC236}">
                    <a16:creationId xmlns:a16="http://schemas.microsoft.com/office/drawing/2014/main" id="{3A925B9D-D6E8-4F45-93F7-61C7030C9472}"/>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11429"/>
              <a:stretch/>
            </p:blipFill>
            <p:spPr>
              <a:xfrm>
                <a:off x="4061069" y="3863751"/>
                <a:ext cx="1400234" cy="1968881"/>
              </a:xfrm>
              <a:prstGeom prst="rect">
                <a:avLst/>
              </a:prstGeom>
            </p:spPr>
          </p:pic>
          <p:pic>
            <p:nvPicPr>
              <p:cNvPr id="71" name="Picture 70">
                <a:extLst>
                  <a:ext uri="{FF2B5EF4-FFF2-40B4-BE49-F238E27FC236}">
                    <a16:creationId xmlns:a16="http://schemas.microsoft.com/office/drawing/2014/main" id="{952CE4B9-6FC0-4C0C-8D77-FDF6D690FCD2}"/>
                  </a:ext>
                </a:extLst>
              </p:cNvPr>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b="15454"/>
              <a:stretch/>
            </p:blipFill>
            <p:spPr>
              <a:xfrm>
                <a:off x="2941929" y="5504155"/>
                <a:ext cx="335507" cy="310718"/>
              </a:xfrm>
              <a:prstGeom prst="rect">
                <a:avLst/>
              </a:prstGeom>
            </p:spPr>
          </p:pic>
          <p:cxnSp>
            <p:nvCxnSpPr>
              <p:cNvPr id="72" name="Straight Connector 71">
                <a:extLst>
                  <a:ext uri="{FF2B5EF4-FFF2-40B4-BE49-F238E27FC236}">
                    <a16:creationId xmlns:a16="http://schemas.microsoft.com/office/drawing/2014/main" id="{D6A0ABF4-5DCA-4D61-AAF7-1A1ABCD6F869}"/>
                  </a:ext>
                </a:extLst>
              </p:cNvPr>
              <p:cNvCxnSpPr>
                <a:cxnSpLocks/>
              </p:cNvCxnSpPr>
              <p:nvPr/>
            </p:nvCxnSpPr>
            <p:spPr>
              <a:xfrm flipH="1">
                <a:off x="5406499" y="2113645"/>
                <a:ext cx="1003179" cy="0"/>
              </a:xfrm>
              <a:prstGeom prst="line">
                <a:avLst/>
              </a:prstGeom>
              <a:ln w="38100">
                <a:solidFill>
                  <a:srgbClr val="F39200"/>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08FA6C0-F210-4FF8-ABDA-9F893B1C815F}"/>
                  </a:ext>
                </a:extLst>
              </p:cNvPr>
              <p:cNvCxnSpPr>
                <a:cxnSpLocks/>
              </p:cNvCxnSpPr>
              <p:nvPr/>
            </p:nvCxnSpPr>
            <p:spPr>
              <a:xfrm flipV="1">
                <a:off x="5406499" y="2113645"/>
                <a:ext cx="0" cy="1651015"/>
              </a:xfrm>
              <a:prstGeom prst="line">
                <a:avLst/>
              </a:prstGeom>
              <a:ln w="38100">
                <a:solidFill>
                  <a:srgbClr val="F39200"/>
                </a:solidFill>
                <a:prstDash val="solid"/>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E8DBC39F-9BDF-40A8-98EB-29FEDC74DA6B}"/>
                  </a:ext>
                </a:extLst>
              </p:cNvPr>
              <p:cNvSpPr txBox="1"/>
              <p:nvPr/>
            </p:nvSpPr>
            <p:spPr>
              <a:xfrm>
                <a:off x="4508956" y="2619366"/>
                <a:ext cx="810305" cy="556294"/>
              </a:xfrm>
              <a:prstGeom prst="rect">
                <a:avLst/>
              </a:prstGeom>
              <a:noFill/>
            </p:spPr>
            <p:txBody>
              <a:bodyPr wrap="square" rtlCol="0">
                <a:spAutoFit/>
              </a:bodyPr>
              <a:lstStyle/>
              <a:p>
                <a:r>
                  <a:rPr lang="en-US" dirty="0" err="1">
                    <a:solidFill>
                      <a:srgbClr val="F39200"/>
                    </a:solidFill>
                  </a:rPr>
                  <a:t>dLA</a:t>
                </a:r>
                <a:endParaRPr lang="en-US" dirty="0">
                  <a:solidFill>
                    <a:srgbClr val="F39200"/>
                  </a:solidFill>
                </a:endParaRPr>
              </a:p>
            </p:txBody>
          </p:sp>
          <p:sp>
            <p:nvSpPr>
              <p:cNvPr id="75" name="TextBox 74">
                <a:extLst>
                  <a:ext uri="{FF2B5EF4-FFF2-40B4-BE49-F238E27FC236}">
                    <a16:creationId xmlns:a16="http://schemas.microsoft.com/office/drawing/2014/main" id="{11C52C7A-BA08-40AC-BD8C-862B8CEAAE74}"/>
                  </a:ext>
                </a:extLst>
              </p:cNvPr>
              <p:cNvSpPr txBox="1"/>
              <p:nvPr/>
            </p:nvSpPr>
            <p:spPr>
              <a:xfrm>
                <a:off x="5605643" y="1558141"/>
                <a:ext cx="1003178" cy="672900"/>
              </a:xfrm>
              <a:prstGeom prst="rect">
                <a:avLst/>
              </a:prstGeom>
              <a:noFill/>
            </p:spPr>
            <p:txBody>
              <a:bodyPr wrap="square" rtlCol="0">
                <a:spAutoFit/>
              </a:bodyPr>
              <a:lstStyle/>
              <a:p>
                <a:r>
                  <a:rPr lang="en-US" dirty="0">
                    <a:solidFill>
                      <a:srgbClr val="F39200"/>
                    </a:solidFill>
                  </a:rPr>
                  <a:t>dt</a:t>
                </a:r>
              </a:p>
            </p:txBody>
          </p:sp>
          <p:grpSp>
            <p:nvGrpSpPr>
              <p:cNvPr id="76" name="Group 75">
                <a:extLst>
                  <a:ext uri="{FF2B5EF4-FFF2-40B4-BE49-F238E27FC236}">
                    <a16:creationId xmlns:a16="http://schemas.microsoft.com/office/drawing/2014/main" id="{470D1A5D-C43C-4EB1-B634-6E19BFFB987F}"/>
                  </a:ext>
                </a:extLst>
              </p:cNvPr>
              <p:cNvGrpSpPr/>
              <p:nvPr/>
            </p:nvGrpSpPr>
            <p:grpSpPr>
              <a:xfrm>
                <a:off x="5433038" y="2330132"/>
                <a:ext cx="2237270" cy="3570468"/>
                <a:chOff x="6569380" y="2330132"/>
                <a:chExt cx="2237270" cy="3570468"/>
              </a:xfrm>
            </p:grpSpPr>
            <p:pic>
              <p:nvPicPr>
                <p:cNvPr id="77" name="Picture 76">
                  <a:extLst>
                    <a:ext uri="{FF2B5EF4-FFF2-40B4-BE49-F238E27FC236}">
                      <a16:creationId xmlns:a16="http://schemas.microsoft.com/office/drawing/2014/main" id="{B04D186A-F0D4-4E4E-BF7B-317561CD5CF6}"/>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29568" y="3378161"/>
                  <a:ext cx="1729890" cy="2522439"/>
                </a:xfrm>
                <a:prstGeom prst="rect">
                  <a:avLst/>
                </a:prstGeom>
              </p:spPr>
            </p:pic>
            <p:pic>
              <p:nvPicPr>
                <p:cNvPr id="78" name="Picture 77">
                  <a:extLst>
                    <a:ext uri="{FF2B5EF4-FFF2-40B4-BE49-F238E27FC236}">
                      <a16:creationId xmlns:a16="http://schemas.microsoft.com/office/drawing/2014/main" id="{22D04C1D-CDFC-4A55-9D39-FA56986283D7}"/>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9380" y="2330132"/>
                  <a:ext cx="2237270" cy="1434528"/>
                </a:xfrm>
                <a:prstGeom prst="rect">
                  <a:avLst/>
                </a:prstGeom>
              </p:spPr>
            </p:pic>
          </p:grpSp>
        </p:grpSp>
        <p:sp>
          <p:nvSpPr>
            <p:cNvPr id="66" name="TextBox 65">
              <a:extLst>
                <a:ext uri="{FF2B5EF4-FFF2-40B4-BE49-F238E27FC236}">
                  <a16:creationId xmlns:a16="http://schemas.microsoft.com/office/drawing/2014/main" id="{66131D9C-8CDB-4FA5-AA73-144893663CD9}"/>
                </a:ext>
              </a:extLst>
            </p:cNvPr>
            <p:cNvSpPr txBox="1"/>
            <p:nvPr/>
          </p:nvSpPr>
          <p:spPr>
            <a:xfrm>
              <a:off x="1810136" y="5716029"/>
              <a:ext cx="5029200" cy="830997"/>
            </a:xfrm>
            <a:prstGeom prst="rect">
              <a:avLst/>
            </a:prstGeom>
            <a:solidFill>
              <a:schemeClr val="bg1"/>
            </a:solidFill>
          </p:spPr>
          <p:txBody>
            <a:bodyPr wrap="square" rtlCol="0">
              <a:spAutoFit/>
            </a:bodyPr>
            <a:lstStyle/>
            <a:p>
              <a:pPr algn="ctr"/>
              <a:r>
                <a:rPr lang="fr-FR" sz="2400" dirty="0"/>
                <a:t>Thermal time (°</a:t>
              </a:r>
              <a:r>
                <a:rPr lang="fr-FR" sz="2400" dirty="0" err="1"/>
                <a:t>C.d</a:t>
              </a:r>
              <a:r>
                <a:rPr lang="fr-FR" sz="2400" dirty="0"/>
                <a:t>)</a:t>
              </a:r>
            </a:p>
            <a:p>
              <a:pPr algn="ctr"/>
              <a:endParaRPr lang="en-US" sz="2400" dirty="0"/>
            </a:p>
          </p:txBody>
        </p:sp>
        <p:sp>
          <p:nvSpPr>
            <p:cNvPr id="67" name="TextBox 66">
              <a:extLst>
                <a:ext uri="{FF2B5EF4-FFF2-40B4-BE49-F238E27FC236}">
                  <a16:creationId xmlns:a16="http://schemas.microsoft.com/office/drawing/2014/main" id="{07220A2F-8F07-4215-A2A1-F791D6DD8B5D}"/>
                </a:ext>
              </a:extLst>
            </p:cNvPr>
            <p:cNvSpPr txBox="1"/>
            <p:nvPr/>
          </p:nvSpPr>
          <p:spPr>
            <a:xfrm rot="16200000">
              <a:off x="-617084" y="2858528"/>
              <a:ext cx="2356236" cy="461665"/>
            </a:xfrm>
            <a:prstGeom prst="rect">
              <a:avLst/>
            </a:prstGeom>
            <a:solidFill>
              <a:schemeClr val="bg1"/>
            </a:solidFill>
          </p:spPr>
          <p:txBody>
            <a:bodyPr wrap="square" rtlCol="0">
              <a:spAutoFit/>
            </a:bodyPr>
            <a:lstStyle/>
            <a:p>
              <a:pPr algn="ctr"/>
              <a:r>
                <a:rPr lang="fr-FR" sz="2400" dirty="0"/>
                <a:t>LAI</a:t>
              </a:r>
            </a:p>
          </p:txBody>
        </p:sp>
      </p:grpSp>
      <p:sp>
        <p:nvSpPr>
          <p:cNvPr id="24" name="Content Placeholder 2">
            <a:extLst>
              <a:ext uri="{FF2B5EF4-FFF2-40B4-BE49-F238E27FC236}">
                <a16:creationId xmlns:a16="http://schemas.microsoft.com/office/drawing/2014/main" id="{1CC01442-1C65-4BE2-BEB8-747FAC9A0A71}"/>
              </a:ext>
            </a:extLst>
          </p:cNvPr>
          <p:cNvSpPr txBox="1">
            <a:spLocks/>
          </p:cNvSpPr>
          <p:nvPr/>
        </p:nvSpPr>
        <p:spPr>
          <a:xfrm>
            <a:off x="7407245" y="1755229"/>
            <a:ext cx="4333370" cy="218804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2000" dirty="0"/>
              <a:t>How to </a:t>
            </a:r>
            <a:r>
              <a:rPr lang="fr-FR" sz="2000" b="1" dirty="0" err="1"/>
              <a:t>distribute</a:t>
            </a:r>
            <a:r>
              <a:rPr lang="fr-FR" sz="2000" b="1" dirty="0"/>
              <a:t> a </a:t>
            </a:r>
            <a:r>
              <a:rPr lang="fr-FR" sz="2000" b="1" dirty="0" err="1"/>
              <a:t>constraint</a:t>
            </a:r>
            <a:r>
              <a:rPr lang="fr-FR" sz="2000" b="1" dirty="0"/>
              <a:t> </a:t>
            </a:r>
            <a:r>
              <a:rPr lang="fr-FR" sz="2000" b="1" i="1" dirty="0"/>
              <a:t>c</a:t>
            </a:r>
            <a:r>
              <a:rPr lang="fr-FR" sz="2000" dirty="0"/>
              <a:t> (LA and </a:t>
            </a:r>
            <a:r>
              <a:rPr lang="fr-FR" sz="2000" dirty="0" err="1"/>
              <a:t>height</a:t>
            </a:r>
            <a:r>
              <a:rPr lang="fr-FR" sz="2000" dirty="0"/>
              <a:t>) </a:t>
            </a:r>
            <a:r>
              <a:rPr lang="fr-FR" sz="2000" dirty="0" err="1"/>
              <a:t>among</a:t>
            </a:r>
            <a:r>
              <a:rPr lang="fr-FR" sz="2000" dirty="0"/>
              <a:t> </a:t>
            </a:r>
            <a:r>
              <a:rPr lang="fr-FR" sz="2000" i="1" dirty="0"/>
              <a:t>n</a:t>
            </a:r>
            <a:r>
              <a:rPr lang="fr-FR" sz="2000" dirty="0"/>
              <a:t> </a:t>
            </a:r>
            <a:r>
              <a:rPr lang="fr-FR" sz="2000" dirty="0" err="1"/>
              <a:t>growing</a:t>
            </a:r>
            <a:r>
              <a:rPr lang="fr-FR" sz="2000" dirty="0"/>
              <a:t> </a:t>
            </a:r>
            <a:r>
              <a:rPr lang="fr-FR" sz="2000" dirty="0" err="1"/>
              <a:t>elements</a:t>
            </a:r>
            <a:r>
              <a:rPr lang="fr-FR" sz="2000" dirty="0"/>
              <a:t> ? </a:t>
            </a:r>
          </a:p>
          <a:p>
            <a:r>
              <a:rPr lang="fr-FR" sz="2000" dirty="0">
                <a:sym typeface="Wingdings" panose="05000000000000000000" pitchFamily="2" charset="2"/>
              </a:rPr>
              <a:t> </a:t>
            </a:r>
            <a:r>
              <a:rPr lang="fr-FR" sz="2000" b="1" dirty="0" err="1">
                <a:sym typeface="Wingdings" panose="05000000000000000000" pitchFamily="2" charset="2"/>
              </a:rPr>
              <a:t>among</a:t>
            </a:r>
            <a:r>
              <a:rPr lang="fr-FR" sz="2000" b="1" dirty="0">
                <a:sym typeface="Wingdings" panose="05000000000000000000" pitchFamily="2" charset="2"/>
              </a:rPr>
              <a:t> plants</a:t>
            </a:r>
            <a:r>
              <a:rPr lang="fr-FR" sz="2000" dirty="0">
                <a:sym typeface="Wingdings" panose="05000000000000000000" pitchFamily="2" charset="2"/>
              </a:rPr>
              <a:t> in a </a:t>
            </a:r>
            <a:r>
              <a:rPr lang="fr-FR" sz="2000" dirty="0" err="1">
                <a:sym typeface="Wingdings" panose="05000000000000000000" pitchFamily="2" charset="2"/>
              </a:rPr>
              <a:t>canopy</a:t>
            </a:r>
            <a:r>
              <a:rPr lang="fr-FR" sz="2000" dirty="0">
                <a:sym typeface="Wingdings" panose="05000000000000000000" pitchFamily="2" charset="2"/>
              </a:rPr>
              <a:t> and </a:t>
            </a:r>
            <a:r>
              <a:rPr lang="fr-FR" sz="2000" b="1" dirty="0" err="1">
                <a:sym typeface="Wingdings" panose="05000000000000000000" pitchFamily="2" charset="2"/>
              </a:rPr>
              <a:t>among</a:t>
            </a:r>
            <a:r>
              <a:rPr lang="fr-FR" sz="2000" b="1" dirty="0">
                <a:sym typeface="Wingdings" panose="05000000000000000000" pitchFamily="2" charset="2"/>
              </a:rPr>
              <a:t> </a:t>
            </a:r>
            <a:r>
              <a:rPr lang="fr-FR" sz="2000" b="1" dirty="0" err="1">
                <a:sym typeface="Wingdings" panose="05000000000000000000" pitchFamily="2" charset="2"/>
              </a:rPr>
              <a:t>organs</a:t>
            </a:r>
            <a:r>
              <a:rPr lang="fr-FR" sz="2000" b="1" dirty="0">
                <a:sym typeface="Wingdings" panose="05000000000000000000" pitchFamily="2" charset="2"/>
              </a:rPr>
              <a:t> </a:t>
            </a:r>
            <a:r>
              <a:rPr lang="fr-FR" sz="2000" dirty="0" err="1">
                <a:sym typeface="Wingdings" panose="05000000000000000000" pitchFamily="2" charset="2"/>
              </a:rPr>
              <a:t>within</a:t>
            </a:r>
            <a:r>
              <a:rPr lang="fr-FR" sz="2000" dirty="0">
                <a:sym typeface="Wingdings" panose="05000000000000000000" pitchFamily="2" charset="2"/>
              </a:rPr>
              <a:t> a plant</a:t>
            </a:r>
            <a:endParaRPr lang="fr-FR" sz="2000"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9DDCEC5-0228-4A21-8EA1-445F6E20D82A}"/>
                  </a:ext>
                </a:extLst>
              </p:cNvPr>
              <p:cNvSpPr txBox="1"/>
              <p:nvPr/>
            </p:nvSpPr>
            <p:spPr>
              <a:xfrm>
                <a:off x="7736191" y="4019273"/>
                <a:ext cx="3867230" cy="21549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num>
                        <m:den>
                          <m:r>
                            <a:rPr lang="en-US"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𝑡</m:t>
                          </m:r>
                        </m:den>
                      </m:f>
                      <m:r>
                        <m:rPr>
                          <m:nor/>
                        </m:rPr>
                        <a:rPr lang="fr-FR" b="0" i="0" smtClean="0"/>
                        <m:t> </m:t>
                      </m:r>
                      <m:r>
                        <m:rPr>
                          <m:nor/>
                        </m:rPr>
                        <a:rPr lang="en-US"/>
                        <m:t>= </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sub>
                        <m:sup/>
                        <m:e>
                          <m:nary>
                            <m:naryPr>
                              <m:chr m:val="∑"/>
                              <m:supHide m:val="on"/>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fr-FR"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sub>
                            <m:sup/>
                            <m:e>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𝑐</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𝑡</m:t>
                                  </m:r>
                                  <m:r>
                                    <a:rPr lang="fr-FR"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𝑡</m:t>
                                  </m:r>
                                </m:den>
                              </m:f>
                            </m:e>
                          </m:nary>
                        </m:e>
                      </m:nary>
                    </m:oMath>
                  </m:oMathPara>
                </a14:m>
                <a:endParaRPr lang="fr-FR" dirty="0"/>
              </a:p>
              <a:p>
                <a:endParaRPr lang="fr-FR" sz="1400" dirty="0"/>
              </a:p>
              <a:p>
                <a14:m>
                  <m:oMath xmlns:m="http://schemas.openxmlformats.org/officeDocument/2006/math">
                    <m:f>
                      <m:fPr>
                        <m:ctrlPr>
                          <a:rPr lang="en-US" sz="1600" i="1">
                            <a:latin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𝑐</m:t>
                        </m:r>
                      </m:num>
                      <m:den>
                        <m:r>
                          <a:rPr lang="en-US" sz="1600" i="1">
                            <a:latin typeface="Cambria Math" panose="02040503050406030204" pitchFamily="18" charset="0"/>
                            <a:ea typeface="Cambria Math" panose="02040503050406030204" pitchFamily="18" charset="0"/>
                          </a:rPr>
                          <m:t>𝜕</m:t>
                        </m:r>
                        <m:r>
                          <a:rPr lang="fr-FR" sz="1600" i="1">
                            <a:latin typeface="Cambria Math" panose="02040503050406030204" pitchFamily="18" charset="0"/>
                            <a:ea typeface="Cambria Math" panose="02040503050406030204" pitchFamily="18" charset="0"/>
                          </a:rPr>
                          <m:t>𝑡</m:t>
                        </m:r>
                      </m:den>
                    </m:f>
                  </m:oMath>
                </a14:m>
                <a:r>
                  <a:rPr lang="fr-FR" sz="1600" dirty="0"/>
                  <a:t>: </a:t>
                </a:r>
                <a:r>
                  <a:rPr lang="fr-FR" sz="1600" dirty="0" err="1"/>
                  <a:t>growth</a:t>
                </a:r>
                <a:r>
                  <a:rPr lang="fr-FR" sz="1600" dirty="0"/>
                  <a:t> </a:t>
                </a:r>
                <a:r>
                  <a:rPr lang="fr-FR" sz="1600" dirty="0" err="1"/>
                  <a:t>increment</a:t>
                </a:r>
                <a:r>
                  <a:rPr lang="fr-FR" sz="1600" dirty="0"/>
                  <a:t> at </a:t>
                </a:r>
                <a:r>
                  <a:rPr lang="fr-FR" sz="1600" dirty="0" err="1"/>
                  <a:t>crop</a:t>
                </a:r>
                <a:r>
                  <a:rPr lang="fr-FR" sz="1600" dirty="0"/>
                  <a:t> </a:t>
                </a:r>
                <a:r>
                  <a:rPr lang="fr-FR" sz="1600" dirty="0" err="1"/>
                  <a:t>scale</a:t>
                </a:r>
                <a:r>
                  <a:rPr lang="fr-FR" sz="1600" dirty="0"/>
                  <a:t> </a:t>
                </a:r>
              </a:p>
              <a:p>
                <a14:m>
                  <m:oMath xmlns:m="http://schemas.openxmlformats.org/officeDocument/2006/math">
                    <m:f>
                      <m:fPr>
                        <m:ctrlPr>
                          <a:rPr lang="en-US" sz="1600" i="1">
                            <a:latin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𝑐</m:t>
                            </m:r>
                          </m:e>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𝑗</m:t>
                            </m:r>
                          </m:sub>
                        </m:sSub>
                        <m:r>
                          <a:rPr lang="fr-FR" sz="1600" i="1">
                            <a:latin typeface="Cambria Math" panose="02040503050406030204" pitchFamily="18" charset="0"/>
                            <a:ea typeface="Cambria Math" panose="02040503050406030204" pitchFamily="18" charset="0"/>
                          </a:rPr>
                          <m:t>(</m:t>
                        </m:r>
                        <m:r>
                          <a:rPr lang="fr-FR" sz="1600" i="1">
                            <a:latin typeface="Cambria Math" panose="02040503050406030204" pitchFamily="18" charset="0"/>
                            <a:ea typeface="Cambria Math" panose="02040503050406030204" pitchFamily="18" charset="0"/>
                          </a:rPr>
                          <m:t>𝑡</m:t>
                        </m:r>
                        <m:r>
                          <a:rPr lang="fr-FR" sz="1600" i="1">
                            <a:latin typeface="Cambria Math" panose="02040503050406030204" pitchFamily="18" charset="0"/>
                            <a:ea typeface="Cambria Math" panose="02040503050406030204" pitchFamily="18" charset="0"/>
                          </a:rPr>
                          <m:t>)</m:t>
                        </m:r>
                      </m:num>
                      <m:den>
                        <m:r>
                          <a:rPr lang="en-US" sz="1600" i="1">
                            <a:latin typeface="Cambria Math" panose="02040503050406030204" pitchFamily="18" charset="0"/>
                            <a:ea typeface="Cambria Math" panose="02040503050406030204" pitchFamily="18" charset="0"/>
                          </a:rPr>
                          <m:t>𝜕</m:t>
                        </m:r>
                        <m:r>
                          <a:rPr lang="fr-FR" sz="1600" i="1">
                            <a:latin typeface="Cambria Math" panose="02040503050406030204" pitchFamily="18" charset="0"/>
                            <a:ea typeface="Cambria Math" panose="02040503050406030204" pitchFamily="18" charset="0"/>
                          </a:rPr>
                          <m:t>𝑡</m:t>
                        </m:r>
                      </m:den>
                    </m:f>
                  </m:oMath>
                </a14:m>
                <a:r>
                  <a:rPr lang="fr-FR" sz="1600" dirty="0"/>
                  <a:t>: </a:t>
                </a:r>
                <a:r>
                  <a:rPr lang="fr-FR" sz="1600" dirty="0" err="1"/>
                  <a:t>growth</a:t>
                </a:r>
                <a:r>
                  <a:rPr lang="fr-FR" sz="1600" dirty="0"/>
                  <a:t> </a:t>
                </a:r>
                <a:r>
                  <a:rPr lang="fr-FR" sz="1600" dirty="0" err="1"/>
                  <a:t>increment</a:t>
                </a:r>
                <a:r>
                  <a:rPr lang="fr-FR" sz="1600" dirty="0"/>
                  <a:t> for an </a:t>
                </a:r>
                <a:r>
                  <a:rPr lang="fr-FR" sz="1600" dirty="0" err="1"/>
                  <a:t>organ</a:t>
                </a:r>
                <a:endParaRPr lang="fr-FR" sz="1600" dirty="0"/>
              </a:p>
              <a:p>
                <a:r>
                  <a:rPr lang="fr-FR" sz="1600" dirty="0"/>
                  <a:t>P: set of plants of the </a:t>
                </a:r>
                <a:r>
                  <a:rPr lang="fr-FR" sz="1600" dirty="0" err="1"/>
                  <a:t>same</a:t>
                </a:r>
                <a:r>
                  <a:rPr lang="fr-FR" sz="1600" dirty="0"/>
                  <a:t> </a:t>
                </a:r>
                <a:r>
                  <a:rPr lang="fr-FR" sz="1600" dirty="0" err="1"/>
                  <a:t>species</a:t>
                </a:r>
                <a:r>
                  <a:rPr lang="fr-FR" sz="1600" dirty="0"/>
                  <a:t> in a </a:t>
                </a:r>
                <a:r>
                  <a:rPr lang="fr-FR" sz="1600" dirty="0" err="1"/>
                  <a:t>crop</a:t>
                </a:r>
                <a:endParaRPr lang="fr-FR" sz="1600" dirty="0"/>
              </a:p>
              <a:p>
                <a:r>
                  <a:rPr lang="fr-FR" sz="1600" dirty="0"/>
                  <a:t>G: set of </a:t>
                </a:r>
                <a:r>
                  <a:rPr lang="fr-FR" sz="1600" dirty="0" err="1"/>
                  <a:t>growing</a:t>
                </a:r>
                <a:r>
                  <a:rPr lang="fr-FR" sz="1600" dirty="0"/>
                  <a:t> </a:t>
                </a:r>
                <a:r>
                  <a:rPr lang="fr-FR" sz="1600" dirty="0" err="1"/>
                  <a:t>organs</a:t>
                </a:r>
                <a:r>
                  <a:rPr lang="fr-FR" sz="1600" dirty="0"/>
                  <a:t> in a plant</a:t>
                </a:r>
                <a:endParaRPr lang="en-US" sz="1600" dirty="0"/>
              </a:p>
            </p:txBody>
          </p:sp>
        </mc:Choice>
        <mc:Fallback xmlns="">
          <p:sp>
            <p:nvSpPr>
              <p:cNvPr id="25" name="TextBox 24">
                <a:extLst>
                  <a:ext uri="{FF2B5EF4-FFF2-40B4-BE49-F238E27FC236}">
                    <a16:creationId xmlns:a16="http://schemas.microsoft.com/office/drawing/2014/main" id="{79DDCEC5-0228-4A21-8EA1-445F6E20D82A}"/>
                  </a:ext>
                </a:extLst>
              </p:cNvPr>
              <p:cNvSpPr txBox="1">
                <a:spLocks noRot="1" noChangeAspect="1" noMove="1" noResize="1" noEditPoints="1" noAdjustHandles="1" noChangeArrowheads="1" noChangeShapeType="1" noTextEdit="1"/>
              </p:cNvSpPr>
              <p:nvPr/>
            </p:nvSpPr>
            <p:spPr>
              <a:xfrm>
                <a:off x="7736191" y="4019273"/>
                <a:ext cx="3867230" cy="2154949"/>
              </a:xfrm>
              <a:prstGeom prst="rect">
                <a:avLst/>
              </a:prstGeom>
              <a:blipFill>
                <a:blip r:embed="rId9"/>
                <a:stretch>
                  <a:fillRect l="-3155" b="-4802"/>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EA186D5D-990D-4829-B851-28BF3A0C5BEA}"/>
              </a:ext>
            </a:extLst>
          </p:cNvPr>
          <p:cNvSpPr txBox="1"/>
          <p:nvPr/>
        </p:nvSpPr>
        <p:spPr>
          <a:xfrm>
            <a:off x="50338" y="6169708"/>
            <a:ext cx="1292774" cy="646331"/>
          </a:xfrm>
          <a:prstGeom prst="rect">
            <a:avLst/>
          </a:prstGeom>
          <a:noFill/>
        </p:spPr>
        <p:txBody>
          <a:bodyPr wrap="square" rtlCol="0">
            <a:spAutoFit/>
          </a:bodyPr>
          <a:lstStyle/>
          <a:p>
            <a:r>
              <a:rPr lang="en-US" dirty="0"/>
              <a:t>*LAI = Leaf Area Index</a:t>
            </a:r>
          </a:p>
        </p:txBody>
      </p:sp>
      <p:sp>
        <p:nvSpPr>
          <p:cNvPr id="27" name="TextBox 26">
            <a:extLst>
              <a:ext uri="{FF2B5EF4-FFF2-40B4-BE49-F238E27FC236}">
                <a16:creationId xmlns:a16="http://schemas.microsoft.com/office/drawing/2014/main" id="{AE36E73A-CDA8-4220-AD6D-AD6CA1535E90}"/>
              </a:ext>
            </a:extLst>
          </p:cNvPr>
          <p:cNvSpPr txBox="1"/>
          <p:nvPr/>
        </p:nvSpPr>
        <p:spPr>
          <a:xfrm>
            <a:off x="345305" y="3292221"/>
            <a:ext cx="212662" cy="369332"/>
          </a:xfrm>
          <a:prstGeom prst="rect">
            <a:avLst/>
          </a:prstGeom>
          <a:noFill/>
        </p:spPr>
        <p:txBody>
          <a:bodyPr wrap="square" rtlCol="0">
            <a:spAutoFit/>
          </a:bodyPr>
          <a:lstStyle/>
          <a:p>
            <a:r>
              <a:rPr lang="en-US" dirty="0"/>
              <a:t>*</a:t>
            </a:r>
          </a:p>
        </p:txBody>
      </p:sp>
      <p:sp>
        <p:nvSpPr>
          <p:cNvPr id="28" name="Title 1">
            <a:extLst>
              <a:ext uri="{FF2B5EF4-FFF2-40B4-BE49-F238E27FC236}">
                <a16:creationId xmlns:a16="http://schemas.microsoft.com/office/drawing/2014/main" id="{D5DC926C-93AC-4C83-B482-EF73F9D74A79}"/>
              </a:ext>
            </a:extLst>
          </p:cNvPr>
          <p:cNvSpPr txBox="1">
            <a:spLocks/>
          </p:cNvSpPr>
          <p:nvPr/>
        </p:nvSpPr>
        <p:spPr>
          <a:xfrm>
            <a:off x="523294" y="393959"/>
            <a:ext cx="10981134" cy="126873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dirty="0"/>
          </a:p>
        </p:txBody>
      </p:sp>
      <p:sp>
        <p:nvSpPr>
          <p:cNvPr id="30" name="Title 1">
            <a:extLst>
              <a:ext uri="{FF2B5EF4-FFF2-40B4-BE49-F238E27FC236}">
                <a16:creationId xmlns:a16="http://schemas.microsoft.com/office/drawing/2014/main" id="{04E1B219-4EC4-44E9-AA79-EB683D750E01}"/>
              </a:ext>
            </a:extLst>
          </p:cNvPr>
          <p:cNvSpPr txBox="1">
            <a:spLocks/>
          </p:cNvSpPr>
          <p:nvPr/>
        </p:nvSpPr>
        <p:spPr>
          <a:xfrm>
            <a:off x="523294" y="299194"/>
            <a:ext cx="11089549" cy="116055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Organ growth is constrained by canopy-scale dynamics generated by crop model.</a:t>
            </a:r>
          </a:p>
        </p:txBody>
      </p:sp>
      <p:sp>
        <p:nvSpPr>
          <p:cNvPr id="3" name="Slide Number Placeholder 2">
            <a:extLst>
              <a:ext uri="{FF2B5EF4-FFF2-40B4-BE49-F238E27FC236}">
                <a16:creationId xmlns:a16="http://schemas.microsoft.com/office/drawing/2014/main" id="{F13FFF4A-2492-49D7-9553-BBBC18F41E89}"/>
              </a:ext>
            </a:extLst>
          </p:cNvPr>
          <p:cNvSpPr>
            <a:spLocks noGrp="1"/>
          </p:cNvSpPr>
          <p:nvPr>
            <p:ph type="sldNum" sz="quarter" idx="12"/>
          </p:nvPr>
        </p:nvSpPr>
        <p:spPr/>
        <p:txBody>
          <a:bodyPr/>
          <a:lstStyle/>
          <a:p>
            <a:fld id="{27C6CCC6-2BE5-4E42-96A4-D1E8E81A3D8E}" type="slidenum">
              <a:rPr lang="fr-FR" smtClean="0"/>
              <a:t>16</a:t>
            </a:fld>
            <a:endParaRPr lang="fr-FR"/>
          </a:p>
        </p:txBody>
      </p:sp>
    </p:spTree>
    <p:extLst>
      <p:ext uri="{BB962C8B-B14F-4D97-AF65-F5344CB8AC3E}">
        <p14:creationId xmlns:p14="http://schemas.microsoft.com/office/powerpoint/2010/main" val="413062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BFE71-EC29-4506-AB26-37E2A342EFF5}"/>
              </a:ext>
            </a:extLst>
          </p:cNvPr>
          <p:cNvSpPr>
            <a:spLocks noGrp="1"/>
          </p:cNvSpPr>
          <p:nvPr>
            <p:ph type="title"/>
          </p:nvPr>
        </p:nvSpPr>
        <p:spPr>
          <a:xfrm>
            <a:off x="838200" y="206702"/>
            <a:ext cx="10515600" cy="1027178"/>
          </a:xfrm>
        </p:spPr>
        <p:txBody>
          <a:bodyPr>
            <a:noAutofit/>
          </a:bodyPr>
          <a:lstStyle/>
          <a:p>
            <a:r>
              <a:rPr lang="fr-FR" sz="4000" dirty="0" err="1"/>
              <a:t>Different</a:t>
            </a:r>
            <a:r>
              <a:rPr lang="fr-FR" sz="4000" dirty="0"/>
              <a:t> </a:t>
            </a:r>
            <a:r>
              <a:rPr lang="fr-FR" sz="4000" dirty="0" err="1"/>
              <a:t>scales</a:t>
            </a:r>
            <a:r>
              <a:rPr lang="fr-FR" sz="4000" dirty="0"/>
              <a:t> of </a:t>
            </a:r>
            <a:r>
              <a:rPr lang="fr-FR" sz="4000" dirty="0" err="1"/>
              <a:t>heterogeneity</a:t>
            </a:r>
            <a:r>
              <a:rPr lang="fr-FR" sz="4000" dirty="0"/>
              <a:t> for an </a:t>
            </a:r>
            <a:r>
              <a:rPr lang="fr-FR" sz="4000" dirty="0" err="1"/>
              <a:t>intercrop</a:t>
            </a:r>
            <a:endParaRPr lang="en-US" sz="4000" dirty="0"/>
          </a:p>
        </p:txBody>
      </p:sp>
      <p:sp>
        <p:nvSpPr>
          <p:cNvPr id="3" name="Content Placeholder 2">
            <a:extLst>
              <a:ext uri="{FF2B5EF4-FFF2-40B4-BE49-F238E27FC236}">
                <a16:creationId xmlns:a16="http://schemas.microsoft.com/office/drawing/2014/main" id="{6C4C23FC-D5BF-49FE-B3E7-563A4EF968AB}"/>
              </a:ext>
            </a:extLst>
          </p:cNvPr>
          <p:cNvSpPr>
            <a:spLocks noGrp="1"/>
          </p:cNvSpPr>
          <p:nvPr>
            <p:ph idx="1"/>
          </p:nvPr>
        </p:nvSpPr>
        <p:spPr>
          <a:xfrm>
            <a:off x="945932" y="1411256"/>
            <a:ext cx="3187899" cy="2851026"/>
          </a:xfrm>
        </p:spPr>
        <p:txBody>
          <a:bodyPr>
            <a:normAutofit/>
          </a:bodyPr>
          <a:lstStyle/>
          <a:p>
            <a:pPr marL="0" indent="0">
              <a:buNone/>
            </a:pPr>
            <a:r>
              <a:rPr lang="fr-FR" b="1" dirty="0" err="1"/>
              <a:t>I</a:t>
            </a:r>
            <a:r>
              <a:rPr lang="fr-FR" b="1" dirty="0" err="1">
                <a:sym typeface="Wingdings" panose="05000000000000000000" pitchFamily="2" charset="2"/>
              </a:rPr>
              <a:t>nterspecific</a:t>
            </a:r>
            <a:r>
              <a:rPr lang="fr-FR" b="1" dirty="0">
                <a:sym typeface="Wingdings" panose="05000000000000000000" pitchFamily="2" charset="2"/>
              </a:rPr>
              <a:t> </a:t>
            </a:r>
            <a:r>
              <a:rPr lang="fr-FR" dirty="0" err="1">
                <a:sym typeface="Wingdings" panose="05000000000000000000" pitchFamily="2" charset="2"/>
              </a:rPr>
              <a:t>heterogeneity</a:t>
            </a:r>
            <a:endParaRPr lang="fr-FR" dirty="0">
              <a:sym typeface="Wingdings" panose="05000000000000000000" pitchFamily="2" charset="2"/>
            </a:endParaRPr>
          </a:p>
          <a:p>
            <a:pPr marL="0" indent="0">
              <a:buNone/>
            </a:pPr>
            <a:r>
              <a:rPr lang="fr-FR" dirty="0">
                <a:sym typeface="Wingdings" panose="05000000000000000000" pitchFamily="2" charset="2"/>
              </a:rPr>
              <a:t> </a:t>
            </a:r>
            <a:r>
              <a:rPr lang="fr-FR" dirty="0" err="1">
                <a:sym typeface="Wingdings" panose="05000000000000000000" pitchFamily="2" charset="2"/>
              </a:rPr>
              <a:t>Intercropping</a:t>
            </a:r>
            <a:r>
              <a:rPr lang="fr-FR" dirty="0">
                <a:sym typeface="Wingdings" panose="05000000000000000000" pitchFamily="2" charset="2"/>
              </a:rPr>
              <a:t> </a:t>
            </a:r>
            <a:r>
              <a:rPr lang="fr-FR" dirty="0" err="1">
                <a:sym typeface="Wingdings" panose="05000000000000000000" pitchFamily="2" charset="2"/>
              </a:rPr>
              <a:t>sowing</a:t>
            </a:r>
            <a:r>
              <a:rPr lang="fr-FR" dirty="0">
                <a:sym typeface="Wingdings" panose="05000000000000000000" pitchFamily="2" charset="2"/>
              </a:rPr>
              <a:t> pattern</a:t>
            </a:r>
            <a:endParaRPr lang="en-US" dirty="0"/>
          </a:p>
        </p:txBody>
      </p:sp>
      <p:sp>
        <p:nvSpPr>
          <p:cNvPr id="4" name="Rectangle 3">
            <a:extLst>
              <a:ext uri="{FF2B5EF4-FFF2-40B4-BE49-F238E27FC236}">
                <a16:creationId xmlns:a16="http://schemas.microsoft.com/office/drawing/2014/main" id="{0FCD8E0C-ED5A-44EA-A762-E60539567E54}"/>
              </a:ext>
            </a:extLst>
          </p:cNvPr>
          <p:cNvSpPr/>
          <p:nvPr/>
        </p:nvSpPr>
        <p:spPr>
          <a:xfrm flipH="1">
            <a:off x="531146" y="350396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4D9871E-68F8-4DB3-8DD8-87F5D0579FA8}"/>
              </a:ext>
            </a:extLst>
          </p:cNvPr>
          <p:cNvSpPr/>
          <p:nvPr/>
        </p:nvSpPr>
        <p:spPr>
          <a:xfrm flipH="1">
            <a:off x="966434" y="350396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189F1D1-A385-4222-939E-44A8AA5D7EE5}"/>
              </a:ext>
            </a:extLst>
          </p:cNvPr>
          <p:cNvSpPr/>
          <p:nvPr/>
        </p:nvSpPr>
        <p:spPr>
          <a:xfrm flipH="1">
            <a:off x="1388925" y="350396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EB746ED-0BAA-4F9B-86EB-6A23FE42AF23}"/>
              </a:ext>
            </a:extLst>
          </p:cNvPr>
          <p:cNvSpPr/>
          <p:nvPr/>
        </p:nvSpPr>
        <p:spPr>
          <a:xfrm flipH="1">
            <a:off x="1833726" y="350396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E96D122C-508B-41DF-8EAD-5383887EDBFF}"/>
              </a:ext>
            </a:extLst>
          </p:cNvPr>
          <p:cNvSpPr txBox="1">
            <a:spLocks/>
          </p:cNvSpPr>
          <p:nvPr/>
        </p:nvSpPr>
        <p:spPr>
          <a:xfrm>
            <a:off x="5411520" y="1411256"/>
            <a:ext cx="3095695" cy="4132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b="1" dirty="0" err="1">
                <a:sym typeface="Wingdings" panose="05000000000000000000" pitchFamily="2" charset="2"/>
              </a:rPr>
              <a:t>Intraspecific</a:t>
            </a:r>
            <a:r>
              <a:rPr lang="fr-FR" b="1" dirty="0">
                <a:sym typeface="Wingdings" panose="05000000000000000000" pitchFamily="2" charset="2"/>
              </a:rPr>
              <a:t> </a:t>
            </a:r>
            <a:r>
              <a:rPr lang="fr-FR" dirty="0" err="1">
                <a:sym typeface="Wingdings" panose="05000000000000000000" pitchFamily="2" charset="2"/>
              </a:rPr>
              <a:t>heterogeneity</a:t>
            </a:r>
            <a:endParaRPr lang="fr-FR" dirty="0">
              <a:sym typeface="Wingdings" panose="05000000000000000000" pitchFamily="2" charset="2"/>
            </a:endParaRPr>
          </a:p>
          <a:p>
            <a:pPr marL="0" indent="0">
              <a:buNone/>
            </a:pPr>
            <a:r>
              <a:rPr lang="fr-FR" dirty="0">
                <a:sym typeface="Wingdings" panose="05000000000000000000" pitchFamily="2" charset="2"/>
              </a:rPr>
              <a:t> </a:t>
            </a:r>
            <a:r>
              <a:rPr lang="fr-FR" dirty="0" err="1">
                <a:sym typeface="Wingdings" panose="05000000000000000000" pitchFamily="2" charset="2"/>
              </a:rPr>
              <a:t>Varietal</a:t>
            </a:r>
            <a:r>
              <a:rPr lang="fr-FR" dirty="0">
                <a:sym typeface="Wingdings" panose="05000000000000000000" pitchFamily="2" charset="2"/>
              </a:rPr>
              <a:t> </a:t>
            </a:r>
            <a:r>
              <a:rPr lang="fr-FR" dirty="0" err="1">
                <a:sym typeface="Wingdings" panose="05000000000000000000" pitchFamily="2" charset="2"/>
              </a:rPr>
              <a:t>variability</a:t>
            </a:r>
            <a:endParaRPr lang="fr-FR" dirty="0">
              <a:sym typeface="Wingdings" panose="05000000000000000000" pitchFamily="2" charset="2"/>
            </a:endParaRPr>
          </a:p>
        </p:txBody>
      </p:sp>
      <p:sp>
        <p:nvSpPr>
          <p:cNvPr id="13" name="Rectangle 12">
            <a:extLst>
              <a:ext uri="{FF2B5EF4-FFF2-40B4-BE49-F238E27FC236}">
                <a16:creationId xmlns:a16="http://schemas.microsoft.com/office/drawing/2014/main" id="{799389F9-3977-47A6-8B65-014951082EB2}"/>
              </a:ext>
            </a:extLst>
          </p:cNvPr>
          <p:cNvSpPr/>
          <p:nvPr/>
        </p:nvSpPr>
        <p:spPr>
          <a:xfrm flipH="1">
            <a:off x="2422762" y="350427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018F0-57F8-4417-822A-F8E18802698E}"/>
              </a:ext>
            </a:extLst>
          </p:cNvPr>
          <p:cNvSpPr/>
          <p:nvPr/>
        </p:nvSpPr>
        <p:spPr>
          <a:xfrm flipH="1">
            <a:off x="2869195" y="3504278"/>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174CF50-E944-41B9-9D08-673723F583BB}"/>
              </a:ext>
            </a:extLst>
          </p:cNvPr>
          <p:cNvSpPr/>
          <p:nvPr/>
        </p:nvSpPr>
        <p:spPr>
          <a:xfrm flipH="1">
            <a:off x="3303478" y="3504278"/>
            <a:ext cx="443877" cy="209725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9D60275-43D7-4950-8DC8-A36BD92B5A41}"/>
              </a:ext>
            </a:extLst>
          </p:cNvPr>
          <p:cNvSpPr/>
          <p:nvPr/>
        </p:nvSpPr>
        <p:spPr>
          <a:xfrm flipH="1">
            <a:off x="3737638" y="3505661"/>
            <a:ext cx="443877" cy="2097252"/>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6CA15BD-95E6-42D1-B1F2-32B3A5C56B7D}"/>
              </a:ext>
            </a:extLst>
          </p:cNvPr>
          <p:cNvSpPr/>
          <p:nvPr/>
        </p:nvSpPr>
        <p:spPr>
          <a:xfrm flipH="1">
            <a:off x="2412251" y="4891765"/>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92EBDB2-4C91-4D18-A62B-6DE612FEB3E3}"/>
              </a:ext>
            </a:extLst>
          </p:cNvPr>
          <p:cNvSpPr/>
          <p:nvPr/>
        </p:nvSpPr>
        <p:spPr>
          <a:xfrm flipH="1">
            <a:off x="2412251" y="4194212"/>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47EE099-6B27-4649-BED4-973F15AAE608}"/>
              </a:ext>
            </a:extLst>
          </p:cNvPr>
          <p:cNvSpPr/>
          <p:nvPr/>
        </p:nvSpPr>
        <p:spPr>
          <a:xfrm flipH="1">
            <a:off x="3231390" y="4893239"/>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CB7EE6A-3DBE-4FEF-A5FB-6B0FA4620B93}"/>
              </a:ext>
            </a:extLst>
          </p:cNvPr>
          <p:cNvSpPr/>
          <p:nvPr/>
        </p:nvSpPr>
        <p:spPr>
          <a:xfrm flipH="1">
            <a:off x="3304960" y="4195687"/>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BD62830-75AD-403D-8E21-D9F997E09E5B}"/>
              </a:ext>
            </a:extLst>
          </p:cNvPr>
          <p:cNvSpPr/>
          <p:nvPr/>
        </p:nvSpPr>
        <p:spPr>
          <a:xfrm flipH="1">
            <a:off x="2869195" y="4194214"/>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BA057CD-A397-477E-AFC3-116A7D681B6D}"/>
              </a:ext>
            </a:extLst>
          </p:cNvPr>
          <p:cNvSpPr/>
          <p:nvPr/>
        </p:nvSpPr>
        <p:spPr>
          <a:xfrm flipH="1">
            <a:off x="2417252" y="490227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78D1066-C62B-4ED5-96ED-FC6F2637FE1A}"/>
              </a:ext>
            </a:extLst>
          </p:cNvPr>
          <p:cNvSpPr/>
          <p:nvPr/>
        </p:nvSpPr>
        <p:spPr>
          <a:xfrm flipH="1">
            <a:off x="3739128" y="419421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553ED22-F80C-43E8-8073-F3E10C8037CD}"/>
              </a:ext>
            </a:extLst>
          </p:cNvPr>
          <p:cNvSpPr/>
          <p:nvPr/>
        </p:nvSpPr>
        <p:spPr>
          <a:xfrm flipH="1">
            <a:off x="3320318" y="490227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E291AF53-E1F9-4083-85F2-339A88037782}"/>
              </a:ext>
            </a:extLst>
          </p:cNvPr>
          <p:cNvGrpSpPr/>
          <p:nvPr/>
        </p:nvGrpSpPr>
        <p:grpSpPr>
          <a:xfrm>
            <a:off x="5189861" y="3430396"/>
            <a:ext cx="2725913" cy="2199233"/>
            <a:chOff x="4990353" y="3710866"/>
            <a:chExt cx="3468158" cy="2629443"/>
          </a:xfrm>
        </p:grpSpPr>
        <p:sp>
          <p:nvSpPr>
            <p:cNvPr id="9" name="Rectangle 8">
              <a:extLst>
                <a:ext uri="{FF2B5EF4-FFF2-40B4-BE49-F238E27FC236}">
                  <a16:creationId xmlns:a16="http://schemas.microsoft.com/office/drawing/2014/main" id="{8B925DA6-E92D-4ED0-9465-A2F8CC42D8FC}"/>
                </a:ext>
              </a:extLst>
            </p:cNvPr>
            <p:cNvSpPr/>
            <p:nvPr/>
          </p:nvSpPr>
          <p:spPr>
            <a:xfrm>
              <a:off x="4991665" y="3710866"/>
              <a:ext cx="861134" cy="2601034"/>
            </a:xfrm>
            <a:prstGeom prst="rect">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8100000" scaled="1"/>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9D6FB8-2364-4189-AF12-CE9CE60D5899}"/>
                </a:ext>
              </a:extLst>
            </p:cNvPr>
            <p:cNvSpPr/>
            <p:nvPr/>
          </p:nvSpPr>
          <p:spPr>
            <a:xfrm>
              <a:off x="5852799" y="3710866"/>
              <a:ext cx="861134" cy="2601034"/>
            </a:xfrm>
            <a:prstGeom prst="rect">
              <a:avLst/>
            </a:prstGeom>
            <a:gradFill flip="none" rotWithShape="1">
              <a:gsLst>
                <a:gs pos="0">
                  <a:srgbClr val="F39200">
                    <a:shade val="30000"/>
                    <a:satMod val="115000"/>
                  </a:srgbClr>
                </a:gs>
                <a:gs pos="50000">
                  <a:srgbClr val="F39200">
                    <a:shade val="67500"/>
                    <a:satMod val="115000"/>
                  </a:srgbClr>
                </a:gs>
                <a:gs pos="100000">
                  <a:srgbClr val="F39200">
                    <a:shade val="100000"/>
                    <a:satMod val="115000"/>
                  </a:srgbClr>
                </a:gs>
              </a:gsLst>
              <a:lin ang="5400000" scaled="1"/>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859B74D-03C7-495A-822B-BAE86BDD3FB9}"/>
                </a:ext>
              </a:extLst>
            </p:cNvPr>
            <p:cNvSpPr/>
            <p:nvPr/>
          </p:nvSpPr>
          <p:spPr>
            <a:xfrm>
              <a:off x="6713933" y="3710866"/>
              <a:ext cx="861134" cy="2601034"/>
            </a:xfrm>
            <a:prstGeom prst="rect">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path path="circle">
                <a:fillToRect l="50000" t="50000" r="50000" b="50000"/>
              </a:path>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21E039B-77C5-418A-A627-C44263B6DF1A}"/>
                </a:ext>
              </a:extLst>
            </p:cNvPr>
            <p:cNvSpPr/>
            <p:nvPr/>
          </p:nvSpPr>
          <p:spPr>
            <a:xfrm>
              <a:off x="7575067" y="3710866"/>
              <a:ext cx="861134" cy="2601034"/>
            </a:xfrm>
            <a:prstGeom prst="rect">
              <a:avLst/>
            </a:prstGeom>
            <a:gradFill flip="none" rotWithShape="1">
              <a:gsLst>
                <a:gs pos="0">
                  <a:srgbClr val="F39200">
                    <a:shade val="30000"/>
                    <a:satMod val="115000"/>
                  </a:srgbClr>
                </a:gs>
                <a:gs pos="50000">
                  <a:srgbClr val="F39200">
                    <a:shade val="67500"/>
                    <a:satMod val="115000"/>
                  </a:srgbClr>
                </a:gs>
                <a:gs pos="100000">
                  <a:srgbClr val="F39200">
                    <a:shade val="100000"/>
                    <a:satMod val="115000"/>
                  </a:srgbClr>
                </a:gs>
              </a:gsLst>
              <a:lin ang="13500000" scaled="1"/>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458619E-56F5-43F6-B84B-B0E10B1CAC13}"/>
                </a:ext>
              </a:extLst>
            </p:cNvPr>
            <p:cNvSpPr/>
            <p:nvPr/>
          </p:nvSpPr>
          <p:spPr>
            <a:xfrm flipH="1">
              <a:off x="4990354" y="561295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0E76D6-8CAB-466E-9B91-B590B5B4D2E6}"/>
                </a:ext>
              </a:extLst>
            </p:cNvPr>
            <p:cNvSpPr/>
            <p:nvPr/>
          </p:nvSpPr>
          <p:spPr>
            <a:xfrm flipH="1">
              <a:off x="5415932" y="5625538"/>
              <a:ext cx="443877" cy="699001"/>
            </a:xfrm>
            <a:prstGeom prst="rect">
              <a:avLst/>
            </a:prstGeom>
            <a:solidFill>
              <a:srgbClr val="00B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88B8294-2CFB-4CA4-9365-BF11A9160774}"/>
                </a:ext>
              </a:extLst>
            </p:cNvPr>
            <p:cNvSpPr/>
            <p:nvPr/>
          </p:nvSpPr>
          <p:spPr>
            <a:xfrm flipH="1">
              <a:off x="5399880" y="3721787"/>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DEEA983-1FFE-4D06-BA09-03BAE9400DF1}"/>
                </a:ext>
              </a:extLst>
            </p:cNvPr>
            <p:cNvSpPr/>
            <p:nvPr/>
          </p:nvSpPr>
          <p:spPr>
            <a:xfrm flipH="1">
              <a:off x="4997517" y="4414431"/>
              <a:ext cx="443877" cy="699001"/>
            </a:xfrm>
            <a:prstGeom prst="rect">
              <a:avLst/>
            </a:prstGeom>
            <a:solidFill>
              <a:srgbClr val="39975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A43C75D-FEB5-486E-AAE2-6301B131C94A}"/>
                </a:ext>
              </a:extLst>
            </p:cNvPr>
            <p:cNvSpPr/>
            <p:nvPr/>
          </p:nvSpPr>
          <p:spPr>
            <a:xfrm flipH="1">
              <a:off x="5411521" y="4427070"/>
              <a:ext cx="443877" cy="699001"/>
            </a:xfrm>
            <a:prstGeom prst="rect">
              <a:avLst/>
            </a:prstGeom>
            <a:solidFill>
              <a:srgbClr val="24743A"/>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A74C614-4E5B-4DC7-AF68-F67241A5D8C9}"/>
                </a:ext>
              </a:extLst>
            </p:cNvPr>
            <p:cNvSpPr/>
            <p:nvPr/>
          </p:nvSpPr>
          <p:spPr>
            <a:xfrm flipH="1">
              <a:off x="5005905" y="5071607"/>
              <a:ext cx="443877" cy="699001"/>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F25FBC8-227D-46B2-AE38-BC2FBC3DBF2F}"/>
                </a:ext>
              </a:extLst>
            </p:cNvPr>
            <p:cNvSpPr/>
            <p:nvPr/>
          </p:nvSpPr>
          <p:spPr>
            <a:xfrm flipH="1">
              <a:off x="5423998" y="5113432"/>
              <a:ext cx="443877" cy="699001"/>
            </a:xfrm>
            <a:prstGeom prst="rect">
              <a:avLst/>
            </a:prstGeom>
            <a:solidFill>
              <a:schemeClr val="accent6">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3DB7384-1DEA-4ADE-887B-F71EB13D5F21}"/>
                </a:ext>
              </a:extLst>
            </p:cNvPr>
            <p:cNvSpPr/>
            <p:nvPr/>
          </p:nvSpPr>
          <p:spPr>
            <a:xfrm flipH="1">
              <a:off x="4990353" y="3731422"/>
              <a:ext cx="443877" cy="699001"/>
            </a:xfrm>
            <a:prstGeom prst="rect">
              <a:avLst/>
            </a:prstGeom>
            <a:solidFill>
              <a:schemeClr val="accent6">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A65899F-D1F6-421C-A88E-7607D0AEC454}"/>
                </a:ext>
              </a:extLst>
            </p:cNvPr>
            <p:cNvSpPr/>
            <p:nvPr/>
          </p:nvSpPr>
          <p:spPr>
            <a:xfrm>
              <a:off x="6699593" y="3726636"/>
              <a:ext cx="861134" cy="2601034"/>
            </a:xfrm>
            <a:prstGeom prst="rect">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8100000" scaled="1"/>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574DC8D-F01F-4FBB-BC6E-F21D432B545C}"/>
                </a:ext>
              </a:extLst>
            </p:cNvPr>
            <p:cNvSpPr/>
            <p:nvPr/>
          </p:nvSpPr>
          <p:spPr>
            <a:xfrm flipH="1">
              <a:off x="6698282" y="5628723"/>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6C0F730-F76C-48A3-8E1E-F1A7FF78B1B9}"/>
                </a:ext>
              </a:extLst>
            </p:cNvPr>
            <p:cNvSpPr/>
            <p:nvPr/>
          </p:nvSpPr>
          <p:spPr>
            <a:xfrm flipH="1">
              <a:off x="7123860" y="5641308"/>
              <a:ext cx="443877" cy="699001"/>
            </a:xfrm>
            <a:prstGeom prst="rect">
              <a:avLst/>
            </a:prstGeom>
            <a:solidFill>
              <a:srgbClr val="00B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9E2BC55-680D-4B2C-885E-8ADE2B0E8E7D}"/>
                </a:ext>
              </a:extLst>
            </p:cNvPr>
            <p:cNvSpPr/>
            <p:nvPr/>
          </p:nvSpPr>
          <p:spPr>
            <a:xfrm flipH="1">
              <a:off x="7107808" y="3737557"/>
              <a:ext cx="443877" cy="69900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8FA89E6-FD47-44B1-84CF-E08D50FE1E93}"/>
                </a:ext>
              </a:extLst>
            </p:cNvPr>
            <p:cNvSpPr/>
            <p:nvPr/>
          </p:nvSpPr>
          <p:spPr>
            <a:xfrm flipH="1">
              <a:off x="6705445" y="4430201"/>
              <a:ext cx="443877" cy="699001"/>
            </a:xfrm>
            <a:prstGeom prst="rect">
              <a:avLst/>
            </a:prstGeom>
            <a:solidFill>
              <a:srgbClr val="39975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6D6BADC3-B58D-429E-918A-1C7A428BEF3F}"/>
                </a:ext>
              </a:extLst>
            </p:cNvPr>
            <p:cNvSpPr/>
            <p:nvPr/>
          </p:nvSpPr>
          <p:spPr>
            <a:xfrm flipH="1">
              <a:off x="7119449" y="4442840"/>
              <a:ext cx="443877" cy="699001"/>
            </a:xfrm>
            <a:prstGeom prst="rect">
              <a:avLst/>
            </a:prstGeom>
            <a:solidFill>
              <a:srgbClr val="24743A"/>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E454878-6708-46C7-8D63-423BB3D03CC9}"/>
                </a:ext>
              </a:extLst>
            </p:cNvPr>
            <p:cNvSpPr/>
            <p:nvPr/>
          </p:nvSpPr>
          <p:spPr>
            <a:xfrm flipH="1">
              <a:off x="6713833" y="5087377"/>
              <a:ext cx="443877" cy="699001"/>
            </a:xfrm>
            <a:prstGeom prst="rect">
              <a:avLst/>
            </a:prstGeom>
            <a:solidFill>
              <a:schemeClr val="accent3">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807EE1F-A4DD-44CA-9FA3-6AE4DF57AFC9}"/>
                </a:ext>
              </a:extLst>
            </p:cNvPr>
            <p:cNvSpPr/>
            <p:nvPr/>
          </p:nvSpPr>
          <p:spPr>
            <a:xfrm flipH="1">
              <a:off x="7131926" y="5129202"/>
              <a:ext cx="443877" cy="699001"/>
            </a:xfrm>
            <a:prstGeom prst="rect">
              <a:avLst/>
            </a:prstGeom>
            <a:solidFill>
              <a:schemeClr val="accent6">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7F4AAC9-BACA-41EC-9849-E98CBA788266}"/>
                </a:ext>
              </a:extLst>
            </p:cNvPr>
            <p:cNvSpPr/>
            <p:nvPr/>
          </p:nvSpPr>
          <p:spPr>
            <a:xfrm flipH="1">
              <a:off x="6698281" y="3747192"/>
              <a:ext cx="443877" cy="699001"/>
            </a:xfrm>
            <a:prstGeom prst="rect">
              <a:avLst/>
            </a:prstGeom>
            <a:solidFill>
              <a:schemeClr val="accent6">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E92B02A-7FE6-4BCF-8522-A0976FD2B7C9}"/>
                </a:ext>
              </a:extLst>
            </p:cNvPr>
            <p:cNvSpPr/>
            <p:nvPr/>
          </p:nvSpPr>
          <p:spPr>
            <a:xfrm flipH="1">
              <a:off x="5854311" y="3712245"/>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84C262D-AE7C-4FC2-B1B1-9809D983CEF9}"/>
                </a:ext>
              </a:extLst>
            </p:cNvPr>
            <p:cNvSpPr/>
            <p:nvPr/>
          </p:nvSpPr>
          <p:spPr>
            <a:xfrm flipH="1">
              <a:off x="6258415" y="4307082"/>
              <a:ext cx="443877" cy="699001"/>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C68631A-EB34-4910-94F2-9E3456F92378}"/>
                </a:ext>
              </a:extLst>
            </p:cNvPr>
            <p:cNvSpPr/>
            <p:nvPr/>
          </p:nvSpPr>
          <p:spPr>
            <a:xfrm flipH="1">
              <a:off x="6285686" y="4974994"/>
              <a:ext cx="443877" cy="699001"/>
            </a:xfrm>
            <a:prstGeom prst="rect">
              <a:avLst/>
            </a:prstGeom>
            <a:solidFill>
              <a:schemeClr val="accent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A917354-10A6-4C45-9B55-899D66254678}"/>
                </a:ext>
              </a:extLst>
            </p:cNvPr>
            <p:cNvSpPr/>
            <p:nvPr/>
          </p:nvSpPr>
          <p:spPr>
            <a:xfrm flipH="1">
              <a:off x="5871548" y="4928427"/>
              <a:ext cx="443877" cy="699001"/>
            </a:xfrm>
            <a:prstGeom prst="rect">
              <a:avLst/>
            </a:prstGeom>
            <a:solidFill>
              <a:schemeClr val="accent2">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72ACF26-2FBF-4F1F-90C4-10073F882CA8}"/>
                </a:ext>
              </a:extLst>
            </p:cNvPr>
            <p:cNvSpPr/>
            <p:nvPr/>
          </p:nvSpPr>
          <p:spPr>
            <a:xfrm flipH="1">
              <a:off x="6275554" y="5635671"/>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87B81F4-F6FD-4765-B9E2-FF3630303966}"/>
                </a:ext>
              </a:extLst>
            </p:cNvPr>
            <p:cNvSpPr/>
            <p:nvPr/>
          </p:nvSpPr>
          <p:spPr>
            <a:xfrm flipH="1">
              <a:off x="5879616" y="5601081"/>
              <a:ext cx="443877" cy="699001"/>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5AAE0F8-003E-4902-B6BA-FA9EC2D9C2FF}"/>
                </a:ext>
              </a:extLst>
            </p:cNvPr>
            <p:cNvSpPr/>
            <p:nvPr/>
          </p:nvSpPr>
          <p:spPr>
            <a:xfrm>
              <a:off x="7581747" y="3716124"/>
              <a:ext cx="861134" cy="2601034"/>
            </a:xfrm>
            <a:prstGeom prst="rect">
              <a:avLst/>
            </a:prstGeom>
            <a:gradFill flip="none" rotWithShape="1">
              <a:gsLst>
                <a:gs pos="0">
                  <a:srgbClr val="F39200">
                    <a:shade val="30000"/>
                    <a:satMod val="115000"/>
                  </a:srgbClr>
                </a:gs>
                <a:gs pos="50000">
                  <a:srgbClr val="F39200">
                    <a:shade val="67500"/>
                    <a:satMod val="115000"/>
                  </a:srgbClr>
                </a:gs>
                <a:gs pos="100000">
                  <a:srgbClr val="F39200">
                    <a:shade val="100000"/>
                    <a:satMod val="115000"/>
                  </a:srgbClr>
                </a:gs>
              </a:gsLst>
              <a:lin ang="5400000" scaled="1"/>
              <a:tileRect/>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C72976E-852C-41E7-9E62-C51E9BFF857B}"/>
                </a:ext>
              </a:extLst>
            </p:cNvPr>
            <p:cNvSpPr/>
            <p:nvPr/>
          </p:nvSpPr>
          <p:spPr>
            <a:xfrm flipH="1">
              <a:off x="7583259" y="3717503"/>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66A0B957-6A69-42D0-AC09-A87A58E26EAF}"/>
                </a:ext>
              </a:extLst>
            </p:cNvPr>
            <p:cNvSpPr/>
            <p:nvPr/>
          </p:nvSpPr>
          <p:spPr>
            <a:xfrm flipH="1">
              <a:off x="7987363" y="4312340"/>
              <a:ext cx="443877" cy="699001"/>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7B9E32B-37E4-4E1D-993B-7766F1675869}"/>
                </a:ext>
              </a:extLst>
            </p:cNvPr>
            <p:cNvSpPr/>
            <p:nvPr/>
          </p:nvSpPr>
          <p:spPr>
            <a:xfrm flipH="1">
              <a:off x="8014634" y="4980252"/>
              <a:ext cx="443877" cy="699001"/>
            </a:xfrm>
            <a:prstGeom prst="rect">
              <a:avLst/>
            </a:prstGeom>
            <a:solidFill>
              <a:schemeClr val="accent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D6EAA25-4636-4ED6-88B1-1392186FF10A}"/>
                </a:ext>
              </a:extLst>
            </p:cNvPr>
            <p:cNvSpPr/>
            <p:nvPr/>
          </p:nvSpPr>
          <p:spPr>
            <a:xfrm flipH="1">
              <a:off x="7600496" y="4933685"/>
              <a:ext cx="443877" cy="699001"/>
            </a:xfrm>
            <a:prstGeom prst="rect">
              <a:avLst/>
            </a:prstGeom>
            <a:solidFill>
              <a:schemeClr val="accent2">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A3C5A82-EA90-4735-9F40-9B31E4938F44}"/>
                </a:ext>
              </a:extLst>
            </p:cNvPr>
            <p:cNvSpPr/>
            <p:nvPr/>
          </p:nvSpPr>
          <p:spPr>
            <a:xfrm flipH="1">
              <a:off x="8004502" y="5640929"/>
              <a:ext cx="443877" cy="699001"/>
            </a:xfrm>
            <a:prstGeom prst="rect">
              <a:avLst/>
            </a:prstGeom>
            <a:solidFill>
              <a:srgbClr val="F392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5A0DC20-53A6-4EEB-8397-A0FBD3EA145E}"/>
                </a:ext>
              </a:extLst>
            </p:cNvPr>
            <p:cNvSpPr/>
            <p:nvPr/>
          </p:nvSpPr>
          <p:spPr>
            <a:xfrm flipH="1">
              <a:off x="7608564" y="5606339"/>
              <a:ext cx="443877" cy="699001"/>
            </a:xfrm>
            <a:prstGeom prst="rect">
              <a:avLst/>
            </a:prstGeom>
            <a:solidFill>
              <a:srgbClr val="FFC00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sp>
        <p:nvSpPr>
          <p:cNvPr id="57" name="Content Placeholder 2">
            <a:extLst>
              <a:ext uri="{FF2B5EF4-FFF2-40B4-BE49-F238E27FC236}">
                <a16:creationId xmlns:a16="http://schemas.microsoft.com/office/drawing/2014/main" id="{3D78C80E-9719-4E13-BCA0-496EE3704CB2}"/>
              </a:ext>
            </a:extLst>
          </p:cNvPr>
          <p:cNvSpPr txBox="1">
            <a:spLocks/>
          </p:cNvSpPr>
          <p:nvPr/>
        </p:nvSpPr>
        <p:spPr>
          <a:xfrm>
            <a:off x="9297335" y="1411256"/>
            <a:ext cx="2663437" cy="2851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b="1" dirty="0"/>
              <a:t>I</a:t>
            </a:r>
            <a:r>
              <a:rPr lang="fr-FR" b="1" dirty="0">
                <a:sym typeface="Wingdings" panose="05000000000000000000" pitchFamily="2" charset="2"/>
              </a:rPr>
              <a:t>nter-</a:t>
            </a:r>
            <a:r>
              <a:rPr lang="fr-FR" b="1" dirty="0" err="1">
                <a:sym typeface="Wingdings" panose="05000000000000000000" pitchFamily="2" charset="2"/>
              </a:rPr>
              <a:t>organs</a:t>
            </a:r>
            <a:r>
              <a:rPr lang="fr-FR" b="1" dirty="0">
                <a:sym typeface="Wingdings" panose="05000000000000000000" pitchFamily="2" charset="2"/>
              </a:rPr>
              <a:t> </a:t>
            </a:r>
            <a:r>
              <a:rPr lang="fr-FR" dirty="0" err="1">
                <a:sym typeface="Wingdings" panose="05000000000000000000" pitchFamily="2" charset="2"/>
              </a:rPr>
              <a:t>heterogeneity</a:t>
            </a:r>
            <a:endParaRPr lang="fr-FR" dirty="0">
              <a:sym typeface="Wingdings" panose="05000000000000000000" pitchFamily="2" charset="2"/>
            </a:endParaRPr>
          </a:p>
          <a:p>
            <a:pPr marL="0" indent="0">
              <a:buFont typeface="Arial" panose="020B0604020202020204" pitchFamily="34" charset="0"/>
              <a:buNone/>
            </a:pPr>
            <a:r>
              <a:rPr lang="fr-FR" dirty="0">
                <a:sym typeface="Wingdings" panose="05000000000000000000" pitchFamily="2" charset="2"/>
              </a:rPr>
              <a:t> Plant architecture</a:t>
            </a:r>
            <a:endParaRPr lang="en-US" dirty="0"/>
          </a:p>
        </p:txBody>
      </p:sp>
      <p:sp>
        <p:nvSpPr>
          <p:cNvPr id="64" name="Slide Number Placeholder 63">
            <a:extLst>
              <a:ext uri="{FF2B5EF4-FFF2-40B4-BE49-F238E27FC236}">
                <a16:creationId xmlns:a16="http://schemas.microsoft.com/office/drawing/2014/main" id="{08303FCC-F585-4ACB-B2AC-B102DAD52768}"/>
              </a:ext>
            </a:extLst>
          </p:cNvPr>
          <p:cNvSpPr>
            <a:spLocks noGrp="1"/>
          </p:cNvSpPr>
          <p:nvPr>
            <p:ph type="sldNum" sz="quarter" idx="12"/>
          </p:nvPr>
        </p:nvSpPr>
        <p:spPr/>
        <p:txBody>
          <a:bodyPr/>
          <a:lstStyle/>
          <a:p>
            <a:fld id="{27C6CCC6-2BE5-4E42-96A4-D1E8E81A3D8E}" type="slidenum">
              <a:rPr lang="fr-FR" smtClean="0"/>
              <a:t>17</a:t>
            </a:fld>
            <a:endParaRPr lang="fr-FR"/>
          </a:p>
        </p:txBody>
      </p:sp>
      <p:sp>
        <p:nvSpPr>
          <p:cNvPr id="61" name="Title 1">
            <a:extLst>
              <a:ext uri="{FF2B5EF4-FFF2-40B4-BE49-F238E27FC236}">
                <a16:creationId xmlns:a16="http://schemas.microsoft.com/office/drawing/2014/main" id="{983FE060-59B4-460E-901F-970A261B3C07}"/>
              </a:ext>
            </a:extLst>
          </p:cNvPr>
          <p:cNvSpPr txBox="1">
            <a:spLocks/>
          </p:cNvSpPr>
          <p:nvPr/>
        </p:nvSpPr>
        <p:spPr>
          <a:xfrm>
            <a:off x="843664" y="6013881"/>
            <a:ext cx="10515600" cy="5509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ym typeface="Wingdings" panose="05000000000000000000" pitchFamily="2" charset="2"/>
              </a:rPr>
              <a:t> </a:t>
            </a:r>
            <a:r>
              <a:rPr lang="en-US" sz="3200" b="1" dirty="0"/>
              <a:t>degrees of freedom</a:t>
            </a:r>
            <a:r>
              <a:rPr lang="en-US" sz="3200" dirty="0"/>
              <a:t> compared to crop model</a:t>
            </a:r>
          </a:p>
        </p:txBody>
      </p:sp>
      <p:pic>
        <p:nvPicPr>
          <p:cNvPr id="59" name="Picture 58">
            <a:extLst>
              <a:ext uri="{FF2B5EF4-FFF2-40B4-BE49-F238E27FC236}">
                <a16:creationId xmlns:a16="http://schemas.microsoft.com/office/drawing/2014/main" id="{1BD5AD4B-76EB-4BB1-9622-EF7F57652AF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41202" y="2874005"/>
            <a:ext cx="1737511" cy="3734124"/>
          </a:xfrm>
          <a:prstGeom prst="rect">
            <a:avLst/>
          </a:prstGeom>
        </p:spPr>
      </p:pic>
    </p:spTree>
    <p:extLst>
      <p:ext uri="{BB962C8B-B14F-4D97-AF65-F5344CB8AC3E}">
        <p14:creationId xmlns:p14="http://schemas.microsoft.com/office/powerpoint/2010/main" val="2121198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1DC49E-DCD3-4730-9D88-B42A66CE9156}"/>
              </a:ext>
            </a:extLst>
          </p:cNvPr>
          <p:cNvSpPr>
            <a:spLocks noGrp="1"/>
          </p:cNvSpPr>
          <p:nvPr>
            <p:ph idx="1"/>
          </p:nvPr>
        </p:nvSpPr>
        <p:spPr>
          <a:xfrm>
            <a:off x="838200" y="1777262"/>
            <a:ext cx="10515600" cy="3060552"/>
          </a:xfrm>
        </p:spPr>
        <p:txBody>
          <a:bodyPr>
            <a:normAutofit/>
          </a:bodyPr>
          <a:lstStyle/>
          <a:p>
            <a:pPr marL="0" indent="0">
              <a:buNone/>
            </a:pPr>
            <a:r>
              <a:rPr lang="en-US" dirty="0"/>
              <a:t>Architectural degrees of freedom: </a:t>
            </a:r>
          </a:p>
          <a:p>
            <a:pPr lvl="1"/>
            <a:r>
              <a:rPr lang="en-US" dirty="0"/>
              <a:t>number of </a:t>
            </a:r>
            <a:r>
              <a:rPr lang="en-US" dirty="0" err="1"/>
              <a:t>phytomers</a:t>
            </a:r>
            <a:endParaRPr lang="en-US" dirty="0"/>
          </a:p>
          <a:p>
            <a:pPr lvl="1"/>
            <a:r>
              <a:rPr lang="en-US" dirty="0"/>
              <a:t>longest leaf length</a:t>
            </a:r>
          </a:p>
          <a:p>
            <a:pPr lvl="1"/>
            <a:r>
              <a:rPr lang="en-US" dirty="0"/>
              <a:t>leaf width-to-length ratio</a:t>
            </a:r>
          </a:p>
          <a:p>
            <a:pPr lvl="1"/>
            <a:r>
              <a:rPr lang="en-US" dirty="0"/>
              <a:t>internode lengths</a:t>
            </a:r>
          </a:p>
          <a:p>
            <a:pPr lvl="1"/>
            <a:r>
              <a:rPr lang="en-US" dirty="0"/>
              <a:t>insertion angle</a:t>
            </a:r>
          </a:p>
          <a:p>
            <a:pPr lvl="1"/>
            <a:r>
              <a:rPr lang="en-US" dirty="0"/>
              <a:t>leaf curvature </a:t>
            </a:r>
            <a:endParaRPr lang="fr-FR" dirty="0">
              <a:sym typeface="Wingdings" panose="05000000000000000000" pitchFamily="2" charset="2"/>
            </a:endParaRPr>
          </a:p>
        </p:txBody>
      </p:sp>
      <p:sp>
        <p:nvSpPr>
          <p:cNvPr id="2" name="Title 1">
            <a:extLst>
              <a:ext uri="{FF2B5EF4-FFF2-40B4-BE49-F238E27FC236}">
                <a16:creationId xmlns:a16="http://schemas.microsoft.com/office/drawing/2014/main" id="{8B39342E-9D37-4A45-9DD1-BD9DAF1ADDF6}"/>
              </a:ext>
            </a:extLst>
          </p:cNvPr>
          <p:cNvSpPr>
            <a:spLocks noGrp="1"/>
          </p:cNvSpPr>
          <p:nvPr>
            <p:ph type="title"/>
          </p:nvPr>
        </p:nvSpPr>
        <p:spPr/>
        <p:txBody>
          <a:bodyPr>
            <a:normAutofit/>
          </a:bodyPr>
          <a:lstStyle/>
          <a:p>
            <a:r>
              <a:rPr lang="en-US" sz="4000" dirty="0"/>
              <a:t>Create </a:t>
            </a:r>
            <a:r>
              <a:rPr lang="en-US" sz="4000" dirty="0" err="1"/>
              <a:t>morphospace</a:t>
            </a:r>
            <a:r>
              <a:rPr lang="en-US" sz="4000" dirty="0"/>
              <a:t> of potential plants</a:t>
            </a:r>
          </a:p>
        </p:txBody>
      </p:sp>
      <p:cxnSp>
        <p:nvCxnSpPr>
          <p:cNvPr id="9" name="Straight Arrow Connector 8">
            <a:extLst>
              <a:ext uri="{FF2B5EF4-FFF2-40B4-BE49-F238E27FC236}">
                <a16:creationId xmlns:a16="http://schemas.microsoft.com/office/drawing/2014/main" id="{F8176F28-F2DC-44DA-8ED0-9C1E47842EEF}"/>
              </a:ext>
            </a:extLst>
          </p:cNvPr>
          <p:cNvCxnSpPr>
            <a:cxnSpLocks/>
          </p:cNvCxnSpPr>
          <p:nvPr/>
        </p:nvCxnSpPr>
        <p:spPr>
          <a:xfrm>
            <a:off x="4349026" y="6017913"/>
            <a:ext cx="629239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66CA5268-2940-47EB-8F0E-A3539C3EA135}"/>
              </a:ext>
            </a:extLst>
          </p:cNvPr>
          <p:cNvSpPr>
            <a:spLocks noGrp="1"/>
          </p:cNvSpPr>
          <p:nvPr>
            <p:ph type="sldNum" sz="quarter" idx="12"/>
          </p:nvPr>
        </p:nvSpPr>
        <p:spPr>
          <a:xfrm>
            <a:off x="8610600" y="6356350"/>
            <a:ext cx="2743200" cy="365125"/>
          </a:xfrm>
        </p:spPr>
        <p:txBody>
          <a:bodyPr/>
          <a:lstStyle/>
          <a:p>
            <a:fld id="{27C6CCC6-2BE5-4E42-96A4-D1E8E81A3D8E}" type="slidenum">
              <a:rPr lang="fr-FR" smtClean="0"/>
              <a:t>18</a:t>
            </a:fld>
            <a:endParaRPr lang="fr-FR"/>
          </a:p>
        </p:txBody>
      </p:sp>
      <p:pic>
        <p:nvPicPr>
          <p:cNvPr id="10" name="Picture 9">
            <a:extLst>
              <a:ext uri="{FF2B5EF4-FFF2-40B4-BE49-F238E27FC236}">
                <a16:creationId xmlns:a16="http://schemas.microsoft.com/office/drawing/2014/main" id="{5A75D217-48BD-4CBD-B746-D364C226E1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6910" y="3753289"/>
            <a:ext cx="1027491" cy="2198353"/>
          </a:xfrm>
          <a:prstGeom prst="rect">
            <a:avLst/>
          </a:prstGeom>
        </p:spPr>
      </p:pic>
      <p:pic>
        <p:nvPicPr>
          <p:cNvPr id="14" name="Picture 13">
            <a:extLst>
              <a:ext uri="{FF2B5EF4-FFF2-40B4-BE49-F238E27FC236}">
                <a16:creationId xmlns:a16="http://schemas.microsoft.com/office/drawing/2014/main" id="{B93AA8D3-72F3-4163-8596-8972B10636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5643" y="3753290"/>
            <a:ext cx="1164127" cy="2196820"/>
          </a:xfrm>
          <a:prstGeom prst="rect">
            <a:avLst/>
          </a:prstGeom>
        </p:spPr>
      </p:pic>
      <p:pic>
        <p:nvPicPr>
          <p:cNvPr id="16" name="Picture 15">
            <a:extLst>
              <a:ext uri="{FF2B5EF4-FFF2-40B4-BE49-F238E27FC236}">
                <a16:creationId xmlns:a16="http://schemas.microsoft.com/office/drawing/2014/main" id="{1CCEA71B-0552-42F9-B641-38E85EF7AA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6161" y="3753289"/>
            <a:ext cx="1092342" cy="2196821"/>
          </a:xfrm>
          <a:prstGeom prst="rect">
            <a:avLst/>
          </a:prstGeom>
        </p:spPr>
      </p:pic>
      <p:pic>
        <p:nvPicPr>
          <p:cNvPr id="18" name="Picture 17">
            <a:extLst>
              <a:ext uri="{FF2B5EF4-FFF2-40B4-BE49-F238E27FC236}">
                <a16:creationId xmlns:a16="http://schemas.microsoft.com/office/drawing/2014/main" id="{DB886CD6-0465-48DA-937E-846A7A3B41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9303" y="3753289"/>
            <a:ext cx="839718" cy="2197347"/>
          </a:xfrm>
          <a:prstGeom prst="rect">
            <a:avLst/>
          </a:prstGeom>
        </p:spPr>
      </p:pic>
      <p:sp>
        <p:nvSpPr>
          <p:cNvPr id="19" name="Rectangle 18">
            <a:extLst>
              <a:ext uri="{FF2B5EF4-FFF2-40B4-BE49-F238E27FC236}">
                <a16:creationId xmlns:a16="http://schemas.microsoft.com/office/drawing/2014/main" id="{3530275D-6D25-454D-A5A5-DB5117A5E3FA}"/>
              </a:ext>
            </a:extLst>
          </p:cNvPr>
          <p:cNvSpPr/>
          <p:nvPr/>
        </p:nvSpPr>
        <p:spPr>
          <a:xfrm>
            <a:off x="10641419" y="5648710"/>
            <a:ext cx="1132690" cy="646331"/>
          </a:xfrm>
          <a:prstGeom prst="rect">
            <a:avLst/>
          </a:prstGeom>
        </p:spPr>
        <p:txBody>
          <a:bodyPr wrap="square">
            <a:spAutoFit/>
          </a:bodyPr>
          <a:lstStyle/>
          <a:p>
            <a:r>
              <a:rPr lang="en-US" dirty="0"/>
              <a:t>leaf curvature </a:t>
            </a:r>
            <a:endParaRPr lang="fr-FR" dirty="0">
              <a:sym typeface="Wingdings" panose="05000000000000000000" pitchFamily="2" charset="2"/>
            </a:endParaRPr>
          </a:p>
        </p:txBody>
      </p:sp>
    </p:spTree>
    <p:extLst>
      <p:ext uri="{BB962C8B-B14F-4D97-AF65-F5344CB8AC3E}">
        <p14:creationId xmlns:p14="http://schemas.microsoft.com/office/powerpoint/2010/main" val="766123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6B419-5093-45C1-8DAC-9441E378E7FA}"/>
              </a:ext>
            </a:extLst>
          </p:cNvPr>
          <p:cNvSpPr>
            <a:spLocks noGrp="1"/>
          </p:cNvSpPr>
          <p:nvPr>
            <p:ph type="title"/>
          </p:nvPr>
        </p:nvSpPr>
        <p:spPr>
          <a:xfrm>
            <a:off x="846667" y="216561"/>
            <a:ext cx="10795984" cy="804049"/>
          </a:xfrm>
        </p:spPr>
        <p:txBody>
          <a:bodyPr>
            <a:noAutofit/>
          </a:bodyPr>
          <a:lstStyle/>
          <a:p>
            <a:r>
              <a:rPr lang="fr-FR" sz="4000" dirty="0"/>
              <a:t>Workflow of simulations of </a:t>
            </a:r>
            <a:r>
              <a:rPr lang="fr-FR" sz="4000" dirty="0" err="1"/>
              <a:t>intercrops</a:t>
            </a:r>
            <a:r>
              <a:rPr lang="fr-FR" sz="4000" dirty="0"/>
              <a:t> </a:t>
            </a:r>
            <a:r>
              <a:rPr lang="fr-FR" sz="4000" dirty="0" err="1"/>
              <a:t>through</a:t>
            </a:r>
            <a:r>
              <a:rPr lang="fr-FR" sz="4000" dirty="0"/>
              <a:t> time</a:t>
            </a:r>
            <a:endParaRPr lang="en-US" sz="4000" dirty="0"/>
          </a:p>
        </p:txBody>
      </p:sp>
      <p:sp>
        <p:nvSpPr>
          <p:cNvPr id="4" name="Oval 3">
            <a:extLst>
              <a:ext uri="{FF2B5EF4-FFF2-40B4-BE49-F238E27FC236}">
                <a16:creationId xmlns:a16="http://schemas.microsoft.com/office/drawing/2014/main" id="{BF8D5E98-A9ED-4B1A-9C6F-B88D4E769A89}"/>
              </a:ext>
            </a:extLst>
          </p:cNvPr>
          <p:cNvSpPr/>
          <p:nvPr/>
        </p:nvSpPr>
        <p:spPr>
          <a:xfrm>
            <a:off x="2045127" y="1460923"/>
            <a:ext cx="1973063" cy="1200329"/>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 simulation </a:t>
            </a:r>
          </a:p>
          <a:p>
            <a:pPr algn="ctr"/>
            <a:r>
              <a:rPr lang="fr-FR" dirty="0" err="1"/>
              <a:t>with</a:t>
            </a:r>
            <a:r>
              <a:rPr lang="fr-FR" dirty="0"/>
              <a:t> </a:t>
            </a:r>
            <a:r>
              <a:rPr lang="fr-FR" dirty="0" err="1"/>
              <a:t>crop</a:t>
            </a:r>
            <a:r>
              <a:rPr lang="fr-FR" dirty="0"/>
              <a:t> model</a:t>
            </a:r>
            <a:endParaRPr lang="en-US" dirty="0"/>
          </a:p>
        </p:txBody>
      </p:sp>
      <p:cxnSp>
        <p:nvCxnSpPr>
          <p:cNvPr id="56" name="Straight Arrow Connector 55">
            <a:extLst>
              <a:ext uri="{FF2B5EF4-FFF2-40B4-BE49-F238E27FC236}">
                <a16:creationId xmlns:a16="http://schemas.microsoft.com/office/drawing/2014/main" id="{A725A07B-B392-48E1-9B1B-615B5E5E3067}"/>
              </a:ext>
            </a:extLst>
          </p:cNvPr>
          <p:cNvCxnSpPr>
            <a:cxnSpLocks/>
            <a:stCxn id="4" idx="6"/>
            <a:endCxn id="225" idx="1"/>
          </p:cNvCxnSpPr>
          <p:nvPr/>
        </p:nvCxnSpPr>
        <p:spPr>
          <a:xfrm>
            <a:off x="4018190" y="2061088"/>
            <a:ext cx="657742"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90DD7BA7-D334-42DA-8798-DC47128D6220}"/>
              </a:ext>
            </a:extLst>
          </p:cNvPr>
          <p:cNvSpPr txBox="1"/>
          <p:nvPr/>
        </p:nvSpPr>
        <p:spPr>
          <a:xfrm>
            <a:off x="8759462" y="1183924"/>
            <a:ext cx="3165846" cy="1754326"/>
          </a:xfrm>
          <a:prstGeom prst="rect">
            <a:avLst/>
          </a:prstGeom>
          <a:ln>
            <a:solidFill>
              <a:srgbClr val="399758"/>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GxG</a:t>
            </a:r>
            <a:r>
              <a:rPr lang="fr-FR" u="sng" dirty="0"/>
              <a:t> </a:t>
            </a:r>
            <a:r>
              <a:rPr lang="fr-FR" u="sng" dirty="0" err="1"/>
              <a:t>experimental</a:t>
            </a:r>
            <a:r>
              <a:rPr lang="fr-FR" u="sng" dirty="0"/>
              <a:t> design :</a:t>
            </a:r>
          </a:p>
          <a:p>
            <a:pPr algn="ctr"/>
            <a:r>
              <a:rPr lang="fr-FR" dirty="0" err="1"/>
              <a:t>Morphospace</a:t>
            </a:r>
            <a:r>
              <a:rPr lang="fr-FR" dirty="0"/>
              <a:t> </a:t>
            </a:r>
            <a:r>
              <a:rPr lang="fr-FR" dirty="0" err="1"/>
              <a:t>species</a:t>
            </a:r>
            <a:r>
              <a:rPr lang="fr-FR" dirty="0"/>
              <a:t> 1</a:t>
            </a:r>
          </a:p>
          <a:p>
            <a:pPr algn="ctr"/>
            <a:r>
              <a:rPr lang="fr-FR" dirty="0"/>
              <a:t>x </a:t>
            </a:r>
          </a:p>
          <a:p>
            <a:pPr algn="ctr"/>
            <a:r>
              <a:rPr lang="fr-FR" dirty="0" err="1"/>
              <a:t>Morphospace</a:t>
            </a:r>
            <a:r>
              <a:rPr lang="fr-FR" dirty="0"/>
              <a:t> </a:t>
            </a:r>
            <a:r>
              <a:rPr lang="fr-FR" dirty="0" err="1"/>
              <a:t>species</a:t>
            </a:r>
            <a:r>
              <a:rPr lang="fr-FR" dirty="0"/>
              <a:t> 2</a:t>
            </a:r>
          </a:p>
          <a:p>
            <a:pPr algn="ctr"/>
            <a:r>
              <a:rPr lang="fr-FR" dirty="0"/>
              <a:t>x</a:t>
            </a:r>
          </a:p>
          <a:p>
            <a:pPr algn="ctr"/>
            <a:r>
              <a:rPr lang="fr-FR" dirty="0"/>
              <a:t> Spatial configurations</a:t>
            </a:r>
            <a:endParaRPr lang="en-US" dirty="0"/>
          </a:p>
        </p:txBody>
      </p:sp>
      <p:sp>
        <p:nvSpPr>
          <p:cNvPr id="92" name="Oval 91">
            <a:extLst>
              <a:ext uri="{FF2B5EF4-FFF2-40B4-BE49-F238E27FC236}">
                <a16:creationId xmlns:a16="http://schemas.microsoft.com/office/drawing/2014/main" id="{CB597C63-2200-4969-99FD-7D38A391A978}"/>
              </a:ext>
            </a:extLst>
          </p:cNvPr>
          <p:cNvSpPr/>
          <p:nvPr/>
        </p:nvSpPr>
        <p:spPr>
          <a:xfrm>
            <a:off x="6688581" y="1673990"/>
            <a:ext cx="1587139" cy="774197"/>
          </a:xfrm>
          <a:prstGeom prst="ellipse">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a:t>ArchiCrop</a:t>
            </a:r>
            <a:endParaRPr lang="en-US" dirty="0"/>
          </a:p>
        </p:txBody>
      </p:sp>
      <p:cxnSp>
        <p:nvCxnSpPr>
          <p:cNvPr id="121" name="Straight Arrow Connector 120">
            <a:extLst>
              <a:ext uri="{FF2B5EF4-FFF2-40B4-BE49-F238E27FC236}">
                <a16:creationId xmlns:a16="http://schemas.microsoft.com/office/drawing/2014/main" id="{DE54F91A-3F31-4C08-B255-6A909CF1983B}"/>
              </a:ext>
            </a:extLst>
          </p:cNvPr>
          <p:cNvCxnSpPr>
            <a:cxnSpLocks/>
            <a:stCxn id="225" idx="3"/>
            <a:endCxn id="92" idx="2"/>
          </p:cNvCxnSpPr>
          <p:nvPr/>
        </p:nvCxnSpPr>
        <p:spPr>
          <a:xfrm>
            <a:off x="6298496" y="2061089"/>
            <a:ext cx="390085" cy="0"/>
          </a:xfrm>
          <a:prstGeom prst="straightConnector1">
            <a:avLst/>
          </a:prstGeom>
          <a:ln w="19050">
            <a:solidFill>
              <a:srgbClr val="F39200"/>
            </a:solidFill>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1D6825E1-A317-49D2-B24E-592ADE65AAFF}"/>
              </a:ext>
            </a:extLst>
          </p:cNvPr>
          <p:cNvCxnSpPr>
            <a:cxnSpLocks/>
            <a:stCxn id="64" idx="1"/>
            <a:endCxn id="92" idx="6"/>
          </p:cNvCxnSpPr>
          <p:nvPr/>
        </p:nvCxnSpPr>
        <p:spPr>
          <a:xfrm flipH="1">
            <a:off x="8275720" y="2061087"/>
            <a:ext cx="483742" cy="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216" name="Slide Number Placeholder 215">
            <a:extLst>
              <a:ext uri="{FF2B5EF4-FFF2-40B4-BE49-F238E27FC236}">
                <a16:creationId xmlns:a16="http://schemas.microsoft.com/office/drawing/2014/main" id="{22635BB3-F18C-4F56-9652-2BBB1E754F7F}"/>
              </a:ext>
            </a:extLst>
          </p:cNvPr>
          <p:cNvSpPr>
            <a:spLocks noGrp="1"/>
          </p:cNvSpPr>
          <p:nvPr>
            <p:ph type="sldNum" sz="quarter" idx="12"/>
          </p:nvPr>
        </p:nvSpPr>
        <p:spPr/>
        <p:txBody>
          <a:bodyPr/>
          <a:lstStyle/>
          <a:p>
            <a:fld id="{27C6CCC6-2BE5-4E42-96A4-D1E8E81A3D8E}" type="slidenum">
              <a:rPr lang="fr-FR" smtClean="0"/>
              <a:t>19</a:t>
            </a:fld>
            <a:endParaRPr lang="fr-FR"/>
          </a:p>
        </p:txBody>
      </p:sp>
      <p:sp>
        <p:nvSpPr>
          <p:cNvPr id="225" name="Rectangle 224">
            <a:extLst>
              <a:ext uri="{FF2B5EF4-FFF2-40B4-BE49-F238E27FC236}">
                <a16:creationId xmlns:a16="http://schemas.microsoft.com/office/drawing/2014/main" id="{67F96804-BA90-4859-AE40-3D2391C4C00B}"/>
              </a:ext>
            </a:extLst>
          </p:cNvPr>
          <p:cNvSpPr/>
          <p:nvPr/>
        </p:nvSpPr>
        <p:spPr>
          <a:xfrm>
            <a:off x="4675932" y="1492891"/>
            <a:ext cx="1622564" cy="113639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Growth</a:t>
            </a:r>
            <a:r>
              <a:rPr lang="fr-FR" dirty="0"/>
              <a:t> </a:t>
            </a:r>
            <a:r>
              <a:rPr lang="fr-FR" dirty="0" err="1"/>
              <a:t>dynamics</a:t>
            </a:r>
            <a:endParaRPr lang="fr-FR" dirty="0"/>
          </a:p>
          <a:p>
            <a:pPr algn="ctr"/>
            <a:r>
              <a:rPr lang="fr-FR" dirty="0"/>
              <a:t>LAI(t), </a:t>
            </a:r>
            <a:r>
              <a:rPr lang="fr-FR" dirty="0" err="1"/>
              <a:t>height</a:t>
            </a:r>
            <a:r>
              <a:rPr lang="fr-FR" dirty="0"/>
              <a:t>(t)</a:t>
            </a:r>
            <a:endParaRPr lang="en-US" dirty="0"/>
          </a:p>
        </p:txBody>
      </p:sp>
      <p:pic>
        <p:nvPicPr>
          <p:cNvPr id="7" name="Picture 6">
            <a:extLst>
              <a:ext uri="{FF2B5EF4-FFF2-40B4-BE49-F238E27FC236}">
                <a16:creationId xmlns:a16="http://schemas.microsoft.com/office/drawing/2014/main" id="{B1C72EC1-E0E9-4E25-873C-3B0F039B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3348" y="2661252"/>
            <a:ext cx="1027732" cy="804049"/>
          </a:xfrm>
          <a:prstGeom prst="rect">
            <a:avLst/>
          </a:prstGeom>
        </p:spPr>
      </p:pic>
      <p:pic>
        <p:nvPicPr>
          <p:cNvPr id="54" name="Picture 53">
            <a:extLst>
              <a:ext uri="{FF2B5EF4-FFF2-40B4-BE49-F238E27FC236}">
                <a16:creationId xmlns:a16="http://schemas.microsoft.com/office/drawing/2014/main" id="{E4DF114A-8F90-4E4B-84CF-9688162B6045}"/>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6199" y="1170900"/>
            <a:ext cx="870700" cy="670031"/>
          </a:xfrm>
          <a:prstGeom prst="rect">
            <a:avLst/>
          </a:prstGeom>
        </p:spPr>
      </p:pic>
      <p:pic>
        <p:nvPicPr>
          <p:cNvPr id="40" name="Picture 39">
            <a:extLst>
              <a:ext uri="{FF2B5EF4-FFF2-40B4-BE49-F238E27FC236}">
                <a16:creationId xmlns:a16="http://schemas.microsoft.com/office/drawing/2014/main" id="{6992F506-00A7-45E4-974F-188C2E356A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5816" y="3963129"/>
            <a:ext cx="2354784" cy="2575783"/>
          </a:xfrm>
          <a:prstGeom prst="rect">
            <a:avLst/>
          </a:prstGeom>
        </p:spPr>
      </p:pic>
      <p:cxnSp>
        <p:nvCxnSpPr>
          <p:cNvPr id="84" name="Straight Arrow Connector 83">
            <a:extLst>
              <a:ext uri="{FF2B5EF4-FFF2-40B4-BE49-F238E27FC236}">
                <a16:creationId xmlns:a16="http://schemas.microsoft.com/office/drawing/2014/main" id="{01B9C1C0-3153-4D27-8144-9C630F7C6BB5}"/>
              </a:ext>
            </a:extLst>
          </p:cNvPr>
          <p:cNvCxnSpPr>
            <a:cxnSpLocks/>
            <a:stCxn id="92" idx="4"/>
          </p:cNvCxnSpPr>
          <p:nvPr/>
        </p:nvCxnSpPr>
        <p:spPr>
          <a:xfrm>
            <a:off x="7482151" y="2448187"/>
            <a:ext cx="0" cy="1156550"/>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97" name="TextBox 96">
            <a:extLst>
              <a:ext uri="{FF2B5EF4-FFF2-40B4-BE49-F238E27FC236}">
                <a16:creationId xmlns:a16="http://schemas.microsoft.com/office/drawing/2014/main" id="{60B162AF-81D8-4B23-B994-8A2940E4EE68}"/>
              </a:ext>
            </a:extLst>
          </p:cNvPr>
          <p:cNvSpPr txBox="1"/>
          <p:nvPr/>
        </p:nvSpPr>
        <p:spPr>
          <a:xfrm>
            <a:off x="221811" y="1599422"/>
            <a:ext cx="1426531" cy="923330"/>
          </a:xfrm>
          <a:prstGeom prst="rect">
            <a:avLst/>
          </a:prstGeom>
          <a:ln>
            <a:solidFill>
              <a:srgbClr val="F392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ExM</a:t>
            </a:r>
            <a:r>
              <a:rPr lang="fr-FR" u="sng" dirty="0"/>
              <a:t> </a:t>
            </a:r>
            <a:r>
              <a:rPr lang="fr-FR" u="sng" dirty="0" err="1"/>
              <a:t>experimental</a:t>
            </a:r>
            <a:r>
              <a:rPr lang="fr-FR" u="sng" dirty="0"/>
              <a:t> design</a:t>
            </a:r>
          </a:p>
        </p:txBody>
      </p:sp>
      <p:cxnSp>
        <p:nvCxnSpPr>
          <p:cNvPr id="112" name="Straight Arrow Connector 111">
            <a:extLst>
              <a:ext uri="{FF2B5EF4-FFF2-40B4-BE49-F238E27FC236}">
                <a16:creationId xmlns:a16="http://schemas.microsoft.com/office/drawing/2014/main" id="{C444704C-DB06-466B-9457-D5A78CF7150E}"/>
              </a:ext>
            </a:extLst>
          </p:cNvPr>
          <p:cNvCxnSpPr>
            <a:cxnSpLocks/>
            <a:stCxn id="97" idx="3"/>
            <a:endCxn id="4" idx="2"/>
          </p:cNvCxnSpPr>
          <p:nvPr/>
        </p:nvCxnSpPr>
        <p:spPr>
          <a:xfrm>
            <a:off x="1648342" y="2061087"/>
            <a:ext cx="396785"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BECEF344-8394-4A3A-B4AF-83EB72E1AE3D}"/>
              </a:ext>
            </a:extLst>
          </p:cNvPr>
          <p:cNvSpPr txBox="1"/>
          <p:nvPr/>
        </p:nvSpPr>
        <p:spPr>
          <a:xfrm>
            <a:off x="1677510" y="1691755"/>
            <a:ext cx="499730" cy="369332"/>
          </a:xfrm>
          <a:prstGeom prst="rect">
            <a:avLst/>
          </a:prstGeom>
          <a:noFill/>
        </p:spPr>
        <p:txBody>
          <a:bodyPr wrap="square" rtlCol="0">
            <a:spAutoFit/>
          </a:bodyPr>
          <a:lstStyle/>
          <a:p>
            <a:r>
              <a:rPr lang="en-US" dirty="0"/>
              <a:t>x</a:t>
            </a:r>
          </a:p>
        </p:txBody>
      </p:sp>
      <p:sp>
        <p:nvSpPr>
          <p:cNvPr id="125" name="TextBox 124">
            <a:extLst>
              <a:ext uri="{FF2B5EF4-FFF2-40B4-BE49-F238E27FC236}">
                <a16:creationId xmlns:a16="http://schemas.microsoft.com/office/drawing/2014/main" id="{AFD16733-3335-4CB1-8887-6E7E3C1E764F}"/>
              </a:ext>
            </a:extLst>
          </p:cNvPr>
          <p:cNvSpPr txBox="1"/>
          <p:nvPr/>
        </p:nvSpPr>
        <p:spPr>
          <a:xfrm>
            <a:off x="8914147" y="4492177"/>
            <a:ext cx="1428238" cy="1200329"/>
          </a:xfrm>
          <a:prstGeom prst="rect">
            <a:avLst/>
          </a:prstGeom>
          <a:noFill/>
        </p:spPr>
        <p:txBody>
          <a:bodyPr wrap="square" rtlCol="0">
            <a:spAutoFit/>
          </a:bodyPr>
          <a:lstStyle/>
          <a:p>
            <a:r>
              <a:rPr lang="en-US" dirty="0"/>
              <a:t>Generation of 3D scenes of intercrops through time</a:t>
            </a:r>
          </a:p>
        </p:txBody>
      </p:sp>
      <p:pic>
        <p:nvPicPr>
          <p:cNvPr id="127" name="Graphic 126">
            <a:extLst>
              <a:ext uri="{FF2B5EF4-FFF2-40B4-BE49-F238E27FC236}">
                <a16:creationId xmlns:a16="http://schemas.microsoft.com/office/drawing/2014/main" id="{91CA342E-D9F3-465D-9E40-2AFD6DFC5AE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25690" y="5776127"/>
            <a:ext cx="953848" cy="738463"/>
          </a:xfrm>
          <a:prstGeom prst="rect">
            <a:avLst/>
          </a:prstGeom>
        </p:spPr>
      </p:pic>
    </p:spTree>
    <p:extLst>
      <p:ext uri="{BB962C8B-B14F-4D97-AF65-F5344CB8AC3E}">
        <p14:creationId xmlns:p14="http://schemas.microsoft.com/office/powerpoint/2010/main" val="1619859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F8D5E98-A9ED-4B1A-9C6F-B88D4E769A89}"/>
              </a:ext>
            </a:extLst>
          </p:cNvPr>
          <p:cNvSpPr/>
          <p:nvPr/>
        </p:nvSpPr>
        <p:spPr>
          <a:xfrm>
            <a:off x="2045127" y="1460923"/>
            <a:ext cx="1973063" cy="1200329"/>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 simulation </a:t>
            </a:r>
          </a:p>
          <a:p>
            <a:pPr algn="ctr"/>
            <a:r>
              <a:rPr lang="fr-FR" dirty="0" err="1"/>
              <a:t>with</a:t>
            </a:r>
            <a:r>
              <a:rPr lang="fr-FR" dirty="0"/>
              <a:t> </a:t>
            </a:r>
            <a:r>
              <a:rPr lang="fr-FR" dirty="0" err="1"/>
              <a:t>crop</a:t>
            </a:r>
            <a:r>
              <a:rPr lang="fr-FR" dirty="0"/>
              <a:t> model</a:t>
            </a:r>
            <a:endParaRPr lang="en-US" dirty="0"/>
          </a:p>
        </p:txBody>
      </p:sp>
      <p:cxnSp>
        <p:nvCxnSpPr>
          <p:cNvPr id="56" name="Straight Arrow Connector 55">
            <a:extLst>
              <a:ext uri="{FF2B5EF4-FFF2-40B4-BE49-F238E27FC236}">
                <a16:creationId xmlns:a16="http://schemas.microsoft.com/office/drawing/2014/main" id="{A725A07B-B392-48E1-9B1B-615B5E5E3067}"/>
              </a:ext>
            </a:extLst>
          </p:cNvPr>
          <p:cNvCxnSpPr>
            <a:cxnSpLocks/>
            <a:stCxn id="4" idx="6"/>
            <a:endCxn id="225" idx="1"/>
          </p:cNvCxnSpPr>
          <p:nvPr/>
        </p:nvCxnSpPr>
        <p:spPr>
          <a:xfrm>
            <a:off x="4018190" y="2061088"/>
            <a:ext cx="657742"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90DD7BA7-D334-42DA-8798-DC47128D6220}"/>
              </a:ext>
            </a:extLst>
          </p:cNvPr>
          <p:cNvSpPr txBox="1"/>
          <p:nvPr/>
        </p:nvSpPr>
        <p:spPr>
          <a:xfrm>
            <a:off x="8759462" y="1183924"/>
            <a:ext cx="3165846" cy="1754326"/>
          </a:xfrm>
          <a:prstGeom prst="rect">
            <a:avLst/>
          </a:prstGeom>
          <a:ln>
            <a:solidFill>
              <a:srgbClr val="399758"/>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GxG</a:t>
            </a:r>
            <a:r>
              <a:rPr lang="fr-FR" u="sng" dirty="0"/>
              <a:t> </a:t>
            </a:r>
            <a:r>
              <a:rPr lang="fr-FR" u="sng" dirty="0" err="1"/>
              <a:t>experimental</a:t>
            </a:r>
            <a:r>
              <a:rPr lang="fr-FR" u="sng" dirty="0"/>
              <a:t> design :</a:t>
            </a:r>
          </a:p>
          <a:p>
            <a:pPr algn="ctr"/>
            <a:r>
              <a:rPr lang="fr-FR" dirty="0" err="1"/>
              <a:t>Morphospace</a:t>
            </a:r>
            <a:r>
              <a:rPr lang="fr-FR" dirty="0"/>
              <a:t> </a:t>
            </a:r>
            <a:r>
              <a:rPr lang="fr-FR" dirty="0" err="1"/>
              <a:t>species</a:t>
            </a:r>
            <a:r>
              <a:rPr lang="fr-FR" dirty="0"/>
              <a:t> 1</a:t>
            </a:r>
          </a:p>
          <a:p>
            <a:pPr algn="ctr"/>
            <a:r>
              <a:rPr lang="fr-FR" dirty="0"/>
              <a:t>x </a:t>
            </a:r>
          </a:p>
          <a:p>
            <a:pPr algn="ctr"/>
            <a:r>
              <a:rPr lang="fr-FR" dirty="0" err="1"/>
              <a:t>Morphospace</a:t>
            </a:r>
            <a:r>
              <a:rPr lang="fr-FR" dirty="0"/>
              <a:t> </a:t>
            </a:r>
            <a:r>
              <a:rPr lang="fr-FR" dirty="0" err="1"/>
              <a:t>species</a:t>
            </a:r>
            <a:r>
              <a:rPr lang="fr-FR" dirty="0"/>
              <a:t> 2</a:t>
            </a:r>
          </a:p>
          <a:p>
            <a:pPr algn="ctr"/>
            <a:r>
              <a:rPr lang="fr-FR" dirty="0"/>
              <a:t>x</a:t>
            </a:r>
          </a:p>
          <a:p>
            <a:pPr algn="ctr"/>
            <a:r>
              <a:rPr lang="fr-FR" dirty="0"/>
              <a:t> Spatial configurations</a:t>
            </a:r>
            <a:endParaRPr lang="en-US" dirty="0"/>
          </a:p>
        </p:txBody>
      </p:sp>
      <p:sp>
        <p:nvSpPr>
          <p:cNvPr id="92" name="Oval 91">
            <a:extLst>
              <a:ext uri="{FF2B5EF4-FFF2-40B4-BE49-F238E27FC236}">
                <a16:creationId xmlns:a16="http://schemas.microsoft.com/office/drawing/2014/main" id="{CB597C63-2200-4969-99FD-7D38A391A978}"/>
              </a:ext>
            </a:extLst>
          </p:cNvPr>
          <p:cNvSpPr/>
          <p:nvPr/>
        </p:nvSpPr>
        <p:spPr>
          <a:xfrm>
            <a:off x="6688581" y="1673990"/>
            <a:ext cx="1587139" cy="774197"/>
          </a:xfrm>
          <a:prstGeom prst="ellipse">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a:t>ArchiCrop</a:t>
            </a:r>
            <a:endParaRPr lang="en-US" dirty="0"/>
          </a:p>
        </p:txBody>
      </p:sp>
      <p:cxnSp>
        <p:nvCxnSpPr>
          <p:cNvPr id="121" name="Straight Arrow Connector 120">
            <a:extLst>
              <a:ext uri="{FF2B5EF4-FFF2-40B4-BE49-F238E27FC236}">
                <a16:creationId xmlns:a16="http://schemas.microsoft.com/office/drawing/2014/main" id="{DE54F91A-3F31-4C08-B255-6A909CF1983B}"/>
              </a:ext>
            </a:extLst>
          </p:cNvPr>
          <p:cNvCxnSpPr>
            <a:cxnSpLocks/>
            <a:stCxn id="225" idx="3"/>
            <a:endCxn id="92" idx="2"/>
          </p:cNvCxnSpPr>
          <p:nvPr/>
        </p:nvCxnSpPr>
        <p:spPr>
          <a:xfrm>
            <a:off x="6298496" y="2061089"/>
            <a:ext cx="390085" cy="0"/>
          </a:xfrm>
          <a:prstGeom prst="straightConnector1">
            <a:avLst/>
          </a:prstGeom>
          <a:ln w="19050">
            <a:solidFill>
              <a:srgbClr val="F39200"/>
            </a:solidFill>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1D6825E1-A317-49D2-B24E-592ADE65AAFF}"/>
              </a:ext>
            </a:extLst>
          </p:cNvPr>
          <p:cNvCxnSpPr>
            <a:cxnSpLocks/>
            <a:stCxn id="64" idx="1"/>
            <a:endCxn id="92" idx="6"/>
          </p:cNvCxnSpPr>
          <p:nvPr/>
        </p:nvCxnSpPr>
        <p:spPr>
          <a:xfrm flipH="1">
            <a:off x="8275720" y="2061087"/>
            <a:ext cx="483742" cy="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160" name="Straight Arrow Connector 159">
            <a:extLst>
              <a:ext uri="{FF2B5EF4-FFF2-40B4-BE49-F238E27FC236}">
                <a16:creationId xmlns:a16="http://schemas.microsoft.com/office/drawing/2014/main" id="{919C5013-02BF-41E9-BB1E-3424C33C7527}"/>
              </a:ext>
            </a:extLst>
          </p:cNvPr>
          <p:cNvCxnSpPr>
            <a:cxnSpLocks/>
            <a:stCxn id="40" idx="1"/>
            <a:endCxn id="43" idx="3"/>
          </p:cNvCxnSpPr>
          <p:nvPr/>
        </p:nvCxnSpPr>
        <p:spPr>
          <a:xfrm flipH="1" flipV="1">
            <a:off x="4892160" y="5239590"/>
            <a:ext cx="1363656" cy="11431"/>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sp>
        <p:nvSpPr>
          <p:cNvPr id="216" name="Slide Number Placeholder 215">
            <a:extLst>
              <a:ext uri="{FF2B5EF4-FFF2-40B4-BE49-F238E27FC236}">
                <a16:creationId xmlns:a16="http://schemas.microsoft.com/office/drawing/2014/main" id="{22635BB3-F18C-4F56-9652-2BBB1E754F7F}"/>
              </a:ext>
            </a:extLst>
          </p:cNvPr>
          <p:cNvSpPr>
            <a:spLocks noGrp="1"/>
          </p:cNvSpPr>
          <p:nvPr>
            <p:ph type="sldNum" sz="quarter" idx="12"/>
          </p:nvPr>
        </p:nvSpPr>
        <p:spPr/>
        <p:txBody>
          <a:bodyPr/>
          <a:lstStyle/>
          <a:p>
            <a:fld id="{27C6CCC6-2BE5-4E42-96A4-D1E8E81A3D8E}" type="slidenum">
              <a:rPr lang="fr-FR" smtClean="0"/>
              <a:t>20</a:t>
            </a:fld>
            <a:endParaRPr lang="fr-FR"/>
          </a:p>
        </p:txBody>
      </p:sp>
      <p:sp>
        <p:nvSpPr>
          <p:cNvPr id="225" name="Rectangle 224">
            <a:extLst>
              <a:ext uri="{FF2B5EF4-FFF2-40B4-BE49-F238E27FC236}">
                <a16:creationId xmlns:a16="http://schemas.microsoft.com/office/drawing/2014/main" id="{67F96804-BA90-4859-AE40-3D2391C4C00B}"/>
              </a:ext>
            </a:extLst>
          </p:cNvPr>
          <p:cNvSpPr/>
          <p:nvPr/>
        </p:nvSpPr>
        <p:spPr>
          <a:xfrm>
            <a:off x="4675932" y="1492891"/>
            <a:ext cx="1622564" cy="113639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Growth</a:t>
            </a:r>
            <a:r>
              <a:rPr lang="fr-FR" dirty="0"/>
              <a:t> </a:t>
            </a:r>
            <a:r>
              <a:rPr lang="fr-FR" dirty="0" err="1"/>
              <a:t>dynamics</a:t>
            </a:r>
            <a:endParaRPr lang="fr-FR" dirty="0"/>
          </a:p>
          <a:p>
            <a:pPr algn="ctr"/>
            <a:r>
              <a:rPr lang="fr-FR" dirty="0"/>
              <a:t>LAI(t), </a:t>
            </a:r>
            <a:r>
              <a:rPr lang="fr-FR" dirty="0" err="1"/>
              <a:t>height</a:t>
            </a:r>
            <a:r>
              <a:rPr lang="fr-FR" dirty="0"/>
              <a:t>(t)</a:t>
            </a:r>
            <a:endParaRPr lang="en-US" dirty="0"/>
          </a:p>
        </p:txBody>
      </p:sp>
      <p:pic>
        <p:nvPicPr>
          <p:cNvPr id="7" name="Picture 6">
            <a:extLst>
              <a:ext uri="{FF2B5EF4-FFF2-40B4-BE49-F238E27FC236}">
                <a16:creationId xmlns:a16="http://schemas.microsoft.com/office/drawing/2014/main" id="{B1C72EC1-E0E9-4E25-873C-3B0F039B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3348" y="2661252"/>
            <a:ext cx="1027732" cy="804049"/>
          </a:xfrm>
          <a:prstGeom prst="rect">
            <a:avLst/>
          </a:prstGeom>
        </p:spPr>
      </p:pic>
      <p:sp>
        <p:nvSpPr>
          <p:cNvPr id="28" name="TextBox 27">
            <a:extLst>
              <a:ext uri="{FF2B5EF4-FFF2-40B4-BE49-F238E27FC236}">
                <a16:creationId xmlns:a16="http://schemas.microsoft.com/office/drawing/2014/main" id="{EF4BE47E-4493-430D-8668-242A88BCBEC4}"/>
              </a:ext>
            </a:extLst>
          </p:cNvPr>
          <p:cNvSpPr txBox="1"/>
          <p:nvPr/>
        </p:nvSpPr>
        <p:spPr>
          <a:xfrm>
            <a:off x="963391" y="4335249"/>
            <a:ext cx="1428238" cy="1477328"/>
          </a:xfrm>
          <a:prstGeom prst="rect">
            <a:avLst/>
          </a:prstGeom>
          <a:noFill/>
        </p:spPr>
        <p:txBody>
          <a:bodyPr wrap="square" rtlCol="0">
            <a:spAutoFit/>
          </a:bodyPr>
          <a:lstStyle/>
          <a:p>
            <a:r>
              <a:rPr lang="en-US" dirty="0"/>
              <a:t>Computation of light interception at organ scale</a:t>
            </a:r>
          </a:p>
        </p:txBody>
      </p:sp>
      <p:pic>
        <p:nvPicPr>
          <p:cNvPr id="54" name="Picture 53">
            <a:extLst>
              <a:ext uri="{FF2B5EF4-FFF2-40B4-BE49-F238E27FC236}">
                <a16:creationId xmlns:a16="http://schemas.microsoft.com/office/drawing/2014/main" id="{E4DF114A-8F90-4E4B-84CF-9688162B6045}"/>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6199" y="1170900"/>
            <a:ext cx="870700" cy="670031"/>
          </a:xfrm>
          <a:prstGeom prst="rect">
            <a:avLst/>
          </a:prstGeom>
        </p:spPr>
      </p:pic>
      <p:pic>
        <p:nvPicPr>
          <p:cNvPr id="40" name="Picture 39">
            <a:extLst>
              <a:ext uri="{FF2B5EF4-FFF2-40B4-BE49-F238E27FC236}">
                <a16:creationId xmlns:a16="http://schemas.microsoft.com/office/drawing/2014/main" id="{6992F506-00A7-45E4-974F-188C2E356A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5816" y="3963129"/>
            <a:ext cx="2354784" cy="2575783"/>
          </a:xfrm>
          <a:prstGeom prst="rect">
            <a:avLst/>
          </a:prstGeom>
        </p:spPr>
      </p:pic>
      <p:pic>
        <p:nvPicPr>
          <p:cNvPr id="43" name="Picture 42">
            <a:extLst>
              <a:ext uri="{FF2B5EF4-FFF2-40B4-BE49-F238E27FC236}">
                <a16:creationId xmlns:a16="http://schemas.microsoft.com/office/drawing/2014/main" id="{0A740BA8-7976-4CCB-9873-FF833851F7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37376" y="3940267"/>
            <a:ext cx="2354784" cy="2598645"/>
          </a:xfrm>
          <a:prstGeom prst="rect">
            <a:avLst/>
          </a:prstGeom>
        </p:spPr>
      </p:pic>
      <p:cxnSp>
        <p:nvCxnSpPr>
          <p:cNvPr id="84" name="Straight Arrow Connector 83">
            <a:extLst>
              <a:ext uri="{FF2B5EF4-FFF2-40B4-BE49-F238E27FC236}">
                <a16:creationId xmlns:a16="http://schemas.microsoft.com/office/drawing/2014/main" id="{01B9C1C0-3153-4D27-8144-9C630F7C6BB5}"/>
              </a:ext>
            </a:extLst>
          </p:cNvPr>
          <p:cNvCxnSpPr>
            <a:cxnSpLocks/>
            <a:stCxn id="92" idx="4"/>
          </p:cNvCxnSpPr>
          <p:nvPr/>
        </p:nvCxnSpPr>
        <p:spPr>
          <a:xfrm>
            <a:off x="7482151" y="2448187"/>
            <a:ext cx="0" cy="1156550"/>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97" name="TextBox 96">
            <a:extLst>
              <a:ext uri="{FF2B5EF4-FFF2-40B4-BE49-F238E27FC236}">
                <a16:creationId xmlns:a16="http://schemas.microsoft.com/office/drawing/2014/main" id="{60B162AF-81D8-4B23-B994-8A2940E4EE68}"/>
              </a:ext>
            </a:extLst>
          </p:cNvPr>
          <p:cNvSpPr txBox="1"/>
          <p:nvPr/>
        </p:nvSpPr>
        <p:spPr>
          <a:xfrm>
            <a:off x="221811" y="1599422"/>
            <a:ext cx="1426531" cy="923330"/>
          </a:xfrm>
          <a:prstGeom prst="rect">
            <a:avLst/>
          </a:prstGeom>
          <a:ln>
            <a:solidFill>
              <a:srgbClr val="F392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ExM</a:t>
            </a:r>
            <a:r>
              <a:rPr lang="fr-FR" u="sng" dirty="0"/>
              <a:t> </a:t>
            </a:r>
            <a:r>
              <a:rPr lang="fr-FR" u="sng" dirty="0" err="1"/>
              <a:t>experimental</a:t>
            </a:r>
            <a:r>
              <a:rPr lang="fr-FR" u="sng" dirty="0"/>
              <a:t> design</a:t>
            </a:r>
          </a:p>
        </p:txBody>
      </p:sp>
      <p:cxnSp>
        <p:nvCxnSpPr>
          <p:cNvPr id="112" name="Straight Arrow Connector 111">
            <a:extLst>
              <a:ext uri="{FF2B5EF4-FFF2-40B4-BE49-F238E27FC236}">
                <a16:creationId xmlns:a16="http://schemas.microsoft.com/office/drawing/2014/main" id="{C444704C-DB06-466B-9457-D5A78CF7150E}"/>
              </a:ext>
            </a:extLst>
          </p:cNvPr>
          <p:cNvCxnSpPr>
            <a:cxnSpLocks/>
            <a:stCxn id="97" idx="3"/>
            <a:endCxn id="4" idx="2"/>
          </p:cNvCxnSpPr>
          <p:nvPr/>
        </p:nvCxnSpPr>
        <p:spPr>
          <a:xfrm>
            <a:off x="1648342" y="2061087"/>
            <a:ext cx="396785"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BECEF344-8394-4A3A-B4AF-83EB72E1AE3D}"/>
              </a:ext>
            </a:extLst>
          </p:cNvPr>
          <p:cNvSpPr txBox="1"/>
          <p:nvPr/>
        </p:nvSpPr>
        <p:spPr>
          <a:xfrm>
            <a:off x="1677510" y="1691755"/>
            <a:ext cx="499730" cy="369332"/>
          </a:xfrm>
          <a:prstGeom prst="rect">
            <a:avLst/>
          </a:prstGeom>
          <a:noFill/>
        </p:spPr>
        <p:txBody>
          <a:bodyPr wrap="square" rtlCol="0">
            <a:spAutoFit/>
          </a:bodyPr>
          <a:lstStyle/>
          <a:p>
            <a:r>
              <a:rPr lang="en-US" dirty="0"/>
              <a:t>x</a:t>
            </a:r>
          </a:p>
        </p:txBody>
      </p:sp>
      <p:pic>
        <p:nvPicPr>
          <p:cNvPr id="22" name="Graphic 21">
            <a:extLst>
              <a:ext uri="{FF2B5EF4-FFF2-40B4-BE49-F238E27FC236}">
                <a16:creationId xmlns:a16="http://schemas.microsoft.com/office/drawing/2014/main" id="{E1EF665B-348B-41F5-A183-36E919F58A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25690" y="5776127"/>
            <a:ext cx="953848" cy="738463"/>
          </a:xfrm>
          <a:prstGeom prst="rect">
            <a:avLst/>
          </a:prstGeom>
        </p:spPr>
      </p:pic>
      <p:sp>
        <p:nvSpPr>
          <p:cNvPr id="25" name="Title 1">
            <a:extLst>
              <a:ext uri="{FF2B5EF4-FFF2-40B4-BE49-F238E27FC236}">
                <a16:creationId xmlns:a16="http://schemas.microsoft.com/office/drawing/2014/main" id="{9C4BA10D-CF77-4EFD-AE03-53F2A554E2CD}"/>
              </a:ext>
            </a:extLst>
          </p:cNvPr>
          <p:cNvSpPr txBox="1">
            <a:spLocks/>
          </p:cNvSpPr>
          <p:nvPr/>
        </p:nvSpPr>
        <p:spPr>
          <a:xfrm>
            <a:off x="846667" y="216561"/>
            <a:ext cx="10795984" cy="804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a:t>Workflow of simulations of intercrops through time</a:t>
            </a:r>
            <a:endParaRPr lang="en-US" sz="4000" dirty="0"/>
          </a:p>
        </p:txBody>
      </p:sp>
    </p:spTree>
    <p:extLst>
      <p:ext uri="{BB962C8B-B14F-4D97-AF65-F5344CB8AC3E}">
        <p14:creationId xmlns:p14="http://schemas.microsoft.com/office/powerpoint/2010/main" val="3940696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BF8D5E98-A9ED-4B1A-9C6F-B88D4E769A89}"/>
              </a:ext>
            </a:extLst>
          </p:cNvPr>
          <p:cNvSpPr/>
          <p:nvPr/>
        </p:nvSpPr>
        <p:spPr>
          <a:xfrm>
            <a:off x="2045127" y="1460923"/>
            <a:ext cx="1973063" cy="1200329"/>
          </a:xfrm>
          <a:prstGeom prst="ellipse">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 simulation </a:t>
            </a:r>
          </a:p>
          <a:p>
            <a:pPr algn="ctr"/>
            <a:r>
              <a:rPr lang="fr-FR" dirty="0" err="1"/>
              <a:t>with</a:t>
            </a:r>
            <a:r>
              <a:rPr lang="fr-FR" dirty="0"/>
              <a:t> </a:t>
            </a:r>
            <a:r>
              <a:rPr lang="fr-FR" dirty="0" err="1"/>
              <a:t>crop</a:t>
            </a:r>
            <a:r>
              <a:rPr lang="fr-FR" dirty="0"/>
              <a:t> model</a:t>
            </a:r>
            <a:endParaRPr lang="en-US" dirty="0"/>
          </a:p>
        </p:txBody>
      </p:sp>
      <p:cxnSp>
        <p:nvCxnSpPr>
          <p:cNvPr id="56" name="Straight Arrow Connector 55">
            <a:extLst>
              <a:ext uri="{FF2B5EF4-FFF2-40B4-BE49-F238E27FC236}">
                <a16:creationId xmlns:a16="http://schemas.microsoft.com/office/drawing/2014/main" id="{A725A07B-B392-48E1-9B1B-615B5E5E3067}"/>
              </a:ext>
            </a:extLst>
          </p:cNvPr>
          <p:cNvCxnSpPr>
            <a:cxnSpLocks/>
            <a:stCxn id="4" idx="6"/>
            <a:endCxn id="225" idx="1"/>
          </p:cNvCxnSpPr>
          <p:nvPr/>
        </p:nvCxnSpPr>
        <p:spPr>
          <a:xfrm>
            <a:off x="4018190" y="2061088"/>
            <a:ext cx="657742"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90DD7BA7-D334-42DA-8798-DC47128D6220}"/>
              </a:ext>
            </a:extLst>
          </p:cNvPr>
          <p:cNvSpPr txBox="1"/>
          <p:nvPr/>
        </p:nvSpPr>
        <p:spPr>
          <a:xfrm>
            <a:off x="8759462" y="1183924"/>
            <a:ext cx="3165846" cy="1754326"/>
          </a:xfrm>
          <a:prstGeom prst="rect">
            <a:avLst/>
          </a:prstGeom>
          <a:ln>
            <a:solidFill>
              <a:srgbClr val="399758"/>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GxG</a:t>
            </a:r>
            <a:r>
              <a:rPr lang="fr-FR" u="sng" dirty="0"/>
              <a:t> </a:t>
            </a:r>
            <a:r>
              <a:rPr lang="fr-FR" u="sng" dirty="0" err="1"/>
              <a:t>experimental</a:t>
            </a:r>
            <a:r>
              <a:rPr lang="fr-FR" u="sng" dirty="0"/>
              <a:t> design :</a:t>
            </a:r>
          </a:p>
          <a:p>
            <a:pPr algn="ctr"/>
            <a:r>
              <a:rPr lang="fr-FR" dirty="0" err="1"/>
              <a:t>Morphospace</a:t>
            </a:r>
            <a:r>
              <a:rPr lang="fr-FR" dirty="0"/>
              <a:t> </a:t>
            </a:r>
            <a:r>
              <a:rPr lang="fr-FR" dirty="0" err="1"/>
              <a:t>species</a:t>
            </a:r>
            <a:r>
              <a:rPr lang="fr-FR" dirty="0"/>
              <a:t> 1</a:t>
            </a:r>
          </a:p>
          <a:p>
            <a:pPr algn="ctr"/>
            <a:r>
              <a:rPr lang="fr-FR" dirty="0"/>
              <a:t>x </a:t>
            </a:r>
          </a:p>
          <a:p>
            <a:pPr algn="ctr"/>
            <a:r>
              <a:rPr lang="fr-FR" dirty="0" err="1"/>
              <a:t>Morphospace</a:t>
            </a:r>
            <a:r>
              <a:rPr lang="fr-FR" dirty="0"/>
              <a:t> </a:t>
            </a:r>
            <a:r>
              <a:rPr lang="fr-FR" dirty="0" err="1"/>
              <a:t>species</a:t>
            </a:r>
            <a:r>
              <a:rPr lang="fr-FR" dirty="0"/>
              <a:t> 2</a:t>
            </a:r>
          </a:p>
          <a:p>
            <a:pPr algn="ctr"/>
            <a:r>
              <a:rPr lang="fr-FR" dirty="0"/>
              <a:t>x</a:t>
            </a:r>
          </a:p>
          <a:p>
            <a:pPr algn="ctr"/>
            <a:r>
              <a:rPr lang="fr-FR" dirty="0"/>
              <a:t> Spatial configurations</a:t>
            </a:r>
            <a:endParaRPr lang="en-US" dirty="0"/>
          </a:p>
        </p:txBody>
      </p:sp>
      <p:sp>
        <p:nvSpPr>
          <p:cNvPr id="92" name="Oval 91">
            <a:extLst>
              <a:ext uri="{FF2B5EF4-FFF2-40B4-BE49-F238E27FC236}">
                <a16:creationId xmlns:a16="http://schemas.microsoft.com/office/drawing/2014/main" id="{CB597C63-2200-4969-99FD-7D38A391A978}"/>
              </a:ext>
            </a:extLst>
          </p:cNvPr>
          <p:cNvSpPr/>
          <p:nvPr/>
        </p:nvSpPr>
        <p:spPr>
          <a:xfrm>
            <a:off x="6688581" y="1673990"/>
            <a:ext cx="1587139" cy="774197"/>
          </a:xfrm>
          <a:prstGeom prst="ellipse">
            <a:avLst/>
          </a:prstGeom>
          <a:solidFill>
            <a:srgbClr val="399758"/>
          </a:solidFill>
          <a:ln>
            <a:solidFill>
              <a:srgbClr val="399758"/>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dirty="0" err="1"/>
              <a:t>ArchiCrop</a:t>
            </a:r>
            <a:endParaRPr lang="en-US" dirty="0"/>
          </a:p>
        </p:txBody>
      </p:sp>
      <p:cxnSp>
        <p:nvCxnSpPr>
          <p:cNvPr id="121" name="Straight Arrow Connector 120">
            <a:extLst>
              <a:ext uri="{FF2B5EF4-FFF2-40B4-BE49-F238E27FC236}">
                <a16:creationId xmlns:a16="http://schemas.microsoft.com/office/drawing/2014/main" id="{DE54F91A-3F31-4C08-B255-6A909CF1983B}"/>
              </a:ext>
            </a:extLst>
          </p:cNvPr>
          <p:cNvCxnSpPr>
            <a:cxnSpLocks/>
            <a:stCxn id="225" idx="3"/>
            <a:endCxn id="92" idx="2"/>
          </p:cNvCxnSpPr>
          <p:nvPr/>
        </p:nvCxnSpPr>
        <p:spPr>
          <a:xfrm>
            <a:off x="6298496" y="2061089"/>
            <a:ext cx="390085" cy="0"/>
          </a:xfrm>
          <a:prstGeom prst="straightConnector1">
            <a:avLst/>
          </a:prstGeom>
          <a:ln w="19050">
            <a:solidFill>
              <a:srgbClr val="F39200"/>
            </a:solidFill>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1D6825E1-A317-49D2-B24E-592ADE65AAFF}"/>
              </a:ext>
            </a:extLst>
          </p:cNvPr>
          <p:cNvCxnSpPr>
            <a:cxnSpLocks/>
            <a:stCxn id="64" idx="1"/>
            <a:endCxn id="92" idx="6"/>
          </p:cNvCxnSpPr>
          <p:nvPr/>
        </p:nvCxnSpPr>
        <p:spPr>
          <a:xfrm flipH="1">
            <a:off x="8275720" y="2061087"/>
            <a:ext cx="483742" cy="2"/>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cxnSp>
        <p:nvCxnSpPr>
          <p:cNvPr id="160" name="Straight Arrow Connector 159">
            <a:extLst>
              <a:ext uri="{FF2B5EF4-FFF2-40B4-BE49-F238E27FC236}">
                <a16:creationId xmlns:a16="http://schemas.microsoft.com/office/drawing/2014/main" id="{919C5013-02BF-41E9-BB1E-3424C33C7527}"/>
              </a:ext>
            </a:extLst>
          </p:cNvPr>
          <p:cNvCxnSpPr>
            <a:cxnSpLocks/>
            <a:stCxn id="40" idx="1"/>
            <a:endCxn id="43" idx="3"/>
          </p:cNvCxnSpPr>
          <p:nvPr/>
        </p:nvCxnSpPr>
        <p:spPr>
          <a:xfrm flipH="1" flipV="1">
            <a:off x="4892160" y="5239590"/>
            <a:ext cx="1363656" cy="11431"/>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sp>
        <p:nvSpPr>
          <p:cNvPr id="216" name="Slide Number Placeholder 215">
            <a:extLst>
              <a:ext uri="{FF2B5EF4-FFF2-40B4-BE49-F238E27FC236}">
                <a16:creationId xmlns:a16="http://schemas.microsoft.com/office/drawing/2014/main" id="{22635BB3-F18C-4F56-9652-2BBB1E754F7F}"/>
              </a:ext>
            </a:extLst>
          </p:cNvPr>
          <p:cNvSpPr>
            <a:spLocks noGrp="1"/>
          </p:cNvSpPr>
          <p:nvPr>
            <p:ph type="sldNum" sz="quarter" idx="12"/>
          </p:nvPr>
        </p:nvSpPr>
        <p:spPr/>
        <p:txBody>
          <a:bodyPr/>
          <a:lstStyle/>
          <a:p>
            <a:fld id="{27C6CCC6-2BE5-4E42-96A4-D1E8E81A3D8E}" type="slidenum">
              <a:rPr lang="fr-FR" smtClean="0"/>
              <a:t>21</a:t>
            </a:fld>
            <a:endParaRPr lang="fr-FR"/>
          </a:p>
        </p:txBody>
      </p:sp>
      <p:sp>
        <p:nvSpPr>
          <p:cNvPr id="225" name="Rectangle 224">
            <a:extLst>
              <a:ext uri="{FF2B5EF4-FFF2-40B4-BE49-F238E27FC236}">
                <a16:creationId xmlns:a16="http://schemas.microsoft.com/office/drawing/2014/main" id="{67F96804-BA90-4859-AE40-3D2391C4C00B}"/>
              </a:ext>
            </a:extLst>
          </p:cNvPr>
          <p:cNvSpPr/>
          <p:nvPr/>
        </p:nvSpPr>
        <p:spPr>
          <a:xfrm>
            <a:off x="4675932" y="1492891"/>
            <a:ext cx="1622564" cy="1136395"/>
          </a:xfrm>
          <a:prstGeom prst="rect">
            <a:avLst/>
          </a:prstGeom>
          <a:solidFill>
            <a:srgbClr val="F39200"/>
          </a:solidFill>
          <a:ln>
            <a:solidFill>
              <a:srgbClr val="F39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Growth</a:t>
            </a:r>
            <a:r>
              <a:rPr lang="fr-FR" dirty="0"/>
              <a:t> </a:t>
            </a:r>
            <a:r>
              <a:rPr lang="fr-FR" dirty="0" err="1"/>
              <a:t>dynamics</a:t>
            </a:r>
            <a:endParaRPr lang="fr-FR" dirty="0"/>
          </a:p>
          <a:p>
            <a:pPr algn="ctr"/>
            <a:r>
              <a:rPr lang="fr-FR" dirty="0"/>
              <a:t>LAI(t), </a:t>
            </a:r>
            <a:r>
              <a:rPr lang="fr-FR" dirty="0" err="1"/>
              <a:t>height</a:t>
            </a:r>
            <a:r>
              <a:rPr lang="fr-FR" dirty="0"/>
              <a:t>(t)</a:t>
            </a:r>
            <a:endParaRPr lang="en-US" dirty="0"/>
          </a:p>
        </p:txBody>
      </p:sp>
      <p:pic>
        <p:nvPicPr>
          <p:cNvPr id="7" name="Picture 6">
            <a:extLst>
              <a:ext uri="{FF2B5EF4-FFF2-40B4-BE49-F238E27FC236}">
                <a16:creationId xmlns:a16="http://schemas.microsoft.com/office/drawing/2014/main" id="{B1C72EC1-E0E9-4E25-873C-3B0F039B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3348" y="2661252"/>
            <a:ext cx="1027732" cy="804049"/>
          </a:xfrm>
          <a:prstGeom prst="rect">
            <a:avLst/>
          </a:prstGeom>
        </p:spPr>
      </p:pic>
      <p:pic>
        <p:nvPicPr>
          <p:cNvPr id="54" name="Picture 53">
            <a:extLst>
              <a:ext uri="{FF2B5EF4-FFF2-40B4-BE49-F238E27FC236}">
                <a16:creationId xmlns:a16="http://schemas.microsoft.com/office/drawing/2014/main" id="{E4DF114A-8F90-4E4B-84CF-9688162B6045}"/>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26199" y="1170900"/>
            <a:ext cx="870700" cy="670031"/>
          </a:xfrm>
          <a:prstGeom prst="rect">
            <a:avLst/>
          </a:prstGeom>
        </p:spPr>
      </p:pic>
      <p:pic>
        <p:nvPicPr>
          <p:cNvPr id="40" name="Picture 39">
            <a:extLst>
              <a:ext uri="{FF2B5EF4-FFF2-40B4-BE49-F238E27FC236}">
                <a16:creationId xmlns:a16="http://schemas.microsoft.com/office/drawing/2014/main" id="{6992F506-00A7-45E4-974F-188C2E356A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5816" y="3963129"/>
            <a:ext cx="2354784" cy="2575783"/>
          </a:xfrm>
          <a:prstGeom prst="rect">
            <a:avLst/>
          </a:prstGeom>
        </p:spPr>
      </p:pic>
      <p:pic>
        <p:nvPicPr>
          <p:cNvPr id="43" name="Picture 42">
            <a:extLst>
              <a:ext uri="{FF2B5EF4-FFF2-40B4-BE49-F238E27FC236}">
                <a16:creationId xmlns:a16="http://schemas.microsoft.com/office/drawing/2014/main" id="{0A740BA8-7976-4CCB-9873-FF833851F7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37376" y="3940267"/>
            <a:ext cx="2354784" cy="2598645"/>
          </a:xfrm>
          <a:prstGeom prst="rect">
            <a:avLst/>
          </a:prstGeom>
        </p:spPr>
      </p:pic>
      <p:cxnSp>
        <p:nvCxnSpPr>
          <p:cNvPr id="84" name="Straight Arrow Connector 83">
            <a:extLst>
              <a:ext uri="{FF2B5EF4-FFF2-40B4-BE49-F238E27FC236}">
                <a16:creationId xmlns:a16="http://schemas.microsoft.com/office/drawing/2014/main" id="{01B9C1C0-3153-4D27-8144-9C630F7C6BB5}"/>
              </a:ext>
            </a:extLst>
          </p:cNvPr>
          <p:cNvCxnSpPr>
            <a:cxnSpLocks/>
            <a:stCxn id="92" idx="4"/>
          </p:cNvCxnSpPr>
          <p:nvPr/>
        </p:nvCxnSpPr>
        <p:spPr>
          <a:xfrm>
            <a:off x="7482151" y="2448187"/>
            <a:ext cx="0" cy="1156550"/>
          </a:xfrm>
          <a:prstGeom prst="straightConnector1">
            <a:avLst/>
          </a:prstGeom>
          <a:ln>
            <a:solidFill>
              <a:srgbClr val="399758"/>
            </a:solidFill>
            <a:tailEnd type="triangle"/>
          </a:ln>
        </p:spPr>
        <p:style>
          <a:lnRef idx="2">
            <a:schemeClr val="accent2"/>
          </a:lnRef>
          <a:fillRef idx="0">
            <a:schemeClr val="accent2"/>
          </a:fillRef>
          <a:effectRef idx="1">
            <a:schemeClr val="accent2"/>
          </a:effectRef>
          <a:fontRef idx="minor">
            <a:schemeClr val="tx1"/>
          </a:fontRef>
        </p:style>
      </p:cxnSp>
      <p:sp>
        <p:nvSpPr>
          <p:cNvPr id="97" name="TextBox 96">
            <a:extLst>
              <a:ext uri="{FF2B5EF4-FFF2-40B4-BE49-F238E27FC236}">
                <a16:creationId xmlns:a16="http://schemas.microsoft.com/office/drawing/2014/main" id="{60B162AF-81D8-4B23-B994-8A2940E4EE68}"/>
              </a:ext>
            </a:extLst>
          </p:cNvPr>
          <p:cNvSpPr txBox="1"/>
          <p:nvPr/>
        </p:nvSpPr>
        <p:spPr>
          <a:xfrm>
            <a:off x="221811" y="1599422"/>
            <a:ext cx="1426531" cy="923330"/>
          </a:xfrm>
          <a:prstGeom prst="rect">
            <a:avLst/>
          </a:prstGeom>
          <a:ln>
            <a:solidFill>
              <a:srgbClr val="F392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u="sng" dirty="0" err="1"/>
              <a:t>ExM</a:t>
            </a:r>
            <a:r>
              <a:rPr lang="fr-FR" u="sng" dirty="0"/>
              <a:t> </a:t>
            </a:r>
            <a:r>
              <a:rPr lang="fr-FR" u="sng" dirty="0" err="1"/>
              <a:t>experimental</a:t>
            </a:r>
            <a:r>
              <a:rPr lang="fr-FR" u="sng" dirty="0"/>
              <a:t> design</a:t>
            </a:r>
          </a:p>
        </p:txBody>
      </p:sp>
      <p:cxnSp>
        <p:nvCxnSpPr>
          <p:cNvPr id="112" name="Straight Arrow Connector 111">
            <a:extLst>
              <a:ext uri="{FF2B5EF4-FFF2-40B4-BE49-F238E27FC236}">
                <a16:creationId xmlns:a16="http://schemas.microsoft.com/office/drawing/2014/main" id="{C444704C-DB06-466B-9457-D5A78CF7150E}"/>
              </a:ext>
            </a:extLst>
          </p:cNvPr>
          <p:cNvCxnSpPr>
            <a:cxnSpLocks/>
            <a:stCxn id="97" idx="3"/>
            <a:endCxn id="4" idx="2"/>
          </p:cNvCxnSpPr>
          <p:nvPr/>
        </p:nvCxnSpPr>
        <p:spPr>
          <a:xfrm>
            <a:off x="1648342" y="2061087"/>
            <a:ext cx="396785" cy="1"/>
          </a:xfrm>
          <a:prstGeom prst="straightConnector1">
            <a:avLst/>
          </a:prstGeom>
          <a:ln>
            <a:solidFill>
              <a:srgbClr val="F39200"/>
            </a:solidFill>
            <a:tailEnd type="triangle"/>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BECEF344-8394-4A3A-B4AF-83EB72E1AE3D}"/>
              </a:ext>
            </a:extLst>
          </p:cNvPr>
          <p:cNvSpPr txBox="1"/>
          <p:nvPr/>
        </p:nvSpPr>
        <p:spPr>
          <a:xfrm>
            <a:off x="1677510" y="1691755"/>
            <a:ext cx="499730" cy="369332"/>
          </a:xfrm>
          <a:prstGeom prst="rect">
            <a:avLst/>
          </a:prstGeom>
          <a:noFill/>
        </p:spPr>
        <p:txBody>
          <a:bodyPr wrap="square" rtlCol="0">
            <a:spAutoFit/>
          </a:bodyPr>
          <a:lstStyle/>
          <a:p>
            <a:r>
              <a:rPr lang="en-US" dirty="0"/>
              <a:t>x</a:t>
            </a:r>
          </a:p>
        </p:txBody>
      </p:sp>
      <p:sp>
        <p:nvSpPr>
          <p:cNvPr id="22" name="TextBox 21">
            <a:extLst>
              <a:ext uri="{FF2B5EF4-FFF2-40B4-BE49-F238E27FC236}">
                <a16:creationId xmlns:a16="http://schemas.microsoft.com/office/drawing/2014/main" id="{204847ED-7B98-4BB9-B187-54E1587F5255}"/>
              </a:ext>
            </a:extLst>
          </p:cNvPr>
          <p:cNvSpPr txBox="1"/>
          <p:nvPr/>
        </p:nvSpPr>
        <p:spPr>
          <a:xfrm>
            <a:off x="208103" y="2924951"/>
            <a:ext cx="2706890" cy="1477328"/>
          </a:xfrm>
          <a:prstGeom prst="rect">
            <a:avLst/>
          </a:prstGeom>
          <a:noFill/>
        </p:spPr>
        <p:txBody>
          <a:bodyPr wrap="square" rtlCol="0">
            <a:spAutoFit/>
          </a:bodyPr>
          <a:lstStyle/>
          <a:p>
            <a:r>
              <a:rPr lang="en-US" dirty="0"/>
              <a:t>Analysis of the uncertainty of the crop model associated to architecture parameters and spatial configuration</a:t>
            </a:r>
          </a:p>
        </p:txBody>
      </p:sp>
      <p:cxnSp>
        <p:nvCxnSpPr>
          <p:cNvPr id="5" name="Straight Arrow Connector 4">
            <a:extLst>
              <a:ext uri="{FF2B5EF4-FFF2-40B4-BE49-F238E27FC236}">
                <a16:creationId xmlns:a16="http://schemas.microsoft.com/office/drawing/2014/main" id="{7D52CD1C-7C60-4DBF-A7E8-07EC55D6D5A4}"/>
              </a:ext>
            </a:extLst>
          </p:cNvPr>
          <p:cNvCxnSpPr/>
          <p:nvPr/>
        </p:nvCxnSpPr>
        <p:spPr>
          <a:xfrm>
            <a:off x="3031658" y="2768794"/>
            <a:ext cx="76977" cy="1360351"/>
          </a:xfrm>
          <a:prstGeom prst="straightConnector1">
            <a:avLst/>
          </a:prstGeom>
          <a:ln w="38100">
            <a:solidFill>
              <a:schemeClr val="tx1"/>
            </a:solidFill>
            <a:headEnd type="triangle"/>
            <a:tailEnd type="triangle"/>
          </a:ln>
        </p:spPr>
        <p:style>
          <a:lnRef idx="2">
            <a:schemeClr val="dk1"/>
          </a:lnRef>
          <a:fillRef idx="0">
            <a:schemeClr val="dk1"/>
          </a:fillRef>
          <a:effectRef idx="1">
            <a:schemeClr val="dk1"/>
          </a:effectRef>
          <a:fontRef idx="minor">
            <a:schemeClr val="tx1"/>
          </a:fontRef>
        </p:style>
      </p:cxnSp>
      <p:pic>
        <p:nvPicPr>
          <p:cNvPr id="25" name="Graphic 24">
            <a:extLst>
              <a:ext uri="{FF2B5EF4-FFF2-40B4-BE49-F238E27FC236}">
                <a16:creationId xmlns:a16="http://schemas.microsoft.com/office/drawing/2014/main" id="{D59060B1-116D-42DE-BEAE-6F594C0A569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25690" y="5776127"/>
            <a:ext cx="953848" cy="738463"/>
          </a:xfrm>
          <a:prstGeom prst="rect">
            <a:avLst/>
          </a:prstGeom>
        </p:spPr>
      </p:pic>
      <p:sp>
        <p:nvSpPr>
          <p:cNvPr id="29" name="Title 1">
            <a:extLst>
              <a:ext uri="{FF2B5EF4-FFF2-40B4-BE49-F238E27FC236}">
                <a16:creationId xmlns:a16="http://schemas.microsoft.com/office/drawing/2014/main" id="{2A97DA16-C0FD-44B0-A086-9412F99E4311}"/>
              </a:ext>
            </a:extLst>
          </p:cNvPr>
          <p:cNvSpPr>
            <a:spLocks noGrp="1"/>
          </p:cNvSpPr>
          <p:nvPr>
            <p:ph type="title"/>
          </p:nvPr>
        </p:nvSpPr>
        <p:spPr>
          <a:xfrm>
            <a:off x="846667" y="216561"/>
            <a:ext cx="10795984" cy="804049"/>
          </a:xfrm>
        </p:spPr>
        <p:txBody>
          <a:bodyPr>
            <a:noAutofit/>
          </a:bodyPr>
          <a:lstStyle/>
          <a:p>
            <a:r>
              <a:rPr lang="fr-FR" sz="4000" dirty="0"/>
              <a:t>Workflow of simulations of </a:t>
            </a:r>
            <a:r>
              <a:rPr lang="fr-FR" sz="4000" dirty="0" err="1"/>
              <a:t>intercrops</a:t>
            </a:r>
            <a:r>
              <a:rPr lang="fr-FR" sz="4000" dirty="0"/>
              <a:t> </a:t>
            </a:r>
            <a:r>
              <a:rPr lang="fr-FR" sz="4000" dirty="0" err="1"/>
              <a:t>through</a:t>
            </a:r>
            <a:r>
              <a:rPr lang="fr-FR" sz="4000" dirty="0"/>
              <a:t> time</a:t>
            </a:r>
            <a:endParaRPr lang="en-US" sz="4000" dirty="0"/>
          </a:p>
        </p:txBody>
      </p:sp>
    </p:spTree>
    <p:extLst>
      <p:ext uri="{BB962C8B-B14F-4D97-AF65-F5344CB8AC3E}">
        <p14:creationId xmlns:p14="http://schemas.microsoft.com/office/powerpoint/2010/main" val="991330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508B-7B6D-4A2C-A638-D68FF6B0A3F2}"/>
              </a:ext>
            </a:extLst>
          </p:cNvPr>
          <p:cNvSpPr>
            <a:spLocks noGrp="1"/>
          </p:cNvSpPr>
          <p:nvPr>
            <p:ph type="title"/>
          </p:nvPr>
        </p:nvSpPr>
        <p:spPr/>
        <p:txBody>
          <a:bodyPr/>
          <a:lstStyle/>
          <a:p>
            <a:r>
              <a:rPr lang="en-US" dirty="0"/>
              <a:t>Perspectives</a:t>
            </a:r>
          </a:p>
        </p:txBody>
      </p:sp>
      <p:sp>
        <p:nvSpPr>
          <p:cNvPr id="4" name="Slide Number Placeholder 3">
            <a:extLst>
              <a:ext uri="{FF2B5EF4-FFF2-40B4-BE49-F238E27FC236}">
                <a16:creationId xmlns:a16="http://schemas.microsoft.com/office/drawing/2014/main" id="{778D2267-07F0-4367-A27F-68C0446E9ACB}"/>
              </a:ext>
            </a:extLst>
          </p:cNvPr>
          <p:cNvSpPr>
            <a:spLocks noGrp="1"/>
          </p:cNvSpPr>
          <p:nvPr>
            <p:ph type="sldNum" sz="quarter" idx="12"/>
          </p:nvPr>
        </p:nvSpPr>
        <p:spPr/>
        <p:txBody>
          <a:bodyPr/>
          <a:lstStyle/>
          <a:p>
            <a:fld id="{27C6CCC6-2BE5-4E42-96A4-D1E8E81A3D8E}" type="slidenum">
              <a:rPr lang="fr-FR" smtClean="0"/>
              <a:t>22</a:t>
            </a:fld>
            <a:endParaRPr lang="fr-FR"/>
          </a:p>
        </p:txBody>
      </p:sp>
      <p:grpSp>
        <p:nvGrpSpPr>
          <p:cNvPr id="14" name="Group 13">
            <a:extLst>
              <a:ext uri="{FF2B5EF4-FFF2-40B4-BE49-F238E27FC236}">
                <a16:creationId xmlns:a16="http://schemas.microsoft.com/office/drawing/2014/main" id="{F5F08054-61ED-490D-A355-9240E948889F}"/>
              </a:ext>
            </a:extLst>
          </p:cNvPr>
          <p:cNvGrpSpPr/>
          <p:nvPr/>
        </p:nvGrpSpPr>
        <p:grpSpPr>
          <a:xfrm>
            <a:off x="1167809" y="3812696"/>
            <a:ext cx="9856381" cy="903767"/>
            <a:chOff x="1180214" y="4742121"/>
            <a:chExt cx="9856381" cy="903767"/>
          </a:xfrm>
        </p:grpSpPr>
        <p:sp>
          <p:nvSpPr>
            <p:cNvPr id="5" name="Arrow: Right 4">
              <a:extLst>
                <a:ext uri="{FF2B5EF4-FFF2-40B4-BE49-F238E27FC236}">
                  <a16:creationId xmlns:a16="http://schemas.microsoft.com/office/drawing/2014/main" id="{AFF22ED4-AF75-4773-B318-DF499A399A13}"/>
                </a:ext>
              </a:extLst>
            </p:cNvPr>
            <p:cNvSpPr/>
            <p:nvPr/>
          </p:nvSpPr>
          <p:spPr>
            <a:xfrm>
              <a:off x="1180214" y="4742121"/>
              <a:ext cx="9856381" cy="903767"/>
            </a:xfrm>
            <a:prstGeom prst="rightArrow">
              <a:avLst/>
            </a:prstGeom>
            <a:solidFill>
              <a:srgbClr val="399758"/>
            </a:solidFill>
            <a:ln>
              <a:solidFill>
                <a:srgbClr val="2474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A059CC-826D-4105-880E-44202BF32652}"/>
                </a:ext>
              </a:extLst>
            </p:cNvPr>
            <p:cNvSpPr txBox="1"/>
            <p:nvPr/>
          </p:nvSpPr>
          <p:spPr>
            <a:xfrm>
              <a:off x="1339702" y="5009338"/>
              <a:ext cx="978196" cy="369332"/>
            </a:xfrm>
            <a:prstGeom prst="rect">
              <a:avLst/>
            </a:prstGeom>
            <a:noFill/>
          </p:spPr>
          <p:txBody>
            <a:bodyPr wrap="square" rtlCol="0">
              <a:spAutoFit/>
            </a:bodyPr>
            <a:lstStyle/>
            <a:p>
              <a:r>
                <a:rPr lang="en-US" dirty="0"/>
                <a:t>2024</a:t>
              </a:r>
            </a:p>
          </p:txBody>
        </p:sp>
        <p:sp>
          <p:nvSpPr>
            <p:cNvPr id="8" name="TextBox 7">
              <a:extLst>
                <a:ext uri="{FF2B5EF4-FFF2-40B4-BE49-F238E27FC236}">
                  <a16:creationId xmlns:a16="http://schemas.microsoft.com/office/drawing/2014/main" id="{C06AE40F-C462-443C-BCBF-2AB3E6CF48FE}"/>
                </a:ext>
              </a:extLst>
            </p:cNvPr>
            <p:cNvSpPr txBox="1"/>
            <p:nvPr/>
          </p:nvSpPr>
          <p:spPr>
            <a:xfrm>
              <a:off x="3919870" y="5009338"/>
              <a:ext cx="978196" cy="369332"/>
            </a:xfrm>
            <a:prstGeom prst="rect">
              <a:avLst/>
            </a:prstGeom>
            <a:noFill/>
          </p:spPr>
          <p:txBody>
            <a:bodyPr wrap="square" rtlCol="0">
              <a:spAutoFit/>
            </a:bodyPr>
            <a:lstStyle/>
            <a:p>
              <a:r>
                <a:rPr lang="en-US" dirty="0"/>
                <a:t>2025</a:t>
              </a:r>
            </a:p>
          </p:txBody>
        </p:sp>
        <p:sp>
          <p:nvSpPr>
            <p:cNvPr id="9" name="TextBox 8">
              <a:extLst>
                <a:ext uri="{FF2B5EF4-FFF2-40B4-BE49-F238E27FC236}">
                  <a16:creationId xmlns:a16="http://schemas.microsoft.com/office/drawing/2014/main" id="{3B356DB5-0BC8-4922-9382-EBD8EA94A3F3}"/>
                </a:ext>
              </a:extLst>
            </p:cNvPr>
            <p:cNvSpPr txBox="1"/>
            <p:nvPr/>
          </p:nvSpPr>
          <p:spPr>
            <a:xfrm>
              <a:off x="8121502" y="5009338"/>
              <a:ext cx="978196" cy="369332"/>
            </a:xfrm>
            <a:prstGeom prst="rect">
              <a:avLst/>
            </a:prstGeom>
            <a:noFill/>
          </p:spPr>
          <p:txBody>
            <a:bodyPr wrap="square" rtlCol="0">
              <a:spAutoFit/>
            </a:bodyPr>
            <a:lstStyle/>
            <a:p>
              <a:r>
                <a:rPr lang="en-US" dirty="0"/>
                <a:t>2026</a:t>
              </a:r>
            </a:p>
          </p:txBody>
        </p:sp>
        <p:cxnSp>
          <p:nvCxnSpPr>
            <p:cNvPr id="11" name="Straight Connector 10">
              <a:extLst>
                <a:ext uri="{FF2B5EF4-FFF2-40B4-BE49-F238E27FC236}">
                  <a16:creationId xmlns:a16="http://schemas.microsoft.com/office/drawing/2014/main" id="{AA69BF8D-A301-464F-822E-CEE61E24C078}"/>
                </a:ext>
              </a:extLst>
            </p:cNvPr>
            <p:cNvCxnSpPr>
              <a:cxnSpLocks/>
            </p:cNvCxnSpPr>
            <p:nvPr/>
          </p:nvCxnSpPr>
          <p:spPr>
            <a:xfrm>
              <a:off x="2211572" y="5009338"/>
              <a:ext cx="0" cy="369332"/>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F996BD15-2FD6-4ACB-A97C-4247FAE3FC3B}"/>
                </a:ext>
              </a:extLst>
            </p:cNvPr>
            <p:cNvCxnSpPr>
              <a:cxnSpLocks/>
            </p:cNvCxnSpPr>
            <p:nvPr/>
          </p:nvCxnSpPr>
          <p:spPr>
            <a:xfrm>
              <a:off x="6425610" y="5009338"/>
              <a:ext cx="0" cy="369332"/>
            </a:xfrm>
            <a:prstGeom prst="line">
              <a:avLst/>
            </a:prstGeom>
          </p:spPr>
          <p:style>
            <a:lnRef idx="2">
              <a:schemeClr val="dk1"/>
            </a:lnRef>
            <a:fillRef idx="0">
              <a:schemeClr val="dk1"/>
            </a:fillRef>
            <a:effectRef idx="1">
              <a:schemeClr val="dk1"/>
            </a:effectRef>
            <a:fontRef idx="minor">
              <a:schemeClr val="tx1"/>
            </a:fontRef>
          </p:style>
        </p:cxnSp>
      </p:grpSp>
      <p:sp>
        <p:nvSpPr>
          <p:cNvPr id="15" name="Rectangle 14">
            <a:extLst>
              <a:ext uri="{FF2B5EF4-FFF2-40B4-BE49-F238E27FC236}">
                <a16:creationId xmlns:a16="http://schemas.microsoft.com/office/drawing/2014/main" id="{842B152E-0B2F-4FF1-82D9-6896E30E40E1}"/>
              </a:ext>
            </a:extLst>
          </p:cNvPr>
          <p:cNvSpPr/>
          <p:nvPr/>
        </p:nvSpPr>
        <p:spPr>
          <a:xfrm>
            <a:off x="231688" y="1888184"/>
            <a:ext cx="2605901" cy="2031325"/>
          </a:xfrm>
          <a:prstGeom prst="rect">
            <a:avLst/>
          </a:prstGeom>
        </p:spPr>
        <p:txBody>
          <a:bodyPr wrap="square">
            <a:spAutoFit/>
          </a:bodyPr>
          <a:lstStyle/>
          <a:p>
            <a:pPr marL="285750" indent="-285750">
              <a:buFont typeface="Arial" panose="020B0604020202020204" pitchFamily="34" charset="0"/>
              <a:buChar char="•"/>
            </a:pPr>
            <a:r>
              <a:rPr lang="en-US" dirty="0"/>
              <a:t>Extension of the cereal model to legumes (chapter 1)</a:t>
            </a:r>
          </a:p>
          <a:p>
            <a:pPr marL="285750" indent="-285750">
              <a:buFont typeface="Arial" panose="020B0604020202020204" pitchFamily="34" charset="0"/>
              <a:buChar char="•"/>
            </a:pPr>
            <a:r>
              <a:rPr lang="en-US" dirty="0"/>
              <a:t>Simulations and uncertainty analyses for light interception (chapter 2)</a:t>
            </a:r>
          </a:p>
        </p:txBody>
      </p:sp>
      <p:sp>
        <p:nvSpPr>
          <p:cNvPr id="16" name="Rectangle 15">
            <a:extLst>
              <a:ext uri="{FF2B5EF4-FFF2-40B4-BE49-F238E27FC236}">
                <a16:creationId xmlns:a16="http://schemas.microsoft.com/office/drawing/2014/main" id="{5A23A999-FED4-47F3-BEBC-5520D0360580}"/>
              </a:ext>
            </a:extLst>
          </p:cNvPr>
          <p:cNvSpPr/>
          <p:nvPr/>
        </p:nvSpPr>
        <p:spPr>
          <a:xfrm>
            <a:off x="1534638" y="5037174"/>
            <a:ext cx="2186452" cy="646331"/>
          </a:xfrm>
          <a:prstGeom prst="rect">
            <a:avLst/>
          </a:prstGeom>
        </p:spPr>
        <p:txBody>
          <a:bodyPr wrap="square">
            <a:spAutoFit/>
          </a:bodyPr>
          <a:lstStyle/>
          <a:p>
            <a:r>
              <a:rPr lang="en-US" dirty="0"/>
              <a:t>First article on chapter 1 submitted</a:t>
            </a:r>
          </a:p>
        </p:txBody>
      </p:sp>
      <p:sp>
        <p:nvSpPr>
          <p:cNvPr id="17" name="Rectangle 16">
            <a:extLst>
              <a:ext uri="{FF2B5EF4-FFF2-40B4-BE49-F238E27FC236}">
                <a16:creationId xmlns:a16="http://schemas.microsoft.com/office/drawing/2014/main" id="{5133A781-F16B-4BA5-B517-213C2D1647EF}"/>
              </a:ext>
            </a:extLst>
          </p:cNvPr>
          <p:cNvSpPr/>
          <p:nvPr/>
        </p:nvSpPr>
        <p:spPr>
          <a:xfrm>
            <a:off x="3399525" y="2176502"/>
            <a:ext cx="2899459" cy="1200329"/>
          </a:xfrm>
          <a:prstGeom prst="rect">
            <a:avLst/>
          </a:prstGeom>
        </p:spPr>
        <p:txBody>
          <a:bodyPr wrap="square">
            <a:spAutoFit/>
          </a:bodyPr>
          <a:lstStyle/>
          <a:p>
            <a:r>
              <a:rPr lang="en-US" dirty="0"/>
              <a:t>Similar approach for roots, looking at processes like water and nitrogen uptake (chapter 1&amp;2)</a:t>
            </a:r>
          </a:p>
        </p:txBody>
      </p:sp>
      <p:cxnSp>
        <p:nvCxnSpPr>
          <p:cNvPr id="22" name="Straight Connector 21">
            <a:extLst>
              <a:ext uri="{FF2B5EF4-FFF2-40B4-BE49-F238E27FC236}">
                <a16:creationId xmlns:a16="http://schemas.microsoft.com/office/drawing/2014/main" id="{D5595CCC-9946-449B-8106-B2C4380CBA3A}"/>
              </a:ext>
            </a:extLst>
          </p:cNvPr>
          <p:cNvCxnSpPr>
            <a:cxnSpLocks/>
          </p:cNvCxnSpPr>
          <p:nvPr/>
        </p:nvCxnSpPr>
        <p:spPr>
          <a:xfrm flipV="1">
            <a:off x="3108028" y="1888185"/>
            <a:ext cx="21058" cy="2135334"/>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9E16F3E8-5922-4D34-947E-F2D595761158}"/>
              </a:ext>
            </a:extLst>
          </p:cNvPr>
          <p:cNvCxnSpPr>
            <a:cxnSpLocks/>
            <a:stCxn id="16" idx="0"/>
          </p:cNvCxnSpPr>
          <p:nvPr/>
        </p:nvCxnSpPr>
        <p:spPr>
          <a:xfrm flipV="1">
            <a:off x="2627864" y="4514200"/>
            <a:ext cx="1304" cy="522974"/>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6928A1DA-D9F6-4DDB-AAE7-0DDED2FAF076}"/>
              </a:ext>
            </a:extLst>
          </p:cNvPr>
          <p:cNvCxnSpPr>
            <a:cxnSpLocks/>
          </p:cNvCxnSpPr>
          <p:nvPr/>
        </p:nvCxnSpPr>
        <p:spPr>
          <a:xfrm flipV="1">
            <a:off x="6409215" y="1888184"/>
            <a:ext cx="3990" cy="2135337"/>
          </a:xfrm>
          <a:prstGeom prst="line">
            <a:avLst/>
          </a:prstGeom>
        </p:spPr>
        <p:style>
          <a:lnRef idx="2">
            <a:schemeClr val="dk1"/>
          </a:lnRef>
          <a:fillRef idx="0">
            <a:schemeClr val="dk1"/>
          </a:fillRef>
          <a:effectRef idx="1">
            <a:schemeClr val="dk1"/>
          </a:effectRef>
          <a:fontRef idx="minor">
            <a:schemeClr val="tx1"/>
          </a:fontRef>
        </p:style>
      </p:cxnSp>
      <p:sp>
        <p:nvSpPr>
          <p:cNvPr id="36" name="Rectangle 35">
            <a:extLst>
              <a:ext uri="{FF2B5EF4-FFF2-40B4-BE49-F238E27FC236}">
                <a16:creationId xmlns:a16="http://schemas.microsoft.com/office/drawing/2014/main" id="{E826820F-2F63-4854-9D2A-CFEB1DEBAA48}"/>
              </a:ext>
            </a:extLst>
          </p:cNvPr>
          <p:cNvSpPr/>
          <p:nvPr/>
        </p:nvSpPr>
        <p:spPr>
          <a:xfrm>
            <a:off x="6920762" y="2209769"/>
            <a:ext cx="2899459" cy="923330"/>
          </a:xfrm>
          <a:prstGeom prst="rect">
            <a:avLst/>
          </a:prstGeom>
        </p:spPr>
        <p:txBody>
          <a:bodyPr wrap="square">
            <a:spAutoFit/>
          </a:bodyPr>
          <a:lstStyle/>
          <a:p>
            <a:r>
              <a:rPr lang="en-US" dirty="0"/>
              <a:t>Propositions of new formalisms for STICS crop model (chapter 3)</a:t>
            </a:r>
          </a:p>
        </p:txBody>
      </p:sp>
      <p:sp>
        <p:nvSpPr>
          <p:cNvPr id="40" name="Rectangle 39">
            <a:extLst>
              <a:ext uri="{FF2B5EF4-FFF2-40B4-BE49-F238E27FC236}">
                <a16:creationId xmlns:a16="http://schemas.microsoft.com/office/drawing/2014/main" id="{A65835F2-4238-4ED2-A285-1271F460D4E3}"/>
              </a:ext>
            </a:extLst>
          </p:cNvPr>
          <p:cNvSpPr/>
          <p:nvPr/>
        </p:nvSpPr>
        <p:spPr>
          <a:xfrm>
            <a:off x="5315989" y="5037174"/>
            <a:ext cx="2186452" cy="646331"/>
          </a:xfrm>
          <a:prstGeom prst="rect">
            <a:avLst/>
          </a:prstGeom>
        </p:spPr>
        <p:txBody>
          <a:bodyPr wrap="square">
            <a:spAutoFit/>
          </a:bodyPr>
          <a:lstStyle/>
          <a:p>
            <a:r>
              <a:rPr lang="en-US" dirty="0"/>
              <a:t>Second article on chapter 2 submitted</a:t>
            </a:r>
          </a:p>
        </p:txBody>
      </p:sp>
      <p:cxnSp>
        <p:nvCxnSpPr>
          <p:cNvPr id="41" name="Straight Connector 40">
            <a:extLst>
              <a:ext uri="{FF2B5EF4-FFF2-40B4-BE49-F238E27FC236}">
                <a16:creationId xmlns:a16="http://schemas.microsoft.com/office/drawing/2014/main" id="{A2B78C25-2726-420F-961A-9D4298071D02}"/>
              </a:ext>
            </a:extLst>
          </p:cNvPr>
          <p:cNvCxnSpPr>
            <a:cxnSpLocks/>
          </p:cNvCxnSpPr>
          <p:nvPr/>
        </p:nvCxnSpPr>
        <p:spPr>
          <a:xfrm flipV="1">
            <a:off x="6407911" y="4514200"/>
            <a:ext cx="1304" cy="522974"/>
          </a:xfrm>
          <a:prstGeom prst="line">
            <a:avLst/>
          </a:prstGeom>
        </p:spPr>
        <p:style>
          <a:lnRef idx="2">
            <a:schemeClr val="dk1"/>
          </a:lnRef>
          <a:fillRef idx="0">
            <a:schemeClr val="dk1"/>
          </a:fillRef>
          <a:effectRef idx="1">
            <a:schemeClr val="dk1"/>
          </a:effectRef>
          <a:fontRef idx="minor">
            <a:schemeClr val="tx1"/>
          </a:fontRef>
        </p:style>
      </p:cxnSp>
      <p:sp>
        <p:nvSpPr>
          <p:cNvPr id="42" name="Rectangle 41">
            <a:extLst>
              <a:ext uri="{FF2B5EF4-FFF2-40B4-BE49-F238E27FC236}">
                <a16:creationId xmlns:a16="http://schemas.microsoft.com/office/drawing/2014/main" id="{AD81DFD5-A742-4C08-887D-EA66F080D21E}"/>
              </a:ext>
            </a:extLst>
          </p:cNvPr>
          <p:cNvSpPr/>
          <p:nvPr/>
        </p:nvSpPr>
        <p:spPr>
          <a:xfrm>
            <a:off x="8998398" y="5037174"/>
            <a:ext cx="2186452" cy="646331"/>
          </a:xfrm>
          <a:prstGeom prst="rect">
            <a:avLst/>
          </a:prstGeom>
        </p:spPr>
        <p:txBody>
          <a:bodyPr wrap="square">
            <a:spAutoFit/>
          </a:bodyPr>
          <a:lstStyle/>
          <a:p>
            <a:r>
              <a:rPr lang="en-US" dirty="0"/>
              <a:t>Thesis manuscript ready</a:t>
            </a:r>
          </a:p>
        </p:txBody>
      </p:sp>
      <p:cxnSp>
        <p:nvCxnSpPr>
          <p:cNvPr id="43" name="Straight Connector 42">
            <a:extLst>
              <a:ext uri="{FF2B5EF4-FFF2-40B4-BE49-F238E27FC236}">
                <a16:creationId xmlns:a16="http://schemas.microsoft.com/office/drawing/2014/main" id="{90A4FF16-B26E-48A4-890E-063709CC6211}"/>
              </a:ext>
            </a:extLst>
          </p:cNvPr>
          <p:cNvCxnSpPr>
            <a:cxnSpLocks/>
          </p:cNvCxnSpPr>
          <p:nvPr/>
        </p:nvCxnSpPr>
        <p:spPr>
          <a:xfrm flipV="1">
            <a:off x="10090320" y="4514200"/>
            <a:ext cx="1304" cy="52297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6240151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6AAEAEC55338B4CBD1310BC20ECA43B" ma:contentTypeVersion="6" ma:contentTypeDescription="Crée un document." ma:contentTypeScope="" ma:versionID="f3bee9aad377d983e5ace40107548819">
  <xsd:schema xmlns:xsd="http://www.w3.org/2001/XMLSchema" xmlns:xs="http://www.w3.org/2001/XMLSchema" xmlns:p="http://schemas.microsoft.com/office/2006/metadata/properties" xmlns:ns2="5e11a331-0175-485c-b5bc-7baf3794bcc4" xmlns:ns3="6123b362-d884-4010-ad19-191a22b79bf5" targetNamespace="http://schemas.microsoft.com/office/2006/metadata/properties" ma:root="true" ma:fieldsID="da4ddf064b527fafbeea9bca5b83bae1" ns2:_="" ns3:_="">
    <xsd:import namespace="5e11a331-0175-485c-b5bc-7baf3794bcc4"/>
    <xsd:import namespace="6123b362-d884-4010-ad19-191a22b79bf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11a331-0175-485c-b5bc-7baf3794bc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123b362-d884-4010-ad19-191a22b79bf5"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1A9BF6-46C8-4A93-8A6C-1B6AB6A4872B}">
  <ds:schemaRefs>
    <ds:schemaRef ds:uri="http://schemas.microsoft.com/sharepoint/v3/contenttype/forms"/>
  </ds:schemaRefs>
</ds:datastoreItem>
</file>

<file path=customXml/itemProps2.xml><?xml version="1.0" encoding="utf-8"?>
<ds:datastoreItem xmlns:ds="http://schemas.openxmlformats.org/officeDocument/2006/customXml" ds:itemID="{3D367EEE-588A-43EA-B4CA-B132941618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11a331-0175-485c-b5bc-7baf3794bcc4"/>
    <ds:schemaRef ds:uri="6123b362-d884-4010-ad19-191a22b79b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29845</TotalTime>
  <Words>2519</Words>
  <Application>Microsoft Office PowerPoint</Application>
  <PresentationFormat>Widescreen</PresentationFormat>
  <Paragraphs>382</Paragraphs>
  <Slides>22</Slides>
  <Notes>20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Aptos Display</vt:lpstr>
      <vt:lpstr>Arial</vt:lpstr>
      <vt:lpstr>Calibri</vt:lpstr>
      <vt:lpstr>Cambria Math</vt:lpstr>
      <vt:lpstr>Courier New,monospace</vt:lpstr>
      <vt:lpstr>Wingdings</vt:lpstr>
      <vt:lpstr>Thème Office</vt:lpstr>
      <vt:lpstr>Multiscale hybrid modeling framework  for intercrops :  the best of crop and plant models</vt:lpstr>
      <vt:lpstr>Intercropping</vt:lpstr>
      <vt:lpstr>Intercropping systems</vt:lpstr>
      <vt:lpstr>Intercropping systems</vt:lpstr>
      <vt:lpstr>Intercropping systems</vt:lpstr>
      <vt:lpstr>Crop models</vt:lpstr>
      <vt:lpstr>FSPM (Functional-Structural Plant Models) </vt:lpstr>
      <vt:lpstr>How to benefit from the best of both approaches?</vt:lpstr>
      <vt:lpstr>How to benefit from the best of both approaches for intercrops?</vt:lpstr>
      <vt:lpstr>My PhD : Multiscale hybrid modelling for intercrops </vt:lpstr>
      <vt:lpstr>My PhD : Multiscale hybrid modelling for intercrops </vt:lpstr>
      <vt:lpstr>My PhD : Multiscale hybrid modelling for intercrops </vt:lpstr>
      <vt:lpstr>SPPM: Structural Parametric Plant Model</vt:lpstr>
      <vt:lpstr>SPPM: Structural Parametric Plant Model</vt:lpstr>
      <vt:lpstr>Potential plant architecture and development are defined by parameters.</vt:lpstr>
      <vt:lpstr>PowerPoint Presentation</vt:lpstr>
      <vt:lpstr>Different scales of heterogeneity for an intercrop</vt:lpstr>
      <vt:lpstr>Create morphospace of potential plants</vt:lpstr>
      <vt:lpstr>Workflow of simulations of intercrops through time</vt:lpstr>
      <vt:lpstr>PowerPoint Presentation</vt:lpstr>
      <vt:lpstr>Workflow of simulations of intercrops through time</vt:lpstr>
      <vt:lpstr>Perspectives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braud</dc:creator>
  <cp:lastModifiedBy>Oriane BRAUD</cp:lastModifiedBy>
  <cp:revision>1134</cp:revision>
  <dcterms:created xsi:type="dcterms:W3CDTF">2024-06-25T09:40:25Z</dcterms:created>
  <dcterms:modified xsi:type="dcterms:W3CDTF">2024-11-19T01:33:15Z</dcterms:modified>
</cp:coreProperties>
</file>