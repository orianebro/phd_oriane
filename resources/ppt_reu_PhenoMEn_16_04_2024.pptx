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8" r:id="rId2"/>
    <p:sldId id="270" r:id="rId3"/>
    <p:sldId id="271" r:id="rId4"/>
    <p:sldId id="257" r:id="rId5"/>
    <p:sldId id="273" r:id="rId6"/>
    <p:sldId id="272" r:id="rId7"/>
    <p:sldId id="274" r:id="rId8"/>
    <p:sldId id="276" r:id="rId9"/>
    <p:sldId id="275" r:id="rId10"/>
    <p:sldId id="277" r:id="rId11"/>
    <p:sldId id="27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6727"/>
    <a:srgbClr val="C0C0C0"/>
    <a:srgbClr val="E7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521" autoAdjust="0"/>
  </p:normalViewPr>
  <p:slideViewPr>
    <p:cSldViewPr snapToGrid="0">
      <p:cViewPr varScale="1">
        <p:scale>
          <a:sx n="82" d="100"/>
          <a:sy n="82" d="100"/>
        </p:scale>
        <p:origin x="72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12103A-CB0F-4CB6-8626-17130FEF02FD}" type="datetimeFigureOut">
              <a:rPr lang="en-US" smtClean="0"/>
              <a:t>4/15/2024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CF7746-5C39-4AFD-ABCF-6B9C3B0CD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95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ADEF6-EEEE-42DB-A983-EC26BC2D9B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56DDB2-01C0-4B31-ABC2-234D25334D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BD29D-3274-4FE1-9525-C65EA0027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056E4-9F21-427B-A776-CA9DBA038487}" type="datetimeFigureOut">
              <a:rPr lang="en-US" smtClean="0"/>
              <a:t>4/15/2024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BD015-D3FB-4532-BE98-B0FE8C7F5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3E71A8-B159-4C7E-AEC1-51D222DDE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8CDDE-0EE0-4C73-B87E-59F59E8FE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187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31FB5-D5A9-4DA9-B086-BE3C248AB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D70FC-EB24-4ABD-B119-B13E779BF5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CDF9A-90D0-40C4-81DB-FD5CBC9DE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056E4-9F21-427B-A776-CA9DBA038487}" type="datetimeFigureOut">
              <a:rPr lang="en-US" smtClean="0"/>
              <a:t>4/15/2024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F7EEF-F161-4A01-A63E-8A874E9DD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20876-2080-4BB1-9194-171C90637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8CDDE-0EE0-4C73-B87E-59F59E8FE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5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7F1C9-B60C-44B0-BA92-5CD486C6A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EBA180-DBF3-493C-B7B9-4C59952ECB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DA4E8-BAA4-4571-9267-3CA9BE477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056E4-9F21-427B-A776-CA9DBA038487}" type="datetimeFigureOut">
              <a:rPr lang="en-US" smtClean="0"/>
              <a:t>4/15/2024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CA3424-C070-459E-A29E-16BA6B710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A989C9-327B-4EBC-AD4E-E6F84B1F4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8CDDE-0EE0-4C73-B87E-59F59E8FE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802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91753-01F7-4154-A2A9-DFFBAFA51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FBD41-93BD-4E16-B8D8-25A8761967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6F83B7-42A5-47E6-8C0B-8BFBD8D851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22F868-2DE0-4BA7-95B3-2068BD165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056E4-9F21-427B-A776-CA9DBA038487}" type="datetimeFigureOut">
              <a:rPr lang="en-US" smtClean="0"/>
              <a:t>4/15/2024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36CC91-418A-46B4-82B2-2D7AA2070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1A230E-AC01-498C-8E4B-329E3EF81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8CDDE-0EE0-4C73-B87E-59F59E8FE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246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C5278-1608-42DE-9E02-C3204047D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D60947-AB0B-47A6-B7F7-75E8CC5F8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655A27-0DE9-48D7-9128-1942A1407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D37818-C353-43DF-940E-2EEAE02BE1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4D837A-ED2C-47ED-9182-6E81FC09EE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16F8D1-CA81-4593-8985-B8CACAF23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056E4-9F21-427B-A776-CA9DBA038487}" type="datetimeFigureOut">
              <a:rPr lang="en-US" smtClean="0"/>
              <a:t>4/15/2024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273475-EF1F-4C30-8870-32C2F32F9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2FDB16-4716-46EA-9A8F-EFE5118B6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8CDDE-0EE0-4C73-B87E-59F59E8FE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713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3FA90-971E-4D7F-96F3-593DAE943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A8332-83DC-4C89-A891-82F9C982A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056E4-9F21-427B-A776-CA9DBA038487}" type="datetimeFigureOut">
              <a:rPr lang="en-US" smtClean="0"/>
              <a:t>4/15/2024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D1F631-4F76-4E19-A281-9DB101FB0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F6DE85-BD4E-4587-8317-9D630B9F1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8CDDE-0EE0-4C73-B87E-59F59E8FE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057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4D20B2-50C4-4B15-9E41-1FDBCE845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056E4-9F21-427B-A776-CA9DBA038487}" type="datetimeFigureOut">
              <a:rPr lang="en-US" smtClean="0"/>
              <a:t>4/15/2024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68C720-EFDF-4AFE-8746-004661618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3E2A1-53A0-4DC1-94EE-4EDECC127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8CDDE-0EE0-4C73-B87E-59F59E8FE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949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B9B28-2328-4C57-87B5-913C55078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3D504-F12E-45A1-B5CE-BF96A8342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B3ADFC-D363-40F7-B266-E333479683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0C15ED-74DE-459A-82C3-76BA7EA8C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056E4-9F21-427B-A776-CA9DBA038487}" type="datetimeFigureOut">
              <a:rPr lang="en-US" smtClean="0"/>
              <a:t>4/15/2024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0C1FAA-B6B6-4A38-9253-3593F5C89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961392-6562-406B-B43C-B4D4B5F34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8CDDE-0EE0-4C73-B87E-59F59E8FE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517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23CED-7356-4B3B-A360-49EE5415C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D30654-8B3A-4277-808C-896AF3B440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CE2FA4-B964-452C-9081-BBD9F504A6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BC0D1E-1021-4F1C-A955-C1C2069A0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056E4-9F21-427B-A776-CA9DBA038487}" type="datetimeFigureOut">
              <a:rPr lang="en-US" smtClean="0"/>
              <a:t>4/15/2024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04181C-0852-4703-A2DB-EDA0C52BC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85362E-AD6A-452D-894E-1CFBC8FD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8CDDE-0EE0-4C73-B87E-59F59E8FE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40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1BB0A-1276-4386-ABA7-82C1DF286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9F7403-E9EF-4E2A-9A87-E7295253A8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1BAAAE-767B-4499-9166-189FD52F3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056E4-9F21-427B-A776-CA9DBA038487}" type="datetimeFigureOut">
              <a:rPr lang="en-US" smtClean="0"/>
              <a:t>4/15/2024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6DB97-A8EA-4C36-9A25-CD2E2468F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3C213C-EF11-4CCC-A3B0-CFAAB3309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8CDDE-0EE0-4C73-B87E-59F59E8FE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00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5507F0-43B0-409A-8457-387FCB793A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822374-E048-4439-92B7-65EE5DA747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9B743-3B65-4B6F-A1F1-681E6D937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056E4-9F21-427B-A776-CA9DBA038487}" type="datetimeFigureOut">
              <a:rPr lang="en-US" smtClean="0"/>
              <a:t>4/15/2024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9688FC-4FA9-423E-8098-B09CCF204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6E4389-EC28-4038-AA64-FA3093FE1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8CDDE-0EE0-4C73-B87E-59F59E8FE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44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57A4A7-C0B1-42B5-A7F7-74C70E216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A4CDB9-42AA-44B2-84F5-AAFFC9FEC5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EE1E1C-16A9-4393-8708-C21A7FCE6B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A056E4-9F21-427B-A776-CA9DBA038487}" type="datetimeFigureOut">
              <a:rPr lang="en-US" smtClean="0"/>
              <a:t>4/15/2024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6CE90F-208A-4046-9860-983CF08F5C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0733BA-5B08-4217-A6C6-8F9D229082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D8CDDE-0EE0-4C73-B87E-59F59E8FE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35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6731B6E-F9F6-4BAF-BEBE-CDEA20AC601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912"/>
          <a:stretch/>
        </p:blipFill>
        <p:spPr>
          <a:xfrm>
            <a:off x="0" y="1554770"/>
            <a:ext cx="12192000" cy="36484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F36913-F2E8-4945-917C-FD9B48F105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90442"/>
            <a:ext cx="9144000" cy="2678366"/>
          </a:xfrm>
          <a:solidFill>
            <a:srgbClr val="E7E6E6">
              <a:alpha val="40000"/>
            </a:srgbClr>
          </a:solidFill>
        </p:spPr>
        <p:txBody>
          <a:bodyPr>
            <a:normAutofit fontScale="90000"/>
          </a:bodyPr>
          <a:lstStyle/>
          <a:p>
            <a:r>
              <a:rPr lang="en-US" b="1" dirty="0"/>
              <a:t>Multiscale Hybrid Modelling Framework for Intercropping: </a:t>
            </a:r>
            <a:br>
              <a:rPr lang="en-US" b="1" dirty="0"/>
            </a:br>
            <a:r>
              <a:rPr lang="en-US" sz="5300" dirty="0"/>
              <a:t>the best of Plant and Crop Models</a:t>
            </a:r>
            <a:br>
              <a:rPr lang="en-US" sz="5300" dirty="0"/>
            </a:br>
            <a:r>
              <a:rPr lang="en-US" sz="2000" dirty="0"/>
              <a:t> </a:t>
            </a:r>
            <a:endParaRPr lang="en-US" sz="53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DE7C44-7B5D-46BB-B9AC-B69999D833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5972" y="-1744"/>
            <a:ext cx="1146050" cy="14295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E6CA743-780A-401B-A71F-04C9F8BDCB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114" y="126631"/>
            <a:ext cx="1674122" cy="13050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DC6AFDF-4999-4BA6-A3AA-B459C3D8B5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8534" y="290343"/>
            <a:ext cx="2230329" cy="88344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D92F760-5306-412A-918A-A94EE74E7A3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2670" y="331780"/>
            <a:ext cx="2109494" cy="852236"/>
          </a:xfrm>
          <a:prstGeom prst="rect">
            <a:avLst/>
          </a:prstGeom>
        </p:spPr>
      </p:pic>
      <p:sp>
        <p:nvSpPr>
          <p:cNvPr id="13" name="Subtitle 2">
            <a:extLst>
              <a:ext uri="{FF2B5EF4-FFF2-40B4-BE49-F238E27FC236}">
                <a16:creationId xmlns:a16="http://schemas.microsoft.com/office/drawing/2014/main" id="{3A1786E5-3551-4D9F-96CE-FC03F1CE5FF3}"/>
              </a:ext>
            </a:extLst>
          </p:cNvPr>
          <p:cNvSpPr txBox="1">
            <a:spLocks/>
          </p:cNvSpPr>
          <p:nvPr/>
        </p:nvSpPr>
        <p:spPr>
          <a:xfrm>
            <a:off x="5733185" y="5667088"/>
            <a:ext cx="2154314" cy="968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Marc Jaeger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Myriam Adam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919EFF36-5926-4284-AB93-705C8B0CFEBA}"/>
              </a:ext>
            </a:extLst>
          </p:cNvPr>
          <p:cNvSpPr txBox="1">
            <a:spLocks/>
          </p:cNvSpPr>
          <p:nvPr/>
        </p:nvSpPr>
        <p:spPr>
          <a:xfrm>
            <a:off x="9430927" y="5438080"/>
            <a:ext cx="2503503" cy="1444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Christophe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Pradal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Remi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Vezy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Thomas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Arsouze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C7B9EFAB-9C18-450A-974A-6B019DB338E7}"/>
              </a:ext>
            </a:extLst>
          </p:cNvPr>
          <p:cNvSpPr txBox="1">
            <a:spLocks/>
          </p:cNvSpPr>
          <p:nvPr/>
        </p:nvSpPr>
        <p:spPr>
          <a:xfrm>
            <a:off x="4367668" y="5860263"/>
            <a:ext cx="1441823" cy="4442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Direction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647CC5D-9E05-4C5D-8416-9B287CEE01EF}"/>
              </a:ext>
            </a:extLst>
          </p:cNvPr>
          <p:cNvSpPr txBox="1">
            <a:spLocks/>
          </p:cNvSpPr>
          <p:nvPr/>
        </p:nvSpPr>
        <p:spPr>
          <a:xfrm>
            <a:off x="7887499" y="5833164"/>
            <a:ext cx="1734786" cy="4442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Supervision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E7479B2-5A95-4BE4-9071-A14143E4074C}"/>
              </a:ext>
            </a:extLst>
          </p:cNvPr>
          <p:cNvCxnSpPr>
            <a:cxnSpLocks/>
          </p:cNvCxnSpPr>
          <p:nvPr/>
        </p:nvCxnSpPr>
        <p:spPr>
          <a:xfrm>
            <a:off x="5666913" y="5553925"/>
            <a:ext cx="0" cy="931718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49D1DF0-DFEC-4048-9537-DCB4562F5F6A}"/>
              </a:ext>
            </a:extLst>
          </p:cNvPr>
          <p:cNvCxnSpPr>
            <a:cxnSpLocks/>
          </p:cNvCxnSpPr>
          <p:nvPr/>
        </p:nvCxnSpPr>
        <p:spPr>
          <a:xfrm>
            <a:off x="9369583" y="5314287"/>
            <a:ext cx="0" cy="1320961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Subtitle 2">
            <a:extLst>
              <a:ext uri="{FF2B5EF4-FFF2-40B4-BE49-F238E27FC236}">
                <a16:creationId xmlns:a16="http://schemas.microsoft.com/office/drawing/2014/main" id="{488E0773-6AB8-428B-A38C-BA70079348E5}"/>
              </a:ext>
            </a:extLst>
          </p:cNvPr>
          <p:cNvSpPr txBox="1">
            <a:spLocks/>
          </p:cNvSpPr>
          <p:nvPr/>
        </p:nvSpPr>
        <p:spPr>
          <a:xfrm>
            <a:off x="384362" y="5868676"/>
            <a:ext cx="1553862" cy="4442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PhD Student</a:t>
            </a:r>
          </a:p>
        </p:txBody>
      </p:sp>
      <p:sp>
        <p:nvSpPr>
          <p:cNvPr id="29" name="Subtitle 2">
            <a:extLst>
              <a:ext uri="{FF2B5EF4-FFF2-40B4-BE49-F238E27FC236}">
                <a16:creationId xmlns:a16="http://schemas.microsoft.com/office/drawing/2014/main" id="{5F8E536B-9CE0-4656-B6BC-B478F22F7DCF}"/>
              </a:ext>
            </a:extLst>
          </p:cNvPr>
          <p:cNvSpPr txBox="1">
            <a:spLocks/>
          </p:cNvSpPr>
          <p:nvPr/>
        </p:nvSpPr>
        <p:spPr>
          <a:xfrm>
            <a:off x="2111772" y="5868676"/>
            <a:ext cx="1740833" cy="696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Oriane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Braud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63310A2-BBFF-4841-AA5D-CBC57B4416EC}"/>
              </a:ext>
            </a:extLst>
          </p:cNvPr>
          <p:cNvCxnSpPr>
            <a:cxnSpLocks/>
          </p:cNvCxnSpPr>
          <p:nvPr/>
        </p:nvCxnSpPr>
        <p:spPr>
          <a:xfrm>
            <a:off x="2054067" y="5806530"/>
            <a:ext cx="0" cy="471363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37471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BCE56-146F-4616-BF9D-A27FEC573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996" y="151367"/>
            <a:ext cx="10515600" cy="1325563"/>
          </a:xfrm>
        </p:spPr>
        <p:txBody>
          <a:bodyPr/>
          <a:lstStyle/>
          <a:p>
            <a:r>
              <a:rPr lang="en-US" dirty="0"/>
              <a:t>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392A8-DA68-447E-BF3D-697A46E51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996" y="1628296"/>
            <a:ext cx="8436429" cy="5253134"/>
          </a:xfrm>
        </p:spPr>
        <p:txBody>
          <a:bodyPr>
            <a:normAutofit fontScale="92500" lnSpcReduction="10000"/>
          </a:bodyPr>
          <a:lstStyle/>
          <a:p>
            <a:pPr fontAlgn="base"/>
            <a:r>
              <a:rPr lang="en-US" dirty="0"/>
              <a:t>Goal of </a:t>
            </a:r>
            <a:r>
              <a:rPr lang="en-US" b="1" dirty="0"/>
              <a:t>sustainable food production </a:t>
            </a:r>
            <a:r>
              <a:rPr lang="en-US" dirty="0"/>
              <a:t>​</a:t>
            </a:r>
          </a:p>
          <a:p>
            <a:pPr fontAlgn="base"/>
            <a:r>
              <a:rPr lang="en-US" dirty="0"/>
              <a:t>Among potential solutions: </a:t>
            </a:r>
            <a:r>
              <a:rPr lang="en-US" b="1" dirty="0"/>
              <a:t>crop diversification</a:t>
            </a:r>
            <a:r>
              <a:rPr lang="en-US" dirty="0"/>
              <a:t> ​</a:t>
            </a:r>
          </a:p>
          <a:p>
            <a:pPr fontAlgn="base"/>
            <a:r>
              <a:rPr lang="en-US" b="1" dirty="0"/>
              <a:t>Intercropping </a:t>
            </a:r>
            <a:r>
              <a:rPr lang="en-US" dirty="0"/>
              <a:t>= agroecological practice which involves mixtures of arable crop species </a:t>
            </a:r>
            <a:endParaRPr lang="en-US" sz="2200" dirty="0"/>
          </a:p>
          <a:p>
            <a:pPr lvl="1" fontAlgn="base"/>
            <a:r>
              <a:rPr lang="en-US" dirty="0"/>
              <a:t>+ yield </a:t>
            </a:r>
            <a:r>
              <a:rPr lang="en-US" sz="1900" dirty="0"/>
              <a:t>(</a:t>
            </a:r>
            <a:r>
              <a:rPr lang="en-US" sz="1900" dirty="0" err="1"/>
              <a:t>Stomph</a:t>
            </a:r>
            <a:r>
              <a:rPr lang="en-US" sz="1900" dirty="0"/>
              <a:t> et al., 2020; Yang et al., 2021)​</a:t>
            </a:r>
          </a:p>
          <a:p>
            <a:pPr lvl="1" fontAlgn="base"/>
            <a:r>
              <a:rPr lang="en-US" dirty="0"/>
              <a:t>- fertilizers </a:t>
            </a:r>
          </a:p>
          <a:p>
            <a:pPr marL="457200" lvl="1" indent="0" fontAlgn="base">
              <a:buNone/>
            </a:pPr>
            <a:r>
              <a:rPr lang="en-US" dirty="0">
                <a:sym typeface="Wingdings" panose="05000000000000000000" pitchFamily="2" charset="2"/>
              </a:rPr>
              <a:t>	</a:t>
            </a:r>
            <a:r>
              <a:rPr lang="en-US" dirty="0"/>
              <a:t> less pollution risks and GHG emissions </a:t>
            </a:r>
            <a:r>
              <a:rPr lang="en-US" sz="1900" dirty="0"/>
              <a:t>(Jensen et al., 2020) ​</a:t>
            </a:r>
          </a:p>
          <a:p>
            <a:pPr lvl="1" fontAlgn="base"/>
            <a:r>
              <a:rPr lang="en-US" dirty="0"/>
              <a:t>- area required and + ecosystem services</a:t>
            </a:r>
            <a:r>
              <a:rPr lang="en-US" b="1" dirty="0"/>
              <a:t> </a:t>
            </a:r>
          </a:p>
          <a:p>
            <a:pPr marL="457200" lvl="1" indent="0" fontAlgn="base">
              <a:buNone/>
            </a:pPr>
            <a:r>
              <a:rPr lang="en-US" dirty="0">
                <a:sym typeface="Wingdings" panose="05000000000000000000" pitchFamily="2" charset="2"/>
              </a:rPr>
              <a:t>	</a:t>
            </a:r>
            <a:r>
              <a:rPr lang="en-US" dirty="0"/>
              <a:t> + sustainable land use </a:t>
            </a:r>
            <a:r>
              <a:rPr lang="en-US" sz="1900" dirty="0"/>
              <a:t>(Della Rossa et al., 2022)​</a:t>
            </a:r>
          </a:p>
          <a:p>
            <a:pPr lvl="1" fontAlgn="base"/>
            <a:r>
              <a:rPr lang="fr-FR" dirty="0"/>
              <a:t>-</a:t>
            </a:r>
            <a:r>
              <a:rPr lang="en-US" dirty="0"/>
              <a:t> water used </a:t>
            </a:r>
            <a:r>
              <a:rPr lang="en-US" sz="1900" dirty="0"/>
              <a:t>(Yin et al., 2020)​</a:t>
            </a:r>
          </a:p>
          <a:p>
            <a:pPr lvl="1" fontAlgn="base"/>
            <a:r>
              <a:rPr lang="en-US" dirty="0"/>
              <a:t>- pests and diseases </a:t>
            </a:r>
            <a:r>
              <a:rPr lang="en-US" sz="1900" dirty="0"/>
              <a:t>(</a:t>
            </a:r>
            <a:r>
              <a:rPr lang="en-US" sz="1900" dirty="0" err="1"/>
              <a:t>Chadfield</a:t>
            </a:r>
            <a:r>
              <a:rPr lang="en-US" sz="1900" dirty="0"/>
              <a:t> et al., 2022; He et al., 2019)​</a:t>
            </a:r>
          </a:p>
          <a:p>
            <a:pPr marL="0" indent="0" fontAlgn="base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 fontAlgn="base">
              <a:buNone/>
            </a:pP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when it is well managed !</a:t>
            </a:r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17D8830-73DA-4341-9AF4-EDBD440F9DD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142" r="7312"/>
          <a:stretch/>
        </p:blipFill>
        <p:spPr>
          <a:xfrm>
            <a:off x="8078116" y="0"/>
            <a:ext cx="6120882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8A3F164-FECB-4083-9C7A-2FDEC5CBB496}"/>
              </a:ext>
            </a:extLst>
          </p:cNvPr>
          <p:cNvSpPr/>
          <p:nvPr/>
        </p:nvSpPr>
        <p:spPr>
          <a:xfrm>
            <a:off x="8078116" y="6521967"/>
            <a:ext cx="19986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err="1">
                <a:solidFill>
                  <a:srgbClr val="FFFFFF"/>
                </a:solidFill>
                <a:latin typeface="Calibri" panose="020F0502020204030204" pitchFamily="34" charset="0"/>
              </a:rPr>
              <a:t>Sannagoudar</a:t>
            </a: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</a:rPr>
              <a:t> et al., 2020</a:t>
            </a: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</a:rPr>
              <a:t>​</a:t>
            </a:r>
            <a:endParaRPr lang="en-US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17B753-8F2F-4672-A8BD-B541E535603D}"/>
              </a:ext>
            </a:extLst>
          </p:cNvPr>
          <p:cNvSpPr txBox="1"/>
          <p:nvPr/>
        </p:nvSpPr>
        <p:spPr>
          <a:xfrm>
            <a:off x="10403634" y="3821057"/>
            <a:ext cx="1194318" cy="461665"/>
          </a:xfrm>
          <a:prstGeom prst="rect">
            <a:avLst/>
          </a:prstGeom>
          <a:solidFill>
            <a:srgbClr val="C0C0C0">
              <a:alpha val="60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CEREAL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6F82F0-17A0-4349-B7C9-D6B7DFCE962B}"/>
              </a:ext>
            </a:extLst>
          </p:cNvPr>
          <p:cNvSpPr txBox="1"/>
          <p:nvPr/>
        </p:nvSpPr>
        <p:spPr>
          <a:xfrm>
            <a:off x="8397551" y="3821056"/>
            <a:ext cx="1277068" cy="461665"/>
          </a:xfrm>
          <a:prstGeom prst="rect">
            <a:avLst/>
          </a:prstGeom>
          <a:solidFill>
            <a:srgbClr val="C0C0C0">
              <a:alpha val="60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LEGUME</a:t>
            </a:r>
          </a:p>
        </p:txBody>
      </p:sp>
    </p:spTree>
    <p:extLst>
      <p:ext uri="{BB962C8B-B14F-4D97-AF65-F5344CB8AC3E}">
        <p14:creationId xmlns:p14="http://schemas.microsoft.com/office/powerpoint/2010/main" val="2565905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C0A28-11C2-4E04-881A-6FF38AC32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212" y="371171"/>
            <a:ext cx="10515600" cy="1325563"/>
          </a:xfrm>
        </p:spPr>
        <p:txBody>
          <a:bodyPr/>
          <a:lstStyle/>
          <a:p>
            <a:r>
              <a:rPr lang="en-US" dirty="0"/>
              <a:t>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A1446-B7B5-4710-9420-D2E80E838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212" y="1692535"/>
            <a:ext cx="10261060" cy="471944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Useful pre-screening tools: models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Some models already adapted to intercrops, but:</a:t>
            </a:r>
          </a:p>
          <a:p>
            <a:pPr marL="2286000" lvl="5" indent="0">
              <a:buNone/>
            </a:pPr>
            <a:r>
              <a:rPr lang="en-US" dirty="0">
                <a:sym typeface="Wingdings" panose="05000000000000000000" pitchFamily="2" charset="2"/>
              </a:rPr>
              <a:t>		</a:t>
            </a:r>
          </a:p>
          <a:p>
            <a:pPr lvl="1"/>
            <a:r>
              <a:rPr lang="en-US" sz="2800" dirty="0">
                <a:sym typeface="Wingdings" panose="05000000000000000000" pitchFamily="2" charset="2"/>
              </a:rPr>
              <a:t>Crop models 	 	homogeneous hypotheses </a:t>
            </a:r>
          </a:p>
          <a:p>
            <a:pPr marL="457200" lvl="1" indent="0">
              <a:buNone/>
            </a:pPr>
            <a:r>
              <a:rPr lang="en-US" dirty="0">
                <a:sym typeface="Wingdings" panose="05000000000000000000" pitchFamily="2" charset="2"/>
              </a:rPr>
              <a:t>				</a:t>
            </a:r>
            <a:r>
              <a:rPr lang="en-US" sz="2000" dirty="0">
                <a:sym typeface="Wingdings" panose="05000000000000000000" pitchFamily="2" charset="2"/>
              </a:rPr>
              <a:t>(</a:t>
            </a:r>
            <a:r>
              <a:rPr lang="en-US" sz="2000" dirty="0" err="1">
                <a:sym typeface="Wingdings" panose="05000000000000000000" pitchFamily="2" charset="2"/>
              </a:rPr>
              <a:t>Gaudio</a:t>
            </a:r>
            <a:r>
              <a:rPr lang="en-US" sz="2000" dirty="0">
                <a:sym typeface="Wingdings" panose="05000000000000000000" pitchFamily="2" charset="2"/>
              </a:rPr>
              <a:t> et al., 2019)</a:t>
            </a:r>
          </a:p>
          <a:p>
            <a:pPr lvl="1"/>
            <a:r>
              <a:rPr lang="en-US" sz="2800" dirty="0">
                <a:sym typeface="Wingdings" panose="05000000000000000000" pitchFamily="2" charset="2"/>
              </a:rPr>
              <a:t>FSPM 		 	high computational time, </a:t>
            </a:r>
          </a:p>
          <a:p>
            <a:pPr marL="457200" lvl="1" indent="0">
              <a:buNone/>
            </a:pPr>
            <a:r>
              <a:rPr lang="en-US" sz="2800" dirty="0">
                <a:sym typeface="Wingdings" panose="05000000000000000000" pitchFamily="2" charset="2"/>
              </a:rPr>
              <a:t>				hard to model whole years </a:t>
            </a:r>
          </a:p>
          <a:p>
            <a:pPr marL="457200" lvl="1" indent="0">
              <a:buNone/>
            </a:pPr>
            <a:r>
              <a:rPr lang="en-US" sz="2000" dirty="0">
                <a:sym typeface="Wingdings" panose="05000000000000000000" pitchFamily="2" charset="2"/>
              </a:rPr>
              <a:t>				(Evers et al., 2019)</a:t>
            </a:r>
            <a:endParaRPr lang="en-US" sz="2800" dirty="0">
              <a:sym typeface="Wingdings" panose="05000000000000000000" pitchFamily="2" charset="2"/>
            </a:endParaRPr>
          </a:p>
          <a:p>
            <a:pPr lvl="1"/>
            <a:endParaRPr lang="en-US" sz="28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3200" dirty="0">
                <a:sym typeface="Wingdings" panose="05000000000000000000" pitchFamily="2" charset="2"/>
              </a:rPr>
              <a:t> Hybrid multiscale approach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92894A-1737-4B21-8259-14114BD0BCEB}"/>
              </a:ext>
            </a:extLst>
          </p:cNvPr>
          <p:cNvSpPr txBox="1"/>
          <p:nvPr/>
        </p:nvSpPr>
        <p:spPr>
          <a:xfrm>
            <a:off x="9533953" y="6492875"/>
            <a:ext cx="23346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</a:rPr>
              <a:t>Li et al., 2021​</a:t>
            </a:r>
            <a:endParaRPr lang="en-US" sz="14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D46FD0B-FE82-4799-8C1D-C8C637EFA5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80" y="3974841"/>
            <a:ext cx="2891334" cy="253895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50A68E3-7940-4DCA-8D89-4996B3B36A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1453" y="855291"/>
            <a:ext cx="4199317" cy="238740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9D9AA35-9FA4-45C6-B5A0-19442977820B}"/>
              </a:ext>
            </a:extLst>
          </p:cNvPr>
          <p:cNvSpPr txBox="1"/>
          <p:nvPr/>
        </p:nvSpPr>
        <p:spPr>
          <a:xfrm>
            <a:off x="9533953" y="3232238"/>
            <a:ext cx="23346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Calibri" panose="020F0502020204030204" pitchFamily="34" charset="0"/>
              </a:rPr>
              <a:t>Vezy</a:t>
            </a:r>
            <a:r>
              <a:rPr lang="en-US" sz="1400" dirty="0">
                <a:latin typeface="Calibri" panose="020F0502020204030204" pitchFamily="34" charset="0"/>
              </a:rPr>
              <a:t> et al., 2023​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502688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8707D-5C98-4166-BFDA-8D655C6C1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2025" y="4497352"/>
            <a:ext cx="10087947" cy="122230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fr-FR" dirty="0" err="1"/>
              <a:t>Methodology</a:t>
            </a:r>
            <a:r>
              <a:rPr lang="fr-FR" dirty="0"/>
              <a:t> &amp; application </a:t>
            </a:r>
            <a:r>
              <a:rPr lang="fr-FR" dirty="0" err="1"/>
              <a:t>with</a:t>
            </a:r>
            <a:r>
              <a:rPr lang="fr-FR" dirty="0"/>
              <a:t> STICS </a:t>
            </a:r>
            <a:r>
              <a:rPr lang="fr-FR" dirty="0" err="1"/>
              <a:t>crop</a:t>
            </a:r>
            <a:r>
              <a:rPr lang="fr-FR" dirty="0"/>
              <a:t> model (</a:t>
            </a:r>
            <a:r>
              <a:rPr lang="fr-FR" dirty="0" err="1"/>
              <a:t>Vezy</a:t>
            </a:r>
            <a:r>
              <a:rPr lang="fr-FR" dirty="0"/>
              <a:t> et al., 2023)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Goal of 1 article / year</a:t>
            </a:r>
            <a:endParaRPr lang="fr-FR" sz="2400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E1BE72-90B0-42F4-B4DC-CD9CA3118925}"/>
              </a:ext>
            </a:extLst>
          </p:cNvPr>
          <p:cNvSpPr txBox="1"/>
          <p:nvPr/>
        </p:nvSpPr>
        <p:spPr>
          <a:xfrm>
            <a:off x="838201" y="1530220"/>
            <a:ext cx="105156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To what extent are crop model hypotheses valid for intercropping systems ? </a:t>
            </a:r>
            <a:br>
              <a:rPr lang="en-US" sz="3200" i="1" dirty="0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3200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And how to improve the crop models accordingly ?</a:t>
            </a:r>
            <a:endParaRPr lang="en-US" sz="32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3483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7B9F7-B10E-4F3B-BC64-231A1E6C1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1</a:t>
            </a:r>
            <a:r>
              <a:rPr lang="fr-FR" baseline="30000" dirty="0"/>
              <a:t>st</a:t>
            </a:r>
            <a:r>
              <a:rPr lang="fr-FR" dirty="0"/>
              <a:t> </a:t>
            </a:r>
            <a:r>
              <a:rPr lang="fr-FR" dirty="0" err="1"/>
              <a:t>year</a:t>
            </a:r>
            <a:r>
              <a:rPr lang="fr-FR" dirty="0"/>
              <a:t>. </a:t>
            </a:r>
            <a:r>
              <a:rPr lang="fr-FR" dirty="0" err="1"/>
              <a:t>Analyzing</a:t>
            </a:r>
            <a:r>
              <a:rPr lang="fr-FR" dirty="0"/>
              <a:t> </a:t>
            </a:r>
            <a:r>
              <a:rPr lang="fr-FR" dirty="0" err="1"/>
              <a:t>accuracy</a:t>
            </a:r>
            <a:r>
              <a:rPr lang="fr-FR" dirty="0"/>
              <a:t> of </a:t>
            </a:r>
            <a:r>
              <a:rPr lang="fr-FR" dirty="0" err="1"/>
              <a:t>formalisms</a:t>
            </a:r>
            <a:r>
              <a:rPr lang="fr-FR" dirty="0"/>
              <a:t> of </a:t>
            </a:r>
            <a:r>
              <a:rPr lang="fr-FR" dirty="0" err="1"/>
              <a:t>crop</a:t>
            </a:r>
            <a:r>
              <a:rPr lang="fr-FR" dirty="0"/>
              <a:t> </a:t>
            </a:r>
            <a:r>
              <a:rPr lang="fr-FR" dirty="0" err="1"/>
              <a:t>models</a:t>
            </a:r>
            <a:r>
              <a:rPr lang="fr-FR" dirty="0"/>
              <a:t> </a:t>
            </a:r>
            <a:r>
              <a:rPr lang="fr-FR" dirty="0" err="1"/>
              <a:t>when</a:t>
            </a:r>
            <a:r>
              <a:rPr lang="fr-FR" dirty="0"/>
              <a:t> </a:t>
            </a:r>
            <a:r>
              <a:rPr lang="fr-FR" dirty="0" err="1"/>
              <a:t>adding</a:t>
            </a:r>
            <a:r>
              <a:rPr lang="fr-FR" dirty="0"/>
              <a:t> shoot structural </a:t>
            </a:r>
            <a:r>
              <a:rPr lang="fr-FR" dirty="0" err="1"/>
              <a:t>variability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770C1-6C01-426E-878D-71D415D8D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5818" y="3041785"/>
            <a:ext cx="9040755" cy="3709142"/>
          </a:xfrm>
        </p:spPr>
        <p:txBody>
          <a:bodyPr>
            <a:normAutofit/>
          </a:bodyPr>
          <a:lstStyle/>
          <a:p>
            <a:pPr fontAlgn="base"/>
            <a:r>
              <a:rPr lang="en-US" dirty="0"/>
              <a:t>Developing a </a:t>
            </a:r>
            <a:r>
              <a:rPr lang="en-US" b="1" dirty="0"/>
              <a:t>dynamic shoot parametric FSPM</a:t>
            </a:r>
            <a:r>
              <a:rPr lang="en-US" dirty="0"/>
              <a:t> for each type of plant </a:t>
            </a:r>
            <a:r>
              <a:rPr lang="en-US" sz="2200" dirty="0"/>
              <a:t>(to adapt for intercrops for which we have data):</a:t>
            </a:r>
          </a:p>
          <a:p>
            <a:pPr marL="0" indent="0" fontAlgn="base">
              <a:buNone/>
            </a:pPr>
            <a:r>
              <a:rPr lang="en-US" dirty="0">
                <a:sym typeface="Wingdings" panose="05000000000000000000" pitchFamily="2" charset="2"/>
              </a:rPr>
              <a:t>	</a:t>
            </a:r>
            <a:r>
              <a:rPr lang="en-US" b="1" dirty="0">
                <a:sym typeface="Wingdings" panose="05000000000000000000" pitchFamily="2" charset="2"/>
              </a:rPr>
              <a:t> </a:t>
            </a:r>
            <a:r>
              <a:rPr lang="en-US" dirty="0"/>
              <a:t>growth </a:t>
            </a:r>
            <a:r>
              <a:rPr lang="en-US" b="1" dirty="0"/>
              <a:t>constrained</a:t>
            </a:r>
            <a:r>
              <a:rPr lang="en-US" dirty="0"/>
              <a:t> by LAI(t) and height(t)</a:t>
            </a:r>
            <a:r>
              <a:rPr lang="en-US" b="1" dirty="0"/>
              <a:t> 	from a crop model</a:t>
            </a:r>
            <a:endParaRPr lang="en-US" dirty="0"/>
          </a:p>
          <a:p>
            <a:pPr marL="0" indent="0" fontAlgn="base">
              <a:buNone/>
            </a:pPr>
            <a:r>
              <a:rPr lang="en-US" dirty="0">
                <a:sym typeface="Wingdings" panose="05000000000000000000" pitchFamily="2" charset="2"/>
              </a:rPr>
              <a:t>	 </a:t>
            </a:r>
            <a:r>
              <a:rPr lang="en-US" dirty="0"/>
              <a:t>leaving </a:t>
            </a:r>
            <a:r>
              <a:rPr lang="en-US" b="1" dirty="0"/>
              <a:t>degrees of freedom </a:t>
            </a:r>
            <a:r>
              <a:rPr lang="en-US" sz="2200" dirty="0"/>
              <a:t>(for plant architecture and 	spatial arrangement)</a:t>
            </a:r>
            <a:endParaRPr lang="en-US" sz="2400" dirty="0"/>
          </a:p>
          <a:p>
            <a:pPr marL="0" indent="0" fontAlgn="base">
              <a:buNone/>
            </a:pPr>
            <a:r>
              <a:rPr lang="en-US" dirty="0">
                <a:sym typeface="Wingdings" panose="05000000000000000000" pitchFamily="2" charset="2"/>
              </a:rPr>
              <a:t>	 </a:t>
            </a:r>
            <a:r>
              <a:rPr lang="en-US" dirty="0"/>
              <a:t>e</a:t>
            </a:r>
            <a:r>
              <a:rPr lang="fr-FR" dirty="0" err="1"/>
              <a:t>xplore</a:t>
            </a:r>
            <a:r>
              <a:rPr lang="fr-FR" dirty="0"/>
              <a:t> </a:t>
            </a:r>
            <a:r>
              <a:rPr lang="fr-FR" b="1" dirty="0" err="1"/>
              <a:t>phenotypic</a:t>
            </a:r>
            <a:r>
              <a:rPr lang="fr-FR" b="1" dirty="0"/>
              <a:t> </a:t>
            </a:r>
            <a:r>
              <a:rPr lang="fr-FR" b="1" dirty="0" err="1"/>
              <a:t>space</a:t>
            </a:r>
            <a:r>
              <a:rPr lang="fr-FR" dirty="0"/>
              <a:t> </a:t>
            </a:r>
            <a:r>
              <a:rPr lang="fr-FR" sz="2200" dirty="0"/>
              <a:t>(i.e. </a:t>
            </a:r>
            <a:r>
              <a:rPr lang="fr-FR" sz="2200" dirty="0" err="1"/>
              <a:t>create</a:t>
            </a:r>
            <a:r>
              <a:rPr lang="fr-FR" sz="2200" dirty="0"/>
              <a:t> </a:t>
            </a:r>
            <a:r>
              <a:rPr lang="fr-FR" sz="2200" dirty="0" err="1"/>
              <a:t>many</a:t>
            </a:r>
            <a:r>
              <a:rPr lang="fr-FR" sz="2200" dirty="0"/>
              <a:t> morphotypes)​</a:t>
            </a:r>
          </a:p>
          <a:p>
            <a:pPr marL="0" indent="0" fontAlgn="base">
              <a:buNone/>
            </a:pPr>
            <a:r>
              <a:rPr lang="fr-FR" sz="1400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6573EF-A7C4-4D8E-BEB7-D52AE1B0D297}"/>
              </a:ext>
            </a:extLst>
          </p:cNvPr>
          <p:cNvSpPr txBox="1"/>
          <p:nvPr/>
        </p:nvSpPr>
        <p:spPr>
          <a:xfrm>
            <a:off x="838200" y="1690688"/>
            <a:ext cx="101983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Hypothesis :</a:t>
            </a:r>
            <a:r>
              <a:rPr lang="en-US" sz="2400" dirty="0"/>
              <a:t> The error of crop models, when it comes to modeling intercrops, are mainly due to the non-consideration of the plant architecture.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3B2811-5922-494B-BC5D-D23C1898C6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53" y="2565909"/>
            <a:ext cx="1626817" cy="3709142"/>
          </a:xfrm>
          <a:prstGeom prst="rect">
            <a:avLst/>
          </a:prstGeom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DD9478C-CD22-4AA9-975F-BC7BF2E52A39}"/>
              </a:ext>
            </a:extLst>
          </p:cNvPr>
          <p:cNvSpPr/>
          <p:nvPr/>
        </p:nvSpPr>
        <p:spPr>
          <a:xfrm>
            <a:off x="1912585" y="2995119"/>
            <a:ext cx="560488" cy="2500604"/>
          </a:xfrm>
          <a:custGeom>
            <a:avLst/>
            <a:gdLst>
              <a:gd name="connsiteX0" fmla="*/ 83975 w 784169"/>
              <a:gd name="connsiteY0" fmla="*/ 0 h 2500604"/>
              <a:gd name="connsiteX1" fmla="*/ 783771 w 784169"/>
              <a:gd name="connsiteY1" fmla="*/ 1045028 h 2500604"/>
              <a:gd name="connsiteX2" fmla="*/ 0 w 784169"/>
              <a:gd name="connsiteY2" fmla="*/ 2500604 h 2500604"/>
              <a:gd name="connsiteX3" fmla="*/ 0 w 784169"/>
              <a:gd name="connsiteY3" fmla="*/ 2500604 h 2500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4169" h="2500604">
                <a:moveTo>
                  <a:pt x="83975" y="0"/>
                </a:moveTo>
                <a:cubicBezTo>
                  <a:pt x="440871" y="314130"/>
                  <a:pt x="797767" y="628261"/>
                  <a:pt x="783771" y="1045028"/>
                </a:cubicBezTo>
                <a:cubicBezTo>
                  <a:pt x="769775" y="1461795"/>
                  <a:pt x="0" y="2500604"/>
                  <a:pt x="0" y="2500604"/>
                </a:cubicBezTo>
                <a:lnTo>
                  <a:pt x="0" y="2500604"/>
                </a:ln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3B1EB7ED-DD87-4ADB-B89F-287F8062BF3A}"/>
              </a:ext>
            </a:extLst>
          </p:cNvPr>
          <p:cNvCxnSpPr>
            <a:cxnSpLocks/>
          </p:cNvCxnSpPr>
          <p:nvPr/>
        </p:nvCxnSpPr>
        <p:spPr>
          <a:xfrm>
            <a:off x="1452303" y="3671451"/>
            <a:ext cx="264239" cy="127644"/>
          </a:xfrm>
          <a:prstGeom prst="curvedConnector3">
            <a:avLst>
              <a:gd name="adj1" fmla="val 8531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2A52DC9-256C-4BBF-AD56-2D066919F2F0}"/>
              </a:ext>
            </a:extLst>
          </p:cNvPr>
          <p:cNvCxnSpPr/>
          <p:nvPr/>
        </p:nvCxnSpPr>
        <p:spPr>
          <a:xfrm flipH="1" flipV="1">
            <a:off x="1408580" y="3406237"/>
            <a:ext cx="727687" cy="48207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DC8C806-28AE-430F-8396-2EE7992B499B}"/>
              </a:ext>
            </a:extLst>
          </p:cNvPr>
          <p:cNvCxnSpPr>
            <a:cxnSpLocks/>
          </p:cNvCxnSpPr>
          <p:nvPr/>
        </p:nvCxnSpPr>
        <p:spPr>
          <a:xfrm flipH="1">
            <a:off x="1450721" y="3433744"/>
            <a:ext cx="685546" cy="57432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Arc 38">
            <a:extLst>
              <a:ext uri="{FF2B5EF4-FFF2-40B4-BE49-F238E27FC236}">
                <a16:creationId xmlns:a16="http://schemas.microsoft.com/office/drawing/2014/main" id="{548B2937-04ED-4A60-B6BA-23878DAD1366}"/>
              </a:ext>
            </a:extLst>
          </p:cNvPr>
          <p:cNvSpPr/>
          <p:nvPr/>
        </p:nvSpPr>
        <p:spPr>
          <a:xfrm rot="19603052">
            <a:off x="1489227" y="3529279"/>
            <a:ext cx="608533" cy="475810"/>
          </a:xfrm>
          <a:prstGeom prst="arc">
            <a:avLst>
              <a:gd name="adj1" fmla="val 16200000"/>
              <a:gd name="adj2" fmla="val 21095057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51A00AA-9C2C-4702-8AE1-DCF44903745D}"/>
              </a:ext>
            </a:extLst>
          </p:cNvPr>
          <p:cNvSpPr txBox="1"/>
          <p:nvPr/>
        </p:nvSpPr>
        <p:spPr>
          <a:xfrm>
            <a:off x="387038" y="6220370"/>
            <a:ext cx="23561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A cereal with </a:t>
            </a:r>
            <a:r>
              <a:rPr lang="en-US" sz="1600" i="1" dirty="0" err="1"/>
              <a:t>ArchiCrop</a:t>
            </a:r>
            <a:r>
              <a:rPr lang="en-US" sz="1600" i="1" dirty="0"/>
              <a:t>, developed with </a:t>
            </a:r>
            <a:r>
              <a:rPr lang="en-US" sz="1600" i="1" dirty="0" err="1"/>
              <a:t>OpenAlea</a:t>
            </a:r>
            <a:endParaRPr lang="en-US" sz="1600" i="1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87086107-FB09-4002-A0A0-6662E2BCAF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506" y="2622206"/>
            <a:ext cx="717633" cy="717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572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826EBD-C047-436F-9C1B-E7E61686CF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4835" y="77821"/>
            <a:ext cx="2404380" cy="240438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B02919-7A38-46C9-B959-99C993C362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0701" y="3861941"/>
            <a:ext cx="4512512" cy="291823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3181455-309D-4135-94CD-B9EBF038955A}"/>
              </a:ext>
            </a:extLst>
          </p:cNvPr>
          <p:cNvSpPr txBox="1"/>
          <p:nvPr/>
        </p:nvSpPr>
        <p:spPr>
          <a:xfrm>
            <a:off x="7499215" y="1162546"/>
            <a:ext cx="2637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Big leaf hypothesis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EC96D2-EDCB-476A-A59E-EE9C996F8F7B}"/>
              </a:ext>
            </a:extLst>
          </p:cNvPr>
          <p:cNvSpPr txBox="1"/>
          <p:nvPr/>
        </p:nvSpPr>
        <p:spPr>
          <a:xfrm>
            <a:off x="1303506" y="3244334"/>
            <a:ext cx="30912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Architectural variability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6AF693-58D6-48E6-B70D-2F169EE291FB}"/>
              </a:ext>
            </a:extLst>
          </p:cNvPr>
          <p:cNvSpPr txBox="1"/>
          <p:nvPr/>
        </p:nvSpPr>
        <p:spPr>
          <a:xfrm>
            <a:off x="7923177" y="3244334"/>
            <a:ext cx="28939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Spatial heterogeneity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D0840B6-8F6B-4671-A57B-15E9CBDC4AD1}"/>
              </a:ext>
            </a:extLst>
          </p:cNvPr>
          <p:cNvCxnSpPr/>
          <p:nvPr/>
        </p:nvCxnSpPr>
        <p:spPr>
          <a:xfrm flipH="1">
            <a:off x="3774332" y="2208179"/>
            <a:ext cx="1128408" cy="9338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BBBCDA1-63B3-40D7-945E-61D069505B73}"/>
              </a:ext>
            </a:extLst>
          </p:cNvPr>
          <p:cNvCxnSpPr/>
          <p:nvPr/>
        </p:nvCxnSpPr>
        <p:spPr>
          <a:xfrm>
            <a:off x="6809362" y="2140085"/>
            <a:ext cx="1050587" cy="10019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C42CB557-335D-42FA-8C98-ADC32230D6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325" y="4020638"/>
            <a:ext cx="3490883" cy="236732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0698A4A-9743-4E84-B080-85FCE3786743}"/>
              </a:ext>
            </a:extLst>
          </p:cNvPr>
          <p:cNvSpPr txBox="1"/>
          <p:nvPr/>
        </p:nvSpPr>
        <p:spPr>
          <a:xfrm>
            <a:off x="3776332" y="1162545"/>
            <a:ext cx="2637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From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CE99C1A-6511-4AD9-AFF8-649B973EEF9A}"/>
              </a:ext>
            </a:extLst>
          </p:cNvPr>
          <p:cNvSpPr txBox="1"/>
          <p:nvPr/>
        </p:nvSpPr>
        <p:spPr>
          <a:xfrm>
            <a:off x="543507" y="3244334"/>
            <a:ext cx="759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To</a:t>
            </a:r>
          </a:p>
        </p:txBody>
      </p:sp>
    </p:spTree>
    <p:extLst>
      <p:ext uri="{BB962C8B-B14F-4D97-AF65-F5344CB8AC3E}">
        <p14:creationId xmlns:p14="http://schemas.microsoft.com/office/powerpoint/2010/main" val="641233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0171A56D-0748-4135-AE81-20AB18BB66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441139">
            <a:off x="1485668" y="3453846"/>
            <a:ext cx="7145697" cy="2156881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C259111-3FE7-4BEC-A3CB-066A57BA97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" r="1" b="6425"/>
          <a:stretch/>
        </p:blipFill>
        <p:spPr>
          <a:xfrm>
            <a:off x="681135" y="1321821"/>
            <a:ext cx="10846284" cy="4873706"/>
          </a:xfr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6AC4826-6AD1-4897-8EF8-DE3B093954B8}"/>
              </a:ext>
            </a:extLst>
          </p:cNvPr>
          <p:cNvCxnSpPr>
            <a:cxnSpLocks/>
          </p:cNvCxnSpPr>
          <p:nvPr/>
        </p:nvCxnSpPr>
        <p:spPr>
          <a:xfrm flipV="1">
            <a:off x="6111551" y="2603241"/>
            <a:ext cx="233265" cy="335904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2EC6F83-4F84-4415-B017-DB4DDF08116D}"/>
              </a:ext>
            </a:extLst>
          </p:cNvPr>
          <p:cNvCxnSpPr>
            <a:cxnSpLocks/>
          </p:cNvCxnSpPr>
          <p:nvPr/>
        </p:nvCxnSpPr>
        <p:spPr>
          <a:xfrm>
            <a:off x="6111551" y="2939143"/>
            <a:ext cx="233265" cy="0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53F4441-527A-4772-829E-B8000984BEE1}"/>
              </a:ext>
            </a:extLst>
          </p:cNvPr>
          <p:cNvCxnSpPr>
            <a:cxnSpLocks/>
          </p:cNvCxnSpPr>
          <p:nvPr/>
        </p:nvCxnSpPr>
        <p:spPr>
          <a:xfrm flipV="1">
            <a:off x="6344816" y="2603241"/>
            <a:ext cx="0" cy="335903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891854D-E637-4A12-A5CB-5FC085F6CD0E}"/>
              </a:ext>
            </a:extLst>
          </p:cNvPr>
          <p:cNvSpPr txBox="1"/>
          <p:nvPr/>
        </p:nvSpPr>
        <p:spPr>
          <a:xfrm>
            <a:off x="6067230" y="2964930"/>
            <a:ext cx="454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EC9973E-F701-4C4C-A383-182584BA6BAB}"/>
              </a:ext>
            </a:extLst>
          </p:cNvPr>
          <p:cNvSpPr txBox="1"/>
          <p:nvPr/>
        </p:nvSpPr>
        <p:spPr>
          <a:xfrm>
            <a:off x="6372809" y="2582705"/>
            <a:ext cx="718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dLAI</a:t>
            </a:r>
            <a:endParaRPr lang="en-US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ADD2744-4E67-4615-8E52-CB3D9C4B2DA4}"/>
              </a:ext>
            </a:extLst>
          </p:cNvPr>
          <p:cNvCxnSpPr>
            <a:cxnSpLocks/>
          </p:cNvCxnSpPr>
          <p:nvPr/>
        </p:nvCxnSpPr>
        <p:spPr>
          <a:xfrm>
            <a:off x="1439664" y="1604866"/>
            <a:ext cx="5464989" cy="0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28FE460-3995-46DC-BF9A-B9B47623311E}"/>
              </a:ext>
            </a:extLst>
          </p:cNvPr>
          <p:cNvSpPr txBox="1"/>
          <p:nvPr/>
        </p:nvSpPr>
        <p:spPr>
          <a:xfrm>
            <a:off x="247261" y="1420200"/>
            <a:ext cx="867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LAImax</a:t>
            </a:r>
            <a:endParaRPr lang="en-US" dirty="0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438DF35-35A6-47AE-95E1-3C192AE6A541}"/>
              </a:ext>
            </a:extLst>
          </p:cNvPr>
          <p:cNvCxnSpPr>
            <a:cxnSpLocks/>
          </p:cNvCxnSpPr>
          <p:nvPr/>
        </p:nvCxnSpPr>
        <p:spPr>
          <a:xfrm flipV="1">
            <a:off x="6405462" y="4386490"/>
            <a:ext cx="116633" cy="145796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C39B186-D72B-4AD5-9382-B64D51E98FBF}"/>
              </a:ext>
            </a:extLst>
          </p:cNvPr>
          <p:cNvCxnSpPr>
            <a:cxnSpLocks/>
          </p:cNvCxnSpPr>
          <p:nvPr/>
        </p:nvCxnSpPr>
        <p:spPr>
          <a:xfrm flipH="1" flipV="1">
            <a:off x="6344816" y="4532286"/>
            <a:ext cx="27994" cy="10502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1BA87F9-94DC-4EA3-8F4B-3FE78026D16A}"/>
              </a:ext>
            </a:extLst>
          </p:cNvPr>
          <p:cNvCxnSpPr/>
          <p:nvPr/>
        </p:nvCxnSpPr>
        <p:spPr>
          <a:xfrm flipH="1">
            <a:off x="6405462" y="2964930"/>
            <a:ext cx="256595" cy="12991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7317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C5A37E-D31E-4711-B184-4F2EA6256C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6415" y="3765586"/>
            <a:ext cx="4760108" cy="27272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73236A3-59A1-4664-AB59-7AA0CC891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1</a:t>
            </a:r>
            <a:r>
              <a:rPr lang="fr-FR" baseline="30000" dirty="0"/>
              <a:t>st</a:t>
            </a:r>
            <a:r>
              <a:rPr lang="fr-FR" dirty="0"/>
              <a:t> </a:t>
            </a:r>
            <a:r>
              <a:rPr lang="fr-FR" dirty="0" err="1"/>
              <a:t>year</a:t>
            </a:r>
            <a:r>
              <a:rPr lang="fr-FR" dirty="0"/>
              <a:t>. </a:t>
            </a:r>
            <a:r>
              <a:rPr lang="fr-FR" dirty="0" err="1"/>
              <a:t>Analyzing</a:t>
            </a:r>
            <a:r>
              <a:rPr lang="fr-FR" dirty="0"/>
              <a:t> </a:t>
            </a:r>
            <a:r>
              <a:rPr lang="fr-FR" dirty="0" err="1"/>
              <a:t>accuracy</a:t>
            </a:r>
            <a:r>
              <a:rPr lang="fr-FR" dirty="0"/>
              <a:t> of </a:t>
            </a:r>
            <a:r>
              <a:rPr lang="fr-FR" dirty="0" err="1"/>
              <a:t>formalisms</a:t>
            </a:r>
            <a:r>
              <a:rPr lang="fr-FR" dirty="0"/>
              <a:t> of </a:t>
            </a:r>
            <a:r>
              <a:rPr lang="fr-FR" dirty="0" err="1"/>
              <a:t>crop</a:t>
            </a:r>
            <a:r>
              <a:rPr lang="fr-FR" dirty="0"/>
              <a:t> </a:t>
            </a:r>
            <a:r>
              <a:rPr lang="fr-FR" dirty="0" err="1"/>
              <a:t>models</a:t>
            </a:r>
            <a:r>
              <a:rPr lang="fr-FR" dirty="0"/>
              <a:t> </a:t>
            </a:r>
            <a:r>
              <a:rPr lang="fr-FR" dirty="0" err="1"/>
              <a:t>when</a:t>
            </a:r>
            <a:r>
              <a:rPr lang="fr-FR" dirty="0"/>
              <a:t> </a:t>
            </a:r>
            <a:r>
              <a:rPr lang="fr-FR" dirty="0" err="1"/>
              <a:t>adding</a:t>
            </a:r>
            <a:r>
              <a:rPr lang="fr-FR" dirty="0"/>
              <a:t> shoot structural </a:t>
            </a:r>
            <a:r>
              <a:rPr lang="fr-FR" dirty="0" err="1"/>
              <a:t>variability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1BA5F-EAFD-4F5C-A33B-F1284A3734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922099"/>
            <a:ext cx="11132977" cy="4739958"/>
          </a:xfrm>
        </p:spPr>
        <p:txBody>
          <a:bodyPr>
            <a:normAutofit/>
          </a:bodyPr>
          <a:lstStyle/>
          <a:p>
            <a:pPr fontAlgn="base"/>
            <a:r>
              <a:rPr lang="fr-FR" dirty="0" err="1"/>
              <a:t>Simulate</a:t>
            </a:r>
            <a:r>
              <a:rPr lang="fr-FR" dirty="0"/>
              <a:t> </a:t>
            </a:r>
            <a:r>
              <a:rPr lang="fr-FR" dirty="0" err="1"/>
              <a:t>various</a:t>
            </a:r>
            <a:r>
              <a:rPr lang="fr-FR" dirty="0"/>
              <a:t> </a:t>
            </a:r>
            <a:r>
              <a:rPr lang="fr-FR" dirty="0" err="1"/>
              <a:t>GxGxExM</a:t>
            </a:r>
            <a:r>
              <a:rPr lang="fr-FR" dirty="0"/>
              <a:t> and </a:t>
            </a:r>
            <a:r>
              <a:rPr lang="fr-FR" b="1" dirty="0"/>
              <a:t>compare</a:t>
            </a:r>
            <a:r>
              <a:rPr lang="fr-FR" dirty="0"/>
              <a:t> outputs </a:t>
            </a:r>
            <a:r>
              <a:rPr lang="fr-FR" dirty="0" err="1"/>
              <a:t>between</a:t>
            </a:r>
            <a:r>
              <a:rPr lang="fr-FR" dirty="0"/>
              <a:t> FSPM and </a:t>
            </a:r>
            <a:r>
              <a:rPr lang="en-US" dirty="0"/>
              <a:t>STICS </a:t>
            </a:r>
            <a:r>
              <a:rPr lang="fr-FR" dirty="0"/>
              <a:t>of </a:t>
            </a:r>
            <a:r>
              <a:rPr lang="fr-FR" b="1" dirty="0" err="1"/>
              <a:t>some</a:t>
            </a:r>
            <a:r>
              <a:rPr lang="fr-FR" b="1" dirty="0"/>
              <a:t> </a:t>
            </a:r>
            <a:r>
              <a:rPr lang="fr-FR" b="1" dirty="0" err="1"/>
              <a:t>processes</a:t>
            </a:r>
            <a:r>
              <a:rPr lang="fr-FR" dirty="0"/>
              <a:t> (light inter, RUE, </a:t>
            </a:r>
            <a:r>
              <a:rPr lang="fr-FR" dirty="0" err="1"/>
              <a:t>aerial</a:t>
            </a:r>
            <a:r>
              <a:rPr lang="fr-FR" dirty="0"/>
              <a:t> </a:t>
            </a:r>
            <a:r>
              <a:rPr lang="fr-FR" dirty="0" err="1"/>
              <a:t>biomass</a:t>
            </a:r>
            <a:r>
              <a:rPr lang="fr-FR" dirty="0"/>
              <a:t>, N </a:t>
            </a:r>
            <a:r>
              <a:rPr lang="fr-FR" dirty="0" err="1"/>
              <a:t>demand</a:t>
            </a:r>
            <a:r>
              <a:rPr lang="fr-FR" dirty="0"/>
              <a:t>, etc.)</a:t>
            </a:r>
            <a:r>
              <a:rPr lang="fr-FR" sz="2600" dirty="0"/>
              <a:t> </a:t>
            </a:r>
          </a:p>
          <a:p>
            <a:pPr marL="0" indent="0" fontAlgn="base">
              <a:buNone/>
            </a:pPr>
            <a:r>
              <a:rPr lang="en-US" dirty="0">
                <a:sym typeface="Wingdings" panose="05000000000000000000" pitchFamily="2" charset="2"/>
              </a:rPr>
              <a:t>	</a:t>
            </a:r>
            <a:r>
              <a:rPr lang="en-US" sz="2400" dirty="0">
                <a:sym typeface="Wingdings" panose="05000000000000000000" pitchFamily="2" charset="2"/>
              </a:rPr>
              <a:t> uncertainty analysis </a:t>
            </a:r>
          </a:p>
          <a:p>
            <a:pPr marL="0" indent="0" fontAlgn="base">
              <a:buNone/>
            </a:pPr>
            <a:r>
              <a:rPr lang="en-US" sz="2400" dirty="0">
                <a:sym typeface="Wingdings" panose="05000000000000000000" pitchFamily="2" charset="2"/>
              </a:rPr>
              <a:t>	 sensitivity analysis</a:t>
            </a:r>
          </a:p>
          <a:p>
            <a:pPr marL="0" indent="0" fontAlgn="base">
              <a:buNone/>
            </a:pPr>
            <a:r>
              <a:rPr lang="en-US" sz="1400" dirty="0"/>
              <a:t> </a:t>
            </a:r>
          </a:p>
          <a:p>
            <a:pPr marL="0" indent="0" fontAlgn="base">
              <a:buNone/>
            </a:pPr>
            <a:endParaRPr lang="en-US" sz="1400" dirty="0"/>
          </a:p>
          <a:p>
            <a:pPr marL="0" indent="0" fontAlgn="base">
              <a:buNone/>
            </a:pPr>
            <a:endParaRPr lang="en-US" sz="1400" dirty="0"/>
          </a:p>
          <a:p>
            <a:pPr marL="0" indent="0" fontAlgn="base">
              <a:buNone/>
            </a:pPr>
            <a:endParaRPr lang="en-US" sz="1400" dirty="0"/>
          </a:p>
          <a:p>
            <a:pPr marL="0" indent="0" fontAlgn="base">
              <a:buNone/>
            </a:pPr>
            <a:endParaRPr lang="en-US" sz="1400" dirty="0"/>
          </a:p>
          <a:p>
            <a:pPr marL="0" indent="0" fontAlgn="base">
              <a:buNone/>
            </a:pPr>
            <a:endParaRPr lang="en-US" sz="1400" dirty="0"/>
          </a:p>
          <a:p>
            <a:pPr marL="0" indent="0" fontAlgn="base">
              <a:buNone/>
            </a:pPr>
            <a:endParaRPr lang="en-US" sz="1400" dirty="0"/>
          </a:p>
          <a:p>
            <a:pPr fontAlgn="base"/>
            <a:r>
              <a:rPr lang="fr-FR" dirty="0" err="1"/>
              <a:t>Unvalidate</a:t>
            </a:r>
            <a:r>
              <a:rPr lang="fr-FR" dirty="0"/>
              <a:t> </a:t>
            </a:r>
            <a:r>
              <a:rPr lang="fr-FR" dirty="0" err="1"/>
              <a:t>some</a:t>
            </a:r>
            <a:r>
              <a:rPr lang="fr-FR" dirty="0"/>
              <a:t> </a:t>
            </a:r>
            <a:r>
              <a:rPr lang="fr-FR" dirty="0" err="1"/>
              <a:t>formalisms</a:t>
            </a:r>
            <a:r>
              <a:rPr lang="fr-FR" dirty="0"/>
              <a:t> in STICS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B69605-E6B5-46FF-96B2-F2F0FE2E1D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857" y="3926879"/>
            <a:ext cx="2612136" cy="18658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1E33F10-824D-4F39-931B-F8AC8B198F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050494"/>
            <a:ext cx="2612136" cy="207873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BD49CA0-84EE-4AB1-986B-EC9977862FB4}"/>
              </a:ext>
            </a:extLst>
          </p:cNvPr>
          <p:cNvSpPr txBox="1"/>
          <p:nvPr/>
        </p:nvSpPr>
        <p:spPr>
          <a:xfrm>
            <a:off x="3665993" y="4398120"/>
            <a:ext cx="11383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N dilution curves in STICS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68A85F-8E66-41F2-8BE4-F253D4A6E83F}"/>
              </a:ext>
            </a:extLst>
          </p:cNvPr>
          <p:cNvSpPr txBox="1"/>
          <p:nvPr/>
        </p:nvSpPr>
        <p:spPr>
          <a:xfrm>
            <a:off x="9027869" y="3003549"/>
            <a:ext cx="20009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Light interception in STICS IC vs. with FSPM (</a:t>
            </a:r>
            <a:r>
              <a:rPr lang="en-US" i="1" dirty="0" err="1"/>
              <a:t>Caribu</a:t>
            </a:r>
            <a:r>
              <a:rPr lang="en-US" i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84266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4817D-4E90-478C-9D5E-5DA89C17F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</a:t>
            </a:r>
            <a:r>
              <a:rPr lang="fr-FR" baseline="30000" dirty="0"/>
              <a:t>nd</a:t>
            </a:r>
            <a:r>
              <a:rPr lang="fr-FR" dirty="0"/>
              <a:t> </a:t>
            </a:r>
            <a:r>
              <a:rPr lang="fr-FR" dirty="0" err="1"/>
              <a:t>year</a:t>
            </a:r>
            <a:r>
              <a:rPr lang="fr-FR" dirty="0"/>
              <a:t>. +/- </a:t>
            </a:r>
            <a:r>
              <a:rPr lang="fr-FR" dirty="0" err="1"/>
              <a:t>same</a:t>
            </a:r>
            <a:r>
              <a:rPr lang="fr-FR" dirty="0"/>
              <a:t> for </a:t>
            </a:r>
            <a:r>
              <a:rPr lang="fr-FR" dirty="0" err="1"/>
              <a:t>roots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1A99B7-6395-4A43-BDBA-49239B9EC9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3115"/>
            <a:ext cx="10515600" cy="4356911"/>
          </a:xfrm>
        </p:spPr>
        <p:txBody>
          <a:bodyPr>
            <a:normAutofit/>
          </a:bodyPr>
          <a:lstStyle/>
          <a:p>
            <a:pPr fontAlgn="base"/>
            <a:r>
              <a:rPr lang="fr-FR" dirty="0"/>
              <a:t>Collaboration </a:t>
            </a:r>
            <a:r>
              <a:rPr lang="fr-FR" dirty="0" err="1"/>
              <a:t>with</a:t>
            </a:r>
            <a:r>
              <a:rPr lang="fr-FR" dirty="0"/>
              <a:t> post-doc </a:t>
            </a:r>
            <a:r>
              <a:rPr lang="fr-FR" dirty="0" err="1"/>
              <a:t>from</a:t>
            </a:r>
            <a:r>
              <a:rPr lang="fr-FR" dirty="0"/>
              <a:t> WUR, Jie Lu</a:t>
            </a:r>
          </a:p>
          <a:p>
            <a:pPr fontAlgn="base"/>
            <a:endParaRPr lang="fr-FR" dirty="0"/>
          </a:p>
          <a:p>
            <a:pPr fontAlgn="base"/>
            <a:r>
              <a:rPr lang="fr-FR" dirty="0" err="1"/>
              <a:t>Using</a:t>
            </a:r>
            <a:r>
              <a:rPr lang="fr-FR" dirty="0"/>
              <a:t> STICS </a:t>
            </a:r>
            <a:r>
              <a:rPr lang="fr-FR" dirty="0" err="1"/>
              <a:t>soil</a:t>
            </a:r>
            <a:r>
              <a:rPr lang="fr-FR" dirty="0"/>
              <a:t> model (</a:t>
            </a:r>
            <a:r>
              <a:rPr lang="fr-FR" dirty="0" err="1"/>
              <a:t>already</a:t>
            </a:r>
            <a:r>
              <a:rPr lang="fr-FR" dirty="0"/>
              <a:t> not </a:t>
            </a:r>
            <a:r>
              <a:rPr lang="fr-FR" dirty="0" err="1"/>
              <a:t>bad</a:t>
            </a:r>
            <a:r>
              <a:rPr lang="fr-FR" dirty="0"/>
              <a:t>)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Processes analyzed:</a:t>
            </a:r>
            <a:r>
              <a:rPr lang="fr-FR" dirty="0"/>
              <a:t> water and N </a:t>
            </a:r>
            <a:r>
              <a:rPr lang="fr-FR" dirty="0" err="1"/>
              <a:t>uptake</a:t>
            </a:r>
            <a:r>
              <a:rPr lang="fr-FR" dirty="0"/>
              <a:t>, </a:t>
            </a:r>
          </a:p>
          <a:p>
            <a:pPr marL="0" indent="0" fontAlgn="base">
              <a:buNone/>
            </a:pPr>
            <a:r>
              <a:rPr lang="fr-FR" dirty="0"/>
              <a:t>N fixing, etc.</a:t>
            </a:r>
          </a:p>
          <a:p>
            <a:pPr marL="0" indent="0" fontAlgn="base">
              <a:buNone/>
            </a:pPr>
            <a:endParaRPr lang="fr-FR" dirty="0"/>
          </a:p>
          <a:p>
            <a:pPr fontAlgn="base"/>
            <a:r>
              <a:rPr lang="fr-FR" dirty="0" err="1"/>
              <a:t>Then</a:t>
            </a:r>
            <a:r>
              <a:rPr lang="fr-FR" dirty="0"/>
              <a:t> couple shoot and root </a:t>
            </a:r>
            <a:r>
              <a:rPr lang="fr-FR" dirty="0" err="1"/>
              <a:t>models</a:t>
            </a:r>
            <a:endParaRPr lang="fr-FR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64118E7-F68B-430C-85A8-5FD6C63709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7563" y="2417190"/>
            <a:ext cx="4331208" cy="322783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FA4BCEF-5F41-499D-8508-BCDEF9B855C6}"/>
              </a:ext>
            </a:extLst>
          </p:cNvPr>
          <p:cNvSpPr txBox="1"/>
          <p:nvPr/>
        </p:nvSpPr>
        <p:spPr>
          <a:xfrm>
            <a:off x="8892073" y="5718378"/>
            <a:ext cx="16421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Schema of soil representation in STICS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D0CE751-28BB-4D97-9659-46622D70EF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4180" y="483325"/>
            <a:ext cx="3257974" cy="189654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570B0D-7FE1-4CE9-9F1B-BBC3D050D342}"/>
              </a:ext>
            </a:extLst>
          </p:cNvPr>
          <p:cNvSpPr txBox="1"/>
          <p:nvPr/>
        </p:nvSpPr>
        <p:spPr>
          <a:xfrm>
            <a:off x="8813558" y="2072089"/>
            <a:ext cx="2528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Dunbabin</a:t>
            </a:r>
            <a:r>
              <a:rPr lang="en-US" sz="1400" dirty="0"/>
              <a:t> et al., 2013</a:t>
            </a:r>
          </a:p>
        </p:txBody>
      </p:sp>
    </p:spTree>
    <p:extLst>
      <p:ext uri="{BB962C8B-B14F-4D97-AF65-F5344CB8AC3E}">
        <p14:creationId xmlns:p14="http://schemas.microsoft.com/office/powerpoint/2010/main" val="1317058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1617A-5910-4482-9243-9CF072CD1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</a:t>
            </a:r>
            <a:r>
              <a:rPr lang="en-US" baseline="30000" dirty="0"/>
              <a:t>rd</a:t>
            </a:r>
            <a:r>
              <a:rPr lang="en-US" dirty="0"/>
              <a:t> year. Improving 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E6323-998D-4BB2-82B8-75D935E08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Change in STICS the formalisms of the processes targeted previously, by:</a:t>
            </a:r>
          </a:p>
          <a:p>
            <a:pPr lvl="1" fontAlgn="base"/>
            <a:r>
              <a:rPr lang="en-US" dirty="0"/>
              <a:t>adding parameters </a:t>
            </a:r>
          </a:p>
          <a:p>
            <a:pPr lvl="1" fontAlgn="base"/>
            <a:r>
              <a:rPr lang="en-US" dirty="0"/>
              <a:t>changing equations </a:t>
            </a:r>
          </a:p>
          <a:p>
            <a:pPr lvl="1" fontAlgn="base"/>
            <a:r>
              <a:rPr lang="en-US" dirty="0"/>
              <a:t>metamodeling</a:t>
            </a:r>
          </a:p>
          <a:p>
            <a:pPr lvl="1" fontAlgn="base"/>
            <a:r>
              <a:rPr lang="en-US" dirty="0"/>
              <a:t>or any other method​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Make sure new STICS fits data even better</a:t>
            </a:r>
          </a:p>
          <a:p>
            <a:pPr fontAlgn="base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C41714-6CB5-4080-B375-1BF2399F12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3788" y="3211092"/>
            <a:ext cx="1022383" cy="8913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F0CC41-F975-4AA7-BDB5-01800622AF15}"/>
              </a:ext>
            </a:extLst>
          </p:cNvPr>
          <p:cNvSpPr txBox="1"/>
          <p:nvPr/>
        </p:nvSpPr>
        <p:spPr>
          <a:xfrm>
            <a:off x="8976049" y="3331029"/>
            <a:ext cx="24539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106727"/>
                </a:solidFill>
                <a:latin typeface="Segoe Print" panose="02000600000000000000" pitchFamily="2" charset="0"/>
              </a:rPr>
              <a:t>v. 12 </a:t>
            </a:r>
            <a:r>
              <a:rPr lang="en-US" sz="2000" dirty="0">
                <a:solidFill>
                  <a:srgbClr val="106727"/>
                </a:solidFill>
                <a:latin typeface="Segoe Print" panose="02000600000000000000" pitchFamily="2" charset="0"/>
              </a:rPr>
              <a:t>(?)</a:t>
            </a:r>
            <a:endParaRPr lang="en-US" sz="3600" dirty="0">
              <a:solidFill>
                <a:srgbClr val="106727"/>
              </a:solidFill>
              <a:latin typeface="Segoe Print" panose="02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8768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45418-50F9-447D-91DD-3E7C53D2E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Comments on my 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8782D-F932-4D57-B82C-3F5BBCEDF5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en-US" dirty="0"/>
              <a:t>There is much work.</a:t>
            </a:r>
          </a:p>
          <a:p>
            <a:endParaRPr lang="en-US" dirty="0"/>
          </a:p>
          <a:p>
            <a:r>
              <a:rPr lang="en-US" dirty="0"/>
              <a:t>I'm a diesel engine, a bit slow to start up, but once I am up and running I can be super efficient.</a:t>
            </a:r>
          </a:p>
          <a:p>
            <a:endParaRPr lang="en-US" dirty="0"/>
          </a:p>
          <a:p>
            <a:r>
              <a:rPr lang="en-US" dirty="0"/>
              <a:t>I started constructing my 3D model from bits of code I found in </a:t>
            </a:r>
            <a:r>
              <a:rPr lang="en-US" dirty="0" err="1"/>
              <a:t>OpenAlea</a:t>
            </a:r>
            <a:r>
              <a:rPr lang="en-US" dirty="0"/>
              <a:t>, and Frankenstein-</a:t>
            </a:r>
            <a:r>
              <a:rPr lang="en-US" dirty="0" err="1"/>
              <a:t>ing</a:t>
            </a:r>
            <a:r>
              <a:rPr lang="en-US" dirty="0"/>
              <a:t> may lead to inconveniencies, so I have to solicitate mainly Christophe who is already overwhelmed, so sometimes I can be a little stuck, but not for long and I manage to find other activities where I can be autonomous.</a:t>
            </a:r>
          </a:p>
        </p:txBody>
      </p:sp>
    </p:spTree>
    <p:extLst>
      <p:ext uri="{BB962C8B-B14F-4D97-AF65-F5344CB8AC3E}">
        <p14:creationId xmlns:p14="http://schemas.microsoft.com/office/powerpoint/2010/main" val="2966028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1402</TotalTime>
  <Words>725</Words>
  <Application>Microsoft Office PowerPoint</Application>
  <PresentationFormat>Widescreen</PresentationFormat>
  <Paragraphs>99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Segoe Print</vt:lpstr>
      <vt:lpstr>Wingdings</vt:lpstr>
      <vt:lpstr>Office Theme</vt:lpstr>
      <vt:lpstr>Multiscale Hybrid Modelling Framework for Intercropping:  the best of Plant and Crop Models  </vt:lpstr>
      <vt:lpstr>Context</vt:lpstr>
      <vt:lpstr>Context</vt:lpstr>
      <vt:lpstr>PowerPoint Presentation</vt:lpstr>
      <vt:lpstr>1st year. Analyzing accuracy of formalisms of crop models when adding shoot structural variability</vt:lpstr>
      <vt:lpstr>PowerPoint Presentation</vt:lpstr>
      <vt:lpstr>PowerPoint Presentation</vt:lpstr>
      <vt:lpstr>1st year. Analyzing accuracy of formalisms of crop models when adding shoot structural variability</vt:lpstr>
      <vt:lpstr>2nd year. +/- same for roots</vt:lpstr>
      <vt:lpstr>3rd year. Improving STICS</vt:lpstr>
      <vt:lpstr>Comments on my thesis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Multiscale Hybrid Modelling Framework for Intercropping:  the best of Plant and Crop Models</dc:title>
  <dc:creator>Oriane BRAUD</dc:creator>
  <cp:lastModifiedBy>Oriane BRAUD</cp:lastModifiedBy>
  <cp:revision>122</cp:revision>
  <dcterms:created xsi:type="dcterms:W3CDTF">2024-01-16T11:59:45Z</dcterms:created>
  <dcterms:modified xsi:type="dcterms:W3CDTF">2024-04-16T08:28:43Z</dcterms:modified>
</cp:coreProperties>
</file>